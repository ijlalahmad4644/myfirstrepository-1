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5"/>
  </p:notesMasterIdLst>
  <p:sldIdLst>
    <p:sldId id="256" r:id="rId2"/>
    <p:sldId id="257" r:id="rId3"/>
    <p:sldId id="259" r:id="rId4"/>
    <p:sldId id="261" r:id="rId5"/>
    <p:sldId id="262" r:id="rId6"/>
    <p:sldId id="263" r:id="rId7"/>
    <p:sldId id="264" r:id="rId8"/>
    <p:sldId id="265" r:id="rId9"/>
    <p:sldId id="270" r:id="rId10"/>
    <p:sldId id="271" r:id="rId11"/>
    <p:sldId id="272" r:id="rId12"/>
    <p:sldId id="274" r:id="rId13"/>
    <p:sldId id="275" r:id="rId14"/>
    <p:sldId id="276" r:id="rId15"/>
    <p:sldId id="277" r:id="rId16"/>
    <p:sldId id="279" r:id="rId17"/>
    <p:sldId id="280" r:id="rId18"/>
    <p:sldId id="281" r:id="rId19"/>
    <p:sldId id="282" r:id="rId20"/>
    <p:sldId id="283" r:id="rId21"/>
    <p:sldId id="284" r:id="rId22"/>
    <p:sldId id="290" r:id="rId23"/>
    <p:sldId id="291" r:id="rId24"/>
    <p:sldId id="292" r:id="rId25"/>
    <p:sldId id="293" r:id="rId26"/>
    <p:sldId id="294" r:id="rId27"/>
    <p:sldId id="295" r:id="rId28"/>
    <p:sldId id="296" r:id="rId29"/>
    <p:sldId id="297" r:id="rId30"/>
    <p:sldId id="298" r:id="rId31"/>
    <p:sldId id="299" r:id="rId32"/>
    <p:sldId id="301" r:id="rId33"/>
    <p:sldId id="302" r:id="rId34"/>
    <p:sldId id="303" r:id="rId35"/>
    <p:sldId id="304" r:id="rId36"/>
    <p:sldId id="305" r:id="rId37"/>
    <p:sldId id="306" r:id="rId38"/>
    <p:sldId id="308" r:id="rId39"/>
    <p:sldId id="310" r:id="rId40"/>
    <p:sldId id="311" r:id="rId41"/>
    <p:sldId id="329" r:id="rId42"/>
    <p:sldId id="314" r:id="rId43"/>
    <p:sldId id="315" r:id="rId44"/>
    <p:sldId id="316" r:id="rId45"/>
    <p:sldId id="317" r:id="rId46"/>
    <p:sldId id="318" r:id="rId47"/>
    <p:sldId id="320" r:id="rId48"/>
    <p:sldId id="321" r:id="rId49"/>
    <p:sldId id="322" r:id="rId50"/>
    <p:sldId id="324" r:id="rId51"/>
    <p:sldId id="325" r:id="rId52"/>
    <p:sldId id="326" r:id="rId53"/>
    <p:sldId id="327" r:id="rId54"/>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mn-ea"/>
        <a:cs typeface="+mn-cs"/>
      </a:defRPr>
    </a:lvl1pPr>
    <a:lvl2pPr marL="457200" algn="l" defTabSz="457200" rtl="0" fontAlgn="base">
      <a:spcBef>
        <a:spcPct val="0"/>
      </a:spcBef>
      <a:spcAft>
        <a:spcPct val="0"/>
      </a:spcAft>
      <a:defRPr kern="1200">
        <a:solidFill>
          <a:schemeClr val="tx1"/>
        </a:solidFill>
        <a:latin typeface="Arial" charset="0"/>
        <a:ea typeface="+mn-ea"/>
        <a:cs typeface="+mn-cs"/>
      </a:defRPr>
    </a:lvl2pPr>
    <a:lvl3pPr marL="914400" algn="l" defTabSz="457200" rtl="0" fontAlgn="base">
      <a:spcBef>
        <a:spcPct val="0"/>
      </a:spcBef>
      <a:spcAft>
        <a:spcPct val="0"/>
      </a:spcAft>
      <a:defRPr kern="1200">
        <a:solidFill>
          <a:schemeClr val="tx1"/>
        </a:solidFill>
        <a:latin typeface="Arial" charset="0"/>
        <a:ea typeface="+mn-ea"/>
        <a:cs typeface="+mn-cs"/>
      </a:defRPr>
    </a:lvl3pPr>
    <a:lvl4pPr marL="1371600" algn="l" defTabSz="457200" rtl="0" fontAlgn="base">
      <a:spcBef>
        <a:spcPct val="0"/>
      </a:spcBef>
      <a:spcAft>
        <a:spcPct val="0"/>
      </a:spcAft>
      <a:defRPr kern="1200">
        <a:solidFill>
          <a:schemeClr val="tx1"/>
        </a:solidFill>
        <a:latin typeface="Arial" charset="0"/>
        <a:ea typeface="+mn-ea"/>
        <a:cs typeface="+mn-cs"/>
      </a:defRPr>
    </a:lvl4pPr>
    <a:lvl5pPr marL="1828800" algn="l" defTabSz="457200"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2647" autoAdjust="0"/>
    <p:restoredTop sz="93978" autoAdjust="0"/>
  </p:normalViewPr>
  <p:slideViewPr>
    <p:cSldViewPr snapToObjects="1">
      <p:cViewPr varScale="1">
        <p:scale>
          <a:sx n="69" d="100"/>
          <a:sy n="69" d="100"/>
        </p:scale>
        <p:origin x="1128" y="60"/>
      </p:cViewPr>
      <p:guideLst>
        <p:guide orient="horz" pos="2160"/>
        <p:guide pos="2880"/>
      </p:guideLst>
    </p:cSldViewPr>
  </p:slideViewPr>
  <p:outlineViewPr>
    <p:cViewPr>
      <p:scale>
        <a:sx n="33" d="100"/>
        <a:sy n="33" d="100"/>
      </p:scale>
      <p:origin x="0" y="87186"/>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9EDA018-E013-4BAE-9672-2155A1F4715E}" type="datetimeFigureOut">
              <a:rPr lang="en-US" smtClean="0"/>
              <a:t>2/19/2025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06E08E-FB54-4416-870E-B73DA2C23066}" type="slidenum">
              <a:rPr lang="en-US" smtClean="0"/>
              <a:t>‹#›</a:t>
            </a:fld>
            <a:endParaRPr lang="en-US"/>
          </a:p>
        </p:txBody>
      </p:sp>
    </p:spTree>
    <p:extLst>
      <p:ext uri="{BB962C8B-B14F-4D97-AF65-F5344CB8AC3E}">
        <p14:creationId xmlns:p14="http://schemas.microsoft.com/office/powerpoint/2010/main" val="17503800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pPr>
              <a:defRPr/>
            </a:pPr>
            <a:fld id="{D56CF189-C725-4DCD-88D7-BACEDBB8E81B}" type="datetimeFigureOut">
              <a:rPr lang="en-US"/>
              <a:pPr>
                <a:defRPr/>
              </a:pPr>
              <a:t>2/19/2025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6E6B9E29-AE58-43A7-8E70-FA603273CDE6}" type="slidenum">
              <a:rPr lang="en-US"/>
              <a:pPr>
                <a:defRPr/>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D3D66605-ECA0-4EE0-A6DB-3E16BAAD8375}" type="datetimeFigureOut">
              <a:rPr lang="en-US"/>
              <a:pPr>
                <a:defRPr/>
              </a:pPr>
              <a:t>2/19/2025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C6C95841-97DA-4734-AD6B-28E779BD4734}" type="slidenum">
              <a:rPr lang="en-US"/>
              <a:pPr>
                <a:defRPr/>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E94B5A6-34BB-4B5C-A875-98B93F274FBB}" type="datetimeFigureOut">
              <a:rPr lang="en-US"/>
              <a:pPr>
                <a:defRPr/>
              </a:pPr>
              <a:t>2/19/2025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7B6616D1-7832-47A3-97A1-2E4D5C69D6C5}" type="slidenum">
              <a:rPr lang="en-US"/>
              <a:pPr>
                <a:defRPr/>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Date Placeholder 3"/>
          <p:cNvSpPr>
            <a:spLocks noGrp="1"/>
          </p:cNvSpPr>
          <p:nvPr>
            <p:ph type="dt" sz="half" idx="10"/>
          </p:nvPr>
        </p:nvSpPr>
        <p:spPr/>
        <p:txBody>
          <a:bodyPr/>
          <a:lstStyle>
            <a:lvl1pPr>
              <a:defRPr/>
            </a:lvl1pPr>
          </a:lstStyle>
          <a:p>
            <a:pPr>
              <a:defRPr/>
            </a:pPr>
            <a:fld id="{33978101-08EA-48C7-8D00-E0EA75ABD2C2}" type="datetimeFigureOut">
              <a:rPr lang="en-US"/>
              <a:pPr>
                <a:defRPr/>
              </a:pPr>
              <a:t>2/19/2025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A62BCB5A-AB8A-42EA-AC43-44B80A5EC808}" type="slidenum">
              <a:rPr lang="en-US"/>
              <a:pPr>
                <a:defRPr/>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7" name="Date Placeholder 3"/>
          <p:cNvSpPr>
            <a:spLocks noGrp="1"/>
          </p:cNvSpPr>
          <p:nvPr>
            <p:ph type="dt" sz="half" idx="10"/>
          </p:nvPr>
        </p:nvSpPr>
        <p:spPr/>
        <p:txBody>
          <a:bodyPr/>
          <a:lstStyle>
            <a:lvl1pPr>
              <a:defRPr/>
            </a:lvl1pPr>
          </a:lstStyle>
          <a:p>
            <a:pPr>
              <a:defRPr/>
            </a:pPr>
            <a:fld id="{E15E74A0-A733-41FF-972E-CB17B2DF4EC3}" type="datetimeFigureOut">
              <a:rPr lang="en-US"/>
              <a:pPr>
                <a:defRPr/>
              </a:pPr>
              <a:t>2/19/2025</a:t>
            </a:fld>
            <a:endParaRPr lang="en-US" dirty="0"/>
          </a:p>
        </p:txBody>
      </p:sp>
      <p:sp>
        <p:nvSpPr>
          <p:cNvPr id="8" name="Footer Placeholder 4"/>
          <p:cNvSpPr>
            <a:spLocks noGrp="1"/>
          </p:cNvSpPr>
          <p:nvPr>
            <p:ph type="ftr" sz="quarter" idx="11"/>
          </p:nvPr>
        </p:nvSpPr>
        <p:spPr/>
        <p:txBody>
          <a:bodyPr/>
          <a:lstStyle>
            <a:lvl1pPr>
              <a:defRPr/>
            </a:lvl1pPr>
          </a:lstStyle>
          <a:p>
            <a:pPr>
              <a:defRPr/>
            </a:pPr>
            <a:endParaRPr lang="en-US" dirty="0"/>
          </a:p>
        </p:txBody>
      </p:sp>
      <p:sp>
        <p:nvSpPr>
          <p:cNvPr id="9" name="Slide Number Placeholder 5"/>
          <p:cNvSpPr>
            <a:spLocks noGrp="1"/>
          </p:cNvSpPr>
          <p:nvPr>
            <p:ph type="sldNum" sz="quarter" idx="12"/>
          </p:nvPr>
        </p:nvSpPr>
        <p:spPr/>
        <p:txBody>
          <a:bodyPr/>
          <a:lstStyle>
            <a:lvl1pPr>
              <a:defRPr/>
            </a:lvl1pPr>
          </a:lstStyle>
          <a:p>
            <a:pPr>
              <a:defRPr/>
            </a:pPr>
            <a:fld id="{BA194A0A-C39D-4E5A-8AC8-281227EF764D}" type="slidenum">
              <a:rPr lang="en-US"/>
              <a:pPr>
                <a:defRPr/>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Date Placeholder 3"/>
          <p:cNvSpPr>
            <a:spLocks noGrp="1"/>
          </p:cNvSpPr>
          <p:nvPr>
            <p:ph type="dt" sz="half" idx="10"/>
          </p:nvPr>
        </p:nvSpPr>
        <p:spPr/>
        <p:txBody>
          <a:bodyPr/>
          <a:lstStyle>
            <a:lvl1pPr>
              <a:defRPr/>
            </a:lvl1pPr>
          </a:lstStyle>
          <a:p>
            <a:pPr>
              <a:defRPr/>
            </a:pPr>
            <a:fld id="{9E8EF1E3-DE61-44AE-8A2E-9EAB54E34E2E}" type="datetimeFigureOut">
              <a:rPr lang="en-US"/>
              <a:pPr>
                <a:defRPr/>
              </a:pPr>
              <a:t>2/19/2025</a:t>
            </a:fld>
            <a:endParaRPr lang="en-US" dirty="0"/>
          </a:p>
        </p:txBody>
      </p:sp>
      <p:sp>
        <p:nvSpPr>
          <p:cNvPr id="4" name="Footer Placeholder 4"/>
          <p:cNvSpPr>
            <a:spLocks noGrp="1"/>
          </p:cNvSpPr>
          <p:nvPr>
            <p:ph type="ftr" sz="quarter" idx="11"/>
          </p:nvPr>
        </p:nvSpPr>
        <p:spPr/>
        <p:txBody>
          <a:bodyPr/>
          <a:lstStyle>
            <a:lvl1pPr>
              <a:defRPr/>
            </a:lvl1pPr>
          </a:lstStyle>
          <a:p>
            <a:pPr>
              <a:defRPr/>
            </a:pPr>
            <a:endParaRPr lang="en-US" dirty="0"/>
          </a:p>
        </p:txBody>
      </p:sp>
      <p:sp>
        <p:nvSpPr>
          <p:cNvPr id="5" name="Slide Number Placeholder 5"/>
          <p:cNvSpPr>
            <a:spLocks noGrp="1"/>
          </p:cNvSpPr>
          <p:nvPr>
            <p:ph type="sldNum" sz="quarter" idx="12"/>
          </p:nvPr>
        </p:nvSpPr>
        <p:spPr/>
        <p:txBody>
          <a:bodyPr/>
          <a:lstStyle>
            <a:lvl1pPr>
              <a:defRPr/>
            </a:lvl1pPr>
          </a:lstStyle>
          <a:p>
            <a:pPr>
              <a:defRPr/>
            </a:pPr>
            <a:fld id="{E8AD736A-CDEA-45BE-B534-073E70F51C59}" type="slidenum">
              <a:rPr lang="en-US"/>
              <a:pPr>
                <a:defRPr/>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B17F633F-7547-4C0E-B010-668BD951001B}" type="datetimeFigureOut">
              <a:rPr lang="en-US"/>
              <a:pPr>
                <a:defRPr/>
              </a:pPr>
              <a:t>2/19/2025</a:t>
            </a:fld>
            <a:endParaRPr lang="en-US" dirty="0"/>
          </a:p>
        </p:txBody>
      </p:sp>
      <p:sp>
        <p:nvSpPr>
          <p:cNvPr id="3" name="Footer Placeholder 4"/>
          <p:cNvSpPr>
            <a:spLocks noGrp="1"/>
          </p:cNvSpPr>
          <p:nvPr>
            <p:ph type="ftr" sz="quarter" idx="11"/>
          </p:nvPr>
        </p:nvSpPr>
        <p:spPr/>
        <p:txBody>
          <a:bodyPr/>
          <a:lstStyle>
            <a:lvl1pPr>
              <a:defRPr/>
            </a:lvl1pPr>
          </a:lstStyle>
          <a:p>
            <a:pPr>
              <a:defRPr/>
            </a:pPr>
            <a:endParaRPr lang="en-US" dirty="0"/>
          </a:p>
        </p:txBody>
      </p:sp>
      <p:sp>
        <p:nvSpPr>
          <p:cNvPr id="4" name="Slide Number Placeholder 5"/>
          <p:cNvSpPr>
            <a:spLocks noGrp="1"/>
          </p:cNvSpPr>
          <p:nvPr>
            <p:ph type="sldNum" sz="quarter" idx="12"/>
          </p:nvPr>
        </p:nvSpPr>
        <p:spPr/>
        <p:txBody>
          <a:bodyPr/>
          <a:lstStyle>
            <a:lvl1pPr>
              <a:defRPr/>
            </a:lvl1pPr>
          </a:lstStyle>
          <a:p>
            <a:pPr>
              <a:defRPr/>
            </a:pPr>
            <a:fld id="{BA3DD257-4416-48ED-9669-0974C8A88924}" type="slidenum">
              <a:rPr lang="en-US"/>
              <a:pPr>
                <a:defRPr/>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2681BB55-DEC7-4459-AF09-F3E47275B633}" type="datetimeFigureOut">
              <a:rPr lang="en-US"/>
              <a:pPr>
                <a:defRPr/>
              </a:pPr>
              <a:t>2/19/2025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47E7483F-4EC6-4BEA-B6B7-7EEB922E8A6C}" type="slidenum">
              <a:rPr lang="en-US"/>
              <a:pPr>
                <a:defRPr/>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310CCEE4-74B4-4B42-BECA-66B855CD3C39}" type="datetimeFigureOut">
              <a:rPr lang="en-US"/>
              <a:pPr>
                <a:defRPr/>
              </a:pPr>
              <a:t>2/19/2025</a:t>
            </a:fld>
            <a:endParaRPr lang="en-US" dirty="0"/>
          </a:p>
        </p:txBody>
      </p:sp>
      <p:sp>
        <p:nvSpPr>
          <p:cNvPr id="6" name="Footer Placeholder 4"/>
          <p:cNvSpPr>
            <a:spLocks noGrp="1"/>
          </p:cNvSpPr>
          <p:nvPr>
            <p:ph type="ftr" sz="quarter" idx="11"/>
          </p:nvPr>
        </p:nvSpPr>
        <p:spPr/>
        <p:txBody>
          <a:bodyPr/>
          <a:lstStyle>
            <a:lvl1pPr>
              <a:defRPr/>
            </a:lvl1pPr>
          </a:lstStyle>
          <a:p>
            <a:pPr>
              <a:defRPr/>
            </a:pPr>
            <a:endParaRPr lang="en-US" dirty="0"/>
          </a:p>
        </p:txBody>
      </p:sp>
      <p:sp>
        <p:nvSpPr>
          <p:cNvPr id="7" name="Slide Number Placeholder 5"/>
          <p:cNvSpPr>
            <a:spLocks noGrp="1"/>
          </p:cNvSpPr>
          <p:nvPr>
            <p:ph type="sldNum" sz="quarter" idx="12"/>
          </p:nvPr>
        </p:nvSpPr>
        <p:spPr/>
        <p:txBody>
          <a:bodyPr/>
          <a:lstStyle>
            <a:lvl1pPr>
              <a:defRPr/>
            </a:lvl1pPr>
          </a:lstStyle>
          <a:p>
            <a:pPr>
              <a:defRPr/>
            </a:pPr>
            <a:fld id="{675F1192-5720-4782-888D-103FB047C321}" type="slidenum">
              <a:rPr lang="en-US"/>
              <a:pPr>
                <a:defRPr/>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B1B73767-8C85-4490-8B9C-0DBEFDA74037}" type="datetimeFigureOut">
              <a:rPr lang="en-US"/>
              <a:pPr>
                <a:defRPr/>
              </a:pPr>
              <a:t>2/19/2025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ED92827F-EAB6-4936-9552-97AEC35CB0D1}" type="slidenum">
              <a:rPr lang="en-US"/>
              <a:pPr>
                <a:defRPr/>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4EC44B9E-04E0-4B85-8738-34A97455D4E6}" type="datetimeFigureOut">
              <a:rPr lang="en-US"/>
              <a:pPr>
                <a:defRPr/>
              </a:pPr>
              <a:t>2/19/2025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05A77DD1-88C0-4C36-A329-F6B7BD7E617B}" type="slidenum">
              <a:rPr lang="en-US"/>
              <a:pPr>
                <a:defRPr/>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mtClean="0"/>
              <a:t>Click to edit Master title style</a:t>
            </a:r>
            <a:endParaRPr lang="en-US"/>
          </a:p>
        </p:txBody>
      </p:sp>
      <p:sp>
        <p:nvSpPr>
          <p:cNvPr id="3" name="Text Placeholder 2"/>
          <p:cNvSpPr>
            <a:spLocks noGrp="1"/>
          </p:cNvSpPr>
          <p:nvPr>
            <p:ph type="body" idx="1"/>
          </p:nvPr>
        </p:nvSpPr>
        <p:spPr/>
        <p:txBody>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a:p>
        </p:txBody>
      </p:sp>
      <p:sp>
        <p:nvSpPr>
          <p:cNvPr id="4" name="Date Placeholder 3"/>
          <p:cNvSpPr>
            <a:spLocks noGrp="1"/>
          </p:cNvSpPr>
          <p:nvPr>
            <p:ph type="dt" sz="half" idx="10"/>
          </p:nvPr>
        </p:nvSpPr>
        <p:spPr/>
        <p:txBody>
          <a:bodyPr/>
          <a:lstStyle>
            <a:lvl1pPr>
              <a:defRPr/>
            </a:lvl1pPr>
          </a:lstStyle>
          <a:p>
            <a:pPr>
              <a:defRPr/>
            </a:pPr>
            <a:fld id="{F9051977-9423-4206-8838-A67DF404057B}" type="datetimeFigureOut">
              <a:rPr lang="en-US"/>
              <a:pPr>
                <a:defRPr/>
              </a:pPr>
              <a:t>2/19/2025</a:t>
            </a:fld>
            <a:endParaRPr lang="en-US" dirty="0"/>
          </a:p>
        </p:txBody>
      </p:sp>
      <p:sp>
        <p:nvSpPr>
          <p:cNvPr id="5" name="Footer Placeholder 4"/>
          <p:cNvSpPr>
            <a:spLocks noGrp="1"/>
          </p:cNvSpPr>
          <p:nvPr>
            <p:ph type="ftr" sz="quarter" idx="11"/>
          </p:nvPr>
        </p:nvSpPr>
        <p:spPr/>
        <p:txBody>
          <a:bodyPr/>
          <a:lstStyle>
            <a:lvl1pPr>
              <a:defRPr/>
            </a:lvl1pPr>
          </a:lstStyle>
          <a:p>
            <a:pPr>
              <a:defRPr/>
            </a:pPr>
            <a:endParaRPr lang="en-US" dirty="0"/>
          </a:p>
        </p:txBody>
      </p:sp>
      <p:sp>
        <p:nvSpPr>
          <p:cNvPr id="6" name="Slide Number Placeholder 5"/>
          <p:cNvSpPr>
            <a:spLocks noGrp="1"/>
          </p:cNvSpPr>
          <p:nvPr>
            <p:ph type="sldNum" sz="quarter" idx="12"/>
          </p:nvPr>
        </p:nvSpPr>
        <p:spPr/>
        <p:txBody>
          <a:bodyPr/>
          <a:lstStyle>
            <a:lvl1pPr>
              <a:defRPr/>
            </a:lvl1pPr>
          </a:lstStyle>
          <a:p>
            <a:pPr>
              <a:defRPr/>
            </a:pPr>
            <a:fld id="{1EA9F56E-E5FD-4B96-8CC8-999D1D7F170E}" type="slidenum">
              <a:rPr lang="en-US"/>
              <a:pPr>
                <a:defRPr/>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smtClean="0"/>
              <a:t>Click to edit Master title style</a:t>
            </a:r>
            <a:endParaRPr 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GB" smtClean="0"/>
              <a:t>Click to edit Master text styles</a:t>
            </a:r>
          </a:p>
          <a:p>
            <a:pPr lvl="1"/>
            <a:r>
              <a:rPr lang="en-GB" smtClean="0"/>
              <a:t>Second level</a:t>
            </a:r>
          </a:p>
          <a:p>
            <a:pPr lvl="2"/>
            <a:r>
              <a:rPr lang="en-GB" smtClean="0"/>
              <a:t>Third level</a:t>
            </a:r>
          </a:p>
          <a:p>
            <a:pPr lvl="3"/>
            <a:r>
              <a:rPr lang="en-GB" smtClean="0"/>
              <a:t>Fourth level</a:t>
            </a:r>
          </a:p>
          <a:p>
            <a:pPr lvl="4"/>
            <a:r>
              <a:rPr lang="en-GB" smtClean="0"/>
              <a:t>Fifth level</a:t>
            </a:r>
            <a:endParaRPr 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defRPr>
            </a:lvl1pPr>
          </a:lstStyle>
          <a:p>
            <a:pPr>
              <a:defRPr/>
            </a:pPr>
            <a:fld id="{92FEB8AD-80E2-4962-BF1C-3E884C3E2CC2}" type="datetimeFigureOut">
              <a:rPr lang="en-US"/>
              <a:pPr>
                <a:defRPr/>
              </a:pPr>
              <a:t>2/19/2025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defRPr>
            </a:lvl1pPr>
          </a:lstStyle>
          <a:p>
            <a:pPr>
              <a:defRPr/>
            </a:pPr>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fontAlgn="auto">
              <a:spcBef>
                <a:spcPts val="0"/>
              </a:spcBef>
              <a:spcAft>
                <a:spcPts val="0"/>
              </a:spcAft>
              <a:defRPr sz="1200">
                <a:solidFill>
                  <a:schemeClr val="tx1">
                    <a:tint val="75000"/>
                  </a:schemeClr>
                </a:solidFill>
                <a:latin typeface="+mn-lt"/>
              </a:defRPr>
            </a:lvl1pPr>
          </a:lstStyle>
          <a:p>
            <a:pPr>
              <a:defRPr/>
            </a:pPr>
            <a:fld id="{A8ADDD45-DDE0-4E23-8778-7DC80888DD55}" type="slidenum">
              <a:rPr lang="en-US"/>
              <a:pPr>
                <a:defRPr/>
              </a:pPr>
              <a:t>‹#›</a:t>
            </a:fld>
            <a:endParaRPr lang="en-US" dirty="0"/>
          </a:p>
        </p:txBody>
      </p:sp>
      <p:sp>
        <p:nvSpPr>
          <p:cNvPr id="2" name="Text Box 4"/>
          <p:cNvSpPr txBox="1">
            <a:spLocks noChangeArrowheads="1"/>
          </p:cNvSpPr>
          <p:nvPr userDrawn="1"/>
        </p:nvSpPr>
        <p:spPr bwMode="auto">
          <a:xfrm>
            <a:off x="107950" y="6356350"/>
            <a:ext cx="8928100" cy="228600"/>
          </a:xfrm>
          <a:prstGeom prst="rect">
            <a:avLst/>
          </a:prstGeom>
          <a:noFill/>
          <a:ln w="9525">
            <a:noFill/>
            <a:miter lim="800000"/>
            <a:headEnd/>
            <a:tailEnd/>
          </a:ln>
        </p:spPr>
        <p:txBody>
          <a:bodyPr>
            <a:spAutoFit/>
          </a:bodyPr>
          <a:lstStyle/>
          <a:p>
            <a:pPr algn="ctr">
              <a:defRPr/>
            </a:pPr>
            <a:r>
              <a:rPr lang="en-GB" sz="900" dirty="0">
                <a:latin typeface="Verdana" pitchFamily="34" charset="0"/>
              </a:rPr>
              <a:t>Benyon, </a:t>
            </a:r>
            <a:r>
              <a:rPr lang="en-US" sz="900" i="1" dirty="0">
                <a:latin typeface="Verdana" pitchFamily="34" charset="0"/>
              </a:rPr>
              <a:t>Designing Interactive Systems: A comprehensive guide to HCI, UX and interaction design</a:t>
            </a:r>
            <a:r>
              <a:rPr lang="en-GB" sz="900" dirty="0">
                <a:latin typeface="Verdana" pitchFamily="34" charset="0"/>
              </a:rPr>
              <a:t>, 3rd Ed., © Pearson Education Limited 2013</a:t>
            </a:r>
            <a:endParaRPr lang="en-GB" dirty="0"/>
          </a:p>
        </p:txBody>
      </p:sp>
    </p:spTree>
  </p:cSld>
  <p:clrMap bg1="lt1" tx1="dk1" bg2="lt2" tx2="dk2" accent1="accent1" accent2="accent2" accent3="accent3" accent4="accent4" accent5="accent5" accent6="accent6" hlink="hlink" folHlink="folHlink"/>
  <p:sldLayoutIdLst>
    <p:sldLayoutId id="2147483660" r:id="rId1"/>
    <p:sldLayoutId id="2147483659" r:id="rId2"/>
    <p:sldLayoutId id="2147483658" r:id="rId3"/>
    <p:sldLayoutId id="2147483657" r:id="rId4"/>
    <p:sldLayoutId id="2147483656" r:id="rId5"/>
    <p:sldLayoutId id="2147483655" r:id="rId6"/>
    <p:sldLayoutId id="2147483654" r:id="rId7"/>
    <p:sldLayoutId id="2147483653" r:id="rId8"/>
    <p:sldLayoutId id="2147483652" r:id="rId9"/>
    <p:sldLayoutId id="2147483651" r:id="rId10"/>
    <p:sldLayoutId id="2147483650" r:id="rId11"/>
    <p:sldLayoutId id="2147483649" r:id="rId12"/>
  </p:sldLayoutIdLst>
  <p:txStyles>
    <p:title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p:titleStyle>
    <p:body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7" name="Title 1"/>
          <p:cNvSpPr>
            <a:spLocks noGrp="1"/>
          </p:cNvSpPr>
          <p:nvPr>
            <p:ph type="ctrTitle"/>
          </p:nvPr>
        </p:nvSpPr>
        <p:spPr>
          <a:xfrm>
            <a:off x="685800" y="1412776"/>
            <a:ext cx="7772400" cy="3242791"/>
          </a:xfrm>
        </p:spPr>
        <p:txBody>
          <a:bodyPr/>
          <a:lstStyle/>
          <a:p>
            <a:pPr eaLnBrk="1" hangingPunct="1"/>
            <a:r>
              <a:rPr lang="en-US" sz="3000" dirty="0" smtClean="0">
                <a:latin typeface="Verdana" pitchFamily="34" charset="0"/>
                <a:ea typeface="ヒラギノ角ゴ Pro W3"/>
                <a:cs typeface="ヒラギノ角ゴ Pro W3"/>
              </a:rPr>
              <a:t>PACT: </a:t>
            </a:r>
            <a:br>
              <a:rPr lang="en-US" sz="3000" dirty="0" smtClean="0">
                <a:latin typeface="Verdana" pitchFamily="34" charset="0"/>
                <a:ea typeface="ヒラギノ角ゴ Pro W3"/>
                <a:cs typeface="ヒラギノ角ゴ Pro W3"/>
              </a:rPr>
            </a:br>
            <a:r>
              <a:rPr lang="en-US" sz="3000" dirty="0" smtClean="0">
                <a:latin typeface="Verdana" pitchFamily="34" charset="0"/>
                <a:ea typeface="ヒラギノ角ゴ Pro W3"/>
                <a:cs typeface="ヒラギノ角ゴ Pro W3"/>
              </a:rPr>
              <a:t/>
            </a:r>
            <a:br>
              <a:rPr lang="en-US" sz="3000" dirty="0" smtClean="0">
                <a:latin typeface="Verdana" pitchFamily="34" charset="0"/>
                <a:ea typeface="ヒラギノ角ゴ Pro W3"/>
                <a:cs typeface="ヒラギノ角ゴ Pro W3"/>
              </a:rPr>
            </a:br>
            <a:r>
              <a:rPr lang="en-US" sz="3000" dirty="0" smtClean="0">
                <a:latin typeface="Verdana" pitchFamily="34" charset="0"/>
                <a:ea typeface="ヒラギノ角ゴ Pro W3"/>
                <a:cs typeface="ヒラギノ角ゴ Pro W3"/>
              </a:rPr>
              <a:t>A Framework for Designing Interactive Systems</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Overview</a:t>
            </a:r>
          </a:p>
        </p:txBody>
      </p:sp>
      <p:sp>
        <p:nvSpPr>
          <p:cNvPr id="15362" name="Text Placeholder 2"/>
          <p:cNvSpPr>
            <a:spLocks noGrp="1"/>
          </p:cNvSpPr>
          <p:nvPr>
            <p:ph type="body" idx="1"/>
          </p:nvPr>
        </p:nvSpPr>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An essential part of our approach to designing interactive systems is that it should put people first; it should be human-centred. </a:t>
            </a:r>
          </a:p>
          <a:p>
            <a:pPr algn="just" eaLnBrk="1" hangingPunct="1">
              <a:lnSpc>
                <a:spcPct val="150000"/>
              </a:lnSpc>
            </a:pPr>
            <a:r>
              <a:rPr lang="en-US" sz="1500" dirty="0" smtClean="0">
                <a:latin typeface="Verdana" pitchFamily="34" charset="0"/>
                <a:ea typeface="ヒラギノ角ゴ Pro W3"/>
                <a:cs typeface="ヒラギノ角ゴ Pro W3"/>
              </a:rPr>
              <a:t>We use the acronym </a:t>
            </a:r>
            <a:r>
              <a:rPr lang="en-US" sz="1500" b="1" dirty="0" smtClean="0">
                <a:latin typeface="Verdana" pitchFamily="34" charset="0"/>
                <a:ea typeface="ヒラギノ角ゴ Pro W3"/>
                <a:cs typeface="ヒラギノ角ゴ Pro W3"/>
              </a:rPr>
              <a:t>PACT (People, Activities, Contexts, Technologies)</a:t>
            </a:r>
            <a:r>
              <a:rPr lang="en-US" sz="1500" dirty="0" smtClean="0">
                <a:latin typeface="Verdana" pitchFamily="34" charset="0"/>
                <a:ea typeface="ヒラギノ角ゴ Pro W3"/>
                <a:cs typeface="ヒラギノ角ゴ Pro W3"/>
              </a:rPr>
              <a:t> as a useful framework for thinking about a design situation.</a:t>
            </a:r>
          </a:p>
          <a:p>
            <a:pPr algn="just" eaLnBrk="1" hangingPunct="1">
              <a:lnSpc>
                <a:spcPct val="150000"/>
              </a:lnSpc>
            </a:pPr>
            <a:r>
              <a:rPr lang="en-US" sz="1500" dirty="0" smtClean="0">
                <a:latin typeface="Verdana" pitchFamily="34" charset="0"/>
                <a:ea typeface="ヒラギノ角ゴ Pro W3"/>
                <a:cs typeface="ヒラギノ角ゴ Pro W3"/>
              </a:rPr>
              <a:t>Designers </a:t>
            </a:r>
            <a:r>
              <a:rPr lang="en-US" sz="1500" b="1" dirty="0" smtClean="0">
                <a:latin typeface="Verdana" pitchFamily="34" charset="0"/>
                <a:ea typeface="ヒラギノ角ゴ Pro W3"/>
                <a:cs typeface="ヒラギノ角ゴ Pro W3"/>
              </a:rPr>
              <a:t>need to understand the people</a:t>
            </a:r>
            <a:r>
              <a:rPr lang="en-US" sz="1500" dirty="0" smtClean="0">
                <a:latin typeface="Verdana" pitchFamily="34" charset="0"/>
                <a:ea typeface="ヒラギノ角ゴ Pro W3"/>
                <a:cs typeface="ヒラギノ角ゴ Pro W3"/>
              </a:rPr>
              <a:t> who will use their systems and products. </a:t>
            </a:r>
          </a:p>
          <a:p>
            <a:pPr algn="just" eaLnBrk="1" hangingPunct="1">
              <a:lnSpc>
                <a:spcPct val="150000"/>
              </a:lnSpc>
            </a:pPr>
            <a:r>
              <a:rPr lang="en-US" sz="1500" dirty="0" smtClean="0">
                <a:latin typeface="Verdana" pitchFamily="34" charset="0"/>
                <a:ea typeface="ヒラギノ角ゴ Pro W3"/>
                <a:cs typeface="ヒラギノ角ゴ Pro W3"/>
              </a:rPr>
              <a:t>They need to </a:t>
            </a:r>
            <a:r>
              <a:rPr lang="en-US" sz="1500" b="1" dirty="0" smtClean="0">
                <a:latin typeface="Verdana" pitchFamily="34" charset="0"/>
                <a:ea typeface="ヒラギノ角ゴ Pro W3"/>
                <a:cs typeface="ヒラギノ角ゴ Pro W3"/>
              </a:rPr>
              <a:t>understand the activities</a:t>
            </a:r>
            <a:r>
              <a:rPr lang="en-US" sz="1500" dirty="0" smtClean="0">
                <a:latin typeface="Verdana" pitchFamily="34" charset="0"/>
                <a:ea typeface="ヒラギノ角ゴ Pro W3"/>
                <a:cs typeface="ヒラギノ角ゴ Pro W3"/>
              </a:rPr>
              <a:t> that people want to undertake and the </a:t>
            </a:r>
            <a:r>
              <a:rPr lang="en-US" sz="1500" b="1" dirty="0" smtClean="0">
                <a:latin typeface="Verdana" pitchFamily="34" charset="0"/>
                <a:ea typeface="ヒラギノ角ゴ Pro W3"/>
                <a:cs typeface="ヒラギノ角ゴ Pro W3"/>
              </a:rPr>
              <a:t>contexts</a:t>
            </a:r>
            <a:r>
              <a:rPr lang="en-US" sz="1500" dirty="0" smtClean="0">
                <a:latin typeface="Verdana" pitchFamily="34" charset="0"/>
                <a:ea typeface="ヒラギノ角ゴ Pro W3"/>
                <a:cs typeface="ヒラギノ角ゴ Pro W3"/>
              </a:rPr>
              <a:t> in which those activities take place. </a:t>
            </a:r>
          </a:p>
          <a:p>
            <a:pPr algn="just" eaLnBrk="1" hangingPunct="1">
              <a:lnSpc>
                <a:spcPct val="150000"/>
              </a:lnSpc>
            </a:pPr>
            <a:r>
              <a:rPr lang="en-US" sz="1500" dirty="0" smtClean="0">
                <a:latin typeface="Verdana" pitchFamily="34" charset="0"/>
                <a:ea typeface="ヒラギノ角ゴ Pro W3"/>
                <a:cs typeface="ヒラギノ角ゴ Pro W3"/>
              </a:rPr>
              <a:t>Designers also need to </a:t>
            </a:r>
            <a:r>
              <a:rPr lang="en-US" sz="1500" b="1" dirty="0" smtClean="0">
                <a:latin typeface="Verdana" pitchFamily="34" charset="0"/>
                <a:ea typeface="ヒラギノ角ゴ Pro W3"/>
                <a:cs typeface="ヒラギノ角ゴ Pro W3"/>
              </a:rPr>
              <a:t>know about the features of interactive technologies </a:t>
            </a:r>
            <a:r>
              <a:rPr lang="en-US" sz="1500" dirty="0" smtClean="0">
                <a:latin typeface="Verdana" pitchFamily="34" charset="0"/>
                <a:ea typeface="ヒラギノ角ゴ Pro W3"/>
                <a:cs typeface="ヒラギノ角ゴ Pro W3"/>
              </a:rPr>
              <a:t>and how to approach designing interactive systems. </a:t>
            </a:r>
            <a:endParaRPr lang="en-US" sz="1500" baseline="-250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p:cNvSpPr>
            <a:spLocks noGrp="1"/>
          </p:cNvSpPr>
          <p:nvPr>
            <p:ph type="title"/>
          </p:nvPr>
        </p:nvSpPr>
        <p:spPr>
          <a:xfrm>
            <a:off x="395536" y="322115"/>
            <a:ext cx="8229600" cy="730621"/>
          </a:xfrm>
        </p:spPr>
        <p:txBody>
          <a:bodyPr/>
          <a:lstStyle/>
          <a:p>
            <a:pPr eaLnBrk="1" hangingPunct="1"/>
            <a:r>
              <a:rPr lang="en-US" sz="2000" b="1" dirty="0" smtClean="0">
                <a:latin typeface="Verdana" pitchFamily="34" charset="0"/>
                <a:ea typeface="ヒラギノ角ゴ Pro W3"/>
                <a:cs typeface="ヒラギノ角ゴ Pro W3"/>
              </a:rPr>
              <a:t>PACT</a:t>
            </a:r>
          </a:p>
        </p:txBody>
      </p:sp>
      <p:sp>
        <p:nvSpPr>
          <p:cNvPr id="16386" name="Text Placeholder 2"/>
          <p:cNvSpPr>
            <a:spLocks noGrp="1"/>
          </p:cNvSpPr>
          <p:nvPr>
            <p:ph type="body" idx="1"/>
          </p:nvPr>
        </p:nvSpPr>
        <p:spPr>
          <a:xfrm>
            <a:off x="323528" y="1207293"/>
            <a:ext cx="8352928" cy="5030019"/>
          </a:xfrm>
        </p:spPr>
        <p:txBody>
          <a:bodyPr/>
          <a:lstStyle/>
          <a:p>
            <a:pPr algn="just" eaLnBrk="1" hangingPunct="1">
              <a:lnSpc>
                <a:spcPct val="150000"/>
              </a:lnSpc>
            </a:pPr>
            <a:r>
              <a:rPr lang="en-US" sz="1500" b="1" dirty="0" smtClean="0">
                <a:latin typeface="Verdana" pitchFamily="34" charset="0"/>
                <a:ea typeface="ヒラギノ角ゴ Pro W3"/>
                <a:cs typeface="ヒラギノ角ゴ Pro W3"/>
              </a:rPr>
              <a:t>People use technologies to undertake activities in contexts. </a:t>
            </a:r>
          </a:p>
          <a:p>
            <a:pPr algn="just" eaLnBrk="1" hangingPunct="1">
              <a:lnSpc>
                <a:spcPct val="150000"/>
              </a:lnSpc>
            </a:pPr>
            <a:r>
              <a:rPr lang="en-US" sz="1500" dirty="0" smtClean="0">
                <a:latin typeface="Verdana" pitchFamily="34" charset="0"/>
                <a:ea typeface="ヒラギノ角ゴ Pro W3"/>
                <a:cs typeface="ヒラギノ角ゴ Pro W3"/>
              </a:rPr>
              <a:t>For example, teenagers use mobile (cell) phones to send text messages to their friends whilst sitting on a bus. </a:t>
            </a:r>
          </a:p>
          <a:p>
            <a:pPr algn="just" eaLnBrk="1" hangingPunct="1">
              <a:lnSpc>
                <a:spcPct val="150000"/>
              </a:lnSpc>
            </a:pPr>
            <a:r>
              <a:rPr lang="en-US" sz="1500" dirty="0" smtClean="0">
                <a:latin typeface="Verdana" pitchFamily="34" charset="0"/>
                <a:ea typeface="ヒラギノ角ゴ Pro W3"/>
                <a:cs typeface="ヒラギノ角ゴ Pro W3"/>
              </a:rPr>
              <a:t>Secretaries use Microsoft Word to write documents in a firm of solicitors. </a:t>
            </a:r>
          </a:p>
          <a:p>
            <a:pPr algn="just" eaLnBrk="1" hangingPunct="1">
              <a:lnSpc>
                <a:spcPct val="150000"/>
              </a:lnSpc>
            </a:pPr>
            <a:r>
              <a:rPr lang="en-US" sz="1500" dirty="0" smtClean="0">
                <a:latin typeface="Verdana" pitchFamily="34" charset="0"/>
                <a:ea typeface="ヒラギノ角ゴ Pro W3"/>
                <a:cs typeface="ヒラギノ角ゴ Pro W3"/>
              </a:rPr>
              <a:t>Air traffic controllers work together to ensure the smooth operation of an airport. </a:t>
            </a:r>
          </a:p>
          <a:p>
            <a:pPr algn="just" eaLnBrk="1" hangingPunct="1">
              <a:lnSpc>
                <a:spcPct val="150000"/>
              </a:lnSpc>
            </a:pPr>
            <a:r>
              <a:rPr lang="en-US" sz="1500" dirty="0" smtClean="0">
                <a:latin typeface="Verdana" pitchFamily="34" charset="0"/>
                <a:ea typeface="ヒラギノ角ゴ Pro W3"/>
                <a:cs typeface="ヒラギノ角ゴ Pro W3"/>
              </a:rPr>
              <a:t>A aged woman presses various buttons to set the intruder (theft alarm) alarms in her house. </a:t>
            </a:r>
          </a:p>
          <a:p>
            <a:pPr algn="just" eaLnBrk="1" hangingPunct="1">
              <a:lnSpc>
                <a:spcPct val="150000"/>
              </a:lnSpc>
            </a:pPr>
            <a:r>
              <a:rPr lang="en-US" sz="1500" dirty="0">
                <a:latin typeface="Verdana" pitchFamily="34" charset="0"/>
                <a:ea typeface="ヒラギノ角ゴ Pro W3"/>
                <a:cs typeface="ヒラギノ角ゴ Pro W3"/>
              </a:rPr>
              <a:t>In all these settings we see people using technologies to undertake activities in contexts and it is the variety of each of these elements that makes designing interactive systems such a difficult and fascinating challenge. </a:t>
            </a:r>
          </a:p>
          <a:p>
            <a:pPr algn="just" eaLnBrk="1" hangingPunct="1">
              <a:lnSpc>
                <a:spcPct val="150000"/>
              </a:lnSpc>
            </a:pPr>
            <a:r>
              <a:rPr lang="en-US" sz="1500" dirty="0">
                <a:latin typeface="Verdana" pitchFamily="34" charset="0"/>
                <a:ea typeface="ヒラギノ角ゴ Pro W3"/>
                <a:cs typeface="ヒラギノ角ゴ Pro W3"/>
              </a:rPr>
              <a:t>Technologies are there to support a wide range of people undertaking various activities in different contexts. </a:t>
            </a:r>
          </a:p>
          <a:p>
            <a:pPr algn="just" eaLnBrk="1" hangingPunct="1">
              <a:lnSpc>
                <a:spcPct val="150000"/>
              </a:lnSpc>
            </a:pPr>
            <a:r>
              <a:rPr lang="en-US" sz="1500" dirty="0">
                <a:latin typeface="Verdana" pitchFamily="34" charset="0"/>
                <a:ea typeface="ヒラギノ角ゴ Pro W3"/>
                <a:cs typeface="ヒラギノ角ゴ Pro W3"/>
              </a:rPr>
              <a:t>If the technology is changed then the nature of the activities will also change. </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p:cNvSpPr>
            <a:spLocks noGrp="1"/>
          </p:cNvSpPr>
          <p:nvPr>
            <p:ph type="title"/>
          </p:nvPr>
        </p:nvSpPr>
        <p:spPr>
          <a:xfrm>
            <a:off x="457200" y="313749"/>
            <a:ext cx="8229600" cy="418058"/>
          </a:xfrm>
        </p:spPr>
        <p:txBody>
          <a:bodyPr/>
          <a:lstStyle/>
          <a:p>
            <a:r>
              <a:rPr lang="en-US" sz="1600" dirty="0" smtClean="0">
                <a:latin typeface="Verdana" panose="020B0604030504040204" pitchFamily="34" charset="0"/>
                <a:ea typeface="Verdana" panose="020B0604030504040204" pitchFamily="34" charset="0"/>
              </a:rPr>
              <a:t>The Cycle continues</a:t>
            </a:r>
          </a:p>
        </p:txBody>
      </p:sp>
      <p:sp>
        <p:nvSpPr>
          <p:cNvPr id="18434" name="Text Placeholder 2"/>
          <p:cNvSpPr>
            <a:spLocks noGrp="1"/>
          </p:cNvSpPr>
          <p:nvPr>
            <p:ph type="body" idx="1"/>
          </p:nvPr>
        </p:nvSpPr>
        <p:spPr>
          <a:xfrm>
            <a:off x="354360" y="908720"/>
            <a:ext cx="8435280" cy="5472608"/>
          </a:xfrm>
        </p:spPr>
        <p:txBody>
          <a:bodyPr/>
          <a:lstStyle/>
          <a:p>
            <a:pPr algn="just">
              <a:lnSpc>
                <a:spcPct val="150000"/>
              </a:lnSpc>
            </a:pPr>
            <a:r>
              <a:rPr lang="en-US" sz="1500" dirty="0" smtClean="0">
                <a:latin typeface="Verdana" panose="020B0604030504040204" pitchFamily="34" charset="0"/>
                <a:ea typeface="Verdana" panose="020B0604030504040204" pitchFamily="34" charset="0"/>
              </a:rPr>
              <a:t>Activities (and the contexts within which they take place) </a:t>
            </a:r>
            <a:r>
              <a:rPr lang="en-US" sz="1500" b="1" dirty="0" smtClean="0">
                <a:latin typeface="Verdana" panose="020B0604030504040204" pitchFamily="34" charset="0"/>
                <a:ea typeface="Verdana" panose="020B0604030504040204" pitchFamily="34" charset="0"/>
              </a:rPr>
              <a:t>establish requirements </a:t>
            </a:r>
            <a:r>
              <a:rPr lang="en-US" sz="1500" dirty="0" smtClean="0">
                <a:latin typeface="Verdana" panose="020B0604030504040204" pitchFamily="34" charset="0"/>
                <a:ea typeface="Verdana" panose="020B0604030504040204" pitchFamily="34" charset="0"/>
              </a:rPr>
              <a:t>for technologies that </a:t>
            </a:r>
            <a:r>
              <a:rPr lang="en-US" sz="1500" b="1" dirty="0" smtClean="0">
                <a:latin typeface="Verdana" panose="020B0604030504040204" pitchFamily="34" charset="0"/>
                <a:ea typeface="Verdana" panose="020B0604030504040204" pitchFamily="34" charset="0"/>
              </a:rPr>
              <a:t>in turn offer opportunities </a:t>
            </a:r>
            <a:r>
              <a:rPr lang="en-US" sz="1500" dirty="0" smtClean="0">
                <a:latin typeface="Verdana" panose="020B0604030504040204" pitchFamily="34" charset="0"/>
                <a:ea typeface="Verdana" panose="020B0604030504040204" pitchFamily="34" charset="0"/>
              </a:rPr>
              <a:t>that change the nature of activities. </a:t>
            </a:r>
          </a:p>
          <a:p>
            <a:pPr algn="just">
              <a:lnSpc>
                <a:spcPct val="150000"/>
              </a:lnSpc>
            </a:pPr>
            <a:r>
              <a:rPr lang="en-US" sz="1500" dirty="0" smtClean="0">
                <a:latin typeface="Verdana" panose="020B0604030504040204" pitchFamily="34" charset="0"/>
                <a:ea typeface="Verdana" panose="020B0604030504040204" pitchFamily="34" charset="0"/>
              </a:rPr>
              <a:t>And so the cycle continues as the </a:t>
            </a:r>
            <a:r>
              <a:rPr lang="en-US" sz="1500" b="1" dirty="0" smtClean="0">
                <a:latin typeface="Verdana" panose="020B0604030504040204" pitchFamily="34" charset="0"/>
                <a:ea typeface="Verdana" panose="020B0604030504040204" pitchFamily="34" charset="0"/>
              </a:rPr>
              <a:t>changed activity results in new requirements </a:t>
            </a:r>
            <a:r>
              <a:rPr lang="en-US" sz="1500" dirty="0" smtClean="0">
                <a:latin typeface="Verdana" panose="020B0604030504040204" pitchFamily="34" charset="0"/>
                <a:ea typeface="Verdana" panose="020B0604030504040204" pitchFamily="34" charset="0"/>
              </a:rPr>
              <a:t>for technologies and so on. </a:t>
            </a:r>
          </a:p>
          <a:p>
            <a:pPr algn="just">
              <a:lnSpc>
                <a:spcPct val="150000"/>
              </a:lnSpc>
            </a:pPr>
            <a:r>
              <a:rPr lang="en-US" sz="1500" dirty="0" smtClean="0">
                <a:latin typeface="Verdana" panose="020B0604030504040204" pitchFamily="34" charset="0"/>
                <a:ea typeface="Verdana" panose="020B0604030504040204" pitchFamily="34" charset="0"/>
              </a:rPr>
              <a:t>Designers need to </a:t>
            </a:r>
            <a:r>
              <a:rPr lang="en-US" sz="1500" b="1" dirty="0" smtClean="0">
                <a:latin typeface="Verdana" panose="020B0604030504040204" pitchFamily="34" charset="0"/>
                <a:ea typeface="Verdana" panose="020B0604030504040204" pitchFamily="34" charset="0"/>
              </a:rPr>
              <a:t>keep this cycle in mind </a:t>
            </a:r>
            <a:r>
              <a:rPr lang="en-US" sz="1500" dirty="0" smtClean="0">
                <a:latin typeface="Verdana" panose="020B0604030504040204" pitchFamily="34" charset="0"/>
                <a:ea typeface="Verdana" panose="020B0604030504040204" pitchFamily="34" charset="0"/>
              </a:rPr>
              <a:t>as they attempt to understand and design for some domain. (The word ‘domain’ here means an area of study, a ‘sphere of activity’.) </a:t>
            </a:r>
          </a:p>
          <a:p>
            <a:pPr algn="just">
              <a:lnSpc>
                <a:spcPct val="150000"/>
              </a:lnSpc>
            </a:pPr>
            <a:r>
              <a:rPr lang="en-US" sz="1500" dirty="0" smtClean="0">
                <a:latin typeface="Verdana" panose="020B0604030504040204" pitchFamily="34" charset="0"/>
                <a:ea typeface="Verdana" panose="020B0604030504040204" pitchFamily="34" charset="0"/>
              </a:rPr>
              <a:t>For example, as PC’s have become more common so the domain of e-mail has changed. Originally</a:t>
            </a:r>
            <a:r>
              <a:rPr lang="en-US" sz="1500" b="1" dirty="0" smtClean="0">
                <a:latin typeface="Verdana" panose="020B0604030504040204" pitchFamily="34" charset="0"/>
                <a:ea typeface="Verdana" panose="020B0604030504040204" pitchFamily="34" charset="0"/>
              </a:rPr>
              <a:t> e-mail </a:t>
            </a:r>
            <a:r>
              <a:rPr lang="en-US" sz="1500" dirty="0" smtClean="0">
                <a:latin typeface="Verdana" panose="020B0604030504040204" pitchFamily="34" charset="0"/>
                <a:ea typeface="Verdana" panose="020B0604030504040204" pitchFamily="34" charset="0"/>
              </a:rPr>
              <a:t>was in text only, but now it is in full </a:t>
            </a:r>
            <a:r>
              <a:rPr lang="en-US" sz="1500" b="1" dirty="0" smtClean="0">
                <a:latin typeface="Verdana" panose="020B0604030504040204" pitchFamily="34" charset="0"/>
                <a:ea typeface="Verdana" panose="020B0604030504040204" pitchFamily="34" charset="0"/>
              </a:rPr>
              <a:t>color with pictures and video embedded</a:t>
            </a:r>
            <a:r>
              <a:rPr lang="en-US" sz="1500" dirty="0" smtClean="0">
                <a:latin typeface="Verdana" panose="020B0604030504040204" pitchFamily="34" charset="0"/>
                <a:ea typeface="Verdana" panose="020B0604030504040204" pitchFamily="34" charset="0"/>
              </a:rPr>
              <a:t>. Other items can be attached to e-mails easily. </a:t>
            </a:r>
          </a:p>
          <a:p>
            <a:pPr algn="just">
              <a:lnSpc>
                <a:spcPct val="150000"/>
              </a:lnSpc>
            </a:pPr>
            <a:r>
              <a:rPr lang="en-US" sz="1500" dirty="0" smtClean="0">
                <a:latin typeface="Verdana" panose="020B0604030504040204" pitchFamily="34" charset="0"/>
                <a:ea typeface="Verdana" panose="020B0604030504040204" pitchFamily="34" charset="0"/>
              </a:rPr>
              <a:t>This has led to a need for better facilities for managing it for organizing pictures, documents and addresses. </a:t>
            </a:r>
          </a:p>
          <a:p>
            <a:pPr algn="just">
              <a:lnSpc>
                <a:spcPct val="150000"/>
              </a:lnSpc>
            </a:pPr>
            <a:r>
              <a:rPr lang="en-US" sz="1500" dirty="0" smtClean="0">
                <a:latin typeface="Verdana" panose="020B0604030504040204" pitchFamily="34" charset="0"/>
                <a:ea typeface="Verdana" panose="020B0604030504040204" pitchFamily="34" charset="0"/>
              </a:rPr>
              <a:t>Software now keeps </a:t>
            </a:r>
            <a:r>
              <a:rPr lang="en-US" sz="1500" b="1" dirty="0" smtClean="0">
                <a:latin typeface="Verdana" panose="020B0604030504040204" pitchFamily="34" charset="0"/>
                <a:ea typeface="Verdana" panose="020B0604030504040204" pitchFamily="34" charset="0"/>
              </a:rPr>
              <a:t>track of threads of e-mails and links </a:t>
            </a:r>
            <a:r>
              <a:rPr lang="en-US" sz="1500" dirty="0" smtClean="0">
                <a:latin typeface="Verdana" panose="020B0604030504040204" pitchFamily="34" charset="0"/>
                <a:ea typeface="Verdana" panose="020B0604030504040204" pitchFamily="34" charset="0"/>
              </a:rPr>
              <a:t>between e-mails.</a:t>
            </a:r>
            <a:endParaRPr lang="en-US" sz="1500" dirty="0">
              <a:latin typeface="Verdana" panose="020B0604030504040204" pitchFamily="34" charset="0"/>
              <a:ea typeface="Verdana" panose="020B0604030504040204" pitchFamily="34" charset="0"/>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Title 1"/>
          <p:cNvSpPr>
            <a:spLocks noGrp="1"/>
          </p:cNvSpPr>
          <p:nvPr>
            <p:ph type="title"/>
          </p:nvPr>
        </p:nvSpPr>
        <p:spPr>
          <a:xfrm>
            <a:off x="395536" y="341784"/>
            <a:ext cx="8229600" cy="1143000"/>
          </a:xfrm>
        </p:spPr>
        <p:txBody>
          <a:bodyPr/>
          <a:lstStyle/>
          <a:p>
            <a:pPr eaLnBrk="1" hangingPunct="1"/>
            <a:r>
              <a:rPr lang="en-US" sz="2500" b="1" dirty="0" smtClean="0">
                <a:solidFill>
                  <a:srgbClr val="0070C0"/>
                </a:solidFill>
                <a:latin typeface="Verdana" pitchFamily="34" charset="0"/>
                <a:ea typeface="ヒラギノ角ゴ Pro W3"/>
                <a:cs typeface="ヒラギノ角ゴ Pro W3"/>
              </a:rPr>
              <a:t>People</a:t>
            </a:r>
          </a:p>
        </p:txBody>
      </p:sp>
      <p:sp>
        <p:nvSpPr>
          <p:cNvPr id="19458" name="Text Placeholder 2"/>
          <p:cNvSpPr>
            <a:spLocks noGrp="1"/>
          </p:cNvSpPr>
          <p:nvPr>
            <p:ph type="body" idx="1"/>
          </p:nvPr>
        </p:nvSpPr>
        <p:spPr>
          <a:xfrm>
            <a:off x="518864" y="1567333"/>
            <a:ext cx="8229600" cy="4525963"/>
          </a:xfrm>
        </p:spPr>
        <p:txBody>
          <a:bodyPr/>
          <a:lstStyle/>
          <a:p>
            <a:pPr algn="just" eaLnBrk="1" hangingPunct="1">
              <a:lnSpc>
                <a:spcPct val="200000"/>
              </a:lnSpc>
            </a:pPr>
            <a:r>
              <a:rPr lang="en-US" sz="1800" dirty="0" smtClean="0">
                <a:latin typeface="Verdana" pitchFamily="34" charset="0"/>
                <a:ea typeface="ヒラギノ角ゴ Pro W3"/>
                <a:cs typeface="ヒラギノ角ゴ Pro W3"/>
              </a:rPr>
              <a:t>People differ from one another in a variety of ways.</a:t>
            </a:r>
          </a:p>
          <a:p>
            <a:pPr algn="just" eaLnBrk="1" hangingPunct="1">
              <a:lnSpc>
                <a:spcPct val="200000"/>
              </a:lnSpc>
              <a:buFont typeface="+mj-lt"/>
              <a:buAutoNum type="arabicParenR"/>
            </a:pPr>
            <a:r>
              <a:rPr lang="en-US" sz="1800" dirty="0" smtClean="0">
                <a:latin typeface="Verdana" pitchFamily="34" charset="0"/>
                <a:ea typeface="ヒラギノ角ゴ Pro W3"/>
                <a:cs typeface="ヒラギノ角ゴ Pro W3"/>
              </a:rPr>
              <a:t>Physical differences</a:t>
            </a:r>
          </a:p>
          <a:p>
            <a:pPr algn="just" eaLnBrk="1" hangingPunct="1">
              <a:lnSpc>
                <a:spcPct val="200000"/>
              </a:lnSpc>
              <a:buFont typeface="+mj-lt"/>
              <a:buAutoNum type="arabicParenR"/>
            </a:pPr>
            <a:r>
              <a:rPr lang="en-US" sz="1800" dirty="0" smtClean="0">
                <a:latin typeface="Verdana" pitchFamily="34" charset="0"/>
                <a:ea typeface="ヒラギノ角ゴ Pro W3"/>
                <a:cs typeface="ヒラギノ角ゴ Pro W3"/>
              </a:rPr>
              <a:t>Psychological differences (mental model)</a:t>
            </a:r>
          </a:p>
          <a:p>
            <a:pPr algn="just" eaLnBrk="1" hangingPunct="1">
              <a:lnSpc>
                <a:spcPct val="200000"/>
              </a:lnSpc>
              <a:buFont typeface="+mj-lt"/>
              <a:buAutoNum type="arabicParenR"/>
            </a:pPr>
            <a:r>
              <a:rPr lang="en-US" sz="1800" dirty="0" smtClean="0">
                <a:latin typeface="Verdana" pitchFamily="34" charset="0"/>
                <a:ea typeface="ヒラギノ角ゴ Pro W3"/>
                <a:cs typeface="ヒラギノ角ゴ Pro W3"/>
              </a:rPr>
              <a:t>Social Differences (novice/expert, similarity)</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p:cNvSpPr>
            <a:spLocks noGrp="1"/>
          </p:cNvSpPr>
          <p:nvPr>
            <p:ph type="title"/>
          </p:nvPr>
        </p:nvSpPr>
        <p:spPr>
          <a:xfrm>
            <a:off x="457200" y="274638"/>
            <a:ext cx="8229600" cy="922114"/>
          </a:xfrm>
        </p:spPr>
        <p:txBody>
          <a:bodyPr/>
          <a:lstStyle/>
          <a:p>
            <a:pPr eaLnBrk="1" hangingPunct="1"/>
            <a:r>
              <a:rPr lang="en-US" sz="1500" b="1" dirty="0" smtClean="0">
                <a:latin typeface="Verdana" pitchFamily="34" charset="0"/>
                <a:ea typeface="ヒラギノ角ゴ Pro W3"/>
                <a:cs typeface="ヒラギノ角ゴ Pro W3"/>
              </a:rPr>
              <a:t>1) Physical differences</a:t>
            </a:r>
          </a:p>
        </p:txBody>
      </p:sp>
      <p:sp>
        <p:nvSpPr>
          <p:cNvPr id="20482" name="Text Placeholder 2"/>
          <p:cNvSpPr>
            <a:spLocks noGrp="1"/>
          </p:cNvSpPr>
          <p:nvPr>
            <p:ph type="body" idx="1"/>
          </p:nvPr>
        </p:nvSpPr>
        <p:spPr>
          <a:xfrm>
            <a:off x="457200" y="1270499"/>
            <a:ext cx="8229600" cy="4894805"/>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People differ in physical characteristics such as </a:t>
            </a:r>
            <a:r>
              <a:rPr lang="en-US" sz="1500" b="1" dirty="0" smtClean="0">
                <a:latin typeface="Verdana" pitchFamily="34" charset="0"/>
                <a:ea typeface="ヒラギノ角ゴ Pro W3"/>
                <a:cs typeface="ヒラギノ角ゴ Pro W3"/>
              </a:rPr>
              <a:t>height and weight</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Variability in the </a:t>
            </a:r>
            <a:r>
              <a:rPr lang="en-US" sz="1500" b="1" dirty="0" smtClean="0">
                <a:latin typeface="Verdana" pitchFamily="34" charset="0"/>
                <a:ea typeface="ヒラギノ角ゴ Pro W3"/>
                <a:cs typeface="ヒラギノ角ゴ Pro W3"/>
              </a:rPr>
              <a:t>five senses </a:t>
            </a:r>
            <a:r>
              <a:rPr lang="en-US" sz="1500" dirty="0" smtClean="0">
                <a:latin typeface="Verdana" pitchFamily="34" charset="0"/>
                <a:ea typeface="ヒラギノ角ゴ Pro W3"/>
                <a:cs typeface="ヒラギノ角ゴ Pro W3"/>
              </a:rPr>
              <a:t>– sight, hearing, touch, smell and taste – has a huge effect on how accessible, how usable and how enjoyable using a technology will be for people in different contexts. </a:t>
            </a:r>
          </a:p>
          <a:p>
            <a:pPr algn="just" eaLnBrk="1" hangingPunct="1">
              <a:lnSpc>
                <a:spcPct val="150000"/>
              </a:lnSpc>
            </a:pPr>
            <a:r>
              <a:rPr lang="en-US" sz="1500" dirty="0" smtClean="0">
                <a:latin typeface="Verdana" pitchFamily="34" charset="0"/>
                <a:ea typeface="ヒラギノ角ゴ Pro W3"/>
                <a:cs typeface="ヒラギノ角ゴ Pro W3"/>
              </a:rPr>
              <a:t>For example, </a:t>
            </a:r>
            <a:r>
              <a:rPr lang="en-US" sz="1500" b="1" dirty="0" smtClean="0">
                <a:latin typeface="Verdana" pitchFamily="34" charset="0"/>
                <a:ea typeface="ヒラギノ角ゴ Pro W3"/>
                <a:cs typeface="ヒラギノ角ゴ Pro W3"/>
              </a:rPr>
              <a:t>color blindness </a:t>
            </a:r>
            <a:r>
              <a:rPr lang="en-US" sz="1500" dirty="0" smtClean="0">
                <a:latin typeface="Verdana" pitchFamily="34" charset="0"/>
                <a:ea typeface="ヒラギノ角ゴ Pro W3"/>
                <a:cs typeface="ヒラギノ角ゴ Pro W3"/>
              </a:rPr>
              <a:t>(usually the inability to correctly distinguish between red and green colors) affects about 8 percent of western males, short-sightedness and long-sightedness affect many, and many people are hearing impaired. </a:t>
            </a:r>
          </a:p>
          <a:p>
            <a:pPr algn="just" eaLnBrk="1" hangingPunct="1">
              <a:lnSpc>
                <a:spcPct val="150000"/>
              </a:lnSpc>
            </a:pPr>
            <a:r>
              <a:rPr lang="en-US" sz="1500" dirty="0" smtClean="0">
                <a:latin typeface="Verdana" pitchFamily="34" charset="0"/>
                <a:ea typeface="ヒラギノ角ゴ Pro W3"/>
                <a:cs typeface="ヒラギノ角ゴ Pro W3"/>
              </a:rPr>
              <a:t>In Europe there are </a:t>
            </a:r>
            <a:r>
              <a:rPr lang="en-US" sz="1500" b="1" dirty="0" smtClean="0">
                <a:latin typeface="Verdana" pitchFamily="34" charset="0"/>
                <a:ea typeface="ヒラギノ角ゴ Pro W3"/>
                <a:cs typeface="ヒラギノ角ゴ Pro W3"/>
              </a:rPr>
              <a:t>2.8 million wheelchair users</a:t>
            </a:r>
            <a:r>
              <a:rPr lang="en-US" sz="1500" dirty="0" smtClean="0">
                <a:latin typeface="Verdana" pitchFamily="34" charset="0"/>
                <a:ea typeface="ヒラギノ角ゴ Pro W3"/>
                <a:cs typeface="ヒラギノ角ゴ Pro W3"/>
              </a:rPr>
              <a:t>, so designers must consider where technologies are placed, and many people have dexterity impairments involving the use of their fingers. </a:t>
            </a:r>
          </a:p>
          <a:p>
            <a:pPr algn="just" eaLnBrk="1" hangingPunct="1">
              <a:lnSpc>
                <a:spcPct val="150000"/>
              </a:lnSpc>
            </a:pPr>
            <a:r>
              <a:rPr lang="en-US" sz="1500" dirty="0" smtClean="0">
                <a:latin typeface="Verdana" pitchFamily="34" charset="0"/>
                <a:ea typeface="ヒラギノ角ゴ Pro W3"/>
                <a:cs typeface="ヒラギノ角ゴ Pro W3"/>
              </a:rPr>
              <a:t>All of us have relatively </a:t>
            </a:r>
            <a:r>
              <a:rPr lang="en-US" sz="1500" b="1" dirty="0" smtClean="0">
                <a:latin typeface="Verdana" pitchFamily="34" charset="0"/>
                <a:ea typeface="ヒラギノ角ゴ Pro W3"/>
                <a:cs typeface="ヒラギノ角ゴ Pro W3"/>
              </a:rPr>
              <a:t>large fingers </a:t>
            </a:r>
            <a:r>
              <a:rPr lang="en-US" sz="1500" dirty="0" smtClean="0">
                <a:latin typeface="Verdana" pitchFamily="34" charset="0"/>
                <a:ea typeface="ヒラギノ角ゴ Pro W3"/>
                <a:cs typeface="ヒラギノ角ゴ Pro W3"/>
              </a:rPr>
              <a:t>compared to the </a:t>
            </a:r>
            <a:r>
              <a:rPr lang="en-US" sz="1500" b="1" dirty="0" smtClean="0">
                <a:latin typeface="Verdana" pitchFamily="34" charset="0"/>
                <a:ea typeface="ヒラギノ角ゴ Pro W3"/>
                <a:cs typeface="ヒラギノ角ゴ Pro W3"/>
              </a:rPr>
              <a:t>small size we can make buttons</a:t>
            </a:r>
            <a:r>
              <a:rPr lang="en-US" sz="1500" dirty="0" smtClean="0">
                <a:latin typeface="Verdana" pitchFamily="34" charset="0"/>
                <a:ea typeface="ヒラギノ角ゴ Pro W3"/>
                <a:cs typeface="ヒラギノ角ゴ Pro W3"/>
              </a:rPr>
              <a:t>. </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Title 1"/>
          <p:cNvSpPr>
            <a:spLocks noGrp="1"/>
          </p:cNvSpPr>
          <p:nvPr>
            <p:ph type="title"/>
          </p:nvPr>
        </p:nvSpPr>
        <p:spPr>
          <a:xfrm>
            <a:off x="495790" y="548680"/>
            <a:ext cx="8229600" cy="576064"/>
          </a:xfrm>
        </p:spPr>
        <p:txBody>
          <a:bodyPr/>
          <a:lstStyle/>
          <a:p>
            <a:pPr eaLnBrk="1" hangingPunct="1"/>
            <a:r>
              <a:rPr lang="en-US" sz="1500" dirty="0" smtClean="0">
                <a:latin typeface="Verdana" pitchFamily="34" charset="0"/>
                <a:ea typeface="ヒラギノ角ゴ Pro W3"/>
                <a:cs typeface="ヒラギノ角ゴ Pro W3"/>
              </a:rPr>
              <a:t> Ergonomics</a:t>
            </a:r>
          </a:p>
        </p:txBody>
      </p:sp>
      <p:sp>
        <p:nvSpPr>
          <p:cNvPr id="21506" name="Text Placeholder 2"/>
          <p:cNvSpPr>
            <a:spLocks noGrp="1"/>
          </p:cNvSpPr>
          <p:nvPr>
            <p:ph type="body" idx="1"/>
          </p:nvPr>
        </p:nvSpPr>
        <p:spPr>
          <a:xfrm>
            <a:off x="755576" y="1556792"/>
            <a:ext cx="7710028" cy="4165825"/>
          </a:xfrm>
        </p:spPr>
        <p:txBody>
          <a:bodyPr/>
          <a:lstStyle/>
          <a:p>
            <a:pPr algn="just" eaLnBrk="1" hangingPunct="1">
              <a:lnSpc>
                <a:spcPct val="200000"/>
              </a:lnSpc>
            </a:pPr>
            <a:r>
              <a:rPr lang="en-US" sz="1550" dirty="0" smtClean="0">
                <a:latin typeface="Verdana" pitchFamily="34" charset="0"/>
                <a:ea typeface="ヒラギノ角ゴ Pro W3"/>
                <a:cs typeface="ヒラギノ角ゴ Pro W3"/>
              </a:rPr>
              <a:t>The term ‘ergonomics’ was coined in 1948 to describe the </a:t>
            </a:r>
            <a:r>
              <a:rPr lang="en-US" sz="1550" b="1" dirty="0" smtClean="0">
                <a:latin typeface="Verdana" pitchFamily="34" charset="0"/>
                <a:ea typeface="ヒラギノ角ゴ Pro W3"/>
                <a:cs typeface="ヒラギノ角ゴ Pro W3"/>
              </a:rPr>
              <a:t>study of the relationships between people and their environment</a:t>
            </a:r>
            <a:r>
              <a:rPr lang="en-US" sz="1550" dirty="0" smtClean="0">
                <a:latin typeface="Verdana" pitchFamily="34" charset="0"/>
                <a:ea typeface="ヒラギノ角ゴ Pro W3"/>
                <a:cs typeface="ヒラギノ角ゴ Pro W3"/>
              </a:rPr>
              <a:t>. </a:t>
            </a:r>
          </a:p>
          <a:p>
            <a:pPr algn="just" eaLnBrk="1" hangingPunct="1">
              <a:lnSpc>
                <a:spcPct val="200000"/>
              </a:lnSpc>
            </a:pPr>
            <a:r>
              <a:rPr lang="en-US" sz="1550" dirty="0">
                <a:latin typeface="Verdana" pitchFamily="34" charset="0"/>
                <a:ea typeface="ヒラギノ角ゴ Pro W3"/>
                <a:cs typeface="ヒラギノ角ゴ Pro W3"/>
              </a:rPr>
              <a:t>E</a:t>
            </a:r>
            <a:r>
              <a:rPr lang="en-US" sz="1550" dirty="0" smtClean="0">
                <a:latin typeface="Verdana" pitchFamily="34" charset="0"/>
                <a:ea typeface="ヒラギノ角ゴ Pro W3"/>
                <a:cs typeface="ヒラギノ角ゴ Pro W3"/>
              </a:rPr>
              <a:t>nvironment includes the </a:t>
            </a:r>
            <a:r>
              <a:rPr lang="en-US" sz="1550" b="1" dirty="0" smtClean="0">
                <a:latin typeface="Verdana" pitchFamily="34" charset="0"/>
                <a:ea typeface="ヒラギノ角ゴ Pro W3"/>
                <a:cs typeface="ヒラギノ角ゴ Pro W3"/>
              </a:rPr>
              <a:t>ambient environment </a:t>
            </a:r>
            <a:r>
              <a:rPr lang="en-US" sz="1550" dirty="0" smtClean="0">
                <a:latin typeface="Verdana" pitchFamily="34" charset="0"/>
                <a:ea typeface="ヒラギノ角ゴ Pro W3"/>
                <a:cs typeface="ヒラギノ角ゴ Pro W3"/>
              </a:rPr>
              <a:t>(temperature, humidity, atmospheric pressure, light levels, noise and so on) and the working environment too (the design of machines, health and safety issues – e.g. hygiene, exposure to ionizing radiation, microwaves, etc.).</a:t>
            </a: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Ergonomic design</a:t>
            </a:r>
          </a:p>
        </p:txBody>
      </p:sp>
      <p:sp>
        <p:nvSpPr>
          <p:cNvPr id="22530" name="Text Placeholder 2"/>
          <p:cNvSpPr>
            <a:spLocks noGrp="1"/>
          </p:cNvSpPr>
          <p:nvPr>
            <p:ph type="body" idx="1"/>
          </p:nvPr>
        </p:nvSpPr>
        <p:spPr>
          <a:xfrm>
            <a:off x="437519" y="1410711"/>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While </a:t>
            </a:r>
            <a:r>
              <a:rPr lang="en-US" sz="1500" b="1" dirty="0" smtClean="0">
                <a:latin typeface="Verdana" pitchFamily="34" charset="0"/>
                <a:ea typeface="ヒラギノ角ゴ Pro W3"/>
                <a:cs typeface="ヒラギノ角ゴ Pro W3"/>
              </a:rPr>
              <a:t>ergonomics has a longer history than HCI</a:t>
            </a:r>
            <a:r>
              <a:rPr lang="en-US" sz="1500" dirty="0" smtClean="0">
                <a:latin typeface="Verdana" pitchFamily="34" charset="0"/>
                <a:ea typeface="ヒラギノ角ゴ Pro W3"/>
                <a:cs typeface="ヒラギノ角ゴ Pro W3"/>
              </a:rPr>
              <a:t>, it would be a mistake to perceive it as being old and out of touch – quite the reverse. </a:t>
            </a:r>
          </a:p>
          <a:p>
            <a:pPr algn="just" eaLnBrk="1" hangingPunct="1">
              <a:lnSpc>
                <a:spcPct val="150000"/>
              </a:lnSpc>
            </a:pPr>
            <a:r>
              <a:rPr lang="en-US" sz="1500" dirty="0" smtClean="0">
                <a:latin typeface="Verdana" pitchFamily="34" charset="0"/>
                <a:ea typeface="ヒラギノ角ゴ Pro W3"/>
                <a:cs typeface="ヒラギノ角ゴ Pro W3"/>
              </a:rPr>
              <a:t>Ergonomics has much to tell us about the design of interactive devices such as a </a:t>
            </a:r>
            <a:r>
              <a:rPr lang="en-US" sz="1500" b="1" dirty="0" smtClean="0">
                <a:latin typeface="Verdana" pitchFamily="34" charset="0"/>
                <a:ea typeface="ヒラギノ角ゴ Pro W3"/>
                <a:cs typeface="ヒラギノ角ゴ Pro W3"/>
              </a:rPr>
              <a:t>mobile games console and a PDA </a:t>
            </a:r>
            <a:r>
              <a:rPr lang="en-US" sz="1500" dirty="0" smtClean="0">
                <a:latin typeface="Verdana" pitchFamily="34" charset="0"/>
                <a:ea typeface="ヒラギノ角ゴ Pro W3"/>
                <a:cs typeface="ヒラギノ角ゴ Pro W3"/>
              </a:rPr>
              <a:t>(personal digital assistant). </a:t>
            </a:r>
          </a:p>
          <a:p>
            <a:pPr algn="just" eaLnBrk="1" hangingPunct="1">
              <a:lnSpc>
                <a:spcPct val="150000"/>
              </a:lnSpc>
            </a:pPr>
            <a:r>
              <a:rPr lang="en-US" sz="1500" dirty="0" smtClean="0">
                <a:latin typeface="Verdana" pitchFamily="34" charset="0"/>
                <a:ea typeface="ヒラギノ角ゴ Pro W3"/>
                <a:cs typeface="ヒラギノ角ゴ Pro W3"/>
              </a:rPr>
              <a:t>Such devices are faced with ergonomic design challenges. </a:t>
            </a:r>
          </a:p>
          <a:p>
            <a:pPr algn="just" eaLnBrk="1" hangingPunct="1">
              <a:lnSpc>
                <a:spcPct val="150000"/>
              </a:lnSpc>
            </a:pPr>
            <a:r>
              <a:rPr lang="en-US" sz="1500" dirty="0" smtClean="0">
                <a:latin typeface="Verdana" pitchFamily="34" charset="0"/>
                <a:ea typeface="ヒラギノ角ゴ Pro W3"/>
                <a:cs typeface="ヒラギノ角ゴ Pro W3"/>
              </a:rPr>
              <a:t>For example, we all have relatively </a:t>
            </a:r>
            <a:r>
              <a:rPr lang="en-US" sz="1500" b="1" dirty="0" smtClean="0">
                <a:latin typeface="Verdana" pitchFamily="34" charset="0"/>
                <a:ea typeface="ヒラギノ角ゴ Pro W3"/>
                <a:cs typeface="ヒラギノ角ゴ Pro W3"/>
              </a:rPr>
              <a:t>fat fingers</a:t>
            </a:r>
            <a:r>
              <a:rPr lang="en-US" sz="1500" dirty="0" smtClean="0">
                <a:latin typeface="Verdana" pitchFamily="34" charset="0"/>
                <a:ea typeface="ヒラギノ角ゴ Pro W3"/>
                <a:cs typeface="ヒラギノ角ゴ Pro W3"/>
              </a:rPr>
              <a:t> compared with how small buttons can be made. </a:t>
            </a:r>
          </a:p>
          <a:p>
            <a:pPr algn="just" eaLnBrk="1" hangingPunct="1">
              <a:lnSpc>
                <a:spcPct val="150000"/>
              </a:lnSpc>
            </a:pPr>
            <a:r>
              <a:rPr lang="en-US" sz="1500" dirty="0" smtClean="0">
                <a:latin typeface="Verdana" pitchFamily="34" charset="0"/>
                <a:ea typeface="ヒラギノ角ゴ Pro W3"/>
                <a:cs typeface="ヒラギノ角ゴ Pro W3"/>
              </a:rPr>
              <a:t>In the world of mobile computing, </a:t>
            </a:r>
            <a:r>
              <a:rPr lang="en-US" sz="1500" b="1" dirty="0" smtClean="0">
                <a:latin typeface="Verdana" pitchFamily="34" charset="0"/>
                <a:ea typeface="ヒラギノ角ゴ Pro W3"/>
                <a:cs typeface="ヒラギノ角ゴ Pro W3"/>
              </a:rPr>
              <a:t>small is good but too small is bad</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Ergonomics can put numbers on what constitutes small and usable and what is too small and unusable. </a:t>
            </a:r>
          </a:p>
          <a:p>
            <a:pPr algn="just" eaLnBrk="1" hangingPunct="1">
              <a:lnSpc>
                <a:spcPct val="150000"/>
              </a:lnSpc>
            </a:pP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p:cNvSpPr>
            <a:spLocks noGrp="1"/>
          </p:cNvSpPr>
          <p:nvPr>
            <p:ph type="title"/>
          </p:nvPr>
        </p:nvSpPr>
        <p:spPr/>
        <p:txBody>
          <a:bodyPr/>
          <a:lstStyle/>
          <a:p>
            <a:pPr eaLnBrk="1" hangingPunct="1"/>
            <a:r>
              <a:rPr lang="en-US" sz="1500" b="1" dirty="0" smtClean="0">
                <a:latin typeface="Verdana" pitchFamily="34" charset="0"/>
                <a:ea typeface="ヒラギノ角ゴ Pro W3"/>
                <a:cs typeface="ヒラギノ角ゴ Pro W3"/>
              </a:rPr>
              <a:t>2) </a:t>
            </a:r>
            <a:r>
              <a:rPr lang="en-US" sz="1500" b="1" dirty="0">
                <a:latin typeface="Verdana" pitchFamily="34" charset="0"/>
                <a:ea typeface="ヒラギノ角ゴ Pro W3"/>
                <a:cs typeface="ヒラギノ角ゴ Pro W3"/>
              </a:rPr>
              <a:t>Psychological </a:t>
            </a:r>
            <a:r>
              <a:rPr lang="en-US" sz="1500" b="1" dirty="0" smtClean="0">
                <a:latin typeface="Verdana" pitchFamily="34" charset="0"/>
                <a:ea typeface="ヒラギノ角ゴ Pro W3"/>
                <a:cs typeface="ヒラギノ角ゴ Pro W3"/>
              </a:rPr>
              <a:t>differences</a:t>
            </a:r>
          </a:p>
        </p:txBody>
      </p:sp>
      <p:sp>
        <p:nvSpPr>
          <p:cNvPr id="24578" name="Text Placeholder 2"/>
          <p:cNvSpPr>
            <a:spLocks noGrp="1"/>
          </p:cNvSpPr>
          <p:nvPr>
            <p:ph type="body" idx="1"/>
          </p:nvPr>
        </p:nvSpPr>
        <p:spPr>
          <a:xfrm>
            <a:off x="564169" y="1414515"/>
            <a:ext cx="8122631"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Psychologically, people differ in a variety of ways. </a:t>
            </a:r>
          </a:p>
          <a:p>
            <a:pPr algn="just" eaLnBrk="1" hangingPunct="1">
              <a:lnSpc>
                <a:spcPct val="150000"/>
              </a:lnSpc>
            </a:pPr>
            <a:r>
              <a:rPr lang="en-US" sz="1500" dirty="0" smtClean="0">
                <a:latin typeface="Verdana" pitchFamily="34" charset="0"/>
                <a:ea typeface="ヒラギノ角ゴ Pro W3"/>
                <a:cs typeface="ヒラギノ角ゴ Pro W3"/>
              </a:rPr>
              <a:t>For example, people with good spatial ability will find it much </a:t>
            </a:r>
            <a:r>
              <a:rPr lang="en-US" sz="1500" b="1" dirty="0" smtClean="0">
                <a:latin typeface="Verdana" pitchFamily="34" charset="0"/>
                <a:ea typeface="ヒラギノ角ゴ Pro W3"/>
                <a:cs typeface="ヒラギノ角ゴ Pro W3"/>
              </a:rPr>
              <a:t>easier to find their way</a:t>
            </a:r>
            <a:r>
              <a:rPr lang="en-US" sz="1500" dirty="0" smtClean="0">
                <a:latin typeface="Verdana" pitchFamily="34" charset="0"/>
                <a:ea typeface="ヒラギノ角ゴ Pro W3"/>
                <a:cs typeface="ヒラギノ角ゴ Pro W3"/>
              </a:rPr>
              <a:t> around and remember a website than those with poor ability. </a:t>
            </a:r>
          </a:p>
          <a:p>
            <a:pPr algn="just" eaLnBrk="1" hangingPunct="1">
              <a:lnSpc>
                <a:spcPct val="150000"/>
              </a:lnSpc>
            </a:pPr>
            <a:r>
              <a:rPr lang="en-US" sz="1500" dirty="0" smtClean="0">
                <a:latin typeface="Verdana" pitchFamily="34" charset="0"/>
                <a:ea typeface="ヒラギノ角ゴ Pro W3"/>
                <a:cs typeface="ヒラギノ角ゴ Pro W3"/>
              </a:rPr>
              <a:t>Designers should </a:t>
            </a:r>
            <a:r>
              <a:rPr lang="en-US" sz="1500" b="1" dirty="0" smtClean="0">
                <a:latin typeface="Verdana" pitchFamily="34" charset="0"/>
                <a:ea typeface="ヒラギノ角ゴ Pro W3"/>
                <a:cs typeface="ヒラギノ角ゴ Pro W3"/>
              </a:rPr>
              <a:t>design for people with poor ability </a:t>
            </a:r>
            <a:r>
              <a:rPr lang="en-US" sz="1500" dirty="0" smtClean="0">
                <a:latin typeface="Verdana" pitchFamily="34" charset="0"/>
                <a:ea typeface="ヒラギノ角ゴ Pro W3"/>
                <a:cs typeface="ヒラギノ角ゴ Pro W3"/>
              </a:rPr>
              <a:t>by providing good signage and clear directions.</a:t>
            </a:r>
          </a:p>
          <a:p>
            <a:pPr algn="just" eaLnBrk="1" hangingPunct="1">
              <a:lnSpc>
                <a:spcPct val="150000"/>
              </a:lnSpc>
            </a:pPr>
            <a:r>
              <a:rPr lang="en-US" sz="1500" b="1" dirty="0" smtClean="0">
                <a:latin typeface="Verdana" pitchFamily="34" charset="0"/>
                <a:ea typeface="ヒラギノ角ゴ Pro W3"/>
                <a:cs typeface="ヒラギノ角ゴ Pro W3"/>
              </a:rPr>
              <a:t>Language differences</a:t>
            </a:r>
            <a:r>
              <a:rPr lang="en-US" sz="1500" dirty="0" smtClean="0">
                <a:latin typeface="Verdana" pitchFamily="34" charset="0"/>
                <a:ea typeface="ヒラギノ角ゴ Pro W3"/>
                <a:cs typeface="ヒラギノ角ゴ Pro W3"/>
              </a:rPr>
              <a:t> are of course crucial to understanding</a:t>
            </a:r>
          </a:p>
          <a:p>
            <a:pPr algn="just" eaLnBrk="1" hangingPunct="1">
              <a:lnSpc>
                <a:spcPct val="150000"/>
              </a:lnSpc>
            </a:pPr>
            <a:r>
              <a:rPr lang="en-US" sz="1500" b="1" dirty="0" smtClean="0">
                <a:latin typeface="Verdana" pitchFamily="34" charset="0"/>
                <a:ea typeface="ヒラギノ角ゴ Pro W3"/>
                <a:cs typeface="ヒラギノ角ゴ Pro W3"/>
              </a:rPr>
              <a:t>cultural differences </a:t>
            </a:r>
            <a:r>
              <a:rPr lang="en-US" sz="1500" dirty="0" smtClean="0">
                <a:latin typeface="Verdana" pitchFamily="34" charset="0"/>
                <a:ea typeface="ヒラギノ角ゴ Pro W3"/>
                <a:cs typeface="ヒラギノ角ゴ Pro W3"/>
              </a:rPr>
              <a:t>affect how people interpret things. </a:t>
            </a:r>
          </a:p>
          <a:p>
            <a:pPr algn="just" eaLnBrk="1" hangingPunct="1">
              <a:lnSpc>
                <a:spcPct val="150000"/>
              </a:lnSpc>
            </a:pPr>
            <a:r>
              <a:rPr lang="en-US" sz="1500" dirty="0" smtClean="0">
                <a:latin typeface="Verdana" pitchFamily="34" charset="0"/>
                <a:ea typeface="ヒラギノ角ゴ Pro W3"/>
                <a:cs typeface="ヒラギノ角ゴ Pro W3"/>
              </a:rPr>
              <a:t>For example, in the Microsoft Excel spreadsheet application there are two buttons, one labeled with a </a:t>
            </a:r>
            <a:r>
              <a:rPr lang="en-US" sz="1500" b="1" dirty="0" smtClean="0">
                <a:latin typeface="Verdana" pitchFamily="34" charset="0"/>
                <a:ea typeface="ヒラギノ角ゴ Pro W3"/>
                <a:cs typeface="ヒラギノ角ゴ Pro W3"/>
              </a:rPr>
              <a:t>cross </a:t>
            </a:r>
            <a:r>
              <a:rPr lang="en-US" sz="1500" dirty="0" smtClean="0">
                <a:latin typeface="Verdana" pitchFamily="34" charset="0"/>
                <a:ea typeface="ヒラギノ角ゴ Pro W3"/>
                <a:cs typeface="ヒラギノ角ゴ Pro W3"/>
              </a:rPr>
              <a:t>and the other a </a:t>
            </a:r>
            <a:r>
              <a:rPr lang="en-US" sz="1500" b="1" dirty="0" smtClean="0">
                <a:latin typeface="Verdana" pitchFamily="34" charset="0"/>
                <a:ea typeface="ヒラギノ角ゴ Pro W3"/>
                <a:cs typeface="ヒラギノ角ゴ Pro W3"/>
              </a:rPr>
              <a:t>tick</a:t>
            </a:r>
            <a:r>
              <a:rPr lang="en-US" sz="1500" dirty="0" smtClean="0">
                <a:latin typeface="Verdana" pitchFamily="34" charset="0"/>
                <a:ea typeface="ヒラギノ角ゴ Pro W3"/>
                <a:cs typeface="ヒラギノ角ゴ Pro W3"/>
              </a:rPr>
              <a:t>. In the US. a tick is used for acceptance and a cross for rejection, but in Britain a tick or a cross can be used to show acceptance (e.g. a cross on a voting paper).</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Individual Differences</a:t>
            </a:r>
          </a:p>
        </p:txBody>
      </p:sp>
      <p:sp>
        <p:nvSpPr>
          <p:cNvPr id="25602" name="Text Placeholder 2"/>
          <p:cNvSpPr>
            <a:spLocks noGrp="1"/>
          </p:cNvSpPr>
          <p:nvPr>
            <p:ph type="body" idx="1"/>
          </p:nvPr>
        </p:nvSpPr>
        <p:spPr>
          <a:xfrm>
            <a:off x="750404" y="1484784"/>
            <a:ext cx="7643192" cy="4525963"/>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There are often large differences in the psychological abilities of people. </a:t>
            </a:r>
          </a:p>
          <a:p>
            <a:pPr algn="just" eaLnBrk="1" hangingPunct="1">
              <a:lnSpc>
                <a:spcPct val="200000"/>
              </a:lnSpc>
            </a:pPr>
            <a:r>
              <a:rPr lang="en-US" sz="1500" dirty="0" smtClean="0">
                <a:latin typeface="Verdana" pitchFamily="34" charset="0"/>
                <a:ea typeface="ヒラギノ角ゴ Pro W3"/>
                <a:cs typeface="ヒラギノ角ゴ Pro W3"/>
              </a:rPr>
              <a:t>Some people have a </a:t>
            </a:r>
            <a:r>
              <a:rPr lang="en-US" sz="1500" b="1" dirty="0" smtClean="0">
                <a:latin typeface="Verdana" pitchFamily="34" charset="0"/>
                <a:ea typeface="ヒラギノ角ゴ Pro W3"/>
                <a:cs typeface="ヒラギノ角ゴ Pro W3"/>
              </a:rPr>
              <a:t>good memory, others less so</a:t>
            </a:r>
            <a:r>
              <a:rPr lang="en-US" sz="1500" dirty="0" smtClean="0">
                <a:latin typeface="Verdana" pitchFamily="34" charset="0"/>
                <a:ea typeface="ヒラギノ角ゴ Pro W3"/>
                <a:cs typeface="ヒラギノ角ゴ Pro W3"/>
              </a:rPr>
              <a:t>. </a:t>
            </a:r>
          </a:p>
          <a:p>
            <a:pPr algn="just" eaLnBrk="1" hangingPunct="1">
              <a:lnSpc>
                <a:spcPct val="200000"/>
              </a:lnSpc>
            </a:pPr>
            <a:r>
              <a:rPr lang="en-US" sz="1500" dirty="0" smtClean="0">
                <a:latin typeface="Verdana" pitchFamily="34" charset="0"/>
                <a:ea typeface="ヒラギノ角ゴ Pro W3"/>
                <a:cs typeface="ヒラギノ角ゴ Pro W3"/>
              </a:rPr>
              <a:t>Some people can </a:t>
            </a:r>
            <a:r>
              <a:rPr lang="en-US" sz="1500" b="1" dirty="0" smtClean="0">
                <a:latin typeface="Verdana" pitchFamily="34" charset="0"/>
                <a:ea typeface="ヒラギノ角ゴ Pro W3"/>
                <a:cs typeface="ヒラギノ角ゴ Pro W3"/>
              </a:rPr>
              <a:t>find their way around environments better </a:t>
            </a:r>
            <a:r>
              <a:rPr lang="en-US" sz="1500" dirty="0" smtClean="0">
                <a:latin typeface="Verdana" pitchFamily="34" charset="0"/>
                <a:ea typeface="ヒラギノ角ゴ Pro W3"/>
                <a:cs typeface="ヒラギノ角ゴ Pro W3"/>
              </a:rPr>
              <a:t>than others, or mentally rotate objects </a:t>
            </a:r>
            <a:r>
              <a:rPr lang="en-US" sz="1500" b="1" dirty="0" smtClean="0">
                <a:latin typeface="Verdana" pitchFamily="34" charset="0"/>
                <a:ea typeface="ヒラギノ角ゴ Pro W3"/>
                <a:cs typeface="ヒラギノ角ゴ Pro W3"/>
              </a:rPr>
              <a:t>more quickly and accurately</a:t>
            </a:r>
            <a:r>
              <a:rPr lang="en-US" sz="1500" dirty="0" smtClean="0">
                <a:latin typeface="Verdana" pitchFamily="34" charset="0"/>
                <a:ea typeface="ヒラギノ角ゴ Pro W3"/>
                <a:cs typeface="ヒラギノ角ゴ Pro W3"/>
              </a:rPr>
              <a:t>. </a:t>
            </a:r>
          </a:p>
          <a:p>
            <a:pPr algn="just" eaLnBrk="1" hangingPunct="1">
              <a:lnSpc>
                <a:spcPct val="200000"/>
              </a:lnSpc>
            </a:pPr>
            <a:r>
              <a:rPr lang="en-US" sz="1500" dirty="0" smtClean="0">
                <a:latin typeface="Verdana" pitchFamily="34" charset="0"/>
                <a:ea typeface="ヒラギノ角ゴ Pro W3"/>
                <a:cs typeface="ヒラギノ角ゴ Pro W3"/>
              </a:rPr>
              <a:t>Some are </a:t>
            </a:r>
            <a:r>
              <a:rPr lang="en-US" sz="1500" b="1" dirty="0" smtClean="0">
                <a:latin typeface="Verdana" pitchFamily="34" charset="0"/>
                <a:ea typeface="ヒラギノ角ゴ Pro W3"/>
                <a:cs typeface="ヒラギノ角ゴ Pro W3"/>
              </a:rPr>
              <a:t>good at words</a:t>
            </a:r>
            <a:r>
              <a:rPr lang="en-US" sz="1500" dirty="0" smtClean="0">
                <a:latin typeface="Verdana" pitchFamily="34" charset="0"/>
                <a:ea typeface="ヒラギノ角ゴ Pro W3"/>
                <a:cs typeface="ヒラギノ角ゴ Pro W3"/>
              </a:rPr>
              <a:t>, others are good at numbers. </a:t>
            </a:r>
          </a:p>
          <a:p>
            <a:pPr algn="just" eaLnBrk="1" hangingPunct="1">
              <a:lnSpc>
                <a:spcPct val="200000"/>
              </a:lnSpc>
            </a:pPr>
            <a:r>
              <a:rPr lang="en-US" sz="1500" dirty="0" smtClean="0">
                <a:latin typeface="Verdana" pitchFamily="34" charset="0"/>
                <a:ea typeface="ヒラギノ角ゴ Pro W3"/>
                <a:cs typeface="ヒラギノ角ゴ Pro W3"/>
              </a:rPr>
              <a:t>There are differences in. </a:t>
            </a:r>
            <a:r>
              <a:rPr lang="en-US" sz="1500" b="1" dirty="0">
                <a:latin typeface="Verdana" pitchFamily="34" charset="0"/>
                <a:ea typeface="ヒラギノ角ゴ Pro W3"/>
                <a:cs typeface="ヒラギノ角ゴ Pro W3"/>
              </a:rPr>
              <a:t>personality, emotional make-up and ability to work under </a:t>
            </a:r>
            <a:r>
              <a:rPr lang="en-US" sz="1500" b="1" dirty="0" smtClean="0">
                <a:latin typeface="Verdana" pitchFamily="34" charset="0"/>
                <a:ea typeface="ヒラギノ角ゴ Pro W3"/>
                <a:cs typeface="ヒラギノ角ゴ Pro W3"/>
              </a:rPr>
              <a:t>stress.</a:t>
            </a: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p:cNvSpPr>
            <a:spLocks noGrp="1"/>
          </p:cNvSpPr>
          <p:nvPr>
            <p:ph type="title"/>
          </p:nvPr>
        </p:nvSpPr>
        <p:spPr>
          <a:xfrm>
            <a:off x="457200" y="197097"/>
            <a:ext cx="8229600" cy="490066"/>
          </a:xfrm>
        </p:spPr>
        <p:txBody>
          <a:bodyPr/>
          <a:lstStyle/>
          <a:p>
            <a:pPr eaLnBrk="1" hangingPunct="1"/>
            <a:r>
              <a:rPr lang="en-US" sz="1500" dirty="0" smtClean="0">
                <a:latin typeface="Verdana" pitchFamily="34" charset="0"/>
                <a:ea typeface="ヒラギノ角ゴ Pro W3"/>
                <a:cs typeface="ヒラギノ角ゴ Pro W3"/>
              </a:rPr>
              <a:t>Psychological tests</a:t>
            </a:r>
          </a:p>
        </p:txBody>
      </p:sp>
      <p:sp>
        <p:nvSpPr>
          <p:cNvPr id="26626" name="Text Placeholder 2"/>
          <p:cNvSpPr>
            <a:spLocks noGrp="1"/>
          </p:cNvSpPr>
          <p:nvPr>
            <p:ph type="body" idx="1"/>
          </p:nvPr>
        </p:nvSpPr>
        <p:spPr>
          <a:xfrm>
            <a:off x="323528" y="836712"/>
            <a:ext cx="8496944" cy="5256584"/>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Many tests have been designed to measure these differences. For example the </a:t>
            </a:r>
            <a:r>
              <a:rPr lang="en-US" sz="1500" b="1" dirty="0" smtClean="0">
                <a:latin typeface="Verdana" pitchFamily="34" charset="0"/>
                <a:ea typeface="ヒラギノ角ゴ Pro W3"/>
                <a:cs typeface="ヒラギノ角ゴ Pro W3"/>
              </a:rPr>
              <a:t>Myers-Brigg</a:t>
            </a:r>
            <a:r>
              <a:rPr lang="en-US" sz="1500" dirty="0" smtClean="0">
                <a:latin typeface="Verdana" pitchFamily="34" charset="0"/>
                <a:ea typeface="ヒラギノ角ゴ Pro W3"/>
                <a:cs typeface="ヒラギノ角ゴ Pro W3"/>
              </a:rPr>
              <a:t> Type Indicator is a series of tests that results in people being classified as one of 16 personality </a:t>
            </a:r>
            <a:r>
              <a:rPr lang="en-US" sz="1500" dirty="0">
                <a:latin typeface="Verdana" pitchFamily="34" charset="0"/>
                <a:ea typeface="ヒラギノ角ゴ Pro W3"/>
                <a:cs typeface="ヒラギノ角ゴ Pro W3"/>
              </a:rPr>
              <a:t>types </a:t>
            </a:r>
            <a:r>
              <a:rPr lang="en-US" sz="1500" dirty="0" smtClean="0">
                <a:latin typeface="Verdana" pitchFamily="34" charset="0"/>
                <a:ea typeface="ヒラギノ角ゴ Pro W3"/>
                <a:cs typeface="ヒラギノ角ゴ Pro W3"/>
              </a:rPr>
              <a:t>(ENTJ</a:t>
            </a:r>
            <a:r>
              <a:rPr lang="en-US" sz="1500" dirty="0">
                <a:latin typeface="Verdana" pitchFamily="34" charset="0"/>
                <a:ea typeface="ヒラギノ角ゴ Pro W3"/>
                <a:cs typeface="ヒラギノ角ゴ Pro W3"/>
              </a:rPr>
              <a:t>, ESFJ, </a:t>
            </a:r>
            <a:r>
              <a:rPr lang="en-US" sz="1500" dirty="0" smtClean="0">
                <a:latin typeface="Verdana" pitchFamily="34" charset="0"/>
                <a:ea typeface="ヒラギノ角ゴ Pro W3"/>
                <a:cs typeface="ヒラギノ角ゴ Pro W3"/>
              </a:rPr>
              <a:t>ISTJ</a:t>
            </a:r>
            <a:r>
              <a:rPr lang="en-US" sz="1500" dirty="0">
                <a:latin typeface="Verdana" pitchFamily="34" charset="0"/>
                <a:ea typeface="ヒラギノ角ゴ Pro W3"/>
                <a:cs typeface="ヒラギノ角ゴ Pro W3"/>
              </a:rPr>
              <a:t>, ISFJ, INTJ, </a:t>
            </a:r>
            <a:r>
              <a:rPr lang="en-US" sz="1500" dirty="0" smtClean="0">
                <a:latin typeface="Verdana" pitchFamily="34" charset="0"/>
                <a:ea typeface="ヒラギノ角ゴ Pro W3"/>
                <a:cs typeface="ヒラギノ角ゴ Pro W3"/>
              </a:rPr>
              <a:t>INFJ</a:t>
            </a:r>
            <a:r>
              <a:rPr lang="en-US" sz="1500" dirty="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etc.)</a:t>
            </a:r>
          </a:p>
          <a:p>
            <a:pPr algn="just" eaLnBrk="1" hangingPunct="1">
              <a:lnSpc>
                <a:spcPct val="150000"/>
              </a:lnSpc>
            </a:pPr>
            <a:r>
              <a:rPr lang="en-US" sz="1500" dirty="0" smtClean="0">
                <a:latin typeface="Verdana" pitchFamily="34" charset="0"/>
                <a:ea typeface="ヒラギノ角ゴ Pro W3"/>
                <a:cs typeface="ヒラギノ角ゴ Pro W3"/>
              </a:rPr>
              <a:t>Designers need to consider the range of differences between people and the demands that their designs make on people’s psychological abilities.</a:t>
            </a:r>
          </a:p>
          <a:p>
            <a:pPr algn="just" eaLnBrk="1" hangingPunct="1">
              <a:lnSpc>
                <a:spcPct val="150000"/>
              </a:lnSpc>
            </a:pPr>
            <a:r>
              <a:rPr lang="en-US" sz="1500" dirty="0">
                <a:latin typeface="Verdana" pitchFamily="34" charset="0"/>
                <a:ea typeface="ヒラギノ角ゴ Pro W3"/>
                <a:cs typeface="ヒラギノ角ゴ Pro W3"/>
              </a:rPr>
              <a:t>People also have different needs and abilities when it comes to </a:t>
            </a:r>
            <a:r>
              <a:rPr lang="en-US" sz="1500" b="1" dirty="0">
                <a:latin typeface="Verdana" pitchFamily="34" charset="0"/>
                <a:ea typeface="ヒラギノ角ゴ Pro W3"/>
                <a:cs typeface="ヒラギノ角ゴ Pro W3"/>
              </a:rPr>
              <a:t>attention and memory </a:t>
            </a:r>
            <a:r>
              <a:rPr lang="en-US" sz="1500" dirty="0">
                <a:latin typeface="Verdana" pitchFamily="34" charset="0"/>
                <a:ea typeface="ヒラギノ角ゴ Pro W3"/>
                <a:cs typeface="ヒラギノ角ゴ Pro W3"/>
              </a:rPr>
              <a:t>and these can change depending on factors such as </a:t>
            </a:r>
            <a:r>
              <a:rPr lang="en-US" sz="1500" b="1" dirty="0">
                <a:latin typeface="Verdana" pitchFamily="34" charset="0"/>
                <a:ea typeface="ヒラギノ角ゴ Pro W3"/>
                <a:cs typeface="ヒラギノ角ゴ Pro W3"/>
              </a:rPr>
              <a:t>stress and tiredness. </a:t>
            </a:r>
          </a:p>
          <a:p>
            <a:pPr algn="just" eaLnBrk="1" hangingPunct="1">
              <a:lnSpc>
                <a:spcPct val="150000"/>
              </a:lnSpc>
            </a:pPr>
            <a:r>
              <a:rPr lang="en-US" sz="1500" dirty="0">
                <a:latin typeface="Verdana" pitchFamily="34" charset="0"/>
                <a:ea typeface="ヒラギノ角ゴ Pro W3"/>
                <a:cs typeface="ヒラギノ角ゴ Pro W3"/>
              </a:rPr>
              <a:t>Nobody can remember </a:t>
            </a:r>
            <a:r>
              <a:rPr lang="en-US" sz="1500" b="1" dirty="0">
                <a:latin typeface="Verdana" pitchFamily="34" charset="0"/>
                <a:ea typeface="ヒラギノ角ゴ Pro W3"/>
                <a:cs typeface="ヒラギノ角ゴ Pro W3"/>
              </a:rPr>
              <a:t>long numbers or complicated instructions</a:t>
            </a:r>
            <a:r>
              <a:rPr lang="en-US" sz="1500" dirty="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Few people are </a:t>
            </a:r>
            <a:r>
              <a:rPr lang="en-US" sz="1500" dirty="0">
                <a:latin typeface="Verdana" pitchFamily="34" charset="0"/>
                <a:ea typeface="ヒラギノ角ゴ Pro W3"/>
                <a:cs typeface="ヒラギノ角ゴ Pro W3"/>
              </a:rPr>
              <a:t>better at </a:t>
            </a:r>
            <a:r>
              <a:rPr lang="en-US" sz="1500" b="1" dirty="0">
                <a:latin typeface="Verdana" pitchFamily="34" charset="0"/>
                <a:ea typeface="ヒラギノ角ゴ Pro W3"/>
                <a:cs typeface="ヒラギノ角ゴ Pro W3"/>
              </a:rPr>
              <a:t>recognizing things than</a:t>
            </a:r>
            <a:r>
              <a:rPr lang="en-US" sz="1500" dirty="0">
                <a:latin typeface="Verdana" pitchFamily="34" charset="0"/>
                <a:ea typeface="ヒラギノ角ゴ Pro W3"/>
                <a:cs typeface="ヒラギノ角ゴ Pro W3"/>
              </a:rPr>
              <a:t> they are at </a:t>
            </a:r>
            <a:r>
              <a:rPr lang="en-US" sz="1500" b="1" dirty="0" smtClean="0">
                <a:latin typeface="Verdana" pitchFamily="34" charset="0"/>
                <a:ea typeface="ヒラギノ角ゴ Pro W3"/>
                <a:cs typeface="ヒラギノ角ゴ Pro W3"/>
              </a:rPr>
              <a:t>remembering.</a:t>
            </a:r>
            <a:r>
              <a:rPr lang="en-US" sz="1500" dirty="0" smtClean="0">
                <a:latin typeface="Verdana" pitchFamily="34" charset="0"/>
                <a:ea typeface="ヒラギノ角ゴ Pro W3"/>
                <a:cs typeface="ヒラギノ角ゴ Pro W3"/>
              </a:rPr>
              <a:t> </a:t>
            </a:r>
            <a:endParaRPr lang="en-US" sz="1500" dirty="0">
              <a:latin typeface="Verdana" pitchFamily="34" charset="0"/>
              <a:ea typeface="ヒラギノ角ゴ Pro W3"/>
              <a:cs typeface="ヒラギノ角ゴ Pro W3"/>
            </a:endParaRPr>
          </a:p>
          <a:p>
            <a:pPr algn="just" eaLnBrk="1" hangingPunct="1">
              <a:lnSpc>
                <a:spcPct val="150000"/>
              </a:lnSpc>
            </a:pPr>
            <a:r>
              <a:rPr lang="en-US" sz="1500" dirty="0">
                <a:latin typeface="Verdana" pitchFamily="34" charset="0"/>
                <a:ea typeface="ヒラギノ角ゴ Pro W3"/>
                <a:cs typeface="ヒラギノ角ゴ Pro W3"/>
              </a:rPr>
              <a:t>Some people can </a:t>
            </a:r>
            <a:r>
              <a:rPr lang="en-US" sz="1500" b="1" dirty="0">
                <a:latin typeface="Verdana" pitchFamily="34" charset="0"/>
                <a:ea typeface="ヒラギノ角ゴ Pro W3"/>
                <a:cs typeface="ヒラギノ角ゴ Pro W3"/>
              </a:rPr>
              <a:t>quickly grasp </a:t>
            </a:r>
            <a:r>
              <a:rPr lang="en-US" sz="1500" dirty="0">
                <a:latin typeface="Verdana" pitchFamily="34" charset="0"/>
                <a:ea typeface="ヒラギノ角ゴ Pro W3"/>
                <a:cs typeface="ヒラギノ角ゴ Pro W3"/>
              </a:rPr>
              <a:t>how something works whereas for others it can </a:t>
            </a:r>
            <a:r>
              <a:rPr lang="en-US" sz="1500" b="1" dirty="0">
                <a:latin typeface="Verdana" pitchFamily="34" charset="0"/>
                <a:ea typeface="ヒラギノ角ゴ Pro W3"/>
                <a:cs typeface="ヒラギノ角ゴ Pro W3"/>
              </a:rPr>
              <a:t>take much longer</a:t>
            </a:r>
            <a:r>
              <a:rPr lang="en-US" sz="1500" dirty="0">
                <a:latin typeface="Verdana" pitchFamily="34" charset="0"/>
                <a:ea typeface="ヒラギノ角ゴ Pro W3"/>
                <a:cs typeface="ヒラギノ角ゴ Pro W3"/>
              </a:rPr>
              <a:t>. </a:t>
            </a:r>
          </a:p>
          <a:p>
            <a:pPr algn="just" eaLnBrk="1" hangingPunct="1">
              <a:lnSpc>
                <a:spcPct val="150000"/>
              </a:lnSpc>
            </a:pPr>
            <a:r>
              <a:rPr lang="en-US" sz="1500" dirty="0">
                <a:latin typeface="Verdana" pitchFamily="34" charset="0"/>
                <a:ea typeface="ヒラギノ角ゴ Pro W3"/>
                <a:cs typeface="ヒラギノ角ゴ Pro W3"/>
              </a:rPr>
              <a:t>People have had </a:t>
            </a:r>
            <a:r>
              <a:rPr lang="en-US" sz="1500" b="1" dirty="0">
                <a:latin typeface="Verdana" pitchFamily="34" charset="0"/>
                <a:ea typeface="ヒラギノ角ゴ Pro W3"/>
                <a:cs typeface="ヒラギノ角ゴ Pro W3"/>
              </a:rPr>
              <a:t>different experiences </a:t>
            </a:r>
            <a:r>
              <a:rPr lang="en-US" sz="1500" dirty="0">
                <a:latin typeface="Verdana" pitchFamily="34" charset="0"/>
                <a:ea typeface="ヒラギノ角ゴ Pro W3"/>
                <a:cs typeface="ヒラギノ角ゴ Pro W3"/>
              </a:rPr>
              <a:t>and so will have </a:t>
            </a:r>
            <a:r>
              <a:rPr lang="en-US" sz="1500" b="1" dirty="0">
                <a:latin typeface="Verdana" pitchFamily="34" charset="0"/>
                <a:ea typeface="ヒラギノ角ゴ Pro W3"/>
                <a:cs typeface="ヒラギノ角ゴ Pro W3"/>
              </a:rPr>
              <a:t>different conceptual ‘models’ of things</a:t>
            </a:r>
            <a:r>
              <a:rPr lang="en-US" sz="1500" dirty="0">
                <a:latin typeface="Verdana" pitchFamily="34" charset="0"/>
                <a:ea typeface="ヒラギノ角ゴ Pro W3"/>
                <a:cs typeface="ヒラギノ角ゴ Pro W3"/>
              </a:rPr>
              <a:t>. </a:t>
            </a:r>
          </a:p>
          <a:p>
            <a:pPr algn="just" eaLnBrk="1" hangingPunct="1">
              <a:lnSpc>
                <a:spcPct val="150000"/>
              </a:lnSpc>
            </a:pPr>
            <a:endParaRPr lang="en-US" sz="1500" dirty="0" smtClean="0">
              <a:latin typeface="Verdana" pitchFamily="34" charset="0"/>
              <a:ea typeface="ヒラギノ角ゴ Pro W3"/>
              <a:cs typeface="ヒラギノ角ゴ Pro W3"/>
            </a:endParaRPr>
          </a:p>
          <a:p>
            <a:pPr algn="just" eaLnBrk="1" hangingPunct="1">
              <a:lnSpc>
                <a:spcPct val="150000"/>
              </a:lnSpc>
            </a:pPr>
            <a:endParaRPr lang="en-US" sz="1500" dirty="0" smtClean="0">
              <a:latin typeface="Verdana" pitchFamily="34" charset="0"/>
              <a:ea typeface="ヒラギノ角ゴ Pro W3"/>
              <a:cs typeface="ヒラギノ角ゴ Pro W3"/>
            </a:endParaRPr>
          </a:p>
          <a:p>
            <a:pPr algn="just" eaLnBrk="1" hangingPunct="1">
              <a:lnSpc>
                <a:spcPct val="150000"/>
              </a:lnSpc>
            </a:pPr>
            <a:endParaRPr lang="en-US" sz="1500" dirty="0">
              <a:latin typeface="Verdana" pitchFamily="34" charset="0"/>
              <a:ea typeface="ヒラギノ角ゴ Pro W3"/>
              <a:cs typeface="ヒラギノ角ゴ Pro W3"/>
            </a:endParaRPr>
          </a:p>
          <a:p>
            <a:pPr marL="0" indent="0" algn="just" eaLnBrk="1" hangingPunct="1">
              <a:lnSpc>
                <a:spcPct val="150000"/>
              </a:lnSpc>
              <a:buNone/>
            </a:pP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p:cNvSpPr>
            <a:spLocks noGrp="1"/>
          </p:cNvSpPr>
          <p:nvPr>
            <p:ph type="title"/>
          </p:nvPr>
        </p:nvSpPr>
        <p:spPr>
          <a:xfrm>
            <a:off x="457200" y="476672"/>
            <a:ext cx="8229600" cy="648072"/>
          </a:xfrm>
        </p:spPr>
        <p:txBody>
          <a:bodyPr/>
          <a:lstStyle/>
          <a:p>
            <a:pPr eaLnBrk="1" hangingPunct="1"/>
            <a:r>
              <a:rPr lang="en-US" sz="1800" b="1" dirty="0" smtClean="0">
                <a:latin typeface="Verdana" pitchFamily="34" charset="0"/>
                <a:ea typeface="ヒラギノ角ゴ Pro W3"/>
                <a:cs typeface="ヒラギノ角ゴ Pro W3"/>
              </a:rPr>
              <a:t>Mental models</a:t>
            </a:r>
          </a:p>
        </p:txBody>
      </p:sp>
      <p:sp>
        <p:nvSpPr>
          <p:cNvPr id="28674" name="Text Placeholder 2"/>
          <p:cNvSpPr>
            <a:spLocks noGrp="1"/>
          </p:cNvSpPr>
          <p:nvPr>
            <p:ph type="body" idx="1"/>
          </p:nvPr>
        </p:nvSpPr>
        <p:spPr>
          <a:xfrm>
            <a:off x="570384" y="1340768"/>
            <a:ext cx="8003232"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The understanding and knowledge that we possess of something is often referred to as a </a:t>
            </a:r>
            <a:r>
              <a:rPr lang="en-US" sz="1500" b="1" dirty="0" smtClean="0">
                <a:latin typeface="Verdana" pitchFamily="34" charset="0"/>
                <a:ea typeface="ヒラギノ角ゴ Pro W3"/>
                <a:cs typeface="ヒラギノ角ゴ Pro W3"/>
              </a:rPr>
              <a:t>‘mental model’</a:t>
            </a:r>
            <a:r>
              <a:rPr lang="en-US" sz="1500" dirty="0" smtClean="0">
                <a:latin typeface="Verdana" pitchFamily="34" charset="0"/>
                <a:ea typeface="ヒラギノ角ゴ Pro W3"/>
                <a:cs typeface="ヒラギノ角ゴ Pro W3"/>
              </a:rPr>
              <a:t> (e.g. Norman, 1998). </a:t>
            </a:r>
          </a:p>
          <a:p>
            <a:pPr algn="just" eaLnBrk="1" hangingPunct="1">
              <a:lnSpc>
                <a:spcPct val="150000"/>
              </a:lnSpc>
            </a:pPr>
            <a:r>
              <a:rPr lang="en-US" sz="1500" dirty="0" smtClean="0">
                <a:latin typeface="Verdana" pitchFamily="34" charset="0"/>
                <a:ea typeface="ヒラギノ角ゴ Pro W3"/>
                <a:cs typeface="ヒラギノ角ゴ Pro W3"/>
              </a:rPr>
              <a:t>If people do </a:t>
            </a:r>
            <a:r>
              <a:rPr lang="en-US" sz="1500" b="1" dirty="0" smtClean="0">
                <a:latin typeface="Verdana" pitchFamily="34" charset="0"/>
                <a:ea typeface="ヒラギノ角ゴ Pro W3"/>
                <a:cs typeface="ヒラギノ角ゴ Pro W3"/>
              </a:rPr>
              <a:t>not have a good mental model of something</a:t>
            </a:r>
            <a:r>
              <a:rPr lang="en-US" sz="1500" dirty="0" smtClean="0">
                <a:latin typeface="Verdana" pitchFamily="34" charset="0"/>
                <a:ea typeface="ヒラギノ角ゴ Pro W3"/>
                <a:cs typeface="ヒラギノ角ゴ Pro W3"/>
              </a:rPr>
              <a:t>, they can only perform actions by habit. </a:t>
            </a:r>
          </a:p>
          <a:p>
            <a:pPr algn="just" eaLnBrk="1" hangingPunct="1">
              <a:lnSpc>
                <a:spcPct val="150000"/>
              </a:lnSpc>
            </a:pPr>
            <a:r>
              <a:rPr lang="en-US" sz="1500" dirty="0" smtClean="0">
                <a:latin typeface="Verdana" pitchFamily="34" charset="0"/>
                <a:ea typeface="ヒラギノ角ゴ Pro W3"/>
                <a:cs typeface="ヒラギノ角ゴ Pro W3"/>
              </a:rPr>
              <a:t>If something goes wrong, they </a:t>
            </a:r>
            <a:r>
              <a:rPr lang="en-US" sz="1500" b="1" dirty="0" smtClean="0">
                <a:latin typeface="Verdana" pitchFamily="34" charset="0"/>
                <a:ea typeface="ヒラギノ角ゴ Pro W3"/>
                <a:cs typeface="ヒラギノ角ゴ Pro W3"/>
              </a:rPr>
              <a:t>will not know </a:t>
            </a:r>
            <a:r>
              <a:rPr lang="en-US" sz="1500" dirty="0" smtClean="0">
                <a:latin typeface="Verdana" pitchFamily="34" charset="0"/>
                <a:ea typeface="ヒラギノ角ゴ Pro W3"/>
                <a:cs typeface="ヒラギノ角ゴ Pro W3"/>
              </a:rPr>
              <a:t>why and will not be able to recover. This is often the case with people using software systems, but it is also the case with ‘simpler’ domestic systems such as central heating systems, thermostats and so on. </a:t>
            </a:r>
          </a:p>
          <a:p>
            <a:pPr algn="just" eaLnBrk="1" hangingPunct="1">
              <a:lnSpc>
                <a:spcPct val="15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key design principle is </a:t>
            </a:r>
            <a:r>
              <a:rPr lang="en-US" sz="1500" dirty="0" smtClean="0">
                <a:latin typeface="Verdana" pitchFamily="34" charset="0"/>
                <a:ea typeface="ヒラギノ角ゴ Pro W3"/>
                <a:cs typeface="ヒラギノ角ゴ Pro W3"/>
              </a:rPr>
              <a:t>to design things so that people will form correct and useful mental models of how they work and what they do.</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Title 1"/>
          <p:cNvSpPr>
            <a:spLocks noGrp="1"/>
          </p:cNvSpPr>
          <p:nvPr>
            <p:ph type="title"/>
          </p:nvPr>
        </p:nvSpPr>
        <p:spPr/>
        <p:txBody>
          <a:bodyPr/>
          <a:lstStyle/>
          <a:p>
            <a:pPr eaLnBrk="1" hangingPunct="1"/>
            <a:r>
              <a:rPr lang="en-US" sz="1800" b="1" dirty="0" smtClean="0">
                <a:latin typeface="Verdana" pitchFamily="34" charset="0"/>
                <a:ea typeface="ヒラギノ角ゴ Pro W3"/>
                <a:cs typeface="ヒラギノ角ゴ Pro W3"/>
              </a:rPr>
              <a:t>Developing a mental model</a:t>
            </a:r>
          </a:p>
        </p:txBody>
      </p:sp>
      <p:sp>
        <p:nvSpPr>
          <p:cNvPr id="29698" name="Text Placeholder 2"/>
          <p:cNvSpPr>
            <a:spLocks noGrp="1"/>
          </p:cNvSpPr>
          <p:nvPr>
            <p:ph type="body" idx="1"/>
          </p:nvPr>
        </p:nvSpPr>
        <p:spPr>
          <a:xfrm>
            <a:off x="457200" y="1417638"/>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People </a:t>
            </a:r>
            <a:r>
              <a:rPr lang="en-US" sz="1500" b="1" dirty="0" smtClean="0">
                <a:solidFill>
                  <a:srgbClr val="FF0000"/>
                </a:solidFill>
                <a:latin typeface="Verdana" pitchFamily="34" charset="0"/>
                <a:ea typeface="ヒラギノ角ゴ Pro W3"/>
                <a:cs typeface="ヒラギノ角ゴ Pro W3"/>
              </a:rPr>
              <a:t>develop mental models </a:t>
            </a:r>
            <a:r>
              <a:rPr lang="en-US" sz="1500" b="1" dirty="0" smtClean="0">
                <a:latin typeface="Verdana" pitchFamily="34" charset="0"/>
                <a:ea typeface="ヒラギノ角ゴ Pro W3"/>
                <a:cs typeface="ヒラギノ角ゴ Pro W3"/>
              </a:rPr>
              <a:t>through </a:t>
            </a:r>
          </a:p>
          <a:p>
            <a:pPr lvl="1" algn="just" eaLnBrk="1" hangingPunct="1">
              <a:lnSpc>
                <a:spcPct val="150000"/>
              </a:lnSpc>
            </a:pPr>
            <a:r>
              <a:rPr lang="en-US" sz="1500" b="1" dirty="0" smtClean="0">
                <a:latin typeface="Verdana" pitchFamily="34" charset="0"/>
                <a:ea typeface="ヒラギノ角ゴ Pro W3"/>
                <a:cs typeface="ヒラギノ角ゴ Pro W3"/>
              </a:rPr>
              <a:t>interacting</a:t>
            </a:r>
            <a:r>
              <a:rPr lang="en-US" sz="1500" dirty="0" smtClean="0">
                <a:latin typeface="Verdana" pitchFamily="34" charset="0"/>
                <a:ea typeface="ヒラギノ角ゴ Pro W3"/>
                <a:cs typeface="ヒラギノ角ゴ Pro W3"/>
              </a:rPr>
              <a:t> with systems, </a:t>
            </a:r>
          </a:p>
          <a:p>
            <a:pPr lvl="1" algn="just" eaLnBrk="1" hangingPunct="1">
              <a:lnSpc>
                <a:spcPct val="150000"/>
              </a:lnSpc>
            </a:pPr>
            <a:r>
              <a:rPr lang="en-US" sz="1500" b="1" dirty="0" smtClean="0">
                <a:latin typeface="Verdana" pitchFamily="34" charset="0"/>
                <a:ea typeface="ヒラギノ角ゴ Pro W3"/>
                <a:cs typeface="ヒラギノ角ゴ Pro W3"/>
              </a:rPr>
              <a:t>observing</a:t>
            </a:r>
            <a:r>
              <a:rPr lang="en-US" sz="1500" dirty="0" smtClean="0">
                <a:latin typeface="Verdana" pitchFamily="34" charset="0"/>
                <a:ea typeface="ヒラギノ角ゴ Pro W3"/>
                <a:cs typeface="ヒラギノ角ゴ Pro W3"/>
              </a:rPr>
              <a:t> the relationship between their actions and the behaviors of the system </a:t>
            </a:r>
          </a:p>
          <a:p>
            <a:pPr lvl="1" algn="just" eaLnBrk="1" hangingPunct="1">
              <a:lnSpc>
                <a:spcPct val="150000"/>
              </a:lnSpc>
            </a:pPr>
            <a:r>
              <a:rPr lang="en-US" sz="1500" b="1" dirty="0" smtClean="0">
                <a:latin typeface="Verdana" pitchFamily="34" charset="0"/>
                <a:ea typeface="ヒラギノ角ゴ Pro W3"/>
                <a:cs typeface="ヒラギノ角ゴ Pro W3"/>
              </a:rPr>
              <a:t>reading</a:t>
            </a:r>
            <a:r>
              <a:rPr lang="en-US" sz="1500" dirty="0" smtClean="0">
                <a:latin typeface="Verdana" pitchFamily="34" charset="0"/>
                <a:ea typeface="ヒラギノ角ゴ Pro W3"/>
                <a:cs typeface="ヒラギノ角ゴ Pro W3"/>
              </a:rPr>
              <a:t> any manuals or other forms of explanation that come with a system. </a:t>
            </a:r>
          </a:p>
          <a:p>
            <a:pPr marL="457200" lvl="1" indent="0" algn="just" eaLnBrk="1" hangingPunct="1">
              <a:lnSpc>
                <a:spcPct val="150000"/>
              </a:lnSpc>
              <a:buNone/>
            </a:pPr>
            <a:endParaRPr lang="en-US" sz="1500" dirty="0" smtClean="0">
              <a:latin typeface="Verdana" pitchFamily="34" charset="0"/>
              <a:ea typeface="ヒラギノ角ゴ Pro W3"/>
              <a:cs typeface="ヒラギノ角ゴ Pro W3"/>
            </a:endParaRPr>
          </a:p>
          <a:p>
            <a:pPr algn="just" eaLnBrk="1" hangingPunct="1">
              <a:lnSpc>
                <a:spcPct val="150000"/>
              </a:lnSpc>
            </a:pPr>
            <a:r>
              <a:rPr lang="en-US" sz="1500" dirty="0" smtClean="0">
                <a:latin typeface="Verdana" pitchFamily="34" charset="0"/>
                <a:ea typeface="ヒラギノ角ゴ Pro W3"/>
                <a:cs typeface="ヒラギノ角ゴ Pro W3"/>
              </a:rPr>
              <a:t>So, it is important that designers </a:t>
            </a:r>
            <a:r>
              <a:rPr lang="en-US" sz="1500" b="1" dirty="0" smtClean="0">
                <a:latin typeface="Verdana" pitchFamily="34" charset="0"/>
                <a:ea typeface="ヒラギノ角ゴ Pro W3"/>
                <a:cs typeface="ヒラギノ角ゴ Pro W3"/>
              </a:rPr>
              <a:t>provide sufficient information </a:t>
            </a:r>
            <a:r>
              <a:rPr lang="en-US" sz="1500" dirty="0" smtClean="0">
                <a:latin typeface="Verdana" pitchFamily="34" charset="0"/>
                <a:ea typeface="ヒラギノ角ゴ Pro W3"/>
                <a:cs typeface="ヒラギノ角ゴ Pro W3"/>
              </a:rPr>
              <a:t>in the interface (and any accompanying documentation) for people to form an accurate mental mode.</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p:cNvSpPr>
            <a:spLocks noGrp="1"/>
          </p:cNvSpPr>
          <p:nvPr>
            <p:ph type="title"/>
          </p:nvPr>
        </p:nvSpPr>
        <p:spPr>
          <a:xfrm>
            <a:off x="457200" y="274638"/>
            <a:ext cx="8229600" cy="562074"/>
          </a:xfrm>
        </p:spPr>
        <p:txBody>
          <a:bodyPr/>
          <a:lstStyle/>
          <a:p>
            <a:pPr eaLnBrk="1" hangingPunct="1"/>
            <a:r>
              <a:rPr lang="en-US" sz="1800" b="1" dirty="0" smtClean="0">
                <a:latin typeface="Verdana" pitchFamily="34" charset="0"/>
                <a:ea typeface="ヒラギノ角ゴ Pro W3"/>
                <a:cs typeface="ヒラギノ角ゴ Pro W3"/>
              </a:rPr>
              <a:t>The mental model problem.</a:t>
            </a:r>
          </a:p>
        </p:txBody>
      </p:sp>
      <p:sp>
        <p:nvSpPr>
          <p:cNvPr id="30722" name="Text Placeholder 2"/>
          <p:cNvSpPr>
            <a:spLocks noGrp="1"/>
          </p:cNvSpPr>
          <p:nvPr>
            <p:ph type="body" idx="1"/>
          </p:nvPr>
        </p:nvSpPr>
        <p:spPr>
          <a:xfrm>
            <a:off x="457200" y="1052736"/>
            <a:ext cx="8229600" cy="5112568"/>
          </a:xfrm>
        </p:spPr>
        <p:txBody>
          <a:bodyPr/>
          <a:lstStyle/>
          <a:p>
            <a:pPr algn="just" eaLnBrk="1" hangingPunct="1">
              <a:lnSpc>
                <a:spcPct val="150000"/>
              </a:lnSpc>
            </a:pPr>
            <a:r>
              <a:rPr lang="en-US" sz="1450" dirty="0" smtClean="0">
                <a:latin typeface="Verdana" pitchFamily="34" charset="0"/>
                <a:ea typeface="ヒラギノ角ゴ Pro W3"/>
                <a:cs typeface="ヒラギノ角ゴ Pro W3"/>
              </a:rPr>
              <a:t>Designers </a:t>
            </a:r>
            <a:r>
              <a:rPr lang="en-US" sz="1450" b="1" dirty="0" smtClean="0">
                <a:latin typeface="Verdana" pitchFamily="34" charset="0"/>
                <a:ea typeface="ヒラギノ角ゴ Pro W3"/>
                <a:cs typeface="ヒラギノ角ゴ Pro W3"/>
              </a:rPr>
              <a:t>have some conception </a:t>
            </a:r>
            <a:r>
              <a:rPr lang="en-US" sz="1450" dirty="0" smtClean="0">
                <a:latin typeface="Verdana" pitchFamily="34" charset="0"/>
                <a:ea typeface="ヒラギノ角ゴ Pro W3"/>
                <a:cs typeface="ヒラギノ角ゴ Pro W3"/>
              </a:rPr>
              <a:t>of the system they have produced. This </a:t>
            </a:r>
            <a:r>
              <a:rPr lang="en-US" sz="1450" b="1" dirty="0" smtClean="0">
                <a:latin typeface="Verdana" pitchFamily="34" charset="0"/>
                <a:ea typeface="ヒラギノ角ゴ Pro W3"/>
                <a:cs typeface="ヒラギノ角ゴ Pro W3"/>
              </a:rPr>
              <a:t>may or may not be the same </a:t>
            </a:r>
            <a:r>
              <a:rPr lang="en-US" sz="1450" dirty="0" smtClean="0">
                <a:latin typeface="Verdana" pitchFamily="34" charset="0"/>
                <a:ea typeface="ヒラギノ角ゴ Pro W3"/>
                <a:cs typeface="ヒラギノ角ゴ Pro W3"/>
              </a:rPr>
              <a:t>as what the </a:t>
            </a:r>
            <a:r>
              <a:rPr lang="en-US" sz="1450" b="1" dirty="0" smtClean="0">
                <a:latin typeface="Verdana" pitchFamily="34" charset="0"/>
                <a:ea typeface="ヒラギノ角ゴ Pro W3"/>
                <a:cs typeface="ヒラギノ角ゴ Pro W3"/>
              </a:rPr>
              <a:t>system actually does</a:t>
            </a:r>
            <a:r>
              <a:rPr lang="en-US" sz="1450" dirty="0" smtClean="0">
                <a:latin typeface="Verdana" pitchFamily="34" charset="0"/>
                <a:ea typeface="ヒラギノ角ゴ Pro W3"/>
                <a:cs typeface="ヒラギノ角ゴ Pro W3"/>
              </a:rPr>
              <a:t>. </a:t>
            </a:r>
          </a:p>
          <a:p>
            <a:pPr algn="just" eaLnBrk="1" hangingPunct="1">
              <a:lnSpc>
                <a:spcPct val="150000"/>
              </a:lnSpc>
            </a:pPr>
            <a:r>
              <a:rPr lang="en-US" sz="1450" dirty="0" smtClean="0">
                <a:latin typeface="Verdana" pitchFamily="34" charset="0"/>
                <a:ea typeface="ヒラギノ角ゴ Pro W3"/>
                <a:cs typeface="ヒラギノ角ゴ Pro W3"/>
              </a:rPr>
              <a:t>Moreover, in a system of any large size, </a:t>
            </a:r>
            <a:r>
              <a:rPr lang="en-US" sz="1450" b="1" dirty="0" smtClean="0">
                <a:latin typeface="Verdana" pitchFamily="34" charset="0"/>
                <a:ea typeface="ヒラギノ角ゴ Pro W3"/>
                <a:cs typeface="ヒラギノ角ゴ Pro W3"/>
              </a:rPr>
              <a:t>no single designer will know everything that the system does. </a:t>
            </a:r>
          </a:p>
          <a:p>
            <a:pPr algn="just" eaLnBrk="1" hangingPunct="1">
              <a:lnSpc>
                <a:spcPct val="150000"/>
              </a:lnSpc>
            </a:pPr>
            <a:r>
              <a:rPr lang="en-US" sz="1450" dirty="0" smtClean="0">
                <a:latin typeface="Verdana" pitchFamily="34" charset="0"/>
                <a:ea typeface="ヒラギノ角ゴ Pro W3"/>
                <a:cs typeface="ヒラギノ角ゴ Pro W3"/>
              </a:rPr>
              <a:t>Designers </a:t>
            </a:r>
            <a:r>
              <a:rPr lang="en-US" sz="1450" b="1" dirty="0" smtClean="0">
                <a:latin typeface="Verdana" pitchFamily="34" charset="0"/>
                <a:ea typeface="ヒラギノ角ゴ Pro W3"/>
                <a:cs typeface="ヒラギノ角ゴ Pro W3"/>
              </a:rPr>
              <a:t>design a system’s image </a:t>
            </a:r>
            <a:r>
              <a:rPr lang="en-US" sz="1450" dirty="0" smtClean="0">
                <a:latin typeface="Verdana" pitchFamily="34" charset="0"/>
                <a:ea typeface="ヒラギノ角ゴ Pro W3"/>
                <a:cs typeface="ヒラギノ角ゴ Pro W3"/>
              </a:rPr>
              <a:t>that they </a:t>
            </a:r>
            <a:r>
              <a:rPr lang="en-US" sz="1450" b="1" dirty="0" smtClean="0">
                <a:latin typeface="Verdana" pitchFamily="34" charset="0"/>
                <a:ea typeface="ヒラギノ角ゴ Pro W3"/>
                <a:cs typeface="ヒラギノ角ゴ Pro W3"/>
              </a:rPr>
              <a:t>hope will reveal the designer’s conception. </a:t>
            </a:r>
          </a:p>
          <a:p>
            <a:pPr algn="just" eaLnBrk="1" hangingPunct="1">
              <a:lnSpc>
                <a:spcPct val="150000"/>
              </a:lnSpc>
            </a:pPr>
            <a:r>
              <a:rPr lang="en-US" sz="1450" dirty="0" smtClean="0">
                <a:latin typeface="Verdana" pitchFamily="34" charset="0"/>
                <a:ea typeface="ヒラギノ角ゴ Pro W3"/>
                <a:cs typeface="ヒラギノ角ゴ Pro W3"/>
              </a:rPr>
              <a:t>The </a:t>
            </a:r>
            <a:r>
              <a:rPr lang="en-US" sz="1450" b="1" dirty="0" smtClean="0">
                <a:latin typeface="Verdana" pitchFamily="34" charset="0"/>
                <a:ea typeface="ヒラギノ角ゴ Pro W3"/>
                <a:cs typeface="ヒラギノ角ゴ Pro W3"/>
              </a:rPr>
              <a:t>problem is </a:t>
            </a:r>
            <a:r>
              <a:rPr lang="en-US" sz="1450" dirty="0" smtClean="0">
                <a:latin typeface="Verdana" pitchFamily="34" charset="0"/>
                <a:ea typeface="ヒラギノ角ゴ Pro W3"/>
                <a:cs typeface="ヒラギノ角ゴ Pro W3"/>
              </a:rPr>
              <a:t>that it is only through the </a:t>
            </a:r>
            <a:r>
              <a:rPr lang="en-US" sz="1450" b="1" dirty="0" smtClean="0">
                <a:latin typeface="Verdana" pitchFamily="34" charset="0"/>
                <a:ea typeface="ヒラギノ角ゴ Pro W3"/>
                <a:cs typeface="ヒラギノ角ゴ Pro W3"/>
              </a:rPr>
              <a:t>system image </a:t>
            </a:r>
            <a:r>
              <a:rPr lang="en-US" sz="1450" dirty="0" smtClean="0">
                <a:latin typeface="Verdana" pitchFamily="34" charset="0"/>
                <a:ea typeface="ヒラギノ角ゴ Pro W3"/>
                <a:cs typeface="ヒラギノ角ゴ Pro W3"/>
              </a:rPr>
              <a:t>(the interface, the behaviours of the system and any documentation) </a:t>
            </a:r>
            <a:r>
              <a:rPr lang="en-US" sz="1450" b="1" dirty="0" smtClean="0">
                <a:latin typeface="Verdana" pitchFamily="34" charset="0"/>
                <a:ea typeface="ヒラギノ角ゴ Pro W3"/>
                <a:cs typeface="ヒラギノ角ゴ Pro W3"/>
              </a:rPr>
              <a:t>that the designer’s conception can be revealed. </a:t>
            </a:r>
          </a:p>
          <a:p>
            <a:pPr algn="just" eaLnBrk="1" hangingPunct="1">
              <a:lnSpc>
                <a:spcPct val="150000"/>
              </a:lnSpc>
            </a:pPr>
            <a:r>
              <a:rPr lang="en-US" sz="1450" dirty="0" smtClean="0">
                <a:latin typeface="Verdana" pitchFamily="34" charset="0"/>
                <a:ea typeface="ヒラギノ角ゴ Pro W3"/>
                <a:cs typeface="ヒラギノ角ゴ Pro W3"/>
              </a:rPr>
              <a:t>People </a:t>
            </a:r>
            <a:r>
              <a:rPr lang="en-US" sz="1450" b="1" dirty="0" smtClean="0">
                <a:latin typeface="Verdana" pitchFamily="34" charset="0"/>
                <a:ea typeface="ヒラギノ角ゴ Pro W3"/>
                <a:cs typeface="ヒラギノ角ゴ Pro W3"/>
              </a:rPr>
              <a:t>interact with the system image </a:t>
            </a:r>
            <a:r>
              <a:rPr lang="en-US" sz="1450" dirty="0" smtClean="0">
                <a:latin typeface="Verdana" pitchFamily="34" charset="0"/>
                <a:ea typeface="ヒラギノ角ゴ Pro W3"/>
                <a:cs typeface="ヒラギノ角ゴ Pro W3"/>
              </a:rPr>
              <a:t>and from this have to </a:t>
            </a:r>
            <a:r>
              <a:rPr lang="en-US" sz="1450" b="1" dirty="0" smtClean="0">
                <a:latin typeface="Verdana" pitchFamily="34" charset="0"/>
                <a:ea typeface="ヒラギノ角ゴ Pro W3"/>
                <a:cs typeface="ヒラギノ角ゴ Pro W3"/>
              </a:rPr>
              <a:t>derive their conception</a:t>
            </a:r>
            <a:r>
              <a:rPr lang="en-US" sz="1450" dirty="0" smtClean="0">
                <a:latin typeface="Verdana" pitchFamily="34" charset="0"/>
                <a:ea typeface="ヒラギノ角ゴ Pro W3"/>
                <a:cs typeface="ヒラギノ角ゴ Pro W3"/>
              </a:rPr>
              <a:t> (their ‘mental model’) of </a:t>
            </a:r>
            <a:r>
              <a:rPr lang="en-US" sz="1450" b="1" dirty="0" smtClean="0">
                <a:latin typeface="Verdana" pitchFamily="34" charset="0"/>
                <a:ea typeface="ヒラギノ角ゴ Pro W3"/>
                <a:cs typeface="ヒラギノ角ゴ Pro W3"/>
              </a:rPr>
              <a:t>what the system is and what it does</a:t>
            </a:r>
            <a:r>
              <a:rPr lang="en-US" sz="1450" dirty="0" smtClean="0">
                <a:latin typeface="Verdana" pitchFamily="34" charset="0"/>
                <a:ea typeface="ヒラギノ角ゴ Pro W3"/>
                <a:cs typeface="ヒラギノ角ゴ Pro W3"/>
              </a:rPr>
              <a:t>. </a:t>
            </a:r>
          </a:p>
          <a:p>
            <a:pPr algn="just" eaLnBrk="1" hangingPunct="1">
              <a:lnSpc>
                <a:spcPct val="150000"/>
              </a:lnSpc>
            </a:pPr>
            <a:r>
              <a:rPr lang="en-US" sz="1450" dirty="0" smtClean="0">
                <a:latin typeface="Verdana" pitchFamily="34" charset="0"/>
                <a:ea typeface="ヒラギノ角ゴ Pro W3"/>
                <a:cs typeface="ヒラギノ角ゴ Pro W3"/>
              </a:rPr>
              <a:t>A </a:t>
            </a:r>
            <a:r>
              <a:rPr lang="en-US" sz="1450" b="1" dirty="0" smtClean="0">
                <a:latin typeface="Verdana" pitchFamily="34" charset="0"/>
                <a:ea typeface="ヒラギノ角ゴ Pro W3"/>
                <a:cs typeface="ヒラギノ角ゴ Pro W3"/>
              </a:rPr>
              <a:t>clear, logical and consistent conceptual design will be easier to communicate to people </a:t>
            </a:r>
            <a:r>
              <a:rPr lang="en-US" sz="1450" dirty="0" smtClean="0">
                <a:latin typeface="Verdana" pitchFamily="34" charset="0"/>
                <a:ea typeface="ヒラギノ角ゴ Pro W3"/>
                <a:cs typeface="ヒラギノ角ゴ Pro W3"/>
              </a:rPr>
              <a:t>who use the system and hence they will </a:t>
            </a:r>
            <a:r>
              <a:rPr lang="en-US" sz="1450" b="1" dirty="0" smtClean="0">
                <a:latin typeface="Verdana" pitchFamily="34" charset="0"/>
                <a:ea typeface="ヒラギノ角ゴ Pro W3"/>
                <a:cs typeface="ヒラギノ角ゴ Pro W3"/>
              </a:rPr>
              <a:t>develop a clearer conception of the system themselves</a:t>
            </a:r>
            <a:r>
              <a:rPr lang="en-US" sz="145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Title 1"/>
          <p:cNvSpPr>
            <a:spLocks noGrp="1"/>
          </p:cNvSpPr>
          <p:nvPr>
            <p:ph type="title"/>
          </p:nvPr>
        </p:nvSpPr>
        <p:spPr>
          <a:xfrm>
            <a:off x="457200" y="404664"/>
            <a:ext cx="8229600" cy="778098"/>
          </a:xfrm>
        </p:spPr>
        <p:txBody>
          <a:bodyPr/>
          <a:lstStyle/>
          <a:p>
            <a:pPr eaLnBrk="1" hangingPunct="1">
              <a:lnSpc>
                <a:spcPct val="150000"/>
              </a:lnSpc>
            </a:pPr>
            <a:r>
              <a:rPr lang="en-US" sz="1800" b="1" dirty="0" smtClean="0">
                <a:latin typeface="Verdana" pitchFamily="34" charset="0"/>
                <a:ea typeface="ヒラギノ角ゴ Pro W3"/>
                <a:cs typeface="ヒラギノ角ゴ Pro W3"/>
              </a:rPr>
              <a:t>The Nature Of Mental Models Of Interactive Systems (Norman, 1983)</a:t>
            </a:r>
          </a:p>
        </p:txBody>
      </p:sp>
      <p:sp>
        <p:nvSpPr>
          <p:cNvPr id="31746" name="Text Placeholder 2"/>
          <p:cNvSpPr>
            <a:spLocks noGrp="1"/>
          </p:cNvSpPr>
          <p:nvPr>
            <p:ph type="body" idx="1"/>
          </p:nvPr>
        </p:nvSpPr>
        <p:spPr>
          <a:xfrm>
            <a:off x="606388" y="1484784"/>
            <a:ext cx="7782036" cy="4782302"/>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Mental models are </a:t>
            </a:r>
            <a:r>
              <a:rPr lang="en-US" sz="1500" b="1" dirty="0" smtClean="0">
                <a:latin typeface="Verdana" pitchFamily="34" charset="0"/>
                <a:ea typeface="ヒラギノ角ゴ Pro W3"/>
                <a:cs typeface="ヒラギノ角ゴ Pro W3"/>
              </a:rPr>
              <a:t>incomplete</a:t>
            </a:r>
            <a:r>
              <a:rPr lang="en-US" sz="1500" dirty="0" smtClean="0">
                <a:latin typeface="Verdana" pitchFamily="34" charset="0"/>
                <a:ea typeface="ヒラギノ角ゴ Pro W3"/>
                <a:cs typeface="ヒラギノ角ゴ Pro W3"/>
              </a:rPr>
              <a:t>. People will </a:t>
            </a:r>
            <a:r>
              <a:rPr lang="en-US" sz="1500" b="1" dirty="0" smtClean="0">
                <a:latin typeface="Verdana" pitchFamily="34" charset="0"/>
                <a:ea typeface="ヒラギノ角ゴ Pro W3"/>
                <a:cs typeface="ヒラギノ角ゴ Pro W3"/>
              </a:rPr>
              <a:t>understand some parts of a system </a:t>
            </a:r>
            <a:r>
              <a:rPr lang="en-US" sz="1500" dirty="0" smtClean="0">
                <a:latin typeface="Verdana" pitchFamily="34" charset="0"/>
                <a:ea typeface="ヒラギノ角ゴ Pro W3"/>
                <a:cs typeface="ヒラギノ角ゴ Pro W3"/>
              </a:rPr>
              <a:t>better than others</a:t>
            </a:r>
          </a:p>
          <a:p>
            <a:pPr algn="just" eaLnBrk="1" hangingPunct="1">
              <a:lnSpc>
                <a:spcPct val="150000"/>
              </a:lnSpc>
            </a:pPr>
            <a:r>
              <a:rPr lang="en-US" sz="1500" dirty="0" smtClean="0">
                <a:latin typeface="Verdana" pitchFamily="34" charset="0"/>
                <a:ea typeface="ヒラギノ角ゴ Pro W3"/>
                <a:cs typeface="ヒラギノ角ゴ Pro W3"/>
              </a:rPr>
              <a:t>People can </a:t>
            </a:r>
            <a:r>
              <a:rPr lang="en-US" sz="1500" b="1" dirty="0" smtClean="0">
                <a:latin typeface="Verdana" pitchFamily="34" charset="0"/>
                <a:ea typeface="ヒラギノ角ゴ Pro W3"/>
                <a:cs typeface="ヒラギノ角ゴ Pro W3"/>
              </a:rPr>
              <a:t>‘run’ (or try out) their models </a:t>
            </a:r>
            <a:r>
              <a:rPr lang="en-US" sz="1500" dirty="0" smtClean="0">
                <a:latin typeface="Verdana" pitchFamily="34" charset="0"/>
                <a:ea typeface="ヒラギノ角ゴ Pro W3"/>
                <a:cs typeface="ヒラギノ角ゴ Pro W3"/>
              </a:rPr>
              <a:t>when required, but often </a:t>
            </a:r>
            <a:r>
              <a:rPr lang="en-US" sz="1500" b="1" dirty="0" smtClean="0">
                <a:latin typeface="Verdana" pitchFamily="34" charset="0"/>
                <a:ea typeface="ヒラギノ角ゴ Pro W3"/>
                <a:cs typeface="ヒラギノ角ゴ Pro W3"/>
              </a:rPr>
              <a:t>with limited accuracy</a:t>
            </a:r>
          </a:p>
          <a:p>
            <a:pPr algn="just" eaLnBrk="1" hangingPunct="1">
              <a:lnSpc>
                <a:spcPct val="150000"/>
              </a:lnSpc>
            </a:pPr>
            <a:r>
              <a:rPr lang="en-US" sz="1500" dirty="0" smtClean="0">
                <a:latin typeface="Verdana" pitchFamily="34" charset="0"/>
                <a:ea typeface="ヒラギノ角ゴ Pro W3"/>
                <a:cs typeface="ヒラギノ角ゴ Pro W3"/>
              </a:rPr>
              <a:t>Mental models are </a:t>
            </a:r>
            <a:r>
              <a:rPr lang="en-US" sz="1500" b="1" dirty="0" smtClean="0">
                <a:latin typeface="Verdana" pitchFamily="34" charset="0"/>
                <a:ea typeface="ヒラギノ角ゴ Pro W3"/>
                <a:cs typeface="ヒラギノ角ゴ Pro W3"/>
              </a:rPr>
              <a:t>unstable – people forget details</a:t>
            </a:r>
            <a:r>
              <a:rPr lang="en-US" sz="1500" dirty="0" smtClean="0">
                <a:latin typeface="Verdana" pitchFamily="34" charset="0"/>
                <a:ea typeface="ヒラギノ角ゴ Pro W3"/>
                <a:cs typeface="ヒラギノ角ゴ Pro W3"/>
              </a:rPr>
              <a:t>.</a:t>
            </a:r>
          </a:p>
          <a:p>
            <a:pPr algn="just" eaLnBrk="1" hangingPunct="1">
              <a:lnSpc>
                <a:spcPct val="150000"/>
              </a:lnSpc>
            </a:pPr>
            <a:r>
              <a:rPr lang="en-US" sz="1500" dirty="0" smtClean="0">
                <a:latin typeface="Verdana" pitchFamily="34" charset="0"/>
                <a:ea typeface="ヒラギノ角ゴ Pro W3"/>
                <a:cs typeface="ヒラギノ角ゴ Pro W3"/>
              </a:rPr>
              <a:t>Mental models </a:t>
            </a:r>
            <a:r>
              <a:rPr lang="en-US" sz="1500" b="1" dirty="0" smtClean="0">
                <a:latin typeface="Verdana" pitchFamily="34" charset="0"/>
                <a:ea typeface="ヒラギノ角ゴ Pro W3"/>
                <a:cs typeface="ヒラギノ角ゴ Pro W3"/>
              </a:rPr>
              <a:t>do not have firm boundaries</a:t>
            </a:r>
            <a:r>
              <a:rPr lang="en-US" sz="1500" dirty="0" smtClean="0">
                <a:latin typeface="Verdana" pitchFamily="34" charset="0"/>
                <a:ea typeface="ヒラギノ角ゴ Pro W3"/>
                <a:cs typeface="ヒラギノ角ゴ Pro W3"/>
              </a:rPr>
              <a:t>: similar devices and operations </a:t>
            </a:r>
            <a:r>
              <a:rPr lang="en-US" sz="1500" b="1" dirty="0" smtClean="0">
                <a:latin typeface="Verdana" pitchFamily="34" charset="0"/>
                <a:ea typeface="ヒラギノ角ゴ Pro W3"/>
                <a:cs typeface="ヒラギノ角ゴ Pro W3"/>
              </a:rPr>
              <a:t>get confused with one another</a:t>
            </a:r>
            <a:r>
              <a:rPr lang="en-US" sz="1500" dirty="0" smtClean="0">
                <a:latin typeface="Verdana" pitchFamily="34" charset="0"/>
                <a:ea typeface="ヒラギノ角ゴ Pro W3"/>
                <a:cs typeface="ヒラギノ角ゴ Pro W3"/>
              </a:rPr>
              <a:t>.</a:t>
            </a:r>
          </a:p>
          <a:p>
            <a:pPr algn="just" eaLnBrk="1" hangingPunct="1">
              <a:lnSpc>
                <a:spcPct val="150000"/>
              </a:lnSpc>
            </a:pPr>
            <a:r>
              <a:rPr lang="en-US" sz="1500" dirty="0" smtClean="0">
                <a:latin typeface="Verdana" pitchFamily="34" charset="0"/>
                <a:ea typeface="ヒラギノ角ゴ Pro W3"/>
                <a:cs typeface="ヒラギノ角ゴ Pro W3"/>
              </a:rPr>
              <a:t>Mental models are </a:t>
            </a:r>
            <a:r>
              <a:rPr lang="en-US" sz="1500" b="1" dirty="0" smtClean="0">
                <a:latin typeface="Verdana" pitchFamily="34" charset="0"/>
                <a:ea typeface="ヒラギノ角ゴ Pro W3"/>
                <a:cs typeface="ヒラギノ角ゴ Pro W3"/>
              </a:rPr>
              <a:t>unscientific, exhibiting ‘superstitious’ behaviour</a:t>
            </a:r>
            <a:endParaRPr lang="en-US" sz="1500" dirty="0" smtClean="0">
              <a:latin typeface="Verdana" pitchFamily="34" charset="0"/>
              <a:ea typeface="ヒラギノ角ゴ Pro W3"/>
              <a:cs typeface="ヒラギノ角ゴ Pro W3"/>
            </a:endParaRPr>
          </a:p>
          <a:p>
            <a:pPr algn="just" eaLnBrk="1" hangingPunct="1">
              <a:lnSpc>
                <a:spcPct val="150000"/>
              </a:lnSpc>
            </a:pPr>
            <a:r>
              <a:rPr lang="en-US" sz="1500" dirty="0" smtClean="0">
                <a:latin typeface="Verdana" pitchFamily="34" charset="0"/>
                <a:ea typeface="ヒラギノ角ゴ Pro W3"/>
                <a:cs typeface="ヒラギノ角ゴ Pro W3"/>
              </a:rPr>
              <a:t>Mental models are parsimonious (stingy). People are willing to </a:t>
            </a:r>
            <a:r>
              <a:rPr lang="en-US" sz="1500" b="1" dirty="0" smtClean="0">
                <a:latin typeface="Verdana" pitchFamily="34" charset="0"/>
                <a:ea typeface="ヒラギノ角ゴ Pro W3"/>
                <a:cs typeface="ヒラギノ角ゴ Pro W3"/>
              </a:rPr>
              <a:t>undertake additional physical operations to minimize mental effort</a:t>
            </a:r>
            <a:r>
              <a:rPr lang="en-US" sz="1500" dirty="0" smtClean="0">
                <a:latin typeface="Verdana" pitchFamily="34" charset="0"/>
                <a:ea typeface="ヒラギノ角ゴ Pro W3"/>
                <a:cs typeface="ヒラギノ角ゴ Pro W3"/>
              </a:rPr>
              <a:t>, e.g. people will switch off the device and start again rather than trying to recover from an error.</a:t>
            </a:r>
            <a:endParaRPr lang="en-US" sz="1500" baseline="-250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Stephen Payne’s view</a:t>
            </a:r>
          </a:p>
        </p:txBody>
      </p:sp>
      <p:sp>
        <p:nvSpPr>
          <p:cNvPr id="32770" name="Text Placeholder 2"/>
          <p:cNvSpPr>
            <a:spLocks noGrp="1"/>
          </p:cNvSpPr>
          <p:nvPr>
            <p:ph type="body" idx="1"/>
          </p:nvPr>
        </p:nvSpPr>
        <p:spPr>
          <a:xfrm>
            <a:off x="611560" y="1466129"/>
            <a:ext cx="7920880" cy="4525963"/>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He describes </a:t>
            </a:r>
            <a:r>
              <a:rPr lang="en-US" sz="1500" b="1" dirty="0" smtClean="0">
                <a:latin typeface="Verdana" pitchFamily="34" charset="0"/>
                <a:ea typeface="ヒラギノ角ゴ Pro W3"/>
                <a:cs typeface="ヒラギノ角ゴ Pro W3"/>
              </a:rPr>
              <a:t>how mental models predict behaviour. </a:t>
            </a:r>
          </a:p>
          <a:p>
            <a:pPr algn="just" eaLnBrk="1" hangingPunct="1">
              <a:lnSpc>
                <a:spcPct val="200000"/>
              </a:lnSpc>
            </a:pPr>
            <a:r>
              <a:rPr lang="en-US" sz="1500" dirty="0" smtClean="0">
                <a:latin typeface="Verdana" pitchFamily="34" charset="0"/>
                <a:ea typeface="ヒラギノ角ゴ Pro W3"/>
                <a:cs typeface="ヒラギノ角ゴ Pro W3"/>
              </a:rPr>
              <a:t>The claim is that, in many situations, a </a:t>
            </a:r>
            <a:r>
              <a:rPr lang="en-US" sz="1500" b="1" dirty="0" smtClean="0">
                <a:latin typeface="Verdana" pitchFamily="34" charset="0"/>
                <a:ea typeface="ヒラギノ角ゴ Pro W3"/>
                <a:cs typeface="ヒラギノ角ゴ Pro W3"/>
              </a:rPr>
              <a:t>great deal of explanatory work can </a:t>
            </a:r>
            <a:r>
              <a:rPr lang="en-US" sz="1500" dirty="0" smtClean="0">
                <a:latin typeface="Verdana" pitchFamily="34" charset="0"/>
                <a:ea typeface="ヒラギノ角ゴ Pro W3"/>
                <a:cs typeface="ヒラギノ角ゴ Pro W3"/>
              </a:rPr>
              <a:t>be done by a description of </a:t>
            </a:r>
            <a:r>
              <a:rPr lang="en-US" sz="1500" b="1" dirty="0" smtClean="0">
                <a:latin typeface="Verdana" pitchFamily="34" charset="0"/>
                <a:ea typeface="ヒラギノ角ゴ Pro W3"/>
                <a:cs typeface="ヒラギノ角ゴ Pro W3"/>
              </a:rPr>
              <a:t>what people know and believe</a:t>
            </a:r>
            <a:r>
              <a:rPr lang="en-US" sz="1500" dirty="0" smtClean="0">
                <a:latin typeface="Verdana" pitchFamily="34" charset="0"/>
                <a:ea typeface="ヒラギノ角ゴ Pro W3"/>
                <a:cs typeface="ヒラギノ角ゴ Pro W3"/>
              </a:rPr>
              <a:t>, and how this </a:t>
            </a:r>
            <a:r>
              <a:rPr lang="en-US" sz="1500" b="1" dirty="0" smtClean="0">
                <a:latin typeface="Verdana" pitchFamily="34" charset="0"/>
                <a:ea typeface="ヒラギノ角ゴ Pro W3"/>
                <a:cs typeface="ヒラギノ角ゴ Pro W3"/>
              </a:rPr>
              <a:t>affects their behaviour</a:t>
            </a:r>
            <a:r>
              <a:rPr lang="en-US" sz="1500" dirty="0" smtClean="0">
                <a:latin typeface="Verdana" pitchFamily="34" charset="0"/>
                <a:ea typeface="ヒラギノ角ゴ Pro W3"/>
                <a:cs typeface="ヒラギノ角ゴ Pro W3"/>
              </a:rPr>
              <a:t>.</a:t>
            </a:r>
          </a:p>
          <a:p>
            <a:pPr algn="just" eaLnBrk="1" hangingPunct="1">
              <a:lnSpc>
                <a:spcPct val="200000"/>
              </a:lnSpc>
            </a:pPr>
            <a:r>
              <a:rPr lang="en-US" sz="1500" b="1" dirty="0" smtClean="0">
                <a:latin typeface="Verdana" pitchFamily="34" charset="0"/>
                <a:ea typeface="ヒラギノ角ゴ Pro W3"/>
                <a:cs typeface="ヒラギノ角ゴ Pro W3"/>
              </a:rPr>
              <a:t>Inferences</a:t>
            </a:r>
            <a:r>
              <a:rPr lang="en-US" sz="1500" dirty="0" smtClean="0">
                <a:latin typeface="Verdana" pitchFamily="34" charset="0"/>
                <a:ea typeface="ヒラギノ角ゴ Pro W3"/>
                <a:cs typeface="ヒラギノ角ゴ Pro W3"/>
              </a:rPr>
              <a:t> can be made by ‘</a:t>
            </a:r>
            <a:r>
              <a:rPr lang="en-US" sz="1500" b="1" dirty="0" smtClean="0">
                <a:latin typeface="Verdana" pitchFamily="34" charset="0"/>
                <a:ea typeface="ヒラギノ角ゴ Pro W3"/>
                <a:cs typeface="ヒラギノ角ゴ Pro W3"/>
              </a:rPr>
              <a:t>mental simulation’</a:t>
            </a:r>
            <a:r>
              <a:rPr lang="en-US" sz="1500" dirty="0" smtClean="0">
                <a:latin typeface="Verdana" pitchFamily="34" charset="0"/>
                <a:ea typeface="ヒラギノ角ゴ Pro W3"/>
                <a:cs typeface="ヒラギノ角ゴ Pro W3"/>
              </a:rPr>
              <a:t>.</a:t>
            </a:r>
          </a:p>
          <a:p>
            <a:pPr algn="just" eaLnBrk="1" hangingPunct="1">
              <a:lnSpc>
                <a:spcPct val="200000"/>
              </a:lnSpc>
            </a:pPr>
            <a:r>
              <a:rPr lang="en-US" sz="1500" dirty="0" smtClean="0">
                <a:latin typeface="Verdana" pitchFamily="34" charset="0"/>
                <a:ea typeface="ヒラギノ角ゴ Pro W3"/>
                <a:cs typeface="ヒラギノ角ゴ Pro W3"/>
              </a:rPr>
              <a:t>Mental models </a:t>
            </a:r>
            <a:r>
              <a:rPr lang="en-US" sz="1500" b="1" dirty="0" smtClean="0">
                <a:latin typeface="Verdana" pitchFamily="34" charset="0"/>
                <a:ea typeface="ヒラギノ角ゴ Pro W3"/>
                <a:cs typeface="ヒラギノ角ゴ Pro W3"/>
              </a:rPr>
              <a:t>can support reasoning about </a:t>
            </a:r>
            <a:r>
              <a:rPr lang="en-US" sz="1500" dirty="0" smtClean="0">
                <a:latin typeface="Verdana" pitchFamily="34" charset="0"/>
                <a:ea typeface="ヒラギノ角ゴ Pro W3"/>
                <a:cs typeface="ヒラギノ角ゴ Pro W3"/>
              </a:rPr>
              <a:t>devices, or the physical world in general, </a:t>
            </a:r>
            <a:r>
              <a:rPr lang="en-US" sz="1500" b="1" dirty="0" smtClean="0">
                <a:latin typeface="Verdana" pitchFamily="34" charset="0"/>
                <a:ea typeface="ヒラギノ角ゴ Pro W3"/>
                <a:cs typeface="ヒラギノ角ゴ Pro W3"/>
              </a:rPr>
              <a:t>by running simulations in the mind’s eye</a:t>
            </a:r>
            <a:r>
              <a:rPr lang="en-US" sz="1500" dirty="0" smtClean="0">
                <a:latin typeface="Verdana" pitchFamily="34" charset="0"/>
                <a:ea typeface="ヒラギノ角ゴ Pro W3"/>
                <a:cs typeface="ヒラギノ角ゴ Pro W3"/>
              </a:rPr>
              <a:t>. </a:t>
            </a:r>
          </a:p>
          <a:p>
            <a:pPr marL="400050" lvl="1" indent="0" algn="just" eaLnBrk="1" hangingPunct="1">
              <a:lnSpc>
                <a:spcPct val="200000"/>
              </a:lnSpc>
              <a:buNone/>
            </a:pPr>
            <a:r>
              <a:rPr lang="en-US" sz="1400" dirty="0" smtClean="0">
                <a:solidFill>
                  <a:srgbClr val="00B050"/>
                </a:solidFill>
                <a:latin typeface="Verdana" pitchFamily="34" charset="0"/>
                <a:ea typeface="ヒラギノ角ゴ Pro W3"/>
                <a:cs typeface="ヒラギノ角ゴ Pro W3"/>
              </a:rPr>
              <a:t>E.g.: estimating time to reach to some point</a:t>
            </a:r>
            <a:endParaRPr lang="en-US" sz="11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Title 1"/>
          <p:cNvSpPr>
            <a:spLocks noGrp="1"/>
          </p:cNvSpPr>
          <p:nvPr>
            <p:ph type="title"/>
          </p:nvPr>
        </p:nvSpPr>
        <p:spPr>
          <a:xfrm>
            <a:off x="457200" y="202630"/>
            <a:ext cx="8229600" cy="634082"/>
          </a:xfrm>
        </p:spPr>
        <p:txBody>
          <a:bodyPr/>
          <a:lstStyle/>
          <a:p>
            <a:pPr eaLnBrk="1" hangingPunct="1"/>
            <a:r>
              <a:rPr lang="en-US" sz="1500" dirty="0" smtClean="0">
                <a:latin typeface="Verdana" pitchFamily="34" charset="0"/>
                <a:ea typeface="ヒラギノ角ゴ Pro W3"/>
                <a:cs typeface="ヒラギノ角ゴ Pro W3"/>
              </a:rPr>
              <a:t>Device Models </a:t>
            </a:r>
            <a:r>
              <a:rPr lang="en-US" sz="1500" dirty="0" smtClean="0">
                <a:solidFill>
                  <a:srgbClr val="00B050"/>
                </a:solidFill>
                <a:latin typeface="Verdana" pitchFamily="34" charset="0"/>
                <a:ea typeface="ヒラギノ角ゴ Pro W3"/>
                <a:cs typeface="ヒラギノ角ゴ Pro W3"/>
              </a:rPr>
              <a:t>(case study)</a:t>
            </a:r>
          </a:p>
        </p:txBody>
      </p:sp>
      <p:sp>
        <p:nvSpPr>
          <p:cNvPr id="33794" name="Text Placeholder 2"/>
          <p:cNvSpPr>
            <a:spLocks noGrp="1"/>
          </p:cNvSpPr>
          <p:nvPr>
            <p:ph type="body" idx="1"/>
          </p:nvPr>
        </p:nvSpPr>
        <p:spPr>
          <a:xfrm>
            <a:off x="374848" y="980728"/>
            <a:ext cx="8229600" cy="5184576"/>
          </a:xfrm>
        </p:spPr>
        <p:txBody>
          <a:bodyPr/>
          <a:lstStyle/>
          <a:p>
            <a:pPr algn="just" eaLnBrk="1" hangingPunct="1">
              <a:lnSpc>
                <a:spcPct val="150000"/>
              </a:lnSpc>
            </a:pPr>
            <a:r>
              <a:rPr lang="en-US" sz="1500" b="1" dirty="0" smtClean="0">
                <a:latin typeface="Verdana" pitchFamily="34" charset="0"/>
                <a:ea typeface="ヒラギノ角ゴ Pro W3"/>
                <a:cs typeface="ヒラギノ角ゴ Pro W3"/>
              </a:rPr>
              <a:t>Kieras and Bovair </a:t>
            </a:r>
            <a:r>
              <a:rPr lang="en-US" sz="1500" dirty="0" smtClean="0">
                <a:latin typeface="Verdana" pitchFamily="34" charset="0"/>
                <a:ea typeface="ヒラギノ角ゴ Pro W3"/>
                <a:cs typeface="ヒラギノ角ゴ Pro W3"/>
              </a:rPr>
              <a:t>(1984) investigated the role of a device model (a person’s mental model of a device) in learning how to </a:t>
            </a:r>
            <a:r>
              <a:rPr lang="en-US" sz="1500" b="1" dirty="0" smtClean="0">
                <a:latin typeface="Verdana" pitchFamily="34" charset="0"/>
                <a:ea typeface="ヒラギノ角ゴ Pro W3"/>
                <a:cs typeface="ヒラギノ角ゴ Pro W3"/>
              </a:rPr>
              <a:t>operate a mock-up of the weapons</a:t>
            </a:r>
            <a:r>
              <a:rPr lang="en-US" sz="1500" dirty="0" smtClean="0">
                <a:latin typeface="Verdana" pitchFamily="34" charset="0"/>
                <a:ea typeface="ヒラギノ角ゴ Pro W3"/>
                <a:cs typeface="ヒラギノ角ゴ Pro W3"/>
              </a:rPr>
              <a:t> control panel of the USS Enterprise from Star Trek.</a:t>
            </a:r>
          </a:p>
          <a:p>
            <a:pPr algn="just" eaLnBrk="1" hangingPunct="1">
              <a:lnSpc>
                <a:spcPct val="150000"/>
              </a:lnSpc>
            </a:pPr>
            <a:r>
              <a:rPr lang="en-US" sz="1500" dirty="0" smtClean="0">
                <a:latin typeface="Verdana" pitchFamily="34" charset="0"/>
                <a:ea typeface="ヒラギノ角ゴ Pro W3"/>
                <a:cs typeface="ヒラギノ角ゴ Pro W3"/>
              </a:rPr>
              <a:t>In their first experiment subjects learned how to operate the ‘phasers’ either by means of rote learning (press this button, then turn that knob to the second position ) or by learning the underlying principles (the energy booster takes power from the ship ) which required the subjects to infer the procedures. </a:t>
            </a:r>
            <a:r>
              <a:rPr lang="en-US" sz="1500" dirty="0" err="1" smtClean="0">
                <a:latin typeface="Verdana" pitchFamily="34" charset="0"/>
                <a:ea typeface="ヒラギノ角ゴ Pro W3"/>
                <a:cs typeface="ヒラギノ角ゴ Pro W3"/>
              </a:rPr>
              <a:t>Kieras</a:t>
            </a:r>
            <a:r>
              <a:rPr lang="en-US" sz="1500" dirty="0" smtClean="0">
                <a:latin typeface="Verdana" pitchFamily="34" charset="0"/>
                <a:ea typeface="ヒラギノ角ゴ Pro W3"/>
                <a:cs typeface="ヒラギノ角ゴ Pro W3"/>
              </a:rPr>
              <a:t> and </a:t>
            </a:r>
            <a:r>
              <a:rPr lang="en-US" sz="1500" dirty="0" err="1" smtClean="0">
                <a:latin typeface="Verdana" pitchFamily="34" charset="0"/>
                <a:ea typeface="ヒラギノ角ゴ Pro W3"/>
                <a:cs typeface="ヒラギノ角ゴ Pro W3"/>
              </a:rPr>
              <a:t>Bovair</a:t>
            </a:r>
            <a:r>
              <a:rPr lang="en-US" sz="1500" dirty="0" smtClean="0">
                <a:latin typeface="Verdana" pitchFamily="34" charset="0"/>
                <a:ea typeface="ヒラギノ角ゴ Pro W3"/>
                <a:cs typeface="ヒラギノ角ゴ Pro W3"/>
              </a:rPr>
              <a:t> found that learning, retention, and use of ‘short-cuts’ were all enhanced for the group that learned the principles, demonstrating that knowledge of how the system worked enables people to infer how to operate it.  </a:t>
            </a:r>
          </a:p>
          <a:p>
            <a:pPr algn="just" eaLnBrk="1" hangingPunct="1">
              <a:lnSpc>
                <a:spcPct val="150000"/>
              </a:lnSpc>
            </a:pPr>
            <a:r>
              <a:rPr lang="en-US" sz="1500" dirty="0" err="1" smtClean="0">
                <a:latin typeface="Verdana" pitchFamily="34" charset="0"/>
                <a:ea typeface="ヒラギノ角ゴ Pro W3"/>
                <a:cs typeface="ヒラギノ角ゴ Pro W3"/>
              </a:rPr>
              <a:t>Kieras</a:t>
            </a:r>
            <a:r>
              <a:rPr lang="en-US" sz="1500" dirty="0" smtClean="0">
                <a:latin typeface="Verdana" pitchFamily="34" charset="0"/>
                <a:ea typeface="ヒラギノ角ゴ Pro W3"/>
                <a:cs typeface="ヒラギノ角ゴ Pro W3"/>
              </a:rPr>
              <a:t> and Bovair concluded by making </a:t>
            </a:r>
            <a:r>
              <a:rPr lang="en-US" sz="1500" b="1" dirty="0" smtClean="0">
                <a:latin typeface="Verdana" pitchFamily="34" charset="0"/>
                <a:ea typeface="ヒラギノ角ゴ Pro W3"/>
                <a:cs typeface="ヒラギノ角ゴ Pro W3"/>
              </a:rPr>
              <a:t>two key points</a:t>
            </a:r>
            <a:r>
              <a:rPr lang="en-US" sz="1500" dirty="0" smtClean="0">
                <a:latin typeface="Verdana" pitchFamily="34" charset="0"/>
                <a:ea typeface="ヒラギノ角ゴ Pro W3"/>
                <a:cs typeface="ヒラギノ角ゴ Pro W3"/>
              </a:rPr>
              <a:t>:</a:t>
            </a:r>
          </a:p>
          <a:p>
            <a:pPr lvl="1" algn="just" eaLnBrk="1" hangingPunct="1">
              <a:lnSpc>
                <a:spcPct val="150000"/>
              </a:lnSpc>
              <a:buFont typeface="Wingdings" panose="05000000000000000000" pitchFamily="2" charset="2"/>
              <a:buChar char="Ø"/>
            </a:pPr>
            <a:r>
              <a:rPr lang="en-US" sz="1500" dirty="0" smtClean="0">
                <a:latin typeface="Verdana" pitchFamily="34" charset="0"/>
                <a:ea typeface="ヒラギノ角ゴ Pro W3"/>
                <a:cs typeface="ヒラギノ角ゴ Pro W3"/>
              </a:rPr>
              <a:t>firstly, for a device model to be useful it </a:t>
            </a:r>
            <a:r>
              <a:rPr lang="en-US" sz="1500" b="1" dirty="0" smtClean="0">
                <a:latin typeface="Verdana" pitchFamily="34" charset="0"/>
                <a:ea typeface="ヒラギノ角ゴ Pro W3"/>
                <a:cs typeface="ヒラギノ角ゴ Pro W3"/>
              </a:rPr>
              <a:t>must support inference (estimation) about exact and specific control actions</a:t>
            </a:r>
            <a:r>
              <a:rPr lang="en-US" sz="1500" dirty="0" smtClean="0">
                <a:latin typeface="Verdana" pitchFamily="34" charset="0"/>
                <a:ea typeface="ヒラギノ角ゴ Pro W3"/>
                <a:cs typeface="ヒラギノ角ゴ Pro W3"/>
              </a:rPr>
              <a:t>, and </a:t>
            </a:r>
          </a:p>
          <a:p>
            <a:pPr lvl="1" algn="just" eaLnBrk="1" hangingPunct="1">
              <a:lnSpc>
                <a:spcPct val="150000"/>
              </a:lnSpc>
              <a:buFont typeface="Wingdings" panose="05000000000000000000" pitchFamily="2" charset="2"/>
              <a:buChar char="Ø"/>
            </a:pPr>
            <a:r>
              <a:rPr lang="en-US" sz="1500" dirty="0" smtClean="0">
                <a:latin typeface="Verdana" pitchFamily="34" charset="0"/>
                <a:ea typeface="ヒラギノ角ゴ Pro W3"/>
                <a:cs typeface="ヒラギノ角ゴ Pro W3"/>
              </a:rPr>
              <a:t>secondly, the </a:t>
            </a:r>
            <a:r>
              <a:rPr lang="en-US" sz="1500" b="1" dirty="0" smtClean="0">
                <a:latin typeface="Verdana" pitchFamily="34" charset="0"/>
                <a:ea typeface="ヒラギノ角ゴ Pro W3"/>
                <a:cs typeface="ヒラギノ角ゴ Pro W3"/>
              </a:rPr>
              <a:t>model need not be very complete or thorough.</a:t>
            </a: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p:cNvSpPr>
            <a:spLocks noGrp="1"/>
          </p:cNvSpPr>
          <p:nvPr>
            <p:ph type="title"/>
          </p:nvPr>
        </p:nvSpPr>
        <p:spPr>
          <a:xfrm>
            <a:off x="457200" y="468602"/>
            <a:ext cx="8229600" cy="1016182"/>
          </a:xfrm>
        </p:spPr>
        <p:txBody>
          <a:bodyPr/>
          <a:lstStyle/>
          <a:p>
            <a:pPr eaLnBrk="1" hangingPunct="1"/>
            <a:r>
              <a:rPr lang="en-US" sz="1500" b="1" dirty="0" smtClean="0">
                <a:latin typeface="Verdana" pitchFamily="34" charset="0"/>
                <a:ea typeface="ヒラギノ角ゴ Pro W3"/>
                <a:cs typeface="ヒラギノ角ゴ Pro W3"/>
              </a:rPr>
              <a:t>3) </a:t>
            </a:r>
            <a:r>
              <a:rPr lang="en-US" sz="1500" b="1" dirty="0">
                <a:latin typeface="Verdana" pitchFamily="34" charset="0"/>
                <a:ea typeface="ヒラギノ角ゴ Pro W3"/>
                <a:cs typeface="ヒラギノ角ゴ Pro W3"/>
              </a:rPr>
              <a:t>Social </a:t>
            </a:r>
            <a:r>
              <a:rPr lang="en-US" sz="1500" b="1" dirty="0" smtClean="0">
                <a:latin typeface="Verdana" pitchFamily="34" charset="0"/>
                <a:ea typeface="ヒラギノ角ゴ Pro W3"/>
                <a:cs typeface="ヒラギノ角ゴ Pro W3"/>
              </a:rPr>
              <a:t>differences</a:t>
            </a:r>
          </a:p>
        </p:txBody>
      </p:sp>
      <p:sp>
        <p:nvSpPr>
          <p:cNvPr id="34818" name="Text Placeholder 2"/>
          <p:cNvSpPr>
            <a:spLocks noGrp="1"/>
          </p:cNvSpPr>
          <p:nvPr>
            <p:ph type="body" idx="1"/>
          </p:nvPr>
        </p:nvSpPr>
        <p:spPr>
          <a:xfrm>
            <a:off x="529208" y="1484784"/>
            <a:ext cx="7859216" cy="4525963"/>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People make </a:t>
            </a:r>
            <a:r>
              <a:rPr lang="en-US" sz="1500" b="1" dirty="0" smtClean="0">
                <a:latin typeface="Verdana" pitchFamily="34" charset="0"/>
                <a:ea typeface="ヒラギノ角ゴ Pro W3"/>
                <a:cs typeface="ヒラギノ角ゴ Pro W3"/>
              </a:rPr>
              <a:t>use of </a:t>
            </a:r>
            <a:r>
              <a:rPr lang="en-US" sz="1500" dirty="0" smtClean="0">
                <a:latin typeface="Verdana" pitchFamily="34" charset="0"/>
                <a:ea typeface="ヒラギノ角ゴ Pro W3"/>
                <a:cs typeface="ヒラギノ角ゴ Pro W3"/>
              </a:rPr>
              <a:t>systems, products and services for very </a:t>
            </a:r>
            <a:r>
              <a:rPr lang="en-US" sz="1500" b="1" dirty="0" smtClean="0">
                <a:latin typeface="Verdana" pitchFamily="34" charset="0"/>
                <a:ea typeface="ヒラギノ角ゴ Pro W3"/>
                <a:cs typeface="ヒラギノ角ゴ Pro W3"/>
              </a:rPr>
              <a:t>different reasons</a:t>
            </a:r>
            <a:r>
              <a:rPr lang="en-US" sz="1500" dirty="0" smtClean="0">
                <a:latin typeface="Verdana" pitchFamily="34" charset="0"/>
                <a:ea typeface="ヒラギノ角ゴ Pro W3"/>
                <a:cs typeface="ヒラギノ角ゴ Pro W3"/>
              </a:rPr>
              <a:t>. </a:t>
            </a:r>
            <a:r>
              <a:rPr lang="en-US" sz="1400" dirty="0" smtClean="0">
                <a:solidFill>
                  <a:srgbClr val="00B050"/>
                </a:solidFill>
                <a:latin typeface="Verdana" pitchFamily="34" charset="0"/>
                <a:ea typeface="ヒラギノ角ゴ Pro W3"/>
                <a:cs typeface="ヒラギノ角ゴ Pro W3"/>
              </a:rPr>
              <a:t>(IPhone </a:t>
            </a:r>
            <a:r>
              <a:rPr lang="en-US" sz="1400" dirty="0">
                <a:solidFill>
                  <a:srgbClr val="00B050"/>
                </a:solidFill>
                <a:latin typeface="Verdana" pitchFamily="34" charset="0"/>
                <a:ea typeface="ヒラギノ角ゴ Pro W3"/>
                <a:cs typeface="ヒラギノ角ゴ Pro W3"/>
              </a:rPr>
              <a:t>vs. Android user, Social media reluctant)</a:t>
            </a:r>
          </a:p>
          <a:p>
            <a:pPr algn="just" eaLnBrk="1" hangingPunct="1">
              <a:lnSpc>
                <a:spcPct val="200000"/>
              </a:lnSpc>
            </a:pPr>
            <a:r>
              <a:rPr lang="en-US" sz="1500" dirty="0" smtClean="0">
                <a:latin typeface="Verdana" pitchFamily="34" charset="0"/>
                <a:ea typeface="ヒラギノ角ゴ Pro W3"/>
                <a:cs typeface="ヒラギノ角ゴ Pro W3"/>
              </a:rPr>
              <a:t>They have </a:t>
            </a:r>
            <a:r>
              <a:rPr lang="en-US" sz="1500" b="1" dirty="0" smtClean="0">
                <a:latin typeface="Verdana" pitchFamily="34" charset="0"/>
                <a:ea typeface="ヒラギノ角ゴ Pro W3"/>
                <a:cs typeface="ヒラギノ角ゴ Pro W3"/>
              </a:rPr>
              <a:t>different goals</a:t>
            </a:r>
            <a:r>
              <a:rPr lang="en-US" sz="1500" dirty="0" smtClean="0">
                <a:latin typeface="Verdana" pitchFamily="34" charset="0"/>
                <a:ea typeface="ヒラギノ角ゴ Pro W3"/>
                <a:cs typeface="ヒラギノ角ゴ Pro W3"/>
              </a:rPr>
              <a:t> in using systems. </a:t>
            </a:r>
            <a:r>
              <a:rPr lang="en-US" sz="1400" dirty="0" smtClean="0">
                <a:solidFill>
                  <a:srgbClr val="00B050"/>
                </a:solidFill>
                <a:latin typeface="Verdana" pitchFamily="34" charset="0"/>
                <a:ea typeface="ヒラギノ角ゴ Pro W3"/>
                <a:cs typeface="ヒラギノ角ゴ Pro W3"/>
              </a:rPr>
              <a:t>(having cellphone, using social media for entertainment, or for communication or for marketing)</a:t>
            </a:r>
          </a:p>
          <a:p>
            <a:pPr algn="just" eaLnBrk="1" hangingPunct="1">
              <a:lnSpc>
                <a:spcPct val="200000"/>
              </a:lnSpc>
            </a:pPr>
            <a:r>
              <a:rPr lang="en-US" sz="1500" dirty="0" smtClean="0">
                <a:latin typeface="Verdana" pitchFamily="34" charset="0"/>
                <a:ea typeface="ヒラギノ角ゴ Pro W3"/>
                <a:cs typeface="ヒラギノ角ゴ Pro W3"/>
              </a:rPr>
              <a:t>They have </a:t>
            </a:r>
            <a:r>
              <a:rPr lang="en-US" sz="1500" b="1" dirty="0" smtClean="0">
                <a:latin typeface="Verdana" pitchFamily="34" charset="0"/>
                <a:ea typeface="ヒラギノ角ゴ Pro W3"/>
                <a:cs typeface="ヒラギノ角ゴ Pro W3"/>
              </a:rPr>
              <a:t>different motivations </a:t>
            </a:r>
            <a:r>
              <a:rPr lang="en-US" sz="1500" dirty="0" smtClean="0">
                <a:latin typeface="Verdana" pitchFamily="34" charset="0"/>
                <a:ea typeface="ヒラギノ角ゴ Pro W3"/>
                <a:cs typeface="ヒラギノ角ゴ Pro W3"/>
              </a:rPr>
              <a:t>for using systems. </a:t>
            </a:r>
          </a:p>
          <a:p>
            <a:pPr algn="just" eaLnBrk="1" hangingPunct="1">
              <a:lnSpc>
                <a:spcPct val="200000"/>
              </a:lnSpc>
            </a:pPr>
            <a:r>
              <a:rPr lang="en-US" sz="1500" dirty="0" smtClean="0">
                <a:latin typeface="Verdana" pitchFamily="34" charset="0"/>
                <a:ea typeface="ヒラギノ角ゴ Pro W3"/>
                <a:cs typeface="ヒラギノ角ゴ Pro W3"/>
              </a:rPr>
              <a:t>Some people will be very interested in a particular system, others will just want to </a:t>
            </a:r>
            <a:r>
              <a:rPr lang="en-US" sz="1500" b="1" dirty="0" smtClean="0">
                <a:latin typeface="Verdana" pitchFamily="34" charset="0"/>
                <a:ea typeface="ヒラギノ角ゴ Pro W3"/>
                <a:cs typeface="ヒラギノ角ゴ Pro W3"/>
              </a:rPr>
              <a:t>get a simple task completed</a:t>
            </a:r>
            <a:r>
              <a:rPr lang="en-US" sz="1500" dirty="0" smtClean="0">
                <a:latin typeface="Verdana" pitchFamily="34" charset="0"/>
                <a:ea typeface="ヒラギノ角ゴ Pro W3"/>
                <a:cs typeface="ヒラギノ角ゴ Pro W3"/>
              </a:rPr>
              <a:t>. These motivations change at different times.</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Title 1"/>
          <p:cNvSpPr>
            <a:spLocks noGrp="1"/>
          </p:cNvSpPr>
          <p:nvPr>
            <p:ph type="title"/>
          </p:nvPr>
        </p:nvSpPr>
        <p:spPr>
          <a:xfrm>
            <a:off x="395536" y="188640"/>
            <a:ext cx="8229600" cy="1143000"/>
          </a:xfrm>
        </p:spPr>
        <p:txBody>
          <a:bodyPr/>
          <a:lstStyle/>
          <a:p>
            <a:pPr eaLnBrk="1" hangingPunct="1"/>
            <a:r>
              <a:rPr lang="en-US" sz="1500" dirty="0" smtClean="0">
                <a:latin typeface="Verdana" pitchFamily="34" charset="0"/>
                <a:ea typeface="ヒラギノ角ゴ Pro W3"/>
                <a:cs typeface="ヒラギノ角ゴ Pro W3"/>
              </a:rPr>
              <a:t>Novice and experts</a:t>
            </a:r>
          </a:p>
        </p:txBody>
      </p:sp>
      <p:sp>
        <p:nvSpPr>
          <p:cNvPr id="35842" name="Text Placeholder 2"/>
          <p:cNvSpPr>
            <a:spLocks noGrp="1"/>
          </p:cNvSpPr>
          <p:nvPr>
            <p:ph type="body" idx="1"/>
          </p:nvPr>
        </p:nvSpPr>
        <p:spPr>
          <a:xfrm>
            <a:off x="470520" y="1495325"/>
            <a:ext cx="8229600" cy="4525963"/>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Novice and expert users of a technology will typically have very </a:t>
            </a:r>
            <a:r>
              <a:rPr lang="en-US" sz="1500" b="1" dirty="0" smtClean="0">
                <a:latin typeface="Verdana" pitchFamily="34" charset="0"/>
                <a:ea typeface="ヒラギノ角ゴ Pro W3"/>
                <a:cs typeface="ヒラギノ角ゴ Pro W3"/>
              </a:rPr>
              <a:t>different levels of knowledge </a:t>
            </a:r>
            <a:r>
              <a:rPr lang="en-US" sz="1500" dirty="0" smtClean="0">
                <a:latin typeface="Verdana" pitchFamily="34" charset="0"/>
                <a:ea typeface="ヒラギノ角ゴ Pro W3"/>
                <a:cs typeface="ヒラギノ角ゴ Pro W3"/>
              </a:rPr>
              <a:t>and hence requirements for design features. </a:t>
            </a:r>
          </a:p>
          <a:p>
            <a:pPr algn="just" eaLnBrk="1" hangingPunct="1">
              <a:lnSpc>
                <a:spcPct val="200000"/>
              </a:lnSpc>
            </a:pPr>
            <a:r>
              <a:rPr lang="en-US" sz="1500" dirty="0" smtClean="0">
                <a:latin typeface="Verdana" pitchFamily="34" charset="0"/>
                <a:ea typeface="ヒラギノ角ゴ Pro W3"/>
                <a:cs typeface="ヒラギノ角ゴ Pro W3"/>
              </a:rPr>
              <a:t>Experts </a:t>
            </a:r>
            <a:r>
              <a:rPr lang="en-US" sz="1500" b="1" dirty="0" smtClean="0">
                <a:latin typeface="Verdana" pitchFamily="34" charset="0"/>
                <a:ea typeface="ヒラギノ角ゴ Pro W3"/>
                <a:cs typeface="ヒラギノ角ゴ Pro W3"/>
              </a:rPr>
              <a:t>use a system regularly </a:t>
            </a:r>
            <a:r>
              <a:rPr lang="en-US" sz="1500" dirty="0" smtClean="0">
                <a:latin typeface="Verdana" pitchFamily="34" charset="0"/>
                <a:ea typeface="ヒラギノ角ゴ Pro W3"/>
                <a:cs typeface="ヒラギノ角ゴ Pro W3"/>
              </a:rPr>
              <a:t>and learn all sorts of details, whereas a beginner will </a:t>
            </a:r>
            <a:r>
              <a:rPr lang="en-US" sz="1500" b="1" dirty="0" smtClean="0">
                <a:latin typeface="Verdana" pitchFamily="34" charset="0"/>
                <a:ea typeface="ヒラギノ角ゴ Pro W3"/>
                <a:cs typeface="ヒラギノ角ゴ Pro W3"/>
              </a:rPr>
              <a:t>need to be guided </a:t>
            </a:r>
            <a:r>
              <a:rPr lang="en-US" sz="1500" dirty="0" smtClean="0">
                <a:latin typeface="Verdana" pitchFamily="34" charset="0"/>
                <a:ea typeface="ヒラギノ角ゴ Pro W3"/>
                <a:cs typeface="ヒラギノ角ゴ Pro W3"/>
              </a:rPr>
              <a:t>through an interaction. </a:t>
            </a:r>
          </a:p>
          <a:p>
            <a:pPr algn="just" eaLnBrk="1" hangingPunct="1">
              <a:lnSpc>
                <a:spcPct val="200000"/>
              </a:lnSpc>
            </a:pPr>
            <a:r>
              <a:rPr lang="en-US" sz="1500" dirty="0" smtClean="0">
                <a:latin typeface="Verdana" pitchFamily="34" charset="0"/>
                <a:ea typeface="ヒラギノ角ゴ Pro W3"/>
                <a:cs typeface="ヒラギノ角ゴ Pro W3"/>
              </a:rPr>
              <a:t>There are also people who do not have to use a system, but who the designer would like to use the system. These people (sometimes called ‘</a:t>
            </a:r>
            <a:r>
              <a:rPr lang="en-US" sz="1500" b="1" dirty="0" smtClean="0">
                <a:latin typeface="Verdana" pitchFamily="34" charset="0"/>
                <a:ea typeface="ヒラギノ角ゴ Pro W3"/>
                <a:cs typeface="ヒラギノ角ゴ Pro W3"/>
              </a:rPr>
              <a:t>discretionary users</a:t>
            </a:r>
            <a:r>
              <a:rPr lang="en-US" sz="1500" dirty="0" smtClean="0">
                <a:latin typeface="Verdana" pitchFamily="34" charset="0"/>
                <a:ea typeface="ヒラギノ角ゴ Pro W3"/>
                <a:cs typeface="ヒラギノ角ゴ Pro W3"/>
              </a:rPr>
              <a:t>’) are often quickly put off if things are difficult to do. </a:t>
            </a:r>
          </a:p>
          <a:p>
            <a:pPr algn="just" eaLnBrk="1" hangingPunct="1">
              <a:lnSpc>
                <a:spcPct val="200000"/>
              </a:lnSpc>
            </a:pPr>
            <a:r>
              <a:rPr lang="en-US" sz="1500" dirty="0" smtClean="0">
                <a:latin typeface="Verdana" pitchFamily="34" charset="0"/>
                <a:ea typeface="ヒラギノ角ゴ Pro W3"/>
                <a:cs typeface="ヒラギノ角ゴ Pro W3"/>
              </a:rPr>
              <a:t>Designers need to </a:t>
            </a:r>
            <a:r>
              <a:rPr lang="en-US" sz="1500" b="1" dirty="0" smtClean="0">
                <a:latin typeface="Verdana" pitchFamily="34" charset="0"/>
                <a:ea typeface="ヒラギノ角ゴ Pro W3"/>
                <a:cs typeface="ヒラギノ角ゴ Pro W3"/>
              </a:rPr>
              <a:t>entice these people to use</a:t>
            </a:r>
            <a:r>
              <a:rPr lang="en-US" sz="1500" dirty="0" smtClean="0">
                <a:latin typeface="Verdana" pitchFamily="34" charset="0"/>
                <a:ea typeface="ヒラギノ角ゴ Pro W3"/>
                <a:cs typeface="ヒラギノ角ゴ Pro W3"/>
              </a:rPr>
              <a:t> their systems.</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p:cNvSpPr>
            <a:spLocks noGrp="1"/>
          </p:cNvSpPr>
          <p:nvPr>
            <p:ph type="title"/>
          </p:nvPr>
        </p:nvSpPr>
        <p:spPr/>
        <p:txBody>
          <a:bodyPr/>
          <a:lstStyle/>
          <a:p>
            <a:pPr eaLnBrk="1" hangingPunct="1"/>
            <a:r>
              <a:rPr lang="en-US" sz="1600" dirty="0" smtClean="0">
                <a:latin typeface="Verdana" pitchFamily="34" charset="0"/>
                <a:ea typeface="ヒラギノ角ゴ Pro W3"/>
                <a:cs typeface="ヒラギノ角ゴ Pro W3"/>
              </a:rPr>
              <a:t>Similarity between people</a:t>
            </a:r>
          </a:p>
        </p:txBody>
      </p:sp>
      <p:sp>
        <p:nvSpPr>
          <p:cNvPr id="36866" name="Text Placeholder 2"/>
          <p:cNvSpPr>
            <a:spLocks noGrp="1"/>
          </p:cNvSpPr>
          <p:nvPr>
            <p:ph type="body" idx="1"/>
          </p:nvPr>
        </p:nvSpPr>
        <p:spPr>
          <a:xfrm>
            <a:off x="678396" y="1438420"/>
            <a:ext cx="7926052" cy="4525963"/>
          </a:xfrm>
        </p:spPr>
        <p:txBody>
          <a:bodyPr/>
          <a:lstStyle/>
          <a:p>
            <a:pPr algn="just" eaLnBrk="1" hangingPunct="1">
              <a:lnSpc>
                <a:spcPct val="150000"/>
              </a:lnSpc>
            </a:pPr>
            <a:r>
              <a:rPr lang="en-US" sz="1500" b="1" dirty="0" smtClean="0">
                <a:latin typeface="Verdana" pitchFamily="34" charset="0"/>
                <a:ea typeface="ヒラギノ角ゴ Pro W3"/>
                <a:cs typeface="ヒラギノ角ゴ Pro W3"/>
              </a:rPr>
              <a:t>Designing for homogeneous (same) groups of people </a:t>
            </a:r>
            <a:r>
              <a:rPr lang="en-US" sz="1500" dirty="0" smtClean="0">
                <a:latin typeface="Verdana" pitchFamily="34" charset="0"/>
                <a:ea typeface="ヒラギノ角ゴ Pro W3"/>
                <a:cs typeface="ヒラギノ角ゴ Pro W3"/>
              </a:rPr>
              <a:t>– groups who are broadly similar and want to do much the same things – is quite different from </a:t>
            </a:r>
            <a:r>
              <a:rPr lang="en-US" sz="1500" b="1" dirty="0" smtClean="0">
                <a:latin typeface="Verdana" pitchFamily="34" charset="0"/>
                <a:ea typeface="ヒラギノ角ゴ Pro W3"/>
                <a:cs typeface="ヒラギノ角ゴ Pro W3"/>
              </a:rPr>
              <a:t>designing for heterogeneous (variety of) groups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Websites have to cater for heterogeneous groups and have particular design concerns as a result.</a:t>
            </a:r>
          </a:p>
          <a:p>
            <a:pPr algn="just" eaLnBrk="1" hangingPunct="1">
              <a:lnSpc>
                <a:spcPct val="15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company’s intranet</a:t>
            </a:r>
            <a:r>
              <a:rPr lang="en-US" sz="1500" dirty="0" smtClean="0">
                <a:latin typeface="Verdana" pitchFamily="34" charset="0"/>
                <a:ea typeface="ヒラギノ角ゴ Pro W3"/>
                <a:cs typeface="ヒラギノ角ゴ Pro W3"/>
              </a:rPr>
              <a:t>, however, can be designed to meet the particular needs of particular people.  </a:t>
            </a:r>
          </a:p>
          <a:p>
            <a:pPr algn="just" eaLnBrk="1" hangingPunct="1">
              <a:lnSpc>
                <a:spcPct val="150000"/>
              </a:lnSpc>
            </a:pPr>
            <a:r>
              <a:rPr lang="en-US" sz="1500" dirty="0" smtClean="0">
                <a:latin typeface="Verdana" pitchFamily="34" charset="0"/>
                <a:ea typeface="ヒラギノ角ゴ Pro W3"/>
                <a:cs typeface="ヒラギノ角ゴ Pro W3"/>
              </a:rPr>
              <a:t>Representatives from a </a:t>
            </a:r>
            <a:r>
              <a:rPr lang="en-US" sz="1500" b="1" dirty="0" smtClean="0">
                <a:latin typeface="Verdana" pitchFamily="34" charset="0"/>
                <a:ea typeface="ヒラギノ角ゴ Pro W3"/>
                <a:cs typeface="ヒラギノ角ゴ Pro W3"/>
              </a:rPr>
              <a:t>relatively homogeneous group </a:t>
            </a:r>
            <a:r>
              <a:rPr lang="en-US" sz="1500" dirty="0" smtClean="0">
                <a:latin typeface="Verdana" pitchFamily="34" charset="0"/>
                <a:ea typeface="ヒラギノ角ゴ Pro W3"/>
                <a:cs typeface="ヒラギノ角ゴ Pro W3"/>
              </a:rPr>
              <a:t>– secretaries or managers or laboratory scientists, say – could be </a:t>
            </a:r>
            <a:r>
              <a:rPr lang="en-US" sz="1500" b="1" dirty="0" smtClean="0">
                <a:latin typeface="Verdana" pitchFamily="34" charset="0"/>
                <a:ea typeface="ヒラギノ角ゴ Pro W3"/>
                <a:cs typeface="ヒラギノ角ゴ Pro W3"/>
              </a:rPr>
              <a:t>made part of the design team</a:t>
            </a:r>
            <a:r>
              <a:rPr lang="en-US" sz="1500" dirty="0" smtClean="0">
                <a:latin typeface="Verdana" pitchFamily="34" charset="0"/>
                <a:ea typeface="ヒラギノ角ゴ Pro W3"/>
                <a:cs typeface="ヒラギノ角ゴ Pro W3"/>
              </a:rPr>
              <a:t> and so </a:t>
            </a:r>
            <a:r>
              <a:rPr lang="en-US" sz="1500" b="1" dirty="0" smtClean="0">
                <a:latin typeface="Verdana" pitchFamily="34" charset="0"/>
                <a:ea typeface="ヒラギノ角ゴ Pro W3"/>
                <a:cs typeface="ヒラギノ角ゴ Pro W3"/>
              </a:rPr>
              <a:t>provide much more detailed input </a:t>
            </a:r>
            <a:r>
              <a:rPr lang="en-US" sz="1500" dirty="0" smtClean="0">
                <a:latin typeface="Verdana" pitchFamily="34" charset="0"/>
                <a:ea typeface="ヒラギノ角ゴ Pro W3"/>
                <a:cs typeface="ヒラギノ角ゴ Pro W3"/>
              </a:rPr>
              <a:t>as to their particular requirements.</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a:xfrm>
            <a:off x="457200" y="274638"/>
            <a:ext cx="8229600" cy="922114"/>
          </a:xfrm>
        </p:spPr>
        <p:txBody>
          <a:bodyPr/>
          <a:lstStyle/>
          <a:p>
            <a:pPr eaLnBrk="1" hangingPunct="1"/>
            <a:r>
              <a:rPr lang="en-US" sz="2500" b="1" dirty="0" smtClean="0">
                <a:solidFill>
                  <a:srgbClr val="0070C0"/>
                </a:solidFill>
                <a:latin typeface="Verdana" pitchFamily="34" charset="0"/>
                <a:ea typeface="ヒラギノ角ゴ Pro W3"/>
                <a:cs typeface="ヒラギノ角ゴ Pro W3"/>
              </a:rPr>
              <a:t>Activities</a:t>
            </a:r>
          </a:p>
        </p:txBody>
      </p:sp>
      <p:sp>
        <p:nvSpPr>
          <p:cNvPr id="37890" name="Text Placeholder 2"/>
          <p:cNvSpPr>
            <a:spLocks noGrp="1"/>
          </p:cNvSpPr>
          <p:nvPr>
            <p:ph type="body" idx="1"/>
          </p:nvPr>
        </p:nvSpPr>
        <p:spPr>
          <a:xfrm>
            <a:off x="570384" y="1340768"/>
            <a:ext cx="8003232" cy="4608512"/>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There are many characteristics of activities that designers need to consider. </a:t>
            </a:r>
          </a:p>
          <a:p>
            <a:pPr algn="just" eaLnBrk="1" hangingPunct="1">
              <a:lnSpc>
                <a:spcPct val="150000"/>
              </a:lnSpc>
            </a:pPr>
            <a:r>
              <a:rPr lang="en-US" sz="1500" dirty="0" smtClean="0">
                <a:latin typeface="Verdana" pitchFamily="34" charset="0"/>
                <a:ea typeface="ヒラギノ角ゴ Pro W3"/>
                <a:cs typeface="ヒラギノ角ゴ Pro W3"/>
              </a:rPr>
              <a:t>The term is used for very simple tasks as well as highly complex, lengthy activities, so designers need to </a:t>
            </a:r>
            <a:r>
              <a:rPr lang="en-US" sz="1500" b="1" dirty="0" smtClean="0">
                <a:latin typeface="Verdana" pitchFamily="34" charset="0"/>
                <a:ea typeface="ヒラギノ角ゴ Pro W3"/>
                <a:cs typeface="ヒラギノ角ゴ Pro W3"/>
              </a:rPr>
              <a:t>be careful </a:t>
            </a:r>
            <a:r>
              <a:rPr lang="en-US" sz="1500" dirty="0" smtClean="0">
                <a:latin typeface="Verdana" pitchFamily="34" charset="0"/>
                <a:ea typeface="ヒラギノ角ゴ Pro W3"/>
                <a:cs typeface="ヒラギノ角ゴ Pro W3"/>
              </a:rPr>
              <a:t>when considering the </a:t>
            </a:r>
            <a:r>
              <a:rPr lang="en-US" sz="1500" b="1" dirty="0" smtClean="0">
                <a:latin typeface="Verdana" pitchFamily="34" charset="0"/>
                <a:ea typeface="ヒラギノ角ゴ Pro W3"/>
                <a:cs typeface="ヒラギノ角ゴ Pro W3"/>
              </a:rPr>
              <a:t>characteristics of activities.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First and foremost, the designer should </a:t>
            </a:r>
            <a:r>
              <a:rPr lang="en-US" sz="1500" b="1" dirty="0" smtClean="0">
                <a:latin typeface="Verdana" pitchFamily="34" charset="0"/>
                <a:ea typeface="ヒラギノ角ゴ Pro W3"/>
                <a:cs typeface="ヒラギノ角ゴ Pro W3"/>
              </a:rPr>
              <a:t>focus on the overall purpose of the activity. </a:t>
            </a:r>
          </a:p>
          <a:p>
            <a:pPr algn="just" eaLnBrk="1" hangingPunct="1">
              <a:lnSpc>
                <a:spcPct val="150000"/>
              </a:lnSpc>
            </a:pPr>
            <a:r>
              <a:rPr lang="en-US" sz="1500" dirty="0" smtClean="0">
                <a:latin typeface="Verdana" pitchFamily="34" charset="0"/>
                <a:ea typeface="ヒラギノ角ゴ Pro W3"/>
                <a:cs typeface="ヒラギノ角ゴ Pro W3"/>
              </a:rPr>
              <a:t>After that the </a:t>
            </a:r>
            <a:r>
              <a:rPr lang="en-US" sz="1500" b="1" dirty="0" smtClean="0">
                <a:latin typeface="Verdana" pitchFamily="34" charset="0"/>
                <a:ea typeface="ヒラギノ角ゴ Pro W3"/>
                <a:cs typeface="ヒラギノ角ゴ Pro W3"/>
              </a:rPr>
              <a:t>main features are</a:t>
            </a:r>
            <a:r>
              <a:rPr lang="en-US" sz="1500" dirty="0" smtClean="0">
                <a:latin typeface="Verdana" pitchFamily="34" charset="0"/>
                <a:ea typeface="ヒラギノ角ゴ Pro W3"/>
                <a:cs typeface="ヒラギノ角ゴ Pro W3"/>
              </a:rPr>
              <a:t>:</a:t>
            </a:r>
          </a:p>
          <a:p>
            <a:pPr lvl="1" algn="just" eaLnBrk="1" hangingPunct="1">
              <a:lnSpc>
                <a:spcPct val="150000"/>
              </a:lnSpc>
            </a:pPr>
            <a:r>
              <a:rPr lang="en-US" sz="1500" dirty="0" smtClean="0">
                <a:latin typeface="Verdana" pitchFamily="34" charset="0"/>
                <a:ea typeface="ヒラギノ角ゴ Pro W3"/>
                <a:cs typeface="ヒラギノ角ゴ Pro W3"/>
              </a:rPr>
              <a:t>Temporal aspects (items 1–4)</a:t>
            </a:r>
          </a:p>
          <a:p>
            <a:pPr lvl="1" algn="just" eaLnBrk="1" hangingPunct="1">
              <a:lnSpc>
                <a:spcPct val="150000"/>
              </a:lnSpc>
            </a:pPr>
            <a:r>
              <a:rPr lang="en-US" sz="1500" dirty="0" smtClean="0">
                <a:latin typeface="Verdana" pitchFamily="34" charset="0"/>
                <a:ea typeface="ヒラギノ角ゴ Pro W3"/>
                <a:cs typeface="ヒラギノ角ゴ Pro W3"/>
              </a:rPr>
              <a:t>Cooperation (5)</a:t>
            </a:r>
          </a:p>
          <a:p>
            <a:pPr lvl="1" algn="just" eaLnBrk="1" hangingPunct="1">
              <a:lnSpc>
                <a:spcPct val="150000"/>
              </a:lnSpc>
            </a:pPr>
            <a:r>
              <a:rPr lang="en-US" sz="1500" dirty="0" smtClean="0">
                <a:latin typeface="Verdana" pitchFamily="34" charset="0"/>
                <a:ea typeface="ヒラギノ角ゴ Pro W3"/>
                <a:cs typeface="ヒラギノ角ゴ Pro W3"/>
              </a:rPr>
              <a:t>Complexity (6)</a:t>
            </a:r>
          </a:p>
          <a:p>
            <a:pPr lvl="1" algn="just" eaLnBrk="1" hangingPunct="1">
              <a:lnSpc>
                <a:spcPct val="150000"/>
              </a:lnSpc>
            </a:pPr>
            <a:r>
              <a:rPr lang="en-US" sz="1500" dirty="0" smtClean="0">
                <a:latin typeface="Verdana" pitchFamily="34" charset="0"/>
                <a:ea typeface="ヒラギノ角ゴ Pro W3"/>
                <a:cs typeface="ヒラギノ角ゴ Pro W3"/>
              </a:rPr>
              <a:t>Safety-critical (7 and 8)</a:t>
            </a:r>
          </a:p>
          <a:p>
            <a:pPr lvl="1" algn="just" eaLnBrk="1" hangingPunct="1">
              <a:lnSpc>
                <a:spcPct val="150000"/>
              </a:lnSpc>
            </a:pPr>
            <a:r>
              <a:rPr lang="en-US" sz="1500" dirty="0" smtClean="0">
                <a:latin typeface="Verdana" pitchFamily="34" charset="0"/>
                <a:ea typeface="ヒラギノ角ゴ Pro W3"/>
                <a:cs typeface="ヒラギノ角ゴ Pro W3"/>
              </a:rPr>
              <a:t>The nature of the content (9 and 10).</a:t>
            </a: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Temporal aspects of activities</a:t>
            </a:r>
          </a:p>
        </p:txBody>
      </p:sp>
      <p:sp>
        <p:nvSpPr>
          <p:cNvPr id="38914" name="Text Placeholder 2"/>
          <p:cNvSpPr>
            <a:spLocks noGrp="1"/>
          </p:cNvSpPr>
          <p:nvPr>
            <p:ph type="body" idx="1"/>
          </p:nvPr>
        </p:nvSpPr>
        <p:spPr>
          <a:xfrm>
            <a:off x="642392" y="1438420"/>
            <a:ext cx="7859216" cy="4525963"/>
          </a:xfrm>
        </p:spPr>
        <p:txBody>
          <a:bodyPr/>
          <a:lstStyle/>
          <a:p>
            <a:pPr marL="0" indent="0" algn="just" eaLnBrk="1" hangingPunct="1">
              <a:lnSpc>
                <a:spcPct val="150000"/>
              </a:lnSpc>
              <a:buNone/>
            </a:pPr>
            <a:r>
              <a:rPr lang="en-US" sz="1500" b="1" dirty="0" smtClean="0">
                <a:solidFill>
                  <a:srgbClr val="0070C0"/>
                </a:solidFill>
                <a:latin typeface="Verdana" pitchFamily="34" charset="0"/>
                <a:ea typeface="ヒラギノ角ゴ Pro W3"/>
                <a:cs typeface="ヒラギノ角ゴ Pro W3"/>
              </a:rPr>
              <a:t>1:</a:t>
            </a:r>
            <a:r>
              <a:rPr lang="en-US" sz="1500" b="1" dirty="0" smtClean="0">
                <a:latin typeface="Verdana" pitchFamily="34" charset="0"/>
                <a:ea typeface="ヒラギノ角ゴ Pro W3"/>
                <a:cs typeface="ヒラギノ角ゴ Pro W3"/>
              </a:rPr>
              <a:t> </a:t>
            </a:r>
            <a:r>
              <a:rPr lang="en-US" sz="1500" b="1" dirty="0">
                <a:latin typeface="Verdana" pitchFamily="34" charset="0"/>
                <a:ea typeface="ヒラギノ角ゴ Pro W3"/>
                <a:cs typeface="ヒラギノ角ゴ Pro W3"/>
              </a:rPr>
              <a:t>Temporal </a:t>
            </a:r>
            <a:r>
              <a:rPr lang="en-US" sz="1500" b="1" dirty="0" smtClean="0">
                <a:latin typeface="Verdana" pitchFamily="34" charset="0"/>
                <a:ea typeface="ヒラギノ角ゴ Pro W3"/>
                <a:cs typeface="ヒラギノ角ゴ Pro W3"/>
              </a:rPr>
              <a:t>aspects covers how </a:t>
            </a:r>
            <a:r>
              <a:rPr lang="en-US" sz="1500" dirty="0" smtClean="0">
                <a:latin typeface="Verdana" pitchFamily="34" charset="0"/>
                <a:ea typeface="ヒラギノ角ゴ Pro W3"/>
                <a:cs typeface="ヒラギノ角ゴ Pro W3"/>
              </a:rPr>
              <a:t>regular or infrequent activities are.</a:t>
            </a:r>
          </a:p>
          <a:p>
            <a:pPr algn="just" eaLnBrk="1" hangingPunct="1">
              <a:lnSpc>
                <a:spcPct val="150000"/>
              </a:lnSpc>
            </a:pPr>
            <a:r>
              <a:rPr lang="en-US" sz="1500" dirty="0" smtClean="0">
                <a:latin typeface="Verdana" pitchFamily="34" charset="0"/>
                <a:ea typeface="ヒラギノ角ゴ Pro W3"/>
                <a:cs typeface="ヒラギノ角ゴ Pro W3"/>
              </a:rPr>
              <a:t>Something that is </a:t>
            </a:r>
            <a:r>
              <a:rPr lang="en-US" sz="1500" b="1" dirty="0" smtClean="0">
                <a:latin typeface="Verdana" pitchFamily="34" charset="0"/>
                <a:ea typeface="ヒラギノ角ゴ Pro W3"/>
                <a:cs typeface="ヒラギノ角ゴ Pro W3"/>
              </a:rPr>
              <a:t>undertaken every </a:t>
            </a:r>
            <a:r>
              <a:rPr lang="en-US" sz="1500" dirty="0" smtClean="0">
                <a:latin typeface="Verdana" pitchFamily="34" charset="0"/>
                <a:ea typeface="ヒラギノ角ゴ Pro W3"/>
                <a:cs typeface="ヒラギノ角ゴ Pro W3"/>
              </a:rPr>
              <a:t>day can have a very </a:t>
            </a:r>
            <a:r>
              <a:rPr lang="en-US" sz="1500" b="1" dirty="0" smtClean="0">
                <a:latin typeface="Verdana" pitchFamily="34" charset="0"/>
                <a:ea typeface="ヒラギノ角ゴ Pro W3"/>
                <a:cs typeface="ヒラギノ角ゴ Pro W3"/>
              </a:rPr>
              <a:t>different design </a:t>
            </a:r>
            <a:r>
              <a:rPr lang="en-US" sz="1500" dirty="0" smtClean="0">
                <a:latin typeface="Verdana" pitchFamily="34" charset="0"/>
                <a:ea typeface="ヒラギノ角ゴ Pro W3"/>
                <a:cs typeface="ヒラギノ角ゴ Pro W3"/>
              </a:rPr>
              <a:t>from </a:t>
            </a:r>
            <a:r>
              <a:rPr lang="en-US" sz="1500" b="1" dirty="0" smtClean="0">
                <a:latin typeface="Verdana" pitchFamily="34" charset="0"/>
                <a:ea typeface="ヒラギノ角ゴ Pro W3"/>
                <a:cs typeface="ヒラギノ角ゴ Pro W3"/>
              </a:rPr>
              <a:t>something that happens only once a year</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People will soon learn how to make calls using a mobile phone, but may have great difficulties when it comes to changing the battery. </a:t>
            </a:r>
          </a:p>
          <a:p>
            <a:pPr algn="just" eaLnBrk="1" hangingPunct="1">
              <a:lnSpc>
                <a:spcPct val="150000"/>
              </a:lnSpc>
            </a:pPr>
            <a:r>
              <a:rPr lang="en-US" sz="1500" dirty="0" smtClean="0">
                <a:latin typeface="Verdana" pitchFamily="34" charset="0"/>
                <a:ea typeface="ヒラギノ角ゴ Pro W3"/>
                <a:cs typeface="ヒラギノ角ゴ Pro W3"/>
              </a:rPr>
              <a:t>Designers should </a:t>
            </a:r>
            <a:r>
              <a:rPr lang="en-US" sz="1500" b="1" dirty="0" smtClean="0">
                <a:latin typeface="Verdana" pitchFamily="34" charset="0"/>
                <a:ea typeface="ヒラギノ角ゴ Pro W3"/>
                <a:cs typeface="ヒラギノ角ゴ Pro W3"/>
              </a:rPr>
              <a:t>ensure that frequent tasks are easy to do</a:t>
            </a:r>
            <a:r>
              <a:rPr lang="en-US" sz="1500" dirty="0" smtClean="0">
                <a:latin typeface="Verdana" pitchFamily="34" charset="0"/>
                <a:ea typeface="ヒラギノ角ゴ Pro W3"/>
                <a:cs typeface="ヒラギノ角ゴ Pro W3"/>
              </a:rPr>
              <a:t>, but they also need to </a:t>
            </a:r>
            <a:r>
              <a:rPr lang="en-US" sz="1500" b="1" dirty="0" smtClean="0">
                <a:latin typeface="Verdana" pitchFamily="34" charset="0"/>
                <a:ea typeface="ヒラギノ角ゴ Pro W3"/>
                <a:cs typeface="ヒラギノ角ゴ Pro W3"/>
              </a:rPr>
              <a:t>ensure that infrequent tasks are easy to learn </a:t>
            </a:r>
            <a:r>
              <a:rPr lang="en-US" sz="1500" dirty="0" smtClean="0">
                <a:latin typeface="Verdana" pitchFamily="34" charset="0"/>
                <a:ea typeface="ヒラギノ角ゴ Pro W3"/>
                <a:cs typeface="ヒラギノ角ゴ Pro W3"/>
              </a:rPr>
              <a:t>(or remember) how to do.</a:t>
            </a:r>
          </a:p>
          <a:p>
            <a:pPr marL="0" indent="0" algn="just" eaLnBrk="1" hangingPunct="1">
              <a:lnSpc>
                <a:spcPct val="150000"/>
              </a:lnSpc>
              <a:buNone/>
            </a:pPr>
            <a:r>
              <a:rPr lang="en-US" sz="1500" b="1" dirty="0" smtClean="0">
                <a:solidFill>
                  <a:srgbClr val="0070C0"/>
                </a:solidFill>
                <a:latin typeface="Verdana" pitchFamily="34" charset="0"/>
                <a:ea typeface="ヒラギノ角ゴ Pro W3"/>
                <a:cs typeface="ヒラギノ角ゴ Pro W3"/>
              </a:rPr>
              <a:t>2:</a:t>
            </a:r>
            <a:r>
              <a:rPr lang="en-US" sz="1500" b="1"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Other important features of activities include </a:t>
            </a:r>
            <a:r>
              <a:rPr lang="en-US" sz="1500" b="1" dirty="0" smtClean="0">
                <a:latin typeface="Verdana" pitchFamily="34" charset="0"/>
                <a:ea typeface="ヒラギノ角ゴ Pro W3"/>
                <a:cs typeface="ヒラギノ角ゴ Pro W3"/>
              </a:rPr>
              <a:t>time pressures, peaks and troughs of working</a:t>
            </a:r>
            <a:r>
              <a:rPr lang="en-US" sz="1500" dirty="0" smtClean="0">
                <a:latin typeface="Verdana" pitchFamily="34" charset="0"/>
                <a:ea typeface="ヒラギノ角ゴ Pro W3"/>
                <a:cs typeface="ヒラギノ角ゴ Pro W3"/>
              </a:rPr>
              <a:t>. A design that works well when things are quiet can be awful when things are busy.</a:t>
            </a:r>
          </a:p>
        </p:txBody>
      </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More temporal aspects</a:t>
            </a:r>
          </a:p>
        </p:txBody>
      </p:sp>
      <p:sp>
        <p:nvSpPr>
          <p:cNvPr id="39938" name="Text Placeholder 2"/>
          <p:cNvSpPr>
            <a:spLocks noGrp="1"/>
          </p:cNvSpPr>
          <p:nvPr>
            <p:ph type="body" idx="1"/>
          </p:nvPr>
        </p:nvSpPr>
        <p:spPr>
          <a:xfrm>
            <a:off x="457200" y="1423317"/>
            <a:ext cx="8229600" cy="4525963"/>
          </a:xfrm>
        </p:spPr>
        <p:txBody>
          <a:bodyPr/>
          <a:lstStyle/>
          <a:p>
            <a:pPr marL="0" indent="0" algn="just" eaLnBrk="1" hangingPunct="1">
              <a:lnSpc>
                <a:spcPct val="150000"/>
              </a:lnSpc>
              <a:buNone/>
            </a:pPr>
            <a:r>
              <a:rPr lang="en-US" sz="1500" b="1" dirty="0" smtClean="0">
                <a:solidFill>
                  <a:srgbClr val="0070C0"/>
                </a:solidFill>
                <a:latin typeface="Verdana" pitchFamily="34" charset="0"/>
                <a:ea typeface="ヒラギノ角ゴ Pro W3"/>
                <a:cs typeface="ヒラギノ角ゴ Pro W3"/>
              </a:rPr>
              <a:t>3:</a:t>
            </a:r>
            <a:r>
              <a:rPr lang="en-US" sz="1500" b="1"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Some </a:t>
            </a:r>
            <a:r>
              <a:rPr lang="en-US" sz="1500" b="1" dirty="0" smtClean="0">
                <a:latin typeface="Verdana" pitchFamily="34" charset="0"/>
                <a:ea typeface="ヒラギノ角ゴ Pro W3"/>
                <a:cs typeface="ヒラギノ角ゴ Pro W3"/>
              </a:rPr>
              <a:t>activities</a:t>
            </a:r>
            <a:r>
              <a:rPr lang="en-US" sz="1500" dirty="0" smtClean="0">
                <a:latin typeface="Verdana" pitchFamily="34" charset="0"/>
                <a:ea typeface="ヒラギノ角ゴ Pro W3"/>
                <a:cs typeface="ヒラギノ角ゴ Pro W3"/>
              </a:rPr>
              <a:t> will take place as a </a:t>
            </a:r>
            <a:r>
              <a:rPr lang="en-US" sz="1500" b="1" dirty="0" smtClean="0">
                <a:latin typeface="Verdana" pitchFamily="34" charset="0"/>
                <a:ea typeface="ヒラギノ角ゴ Pro W3"/>
                <a:cs typeface="ヒラギノ角ゴ Pro W3"/>
              </a:rPr>
              <a:t>single, continuous set of actions </a:t>
            </a:r>
            <a:r>
              <a:rPr lang="en-US" sz="1500" dirty="0" smtClean="0">
                <a:latin typeface="Verdana" pitchFamily="34" charset="0"/>
                <a:ea typeface="ヒラギノ角ゴ Pro W3"/>
                <a:cs typeface="ヒラギノ角ゴ Pro W3"/>
              </a:rPr>
              <a:t>whereas others are more likely to be interrupted. </a:t>
            </a:r>
          </a:p>
          <a:p>
            <a:pPr algn="just" eaLnBrk="1" hangingPunct="1">
              <a:lnSpc>
                <a:spcPct val="150000"/>
              </a:lnSpc>
            </a:pPr>
            <a:r>
              <a:rPr lang="en-US" sz="1500" dirty="0" smtClean="0">
                <a:latin typeface="Verdana" pitchFamily="34" charset="0"/>
                <a:ea typeface="ヒラギノ角ゴ Pro W3"/>
                <a:cs typeface="ヒラギノ角ゴ Pro W3"/>
              </a:rPr>
              <a:t>If people are </a:t>
            </a:r>
            <a:r>
              <a:rPr lang="en-US" sz="1500" b="1" dirty="0" smtClean="0">
                <a:latin typeface="Verdana" pitchFamily="34" charset="0"/>
                <a:ea typeface="ヒラギノ角ゴ Pro W3"/>
                <a:cs typeface="ヒラギノ角ゴ Pro W3"/>
              </a:rPr>
              <a:t>interrupted</a:t>
            </a:r>
            <a:r>
              <a:rPr lang="en-US" sz="1500" dirty="0" smtClean="0">
                <a:latin typeface="Verdana" pitchFamily="34" charset="0"/>
                <a:ea typeface="ヒラギノ角ゴ Pro W3"/>
                <a:cs typeface="ヒラギノ角ゴ Pro W3"/>
              </a:rPr>
              <a:t> when undertaking some activity, the design needs to </a:t>
            </a:r>
            <a:r>
              <a:rPr lang="en-US" sz="1500" b="1" dirty="0" smtClean="0">
                <a:latin typeface="Verdana" pitchFamily="34" charset="0"/>
                <a:ea typeface="ヒラギノ角ゴ Pro W3"/>
                <a:cs typeface="ヒラギノ角ゴ Pro W3"/>
              </a:rPr>
              <a:t>ensure</a:t>
            </a:r>
            <a:r>
              <a:rPr lang="en-US" sz="1500" dirty="0" smtClean="0">
                <a:latin typeface="Verdana" pitchFamily="34" charset="0"/>
                <a:ea typeface="ヒラギノ角ゴ Pro W3"/>
                <a:cs typeface="ヒラギノ角ゴ Pro W3"/>
              </a:rPr>
              <a:t> that they can </a:t>
            </a:r>
            <a:r>
              <a:rPr lang="en-US" sz="1500" b="1" dirty="0" smtClean="0">
                <a:latin typeface="Verdana" pitchFamily="34" charset="0"/>
                <a:ea typeface="ヒラギノ角ゴ Pro W3"/>
                <a:cs typeface="ヒラギノ角ゴ Pro W3"/>
              </a:rPr>
              <a:t>‘find their place’ again and pick up</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It is important then to </a:t>
            </a:r>
            <a:r>
              <a:rPr lang="en-US" sz="1500" b="1" dirty="0" smtClean="0">
                <a:latin typeface="Verdana" pitchFamily="34" charset="0"/>
                <a:ea typeface="ヒラギノ角ゴ Pro W3"/>
                <a:cs typeface="ヒラギノ角ゴ Pro W3"/>
              </a:rPr>
              <a:t>ensure</a:t>
            </a:r>
            <a:r>
              <a:rPr lang="en-US" sz="1500" dirty="0" smtClean="0">
                <a:latin typeface="Verdana" pitchFamily="34" charset="0"/>
                <a:ea typeface="ヒラギノ角ゴ Pro W3"/>
                <a:cs typeface="ヒラギノ角ゴ Pro W3"/>
              </a:rPr>
              <a:t> that people do </a:t>
            </a:r>
            <a:r>
              <a:rPr lang="en-US" sz="1500" b="1" dirty="0" smtClean="0">
                <a:latin typeface="Verdana" pitchFamily="34" charset="0"/>
                <a:ea typeface="ヒラギノ角ゴ Pro W3"/>
                <a:cs typeface="ヒラギノ角ゴ Pro W3"/>
              </a:rPr>
              <a:t>not make mistakes or leave important steps</a:t>
            </a:r>
            <a:r>
              <a:rPr lang="en-US" sz="1500" dirty="0" smtClean="0">
                <a:latin typeface="Verdana" pitchFamily="34" charset="0"/>
                <a:ea typeface="ヒラギノ角ゴ Pro W3"/>
                <a:cs typeface="ヒラギノ角ゴ Pro W3"/>
              </a:rPr>
              <a:t> out of some activity.</a:t>
            </a:r>
          </a:p>
          <a:p>
            <a:pPr marL="0" indent="0" algn="just" eaLnBrk="1" hangingPunct="1">
              <a:lnSpc>
                <a:spcPct val="150000"/>
              </a:lnSpc>
              <a:buNone/>
            </a:pPr>
            <a:r>
              <a:rPr lang="en-US" sz="1500" b="1" dirty="0" smtClean="0">
                <a:solidFill>
                  <a:srgbClr val="0070C0"/>
                </a:solidFill>
                <a:latin typeface="Verdana" pitchFamily="34" charset="0"/>
                <a:ea typeface="ヒラギノ角ゴ Pro W3"/>
                <a:cs typeface="ヒラギノ角ゴ Pro W3"/>
              </a:rPr>
              <a:t>4:</a:t>
            </a:r>
            <a:r>
              <a:rPr lang="en-US" sz="1500" b="1"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response time needed </a:t>
            </a:r>
            <a:r>
              <a:rPr lang="en-US" sz="1500" dirty="0" smtClean="0">
                <a:latin typeface="Verdana" pitchFamily="34" charset="0"/>
                <a:ea typeface="ヒラギノ角ゴ Pro W3"/>
                <a:cs typeface="ヒラギノ角ゴ Pro W3"/>
              </a:rPr>
              <a:t>from the system must be </a:t>
            </a:r>
            <a:r>
              <a:rPr lang="en-US" sz="1500" b="1" dirty="0" smtClean="0">
                <a:latin typeface="Verdana" pitchFamily="34" charset="0"/>
                <a:ea typeface="ヒラギノ角ゴ Pro W3"/>
                <a:cs typeface="ヒラギノ角ゴ Pro W3"/>
              </a:rPr>
              <a:t>considered</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As a </a:t>
            </a:r>
            <a:r>
              <a:rPr lang="en-US" sz="1500" b="1" dirty="0" smtClean="0">
                <a:latin typeface="Verdana" pitchFamily="34" charset="0"/>
                <a:ea typeface="ヒラギノ角ゴ Pro W3"/>
                <a:cs typeface="ヒラギノ角ゴ Pro W3"/>
              </a:rPr>
              <a:t>general rule</a:t>
            </a:r>
            <a:r>
              <a:rPr lang="en-US" sz="1500" dirty="0" smtClean="0">
                <a:latin typeface="Verdana" pitchFamily="34" charset="0"/>
                <a:ea typeface="ヒラギノ角ゴ Pro W3"/>
                <a:cs typeface="ヒラギノ角ゴ Pro W3"/>
              </a:rPr>
              <a:t>, people expect a response time of about 100 milliseconds for hand–eye coordination activities and one second for a cause–effect relationship such as clicking a button and something happening. Anything more than 5 seconds and they will feel frustrated and confused (Dix, 2003).</a:t>
            </a: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Cooperative and complex activities</a:t>
            </a:r>
          </a:p>
        </p:txBody>
      </p:sp>
      <p:sp>
        <p:nvSpPr>
          <p:cNvPr id="40962" name="Text Placeholder 2"/>
          <p:cNvSpPr>
            <a:spLocks noGrp="1"/>
          </p:cNvSpPr>
          <p:nvPr>
            <p:ph type="body" idx="1"/>
          </p:nvPr>
        </p:nvSpPr>
        <p:spPr>
          <a:xfrm>
            <a:off x="570384" y="1423317"/>
            <a:ext cx="8003232"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Another important feature of activities is whether they </a:t>
            </a:r>
            <a:r>
              <a:rPr lang="en-US" sz="1500" b="1" dirty="0" smtClean="0">
                <a:latin typeface="Verdana" pitchFamily="34" charset="0"/>
                <a:ea typeface="ヒラギノ角ゴ Pro W3"/>
                <a:cs typeface="ヒラギノ角ゴ Pro W3"/>
              </a:rPr>
              <a:t>can be carried out alone </a:t>
            </a:r>
            <a:r>
              <a:rPr lang="en-US" sz="1500" dirty="0" smtClean="0">
                <a:latin typeface="Verdana" pitchFamily="34" charset="0"/>
                <a:ea typeface="ヒラギノ角ゴ Pro W3"/>
                <a:cs typeface="ヒラギノ角ゴ Pro W3"/>
              </a:rPr>
              <a:t>or whether they are essentially </a:t>
            </a:r>
            <a:r>
              <a:rPr lang="en-US" sz="1500" b="1" dirty="0" smtClean="0">
                <a:latin typeface="Verdana" pitchFamily="34" charset="0"/>
                <a:ea typeface="ヒラギノ角ゴ Pro W3"/>
                <a:cs typeface="ヒラギノ角ゴ Pro W3"/>
              </a:rPr>
              <a:t>concerned with working with others</a:t>
            </a:r>
            <a:r>
              <a:rPr lang="en-US" sz="1500" dirty="0" smtClean="0">
                <a:latin typeface="Verdana" pitchFamily="34" charset="0"/>
                <a:ea typeface="ヒラギノ角ゴ Pro W3"/>
                <a:cs typeface="ヒラギノ角ゴ Pro W3"/>
              </a:rPr>
              <a:t>. </a:t>
            </a:r>
          </a:p>
          <a:p>
            <a:pPr marL="0" indent="0" algn="just" eaLnBrk="1" hangingPunct="1">
              <a:lnSpc>
                <a:spcPct val="150000"/>
              </a:lnSpc>
              <a:buNone/>
            </a:pPr>
            <a:r>
              <a:rPr lang="en-US" sz="1500" b="1" dirty="0" smtClean="0">
                <a:solidFill>
                  <a:srgbClr val="0070C0"/>
                </a:solidFill>
                <a:latin typeface="Verdana" pitchFamily="34" charset="0"/>
                <a:ea typeface="ヒラギノ角ゴ Pro W3"/>
                <a:cs typeface="ヒラギノ角ゴ Pro W3"/>
              </a:rPr>
              <a:t>5:</a:t>
            </a:r>
            <a:r>
              <a:rPr lang="en-US" sz="1500" b="1" dirty="0" smtClean="0">
                <a:latin typeface="Verdana" pitchFamily="34" charset="0"/>
                <a:ea typeface="ヒラギノ角ゴ Pro W3"/>
                <a:cs typeface="ヒラギノ角ゴ Pro W3"/>
              </a:rPr>
              <a:t> Issues of awareness </a:t>
            </a:r>
            <a:r>
              <a:rPr lang="en-US" sz="1500" dirty="0" smtClean="0">
                <a:latin typeface="Verdana" pitchFamily="34" charset="0"/>
                <a:ea typeface="ヒラギノ角ゴ Pro W3"/>
                <a:cs typeface="ヒラギノ角ゴ Pro W3"/>
              </a:rPr>
              <a:t>of others and communication and coordination then become important.</a:t>
            </a:r>
          </a:p>
          <a:p>
            <a:pPr marL="0" indent="0" algn="just" eaLnBrk="1" hangingPunct="1">
              <a:lnSpc>
                <a:spcPct val="150000"/>
              </a:lnSpc>
              <a:buNone/>
            </a:pPr>
            <a:r>
              <a:rPr lang="en-US" sz="1500" b="1" dirty="0" smtClean="0">
                <a:solidFill>
                  <a:srgbClr val="0070C0"/>
                </a:solidFill>
                <a:latin typeface="Verdana" pitchFamily="34" charset="0"/>
                <a:ea typeface="ヒラギノ角ゴ Pro W3"/>
                <a:cs typeface="ヒラギノ角ゴ Pro W3"/>
              </a:rPr>
              <a:t>6:</a:t>
            </a:r>
            <a:r>
              <a:rPr lang="en-US" sz="1500" b="1" dirty="0" smtClean="0">
                <a:latin typeface="Verdana" pitchFamily="34" charset="0"/>
                <a:ea typeface="ヒラギノ角ゴ Pro W3"/>
                <a:cs typeface="ヒラギノ角ゴ Pro W3"/>
              </a:rPr>
              <a:t> </a:t>
            </a:r>
            <a:r>
              <a:rPr lang="en-US" sz="1500" b="1" dirty="0">
                <a:latin typeface="Verdana" pitchFamily="34" charset="0"/>
                <a:ea typeface="ヒラギノ角ゴ Pro W3"/>
                <a:cs typeface="ヒラギノ角ゴ Pro W3"/>
              </a:rPr>
              <a:t>Well-defined </a:t>
            </a:r>
            <a:r>
              <a:rPr lang="en-US" sz="1500" b="1" dirty="0" smtClean="0">
                <a:latin typeface="Verdana" pitchFamily="34" charset="0"/>
                <a:ea typeface="ヒラギノ角ゴ Pro W3"/>
                <a:cs typeface="ヒラギノ角ゴ Pro W3"/>
              </a:rPr>
              <a:t>tasks</a:t>
            </a:r>
            <a:r>
              <a:rPr lang="en-US" sz="1500" dirty="0" smtClean="0">
                <a:latin typeface="Verdana" pitchFamily="34" charset="0"/>
                <a:ea typeface="ヒラギノ角ゴ Pro W3"/>
                <a:cs typeface="ヒラギノ角ゴ Pro W3"/>
              </a:rPr>
              <a:t> need different designs from more vague (frizzy/foggy) tasks.</a:t>
            </a:r>
          </a:p>
          <a:p>
            <a:pPr algn="just" eaLnBrk="1" hangingPunct="1">
              <a:lnSpc>
                <a:spcPct val="150000"/>
              </a:lnSpc>
            </a:pPr>
            <a:r>
              <a:rPr lang="en-US" sz="1500" dirty="0" smtClean="0">
                <a:latin typeface="Verdana" pitchFamily="34" charset="0"/>
                <a:ea typeface="ヒラギノ角ゴ Pro W3"/>
                <a:cs typeface="ヒラギノ角ゴ Pro W3"/>
              </a:rPr>
              <a:t>If a task or activity is </a:t>
            </a:r>
            <a:r>
              <a:rPr lang="en-US" sz="1500" b="1" dirty="0" smtClean="0">
                <a:latin typeface="Verdana" pitchFamily="34" charset="0"/>
                <a:ea typeface="ヒラギノ角ゴ Pro W3"/>
                <a:cs typeface="ヒラギノ角ゴ Pro W3"/>
              </a:rPr>
              <a:t>well defined </a:t>
            </a:r>
            <a:r>
              <a:rPr lang="en-US" sz="1500" dirty="0" smtClean="0">
                <a:latin typeface="Verdana" pitchFamily="34" charset="0"/>
                <a:ea typeface="ヒラギノ角ゴ Pro W3"/>
                <a:cs typeface="ヒラギノ角ゴ Pro W3"/>
              </a:rPr>
              <a:t>it can be accomplished with a </a:t>
            </a:r>
            <a:r>
              <a:rPr lang="en-US" sz="1500" b="1" dirty="0" smtClean="0">
                <a:latin typeface="Verdana" pitchFamily="34" charset="0"/>
                <a:ea typeface="ヒラギノ角ゴ Pro W3"/>
                <a:cs typeface="ヒラギノ角ゴ Pro W3"/>
              </a:rPr>
              <a:t>simple step-by-step design</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vague activity means </a:t>
            </a:r>
            <a:r>
              <a:rPr lang="en-US" sz="1500" dirty="0" smtClean="0">
                <a:latin typeface="Verdana" pitchFamily="34" charset="0"/>
                <a:ea typeface="ヒラギノ角ゴ Pro W3"/>
                <a:cs typeface="ヒラギノ角ゴ Pro W3"/>
              </a:rPr>
              <a:t>that people have to be able to </a:t>
            </a:r>
            <a:r>
              <a:rPr lang="en-US" sz="1500" b="1" dirty="0" smtClean="0">
                <a:latin typeface="Verdana" pitchFamily="34" charset="0"/>
                <a:ea typeface="ヒラギノ角ゴ Pro W3"/>
                <a:cs typeface="ヒラギノ角ゴ Pro W3"/>
              </a:rPr>
              <a:t>browse around</a:t>
            </a:r>
            <a:r>
              <a:rPr lang="en-US" sz="1500" dirty="0" smtClean="0">
                <a:latin typeface="Verdana" pitchFamily="34" charset="0"/>
                <a:ea typeface="ヒラギノ角ゴ Pro W3"/>
                <a:cs typeface="ヒラギノ角ゴ Pro W3"/>
              </a:rPr>
              <a:t>, </a:t>
            </a:r>
            <a:r>
              <a:rPr lang="en-US" sz="1500" b="1" dirty="0" smtClean="0">
                <a:latin typeface="Verdana" pitchFamily="34" charset="0"/>
                <a:ea typeface="ヒラギノ角ゴ Pro W3"/>
                <a:cs typeface="ヒラギノ角ゴ Pro W3"/>
              </a:rPr>
              <a:t>see different types of information, move from one thing to another </a:t>
            </a:r>
            <a:r>
              <a:rPr lang="en-US" sz="1500" dirty="0" smtClean="0">
                <a:latin typeface="Verdana" pitchFamily="34" charset="0"/>
                <a:ea typeface="ヒラギノ角ゴ Pro W3"/>
                <a:cs typeface="ヒラギノ角ゴ Pro W3"/>
              </a:rPr>
              <a:t>and so on.</a:t>
            </a: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Safety-critical activities</a:t>
            </a:r>
          </a:p>
        </p:txBody>
      </p:sp>
      <p:sp>
        <p:nvSpPr>
          <p:cNvPr id="41986" name="Text Placeholder 2"/>
          <p:cNvSpPr>
            <a:spLocks noGrp="1"/>
          </p:cNvSpPr>
          <p:nvPr>
            <p:ph type="body" idx="1"/>
          </p:nvPr>
        </p:nvSpPr>
        <p:spPr>
          <a:xfrm>
            <a:off x="750404" y="1417638"/>
            <a:ext cx="7643192" cy="4525963"/>
          </a:xfrm>
        </p:spPr>
        <p:txBody>
          <a:bodyPr/>
          <a:lstStyle/>
          <a:p>
            <a:pPr marL="0" indent="0" algn="just" eaLnBrk="1" hangingPunct="1">
              <a:lnSpc>
                <a:spcPct val="200000"/>
              </a:lnSpc>
              <a:buNone/>
            </a:pPr>
            <a:r>
              <a:rPr lang="en-US" sz="1500" b="1" dirty="0" smtClean="0">
                <a:solidFill>
                  <a:srgbClr val="0070C0"/>
                </a:solidFill>
                <a:latin typeface="Verdana" pitchFamily="34" charset="0"/>
                <a:ea typeface="ヒラギノ角ゴ Pro W3"/>
                <a:cs typeface="ヒラギノ角ゴ Pro W3"/>
              </a:rPr>
              <a:t>7:</a:t>
            </a:r>
            <a:r>
              <a:rPr lang="en-US" sz="1500" b="1"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Some activities are ‘safety-critical’, in which any mistake could result in an injury or a serious accident. Others are less so. </a:t>
            </a:r>
          </a:p>
          <a:p>
            <a:pPr marL="0" indent="0" algn="just" eaLnBrk="1" hangingPunct="1">
              <a:lnSpc>
                <a:spcPct val="200000"/>
              </a:lnSpc>
              <a:buNone/>
            </a:pPr>
            <a:r>
              <a:rPr lang="en-US" sz="1500" dirty="0" smtClean="0">
                <a:latin typeface="Verdana" pitchFamily="34" charset="0"/>
                <a:ea typeface="ヒラギノ角ゴ Pro W3"/>
                <a:cs typeface="ヒラギノ角ゴ Pro W3"/>
              </a:rPr>
              <a:t>Clearly where safety is involved, designers must pay every attention to </a:t>
            </a:r>
            <a:r>
              <a:rPr lang="en-US" sz="1500" b="1" dirty="0" smtClean="0">
                <a:latin typeface="Verdana" pitchFamily="34" charset="0"/>
                <a:ea typeface="ヒラギノ角ゴ Pro W3"/>
                <a:cs typeface="ヒラギノ角ゴ Pro W3"/>
              </a:rPr>
              <a:t>ensuring mistakes do not have a serious effect.</a:t>
            </a:r>
          </a:p>
          <a:p>
            <a:pPr marL="0" indent="0" algn="just" eaLnBrk="1" hangingPunct="1">
              <a:lnSpc>
                <a:spcPct val="200000"/>
              </a:lnSpc>
              <a:buNone/>
            </a:pPr>
            <a:r>
              <a:rPr lang="en-US" sz="1500" b="1" dirty="0" smtClean="0">
                <a:solidFill>
                  <a:srgbClr val="0070C0"/>
                </a:solidFill>
                <a:latin typeface="Verdana" pitchFamily="34" charset="0"/>
                <a:ea typeface="ヒラギノ角ゴ Pro W3"/>
                <a:cs typeface="ヒラギノ角ゴ Pro W3"/>
              </a:rPr>
              <a:t>8:</a:t>
            </a:r>
            <a:r>
              <a:rPr lang="en-US" sz="1500" b="1"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In general, it is vital for designers to </a:t>
            </a:r>
            <a:r>
              <a:rPr lang="en-US" sz="1500" b="1" dirty="0" smtClean="0">
                <a:latin typeface="Verdana" pitchFamily="34" charset="0"/>
                <a:ea typeface="ヒラギノ角ゴ Pro W3"/>
                <a:cs typeface="ヒラギノ角ゴ Pro W3"/>
              </a:rPr>
              <a:t>think about </a:t>
            </a:r>
            <a:r>
              <a:rPr lang="en-US" sz="1500" dirty="0" smtClean="0">
                <a:latin typeface="Verdana" pitchFamily="34" charset="0"/>
                <a:ea typeface="ヒラギノ角ゴ Pro W3"/>
                <a:cs typeface="ヒラギノ角ゴ Pro W3"/>
              </a:rPr>
              <a:t>what happens when </a:t>
            </a:r>
            <a:r>
              <a:rPr lang="en-US" sz="1500" b="1" dirty="0" smtClean="0">
                <a:latin typeface="Verdana" pitchFamily="34" charset="0"/>
                <a:ea typeface="ヒラギノ角ゴ Pro W3"/>
                <a:cs typeface="ヒラギノ角ゴ Pro W3"/>
              </a:rPr>
              <a:t>people</a:t>
            </a:r>
            <a:r>
              <a:rPr lang="en-US" sz="1500" dirty="0" smtClean="0">
                <a:latin typeface="Verdana" pitchFamily="34" charset="0"/>
                <a:ea typeface="ヒラギノ角ゴ Pro W3"/>
                <a:cs typeface="ヒラギノ角ゴ Pro W3"/>
              </a:rPr>
              <a:t> </a:t>
            </a:r>
            <a:r>
              <a:rPr lang="en-US" sz="1500" b="1" dirty="0" smtClean="0">
                <a:latin typeface="Verdana" pitchFamily="34" charset="0"/>
                <a:ea typeface="ヒラギノ角ゴ Pro W3"/>
                <a:cs typeface="ヒラギノ角ゴ Pro W3"/>
              </a:rPr>
              <a:t>make mistakes and errors and to design for such circumstances</a:t>
            </a:r>
            <a:r>
              <a:rPr lang="en-US" sz="15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a:xfrm>
            <a:off x="457200" y="274638"/>
            <a:ext cx="8229600" cy="706090"/>
          </a:xfrm>
        </p:spPr>
        <p:txBody>
          <a:bodyPr/>
          <a:lstStyle/>
          <a:p>
            <a:pPr eaLnBrk="1" hangingPunct="1"/>
            <a:r>
              <a:rPr lang="en-US" sz="1500" dirty="0" smtClean="0">
                <a:latin typeface="Verdana" pitchFamily="34" charset="0"/>
                <a:ea typeface="ヒラギノ角ゴ Pro W3"/>
                <a:cs typeface="ヒラギノ角ゴ Pro W3"/>
              </a:rPr>
              <a:t>Data and media requirements</a:t>
            </a:r>
          </a:p>
        </p:txBody>
      </p:sp>
      <p:sp>
        <p:nvSpPr>
          <p:cNvPr id="43010" name="Text Placeholder 2"/>
          <p:cNvSpPr>
            <a:spLocks noGrp="1"/>
          </p:cNvSpPr>
          <p:nvPr>
            <p:ph type="body" idx="1"/>
          </p:nvPr>
        </p:nvSpPr>
        <p:spPr>
          <a:xfrm>
            <a:off x="457200" y="1124744"/>
            <a:ext cx="8229600" cy="4968552"/>
          </a:xfrm>
        </p:spPr>
        <p:txBody>
          <a:bodyPr/>
          <a:lstStyle/>
          <a:p>
            <a:pPr marL="0" indent="0" algn="just" eaLnBrk="1" hangingPunct="1">
              <a:lnSpc>
                <a:spcPct val="150000"/>
              </a:lnSpc>
              <a:buNone/>
            </a:pPr>
            <a:r>
              <a:rPr lang="en-US" sz="1500" b="1" dirty="0" smtClean="0">
                <a:solidFill>
                  <a:srgbClr val="0070C0"/>
                </a:solidFill>
                <a:latin typeface="Verdana" pitchFamily="34" charset="0"/>
                <a:ea typeface="ヒラギノ角ゴ Pro W3"/>
                <a:cs typeface="ヒラギノ角ゴ Pro W3"/>
              </a:rPr>
              <a:t>9:</a:t>
            </a:r>
            <a:r>
              <a:rPr lang="en-US" sz="1500" b="1"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It is also important to consider the data requirements of the activity. </a:t>
            </a:r>
          </a:p>
          <a:p>
            <a:pPr algn="just" eaLnBrk="1" hangingPunct="1">
              <a:lnSpc>
                <a:spcPct val="150000"/>
              </a:lnSpc>
            </a:pPr>
            <a:r>
              <a:rPr lang="en-US" sz="1500" dirty="0" smtClean="0">
                <a:latin typeface="Verdana" pitchFamily="34" charset="0"/>
                <a:ea typeface="ヒラギノ角ゴ Pro W3"/>
                <a:cs typeface="ヒラギノ角ゴ Pro W3"/>
              </a:rPr>
              <a:t>If </a:t>
            </a:r>
            <a:r>
              <a:rPr lang="en-US" sz="1500" b="1" dirty="0" smtClean="0">
                <a:latin typeface="Verdana" pitchFamily="34" charset="0"/>
                <a:ea typeface="ヒラギノ角ゴ Pro W3"/>
                <a:cs typeface="ヒラギノ角ゴ Pro W3"/>
              </a:rPr>
              <a:t>large amounts </a:t>
            </a:r>
            <a:r>
              <a:rPr lang="en-US" sz="1500" dirty="0" smtClean="0">
                <a:latin typeface="Verdana" pitchFamily="34" charset="0"/>
                <a:ea typeface="ヒラギノ角ゴ Pro W3"/>
                <a:cs typeface="ヒラギノ角ゴ Pro W3"/>
              </a:rPr>
              <a:t>of alphabetic data have to be input as part of the activity (recording names and addresses, perhaps, or word processing documents) then a </a:t>
            </a:r>
            <a:r>
              <a:rPr lang="en-US" sz="1500" b="1" dirty="0" smtClean="0">
                <a:latin typeface="Verdana" pitchFamily="34" charset="0"/>
                <a:ea typeface="ヒラギノ角ゴ Pro W3"/>
                <a:cs typeface="ヒラギノ角ゴ Pro W3"/>
              </a:rPr>
              <a:t>keyboard is almost certainly needed</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In other activities there may be a </a:t>
            </a:r>
            <a:r>
              <a:rPr lang="en-US" sz="1500" b="1" dirty="0" smtClean="0">
                <a:latin typeface="Verdana" pitchFamily="34" charset="0"/>
                <a:ea typeface="ヒラギノ角ゴ Pro W3"/>
                <a:cs typeface="ヒラギノ角ゴ Pro W3"/>
              </a:rPr>
              <a:t>need to display video or high quality color graphic</a:t>
            </a:r>
            <a:r>
              <a:rPr lang="en-US" sz="1500" dirty="0" smtClean="0">
                <a:latin typeface="Verdana" pitchFamily="34" charset="0"/>
                <a:ea typeface="ヒラギノ角ゴ Pro W3"/>
                <a:cs typeface="ヒラギノ角ゴ Pro W3"/>
              </a:rPr>
              <a:t> displays. </a:t>
            </a:r>
          </a:p>
          <a:p>
            <a:pPr algn="just" eaLnBrk="1" hangingPunct="1">
              <a:lnSpc>
                <a:spcPct val="150000"/>
              </a:lnSpc>
            </a:pPr>
            <a:r>
              <a:rPr lang="en-US" sz="1500" dirty="0" smtClean="0">
                <a:latin typeface="Verdana" pitchFamily="34" charset="0"/>
                <a:ea typeface="ヒラギノ角ゴ Pro W3"/>
                <a:cs typeface="ヒラギノ角ゴ Pro W3"/>
              </a:rPr>
              <a:t>Some activities, however, </a:t>
            </a:r>
            <a:r>
              <a:rPr lang="en-US" sz="1500" b="1" dirty="0" smtClean="0">
                <a:latin typeface="Verdana" pitchFamily="34" charset="0"/>
                <a:ea typeface="ヒラギノ角ゴ Pro W3"/>
                <a:cs typeface="ヒラギノ角ゴ Pro W3"/>
              </a:rPr>
              <a:t>require very modest amounts</a:t>
            </a:r>
            <a:r>
              <a:rPr lang="en-US" sz="1500" dirty="0" smtClean="0">
                <a:latin typeface="Verdana" pitchFamily="34" charset="0"/>
                <a:ea typeface="ヒラギノ角ゴ Pro W3"/>
                <a:cs typeface="ヒラギノ角ゴ Pro W3"/>
              </a:rPr>
              <a:t> of data, or data that does not change frequently and can make use of other technologies. </a:t>
            </a:r>
          </a:p>
          <a:p>
            <a:pPr algn="just" eaLnBrk="1" hangingPunct="1">
              <a:lnSpc>
                <a:spcPct val="150000"/>
              </a:lnSpc>
            </a:pPr>
            <a:r>
              <a:rPr lang="en-US" sz="1500" dirty="0" smtClean="0">
                <a:latin typeface="Verdana" pitchFamily="34" charset="0"/>
                <a:ea typeface="ヒラギノ角ゴ Pro W3"/>
                <a:cs typeface="ヒラギノ角ゴ Pro W3"/>
              </a:rPr>
              <a:t>A library, for example, just needs to scan in a bar code or two, so the technology can be designed to exploit this feature of the activity.</a:t>
            </a:r>
          </a:p>
          <a:p>
            <a:pPr marL="0" indent="0" algn="just" eaLnBrk="1" hangingPunct="1">
              <a:lnSpc>
                <a:spcPct val="150000"/>
              </a:lnSpc>
              <a:buNone/>
            </a:pPr>
            <a:r>
              <a:rPr lang="en-US" sz="1500" b="1" dirty="0" smtClean="0">
                <a:solidFill>
                  <a:srgbClr val="0070C0"/>
                </a:solidFill>
                <a:latin typeface="Verdana" pitchFamily="34" charset="0"/>
                <a:ea typeface="ヒラギノ角ゴ Pro W3"/>
                <a:cs typeface="ヒラギノ角ゴ Pro W3"/>
              </a:rPr>
              <a:t>10:</a:t>
            </a:r>
            <a:r>
              <a:rPr lang="en-US" sz="1500" b="1"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Just as important as </a:t>
            </a:r>
            <a:r>
              <a:rPr lang="en-US" sz="1500" b="1" dirty="0" smtClean="0">
                <a:latin typeface="Verdana" pitchFamily="34" charset="0"/>
                <a:ea typeface="ヒラギノ角ゴ Pro W3"/>
                <a:cs typeface="ヒラギノ角ゴ Pro W3"/>
              </a:rPr>
              <a:t>data is the media that an activity requires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A simple two-tone display of numeric data demands a very different design from a full motion multimedia display (old mobiles and color mobile phones)</a:t>
            </a: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itle 1"/>
          <p:cNvSpPr>
            <a:spLocks noGrp="1"/>
          </p:cNvSpPr>
          <p:nvPr>
            <p:ph type="title"/>
          </p:nvPr>
        </p:nvSpPr>
        <p:spPr>
          <a:xfrm>
            <a:off x="457200" y="274638"/>
            <a:ext cx="8229600" cy="994122"/>
          </a:xfrm>
        </p:spPr>
        <p:txBody>
          <a:bodyPr/>
          <a:lstStyle/>
          <a:p>
            <a:pPr eaLnBrk="1" hangingPunct="1"/>
            <a:r>
              <a:rPr lang="en-US" sz="2500" b="1" dirty="0" smtClean="0">
                <a:solidFill>
                  <a:srgbClr val="0070C0"/>
                </a:solidFill>
                <a:latin typeface="Verdana" pitchFamily="34" charset="0"/>
                <a:ea typeface="ヒラギノ角ゴ Pro W3"/>
                <a:cs typeface="ヒラギノ角ゴ Pro W3"/>
              </a:rPr>
              <a:t>Contexts</a:t>
            </a:r>
          </a:p>
        </p:txBody>
      </p:sp>
      <p:sp>
        <p:nvSpPr>
          <p:cNvPr id="44034" name="Text Placeholder 2"/>
          <p:cNvSpPr>
            <a:spLocks noGrp="1"/>
          </p:cNvSpPr>
          <p:nvPr>
            <p:ph type="body" idx="1"/>
          </p:nvPr>
        </p:nvSpPr>
        <p:spPr>
          <a:xfrm>
            <a:off x="606388" y="1351309"/>
            <a:ext cx="7931224" cy="4525963"/>
          </a:xfrm>
        </p:spPr>
        <p:txBody>
          <a:bodyPr/>
          <a:lstStyle/>
          <a:p>
            <a:pPr algn="just" eaLnBrk="1" hangingPunct="1">
              <a:lnSpc>
                <a:spcPct val="150000"/>
              </a:lnSpc>
            </a:pPr>
            <a:r>
              <a:rPr lang="en-US" sz="1500" b="1" dirty="0" smtClean="0">
                <a:latin typeface="Verdana" pitchFamily="34" charset="0"/>
                <a:ea typeface="ヒラギノ角ゴ Pro W3"/>
                <a:cs typeface="ヒラギノ角ゴ Pro W3"/>
              </a:rPr>
              <a:t>Activities always happen in a context</a:t>
            </a:r>
            <a:r>
              <a:rPr lang="en-US" sz="1500" dirty="0" smtClean="0">
                <a:latin typeface="Verdana" pitchFamily="34" charset="0"/>
                <a:ea typeface="ヒラギノ角ゴ Pro W3"/>
                <a:cs typeface="ヒラギノ角ゴ Pro W3"/>
              </a:rPr>
              <a:t>, so there is a need to </a:t>
            </a:r>
            <a:r>
              <a:rPr lang="en-US" sz="1500" b="1" dirty="0" smtClean="0">
                <a:latin typeface="Verdana" pitchFamily="34" charset="0"/>
                <a:ea typeface="ヒラギノ角ゴ Pro W3"/>
                <a:cs typeface="ヒラギノ角ゴ Pro W3"/>
              </a:rPr>
              <a:t>analyze the two together</a:t>
            </a:r>
            <a:r>
              <a:rPr lang="en-US" sz="1500" dirty="0" smtClean="0">
                <a:latin typeface="Verdana" pitchFamily="34" charset="0"/>
                <a:ea typeface="ヒラギノ角ゴ Pro W3"/>
                <a:cs typeface="ヒラギノ角ゴ Pro W3"/>
              </a:rPr>
              <a:t>.</a:t>
            </a:r>
          </a:p>
          <a:p>
            <a:pPr algn="just" eaLnBrk="1" hangingPunct="1">
              <a:lnSpc>
                <a:spcPct val="150000"/>
              </a:lnSpc>
            </a:pPr>
            <a:r>
              <a:rPr lang="en-US" sz="1500" dirty="0" smtClean="0">
                <a:latin typeface="Verdana" pitchFamily="34" charset="0"/>
                <a:ea typeface="ヒラギノ角ゴ Pro W3"/>
                <a:cs typeface="ヒラギノ角ゴ Pro W3"/>
              </a:rPr>
              <a:t>Three useful </a:t>
            </a:r>
            <a:r>
              <a:rPr lang="en-US" sz="1500" b="1" dirty="0" smtClean="0">
                <a:latin typeface="Verdana" pitchFamily="34" charset="0"/>
                <a:ea typeface="ヒラギノ角ゴ Pro W3"/>
                <a:cs typeface="ヒラギノ角ゴ Pro W3"/>
              </a:rPr>
              <a:t>types of context </a:t>
            </a:r>
            <a:r>
              <a:rPr lang="en-US" sz="1500" dirty="0" smtClean="0">
                <a:latin typeface="Verdana" pitchFamily="34" charset="0"/>
                <a:ea typeface="ヒラギノ角ゴ Pro W3"/>
                <a:cs typeface="ヒラギノ角ゴ Pro W3"/>
              </a:rPr>
              <a:t>are distinguishable: </a:t>
            </a:r>
          </a:p>
          <a:p>
            <a:pPr lvl="1" algn="just" eaLnBrk="1" hangingPunct="1">
              <a:lnSpc>
                <a:spcPct val="150000"/>
              </a:lnSpc>
              <a:buFont typeface="Wingdings" panose="05000000000000000000" pitchFamily="2" charset="2"/>
              <a:buChar char="Ø"/>
            </a:pPr>
            <a:r>
              <a:rPr lang="en-US" sz="1500" dirty="0" smtClean="0">
                <a:latin typeface="Verdana" pitchFamily="34" charset="0"/>
                <a:ea typeface="ヒラギノ角ゴ Pro W3"/>
                <a:cs typeface="ヒラギノ角ゴ Pro W3"/>
              </a:rPr>
              <a:t>the organizational context</a:t>
            </a:r>
          </a:p>
          <a:p>
            <a:pPr lvl="1" algn="just" eaLnBrk="1" hangingPunct="1">
              <a:lnSpc>
                <a:spcPct val="150000"/>
              </a:lnSpc>
              <a:buFont typeface="Wingdings" panose="05000000000000000000" pitchFamily="2" charset="2"/>
              <a:buChar char="Ø"/>
            </a:pPr>
            <a:r>
              <a:rPr lang="en-US" sz="1500" dirty="0" smtClean="0">
                <a:latin typeface="Verdana" pitchFamily="34" charset="0"/>
                <a:ea typeface="ヒラギノ角ゴ Pro W3"/>
                <a:cs typeface="ヒラギノ角ゴ Pro W3"/>
              </a:rPr>
              <a:t>the social context </a:t>
            </a:r>
          </a:p>
          <a:p>
            <a:pPr lvl="1" algn="just" eaLnBrk="1" hangingPunct="1">
              <a:lnSpc>
                <a:spcPct val="150000"/>
              </a:lnSpc>
              <a:buFont typeface="Wingdings" panose="05000000000000000000" pitchFamily="2" charset="2"/>
              <a:buChar char="Ø"/>
            </a:pPr>
            <a:r>
              <a:rPr lang="en-US" sz="1500" dirty="0" smtClean="0">
                <a:latin typeface="Verdana" pitchFamily="34" charset="0"/>
                <a:ea typeface="ヒラギノ角ゴ Pro W3"/>
                <a:cs typeface="ヒラギノ角ゴ Pro W3"/>
              </a:rPr>
              <a:t>the physical circumstances under which the activity takes place</a:t>
            </a:r>
          </a:p>
          <a:p>
            <a:pPr algn="just" eaLnBrk="1" hangingPunct="1">
              <a:lnSpc>
                <a:spcPct val="150000"/>
              </a:lnSpc>
            </a:pPr>
            <a:r>
              <a:rPr lang="en-US" sz="1500" dirty="0" smtClean="0">
                <a:latin typeface="Verdana" pitchFamily="34" charset="0"/>
                <a:ea typeface="ヒラギノ角ゴ Pro W3"/>
                <a:cs typeface="ヒラギノ角ゴ Pro W3"/>
              </a:rPr>
              <a:t>Context can be a difficult term. </a:t>
            </a:r>
          </a:p>
          <a:p>
            <a:pPr algn="just" eaLnBrk="1" hangingPunct="1">
              <a:lnSpc>
                <a:spcPct val="150000"/>
              </a:lnSpc>
            </a:pPr>
            <a:r>
              <a:rPr lang="en-US" sz="1500" dirty="0" smtClean="0">
                <a:latin typeface="Verdana" pitchFamily="34" charset="0"/>
                <a:ea typeface="ヒラギノ角ゴ Pro W3"/>
                <a:cs typeface="ヒラギノ角ゴ Pro W3"/>
              </a:rPr>
              <a:t>Sometimes it is useful to </a:t>
            </a:r>
            <a:r>
              <a:rPr lang="en-US" sz="1500" b="1" dirty="0" smtClean="0">
                <a:latin typeface="Verdana" pitchFamily="34" charset="0"/>
                <a:ea typeface="ヒラギノ角ゴ Pro W3"/>
                <a:cs typeface="ヒラギノ角ゴ Pro W3"/>
              </a:rPr>
              <a:t>see context as surrounding an activity</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At other times it </a:t>
            </a:r>
            <a:r>
              <a:rPr lang="en-US" sz="1500" b="1" dirty="0" smtClean="0">
                <a:latin typeface="Verdana" pitchFamily="34" charset="0"/>
                <a:ea typeface="ヒラギノ角ゴ Pro W3"/>
                <a:cs typeface="ヒラギノ角ゴ Pro W3"/>
              </a:rPr>
              <a:t>can be seen as the features </a:t>
            </a:r>
            <a:r>
              <a:rPr lang="en-US" sz="1500" dirty="0" smtClean="0">
                <a:latin typeface="Verdana" pitchFamily="34" charset="0"/>
                <a:ea typeface="ヒラギノ角ゴ Pro W3"/>
                <a:cs typeface="ヒラギノ角ゴ Pro W3"/>
              </a:rPr>
              <a:t>that glue some activities together.</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p:cNvSpPr>
            <a:spLocks noGrp="1"/>
          </p:cNvSpPr>
          <p:nvPr>
            <p:ph type="title"/>
          </p:nvPr>
        </p:nvSpPr>
        <p:spPr>
          <a:xfrm>
            <a:off x="457200" y="112250"/>
            <a:ext cx="8229600" cy="796470"/>
          </a:xfrm>
        </p:spPr>
        <p:txBody>
          <a:bodyPr/>
          <a:lstStyle/>
          <a:p>
            <a:pPr eaLnBrk="1" hangingPunct="1"/>
            <a:r>
              <a:rPr lang="en-US" sz="1500" dirty="0" smtClean="0">
                <a:latin typeface="Verdana" pitchFamily="34" charset="0"/>
                <a:ea typeface="ヒラギノ角ゴ Pro W3"/>
                <a:cs typeface="ヒラギノ角ゴ Pro W3"/>
              </a:rPr>
              <a:t>Example</a:t>
            </a:r>
          </a:p>
        </p:txBody>
      </p:sp>
      <p:sp>
        <p:nvSpPr>
          <p:cNvPr id="45058" name="Text Placeholder 2"/>
          <p:cNvSpPr>
            <a:spLocks noGrp="1"/>
          </p:cNvSpPr>
          <p:nvPr>
            <p:ph type="body" idx="1"/>
          </p:nvPr>
        </p:nvSpPr>
        <p:spPr>
          <a:xfrm>
            <a:off x="467544" y="962356"/>
            <a:ext cx="8208912" cy="5346964"/>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For an activity such as ‘withdraw cash from an ATM’.</a:t>
            </a:r>
          </a:p>
          <a:p>
            <a:pPr algn="just" eaLnBrk="1" hangingPunct="1">
              <a:lnSpc>
                <a:spcPct val="200000"/>
              </a:lnSpc>
            </a:pPr>
            <a:r>
              <a:rPr lang="en-US" sz="1500" dirty="0" smtClean="0">
                <a:latin typeface="Verdana" pitchFamily="34" charset="0"/>
                <a:ea typeface="ヒラギノ角ゴ Pro W3"/>
                <a:cs typeface="ヒラギノ角ゴ Pro W3"/>
              </a:rPr>
              <a:t>An analysis of context would include things such as the </a:t>
            </a:r>
            <a:r>
              <a:rPr lang="en-US" sz="1500" b="1" dirty="0" smtClean="0">
                <a:latin typeface="Verdana" pitchFamily="34" charset="0"/>
                <a:ea typeface="ヒラギノ角ゴ Pro W3"/>
                <a:cs typeface="ヒラギノ角ゴ Pro W3"/>
              </a:rPr>
              <a:t>location of the device </a:t>
            </a:r>
            <a:r>
              <a:rPr lang="en-US" sz="1500" dirty="0" smtClean="0">
                <a:latin typeface="Verdana" pitchFamily="34" charset="0"/>
                <a:ea typeface="ヒラギノ角ゴ Pro W3"/>
                <a:cs typeface="ヒラギノ角ゴ Pro W3"/>
              </a:rPr>
              <a:t>(often as a ‘hole-in-the-wall’), the </a:t>
            </a:r>
            <a:r>
              <a:rPr lang="en-US" sz="1500" b="1" dirty="0" smtClean="0">
                <a:latin typeface="Verdana" pitchFamily="34" charset="0"/>
                <a:ea typeface="ヒラギノ角ゴ Pro W3"/>
                <a:cs typeface="ヒラギノ角ゴ Pro W3"/>
              </a:rPr>
              <a:t>effect of sunshine on the readability </a:t>
            </a:r>
            <a:r>
              <a:rPr lang="en-US" sz="1500" dirty="0" smtClean="0">
                <a:latin typeface="Verdana" pitchFamily="34" charset="0"/>
                <a:ea typeface="ヒラギノ角ゴ Pro W3"/>
                <a:cs typeface="ヒラギノ角ゴ Pro W3"/>
              </a:rPr>
              <a:t>of the display, and </a:t>
            </a:r>
            <a:r>
              <a:rPr lang="en-US" sz="1500" b="1" dirty="0" smtClean="0">
                <a:latin typeface="Verdana" pitchFamily="34" charset="0"/>
                <a:ea typeface="ヒラギノ角ゴ Pro W3"/>
                <a:cs typeface="ヒラギノ角ゴ Pro W3"/>
              </a:rPr>
              <a:t>security considerations</a:t>
            </a:r>
            <a:r>
              <a:rPr lang="en-US" sz="1500" dirty="0" smtClean="0">
                <a:latin typeface="Verdana" pitchFamily="34" charset="0"/>
                <a:ea typeface="ヒラギノ角ゴ Pro W3"/>
                <a:cs typeface="ヒラギノ角ゴ Pro W3"/>
              </a:rPr>
              <a:t>. </a:t>
            </a:r>
          </a:p>
          <a:p>
            <a:pPr algn="just" eaLnBrk="1" hangingPunct="1">
              <a:lnSpc>
                <a:spcPct val="200000"/>
              </a:lnSpc>
            </a:pPr>
            <a:r>
              <a:rPr lang="en-US" sz="1500" b="1" dirty="0" smtClean="0">
                <a:latin typeface="Verdana" pitchFamily="34" charset="0"/>
                <a:ea typeface="ヒラギノ角ゴ Pro W3"/>
                <a:cs typeface="ヒラギノ角ゴ Pro W3"/>
              </a:rPr>
              <a:t>Social considerations </a:t>
            </a:r>
            <a:r>
              <a:rPr lang="en-US" sz="1500" dirty="0" smtClean="0">
                <a:latin typeface="Verdana" pitchFamily="34" charset="0"/>
                <a:ea typeface="ヒラギノ角ゴ Pro W3"/>
                <a:cs typeface="ヒラギノ角ゴ Pro W3"/>
              </a:rPr>
              <a:t>would include the </a:t>
            </a:r>
            <a:r>
              <a:rPr lang="en-US" sz="1500" b="1" dirty="0" smtClean="0">
                <a:latin typeface="Verdana" pitchFamily="34" charset="0"/>
                <a:ea typeface="ヒラギノ角ゴ Pro W3"/>
                <a:cs typeface="ヒラギノ角ゴ Pro W3"/>
              </a:rPr>
              <a:t>time spent </a:t>
            </a:r>
            <a:r>
              <a:rPr lang="en-US" sz="1500" dirty="0" smtClean="0">
                <a:latin typeface="Verdana" pitchFamily="34" charset="0"/>
                <a:ea typeface="ヒラギノ角ゴ Pro W3"/>
                <a:cs typeface="ヒラギノ角ゴ Pro W3"/>
              </a:rPr>
              <a:t>on a transaction or the need to queue. </a:t>
            </a:r>
          </a:p>
          <a:p>
            <a:pPr algn="just" eaLnBrk="1" hangingPunct="1">
              <a:lnSpc>
                <a:spcPct val="20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organizational context </a:t>
            </a:r>
            <a:r>
              <a:rPr lang="en-US" sz="1500" dirty="0" smtClean="0">
                <a:latin typeface="Verdana" pitchFamily="34" charset="0"/>
                <a:ea typeface="ヒラギノ角ゴ Pro W3"/>
                <a:cs typeface="ヒラギノ角ゴ Pro W3"/>
              </a:rPr>
              <a:t>for this activity would take into consideration the </a:t>
            </a:r>
            <a:r>
              <a:rPr lang="en-US" sz="1500" b="1" dirty="0" smtClean="0">
                <a:latin typeface="Verdana" pitchFamily="34" charset="0"/>
                <a:ea typeface="ヒラギノ角ゴ Pro W3"/>
                <a:cs typeface="ヒラギノ角ゴ Pro W3"/>
              </a:rPr>
              <a:t>impact on the bank’s ways of working </a:t>
            </a:r>
            <a:r>
              <a:rPr lang="en-US" sz="1500" dirty="0" smtClean="0">
                <a:latin typeface="Verdana" pitchFamily="34" charset="0"/>
                <a:ea typeface="ヒラギノ角ゴ Pro W3"/>
                <a:cs typeface="ヒラギノ角ゴ Pro W3"/>
              </a:rPr>
              <a:t>and </a:t>
            </a:r>
            <a:r>
              <a:rPr lang="en-US" sz="1500" b="1" dirty="0" smtClean="0">
                <a:latin typeface="Verdana" pitchFamily="34" charset="0"/>
                <a:ea typeface="ヒラギノ角ゴ Pro W3"/>
                <a:cs typeface="ヒラギノ角ゴ Pro W3"/>
              </a:rPr>
              <a:t>its relationships with its customers. </a:t>
            </a:r>
          </a:p>
          <a:p>
            <a:pPr algn="just" eaLnBrk="1" hangingPunct="1">
              <a:lnSpc>
                <a:spcPct val="200000"/>
              </a:lnSpc>
            </a:pPr>
            <a:r>
              <a:rPr lang="en-US" sz="1500" dirty="0" smtClean="0">
                <a:latin typeface="Verdana" pitchFamily="34" charset="0"/>
                <a:ea typeface="ヒラギノ角ゴ Pro W3"/>
                <a:cs typeface="ヒラギノ角ゴ Pro W3"/>
              </a:rPr>
              <a:t>It is important to </a:t>
            </a:r>
            <a:r>
              <a:rPr lang="en-US" sz="1500" b="1" dirty="0" smtClean="0">
                <a:latin typeface="Verdana" pitchFamily="34" charset="0"/>
                <a:ea typeface="ヒラギノ角ゴ Pro W3"/>
                <a:cs typeface="ヒラギノ角ゴ Pro W3"/>
              </a:rPr>
              <a:t>consider the range of contexts and environments </a:t>
            </a:r>
            <a:r>
              <a:rPr lang="en-US" sz="1500" dirty="0" smtClean="0">
                <a:latin typeface="Verdana" pitchFamily="34" charset="0"/>
                <a:ea typeface="ヒラギノ角ゴ Pro W3"/>
                <a:cs typeface="ヒラギノ角ゴ Pro W3"/>
              </a:rPr>
              <a:t>in which activities can take place.</a:t>
            </a: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Physical environment</a:t>
            </a:r>
          </a:p>
        </p:txBody>
      </p:sp>
      <p:sp>
        <p:nvSpPr>
          <p:cNvPr id="46082" name="Text Placeholder 2"/>
          <p:cNvSpPr>
            <a:spLocks noGrp="1"/>
          </p:cNvSpPr>
          <p:nvPr>
            <p:ph type="body" idx="1"/>
          </p:nvPr>
        </p:nvSpPr>
        <p:spPr>
          <a:xfrm>
            <a:off x="457200" y="1417638"/>
            <a:ext cx="8229600" cy="4525963"/>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physical environment in which an activity</a:t>
            </a:r>
            <a:r>
              <a:rPr lang="en-US" sz="1500" dirty="0" smtClean="0">
                <a:latin typeface="Verdana" pitchFamily="34" charset="0"/>
                <a:ea typeface="ヒラギノ角ゴ Pro W3"/>
                <a:cs typeface="ヒラギノ角ゴ Pro W3"/>
              </a:rPr>
              <a:t> happens is important. </a:t>
            </a:r>
          </a:p>
          <a:p>
            <a:pPr algn="just" eaLnBrk="1" hangingPunct="1">
              <a:lnSpc>
                <a:spcPct val="200000"/>
              </a:lnSpc>
            </a:pPr>
            <a:r>
              <a:rPr lang="en-US" sz="1500" dirty="0" smtClean="0">
                <a:latin typeface="Verdana" pitchFamily="34" charset="0"/>
                <a:ea typeface="ヒラギノ角ゴ Pro W3"/>
                <a:cs typeface="ヒラギノ角ゴ Pro W3"/>
              </a:rPr>
              <a:t>For example, the </a:t>
            </a:r>
            <a:r>
              <a:rPr lang="en-US" sz="1500" b="1" dirty="0" smtClean="0">
                <a:latin typeface="Verdana" pitchFamily="34" charset="0"/>
                <a:ea typeface="ヒラギノ角ゴ Pro W3"/>
                <a:cs typeface="ヒラギノ角ゴ Pro W3"/>
              </a:rPr>
              <a:t>sun shining on an ATM display </a:t>
            </a:r>
            <a:r>
              <a:rPr lang="en-US" sz="1500" dirty="0" smtClean="0">
                <a:latin typeface="Verdana" pitchFamily="34" charset="0"/>
                <a:ea typeface="ヒラギノ角ゴ Pro W3"/>
                <a:cs typeface="ヒラギノ角ゴ Pro W3"/>
              </a:rPr>
              <a:t>may make it unreadable. </a:t>
            </a:r>
          </a:p>
          <a:p>
            <a:pPr algn="just" eaLnBrk="1" hangingPunct="1">
              <a:lnSpc>
                <a:spcPct val="200000"/>
              </a:lnSpc>
            </a:pPr>
            <a:r>
              <a:rPr lang="en-US" sz="1500" dirty="0" smtClean="0">
                <a:latin typeface="Verdana" pitchFamily="34" charset="0"/>
                <a:ea typeface="ヒラギノ角ゴ Pro W3"/>
                <a:cs typeface="ヒラギノ角ゴ Pro W3"/>
              </a:rPr>
              <a:t>The environment may be very </a:t>
            </a:r>
            <a:r>
              <a:rPr lang="en-US" sz="1500" b="1" dirty="0" smtClean="0">
                <a:latin typeface="Verdana" pitchFamily="34" charset="0"/>
                <a:ea typeface="ヒラギノ角ゴ Pro W3"/>
                <a:cs typeface="ヒラギノ角ゴ Pro W3"/>
              </a:rPr>
              <a:t>noisy, cold, wet, or dirty</a:t>
            </a:r>
            <a:r>
              <a:rPr lang="en-US" sz="1500" dirty="0" smtClean="0">
                <a:latin typeface="Verdana" pitchFamily="34" charset="0"/>
                <a:ea typeface="ヒラギノ角ゴ Pro W3"/>
                <a:cs typeface="ヒラギノ角ゴ Pro W3"/>
              </a:rPr>
              <a:t>. </a:t>
            </a:r>
          </a:p>
          <a:p>
            <a:pPr algn="just" eaLnBrk="1" hangingPunct="1">
              <a:lnSpc>
                <a:spcPct val="200000"/>
              </a:lnSpc>
            </a:pPr>
            <a:r>
              <a:rPr lang="en-US" sz="1500" dirty="0" smtClean="0">
                <a:latin typeface="Verdana" pitchFamily="34" charset="0"/>
                <a:ea typeface="ヒラギノ角ゴ Pro W3"/>
                <a:cs typeface="ヒラギノ角ゴ Pro W3"/>
              </a:rPr>
              <a:t>The same activity – for example, </a:t>
            </a:r>
            <a:r>
              <a:rPr lang="en-US" sz="1500" b="1" dirty="0" smtClean="0">
                <a:latin typeface="Verdana" pitchFamily="34" charset="0"/>
                <a:ea typeface="ヒラギノ角ゴ Pro W3"/>
                <a:cs typeface="ヒラギノ角ゴ Pro W3"/>
              </a:rPr>
              <a:t>logging on to a website </a:t>
            </a:r>
            <a:r>
              <a:rPr lang="en-US" sz="1500" dirty="0" smtClean="0">
                <a:latin typeface="Verdana" pitchFamily="34" charset="0"/>
                <a:ea typeface="ヒラギノ角ゴ Pro W3"/>
                <a:cs typeface="ヒラギノ角ゴ Pro W3"/>
              </a:rPr>
              <a:t>– may be carried out in geographically </a:t>
            </a:r>
            <a:r>
              <a:rPr lang="en-US" sz="1500" b="1" dirty="0" smtClean="0">
                <a:latin typeface="Verdana" pitchFamily="34" charset="0"/>
                <a:ea typeface="ヒラギノ角ゴ Pro W3"/>
                <a:cs typeface="ヒラギノ角ゴ Pro W3"/>
              </a:rPr>
              <a:t>remote environments </a:t>
            </a:r>
            <a:r>
              <a:rPr lang="en-US" sz="1500" dirty="0" smtClean="0">
                <a:latin typeface="Verdana" pitchFamily="34" charset="0"/>
                <a:ea typeface="ヒラギノ角ゴ Pro W3"/>
                <a:cs typeface="ヒラギノ角ゴ Pro W3"/>
              </a:rPr>
              <a:t>where Internet access is slow, or with </a:t>
            </a:r>
            <a:r>
              <a:rPr lang="en-US" sz="1500" b="1" dirty="0" smtClean="0">
                <a:latin typeface="Verdana" pitchFamily="34" charset="0"/>
                <a:ea typeface="ヒラギノ角ゴ Pro W3"/>
                <a:cs typeface="ヒラギノ角ゴ Pro W3"/>
              </a:rPr>
              <a:t>all the facilities of a large city and fast networks</a:t>
            </a:r>
            <a:r>
              <a:rPr lang="en-US" sz="15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p:cNvSpPr>
            <a:spLocks noGrp="1"/>
          </p:cNvSpPr>
          <p:nvPr>
            <p:ph type="title"/>
          </p:nvPr>
        </p:nvSpPr>
        <p:spPr>
          <a:xfrm>
            <a:off x="323528" y="274638"/>
            <a:ext cx="8229600" cy="1143000"/>
          </a:xfrm>
        </p:spPr>
        <p:txBody>
          <a:bodyPr/>
          <a:lstStyle/>
          <a:p>
            <a:pPr eaLnBrk="1" hangingPunct="1"/>
            <a:r>
              <a:rPr lang="en-US" sz="1500" dirty="0" smtClean="0">
                <a:latin typeface="Verdana" pitchFamily="34" charset="0"/>
                <a:ea typeface="ヒラギノ角ゴ Pro W3"/>
                <a:cs typeface="ヒラギノ角ゴ Pro W3"/>
              </a:rPr>
              <a:t>Social context</a:t>
            </a:r>
          </a:p>
        </p:txBody>
      </p:sp>
      <p:sp>
        <p:nvSpPr>
          <p:cNvPr id="47106" name="Text Placeholder 2"/>
          <p:cNvSpPr>
            <a:spLocks noGrp="1"/>
          </p:cNvSpPr>
          <p:nvPr>
            <p:ph type="body" idx="1"/>
          </p:nvPr>
        </p:nvSpPr>
        <p:spPr>
          <a:xfrm>
            <a:off x="478191" y="1438420"/>
            <a:ext cx="8095928"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The social context within which the activity takes place is also important. </a:t>
            </a:r>
          </a:p>
          <a:p>
            <a:pPr algn="just" eaLnBrk="1" hangingPunct="1">
              <a:lnSpc>
                <a:spcPct val="15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supportive environment will offer plenty of help </a:t>
            </a:r>
            <a:r>
              <a:rPr lang="en-US" sz="1500" dirty="0" smtClean="0">
                <a:latin typeface="Verdana" pitchFamily="34" charset="0"/>
                <a:ea typeface="ヒラギノ角ゴ Pro W3"/>
                <a:cs typeface="ヒラギノ角ゴ Pro W3"/>
              </a:rPr>
              <a:t>for the activity. </a:t>
            </a:r>
          </a:p>
          <a:p>
            <a:pPr algn="just" eaLnBrk="1" hangingPunct="1">
              <a:lnSpc>
                <a:spcPct val="150000"/>
              </a:lnSpc>
            </a:pPr>
            <a:r>
              <a:rPr lang="en-US" sz="1500" dirty="0" smtClean="0">
                <a:latin typeface="Verdana" pitchFamily="34" charset="0"/>
                <a:ea typeface="ヒラギノ角ゴ Pro W3"/>
                <a:cs typeface="ヒラギノ角ゴ Pro W3"/>
              </a:rPr>
              <a:t>There may be training </a:t>
            </a:r>
            <a:r>
              <a:rPr lang="en-US" sz="1500" b="1" dirty="0" smtClean="0">
                <a:latin typeface="Verdana" pitchFamily="34" charset="0"/>
                <a:ea typeface="ヒラギノ角ゴ Pro W3"/>
                <a:cs typeface="ヒラギノ角ゴ Pro W3"/>
              </a:rPr>
              <a:t>manuals available, tuition or experts to hand </a:t>
            </a:r>
            <a:r>
              <a:rPr lang="en-US" sz="1500" dirty="0" smtClean="0">
                <a:latin typeface="Verdana" pitchFamily="34" charset="0"/>
                <a:ea typeface="ヒラギノ角ゴ Pro W3"/>
                <a:cs typeface="ヒラギノ角ゴ Pro W3"/>
              </a:rPr>
              <a:t>if people get into trouble. </a:t>
            </a:r>
          </a:p>
          <a:p>
            <a:pPr algn="just" eaLnBrk="1" hangingPunct="1">
              <a:lnSpc>
                <a:spcPct val="150000"/>
              </a:lnSpc>
            </a:pPr>
            <a:r>
              <a:rPr lang="en-US" sz="1500" dirty="0" smtClean="0">
                <a:latin typeface="Verdana" pitchFamily="34" charset="0"/>
                <a:ea typeface="ヒラギノ角ゴ Pro W3"/>
                <a:cs typeface="ヒラギノ角ゴ Pro W3"/>
              </a:rPr>
              <a:t>There may be </a:t>
            </a:r>
            <a:r>
              <a:rPr lang="en-US" sz="1500" b="1" dirty="0" smtClean="0">
                <a:latin typeface="Verdana" pitchFamily="34" charset="0"/>
                <a:ea typeface="ヒラギノ角ゴ Pro W3"/>
                <a:cs typeface="ヒラギノ角ゴ Pro W3"/>
              </a:rPr>
              <a:t>privacy issues</a:t>
            </a:r>
            <a:r>
              <a:rPr lang="en-US" sz="1500" dirty="0" smtClean="0">
                <a:latin typeface="Verdana" pitchFamily="34" charset="0"/>
                <a:ea typeface="ヒラギノ角ゴ Pro W3"/>
                <a:cs typeface="ヒラギノ角ゴ Pro W3"/>
              </a:rPr>
              <a:t> to consider, and an </a:t>
            </a:r>
            <a:r>
              <a:rPr lang="en-US" sz="1500" b="1" dirty="0" smtClean="0">
                <a:latin typeface="Verdana" pitchFamily="34" charset="0"/>
                <a:ea typeface="ヒラギノ角ゴ Pro W3"/>
                <a:cs typeface="ヒラギノ角ゴ Pro W3"/>
              </a:rPr>
              <a:t>interaction</a:t>
            </a:r>
            <a:r>
              <a:rPr lang="en-US" sz="1500" dirty="0" smtClean="0">
                <a:latin typeface="Verdana" pitchFamily="34" charset="0"/>
                <a:ea typeface="ヒラギノ角ゴ Pro W3"/>
                <a:cs typeface="ヒラギノ角ゴ Pro W3"/>
              </a:rPr>
              <a:t> can be very </a:t>
            </a:r>
            <a:r>
              <a:rPr lang="en-US" sz="1500" b="1" dirty="0" smtClean="0">
                <a:latin typeface="Verdana" pitchFamily="34" charset="0"/>
                <a:ea typeface="ヒラギノ角ゴ Pro W3"/>
                <a:cs typeface="ヒラギノ角ゴ Pro W3"/>
              </a:rPr>
              <a:t>different</a:t>
            </a:r>
            <a:r>
              <a:rPr lang="en-US" sz="1500" dirty="0" smtClean="0">
                <a:latin typeface="Verdana" pitchFamily="34" charset="0"/>
                <a:ea typeface="ヒラギノ角ゴ Pro W3"/>
                <a:cs typeface="ヒラギノ角ゴ Pro W3"/>
              </a:rPr>
              <a:t> if the person is alone than if they are with others. </a:t>
            </a:r>
          </a:p>
          <a:p>
            <a:pPr algn="just" eaLnBrk="1" hangingPunct="1">
              <a:lnSpc>
                <a:spcPct val="150000"/>
              </a:lnSpc>
            </a:pPr>
            <a:r>
              <a:rPr lang="en-US" sz="1500" b="1" dirty="0" smtClean="0">
                <a:latin typeface="Verdana" pitchFamily="34" charset="0"/>
                <a:ea typeface="ヒラギノ角ゴ Pro W3"/>
                <a:cs typeface="ヒラギノ角ゴ Pro W3"/>
              </a:rPr>
              <a:t>Social norms </a:t>
            </a:r>
            <a:r>
              <a:rPr lang="en-US" sz="1500" dirty="0" smtClean="0">
                <a:latin typeface="Verdana" pitchFamily="34" charset="0"/>
                <a:ea typeface="ヒラギノ角ゴ Pro W3"/>
                <a:cs typeface="ヒラギノ角ゴ Pro W3"/>
              </a:rPr>
              <a:t>may dictate the acceptability of certain designs. </a:t>
            </a:r>
          </a:p>
          <a:p>
            <a:pPr algn="just" eaLnBrk="1" hangingPunct="1">
              <a:lnSpc>
                <a:spcPct val="150000"/>
              </a:lnSpc>
            </a:pPr>
            <a:r>
              <a:rPr lang="en-US" sz="1500" b="1" dirty="0" smtClean="0">
                <a:latin typeface="Verdana" pitchFamily="34" charset="0"/>
                <a:ea typeface="ヒラギノ角ゴ Pro W3"/>
                <a:cs typeface="ヒラギノ角ゴ Pro W3"/>
              </a:rPr>
              <a:t>For example</a:t>
            </a:r>
            <a:r>
              <a:rPr lang="en-US" sz="1500" dirty="0" smtClean="0">
                <a:latin typeface="Verdana" pitchFamily="34" charset="0"/>
                <a:ea typeface="ヒラギノ角ゴ Pro W3"/>
                <a:cs typeface="ヒラギノ角ゴ Pro W3"/>
              </a:rPr>
              <a:t>, the use of </a:t>
            </a:r>
            <a:r>
              <a:rPr lang="en-US" sz="1500" b="1" dirty="0" smtClean="0">
                <a:latin typeface="Verdana" pitchFamily="34" charset="0"/>
                <a:ea typeface="ヒラギノ角ゴ Pro W3"/>
                <a:cs typeface="ヒラギノ角ゴ Pro W3"/>
              </a:rPr>
              <a:t>sound output </a:t>
            </a:r>
            <a:r>
              <a:rPr lang="en-US" sz="1500" dirty="0" smtClean="0">
                <a:latin typeface="Verdana" pitchFamily="34" charset="0"/>
                <a:ea typeface="ヒラギノ角ゴ Pro W3"/>
                <a:cs typeface="ヒラギノ角ゴ Pro W3"/>
              </a:rPr>
              <a:t>is often unacceptable in an open-plan office environment, but might be quite effective where a person is working alone.</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itle 1"/>
          <p:cNvSpPr>
            <a:spLocks noGrp="1"/>
          </p:cNvSpPr>
          <p:nvPr>
            <p:ph type="title"/>
          </p:nvPr>
        </p:nvSpPr>
        <p:spPr>
          <a:xfrm>
            <a:off x="534380" y="355312"/>
            <a:ext cx="8229600" cy="1143000"/>
          </a:xfrm>
        </p:spPr>
        <p:txBody>
          <a:bodyPr/>
          <a:lstStyle/>
          <a:p>
            <a:pPr eaLnBrk="1" hangingPunct="1"/>
            <a:r>
              <a:rPr lang="en-US" sz="1500" dirty="0" smtClean="0">
                <a:latin typeface="Verdana" pitchFamily="34" charset="0"/>
                <a:ea typeface="ヒラギノ角ゴ Pro W3"/>
                <a:cs typeface="ヒラギノ角ゴ Pro W3"/>
              </a:rPr>
              <a:t>Organizational context</a:t>
            </a:r>
          </a:p>
        </p:txBody>
      </p:sp>
      <p:sp>
        <p:nvSpPr>
          <p:cNvPr id="48130" name="Text Placeholder 2"/>
          <p:cNvSpPr>
            <a:spLocks noGrp="1"/>
          </p:cNvSpPr>
          <p:nvPr>
            <p:ph type="body" idx="1"/>
          </p:nvPr>
        </p:nvSpPr>
        <p:spPr>
          <a:xfrm>
            <a:off x="611560" y="1417638"/>
            <a:ext cx="8075240" cy="4525963"/>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Finally the organizational context is important as </a:t>
            </a:r>
            <a:r>
              <a:rPr lang="en-US" sz="1500" b="1" dirty="0" smtClean="0">
                <a:latin typeface="Verdana" pitchFamily="34" charset="0"/>
                <a:ea typeface="ヒラギノ角ゴ Pro W3"/>
                <a:cs typeface="ヒラギノ角ゴ Pro W3"/>
              </a:rPr>
              <a:t>changes in technology </a:t>
            </a:r>
            <a:r>
              <a:rPr lang="en-US" sz="1500" dirty="0" smtClean="0">
                <a:latin typeface="Verdana" pitchFamily="34" charset="0"/>
                <a:ea typeface="ヒラギノ角ゴ Pro W3"/>
                <a:cs typeface="ヒラギノ角ゴ Pro W3"/>
              </a:rPr>
              <a:t>often </a:t>
            </a:r>
            <a:r>
              <a:rPr lang="en-US" sz="1500" b="1" dirty="0" smtClean="0">
                <a:latin typeface="Verdana" pitchFamily="34" charset="0"/>
                <a:ea typeface="ヒラギノ角ゴ Pro W3"/>
                <a:cs typeface="ヒラギノ角ゴ Pro W3"/>
              </a:rPr>
              <a:t>alter communication and power structures</a:t>
            </a:r>
            <a:r>
              <a:rPr lang="en-US" sz="1500" dirty="0" smtClean="0">
                <a:latin typeface="Verdana" pitchFamily="34" charset="0"/>
                <a:ea typeface="ヒラギノ角ゴ Pro W3"/>
                <a:cs typeface="ヒラギノ角ゴ Pro W3"/>
              </a:rPr>
              <a:t> and may have effects on jobs such as de-skilling. </a:t>
            </a:r>
          </a:p>
          <a:p>
            <a:pPr algn="just" eaLnBrk="1" hangingPunct="1">
              <a:lnSpc>
                <a:spcPct val="200000"/>
              </a:lnSpc>
            </a:pPr>
            <a:r>
              <a:rPr lang="en-US" sz="1500" dirty="0" smtClean="0">
                <a:latin typeface="Verdana" pitchFamily="34" charset="0"/>
                <a:ea typeface="ヒラギノ角ゴ Pro W3"/>
                <a:cs typeface="ヒラギノ角ゴ Pro W3"/>
              </a:rPr>
              <a:t>There are many books devoted to the study of organizations and the impact of new technologies on organizations. We cannot do justice to this subject here. </a:t>
            </a:r>
          </a:p>
          <a:p>
            <a:pPr algn="just" eaLnBrk="1" hangingPunct="1">
              <a:lnSpc>
                <a:spcPct val="20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circumstances under which activities happen </a:t>
            </a:r>
            <a:r>
              <a:rPr lang="en-US" sz="1500" dirty="0" smtClean="0">
                <a:latin typeface="Verdana" pitchFamily="34" charset="0"/>
                <a:ea typeface="ヒラギノ角ゴ Pro W3"/>
                <a:cs typeface="ヒラギノ角ゴ Pro W3"/>
              </a:rPr>
              <a:t>(time, place, and so on) also vary widely and need to be taken into consideration.</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Interface plasticity (flexibility)</a:t>
            </a:r>
          </a:p>
        </p:txBody>
      </p:sp>
      <p:sp>
        <p:nvSpPr>
          <p:cNvPr id="49154" name="Text Placeholder 2"/>
          <p:cNvSpPr>
            <a:spLocks noGrp="1"/>
          </p:cNvSpPr>
          <p:nvPr>
            <p:ph type="body" idx="1"/>
          </p:nvPr>
        </p:nvSpPr>
        <p:spPr>
          <a:xfrm>
            <a:off x="432048" y="1417638"/>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Joelle Coutaz and her colleagues (Coutaz and Calvary, 2008) present the </a:t>
            </a:r>
            <a:r>
              <a:rPr lang="en-US" sz="1500" b="1" dirty="0" smtClean="0">
                <a:latin typeface="Verdana" pitchFamily="34" charset="0"/>
                <a:ea typeface="ヒラギノ角ゴ Pro W3"/>
                <a:cs typeface="ヒラギノ角ゴ Pro W3"/>
              </a:rPr>
              <a:t>idea of designing for interface plasticity. </a:t>
            </a:r>
          </a:p>
          <a:p>
            <a:pPr algn="just" eaLnBrk="1" hangingPunct="1">
              <a:lnSpc>
                <a:spcPct val="150000"/>
              </a:lnSpc>
            </a:pPr>
            <a:r>
              <a:rPr lang="en-US" sz="1500" b="1" dirty="0" smtClean="0">
                <a:latin typeface="Verdana" pitchFamily="34" charset="0"/>
                <a:ea typeface="ヒラギノ角ゴ Pro W3"/>
                <a:cs typeface="ヒラギノ角ゴ Pro W3"/>
              </a:rPr>
              <a:t>These are interfaces that adapt to different contexts</a:t>
            </a:r>
            <a:r>
              <a:rPr lang="en-US" sz="1500" dirty="0" smtClean="0">
                <a:latin typeface="Verdana" pitchFamily="34" charset="0"/>
                <a:ea typeface="ヒラギノ角ゴ Pro W3"/>
                <a:cs typeface="ヒラギノ角ゴ Pro W3"/>
              </a:rPr>
              <a:t>, for example </a:t>
            </a:r>
            <a:r>
              <a:rPr lang="en-US" sz="1500" b="1" dirty="0" smtClean="0">
                <a:latin typeface="Verdana" pitchFamily="34" charset="0"/>
                <a:ea typeface="ヒラギノ角ゴ Pro W3"/>
                <a:cs typeface="ヒラギノ角ゴ Pro W3"/>
              </a:rPr>
              <a:t>adapting a display of a heating controller from a display on the TV to a display on a small mobile device.</a:t>
            </a:r>
          </a:p>
          <a:p>
            <a:pPr algn="just" eaLnBrk="1" hangingPunct="1">
              <a:lnSpc>
                <a:spcPct val="150000"/>
              </a:lnSpc>
            </a:pPr>
            <a:r>
              <a:rPr lang="en-US" sz="1500" dirty="0" smtClean="0">
                <a:latin typeface="Verdana" pitchFamily="34" charset="0"/>
                <a:ea typeface="ヒラギノ角ゴ Pro W3"/>
                <a:cs typeface="ヒラギノ角ゴ Pro W3"/>
              </a:rPr>
              <a:t>Importantly they tie this in with the idea of </a:t>
            </a:r>
            <a:r>
              <a:rPr lang="en-US" sz="1500" b="1" dirty="0" smtClean="0">
                <a:latin typeface="Verdana" pitchFamily="34" charset="0"/>
                <a:ea typeface="ヒラギノ角ゴ Pro W3"/>
                <a:cs typeface="ヒラギノ角ゴ Pro W3"/>
              </a:rPr>
              <a:t>designing for specific values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Designers should explicitly address the values </a:t>
            </a:r>
            <a:r>
              <a:rPr lang="en-US" sz="1500" dirty="0" smtClean="0">
                <a:latin typeface="Verdana" pitchFamily="34" charset="0"/>
                <a:ea typeface="ヒラギノ角ゴ Pro W3"/>
                <a:cs typeface="ヒラギノ角ゴ Pro W3"/>
              </a:rPr>
              <a:t>that are being sought for people in a specific context.</a:t>
            </a:r>
          </a:p>
          <a:p>
            <a:pPr algn="just" eaLnBrk="1" hangingPunct="1">
              <a:lnSpc>
                <a:spcPct val="150000"/>
              </a:lnSpc>
            </a:pPr>
            <a:r>
              <a:rPr lang="en-US" sz="1500" b="1" dirty="0" smtClean="0">
                <a:latin typeface="Verdana" pitchFamily="34" charset="0"/>
                <a:ea typeface="ヒラギノ角ゴ Pro W3"/>
                <a:cs typeface="ヒラギノ角ゴ Pro W3"/>
              </a:rPr>
              <a:t>The interface should be designed to achieve </a:t>
            </a:r>
            <a:r>
              <a:rPr lang="en-US" sz="1500" dirty="0" smtClean="0">
                <a:latin typeface="Verdana" pitchFamily="34" charset="0"/>
                <a:ea typeface="ヒラギノ角ゴ Pro W3"/>
                <a:cs typeface="ヒラギノ角ゴ Pro W3"/>
              </a:rPr>
              <a:t>the required values in the required contexts of use</a:t>
            </a:r>
          </a:p>
          <a:p>
            <a:pPr marL="400050" lvl="1" indent="0" algn="just" eaLnBrk="1" hangingPunct="1">
              <a:lnSpc>
                <a:spcPct val="150000"/>
              </a:lnSpc>
              <a:buNone/>
            </a:pPr>
            <a:r>
              <a:rPr lang="en-US" sz="1400" dirty="0" smtClean="0">
                <a:solidFill>
                  <a:srgbClr val="00B050"/>
                </a:solidFill>
                <a:latin typeface="Verdana" pitchFamily="34" charset="0"/>
                <a:ea typeface="ヒラギノ角ゴ Pro W3"/>
                <a:cs typeface="ヒラギノ角ゴ Pro W3"/>
              </a:rPr>
              <a:t>e.g.: watching security camera via cellphone anywhere in world</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itle 1"/>
          <p:cNvSpPr>
            <a:spLocks noGrp="1"/>
          </p:cNvSpPr>
          <p:nvPr>
            <p:ph type="title"/>
          </p:nvPr>
        </p:nvSpPr>
        <p:spPr>
          <a:xfrm>
            <a:off x="457200" y="274638"/>
            <a:ext cx="8229600" cy="1057537"/>
          </a:xfrm>
        </p:spPr>
        <p:txBody>
          <a:bodyPr/>
          <a:lstStyle/>
          <a:p>
            <a:pPr eaLnBrk="1" hangingPunct="1"/>
            <a:r>
              <a:rPr lang="en-US" sz="2500" b="1" dirty="0" smtClean="0">
                <a:solidFill>
                  <a:srgbClr val="0070C0"/>
                </a:solidFill>
                <a:latin typeface="Verdana" pitchFamily="34" charset="0"/>
                <a:ea typeface="ヒラギノ角ゴ Pro W3"/>
                <a:cs typeface="ヒラギノ角ゴ Pro W3"/>
              </a:rPr>
              <a:t>Technologies</a:t>
            </a:r>
          </a:p>
        </p:txBody>
      </p:sp>
      <p:sp>
        <p:nvSpPr>
          <p:cNvPr id="50178" name="Text Placeholder 2"/>
          <p:cNvSpPr>
            <a:spLocks noGrp="1"/>
          </p:cNvSpPr>
          <p:nvPr>
            <p:ph type="body" idx="1"/>
          </p:nvPr>
        </p:nvSpPr>
        <p:spPr>
          <a:xfrm>
            <a:off x="457200" y="1423317"/>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The final part of the PACT framework is the technologies; the medium that interactive system designers work with. </a:t>
            </a:r>
          </a:p>
          <a:p>
            <a:pPr algn="just" eaLnBrk="1" hangingPunct="1">
              <a:lnSpc>
                <a:spcPct val="150000"/>
              </a:lnSpc>
            </a:pPr>
            <a:r>
              <a:rPr lang="en-US" sz="1500" dirty="0" smtClean="0">
                <a:latin typeface="Verdana" pitchFamily="34" charset="0"/>
                <a:ea typeface="ヒラギノ角ゴ Pro W3"/>
                <a:cs typeface="ヒラギノ角ゴ Pro W3"/>
              </a:rPr>
              <a:t>Interactive systems typically </a:t>
            </a:r>
            <a:r>
              <a:rPr lang="en-US" sz="1500" b="1" dirty="0" smtClean="0">
                <a:latin typeface="Verdana" pitchFamily="34" charset="0"/>
                <a:ea typeface="ヒラギノ角ゴ Pro W3"/>
                <a:cs typeface="ヒラギノ角ゴ Pro W3"/>
              </a:rPr>
              <a:t>consist of hardware and software components </a:t>
            </a:r>
            <a:r>
              <a:rPr lang="en-US" sz="1500" dirty="0" smtClean="0">
                <a:latin typeface="Verdana" pitchFamily="34" charset="0"/>
                <a:ea typeface="ヒラギノ角ゴ Pro W3"/>
                <a:cs typeface="ヒラギノ角ゴ Pro W3"/>
              </a:rPr>
              <a:t>that communicate with one another and transform some input data into some output data. </a:t>
            </a:r>
          </a:p>
          <a:p>
            <a:pPr algn="just" eaLnBrk="1" hangingPunct="1">
              <a:lnSpc>
                <a:spcPct val="150000"/>
              </a:lnSpc>
            </a:pPr>
            <a:r>
              <a:rPr lang="en-US" sz="1500" dirty="0" smtClean="0">
                <a:latin typeface="Verdana" pitchFamily="34" charset="0"/>
                <a:ea typeface="ヒラギノ角ゴ Pro W3"/>
                <a:cs typeface="ヒラギノ角ゴ Pro W3"/>
              </a:rPr>
              <a:t>Interactive systems can </a:t>
            </a:r>
            <a:r>
              <a:rPr lang="en-US" sz="1500" b="1" dirty="0" smtClean="0">
                <a:latin typeface="Verdana" pitchFamily="34" charset="0"/>
                <a:ea typeface="ヒラギノ角ゴ Pro W3"/>
                <a:cs typeface="ヒラギノ角ゴ Pro W3"/>
              </a:rPr>
              <a:t>perform various functions and typically contain a good deal of data, or information content</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People using such systems </a:t>
            </a:r>
            <a:r>
              <a:rPr lang="en-US" sz="1500" b="1" dirty="0" smtClean="0">
                <a:latin typeface="Verdana" pitchFamily="34" charset="0"/>
                <a:ea typeface="ヒラギノ角ゴ Pro W3"/>
                <a:cs typeface="ヒラギノ角ゴ Pro W3"/>
              </a:rPr>
              <a:t>engage in interactions </a:t>
            </a:r>
            <a:r>
              <a:rPr lang="en-US" sz="1500" dirty="0" smtClean="0">
                <a:latin typeface="Verdana" pitchFamily="34" charset="0"/>
                <a:ea typeface="ヒラギノ角ゴ Pro W3"/>
                <a:cs typeface="ヒラギノ角ゴ Pro W3"/>
              </a:rPr>
              <a:t>and physically devices have </a:t>
            </a:r>
            <a:r>
              <a:rPr lang="en-US" sz="1500" b="1" dirty="0" smtClean="0">
                <a:latin typeface="Verdana" pitchFamily="34" charset="0"/>
                <a:ea typeface="ヒラギノ角ゴ Pro W3"/>
                <a:cs typeface="ヒラギノ角ゴ Pro W3"/>
              </a:rPr>
              <a:t>various degrees of style and aesthetics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Designers of interactive systems </a:t>
            </a:r>
            <a:r>
              <a:rPr lang="en-US" sz="1500" b="1" dirty="0" smtClean="0">
                <a:latin typeface="Verdana" pitchFamily="34" charset="0"/>
                <a:ea typeface="ヒラギノ角ゴ Pro W3"/>
                <a:cs typeface="ヒラギノ角ゴ Pro W3"/>
              </a:rPr>
              <a:t>need to understand the materials they work with</a:t>
            </a:r>
            <a:r>
              <a:rPr lang="en-US" sz="1500" dirty="0" smtClean="0">
                <a:latin typeface="Verdana" pitchFamily="34" charset="0"/>
                <a:ea typeface="ヒラギノ角ゴ Pro W3"/>
                <a:cs typeface="ヒラギノ角ゴ Pro W3"/>
              </a:rPr>
              <a:t> just as designers in other areas of design such as interior design, jewelry design, etc.</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Classifying Technologies</a:t>
            </a:r>
          </a:p>
        </p:txBody>
      </p:sp>
      <p:sp>
        <p:nvSpPr>
          <p:cNvPr id="51202" name="Text Placeholder 2"/>
          <p:cNvSpPr>
            <a:spLocks noGrp="1"/>
          </p:cNvSpPr>
          <p:nvPr>
            <p:ph type="body" idx="1"/>
          </p:nvPr>
        </p:nvSpPr>
        <p:spPr>
          <a:xfrm>
            <a:off x="457200" y="1410711"/>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Of course </a:t>
            </a:r>
            <a:r>
              <a:rPr lang="en-US" sz="1500" b="1" dirty="0" smtClean="0">
                <a:latin typeface="Verdana" pitchFamily="34" charset="0"/>
                <a:ea typeface="ヒラギノ角ゴ Pro W3"/>
                <a:cs typeface="ヒラギノ角ゴ Pro W3"/>
              </a:rPr>
              <a:t>interactive technologies change </a:t>
            </a:r>
            <a:r>
              <a:rPr lang="en-US" sz="1500" dirty="0" smtClean="0">
                <a:latin typeface="Verdana" pitchFamily="34" charset="0"/>
                <a:ea typeface="ヒラギノ角ゴ Pro W3"/>
                <a:cs typeface="ヒラギノ角ゴ Pro W3"/>
              </a:rPr>
              <a:t>at a fantastic rate and by far the best way for </a:t>
            </a:r>
            <a:r>
              <a:rPr lang="en-US" sz="1500" b="1" dirty="0" smtClean="0">
                <a:latin typeface="Verdana" pitchFamily="34" charset="0"/>
                <a:ea typeface="ヒラギノ角ゴ Pro W3"/>
                <a:cs typeface="ヒラギノ角ゴ Pro W3"/>
              </a:rPr>
              <a:t>designers to keep up on of the options</a:t>
            </a:r>
            <a:r>
              <a:rPr lang="en-US" sz="1500" dirty="0" smtClean="0">
                <a:latin typeface="Verdana" pitchFamily="34" charset="0"/>
                <a:ea typeface="ヒラギノ角ゴ Pro W3"/>
                <a:cs typeface="ヒラギノ角ゴ Pro W3"/>
              </a:rPr>
              <a:t> available is to subscribe to web sites</a:t>
            </a:r>
          </a:p>
          <a:p>
            <a:pPr algn="just" eaLnBrk="1" hangingPunct="1">
              <a:lnSpc>
                <a:spcPct val="150000"/>
              </a:lnSpc>
            </a:pPr>
            <a:r>
              <a:rPr lang="en-US" sz="1500" dirty="0" smtClean="0">
                <a:latin typeface="Verdana" pitchFamily="34" charset="0"/>
                <a:ea typeface="ヒラギノ角ゴ Pro W3"/>
                <a:cs typeface="ヒラギノ角ゴ Pro W3"/>
              </a:rPr>
              <a:t>It is also very </a:t>
            </a:r>
            <a:r>
              <a:rPr lang="en-US" sz="1500" b="1" dirty="0" smtClean="0">
                <a:latin typeface="Verdana" pitchFamily="34" charset="0"/>
                <a:ea typeface="ヒラギノ角ゴ Pro W3"/>
                <a:cs typeface="ヒラギノ角ゴ Pro W3"/>
              </a:rPr>
              <a:t>difficult to classify technologies as </a:t>
            </a:r>
            <a:r>
              <a:rPr lang="en-US" sz="1500" dirty="0" smtClean="0">
                <a:latin typeface="Verdana" pitchFamily="34" charset="0"/>
                <a:ea typeface="ヒラギノ角ゴ Pro W3"/>
                <a:cs typeface="ヒラギノ角ゴ Pro W3"/>
              </a:rPr>
              <a:t>they are continually being packaged in new ways and different combinations facilitate quite different types of interactions.</a:t>
            </a:r>
          </a:p>
          <a:p>
            <a:pPr algn="just" eaLnBrk="1" hangingPunct="1">
              <a:lnSpc>
                <a:spcPct val="150000"/>
              </a:lnSpc>
            </a:pPr>
            <a:r>
              <a:rPr lang="en-US" sz="1500" dirty="0" smtClean="0">
                <a:latin typeface="Verdana" pitchFamily="34" charset="0"/>
                <a:ea typeface="ヒラギノ角ゴ Pro W3"/>
                <a:cs typeface="ヒラギノ角ゴ Pro W3"/>
              </a:rPr>
              <a:t>For example, the multi-touch screen on an iPod Touch allows for quite different ways of navigating through your music collection and selecting particular tracks than the track wheel on an iPod Nano. </a:t>
            </a:r>
          </a:p>
          <a:p>
            <a:pPr algn="just" eaLnBrk="1" hangingPunct="1">
              <a:lnSpc>
                <a:spcPct val="150000"/>
              </a:lnSpc>
            </a:pPr>
            <a:r>
              <a:rPr lang="en-US" sz="1500" dirty="0" smtClean="0">
                <a:latin typeface="Verdana" pitchFamily="34" charset="0"/>
                <a:ea typeface="ヒラギノ角ゴ Pro W3"/>
                <a:cs typeface="ヒラギノ角ゴ Pro W3"/>
              </a:rPr>
              <a:t>Designers need to </a:t>
            </a:r>
            <a:r>
              <a:rPr lang="en-US" sz="1500" b="1" dirty="0" smtClean="0">
                <a:latin typeface="Verdana" pitchFamily="34" charset="0"/>
                <a:ea typeface="ヒラギノ角ゴ Pro W3"/>
                <a:cs typeface="ヒラギノ角ゴ Pro W3"/>
              </a:rPr>
              <a:t>be aware of various possibilities for </a:t>
            </a:r>
            <a:r>
              <a:rPr lang="en-US" sz="1500" dirty="0" smtClean="0">
                <a:latin typeface="Verdana" pitchFamily="34" charset="0"/>
                <a:ea typeface="ヒラギノ角ゴ Pro W3"/>
                <a:cs typeface="ヒラギノ角ゴ Pro W3"/>
              </a:rPr>
              <a:t>input, output, communication and content.</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itle 1"/>
          <p:cNvSpPr>
            <a:spLocks noGrp="1"/>
          </p:cNvSpPr>
          <p:nvPr>
            <p:ph type="title"/>
          </p:nvPr>
        </p:nvSpPr>
        <p:spPr>
          <a:xfrm>
            <a:off x="457200" y="274638"/>
            <a:ext cx="8229600" cy="1066130"/>
          </a:xfrm>
        </p:spPr>
        <p:txBody>
          <a:bodyPr/>
          <a:lstStyle/>
          <a:p>
            <a:pPr eaLnBrk="1" hangingPunct="1"/>
            <a:r>
              <a:rPr lang="en-US" sz="1500" dirty="0" smtClean="0">
                <a:latin typeface="Verdana" pitchFamily="34" charset="0"/>
                <a:ea typeface="ヒラギノ角ゴ Pro W3"/>
                <a:cs typeface="ヒラギノ角ゴ Pro W3"/>
              </a:rPr>
              <a:t>Input</a:t>
            </a:r>
          </a:p>
        </p:txBody>
      </p:sp>
      <p:sp>
        <p:nvSpPr>
          <p:cNvPr id="52226" name="Text Placeholder 2"/>
          <p:cNvSpPr>
            <a:spLocks noGrp="1"/>
          </p:cNvSpPr>
          <p:nvPr>
            <p:ph type="body" idx="1"/>
          </p:nvPr>
        </p:nvSpPr>
        <p:spPr>
          <a:xfrm>
            <a:off x="639389" y="1340768"/>
            <a:ext cx="7865221"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Input devices are concerned with </a:t>
            </a:r>
            <a:r>
              <a:rPr lang="en-US" sz="1500" b="1" dirty="0" smtClean="0">
                <a:latin typeface="Verdana" pitchFamily="34" charset="0"/>
                <a:ea typeface="ヒラギノ角ゴ Pro W3"/>
                <a:cs typeface="ヒラギノ角ゴ Pro W3"/>
              </a:rPr>
              <a:t>how people enter data and instructions </a:t>
            </a:r>
            <a:r>
              <a:rPr lang="en-US" sz="1500" dirty="0" smtClean="0">
                <a:latin typeface="Verdana" pitchFamily="34" charset="0"/>
                <a:ea typeface="ヒラギノ角ゴ Pro W3"/>
                <a:cs typeface="ヒラギノ角ゴ Pro W3"/>
              </a:rPr>
              <a:t>into a system securely and safely. </a:t>
            </a:r>
          </a:p>
          <a:p>
            <a:pPr algn="just" eaLnBrk="1" hangingPunct="1">
              <a:lnSpc>
                <a:spcPct val="150000"/>
              </a:lnSpc>
            </a:pPr>
            <a:r>
              <a:rPr lang="en-US" sz="1500" b="1" dirty="0" smtClean="0">
                <a:latin typeface="Verdana" pitchFamily="34" charset="0"/>
                <a:ea typeface="ヒラギノ角ゴ Pro W3"/>
                <a:cs typeface="ヒラギノ角ゴ Pro W3"/>
              </a:rPr>
              <a:t>Switches and buttons </a:t>
            </a:r>
            <a:r>
              <a:rPr lang="en-US" sz="1500" dirty="0" smtClean="0">
                <a:latin typeface="Verdana" pitchFamily="34" charset="0"/>
                <a:ea typeface="ヒラギノ角ゴ Pro W3"/>
                <a:cs typeface="ヒラギノ角ゴ Pro W3"/>
              </a:rPr>
              <a:t>facilitate a simple and direct method of issuing instructions (such as ‘turn on’ or ‘turn off’) but they take up space. </a:t>
            </a:r>
          </a:p>
          <a:p>
            <a:pPr algn="just" eaLnBrk="1" hangingPunct="1">
              <a:lnSpc>
                <a:spcPct val="150000"/>
              </a:lnSpc>
            </a:pPr>
            <a:r>
              <a:rPr lang="en-US" sz="1500" dirty="0" smtClean="0">
                <a:latin typeface="Verdana" pitchFamily="34" charset="0"/>
                <a:ea typeface="ヒラギノ角ゴ Pro W3"/>
                <a:cs typeface="ヒラギノ角ゴ Pro W3"/>
              </a:rPr>
              <a:t>On </a:t>
            </a:r>
            <a:r>
              <a:rPr lang="en-US" sz="1500" b="1" dirty="0" smtClean="0">
                <a:latin typeface="Verdana" pitchFamily="34" charset="0"/>
                <a:ea typeface="ヒラギノ角ゴ Pro W3"/>
                <a:cs typeface="ヒラギノ角ゴ Pro W3"/>
              </a:rPr>
              <a:t>small mobile </a:t>
            </a:r>
            <a:r>
              <a:rPr lang="en-US" sz="1500" dirty="0" smtClean="0">
                <a:latin typeface="Verdana" pitchFamily="34" charset="0"/>
                <a:ea typeface="ヒラギノ角ゴ Pro W3"/>
                <a:cs typeface="ヒラギノ角ゴ Pro W3"/>
              </a:rPr>
              <a:t>devices there is </a:t>
            </a:r>
            <a:r>
              <a:rPr lang="en-US" sz="1500" b="1" dirty="0" smtClean="0">
                <a:latin typeface="Verdana" pitchFamily="34" charset="0"/>
                <a:ea typeface="ヒラギノ角ゴ Pro W3"/>
                <a:cs typeface="ヒラギノ角ゴ Pro W3"/>
              </a:rPr>
              <a:t>not enough room to have many buttons,</a:t>
            </a:r>
            <a:r>
              <a:rPr lang="en-US" sz="1500" dirty="0" smtClean="0">
                <a:latin typeface="Verdana" pitchFamily="34" charset="0"/>
                <a:ea typeface="ヒラギノ角ゴ Pro W3"/>
                <a:cs typeface="ヒラギノ角ゴ Pro W3"/>
              </a:rPr>
              <a:t> so designers have to be careful which functions have their own button. </a:t>
            </a:r>
          </a:p>
          <a:p>
            <a:pPr algn="just" eaLnBrk="1" hangingPunct="1">
              <a:lnSpc>
                <a:spcPct val="150000"/>
              </a:lnSpc>
            </a:pPr>
            <a:r>
              <a:rPr lang="en-US" sz="1500" dirty="0" smtClean="0">
                <a:latin typeface="Verdana" pitchFamily="34" charset="0"/>
                <a:ea typeface="ヒラギノ角ゴ Pro W3"/>
                <a:cs typeface="ヒラギノ角ゴ Pro W3"/>
              </a:rPr>
              <a:t>On the iPhone, for example, a </a:t>
            </a:r>
            <a:r>
              <a:rPr lang="en-US" sz="1500" b="1" dirty="0" smtClean="0">
                <a:latin typeface="Verdana" pitchFamily="34" charset="0"/>
                <a:ea typeface="ヒラギノ角ゴ Pro W3"/>
                <a:cs typeface="ヒラギノ角ゴ Pro W3"/>
              </a:rPr>
              <a:t>button on the side of the device </a:t>
            </a:r>
            <a:r>
              <a:rPr lang="en-US" sz="1500" dirty="0" smtClean="0">
                <a:latin typeface="Verdana" pitchFamily="34" charset="0"/>
                <a:ea typeface="ヒラギノ角ゴ Pro W3"/>
                <a:cs typeface="ヒラギノ角ゴ Pro W3"/>
              </a:rPr>
              <a:t>is allocated to turning the sound off and on. </a:t>
            </a:r>
          </a:p>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designers decided </a:t>
            </a:r>
            <a:r>
              <a:rPr lang="en-US" sz="1500" dirty="0" smtClean="0">
                <a:latin typeface="Verdana" pitchFamily="34" charset="0"/>
                <a:ea typeface="ヒラギノ角ゴ Pro W3"/>
                <a:cs typeface="ヒラギノ角ゴ Pro W3"/>
              </a:rPr>
              <a:t>that this was such an important and often used function that it should have its own button.</a:t>
            </a: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Input methods</a:t>
            </a:r>
          </a:p>
        </p:txBody>
      </p:sp>
      <p:sp>
        <p:nvSpPr>
          <p:cNvPr id="53250" name="Text Placeholder 2"/>
          <p:cNvSpPr>
            <a:spLocks noGrp="1"/>
          </p:cNvSpPr>
          <p:nvPr>
            <p:ph type="body" idx="1"/>
          </p:nvPr>
        </p:nvSpPr>
        <p:spPr>
          <a:xfrm>
            <a:off x="457200" y="1593273"/>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Alphanumeric data is usually input to an interactive device through a ‘</a:t>
            </a:r>
            <a:r>
              <a:rPr lang="en-US" sz="1500" b="1" dirty="0" smtClean="0">
                <a:latin typeface="Verdana" pitchFamily="34" charset="0"/>
                <a:ea typeface="ヒラギノ角ゴ Pro W3"/>
                <a:cs typeface="ヒラギノ角ゴ Pro W3"/>
              </a:rPr>
              <a:t>QWERTY</a:t>
            </a:r>
            <a:r>
              <a:rPr lang="en-US" sz="1500" dirty="0" smtClean="0">
                <a:latin typeface="Verdana" pitchFamily="34" charset="0"/>
                <a:ea typeface="ヒラギノ角ゴ Pro W3"/>
                <a:cs typeface="ヒラギノ角ゴ Pro W3"/>
              </a:rPr>
              <a:t>’ keyboard, invented by C. L. Sholes in 1868!</a:t>
            </a:r>
          </a:p>
          <a:p>
            <a:pPr algn="just" eaLnBrk="1" hangingPunct="1">
              <a:lnSpc>
                <a:spcPct val="150000"/>
              </a:lnSpc>
            </a:pPr>
            <a:r>
              <a:rPr lang="en-US" sz="1500" dirty="0" smtClean="0">
                <a:latin typeface="Verdana" pitchFamily="34" charset="0"/>
                <a:ea typeface="ヒラギノ角ゴ Pro W3"/>
                <a:cs typeface="ヒラギノ角ゴ Pro W3"/>
              </a:rPr>
              <a:t>The design is still with us today, despite some devices using an alphabetic keyboard where the letters are arranged in alphabetical order.</a:t>
            </a:r>
          </a:p>
          <a:p>
            <a:pPr algn="just" eaLnBrk="1" hangingPunct="1">
              <a:lnSpc>
                <a:spcPct val="150000"/>
              </a:lnSpc>
            </a:pPr>
            <a:r>
              <a:rPr lang="en-US" sz="1500" b="1" dirty="0" smtClean="0">
                <a:latin typeface="Verdana" pitchFamily="34" charset="0"/>
                <a:ea typeface="ヒラギノ角ゴ Pro W3"/>
                <a:cs typeface="ヒラギノ角ゴ Pro W3"/>
              </a:rPr>
              <a:t>Touchscreens</a:t>
            </a:r>
            <a:r>
              <a:rPr lang="en-US" sz="1500" dirty="0" smtClean="0">
                <a:latin typeface="Verdana" pitchFamily="34" charset="0"/>
                <a:ea typeface="ヒラギノ角ゴ Pro W3"/>
                <a:cs typeface="ヒラギノ角ゴ Pro W3"/>
              </a:rPr>
              <a:t> are sensitive to the touch of a finger. They function through either infra-red sensitivity or electrical capacitance. </a:t>
            </a:r>
          </a:p>
          <a:p>
            <a:pPr algn="just" eaLnBrk="1" hangingPunct="1">
              <a:lnSpc>
                <a:spcPct val="150000"/>
              </a:lnSpc>
            </a:pPr>
            <a:r>
              <a:rPr lang="en-US" sz="1500" dirty="0" smtClean="0">
                <a:latin typeface="Verdana" pitchFamily="34" charset="0"/>
                <a:ea typeface="ヒラギノ角ゴ Pro W3"/>
                <a:cs typeface="ヒラギノ角ゴ Pro W3"/>
              </a:rPr>
              <a:t>Because of their </a:t>
            </a:r>
            <a:r>
              <a:rPr lang="en-US" sz="1500" b="1" dirty="0" smtClean="0">
                <a:latin typeface="Verdana" pitchFamily="34" charset="0"/>
                <a:ea typeface="ヒラギノ角ゴ Pro W3"/>
                <a:cs typeface="ヒラギノ角ゴ Pro W3"/>
              </a:rPr>
              <a:t>lack of moving or detachable parts, they are suitable for </a:t>
            </a:r>
            <a:r>
              <a:rPr lang="en-US" sz="1500" dirty="0" smtClean="0">
                <a:latin typeface="Verdana" pitchFamily="34" charset="0"/>
                <a:ea typeface="ヒラギノ角ゴ Pro W3"/>
                <a:cs typeface="ヒラギノ角ゴ Pro W3"/>
              </a:rPr>
              <a:t>applications intended for public places, and provided the interface is well-designed present an appearance of simplicity and ease of use. </a:t>
            </a:r>
          </a:p>
          <a:p>
            <a:pPr algn="just" eaLnBrk="1" hangingPunct="1">
              <a:lnSpc>
                <a:spcPct val="150000"/>
              </a:lnSpc>
            </a:pPr>
            <a:r>
              <a:rPr lang="en-US" sz="1500" dirty="0" smtClean="0">
                <a:latin typeface="Verdana" pitchFamily="34" charset="0"/>
                <a:ea typeface="ヒラギノ角ゴ Pro W3"/>
                <a:cs typeface="ヒラギノ角ゴ Pro W3"/>
              </a:rPr>
              <a:t>Many touchscreens only recognize a </a:t>
            </a:r>
            <a:r>
              <a:rPr lang="en-US" sz="1500" b="1" dirty="0" smtClean="0">
                <a:latin typeface="Verdana" pitchFamily="34" charset="0"/>
                <a:ea typeface="ヒラギノ角ゴ Pro W3"/>
                <a:cs typeface="ヒラギノ角ゴ Pro W3"/>
              </a:rPr>
              <a:t>single touch</a:t>
            </a:r>
            <a:r>
              <a:rPr lang="en-US" sz="1500" dirty="0" smtClean="0">
                <a:latin typeface="Verdana" pitchFamily="34" charset="0"/>
                <a:ea typeface="ヒラギノ角ゴ Pro W3"/>
                <a:cs typeface="ヒラギノ角ゴ Pro W3"/>
              </a:rPr>
              <a:t>, but </a:t>
            </a:r>
            <a:r>
              <a:rPr lang="en-US" sz="1500" b="1" dirty="0" smtClean="0">
                <a:latin typeface="Verdana" pitchFamily="34" charset="0"/>
                <a:ea typeface="ヒラギノ角ゴ Pro W3"/>
                <a:cs typeface="ヒラギノ角ゴ Pro W3"/>
              </a:rPr>
              <a:t>multi-touch </a:t>
            </a:r>
            <a:r>
              <a:rPr lang="en-US" sz="1500" dirty="0" smtClean="0">
                <a:latin typeface="Verdana" pitchFamily="34" charset="0"/>
                <a:ea typeface="ヒラギノ角ゴ Pro W3"/>
                <a:cs typeface="ヒラギノ角ゴ Pro W3"/>
              </a:rPr>
              <a:t>screens enable zooming and rotating of images and text. </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itle 1"/>
          <p:cNvSpPr>
            <a:spLocks noGrp="1"/>
          </p:cNvSpPr>
          <p:nvPr>
            <p:ph type="title"/>
          </p:nvPr>
        </p:nvSpPr>
        <p:spPr>
          <a:xfrm>
            <a:off x="457200" y="274638"/>
            <a:ext cx="8229600" cy="346050"/>
          </a:xfrm>
        </p:spPr>
        <p:txBody>
          <a:bodyPr/>
          <a:lstStyle/>
          <a:p>
            <a:pPr eaLnBrk="1" hangingPunct="1"/>
            <a:r>
              <a:rPr lang="en-US" sz="1500" b="1" dirty="0" smtClean="0">
                <a:latin typeface="Verdana" pitchFamily="34" charset="0"/>
                <a:ea typeface="ヒラギノ角ゴ Pro W3"/>
                <a:cs typeface="ヒラギノ角ゴ Pro W3"/>
              </a:rPr>
              <a:t>Pointing</a:t>
            </a:r>
          </a:p>
        </p:txBody>
      </p:sp>
      <p:sp>
        <p:nvSpPr>
          <p:cNvPr id="54274" name="Text Placeholder 2"/>
          <p:cNvSpPr>
            <a:spLocks noGrp="1"/>
          </p:cNvSpPr>
          <p:nvPr>
            <p:ph type="body" idx="1"/>
          </p:nvPr>
        </p:nvSpPr>
        <p:spPr>
          <a:xfrm>
            <a:off x="457200" y="748397"/>
            <a:ext cx="8229600" cy="2652507"/>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Touchscreens make use of the </a:t>
            </a:r>
            <a:r>
              <a:rPr lang="en-US" sz="1500" b="1" dirty="0" smtClean="0">
                <a:latin typeface="Verdana" pitchFamily="34" charset="0"/>
                <a:ea typeface="ヒラギノ角ゴ Pro W3"/>
                <a:cs typeface="ヒラギノ角ゴ Pro W3"/>
              </a:rPr>
              <a:t>person’s finger as the input device </a:t>
            </a:r>
            <a:r>
              <a:rPr lang="en-US" sz="1500" dirty="0" smtClean="0">
                <a:latin typeface="Verdana" pitchFamily="34" charset="0"/>
                <a:ea typeface="ヒラギノ角ゴ Pro W3"/>
                <a:cs typeface="ヒラギノ角ゴ Pro W3"/>
              </a:rPr>
              <a:t>which has the obvious benefit that people always have their fingers with them. </a:t>
            </a:r>
          </a:p>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light pen </a:t>
            </a:r>
            <a:r>
              <a:rPr lang="en-US" sz="1500" dirty="0" smtClean="0">
                <a:latin typeface="Verdana" pitchFamily="34" charset="0"/>
                <a:ea typeface="ヒラギノ角ゴ Pro W3"/>
                <a:cs typeface="ヒラギノ角ゴ Pro W3"/>
              </a:rPr>
              <a:t>was, arguably, the original pointing device. When it is pointed at the screen it returns information about the screen location to a computer which allows the item pointed at to be identified. </a:t>
            </a:r>
          </a:p>
          <a:p>
            <a:pPr algn="just" eaLnBrk="1" hangingPunct="1">
              <a:lnSpc>
                <a:spcPct val="150000"/>
              </a:lnSpc>
            </a:pPr>
            <a:r>
              <a:rPr lang="en-US" sz="1500" dirty="0" smtClean="0">
                <a:latin typeface="Verdana" pitchFamily="34" charset="0"/>
                <a:ea typeface="ヒラギノ角ゴ Pro W3"/>
                <a:cs typeface="ヒラギノ角ゴ Pro W3"/>
              </a:rPr>
              <a:t>Other </a:t>
            </a:r>
            <a:r>
              <a:rPr lang="en-US" sz="1500" dirty="0" smtClean="0">
                <a:latin typeface="Verdana" pitchFamily="34" charset="0"/>
                <a:ea typeface="ヒラギノ角ゴ Pro W3"/>
                <a:cs typeface="ヒラギノ角ゴ Pro W3"/>
              </a:rPr>
              <a:t>forms of pointing devices </a:t>
            </a:r>
            <a:r>
              <a:rPr lang="en-US" sz="1500" dirty="0" smtClean="0">
                <a:latin typeface="Verdana" pitchFamily="34" charset="0"/>
                <a:ea typeface="ヒラギノ角ゴ Pro W3"/>
                <a:cs typeface="ヒラギノ角ゴ Pro W3"/>
              </a:rPr>
              <a:t>is </a:t>
            </a:r>
            <a:r>
              <a:rPr lang="en-US" sz="1500" b="1" dirty="0" smtClean="0">
                <a:latin typeface="Verdana" pitchFamily="34" charset="0"/>
                <a:ea typeface="ヒラギノ角ゴ Pro W3"/>
                <a:cs typeface="ヒラギノ角ゴ Pro W3"/>
              </a:rPr>
              <a:t>stylus</a:t>
            </a:r>
            <a:r>
              <a:rPr lang="en-US" sz="1500"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which is used on very small displays where a finger is too big to be used as the input device, and on many PDAs.</a:t>
            </a:r>
          </a:p>
          <a:p>
            <a:pPr algn="just" eaLnBrk="1" hangingPunct="1">
              <a:lnSpc>
                <a:spcPct val="150000"/>
              </a:lnSpc>
            </a:pPr>
            <a:endParaRPr lang="en-US" sz="1500" dirty="0" smtClean="0">
              <a:latin typeface="Verdana" pitchFamily="34" charset="0"/>
              <a:ea typeface="ヒラギノ角ゴ Pro W3"/>
              <a:cs typeface="ヒラギノ角ゴ Pro W3"/>
            </a:endParaRPr>
          </a:p>
        </p:txBody>
      </p:sp>
      <p:sp>
        <p:nvSpPr>
          <p:cNvPr id="4" name="Title 1"/>
          <p:cNvSpPr txBox="1">
            <a:spLocks/>
          </p:cNvSpPr>
          <p:nvPr/>
        </p:nvSpPr>
        <p:spPr bwMode="auto">
          <a:xfrm>
            <a:off x="457200" y="3528613"/>
            <a:ext cx="8229600" cy="47645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r>
              <a:rPr lang="en-US" sz="1500" b="1" dirty="0" smtClean="0">
                <a:latin typeface="Verdana" pitchFamily="34" charset="0"/>
                <a:ea typeface="ヒラギノ角ゴ Pro W3"/>
                <a:cs typeface="ヒラギノ角ゴ Pro W3"/>
              </a:rPr>
              <a:t>The Mouse</a:t>
            </a:r>
            <a:endParaRPr lang="en-US" sz="1500" b="1" dirty="0" smtClean="0">
              <a:latin typeface="Verdana" pitchFamily="34" charset="0"/>
              <a:ea typeface="ヒラギノ角ゴ Pro W3"/>
              <a:cs typeface="ヒラギノ角ゴ Pro W3"/>
            </a:endParaRPr>
          </a:p>
        </p:txBody>
      </p:sp>
      <p:sp>
        <p:nvSpPr>
          <p:cNvPr id="5" name="Text Placeholder 2"/>
          <p:cNvSpPr txBox="1">
            <a:spLocks/>
          </p:cNvSpPr>
          <p:nvPr/>
        </p:nvSpPr>
        <p:spPr bwMode="auto">
          <a:xfrm>
            <a:off x="484019" y="4005064"/>
            <a:ext cx="8229600" cy="225445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eaLnBrk="1" hangingPunct="1">
              <a:lnSpc>
                <a:spcPct val="150000"/>
              </a:lnSpc>
            </a:pPr>
            <a:r>
              <a:rPr lang="en-US" sz="1500" dirty="0" smtClean="0">
                <a:latin typeface="Verdana" pitchFamily="34" charset="0"/>
                <a:ea typeface="ヒラギノ角ゴ Pro W3"/>
                <a:cs typeface="ヒラギノ角ゴ Pro W3"/>
              </a:rPr>
              <a:t>One of the most universal of input devices is the mouse, developed at Stanford University Research Laboratory in the mid-1960s.  </a:t>
            </a:r>
          </a:p>
          <a:p>
            <a:pPr algn="just" eaLnBrk="1" hangingPunct="1">
              <a:lnSpc>
                <a:spcPct val="150000"/>
              </a:lnSpc>
            </a:pPr>
            <a:r>
              <a:rPr lang="en-US" sz="1500" dirty="0" smtClean="0">
                <a:latin typeface="Verdana" pitchFamily="34" charset="0"/>
                <a:ea typeface="ヒラギノ角ゴ Pro W3"/>
                <a:cs typeface="ヒラギノ角ゴ Pro W3"/>
              </a:rPr>
              <a:t>At its </a:t>
            </a:r>
            <a:r>
              <a:rPr lang="en-US" sz="1500" b="1" dirty="0" smtClean="0">
                <a:latin typeface="Verdana" pitchFamily="34" charset="0"/>
                <a:ea typeface="ヒラギノ角ゴ Pro W3"/>
                <a:cs typeface="ヒラギノ角ゴ Pro W3"/>
              </a:rPr>
              <a:t>simplest (and cheapest</a:t>
            </a:r>
            <a:r>
              <a:rPr lang="en-US" sz="1500" dirty="0" smtClean="0">
                <a:latin typeface="Verdana" pitchFamily="34" charset="0"/>
                <a:ea typeface="ヒラギノ角ゴ Pro W3"/>
                <a:cs typeface="ヒラギノ角ゴ Pro W3"/>
              </a:rPr>
              <a:t>) and are operated with person’s fingers. </a:t>
            </a:r>
          </a:p>
          <a:p>
            <a:pPr algn="just" eaLnBrk="1" hangingPunct="1">
              <a:lnSpc>
                <a:spcPct val="150000"/>
              </a:lnSpc>
            </a:pPr>
            <a:r>
              <a:rPr lang="en-US" sz="1500" dirty="0" smtClean="0">
                <a:latin typeface="Verdana" pitchFamily="34" charset="0"/>
                <a:ea typeface="ヒラギノ角ゴ Pro W3"/>
                <a:cs typeface="ヒラギノ角ゴ Pro W3"/>
              </a:rPr>
              <a:t>More contemporary mouse </a:t>
            </a:r>
            <a:r>
              <a:rPr lang="en-US" sz="1500" b="1" dirty="0" smtClean="0">
                <a:latin typeface="Verdana" pitchFamily="34" charset="0"/>
                <a:ea typeface="ヒラギノ角ゴ Pro W3"/>
                <a:cs typeface="ヒラギノ角ゴ Pro W3"/>
              </a:rPr>
              <a:t>design includes a thumbwheel  </a:t>
            </a:r>
            <a:r>
              <a:rPr lang="en-US" sz="1500" dirty="0" smtClean="0">
                <a:latin typeface="Verdana" pitchFamily="34" charset="0"/>
                <a:ea typeface="ヒラギノ角ゴ Pro W3"/>
                <a:cs typeface="ヒラギノ角ゴ Pro W3"/>
              </a:rPr>
              <a:t>for scrolling through documents or web pages. </a:t>
            </a:r>
          </a:p>
          <a:p>
            <a:pPr algn="just" eaLnBrk="1" hangingPunct="1">
              <a:lnSpc>
                <a:spcPct val="150000"/>
              </a:lnSpc>
            </a:pPr>
            <a:r>
              <a:rPr lang="en-US" sz="1500" dirty="0">
                <a:latin typeface="Verdana" pitchFamily="34" charset="0"/>
                <a:ea typeface="ヒラギノ角ゴ Pro W3"/>
                <a:cs typeface="ヒラギノ角ゴ Pro W3"/>
              </a:rPr>
              <a:t>M</a:t>
            </a:r>
            <a:r>
              <a:rPr lang="en-US" sz="1500" dirty="0" smtClean="0">
                <a:latin typeface="Verdana" pitchFamily="34" charset="0"/>
                <a:ea typeface="ヒラギノ角ゴ Pro W3"/>
                <a:cs typeface="ヒラギノ角ゴ Pro W3"/>
              </a:rPr>
              <a:t>ouse may be </a:t>
            </a:r>
            <a:r>
              <a:rPr lang="en-US" sz="1500" b="1" dirty="0" smtClean="0">
                <a:latin typeface="Verdana" pitchFamily="34" charset="0"/>
                <a:ea typeface="ヒラギノ角ゴ Pro W3"/>
                <a:cs typeface="ヒラギノ角ゴ Pro W3"/>
              </a:rPr>
              <a:t>cordless, using infra-red </a:t>
            </a:r>
            <a:r>
              <a:rPr lang="en-US" sz="1500" dirty="0" smtClean="0">
                <a:latin typeface="Verdana" pitchFamily="34" charset="0"/>
                <a:ea typeface="ヒラギノ角ゴ Pro W3"/>
                <a:cs typeface="ヒラギノ角ゴ Pro W3"/>
              </a:rPr>
              <a:t>to communicate with the computer.</a:t>
            </a: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Title 1"/>
          <p:cNvSpPr>
            <a:spLocks noGrp="1"/>
          </p:cNvSpPr>
          <p:nvPr>
            <p:ph type="title"/>
          </p:nvPr>
        </p:nvSpPr>
        <p:spPr>
          <a:xfrm>
            <a:off x="426577" y="258331"/>
            <a:ext cx="8229600" cy="434365"/>
          </a:xfrm>
        </p:spPr>
        <p:txBody>
          <a:bodyPr/>
          <a:lstStyle/>
          <a:p>
            <a:pPr eaLnBrk="1" hangingPunct="1"/>
            <a:r>
              <a:rPr lang="en-US" sz="1500" b="1" dirty="0" smtClean="0">
                <a:latin typeface="Verdana" pitchFamily="34" charset="0"/>
                <a:ea typeface="ヒラギノ角ゴ Pro W3"/>
                <a:cs typeface="ヒラギノ角ゴ Pro W3"/>
              </a:rPr>
              <a:t>More Pointing devices</a:t>
            </a:r>
          </a:p>
        </p:txBody>
      </p:sp>
      <p:sp>
        <p:nvSpPr>
          <p:cNvPr id="56322" name="Text Placeholder 2"/>
          <p:cNvSpPr>
            <a:spLocks noGrp="1"/>
          </p:cNvSpPr>
          <p:nvPr>
            <p:ph type="body" idx="1"/>
          </p:nvPr>
        </p:nvSpPr>
        <p:spPr>
          <a:xfrm>
            <a:off x="487288" y="713268"/>
            <a:ext cx="8229600" cy="3377449"/>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trackball</a:t>
            </a:r>
            <a:r>
              <a:rPr lang="en-US" sz="1500" dirty="0" smtClean="0">
                <a:latin typeface="Verdana" pitchFamily="34" charset="0"/>
                <a:ea typeface="ヒラギノ角ゴ Pro W3"/>
                <a:cs typeface="ヒラギノ角ゴ Pro W3"/>
              </a:rPr>
              <a:t> is another pointing device which is best described as a mouse lying on its back. To move the </a:t>
            </a:r>
            <a:r>
              <a:rPr lang="en-US" sz="1500" dirty="0" smtClean="0">
                <a:latin typeface="Verdana" pitchFamily="34" charset="0"/>
                <a:ea typeface="ヒラギノ角ゴ Pro W3"/>
                <a:cs typeface="ヒラギノ角ゴ Pro W3"/>
              </a:rPr>
              <a:t>pointer, </a:t>
            </a:r>
            <a:r>
              <a:rPr lang="en-US" sz="1500" dirty="0" smtClean="0">
                <a:latin typeface="Verdana" pitchFamily="34" charset="0"/>
                <a:ea typeface="ヒラギノ角ゴ Pro W3"/>
                <a:cs typeface="ヒラギノ角ゴ Pro W3"/>
              </a:rPr>
              <a:t>the user moves the ball</a:t>
            </a:r>
            <a:r>
              <a:rPr lang="en-US" sz="1500" dirty="0" smtClean="0">
                <a:latin typeface="Verdana" pitchFamily="34" charset="0"/>
                <a:ea typeface="ヒラギノ角ゴ Pro W3"/>
                <a:cs typeface="ヒラギノ角ゴ Pro W3"/>
              </a:rPr>
              <a:t>. It do</a:t>
            </a:r>
            <a:r>
              <a:rPr lang="en-US" sz="1500" b="1" dirty="0" smtClean="0">
                <a:latin typeface="Verdana" pitchFamily="34" charset="0"/>
                <a:ea typeface="ヒラギノ角ゴ Pro W3"/>
                <a:cs typeface="ヒラギノ角ゴ Pro W3"/>
              </a:rPr>
              <a:t> </a:t>
            </a:r>
            <a:r>
              <a:rPr lang="en-US" sz="1500" b="1" dirty="0" smtClean="0">
                <a:latin typeface="Verdana" pitchFamily="34" charset="0"/>
                <a:ea typeface="ヒラギノ角ゴ Pro W3"/>
                <a:cs typeface="ヒラギノ角ゴ Pro W3"/>
              </a:rPr>
              <a:t>not require a flat surface </a:t>
            </a:r>
            <a:r>
              <a:rPr lang="en-US" sz="1500" dirty="0" smtClean="0">
                <a:latin typeface="Verdana" pitchFamily="34" charset="0"/>
                <a:ea typeface="ヒラギノ角ゴ Pro W3"/>
                <a:cs typeface="ヒラギノ角ゴ Pro W3"/>
              </a:rPr>
              <a:t>to rest upon.</a:t>
            </a:r>
          </a:p>
          <a:p>
            <a:pPr algn="just" eaLnBrk="1" hangingPunct="1">
              <a:lnSpc>
                <a:spcPct val="15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joystick</a:t>
            </a:r>
            <a:r>
              <a:rPr lang="en-US" sz="1500" dirty="0" smtClean="0">
                <a:latin typeface="Verdana" pitchFamily="34" charset="0"/>
                <a:ea typeface="ヒラギノ角ゴ Pro W3"/>
                <a:cs typeface="ヒラギノ角ゴ Pro W3"/>
              </a:rPr>
              <a:t> is a handle which pivots from a central point. Viewing the joystick from above, it may be </a:t>
            </a:r>
            <a:r>
              <a:rPr lang="en-US" sz="1500" b="1" dirty="0" smtClean="0">
                <a:latin typeface="Verdana" pitchFamily="34" charset="0"/>
                <a:ea typeface="ヒラギノ角ゴ Pro W3"/>
                <a:cs typeface="ヒラギノ角ゴ Pro W3"/>
              </a:rPr>
              <a:t>moved north, south, east and west </a:t>
            </a:r>
            <a:r>
              <a:rPr lang="en-US" sz="1500" dirty="0" smtClean="0">
                <a:latin typeface="Verdana" pitchFamily="34" charset="0"/>
                <a:ea typeface="ヒラギノ角ゴ Pro W3"/>
                <a:cs typeface="ヒラギノ角ゴ Pro W3"/>
              </a:rPr>
              <a:t>(and all points between) to control an on-screen pointer, </a:t>
            </a:r>
            <a:r>
              <a:rPr lang="en-US" sz="1500" dirty="0" smtClean="0">
                <a:latin typeface="Verdana" pitchFamily="34" charset="0"/>
                <a:ea typeface="ヒラギノ角ゴ Pro W3"/>
                <a:cs typeface="ヒラギノ角ゴ Pro W3"/>
              </a:rPr>
              <a:t>or </a:t>
            </a:r>
            <a:r>
              <a:rPr lang="en-US" sz="1500" dirty="0" smtClean="0">
                <a:latin typeface="Verdana" pitchFamily="34" charset="0"/>
                <a:ea typeface="ヒラギノ角ゴ Pro W3"/>
                <a:cs typeface="ヒラギノ角ゴ Pro W3"/>
              </a:rPr>
              <a:t>any other on-screen object. </a:t>
            </a:r>
          </a:p>
          <a:p>
            <a:pPr algn="just" eaLnBrk="1" hangingPunct="1">
              <a:lnSpc>
                <a:spcPct val="150000"/>
              </a:lnSpc>
            </a:pPr>
            <a:r>
              <a:rPr lang="en-US" sz="1500" dirty="0" smtClean="0">
                <a:latin typeface="Verdana" pitchFamily="34" charset="0"/>
                <a:ea typeface="ヒラギノ角ゴ Pro W3"/>
                <a:cs typeface="ヒラギノ角ゴ Pro W3"/>
              </a:rPr>
              <a:t>It </a:t>
            </a:r>
            <a:r>
              <a:rPr lang="en-US" sz="1500" dirty="0" smtClean="0">
                <a:latin typeface="Verdana" pitchFamily="34" charset="0"/>
                <a:ea typeface="ヒラギノ角ゴ Pro W3"/>
                <a:cs typeface="ヒラギノ角ゴ Pro W3"/>
              </a:rPr>
              <a:t>are used mostly for computer games, but they are also found in conjunction with </a:t>
            </a:r>
            <a:r>
              <a:rPr lang="en-US" sz="1500" b="1" dirty="0" smtClean="0">
                <a:latin typeface="Verdana" pitchFamily="34" charset="0"/>
                <a:ea typeface="ヒラギノ角ゴ Pro W3"/>
                <a:cs typeface="ヒラギノ角ゴ Pro W3"/>
              </a:rPr>
              <a:t>CAD/CAM </a:t>
            </a:r>
            <a:r>
              <a:rPr lang="en-US" sz="1500" dirty="0" smtClean="0">
                <a:latin typeface="Verdana" pitchFamily="34" charset="0"/>
                <a:ea typeface="ヒラギノ角ゴ Pro W3"/>
                <a:cs typeface="ヒラギノ角ゴ Pro W3"/>
              </a:rPr>
              <a:t>(computer aided design/manufacture) systems and </a:t>
            </a:r>
            <a:r>
              <a:rPr lang="en-US" sz="1500" b="1" dirty="0" smtClean="0">
                <a:latin typeface="Verdana" pitchFamily="34" charset="0"/>
                <a:ea typeface="ヒラギノ角ゴ Pro W3"/>
                <a:cs typeface="ヒラギノ角ゴ Pro W3"/>
              </a:rPr>
              <a:t>VR </a:t>
            </a:r>
            <a:r>
              <a:rPr lang="en-US" sz="1500" dirty="0" smtClean="0">
                <a:latin typeface="Verdana" pitchFamily="34" charset="0"/>
                <a:ea typeface="ヒラギノ角ゴ Pro W3"/>
                <a:cs typeface="ヒラギノ角ゴ Pro W3"/>
              </a:rPr>
              <a:t>(virtual reality) applications. </a:t>
            </a:r>
          </a:p>
        </p:txBody>
      </p:sp>
      <p:sp>
        <p:nvSpPr>
          <p:cNvPr id="4" name="Title 1"/>
          <p:cNvSpPr txBox="1">
            <a:spLocks/>
          </p:cNvSpPr>
          <p:nvPr/>
        </p:nvSpPr>
        <p:spPr bwMode="auto">
          <a:xfrm>
            <a:off x="518864" y="4090717"/>
            <a:ext cx="8229600" cy="274042"/>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r>
              <a:rPr lang="en-US" sz="1500" b="1" dirty="0" smtClean="0">
                <a:latin typeface="Verdana" pitchFamily="34" charset="0"/>
                <a:ea typeface="ヒラギノ角ゴ Pro W3"/>
                <a:cs typeface="ヒラギノ角ゴ Pro W3"/>
              </a:rPr>
              <a:t>Pointing from a distance</a:t>
            </a:r>
            <a:endParaRPr lang="en-US" sz="1500" b="1" dirty="0" smtClean="0">
              <a:latin typeface="Verdana" pitchFamily="34" charset="0"/>
              <a:ea typeface="ヒラギノ角ゴ Pro W3"/>
              <a:cs typeface="ヒラギノ角ゴ Pro W3"/>
            </a:endParaRPr>
          </a:p>
        </p:txBody>
      </p:sp>
      <p:sp>
        <p:nvSpPr>
          <p:cNvPr id="5" name="Text Placeholder 2"/>
          <p:cNvSpPr txBox="1">
            <a:spLocks/>
          </p:cNvSpPr>
          <p:nvPr/>
        </p:nvSpPr>
        <p:spPr bwMode="auto">
          <a:xfrm>
            <a:off x="487288" y="4509120"/>
            <a:ext cx="8229600" cy="1937566"/>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eaLnBrk="1" hangingPunct="1">
              <a:lnSpc>
                <a:spcPct val="150000"/>
              </a:lnSpc>
            </a:pPr>
            <a:r>
              <a:rPr lang="en-US" sz="1500" dirty="0" smtClean="0">
                <a:latin typeface="Verdana" pitchFamily="34" charset="0"/>
                <a:ea typeface="ヒラギノ角ゴ Pro W3"/>
                <a:cs typeface="ヒラギノ角ゴ Pro W3"/>
              </a:rPr>
              <a:t>With the introduction of the </a:t>
            </a:r>
            <a:r>
              <a:rPr lang="en-US" sz="1500" b="1" dirty="0" smtClean="0">
                <a:latin typeface="Verdana" pitchFamily="34" charset="0"/>
                <a:ea typeface="ヒラギノ角ゴ Pro W3"/>
                <a:cs typeface="ヒラギノ角ゴ Pro W3"/>
              </a:rPr>
              <a:t>Nintendo Wii</a:t>
            </a:r>
            <a:r>
              <a:rPr lang="en-US" sz="1500" dirty="0" smtClean="0">
                <a:latin typeface="Verdana" pitchFamily="34" charset="0"/>
                <a:ea typeface="ヒラギノ角ゴ Pro W3"/>
                <a:cs typeface="ヒラギノ角ゴ Pro W3"/>
              </a:rPr>
              <a:t> in 2007 a whole new generation of input became possible. This uses infra-red to register the movement of a wand. This allows gestures to be recognized. </a:t>
            </a:r>
          </a:p>
          <a:p>
            <a:pPr algn="just" eaLnBrk="1" hangingPunct="1">
              <a:lnSpc>
                <a:spcPct val="150000"/>
              </a:lnSpc>
            </a:pPr>
            <a:r>
              <a:rPr lang="en-US" sz="1500" dirty="0" smtClean="0">
                <a:latin typeface="Verdana" pitchFamily="34" charset="0"/>
                <a:ea typeface="ヒラギノ角ゴ Pro W3"/>
                <a:cs typeface="ヒラギノ角ゴ Pro W3"/>
              </a:rPr>
              <a:t>Other systems recognize gestures through tracking limb movements by attaching sensors to the limb or by tracking using cameras. </a:t>
            </a: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Title 1"/>
          <p:cNvSpPr>
            <a:spLocks noGrp="1"/>
          </p:cNvSpPr>
          <p:nvPr>
            <p:ph type="title"/>
          </p:nvPr>
        </p:nvSpPr>
        <p:spPr>
          <a:xfrm>
            <a:off x="457200" y="274638"/>
            <a:ext cx="8229600" cy="418058"/>
          </a:xfrm>
        </p:spPr>
        <p:txBody>
          <a:bodyPr/>
          <a:lstStyle/>
          <a:p>
            <a:pPr eaLnBrk="1" hangingPunct="1"/>
            <a:r>
              <a:rPr lang="en-US" sz="1500" dirty="0" smtClean="0">
                <a:latin typeface="Verdana" pitchFamily="34" charset="0"/>
                <a:ea typeface="ヒラギノ角ゴ Pro W3"/>
                <a:cs typeface="ヒラギノ角ゴ Pro W3"/>
              </a:rPr>
              <a:t>Sensors</a:t>
            </a:r>
            <a:r>
              <a:rPr lang="en-US" sz="1500" dirty="0" smtClean="0">
                <a:latin typeface="Verdana" pitchFamily="34" charset="0"/>
                <a:ea typeface="ヒラギノ角ゴ Pro W3"/>
                <a:cs typeface="ヒラギノ角ゴ Pro W3"/>
              </a:rPr>
              <a:t> </a:t>
            </a:r>
            <a:r>
              <a:rPr lang="en-US" sz="1500" dirty="0">
                <a:latin typeface="Verdana" pitchFamily="34" charset="0"/>
                <a:ea typeface="ヒラギノ角ゴ Pro W3"/>
                <a:cs typeface="ヒラギノ角ゴ Pro W3"/>
              </a:rPr>
              <a:t>and </a:t>
            </a:r>
            <a:r>
              <a:rPr lang="en-US" sz="1500" dirty="0" smtClean="0">
                <a:latin typeface="Verdana" pitchFamily="34" charset="0"/>
                <a:ea typeface="ヒラギノ角ゴ Pro W3"/>
                <a:cs typeface="ヒラギノ角ゴ Pro W3"/>
              </a:rPr>
              <a:t>Speech</a:t>
            </a:r>
            <a:endParaRPr lang="en-US" sz="1500" dirty="0" smtClean="0">
              <a:latin typeface="Verdana" pitchFamily="34" charset="0"/>
              <a:ea typeface="ヒラギノ角ゴ Pro W3"/>
              <a:cs typeface="ヒラギノ角ゴ Pro W3"/>
            </a:endParaRPr>
          </a:p>
        </p:txBody>
      </p:sp>
      <p:sp>
        <p:nvSpPr>
          <p:cNvPr id="58370" name="Text Placeholder 2"/>
          <p:cNvSpPr>
            <a:spLocks noGrp="1"/>
          </p:cNvSpPr>
          <p:nvPr>
            <p:ph type="body" idx="1"/>
          </p:nvPr>
        </p:nvSpPr>
        <p:spPr>
          <a:xfrm>
            <a:off x="459579" y="980729"/>
            <a:ext cx="8229600" cy="4896544"/>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many different types of </a:t>
            </a:r>
            <a:r>
              <a:rPr lang="en-US" sz="1500" b="1" dirty="0" smtClean="0">
                <a:latin typeface="Verdana" pitchFamily="34" charset="0"/>
                <a:ea typeface="ヒラギノ角ゴ Pro W3"/>
                <a:cs typeface="ヒラギノ角ゴ Pro W3"/>
              </a:rPr>
              <a:t>sensor</a:t>
            </a:r>
            <a:r>
              <a:rPr lang="en-US" sz="1500" dirty="0" smtClean="0">
                <a:latin typeface="Verdana" pitchFamily="34" charset="0"/>
                <a:ea typeface="ヒラギノ角ゴ Pro W3"/>
                <a:cs typeface="ヒラギノ角ゴ Pro W3"/>
              </a:rPr>
              <a:t> that are now available as input mechanisms. </a:t>
            </a:r>
          </a:p>
          <a:p>
            <a:pPr algn="just" eaLnBrk="1" hangingPunct="1">
              <a:lnSpc>
                <a:spcPct val="150000"/>
              </a:lnSpc>
            </a:pPr>
            <a:r>
              <a:rPr lang="en-US" sz="1500" b="1" dirty="0" smtClean="0">
                <a:latin typeface="Verdana" pitchFamily="34" charset="0"/>
                <a:ea typeface="ヒラギノ角ゴ Pro W3"/>
                <a:cs typeface="ヒラギノ角ゴ Pro W3"/>
              </a:rPr>
              <a:t>Air pressure sensors, audio sensors, vibration detectors, infrared motion detectors, accelerometers </a:t>
            </a:r>
            <a:r>
              <a:rPr lang="en-US" sz="1500" dirty="0" smtClean="0">
                <a:latin typeface="Verdana" pitchFamily="34" charset="0"/>
                <a:ea typeface="ヒラギノ角ゴ Pro W3"/>
                <a:cs typeface="ヒラギノ角ゴ Pro W3"/>
              </a:rPr>
              <a:t>are all readily available for designers to detect specific aspects of an interaction. </a:t>
            </a:r>
          </a:p>
          <a:p>
            <a:pPr algn="just" eaLnBrk="1" hangingPunct="1">
              <a:lnSpc>
                <a:spcPct val="150000"/>
              </a:lnSpc>
            </a:pPr>
            <a:r>
              <a:rPr lang="en-US" sz="1500" dirty="0" smtClean="0">
                <a:latin typeface="Verdana" pitchFamily="34" charset="0"/>
                <a:ea typeface="ヒラギノ角ゴ Pro W3"/>
                <a:cs typeface="ヒラギノ角ゴ Pro W3"/>
              </a:rPr>
              <a:t>Wilson (2008) lists sensors for detecting occupancy, movement and orientation, object distance and position, touch, gaze and gesture, human identity (biometrics), context and affect. </a:t>
            </a:r>
          </a:p>
          <a:p>
            <a:pPr algn="just" eaLnBrk="1" hangingPunct="1">
              <a:lnSpc>
                <a:spcPct val="150000"/>
              </a:lnSpc>
            </a:pPr>
            <a:r>
              <a:rPr lang="en-US" sz="1500" dirty="0" smtClean="0">
                <a:latin typeface="Verdana" pitchFamily="34" charset="0"/>
                <a:ea typeface="ヒラギノ角ゴ Pro W3"/>
                <a:cs typeface="ヒラギノ角ゴ Pro W3"/>
              </a:rPr>
              <a:t>There are many proprietary devices used to input specifically to mobile devices such as </a:t>
            </a:r>
            <a:r>
              <a:rPr lang="en-US" sz="1500" b="1" dirty="0" smtClean="0">
                <a:latin typeface="Verdana" pitchFamily="34" charset="0"/>
                <a:ea typeface="ヒラギノ角ゴ Pro W3"/>
                <a:cs typeface="ヒラギノ角ゴ Pro W3"/>
              </a:rPr>
              <a:t>jog wheels </a:t>
            </a:r>
            <a:r>
              <a:rPr lang="en-US" sz="1500" dirty="0" smtClean="0">
                <a:latin typeface="Verdana" pitchFamily="34" charset="0"/>
                <a:ea typeface="ヒラギノ角ゴ Pro W3"/>
                <a:cs typeface="ヒラギノ角ゴ Pro W3"/>
              </a:rPr>
              <a:t>used of navigation of mobile phone interfaces. </a:t>
            </a:r>
          </a:p>
          <a:p>
            <a:pPr algn="just" eaLnBrk="1" hangingPunct="1">
              <a:lnSpc>
                <a:spcPct val="150000"/>
              </a:lnSpc>
            </a:pPr>
            <a:r>
              <a:rPr lang="en-US" sz="1500" b="1" dirty="0" smtClean="0">
                <a:latin typeface="Verdana" pitchFamily="34" charset="0"/>
                <a:ea typeface="ヒラギノ角ゴ Pro W3"/>
                <a:cs typeface="ヒラギノ角ゴ Pro W3"/>
              </a:rPr>
              <a:t>Speech </a:t>
            </a:r>
            <a:r>
              <a:rPr lang="en-US" sz="1500" b="1" dirty="0" smtClean="0">
                <a:latin typeface="Verdana" pitchFamily="34" charset="0"/>
                <a:ea typeface="ヒラギノ角ゴ Pro W3"/>
                <a:cs typeface="ヒラギノ角ゴ Pro W3"/>
              </a:rPr>
              <a:t>input </a:t>
            </a:r>
            <a:r>
              <a:rPr lang="en-US" sz="1500" dirty="0" smtClean="0">
                <a:latin typeface="Verdana" pitchFamily="34" charset="0"/>
                <a:ea typeface="ヒラギノ角ゴ Pro W3"/>
                <a:cs typeface="ヒラギノ角ゴ Pro W3"/>
              </a:rPr>
              <a:t>is becoming increasingly accurate, particularly if people are willing to spend a few minutes (7-10) training a system to recognize their voice. We expect spoken interfaces to become much more common over the next few years.</a:t>
            </a: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Title 1"/>
          <p:cNvSpPr>
            <a:spLocks noGrp="1"/>
          </p:cNvSpPr>
          <p:nvPr>
            <p:ph type="title"/>
          </p:nvPr>
        </p:nvSpPr>
        <p:spPr>
          <a:xfrm>
            <a:off x="395536" y="418654"/>
            <a:ext cx="8229600" cy="490066"/>
          </a:xfrm>
        </p:spPr>
        <p:txBody>
          <a:bodyPr/>
          <a:lstStyle/>
          <a:p>
            <a:pPr eaLnBrk="1" hangingPunct="1"/>
            <a:r>
              <a:rPr lang="en-US" sz="2400" b="1" dirty="0" smtClean="0">
                <a:latin typeface="Verdana" pitchFamily="34" charset="0"/>
                <a:ea typeface="ヒラギノ角ゴ Pro W3"/>
                <a:cs typeface="ヒラギノ角ゴ Pro W3"/>
              </a:rPr>
              <a:t>Output</a:t>
            </a:r>
          </a:p>
        </p:txBody>
      </p:sp>
      <p:sp>
        <p:nvSpPr>
          <p:cNvPr id="59394" name="Text Placeholder 2"/>
          <p:cNvSpPr>
            <a:spLocks noGrp="1"/>
          </p:cNvSpPr>
          <p:nvPr>
            <p:ph type="body" idx="1"/>
          </p:nvPr>
        </p:nvSpPr>
        <p:spPr>
          <a:xfrm>
            <a:off x="539552" y="1052736"/>
            <a:ext cx="8023511" cy="2592288"/>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Technologies for </a:t>
            </a:r>
            <a:r>
              <a:rPr lang="en-US" sz="1500" b="1" dirty="0" smtClean="0">
                <a:latin typeface="Verdana" pitchFamily="34" charset="0"/>
                <a:ea typeface="ヒラギノ角ゴ Pro W3"/>
                <a:cs typeface="ヒラギノ角ゴ Pro W3"/>
              </a:rPr>
              <a:t>displaying content</a:t>
            </a:r>
            <a:r>
              <a:rPr lang="en-US" sz="1500" dirty="0" smtClean="0">
                <a:latin typeface="Verdana" pitchFamily="34" charset="0"/>
                <a:ea typeface="ヒラギノ角ゴ Pro W3"/>
                <a:cs typeface="ヒラギノ角ゴ Pro W3"/>
              </a:rPr>
              <a:t> to people rely primarily on the three </a:t>
            </a:r>
            <a:r>
              <a:rPr lang="en-US" sz="1500" b="1" dirty="0" smtClean="0">
                <a:latin typeface="Verdana" pitchFamily="34" charset="0"/>
                <a:ea typeface="ヒラギノ角ゴ Pro W3"/>
                <a:cs typeface="ヒラギノ角ゴ Pro W3"/>
              </a:rPr>
              <a:t>perceptual abilities of vision, hearing and touch</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The most fundamental output device is the </a:t>
            </a:r>
            <a:r>
              <a:rPr lang="en-US" sz="1500" b="1" dirty="0" smtClean="0">
                <a:latin typeface="Verdana" pitchFamily="34" charset="0"/>
                <a:ea typeface="ヒラギノ角ゴ Pro W3"/>
                <a:cs typeface="ヒラギノ角ゴ Pro W3"/>
              </a:rPr>
              <a:t>screen or monitor</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Even a few years ago the default monitor used </a:t>
            </a:r>
            <a:r>
              <a:rPr lang="en-US" sz="1500" b="1" dirty="0" smtClean="0">
                <a:latin typeface="Verdana" pitchFamily="34" charset="0"/>
                <a:ea typeface="ヒラギノ角ゴ Pro W3"/>
                <a:cs typeface="ヒラギノ角ゴ Pro W3"/>
              </a:rPr>
              <a:t>cathode ray tube (CRT) </a:t>
            </a:r>
            <a:r>
              <a:rPr lang="en-US" sz="1500" dirty="0" smtClean="0">
                <a:latin typeface="Verdana" pitchFamily="34" charset="0"/>
                <a:ea typeface="ヒラギノ角ゴ Pro W3"/>
                <a:cs typeface="ヒラギノ角ゴ Pro W3"/>
              </a:rPr>
              <a:t>technology that required a large heavy box positioned on a desk or table. </a:t>
            </a:r>
          </a:p>
          <a:p>
            <a:pPr algn="just" eaLnBrk="1" hangingPunct="1">
              <a:lnSpc>
                <a:spcPct val="150000"/>
              </a:lnSpc>
            </a:pPr>
            <a:r>
              <a:rPr lang="en-US" sz="1500" dirty="0" smtClean="0">
                <a:latin typeface="Verdana" pitchFamily="34" charset="0"/>
                <a:ea typeface="ヒラギノ角ゴ Pro W3"/>
                <a:cs typeface="ヒラギノ角ゴ Pro W3"/>
              </a:rPr>
              <a:t>Nowadays flat screen monitors using </a:t>
            </a:r>
            <a:r>
              <a:rPr lang="en-US" sz="1500" b="1" dirty="0" smtClean="0">
                <a:latin typeface="Verdana" pitchFamily="34" charset="0"/>
                <a:ea typeface="ヒラギノ角ゴ Pro W3"/>
                <a:cs typeface="ヒラギノ角ゴ Pro W3"/>
              </a:rPr>
              <a:t>plasma or TFT </a:t>
            </a:r>
            <a:r>
              <a:rPr lang="en-US" sz="1500" dirty="0" smtClean="0">
                <a:latin typeface="Verdana" pitchFamily="34" charset="0"/>
                <a:ea typeface="ヒラギノ角ゴ Pro W3"/>
                <a:cs typeface="ヒラギノ角ゴ Pro W3"/>
              </a:rPr>
              <a:t>(thin film transistor) or </a:t>
            </a:r>
            <a:r>
              <a:rPr lang="en-US" sz="1500" b="1" dirty="0" smtClean="0">
                <a:latin typeface="Verdana" pitchFamily="34" charset="0"/>
                <a:ea typeface="ヒラギノ角ゴ Pro W3"/>
                <a:cs typeface="ヒラギノ角ゴ Pro W3"/>
              </a:rPr>
              <a:t>LCD</a:t>
            </a:r>
            <a:r>
              <a:rPr lang="en-US" sz="1500" dirty="0" smtClean="0">
                <a:latin typeface="Verdana" pitchFamily="34" charset="0"/>
                <a:ea typeface="ヒラギノ角ゴ Pro W3"/>
                <a:cs typeface="ヒラギノ角ゴ Pro W3"/>
              </a:rPr>
              <a:t> (liquid crystal display) technologies can be mounted on walls. </a:t>
            </a:r>
          </a:p>
        </p:txBody>
      </p:sp>
      <p:sp>
        <p:nvSpPr>
          <p:cNvPr id="4" name="Title 1"/>
          <p:cNvSpPr txBox="1">
            <a:spLocks/>
          </p:cNvSpPr>
          <p:nvPr/>
        </p:nvSpPr>
        <p:spPr bwMode="auto">
          <a:xfrm>
            <a:off x="333463" y="3875038"/>
            <a:ext cx="8229600" cy="49006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r>
              <a:rPr lang="en-US" sz="1500" b="1" dirty="0" smtClean="0">
                <a:latin typeface="Verdana" pitchFamily="34" charset="0"/>
                <a:ea typeface="ヒラギノ角ゴ Pro W3"/>
                <a:cs typeface="ヒラギノ角ゴ Pro W3"/>
              </a:rPr>
              <a:t>Other displays</a:t>
            </a:r>
            <a:endParaRPr lang="en-US" sz="1500" b="1" dirty="0" smtClean="0">
              <a:latin typeface="Verdana" pitchFamily="34" charset="0"/>
              <a:ea typeface="ヒラギノ角ゴ Pro W3"/>
              <a:cs typeface="ヒラギノ角ゴ Pro W3"/>
            </a:endParaRPr>
          </a:p>
        </p:txBody>
      </p:sp>
      <p:sp>
        <p:nvSpPr>
          <p:cNvPr id="5" name="Text Placeholder 2"/>
          <p:cNvSpPr txBox="1">
            <a:spLocks/>
          </p:cNvSpPr>
          <p:nvPr/>
        </p:nvSpPr>
        <p:spPr bwMode="auto">
          <a:xfrm>
            <a:off x="477683" y="4481140"/>
            <a:ext cx="8147248" cy="1642194"/>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eaLnBrk="1" hangingPunct="1">
              <a:lnSpc>
                <a:spcPct val="150000"/>
              </a:lnSpc>
            </a:pPr>
            <a:r>
              <a:rPr lang="en-US" sz="1500" smtClean="0">
                <a:latin typeface="Verdana" pitchFamily="34" charset="0"/>
                <a:ea typeface="ヒラギノ角ゴ Pro W3"/>
                <a:cs typeface="ヒラギノ角ゴ Pro W3"/>
              </a:rPr>
              <a:t>The output device is driven by hardware – a </a:t>
            </a:r>
            <a:r>
              <a:rPr lang="en-US" sz="1500" b="1" smtClean="0">
                <a:latin typeface="Verdana" pitchFamily="34" charset="0"/>
                <a:ea typeface="ヒラギノ角ゴ Pro W3"/>
                <a:cs typeface="ヒラギノ角ゴ Pro W3"/>
              </a:rPr>
              <a:t>graphics card </a:t>
            </a:r>
            <a:r>
              <a:rPr lang="en-US" sz="1500" smtClean="0">
                <a:latin typeface="Verdana" pitchFamily="34" charset="0"/>
                <a:ea typeface="ヒラギノ角ゴ Pro W3"/>
                <a:cs typeface="ヒラギノ角ゴ Pro W3"/>
              </a:rPr>
              <a:t>- that will vary with respect to the screen resolutions and palette of colors it can support. </a:t>
            </a:r>
          </a:p>
          <a:p>
            <a:pPr algn="just" eaLnBrk="1" hangingPunct="1">
              <a:lnSpc>
                <a:spcPct val="150000"/>
              </a:lnSpc>
            </a:pPr>
            <a:r>
              <a:rPr lang="en-US" sz="1500" b="1" smtClean="0">
                <a:latin typeface="Verdana" pitchFamily="34" charset="0"/>
                <a:ea typeface="ヒラギノ角ゴ Pro W3"/>
                <a:cs typeface="ヒラギノ角ゴ Pro W3"/>
              </a:rPr>
              <a:t>Projector</a:t>
            </a:r>
            <a:r>
              <a:rPr lang="en-US" sz="1500" smtClean="0">
                <a:latin typeface="Verdana" pitchFamily="34" charset="0"/>
                <a:ea typeface="ヒラギノ角ゴ Pro W3"/>
                <a:cs typeface="ヒラギノ角ゴ Pro W3"/>
              </a:rPr>
              <a:t>’s resolution is usually less than that of a monitor, the resulting projected image can be huge. </a:t>
            </a: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Title 1"/>
          <p:cNvSpPr>
            <a:spLocks noGrp="1"/>
          </p:cNvSpPr>
          <p:nvPr>
            <p:ph type="title"/>
          </p:nvPr>
        </p:nvSpPr>
        <p:spPr>
          <a:xfrm>
            <a:off x="457200" y="274638"/>
            <a:ext cx="8229600" cy="490066"/>
          </a:xfrm>
        </p:spPr>
        <p:txBody>
          <a:bodyPr/>
          <a:lstStyle/>
          <a:p>
            <a:pPr eaLnBrk="1" hangingPunct="1"/>
            <a:r>
              <a:rPr lang="en-US" sz="1500" b="1" dirty="0" smtClean="0">
                <a:latin typeface="Verdana" pitchFamily="34" charset="0"/>
              </a:rPr>
              <a:t>Multi-touch surfaces</a:t>
            </a:r>
          </a:p>
        </p:txBody>
      </p:sp>
      <p:sp>
        <p:nvSpPr>
          <p:cNvPr id="61442" name="Text Placeholder 2"/>
          <p:cNvSpPr>
            <a:spLocks noGrp="1"/>
          </p:cNvSpPr>
          <p:nvPr>
            <p:ph type="body" idx="1"/>
          </p:nvPr>
        </p:nvSpPr>
        <p:spPr>
          <a:xfrm>
            <a:off x="470876" y="823424"/>
            <a:ext cx="8229600" cy="2677584"/>
          </a:xfrm>
        </p:spPr>
        <p:txBody>
          <a:bodyPr/>
          <a:lstStyle/>
          <a:p>
            <a:pPr algn="just" eaLnBrk="1" hangingPunct="1">
              <a:lnSpc>
                <a:spcPct val="150000"/>
              </a:lnSpc>
            </a:pPr>
            <a:r>
              <a:rPr lang="en-US" sz="1500" b="1" dirty="0" smtClean="0">
                <a:latin typeface="Verdana" pitchFamily="34" charset="0"/>
                <a:ea typeface="ヒラギノ角ゴ Pro W3"/>
                <a:cs typeface="ヒラギノ角ゴ Pro W3"/>
              </a:rPr>
              <a:t>Data projectors</a:t>
            </a:r>
            <a:r>
              <a:rPr lang="en-US" sz="1500" dirty="0" smtClean="0">
                <a:latin typeface="Verdana" pitchFamily="34" charset="0"/>
                <a:ea typeface="ヒラギノ角ゴ Pro W3"/>
                <a:cs typeface="ヒラギノ角ゴ Pro W3"/>
              </a:rPr>
              <a:t> are shrinking in size at a remarkable rate and there are now </a:t>
            </a:r>
            <a:r>
              <a:rPr lang="en-US" sz="1500" b="1" dirty="0" smtClean="0">
                <a:latin typeface="Verdana" pitchFamily="34" charset="0"/>
                <a:ea typeface="ヒラギノ角ゴ Pro W3"/>
                <a:cs typeface="ヒラギノ角ゴ Pro W3"/>
              </a:rPr>
              <a:t>mobile data projectors</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These promise to have a </a:t>
            </a:r>
            <a:r>
              <a:rPr lang="en-US" sz="1500" b="1" dirty="0" smtClean="0">
                <a:latin typeface="Verdana" pitchFamily="34" charset="0"/>
                <a:ea typeface="ヒラギノ角ゴ Pro W3"/>
                <a:cs typeface="ヒラギノ角ゴ Pro W3"/>
              </a:rPr>
              <a:t>big impact on interaction design</a:t>
            </a:r>
            <a:r>
              <a:rPr lang="en-US" sz="1500" dirty="0" smtClean="0">
                <a:latin typeface="Verdana" pitchFamily="34" charset="0"/>
                <a:ea typeface="ヒラギノ角ゴ Pro W3"/>
                <a:cs typeface="ヒラギノ角ゴ Pro W3"/>
              </a:rPr>
              <a:t> as they get </a:t>
            </a:r>
            <a:r>
              <a:rPr lang="en-US" sz="1500" b="1" dirty="0" smtClean="0">
                <a:latin typeface="Verdana" pitchFamily="34" charset="0"/>
                <a:ea typeface="ヒラギノ角ゴ Pro W3"/>
                <a:cs typeface="ヒラギノ角ゴ Pro W3"/>
              </a:rPr>
              <a:t>small enough to be built</a:t>
            </a:r>
            <a:r>
              <a:rPr lang="en-US" sz="1500" dirty="0" smtClean="0">
                <a:latin typeface="Verdana" pitchFamily="34" charset="0"/>
                <a:ea typeface="ヒラギノ角ゴ Pro W3"/>
                <a:cs typeface="ヒラギノ角ゴ Pro W3"/>
              </a:rPr>
              <a:t> into phones and other mobile devices. </a:t>
            </a:r>
          </a:p>
          <a:p>
            <a:pPr algn="just" eaLnBrk="1" hangingPunct="1">
              <a:lnSpc>
                <a:spcPct val="150000"/>
              </a:lnSpc>
            </a:pPr>
            <a:r>
              <a:rPr lang="en-US" sz="1500" dirty="0" smtClean="0">
                <a:latin typeface="Verdana" pitchFamily="34" charset="0"/>
                <a:ea typeface="ヒラギノ角ゴ Pro W3"/>
                <a:cs typeface="ヒラギノ角ゴ Pro W3"/>
              </a:rPr>
              <a:t>Images can be projected onto any surface and pointing and other gestures can be recognized by a camera. </a:t>
            </a:r>
          </a:p>
          <a:p>
            <a:pPr algn="just" eaLnBrk="1" hangingPunct="1">
              <a:lnSpc>
                <a:spcPct val="150000"/>
              </a:lnSpc>
            </a:pPr>
            <a:r>
              <a:rPr lang="en-US" sz="1500" dirty="0" smtClean="0">
                <a:latin typeface="Verdana" pitchFamily="34" charset="0"/>
                <a:ea typeface="ヒラギノ角ゴ Pro W3"/>
                <a:cs typeface="ヒラギノ角ゴ Pro W3"/>
              </a:rPr>
              <a:t>In this way any surface has the potential to become a multi-touch display</a:t>
            </a:r>
            <a:endParaRPr lang="en-US" sz="1500" dirty="0" smtClean="0">
              <a:latin typeface="Verdana" pitchFamily="34" charset="0"/>
            </a:endParaRPr>
          </a:p>
        </p:txBody>
      </p:sp>
      <p:sp>
        <p:nvSpPr>
          <p:cNvPr id="5" name="Title 1"/>
          <p:cNvSpPr txBox="1">
            <a:spLocks/>
          </p:cNvSpPr>
          <p:nvPr/>
        </p:nvSpPr>
        <p:spPr bwMode="auto">
          <a:xfrm>
            <a:off x="457200" y="3660745"/>
            <a:ext cx="8229600" cy="490066"/>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defTabSz="457200" rtl="0" eaLnBrk="0" fontAlgn="base" hangingPunct="0">
              <a:spcBef>
                <a:spcPct val="0"/>
              </a:spcBef>
              <a:spcAft>
                <a:spcPct val="0"/>
              </a:spcAft>
              <a:defRPr sz="4400" kern="1200">
                <a:solidFill>
                  <a:schemeClr val="tx1"/>
                </a:solidFill>
                <a:latin typeface="+mj-lt"/>
                <a:ea typeface="+mj-ea"/>
                <a:cs typeface="+mj-cs"/>
              </a:defRPr>
            </a:lvl1pPr>
            <a:lvl2pPr algn="ctr" defTabSz="457200" rtl="0" eaLnBrk="0" fontAlgn="base" hangingPunct="0">
              <a:spcBef>
                <a:spcPct val="0"/>
              </a:spcBef>
              <a:spcAft>
                <a:spcPct val="0"/>
              </a:spcAft>
              <a:defRPr sz="4400">
                <a:solidFill>
                  <a:schemeClr val="tx1"/>
                </a:solidFill>
                <a:latin typeface="Calibri" pitchFamily="34" charset="0"/>
              </a:defRPr>
            </a:lvl2pPr>
            <a:lvl3pPr algn="ctr" defTabSz="457200" rtl="0" eaLnBrk="0" fontAlgn="base" hangingPunct="0">
              <a:spcBef>
                <a:spcPct val="0"/>
              </a:spcBef>
              <a:spcAft>
                <a:spcPct val="0"/>
              </a:spcAft>
              <a:defRPr sz="4400">
                <a:solidFill>
                  <a:schemeClr val="tx1"/>
                </a:solidFill>
                <a:latin typeface="Calibri" pitchFamily="34" charset="0"/>
              </a:defRPr>
            </a:lvl3pPr>
            <a:lvl4pPr algn="ctr" defTabSz="457200" rtl="0" eaLnBrk="0" fontAlgn="base" hangingPunct="0">
              <a:spcBef>
                <a:spcPct val="0"/>
              </a:spcBef>
              <a:spcAft>
                <a:spcPct val="0"/>
              </a:spcAft>
              <a:defRPr sz="4400">
                <a:solidFill>
                  <a:schemeClr val="tx1"/>
                </a:solidFill>
                <a:latin typeface="Calibri" pitchFamily="34" charset="0"/>
              </a:defRPr>
            </a:lvl4pPr>
            <a:lvl5pPr algn="ctr" defTabSz="457200" rtl="0" eaLnBrk="0" fontAlgn="base" hangingPunct="0">
              <a:spcBef>
                <a:spcPct val="0"/>
              </a:spcBef>
              <a:spcAft>
                <a:spcPct val="0"/>
              </a:spcAft>
              <a:defRPr sz="4400">
                <a:solidFill>
                  <a:schemeClr val="tx1"/>
                </a:solidFill>
                <a:latin typeface="Calibri" pitchFamily="34" charset="0"/>
              </a:defRPr>
            </a:lvl5pPr>
            <a:lvl6pPr marL="457200" algn="ctr" defTabSz="457200" rtl="0" fontAlgn="base">
              <a:spcBef>
                <a:spcPct val="0"/>
              </a:spcBef>
              <a:spcAft>
                <a:spcPct val="0"/>
              </a:spcAft>
              <a:defRPr sz="4400">
                <a:solidFill>
                  <a:schemeClr val="tx1"/>
                </a:solidFill>
                <a:latin typeface="Calibri" pitchFamily="34" charset="0"/>
              </a:defRPr>
            </a:lvl6pPr>
            <a:lvl7pPr marL="914400" algn="ctr" defTabSz="457200" rtl="0" fontAlgn="base">
              <a:spcBef>
                <a:spcPct val="0"/>
              </a:spcBef>
              <a:spcAft>
                <a:spcPct val="0"/>
              </a:spcAft>
              <a:defRPr sz="4400">
                <a:solidFill>
                  <a:schemeClr val="tx1"/>
                </a:solidFill>
                <a:latin typeface="Calibri" pitchFamily="34" charset="0"/>
              </a:defRPr>
            </a:lvl7pPr>
            <a:lvl8pPr marL="1371600" algn="ctr" defTabSz="457200" rtl="0" fontAlgn="base">
              <a:spcBef>
                <a:spcPct val="0"/>
              </a:spcBef>
              <a:spcAft>
                <a:spcPct val="0"/>
              </a:spcAft>
              <a:defRPr sz="4400">
                <a:solidFill>
                  <a:schemeClr val="tx1"/>
                </a:solidFill>
                <a:latin typeface="Calibri" pitchFamily="34" charset="0"/>
              </a:defRPr>
            </a:lvl8pPr>
            <a:lvl9pPr marL="1828800" algn="ctr" defTabSz="457200" rtl="0" fontAlgn="base">
              <a:spcBef>
                <a:spcPct val="0"/>
              </a:spcBef>
              <a:spcAft>
                <a:spcPct val="0"/>
              </a:spcAft>
              <a:defRPr sz="4400">
                <a:solidFill>
                  <a:schemeClr val="tx1"/>
                </a:solidFill>
                <a:latin typeface="Calibri" pitchFamily="34" charset="0"/>
              </a:defRPr>
            </a:lvl9pPr>
          </a:lstStyle>
          <a:p>
            <a:pPr eaLnBrk="1" hangingPunct="1"/>
            <a:r>
              <a:rPr lang="en-US" sz="1500" b="1" dirty="0" smtClean="0">
                <a:latin typeface="Verdana" pitchFamily="34" charset="0"/>
                <a:ea typeface="ヒラギノ角ゴ Pro W3"/>
                <a:cs typeface="ヒラギノ角ゴ Pro W3"/>
              </a:rPr>
              <a:t>Sound</a:t>
            </a:r>
            <a:endParaRPr lang="en-US" sz="1500" b="1" dirty="0" smtClean="0">
              <a:latin typeface="Verdana" pitchFamily="34" charset="0"/>
              <a:ea typeface="ヒラギノ角ゴ Pro W3"/>
              <a:cs typeface="ヒラギノ角ゴ Pro W3"/>
            </a:endParaRPr>
          </a:p>
        </p:txBody>
      </p:sp>
      <p:sp>
        <p:nvSpPr>
          <p:cNvPr id="6" name="Text Placeholder 2"/>
          <p:cNvSpPr txBox="1">
            <a:spLocks/>
          </p:cNvSpPr>
          <p:nvPr/>
        </p:nvSpPr>
        <p:spPr bwMode="auto">
          <a:xfrm>
            <a:off x="539552" y="4236809"/>
            <a:ext cx="8003232" cy="2088232"/>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457200"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defTabSz="457200"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defTabSz="457200"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defTabSz="457200"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just" eaLnBrk="1" hangingPunct="1">
              <a:lnSpc>
                <a:spcPct val="150000"/>
              </a:lnSpc>
            </a:pPr>
            <a:r>
              <a:rPr lang="en-US" sz="1500" smtClean="0">
                <a:latin typeface="Verdana" pitchFamily="34" charset="0"/>
                <a:ea typeface="ヒラギノ角ゴ Pro W3"/>
                <a:cs typeface="ヒラギノ角ゴ Pro W3"/>
              </a:rPr>
              <a:t>Sound is an output medium that is significantly under-used.</a:t>
            </a:r>
          </a:p>
          <a:p>
            <a:pPr algn="just" eaLnBrk="1" hangingPunct="1">
              <a:lnSpc>
                <a:spcPct val="150000"/>
              </a:lnSpc>
            </a:pPr>
            <a:r>
              <a:rPr lang="en-US" sz="1500" b="1" smtClean="0">
                <a:latin typeface="Verdana" pitchFamily="34" charset="0"/>
                <a:ea typeface="ヒラギノ角ゴ Pro W3"/>
                <a:cs typeface="ヒラギノ角ゴ Pro W3"/>
              </a:rPr>
              <a:t>Speech output is also an increasingly popular option (e.g. in satellite navigation systems)</a:t>
            </a:r>
            <a:r>
              <a:rPr lang="en-US" sz="1500" smtClean="0">
                <a:latin typeface="Verdana" pitchFamily="34" charset="0"/>
                <a:ea typeface="ヒラギノ角ゴ Pro W3"/>
                <a:cs typeface="ヒラギノ角ゴ Pro W3"/>
              </a:rPr>
              <a:t>. </a:t>
            </a:r>
          </a:p>
          <a:p>
            <a:pPr algn="just" eaLnBrk="1" hangingPunct="1">
              <a:lnSpc>
                <a:spcPct val="150000"/>
              </a:lnSpc>
            </a:pPr>
            <a:r>
              <a:rPr lang="en-US" sz="1500" smtClean="0">
                <a:latin typeface="Verdana" pitchFamily="34" charset="0"/>
                <a:ea typeface="ヒラギノ角ゴ Pro W3"/>
                <a:cs typeface="ヒラギノ角ゴ Pro W3"/>
              </a:rPr>
              <a:t>With effective </a:t>
            </a:r>
            <a:r>
              <a:rPr lang="en-US" sz="1500" b="1" smtClean="0">
                <a:latin typeface="Verdana" pitchFamily="34" charset="0"/>
                <a:ea typeface="ヒラギノ角ゴ Pro W3"/>
                <a:cs typeface="ヒラギノ角ゴ Pro W3"/>
              </a:rPr>
              <a:t>text to speech (TTS) </a:t>
            </a:r>
            <a:r>
              <a:rPr lang="en-US" sz="1500" smtClean="0">
                <a:latin typeface="Verdana" pitchFamily="34" charset="0"/>
                <a:ea typeface="ヒラギノ角ゴ Pro W3"/>
                <a:cs typeface="ヒラギノ角ゴ Pro W3"/>
              </a:rPr>
              <a:t>systems simply sending a text message to the system results in clear spoken output.</a:t>
            </a:r>
            <a:endParaRPr lang="en-US" sz="1500" dirty="0" smtClean="0">
              <a:latin typeface="Verdana" pitchFamily="34" charset="0"/>
              <a:ea typeface="ヒラギノ角ゴ Pro W3"/>
              <a:cs typeface="ヒラギノ角ゴ Pro W3"/>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Title 1"/>
          <p:cNvSpPr>
            <a:spLocks noGrp="1"/>
          </p:cNvSpPr>
          <p:nvPr>
            <p:ph type="title"/>
          </p:nvPr>
        </p:nvSpPr>
        <p:spPr>
          <a:xfrm>
            <a:off x="446856" y="120081"/>
            <a:ext cx="8229600" cy="932655"/>
          </a:xfrm>
        </p:spPr>
        <p:txBody>
          <a:bodyPr/>
          <a:lstStyle/>
          <a:p>
            <a:pPr eaLnBrk="1" hangingPunct="1"/>
            <a:r>
              <a:rPr lang="en-US" sz="1500" b="1" dirty="0" smtClean="0">
                <a:latin typeface="Verdana" pitchFamily="34" charset="0"/>
                <a:ea typeface="ヒラギノ角ゴ Pro W3"/>
                <a:cs typeface="ヒラギノ角ゴ Pro W3"/>
              </a:rPr>
              <a:t>Printers</a:t>
            </a:r>
          </a:p>
        </p:txBody>
      </p:sp>
      <p:sp>
        <p:nvSpPr>
          <p:cNvPr id="63490" name="Text Placeholder 2"/>
          <p:cNvSpPr>
            <a:spLocks noGrp="1"/>
          </p:cNvSpPr>
          <p:nvPr>
            <p:ph type="body" idx="1"/>
          </p:nvPr>
        </p:nvSpPr>
        <p:spPr>
          <a:xfrm>
            <a:off x="475278" y="908720"/>
            <a:ext cx="8201178" cy="5318051"/>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A </a:t>
            </a:r>
            <a:r>
              <a:rPr lang="en-US" sz="1500" b="1" dirty="0" smtClean="0">
                <a:latin typeface="Verdana" pitchFamily="34" charset="0"/>
                <a:ea typeface="ヒラギノ角ゴ Pro W3"/>
                <a:cs typeface="ヒラギノ角ゴ Pro W3"/>
              </a:rPr>
              <a:t>printer</a:t>
            </a:r>
            <a:r>
              <a:rPr lang="en-US" sz="1500" dirty="0" smtClean="0">
                <a:latin typeface="Verdana" pitchFamily="34" charset="0"/>
                <a:ea typeface="ヒラギノ角ゴ Pro W3"/>
                <a:cs typeface="ヒラギノ角ゴ Pro W3"/>
              </a:rPr>
              <a:t> is a device that </a:t>
            </a:r>
            <a:r>
              <a:rPr lang="en-US" sz="1500" b="1" dirty="0" smtClean="0">
                <a:latin typeface="Verdana" pitchFamily="34" charset="0"/>
                <a:ea typeface="ヒラギノ角ゴ Pro W3"/>
                <a:cs typeface="ヒラギノ角ゴ Pro W3"/>
              </a:rPr>
              <a:t>prints text or illustrations</a:t>
            </a:r>
            <a:r>
              <a:rPr lang="en-US" sz="1500" dirty="0" smtClean="0">
                <a:latin typeface="Verdana" pitchFamily="34" charset="0"/>
                <a:ea typeface="ヒラギノ角ゴ Pro W3"/>
                <a:cs typeface="ヒラギノ角ゴ Pro W3"/>
              </a:rPr>
              <a:t> on paper, while a </a:t>
            </a:r>
            <a:r>
              <a:rPr lang="en-US" sz="1500" b="1" dirty="0" smtClean="0">
                <a:latin typeface="Verdana" pitchFamily="34" charset="0"/>
                <a:ea typeface="ヒラギノ角ゴ Pro W3"/>
                <a:cs typeface="ヒラギノ角ゴ Pro W3"/>
              </a:rPr>
              <a:t>plotter draws pictures or shapes</a:t>
            </a:r>
            <a:r>
              <a:rPr lang="en-US" sz="1500" dirty="0" smtClean="0">
                <a:latin typeface="Verdana" pitchFamily="34" charset="0"/>
                <a:ea typeface="ヒラギノ角ゴ Pro W3"/>
                <a:cs typeface="ヒラギノ角ゴ Pro W3"/>
              </a:rPr>
              <a:t>. </a:t>
            </a:r>
          </a:p>
          <a:p>
            <a:pPr algn="just" eaLnBrk="1" hangingPunct="1">
              <a:lnSpc>
                <a:spcPct val="200000"/>
              </a:lnSpc>
            </a:pPr>
            <a:r>
              <a:rPr lang="en-US" sz="1500" b="1" dirty="0" smtClean="0">
                <a:latin typeface="Verdana" pitchFamily="34" charset="0"/>
                <a:ea typeface="ヒラギノ角ゴ Pro W3"/>
                <a:cs typeface="ヒラギノ角ゴ Pro W3"/>
              </a:rPr>
              <a:t>Plotters</a:t>
            </a:r>
            <a:r>
              <a:rPr lang="en-US" sz="1500" dirty="0" smtClean="0">
                <a:latin typeface="Verdana" pitchFamily="34" charset="0"/>
                <a:ea typeface="ヒラギノ角ゴ Pro W3"/>
                <a:cs typeface="ヒラギノ角ゴ Pro W3"/>
              </a:rPr>
              <a:t> differ from printers in that they draw lines using a pen. As a result, they can produce continuous lines, whereas printers can only simulate lines by printing a closely spaced series of dots. </a:t>
            </a:r>
          </a:p>
          <a:p>
            <a:pPr algn="just" eaLnBrk="1" hangingPunct="1">
              <a:lnSpc>
                <a:spcPct val="200000"/>
              </a:lnSpc>
            </a:pPr>
            <a:r>
              <a:rPr lang="en-US" sz="1500" b="1" dirty="0" smtClean="0">
                <a:latin typeface="Verdana" pitchFamily="34" charset="0"/>
                <a:ea typeface="ヒラギノ角ゴ Pro W3"/>
                <a:cs typeface="ヒラギノ角ゴ Pro W3"/>
              </a:rPr>
              <a:t>Multicolor plotters </a:t>
            </a:r>
            <a:r>
              <a:rPr lang="en-US" sz="1500" dirty="0" smtClean="0">
                <a:latin typeface="Verdana" pitchFamily="34" charset="0"/>
                <a:ea typeface="ヒラギノ角ゴ Pro W3"/>
                <a:cs typeface="ヒラギノ角ゴ Pro W3"/>
              </a:rPr>
              <a:t>use different-coloured pens. </a:t>
            </a:r>
          </a:p>
          <a:p>
            <a:pPr algn="just" eaLnBrk="1" hangingPunct="1">
              <a:lnSpc>
                <a:spcPct val="200000"/>
              </a:lnSpc>
            </a:pPr>
            <a:r>
              <a:rPr lang="en-US" sz="1500" b="1" dirty="0" smtClean="0">
                <a:latin typeface="Verdana" pitchFamily="34" charset="0"/>
                <a:ea typeface="ヒラギノ角ゴ Pro W3"/>
                <a:cs typeface="ヒラギノ角ゴ Pro W3"/>
              </a:rPr>
              <a:t>3D </a:t>
            </a:r>
            <a:r>
              <a:rPr lang="en-US" sz="1500" b="1" dirty="0" smtClean="0">
                <a:latin typeface="Verdana" pitchFamily="34" charset="0"/>
                <a:ea typeface="ヒラギノ角ゴ Pro W3"/>
                <a:cs typeface="ヒラギノ角ゴ Pro W3"/>
              </a:rPr>
              <a:t>printers </a:t>
            </a:r>
            <a:r>
              <a:rPr lang="en-US" sz="1500" dirty="0" smtClean="0">
                <a:latin typeface="Verdana" pitchFamily="34" charset="0"/>
                <a:ea typeface="ヒラギノ角ゴ Pro W3"/>
                <a:cs typeface="ヒラギノ角ゴ Pro W3"/>
              </a:rPr>
              <a:t>allow for the rapid prototyping of physical designs for new products.</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Title 1"/>
          <p:cNvSpPr>
            <a:spLocks noGrp="1"/>
          </p:cNvSpPr>
          <p:nvPr>
            <p:ph type="title"/>
          </p:nvPr>
        </p:nvSpPr>
        <p:spPr/>
        <p:txBody>
          <a:bodyPr/>
          <a:lstStyle/>
          <a:p>
            <a:pPr eaLnBrk="1" hangingPunct="1"/>
            <a:r>
              <a:rPr lang="en-US" sz="1600" b="1" dirty="0" smtClean="0">
                <a:latin typeface="Verdana" pitchFamily="34" charset="0"/>
                <a:ea typeface="ヒラギノ角ゴ Pro W3"/>
                <a:cs typeface="ヒラギノ角ゴ Pro W3"/>
              </a:rPr>
              <a:t>Haptics</a:t>
            </a:r>
          </a:p>
        </p:txBody>
      </p:sp>
      <p:sp>
        <p:nvSpPr>
          <p:cNvPr id="64514" name="Text Placeholder 2"/>
          <p:cNvSpPr>
            <a:spLocks noGrp="1"/>
          </p:cNvSpPr>
          <p:nvPr>
            <p:ph type="body" idx="1"/>
          </p:nvPr>
        </p:nvSpPr>
        <p:spPr>
          <a:xfrm>
            <a:off x="479082" y="1466129"/>
            <a:ext cx="8229600" cy="4525963"/>
          </a:xfrm>
        </p:spPr>
        <p:txBody>
          <a:bodyPr/>
          <a:lstStyle/>
          <a:p>
            <a:pPr algn="just" eaLnBrk="1" hangingPunct="1">
              <a:lnSpc>
                <a:spcPct val="200000"/>
              </a:lnSpc>
            </a:pPr>
            <a:r>
              <a:rPr lang="en-US" sz="1500" dirty="0" smtClean="0">
                <a:latin typeface="Verdana" pitchFamily="34" charset="0"/>
                <a:ea typeface="ヒラギノ角ゴ Pro W3"/>
                <a:cs typeface="ヒラギノ角ゴ Pro W3"/>
              </a:rPr>
              <a:t>Haptics refer to the </a:t>
            </a:r>
            <a:r>
              <a:rPr lang="en-US" sz="1500" b="1" dirty="0" smtClean="0">
                <a:latin typeface="Verdana" pitchFamily="34" charset="0"/>
                <a:ea typeface="ヒラギノ角ゴ Pro W3"/>
                <a:cs typeface="ヒラギノ角ゴ Pro W3"/>
              </a:rPr>
              <a:t>sense of touch.</a:t>
            </a:r>
            <a:r>
              <a:rPr lang="en-US" sz="1500" dirty="0" smtClean="0">
                <a:latin typeface="Verdana" pitchFamily="34" charset="0"/>
                <a:ea typeface="ヒラギノ角ゴ Pro W3"/>
                <a:cs typeface="ヒラギノ角ゴ Pro W3"/>
              </a:rPr>
              <a:t> </a:t>
            </a:r>
          </a:p>
          <a:p>
            <a:pPr algn="just" eaLnBrk="1" hangingPunct="1">
              <a:lnSpc>
                <a:spcPct val="200000"/>
              </a:lnSpc>
            </a:pPr>
            <a:r>
              <a:rPr lang="en-US" sz="1500" dirty="0" smtClean="0">
                <a:latin typeface="Verdana" pitchFamily="34" charset="0"/>
                <a:ea typeface="ヒラギノ角ゴ Pro W3"/>
                <a:cs typeface="ヒラギノ角ゴ Pro W3"/>
              </a:rPr>
              <a:t>Perhaps the most widespread </a:t>
            </a:r>
            <a:r>
              <a:rPr lang="en-US" sz="1500" b="1" dirty="0" smtClean="0">
                <a:latin typeface="Verdana" pitchFamily="34" charset="0"/>
                <a:ea typeface="ヒラギノ角ゴ Pro W3"/>
                <a:cs typeface="ヒラギノ角ゴ Pro W3"/>
              </a:rPr>
              <a:t>haptic devices </a:t>
            </a:r>
            <a:r>
              <a:rPr lang="en-US" sz="1500" dirty="0" smtClean="0">
                <a:latin typeface="Verdana" pitchFamily="34" charset="0"/>
                <a:ea typeface="ヒラギノ角ゴ Pro W3"/>
                <a:cs typeface="ヒラギノ角ゴ Pro W3"/>
              </a:rPr>
              <a:t>are those </a:t>
            </a:r>
            <a:r>
              <a:rPr lang="en-US" sz="1500" b="1" dirty="0" smtClean="0">
                <a:latin typeface="Verdana" pitchFamily="34" charset="0"/>
                <a:ea typeface="ヒラギノ角ゴ Pro W3"/>
                <a:cs typeface="ヒラギノ角ゴ Pro W3"/>
              </a:rPr>
              <a:t>games controllers</a:t>
            </a:r>
            <a:r>
              <a:rPr lang="en-US" sz="1500" dirty="0" smtClean="0">
                <a:latin typeface="Verdana" pitchFamily="34" charset="0"/>
                <a:ea typeface="ヒラギノ角ゴ Pro W3"/>
                <a:cs typeface="ヒラギノ角ゴ Pro W3"/>
              </a:rPr>
              <a:t> that incorporate so-called force-feedback. </a:t>
            </a:r>
          </a:p>
          <a:p>
            <a:pPr algn="just" eaLnBrk="1" hangingPunct="1">
              <a:lnSpc>
                <a:spcPct val="200000"/>
              </a:lnSpc>
            </a:pPr>
            <a:r>
              <a:rPr lang="en-US" sz="1500" b="1" dirty="0" smtClean="0">
                <a:latin typeface="Verdana" pitchFamily="34" charset="0"/>
                <a:ea typeface="ヒラギノ角ゴ Pro W3"/>
                <a:cs typeface="ヒラギノ角ゴ Pro W3"/>
              </a:rPr>
              <a:t>Force-feedback</a:t>
            </a:r>
            <a:r>
              <a:rPr lang="en-US" sz="1500" dirty="0" smtClean="0">
                <a:latin typeface="Verdana" pitchFamily="34" charset="0"/>
                <a:ea typeface="ヒラギノ角ゴ Pro W3"/>
                <a:cs typeface="ヒラギノ角ゴ Pro W3"/>
              </a:rPr>
              <a:t> is intended to convey feedback from typically games environments back to the person engaged. </a:t>
            </a:r>
          </a:p>
          <a:p>
            <a:pPr algn="just" eaLnBrk="1" hangingPunct="1">
              <a:lnSpc>
                <a:spcPct val="200000"/>
              </a:lnSpc>
            </a:pPr>
            <a:r>
              <a:rPr lang="en-US" sz="1500" dirty="0" smtClean="0">
                <a:latin typeface="Verdana" pitchFamily="34" charset="0"/>
                <a:ea typeface="ヒラギノ角ゴ Pro W3"/>
                <a:cs typeface="ヒラギノ角ゴ Pro W3"/>
              </a:rPr>
              <a:t>Other examples include the ‘</a:t>
            </a:r>
            <a:r>
              <a:rPr lang="en-US" sz="1500" b="1" dirty="0" smtClean="0">
                <a:latin typeface="Verdana" pitchFamily="34" charset="0"/>
                <a:ea typeface="ヒラギノ角ゴ Pro W3"/>
                <a:cs typeface="ヒラギノ角ゴ Pro W3"/>
              </a:rPr>
              <a:t>silent alert</a:t>
            </a:r>
            <a:r>
              <a:rPr lang="en-US" sz="1500" dirty="0" smtClean="0">
                <a:latin typeface="Verdana" pitchFamily="34" charset="0"/>
                <a:ea typeface="ヒラギノ角ゴ Pro W3"/>
                <a:cs typeface="ヒラギノ角ゴ Pro W3"/>
              </a:rPr>
              <a:t>’ vibration of a mobile phone and even the </a:t>
            </a:r>
            <a:r>
              <a:rPr lang="en-US" sz="1500" b="1" dirty="0" smtClean="0">
                <a:latin typeface="Verdana" pitchFamily="34" charset="0"/>
                <a:ea typeface="ヒラギノ角ゴ Pro W3"/>
                <a:cs typeface="ヒラギノ角ゴ Pro W3"/>
              </a:rPr>
              <a:t>feel of a key when pressed</a:t>
            </a:r>
            <a:r>
              <a:rPr lang="en-US" sz="15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Title 1"/>
          <p:cNvSpPr>
            <a:spLocks noGrp="1"/>
          </p:cNvSpPr>
          <p:nvPr>
            <p:ph type="title"/>
          </p:nvPr>
        </p:nvSpPr>
        <p:spPr>
          <a:xfrm>
            <a:off x="457200" y="274638"/>
            <a:ext cx="8229600" cy="634082"/>
          </a:xfrm>
        </p:spPr>
        <p:txBody>
          <a:bodyPr/>
          <a:lstStyle/>
          <a:p>
            <a:pPr eaLnBrk="1" hangingPunct="1"/>
            <a:r>
              <a:rPr lang="en-US" sz="1500" dirty="0" smtClean="0">
                <a:latin typeface="Verdana" pitchFamily="34" charset="0"/>
                <a:ea typeface="ヒラギノ角ゴ Pro W3"/>
                <a:cs typeface="ヒラギノ角ゴ Pro W3"/>
              </a:rPr>
              <a:t>Communication</a:t>
            </a:r>
          </a:p>
        </p:txBody>
      </p:sp>
      <p:sp>
        <p:nvSpPr>
          <p:cNvPr id="65538" name="Text Placeholder 2"/>
          <p:cNvSpPr>
            <a:spLocks noGrp="1"/>
          </p:cNvSpPr>
          <p:nvPr>
            <p:ph type="body" idx="1"/>
          </p:nvPr>
        </p:nvSpPr>
        <p:spPr>
          <a:xfrm>
            <a:off x="457200" y="980728"/>
            <a:ext cx="8229600" cy="5256584"/>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Communications between people and between devices is an important part of designing interactive systems. </a:t>
            </a:r>
          </a:p>
          <a:p>
            <a:pPr algn="just" eaLnBrk="1" hangingPunct="1">
              <a:lnSpc>
                <a:spcPct val="150000"/>
              </a:lnSpc>
            </a:pPr>
            <a:r>
              <a:rPr lang="en-US" sz="1500" dirty="0" smtClean="0">
                <a:latin typeface="Verdana" pitchFamily="34" charset="0"/>
                <a:ea typeface="ヒラギノ角ゴ Pro W3"/>
                <a:cs typeface="ヒラギノ角ゴ Pro W3"/>
              </a:rPr>
              <a:t>Here </a:t>
            </a:r>
            <a:r>
              <a:rPr lang="en-US" sz="1500" b="1" dirty="0" smtClean="0">
                <a:latin typeface="Verdana" pitchFamily="34" charset="0"/>
                <a:ea typeface="ヒラギノ角ゴ Pro W3"/>
                <a:cs typeface="ヒラギノ角ゴ Pro W3"/>
              </a:rPr>
              <a:t>issues such as bandwidth and speed</a:t>
            </a:r>
            <a:r>
              <a:rPr lang="en-US" sz="1500" dirty="0" smtClean="0">
                <a:latin typeface="Verdana" pitchFamily="34" charset="0"/>
                <a:ea typeface="ヒラギノ角ゴ Pro W3"/>
                <a:cs typeface="ヒラギノ角ゴ Pro W3"/>
              </a:rPr>
              <a:t> are critical. </a:t>
            </a:r>
          </a:p>
          <a:p>
            <a:pPr algn="just" eaLnBrk="1" hangingPunct="1">
              <a:lnSpc>
                <a:spcPct val="150000"/>
              </a:lnSpc>
            </a:pPr>
            <a:r>
              <a:rPr lang="en-US" sz="1500" dirty="0" smtClean="0">
                <a:latin typeface="Verdana" pitchFamily="34" charset="0"/>
                <a:ea typeface="ヒラギノ角ゴ Pro W3"/>
                <a:cs typeface="ヒラギノ角ゴ Pro W3"/>
              </a:rPr>
              <a:t>So too is </a:t>
            </a:r>
            <a:r>
              <a:rPr lang="en-US" sz="1500" b="1" dirty="0" smtClean="0">
                <a:latin typeface="Verdana" pitchFamily="34" charset="0"/>
                <a:ea typeface="ヒラギノ角ゴ Pro W3"/>
                <a:cs typeface="ヒラギノ角ゴ Pro W3"/>
              </a:rPr>
              <a:t>feedback to people so that they know what is going on and indeed that something is going on! </a:t>
            </a:r>
            <a:r>
              <a:rPr lang="en-US" sz="1500" dirty="0" smtClean="0">
                <a:latin typeface="Verdana" pitchFamily="34" charset="0"/>
                <a:ea typeface="ヒラギノ角ゴ Pro W3"/>
                <a:cs typeface="ヒラギノ角ゴ Pro W3"/>
              </a:rPr>
              <a:t>In some domains the transmission and storage of large amounts of data becomes a key feature. </a:t>
            </a:r>
          </a:p>
          <a:p>
            <a:pPr algn="just" eaLnBrk="1" hangingPunct="1">
              <a:lnSpc>
                <a:spcPct val="150000"/>
              </a:lnSpc>
            </a:pPr>
            <a:r>
              <a:rPr lang="en-US" sz="1500" dirty="0" smtClean="0">
                <a:latin typeface="Verdana" pitchFamily="34" charset="0"/>
                <a:ea typeface="ヒラギノ角ゴ Pro W3"/>
                <a:cs typeface="ヒラギノ角ゴ Pro W3"/>
              </a:rPr>
              <a:t>Communication can take place through </a:t>
            </a:r>
            <a:r>
              <a:rPr lang="en-US" sz="1500" b="1" dirty="0" smtClean="0">
                <a:latin typeface="Verdana" pitchFamily="34" charset="0"/>
                <a:ea typeface="ヒラギノ角ゴ Pro W3"/>
                <a:cs typeface="ヒラギノ角ゴ Pro W3"/>
              </a:rPr>
              <a:t>wired connections </a:t>
            </a:r>
            <a:r>
              <a:rPr lang="en-US" sz="1500" dirty="0" smtClean="0">
                <a:latin typeface="Verdana" pitchFamily="34" charset="0"/>
                <a:ea typeface="ヒラギノ角ゴ Pro W3"/>
                <a:cs typeface="ヒラギノ角ゴ Pro W3"/>
              </a:rPr>
              <a:t>such as a telephone line, or an Ethernet network often found in offices. </a:t>
            </a:r>
          </a:p>
          <a:p>
            <a:pPr algn="just" eaLnBrk="1" hangingPunct="1">
              <a:lnSpc>
                <a:spcPct val="150000"/>
              </a:lnSpc>
            </a:pPr>
            <a:r>
              <a:rPr lang="en-US" sz="1500" dirty="0" smtClean="0">
                <a:latin typeface="Verdana" pitchFamily="34" charset="0"/>
                <a:ea typeface="ヒラギノ角ゴ Pro W3"/>
                <a:cs typeface="ヒラギノ角ゴ Pro W3"/>
              </a:rPr>
              <a:t>Extremely fast communications over </a:t>
            </a:r>
            <a:r>
              <a:rPr lang="en-US" sz="1500" b="1" dirty="0" smtClean="0">
                <a:latin typeface="Verdana" pitchFamily="34" charset="0"/>
                <a:ea typeface="ヒラギノ角ゴ Pro W3"/>
                <a:cs typeface="ヒラギノ角ゴ Pro W3"/>
              </a:rPr>
              <a:t>fibre-optic</a:t>
            </a:r>
            <a:r>
              <a:rPr lang="en-US" sz="1500" dirty="0" smtClean="0">
                <a:latin typeface="Verdana" pitchFamily="34" charset="0"/>
                <a:ea typeface="ヒラギノ角ゴ Pro W3"/>
                <a:cs typeface="ヒラギノ角ゴ Pro W3"/>
              </a:rPr>
              <a:t> cables connect these nodes to each other and hence connect devices to other devices all over the world. </a:t>
            </a:r>
          </a:p>
          <a:p>
            <a:pPr algn="just" eaLnBrk="1" hangingPunct="1">
              <a:lnSpc>
                <a:spcPct val="150000"/>
              </a:lnSpc>
            </a:pPr>
            <a:r>
              <a:rPr lang="en-US" sz="1500" dirty="0" smtClean="0">
                <a:latin typeface="Verdana" pitchFamily="34" charset="0"/>
                <a:ea typeface="ヒラギノ角ゴ Pro W3"/>
                <a:cs typeface="ヒラギノ角ゴ Pro W3"/>
              </a:rPr>
              <a:t>Each device on this </a:t>
            </a:r>
            <a:r>
              <a:rPr lang="en-US" sz="1500" b="1" dirty="0" smtClean="0">
                <a:latin typeface="Verdana" pitchFamily="34" charset="0"/>
                <a:ea typeface="ヒラギノ角ゴ Pro W3"/>
                <a:cs typeface="ヒラギノ角ゴ Pro W3"/>
              </a:rPr>
              <a:t>network has a unique address</a:t>
            </a:r>
            <a:r>
              <a:rPr lang="en-US" sz="1500" dirty="0" smtClean="0">
                <a:latin typeface="Verdana" pitchFamily="34" charset="0"/>
                <a:ea typeface="ヒラギノ角ゴ Pro W3"/>
                <a:cs typeface="ヒラギノ角ゴ Pro W3"/>
              </a:rPr>
              <a:t>, its </a:t>
            </a:r>
            <a:r>
              <a:rPr lang="en-US" sz="1500" b="1" dirty="0" smtClean="0">
                <a:latin typeface="Verdana" pitchFamily="34" charset="0"/>
                <a:ea typeface="ヒラギノ角ゴ Pro W3"/>
                <a:cs typeface="ヒラギノ角ゴ Pro W3"/>
              </a:rPr>
              <a:t>IP (Internet Protocol) </a:t>
            </a:r>
            <a:r>
              <a:rPr lang="en-US" sz="1500" dirty="0" smtClean="0">
                <a:latin typeface="Verdana" pitchFamily="34" charset="0"/>
                <a:ea typeface="ヒラギノ角ゴ Pro W3"/>
                <a:cs typeface="ヒラギノ角ゴ Pro W3"/>
              </a:rPr>
              <a:t>address that enables data to be routed to the correct device. </a:t>
            </a:r>
          </a:p>
          <a:p>
            <a:pPr algn="just" eaLnBrk="1" hangingPunct="1">
              <a:lnSpc>
                <a:spcPct val="150000"/>
              </a:lnSpc>
            </a:pPr>
            <a:r>
              <a:rPr lang="en-US" sz="1500" dirty="0" smtClean="0">
                <a:latin typeface="Verdana" pitchFamily="34" charset="0"/>
                <a:ea typeface="ヒラギノ角ゴ Pro W3"/>
                <a:cs typeface="ヒラギノ角ゴ Pro W3"/>
              </a:rPr>
              <a:t>The number of IP addresses available will soon be used up and a new form of address, IPv6, will be needed.</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Title 1"/>
          <p:cNvSpPr>
            <a:spLocks noGrp="1"/>
          </p:cNvSpPr>
          <p:nvPr>
            <p:ph type="title"/>
          </p:nvPr>
        </p:nvSpPr>
        <p:spPr>
          <a:xfrm>
            <a:off x="457200" y="274638"/>
            <a:ext cx="8229600" cy="418058"/>
          </a:xfrm>
        </p:spPr>
        <p:txBody>
          <a:bodyPr/>
          <a:lstStyle/>
          <a:p>
            <a:pPr eaLnBrk="1" hangingPunct="1"/>
            <a:r>
              <a:rPr lang="en-US" sz="1500" dirty="0" smtClean="0">
                <a:latin typeface="Verdana" pitchFamily="34" charset="0"/>
                <a:ea typeface="ヒラギノ角ゴ Pro W3"/>
                <a:cs typeface="ヒラギノ角ゴ Pro W3"/>
              </a:rPr>
              <a:t>Wireless communication </a:t>
            </a:r>
          </a:p>
        </p:txBody>
      </p:sp>
      <p:sp>
        <p:nvSpPr>
          <p:cNvPr id="66562" name="Text Placeholder 2"/>
          <p:cNvSpPr>
            <a:spLocks noGrp="1"/>
          </p:cNvSpPr>
          <p:nvPr>
            <p:ph type="body" idx="1"/>
          </p:nvPr>
        </p:nvSpPr>
        <p:spPr>
          <a:xfrm>
            <a:off x="457200" y="764704"/>
            <a:ext cx="8229600" cy="5760640"/>
          </a:xfrm>
        </p:spPr>
        <p:txBody>
          <a:bodyPr/>
          <a:lstStyle/>
          <a:p>
            <a:pPr algn="just" eaLnBrk="1" hangingPunct="1">
              <a:lnSpc>
                <a:spcPct val="150000"/>
              </a:lnSpc>
            </a:pPr>
            <a:r>
              <a:rPr lang="en-US" sz="1500" b="1" dirty="0" smtClean="0">
                <a:latin typeface="Verdana" pitchFamily="34" charset="0"/>
                <a:ea typeface="ヒラギノ角ゴ Pro W3"/>
                <a:cs typeface="ヒラギノ角ゴ Pro W3"/>
              </a:rPr>
              <a:t>Wireless communication </a:t>
            </a:r>
            <a:r>
              <a:rPr lang="en-US" sz="1500" dirty="0" smtClean="0">
                <a:latin typeface="Verdana" pitchFamily="34" charset="0"/>
                <a:ea typeface="ヒラギノ角ゴ Pro W3"/>
                <a:cs typeface="ヒラギノ角ゴ Pro W3"/>
              </a:rPr>
              <a:t>is becoming much more common and often a wireless ‘hub’ is attached to an Ethernet network. </a:t>
            </a:r>
          </a:p>
          <a:p>
            <a:pPr algn="just" eaLnBrk="1" hangingPunct="1">
              <a:lnSpc>
                <a:spcPct val="150000"/>
              </a:lnSpc>
            </a:pPr>
            <a:r>
              <a:rPr lang="en-US" sz="1500" dirty="0" smtClean="0">
                <a:latin typeface="Verdana" pitchFamily="34" charset="0"/>
                <a:ea typeface="ヒラギノ角ゴ Pro W3"/>
                <a:cs typeface="ヒラギノ角ゴ Pro W3"/>
              </a:rPr>
              <a:t>Wireless communications can take place over the wireless telephone network used for mobile phones or over a Wi-Fi connection.</a:t>
            </a:r>
          </a:p>
          <a:p>
            <a:pPr algn="just" eaLnBrk="1" hangingPunct="1">
              <a:lnSpc>
                <a:spcPct val="150000"/>
              </a:lnSpc>
            </a:pPr>
            <a:r>
              <a:rPr lang="en-US" sz="1500" dirty="0" smtClean="0">
                <a:latin typeface="Verdana" pitchFamily="34" charset="0"/>
                <a:ea typeface="ヒラギノ角ゴ Pro W3"/>
                <a:cs typeface="ヒラギノ角ゴ Pro W3"/>
              </a:rPr>
              <a:t>It is</a:t>
            </a:r>
            <a:r>
              <a:rPr lang="en-US" sz="1500" b="1" dirty="0" smtClean="0">
                <a:latin typeface="Verdana" pitchFamily="34" charset="0"/>
                <a:ea typeface="ヒラギノ角ゴ Pro W3"/>
                <a:cs typeface="ヒラギノ角ゴ Pro W3"/>
              </a:rPr>
              <a:t> limited in range </a:t>
            </a:r>
            <a:r>
              <a:rPr lang="en-US" sz="1500" dirty="0" smtClean="0">
                <a:latin typeface="Verdana" pitchFamily="34" charset="0"/>
                <a:ea typeface="ヒラギノ角ゴ Pro W3"/>
                <a:cs typeface="ヒラギノ角ゴ Pro W3"/>
              </a:rPr>
              <a:t>and you need to be within a few meters of Wi-Fi to get a connection, whereas over the </a:t>
            </a:r>
            <a:r>
              <a:rPr lang="en-US" sz="1500" b="1" dirty="0" smtClean="0">
                <a:latin typeface="Verdana" pitchFamily="34" charset="0"/>
                <a:ea typeface="ヒラギノ角ゴ Pro W3"/>
                <a:cs typeface="ヒラギノ角ゴ Pro W3"/>
              </a:rPr>
              <a:t>telephone network, coverage</a:t>
            </a:r>
            <a:r>
              <a:rPr lang="en-US" sz="1500" dirty="0" smtClean="0">
                <a:latin typeface="Verdana" pitchFamily="34" charset="0"/>
                <a:ea typeface="ヒラギノ角ゴ Pro W3"/>
                <a:cs typeface="ヒラギノ角ゴ Pro W3"/>
              </a:rPr>
              <a:t> is much </a:t>
            </a:r>
            <a:r>
              <a:rPr lang="en-US" sz="1500" b="1" dirty="0" smtClean="0">
                <a:latin typeface="Verdana" pitchFamily="34" charset="0"/>
                <a:ea typeface="ヒラギノ角ゴ Pro W3"/>
                <a:cs typeface="ヒラギノ角ゴ Pro W3"/>
              </a:rPr>
              <a:t>wider.</a:t>
            </a:r>
          </a:p>
          <a:p>
            <a:pPr algn="just" eaLnBrk="1" hangingPunct="1">
              <a:lnSpc>
                <a:spcPct val="150000"/>
              </a:lnSpc>
            </a:pPr>
            <a:r>
              <a:rPr lang="en-US" sz="1500" dirty="0" smtClean="0">
                <a:latin typeface="Verdana" pitchFamily="34" charset="0"/>
                <a:ea typeface="ヒラギノ角ゴ Pro W3"/>
                <a:cs typeface="ヒラギノ角ゴ Pro W3"/>
              </a:rPr>
              <a:t>Unfortunately even the latest mobile telephone technology, </a:t>
            </a:r>
            <a:r>
              <a:rPr lang="en-US" sz="1500" b="1" dirty="0" smtClean="0">
                <a:latin typeface="Verdana" pitchFamily="34" charset="0"/>
                <a:ea typeface="ヒラギノ角ゴ Pro W3"/>
                <a:cs typeface="ヒラギノ角ゴ Pro W3"/>
              </a:rPr>
              <a:t>3G</a:t>
            </a:r>
            <a:r>
              <a:rPr lang="en-US" sz="1500" dirty="0" smtClean="0">
                <a:latin typeface="Verdana" pitchFamily="34" charset="0"/>
                <a:ea typeface="ヒラギノ角ゴ Pro W3"/>
                <a:cs typeface="ヒラギノ角ゴ Pro W3"/>
              </a:rPr>
              <a:t>, </a:t>
            </a:r>
            <a:r>
              <a:rPr lang="en-US" sz="1500" b="1" dirty="0" smtClean="0">
                <a:latin typeface="Verdana" pitchFamily="34" charset="0"/>
                <a:ea typeface="ヒラギノ角ゴ Pro W3"/>
                <a:cs typeface="ヒラギノ角ゴ Pro W3"/>
              </a:rPr>
              <a:t>transferring large amounts of data </a:t>
            </a:r>
            <a:r>
              <a:rPr lang="en-US" sz="1500" dirty="0" smtClean="0">
                <a:latin typeface="Verdana" pitchFamily="34" charset="0"/>
                <a:ea typeface="ヒラギノ角ゴ Pro W3"/>
                <a:cs typeface="ヒラギノ角ゴ Pro W3"/>
              </a:rPr>
              <a:t>can be </a:t>
            </a:r>
            <a:r>
              <a:rPr lang="en-US" sz="1500" b="1" dirty="0" smtClean="0">
                <a:latin typeface="Verdana" pitchFamily="34" charset="0"/>
                <a:ea typeface="ヒラギノ角ゴ Pro W3"/>
                <a:cs typeface="ヒラギノ角ゴ Pro W3"/>
              </a:rPr>
              <a:t>slow</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Wimax</a:t>
            </a:r>
            <a:r>
              <a:rPr lang="en-US" sz="1500" dirty="0" smtClean="0">
                <a:latin typeface="Verdana" pitchFamily="34" charset="0"/>
                <a:ea typeface="ヒラギノ角ゴ Pro W3"/>
                <a:cs typeface="ヒラギノ角ゴ Pro W3"/>
              </a:rPr>
              <a:t> promises to deliver much wider coverage using Wi-Fi. </a:t>
            </a:r>
          </a:p>
          <a:p>
            <a:pPr algn="just" eaLnBrk="1" hangingPunct="1">
              <a:lnSpc>
                <a:spcPct val="150000"/>
              </a:lnSpc>
            </a:pPr>
            <a:r>
              <a:rPr lang="en-US" sz="1500" dirty="0" smtClean="0">
                <a:latin typeface="Verdana" pitchFamily="34" charset="0"/>
                <a:ea typeface="ヒラギノ角ゴ Pro W3"/>
                <a:cs typeface="ヒラギノ角ゴ Pro W3"/>
              </a:rPr>
              <a:t>Short range communications directly between one device and another (i.e. not using the internet) can be achieved using a technology called Bluetooth. </a:t>
            </a:r>
          </a:p>
          <a:p>
            <a:pPr algn="just" eaLnBrk="1" hangingPunct="1">
              <a:lnSpc>
                <a:spcPct val="150000"/>
              </a:lnSpc>
            </a:pPr>
            <a:r>
              <a:rPr lang="en-US" sz="1500" b="1" dirty="0" smtClean="0">
                <a:latin typeface="Verdana" pitchFamily="34" charset="0"/>
                <a:ea typeface="ヒラギノ角ゴ Pro W3"/>
                <a:cs typeface="ヒラギノ角ゴ Pro W3"/>
              </a:rPr>
              <a:t>Near Field Communication (NFC) </a:t>
            </a:r>
            <a:r>
              <a:rPr lang="en-US" sz="1500" dirty="0" smtClean="0">
                <a:latin typeface="Verdana" pitchFamily="34" charset="0"/>
                <a:ea typeface="ヒラギノ角ゴ Pro W3"/>
                <a:cs typeface="ヒラギノ角ゴ Pro W3"/>
              </a:rPr>
              <a:t>is used to connect devices simply by bringing them close to each other. </a:t>
            </a:r>
          </a:p>
          <a:p>
            <a:pPr algn="just" eaLnBrk="1" hangingPunct="1">
              <a:lnSpc>
                <a:spcPct val="150000"/>
              </a:lnSpc>
            </a:pPr>
            <a:r>
              <a:rPr lang="en-US" sz="1500" dirty="0" smtClean="0">
                <a:latin typeface="Verdana" pitchFamily="34" charset="0"/>
                <a:ea typeface="ヒラギノ角ゴ Pro W3"/>
                <a:cs typeface="ヒラギノ角ゴ Pro W3"/>
              </a:rPr>
              <a:t>All new mobile phones will soon have NFC capability, a feature which again will </a:t>
            </a:r>
            <a:r>
              <a:rPr lang="en-US" sz="1500" b="1" dirty="0" smtClean="0">
                <a:latin typeface="Verdana" pitchFamily="34" charset="0"/>
                <a:ea typeface="ヒラギノ角ゴ Pro W3"/>
                <a:cs typeface="ヒラギノ角ゴ Pro W3"/>
              </a:rPr>
              <a:t>change the types of interaction</a:t>
            </a:r>
            <a:r>
              <a:rPr lang="en-US" sz="1500" dirty="0" smtClean="0">
                <a:latin typeface="Verdana" pitchFamily="34" charset="0"/>
                <a:ea typeface="ヒラギノ角ゴ Pro W3"/>
                <a:cs typeface="ヒラギノ角ゴ Pro W3"/>
              </a:rPr>
              <a:t> that are possible.</a:t>
            </a:r>
          </a:p>
        </p:txBody>
      </p:sp>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Title 1"/>
          <p:cNvSpPr>
            <a:spLocks noGrp="1"/>
          </p:cNvSpPr>
          <p:nvPr>
            <p:ph type="title"/>
          </p:nvPr>
        </p:nvSpPr>
        <p:spPr>
          <a:xfrm>
            <a:off x="457200" y="274638"/>
            <a:ext cx="8229600" cy="1004663"/>
          </a:xfrm>
        </p:spPr>
        <p:txBody>
          <a:bodyPr/>
          <a:lstStyle/>
          <a:p>
            <a:pPr eaLnBrk="1" hangingPunct="1"/>
            <a:r>
              <a:rPr lang="en-US" sz="1500" dirty="0" smtClean="0">
                <a:latin typeface="Verdana" pitchFamily="34" charset="0"/>
                <a:ea typeface="ヒラギノ角ゴ Pro W3"/>
                <a:cs typeface="ヒラギノ角ゴ Pro W3"/>
              </a:rPr>
              <a:t>Content</a:t>
            </a:r>
          </a:p>
        </p:txBody>
      </p:sp>
      <p:sp>
        <p:nvSpPr>
          <p:cNvPr id="67586" name="Text Placeholder 2"/>
          <p:cNvSpPr>
            <a:spLocks noGrp="1"/>
          </p:cNvSpPr>
          <p:nvPr>
            <p:ph type="body" idx="1"/>
          </p:nvPr>
        </p:nvSpPr>
        <p:spPr>
          <a:xfrm>
            <a:off x="457200" y="1279301"/>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Content </a:t>
            </a:r>
            <a:r>
              <a:rPr lang="en-US" sz="1500" b="1" dirty="0" smtClean="0">
                <a:latin typeface="Verdana" pitchFamily="34" charset="0"/>
                <a:ea typeface="ヒラギノ角ゴ Pro W3"/>
                <a:cs typeface="ヒラギノ角ゴ Pro W3"/>
              </a:rPr>
              <a:t>concerns the data </a:t>
            </a:r>
            <a:r>
              <a:rPr lang="en-US" sz="1500" dirty="0" smtClean="0">
                <a:latin typeface="Verdana" pitchFamily="34" charset="0"/>
                <a:ea typeface="ヒラギノ角ゴ Pro W3"/>
                <a:cs typeface="ヒラギノ角ゴ Pro W3"/>
              </a:rPr>
              <a:t>in the system and the form it takes. </a:t>
            </a:r>
          </a:p>
          <a:p>
            <a:pPr algn="just" eaLnBrk="1" hangingPunct="1">
              <a:lnSpc>
                <a:spcPct val="150000"/>
              </a:lnSpc>
            </a:pPr>
            <a:r>
              <a:rPr lang="en-US" sz="1500" dirty="0" smtClean="0">
                <a:latin typeface="Verdana" pitchFamily="34" charset="0"/>
                <a:ea typeface="ヒラギノ角ゴ Pro W3"/>
                <a:cs typeface="ヒラギノ角ゴ Pro W3"/>
              </a:rPr>
              <a:t>Considerations of content are a key part of </a:t>
            </a:r>
            <a:r>
              <a:rPr lang="en-US" sz="1500" b="1" dirty="0" smtClean="0">
                <a:latin typeface="Verdana" pitchFamily="34" charset="0"/>
                <a:ea typeface="ヒラギノ角ゴ Pro W3"/>
                <a:cs typeface="ヒラギノ角ゴ Pro W3"/>
              </a:rPr>
              <a:t>understanding the characteristics of the activities</a:t>
            </a:r>
            <a:r>
              <a:rPr lang="en-US" sz="1500" dirty="0" smtClean="0">
                <a:latin typeface="Verdana" pitchFamily="34" charset="0"/>
                <a:ea typeface="ヒラギノ角ゴ Pro W3"/>
                <a:cs typeface="ヒラギノ角ゴ Pro W3"/>
              </a:rPr>
              <a:t> as described above. </a:t>
            </a:r>
          </a:p>
          <a:p>
            <a:pPr algn="just" eaLnBrk="1" hangingPunct="1">
              <a:lnSpc>
                <a:spcPct val="150000"/>
              </a:lnSpc>
            </a:pPr>
            <a:r>
              <a:rPr lang="en-US" sz="1500" dirty="0" smtClean="0">
                <a:latin typeface="Verdana" pitchFamily="34" charset="0"/>
                <a:ea typeface="ヒラギノ角ゴ Pro W3"/>
                <a:cs typeface="ヒラギノ角ゴ Pro W3"/>
              </a:rPr>
              <a:t>The content that a technology can support is also critical. </a:t>
            </a:r>
          </a:p>
          <a:p>
            <a:pPr algn="just" eaLnBrk="1" hangingPunct="1">
              <a:lnSpc>
                <a:spcPct val="150000"/>
              </a:lnSpc>
            </a:pPr>
            <a:r>
              <a:rPr lang="en-US" sz="1500" b="1" dirty="0" smtClean="0">
                <a:latin typeface="Verdana" pitchFamily="34" charset="0"/>
                <a:ea typeface="ヒラギノ角ゴ Pro W3"/>
                <a:cs typeface="ヒラギノ角ゴ Pro W3"/>
              </a:rPr>
              <a:t>Good content is </a:t>
            </a:r>
            <a:r>
              <a:rPr lang="en-US" sz="1500" dirty="0" smtClean="0">
                <a:latin typeface="Verdana" pitchFamily="34" charset="0"/>
                <a:ea typeface="ヒラギノ角ゴ Pro W3"/>
                <a:cs typeface="ヒラギノ角ゴ Pro W3"/>
              </a:rPr>
              <a:t>accurate, up-to-date, relevant and well presented. </a:t>
            </a:r>
          </a:p>
          <a:p>
            <a:pPr algn="just" eaLnBrk="1" hangingPunct="1">
              <a:lnSpc>
                <a:spcPct val="150000"/>
              </a:lnSpc>
            </a:pPr>
            <a:r>
              <a:rPr lang="en-US" sz="1500" dirty="0" smtClean="0">
                <a:latin typeface="Verdana" pitchFamily="34" charset="0"/>
                <a:ea typeface="ヒラギノ角ゴ Pro W3"/>
                <a:cs typeface="ヒラギノ角ゴ Pro W3"/>
              </a:rPr>
              <a:t>There is little point in having a sophisticated information retrieval system if the information, once retrieved, is </a:t>
            </a:r>
            <a:r>
              <a:rPr lang="en-US" sz="1500" b="1" dirty="0" smtClean="0">
                <a:latin typeface="Verdana" pitchFamily="34" charset="0"/>
                <a:ea typeface="ヒラギノ角ゴ Pro W3"/>
                <a:cs typeface="ヒラギノ角ゴ Pro W3"/>
              </a:rPr>
              <a:t>out of date or irrelevant</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In some technologies, content is just about everything (e.g. </a:t>
            </a:r>
            <a:r>
              <a:rPr lang="en-US" sz="1500" b="1" dirty="0" smtClean="0">
                <a:latin typeface="Verdana" pitchFamily="34" charset="0"/>
                <a:ea typeface="ヒラギノ角ゴ Pro W3"/>
                <a:cs typeface="ヒラギノ角ゴ Pro W3"/>
              </a:rPr>
              <a:t>websites are usually all about content</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dirty="0" smtClean="0">
                <a:latin typeface="Verdana" pitchFamily="34" charset="0"/>
                <a:ea typeface="ヒラギノ角ゴ Pro W3"/>
                <a:cs typeface="ヒラギノ角ゴ Pro W3"/>
              </a:rPr>
              <a:t>Other technologies are more concerned with </a:t>
            </a:r>
            <a:r>
              <a:rPr lang="en-US" sz="1500" b="1" dirty="0" smtClean="0">
                <a:latin typeface="Verdana" pitchFamily="34" charset="0"/>
                <a:ea typeface="ヒラギノ角ゴ Pro W3"/>
                <a:cs typeface="ヒラギノ角ゴ Pro W3"/>
              </a:rPr>
              <a:t>function (e.g. </a:t>
            </a:r>
            <a:r>
              <a:rPr lang="en-US" sz="1500" dirty="0" smtClean="0">
                <a:latin typeface="Verdana" pitchFamily="34" charset="0"/>
                <a:ea typeface="ヒラギノ角ゴ Pro W3"/>
                <a:cs typeface="ヒラギノ角ゴ Pro W3"/>
              </a:rPr>
              <a:t>a remote control for a TV). </a:t>
            </a:r>
          </a:p>
          <a:p>
            <a:pPr algn="just" eaLnBrk="1" hangingPunct="1">
              <a:lnSpc>
                <a:spcPct val="150000"/>
              </a:lnSpc>
            </a:pPr>
            <a:r>
              <a:rPr lang="en-US" sz="1500" dirty="0" smtClean="0">
                <a:latin typeface="Verdana" pitchFamily="34" charset="0"/>
                <a:ea typeface="ヒラギノ角ゴ Pro W3"/>
                <a:cs typeface="ヒラギノ角ゴ Pro W3"/>
              </a:rPr>
              <a:t>Most technologies have a </a:t>
            </a:r>
            <a:r>
              <a:rPr lang="en-US" sz="1500" b="1" dirty="0" smtClean="0">
                <a:latin typeface="Verdana" pitchFamily="34" charset="0"/>
                <a:ea typeface="ヒラギノ角ゴ Pro W3"/>
                <a:cs typeface="ヒラギノ角ゴ Pro W3"/>
              </a:rPr>
              <a:t>mixture of function and content</a:t>
            </a:r>
            <a:r>
              <a:rPr lang="en-US" sz="1500" dirty="0" smtClean="0">
                <a:latin typeface="Verdana" pitchFamily="34" charset="0"/>
                <a:ea typeface="ヒラギノ角ゴ Pro W3"/>
                <a:cs typeface="ヒラギノ角ゴ Pro W3"/>
              </a:rPr>
              <a:t>.</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Title 1"/>
          <p:cNvSpPr>
            <a:spLocks noGrp="1"/>
          </p:cNvSpPr>
          <p:nvPr>
            <p:ph type="title"/>
          </p:nvPr>
        </p:nvSpPr>
        <p:spPr/>
        <p:txBody>
          <a:bodyPr/>
          <a:lstStyle/>
          <a:p>
            <a:pPr eaLnBrk="1" hangingPunct="1"/>
            <a:r>
              <a:rPr lang="en-US" sz="1500" dirty="0" smtClean="0">
                <a:latin typeface="Verdana" pitchFamily="34" charset="0"/>
                <a:ea typeface="ヒラギノ角ゴ Pro W3"/>
                <a:cs typeface="ヒラギノ角ゴ Pro W3"/>
              </a:rPr>
              <a:t>Media characteristics</a:t>
            </a:r>
          </a:p>
        </p:txBody>
      </p:sp>
      <p:sp>
        <p:nvSpPr>
          <p:cNvPr id="69634" name="Text Placeholder 2"/>
          <p:cNvSpPr>
            <a:spLocks noGrp="1"/>
          </p:cNvSpPr>
          <p:nvPr>
            <p:ph type="body" idx="1"/>
          </p:nvPr>
        </p:nvSpPr>
        <p:spPr>
          <a:xfrm>
            <a:off x="655502" y="1417638"/>
            <a:ext cx="8031298" cy="4525963"/>
          </a:xfrm>
        </p:spPr>
        <p:txBody>
          <a:bodyPr/>
          <a:lstStyle/>
          <a:p>
            <a:pPr algn="just" eaLnBrk="1" hangingPunct="1">
              <a:lnSpc>
                <a:spcPct val="200000"/>
              </a:lnSpc>
            </a:pPr>
            <a:r>
              <a:rPr lang="en-US" sz="1500" b="1" dirty="0" smtClean="0">
                <a:latin typeface="Verdana" pitchFamily="34" charset="0"/>
                <a:ea typeface="ヒラギノ角ゴ Pro W3"/>
                <a:cs typeface="ヒラギノ角ゴ Pro W3"/>
              </a:rPr>
              <a:t>‘Streamy’ outputs </a:t>
            </a:r>
            <a:r>
              <a:rPr lang="en-US" sz="1500" dirty="0" smtClean="0">
                <a:latin typeface="Verdana" pitchFamily="34" charset="0"/>
                <a:ea typeface="ヒラギノ角ゴ Pro W3"/>
                <a:cs typeface="ヒラギノ角ゴ Pro W3"/>
              </a:rPr>
              <a:t>such as video, music and speech have different characteristics from </a:t>
            </a:r>
            <a:r>
              <a:rPr lang="en-US" sz="1500" b="1" dirty="0" smtClean="0">
                <a:latin typeface="Verdana" pitchFamily="34" charset="0"/>
                <a:ea typeface="ヒラギノ角ゴ Pro W3"/>
                <a:cs typeface="ヒラギノ角ゴ Pro W3"/>
              </a:rPr>
              <a:t>‘chunky’ media </a:t>
            </a:r>
            <a:r>
              <a:rPr lang="en-US" sz="1500" dirty="0" smtClean="0">
                <a:latin typeface="Verdana" pitchFamily="34" charset="0"/>
                <a:ea typeface="ヒラギノ角ゴ Pro W3"/>
                <a:cs typeface="ヒラギノ角ゴ Pro W3"/>
              </a:rPr>
              <a:t>such as icons, text or still photographs. </a:t>
            </a:r>
          </a:p>
          <a:p>
            <a:pPr algn="just" eaLnBrk="1" hangingPunct="1">
              <a:lnSpc>
                <a:spcPct val="200000"/>
              </a:lnSpc>
            </a:pPr>
            <a:r>
              <a:rPr lang="en-US" sz="1500" dirty="0" smtClean="0">
                <a:latin typeface="Verdana" pitchFamily="34" charset="0"/>
                <a:ea typeface="ヒラギノ角ゴ Pro W3"/>
                <a:cs typeface="ヒラギノ角ゴ Pro W3"/>
              </a:rPr>
              <a:t>Most important, perhaps, is that streamy media do not stay around for long. </a:t>
            </a:r>
          </a:p>
          <a:p>
            <a:pPr algn="just" eaLnBrk="1" hangingPunct="1">
              <a:lnSpc>
                <a:spcPct val="200000"/>
              </a:lnSpc>
            </a:pPr>
            <a:r>
              <a:rPr lang="en-US" sz="1500" dirty="0" smtClean="0">
                <a:latin typeface="Verdana" pitchFamily="34" charset="0"/>
                <a:ea typeface="ヒラギノ角ゴ Pro W3"/>
                <a:cs typeface="ヒラギノ角ゴ Pro W3"/>
              </a:rPr>
              <a:t>Instructions given as </a:t>
            </a:r>
            <a:r>
              <a:rPr lang="en-US" sz="1500" b="1" dirty="0" smtClean="0">
                <a:latin typeface="Verdana" pitchFamily="34" charset="0"/>
                <a:ea typeface="ヒラギノ角ゴ Pro W3"/>
                <a:cs typeface="ヒラギノ角ゴ Pro W3"/>
              </a:rPr>
              <a:t>speech output have to be remembered</a:t>
            </a:r>
            <a:r>
              <a:rPr lang="en-US" sz="1500" dirty="0" smtClean="0">
                <a:latin typeface="Verdana" pitchFamily="34" charset="0"/>
                <a:ea typeface="ヒラギノ角ゴ Pro W3"/>
                <a:cs typeface="ヒラギノ角ゴ Pro W3"/>
              </a:rPr>
              <a:t>, whereas if displayed as a piece of </a:t>
            </a:r>
            <a:r>
              <a:rPr lang="en-US" sz="1500" b="1" dirty="0" smtClean="0">
                <a:latin typeface="Verdana" pitchFamily="34" charset="0"/>
                <a:ea typeface="ヒラギノ角ゴ Pro W3"/>
                <a:cs typeface="ヒラギノ角ゴ Pro W3"/>
              </a:rPr>
              <a:t>text, they can be read over again</a:t>
            </a:r>
            <a:r>
              <a:rPr lang="en-US" sz="1500" dirty="0" smtClean="0">
                <a:latin typeface="Verdana" pitchFamily="34" charset="0"/>
                <a:ea typeface="ヒラギノ角ゴ Pro W3"/>
                <a:cs typeface="ヒラギノ角ゴ Pro W3"/>
              </a:rPr>
              <a:t>. </a:t>
            </a:r>
          </a:p>
          <a:p>
            <a:pPr algn="just" eaLnBrk="1" hangingPunct="1">
              <a:lnSpc>
                <a:spcPct val="200000"/>
              </a:lnSpc>
            </a:pPr>
            <a:r>
              <a:rPr lang="en-US" sz="1500" b="1" dirty="0" smtClean="0">
                <a:latin typeface="Verdana" pitchFamily="34" charset="0"/>
                <a:ea typeface="ヒラギノ角ゴ Pro W3"/>
                <a:cs typeface="ヒラギノ角ゴ Pro W3"/>
              </a:rPr>
              <a:t>Animations</a:t>
            </a:r>
            <a:r>
              <a:rPr lang="en-US" sz="1500" dirty="0" smtClean="0">
                <a:latin typeface="Verdana" pitchFamily="34" charset="0"/>
                <a:ea typeface="ヒラギノ角ゴ Pro W3"/>
                <a:cs typeface="ヒラギノ角ゴ Pro W3"/>
              </a:rPr>
              <a:t> are also popular ways of presenting content. </a:t>
            </a:r>
          </a:p>
          <a:p>
            <a:pPr algn="just" eaLnBrk="1" hangingPunct="1">
              <a:lnSpc>
                <a:spcPct val="200000"/>
              </a:lnSpc>
            </a:pPr>
            <a:r>
              <a:rPr lang="en-US" sz="1500" dirty="0" smtClean="0">
                <a:latin typeface="Verdana" pitchFamily="34" charset="0"/>
                <a:ea typeface="ヒラギノ角ゴ Pro W3"/>
                <a:cs typeface="ヒラギノ角ゴ Pro W3"/>
              </a:rPr>
              <a:t>2D animation is generally produced using Abode’s Flash program and 3D style animation can be produced with papervision or games ‘engines’ such as 3D Studio Max and Maya.</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Title 1"/>
          <p:cNvSpPr>
            <a:spLocks noGrp="1"/>
          </p:cNvSpPr>
          <p:nvPr>
            <p:ph type="title"/>
          </p:nvPr>
        </p:nvSpPr>
        <p:spPr>
          <a:xfrm>
            <a:off x="457200" y="332656"/>
            <a:ext cx="8229600" cy="562074"/>
          </a:xfrm>
        </p:spPr>
        <p:txBody>
          <a:bodyPr/>
          <a:lstStyle/>
          <a:p>
            <a:pPr eaLnBrk="1" hangingPunct="1"/>
            <a:r>
              <a:rPr lang="en-US" sz="2000" b="1" dirty="0" smtClean="0">
                <a:latin typeface="Verdana" pitchFamily="34" charset="0"/>
                <a:ea typeface="ヒラギノ角ゴ Pro W3"/>
                <a:cs typeface="ヒラギノ角ゴ Pro W3"/>
              </a:rPr>
              <a:t>Scoping (analyze) a problem with PACT</a:t>
            </a:r>
          </a:p>
        </p:txBody>
      </p:sp>
      <p:sp>
        <p:nvSpPr>
          <p:cNvPr id="70658" name="Text Placeholder 2"/>
          <p:cNvSpPr>
            <a:spLocks noGrp="1"/>
          </p:cNvSpPr>
          <p:nvPr>
            <p:ph type="body" idx="1"/>
          </p:nvPr>
        </p:nvSpPr>
        <p:spPr>
          <a:xfrm>
            <a:off x="457200" y="1196752"/>
            <a:ext cx="8291264" cy="4824536"/>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The </a:t>
            </a:r>
            <a:r>
              <a:rPr lang="en-US" sz="1500" b="1" dirty="0" smtClean="0">
                <a:latin typeface="Verdana" pitchFamily="34" charset="0"/>
                <a:ea typeface="ヒラギノ角ゴ Pro W3"/>
                <a:cs typeface="ヒラギノ角ゴ Pro W3"/>
              </a:rPr>
              <a:t>aim of human-centred interactive systems design </a:t>
            </a:r>
            <a:r>
              <a:rPr lang="en-US" sz="1500" dirty="0" smtClean="0">
                <a:latin typeface="Verdana" pitchFamily="34" charset="0"/>
                <a:ea typeface="ヒラギノ角ゴ Pro W3"/>
                <a:cs typeface="ヒラギノ角ゴ Pro W3"/>
              </a:rPr>
              <a:t>is to arrive at the </a:t>
            </a:r>
            <a:r>
              <a:rPr lang="en-US" sz="1500" b="1" dirty="0" smtClean="0">
                <a:latin typeface="Verdana" pitchFamily="34" charset="0"/>
                <a:ea typeface="ヒラギノ角ゴ Pro W3"/>
                <a:cs typeface="ヒラギノ角ゴ Pro W3"/>
              </a:rPr>
              <a:t>best combination of the PACT </a:t>
            </a:r>
            <a:r>
              <a:rPr lang="en-US" sz="1500" dirty="0" smtClean="0">
                <a:latin typeface="Verdana" pitchFamily="34" charset="0"/>
                <a:ea typeface="ヒラギノ角ゴ Pro W3"/>
                <a:cs typeface="ヒラギノ角ゴ Pro W3"/>
              </a:rPr>
              <a:t>elements with respect to a particular domain. </a:t>
            </a:r>
          </a:p>
          <a:p>
            <a:pPr algn="just" eaLnBrk="1" hangingPunct="1">
              <a:lnSpc>
                <a:spcPct val="150000"/>
              </a:lnSpc>
            </a:pPr>
            <a:r>
              <a:rPr lang="en-US" sz="1500" dirty="0" smtClean="0">
                <a:latin typeface="Verdana" pitchFamily="34" charset="0"/>
                <a:ea typeface="ヒラギノ角ゴ Pro W3"/>
                <a:cs typeface="ヒラギノ角ゴ Pro W3"/>
              </a:rPr>
              <a:t>Designers want to get the </a:t>
            </a:r>
            <a:r>
              <a:rPr lang="en-US" sz="1500" b="1" dirty="0" smtClean="0">
                <a:latin typeface="Verdana" pitchFamily="34" charset="0"/>
                <a:ea typeface="ヒラギノ角ゴ Pro W3"/>
                <a:cs typeface="ヒラギノ角ゴ Pro W3"/>
              </a:rPr>
              <a:t>right mix of technologies to support the activities being undertaken by people in different contexts. </a:t>
            </a:r>
          </a:p>
          <a:p>
            <a:pPr algn="just" eaLnBrk="1" hangingPunct="1">
              <a:lnSpc>
                <a:spcPct val="150000"/>
              </a:lnSpc>
            </a:pPr>
            <a:r>
              <a:rPr lang="en-US" sz="1500" dirty="0" smtClean="0">
                <a:latin typeface="Verdana" pitchFamily="34" charset="0"/>
                <a:ea typeface="ヒラギノ角ゴ Pro W3"/>
                <a:cs typeface="ヒラギノ角ゴ Pro W3"/>
              </a:rPr>
              <a:t>A PACT analysis is useful for both analysis and design activities: </a:t>
            </a:r>
            <a:r>
              <a:rPr lang="en-US" sz="1500" b="1" dirty="0" smtClean="0">
                <a:latin typeface="Verdana" pitchFamily="34" charset="0"/>
                <a:ea typeface="ヒラギノ角ゴ Pro W3"/>
                <a:cs typeface="ヒラギノ角ゴ Pro W3"/>
              </a:rPr>
              <a:t>understanding </a:t>
            </a:r>
            <a:r>
              <a:rPr lang="en-US" sz="1500" dirty="0" smtClean="0">
                <a:latin typeface="Verdana" pitchFamily="34" charset="0"/>
                <a:ea typeface="ヒラギノ角ゴ Pro W3"/>
                <a:cs typeface="ヒラギノ角ゴ Pro W3"/>
              </a:rPr>
              <a:t>the current situation, </a:t>
            </a:r>
            <a:r>
              <a:rPr lang="en-US" sz="1500" b="1" dirty="0" smtClean="0">
                <a:latin typeface="Verdana" pitchFamily="34" charset="0"/>
                <a:ea typeface="ヒラギノ角ゴ Pro W3"/>
                <a:cs typeface="ヒラギノ角ゴ Pro W3"/>
              </a:rPr>
              <a:t>seeing </a:t>
            </a:r>
            <a:r>
              <a:rPr lang="en-US" sz="1500" dirty="0" smtClean="0">
                <a:latin typeface="Verdana" pitchFamily="34" charset="0"/>
                <a:ea typeface="ヒラギノ角ゴ Pro W3"/>
                <a:cs typeface="ヒラギノ角ゴ Pro W3"/>
              </a:rPr>
              <a:t>where possible improvements can be made or </a:t>
            </a:r>
            <a:r>
              <a:rPr lang="en-US" sz="1500" b="1" dirty="0" smtClean="0">
                <a:latin typeface="Verdana" pitchFamily="34" charset="0"/>
                <a:ea typeface="ヒラギノ角ゴ Pro W3"/>
                <a:cs typeface="ヒラギノ角ゴ Pro W3"/>
              </a:rPr>
              <a:t>envisioning</a:t>
            </a:r>
            <a:r>
              <a:rPr lang="en-US" sz="1500" dirty="0" smtClean="0">
                <a:latin typeface="Verdana" pitchFamily="34" charset="0"/>
                <a:ea typeface="ヒラギノ角ゴ Pro W3"/>
                <a:cs typeface="ヒラギノ角ゴ Pro W3"/>
              </a:rPr>
              <a:t> future situations. </a:t>
            </a:r>
          </a:p>
          <a:p>
            <a:pPr algn="just" eaLnBrk="1" hangingPunct="1">
              <a:lnSpc>
                <a:spcPct val="150000"/>
              </a:lnSpc>
            </a:pPr>
            <a:r>
              <a:rPr lang="en-US" sz="1500" dirty="0" smtClean="0">
                <a:latin typeface="Verdana" pitchFamily="34" charset="0"/>
                <a:ea typeface="ヒラギノ角ゴ Pro W3"/>
                <a:cs typeface="ヒラギノ角ゴ Pro W3"/>
              </a:rPr>
              <a:t>To do a PACT analysis the designer simply scopes out the variety of Ps, As, Cs and Ts that are possible, or likely, in a domain. </a:t>
            </a:r>
          </a:p>
          <a:p>
            <a:pPr algn="just" eaLnBrk="1" hangingPunct="1">
              <a:lnSpc>
                <a:spcPct val="150000"/>
              </a:lnSpc>
            </a:pPr>
            <a:r>
              <a:rPr lang="en-US" sz="1500" dirty="0" smtClean="0">
                <a:latin typeface="Verdana" pitchFamily="34" charset="0"/>
                <a:ea typeface="ヒラギノ角ゴ Pro W3"/>
                <a:cs typeface="ヒラギノ角ゴ Pro W3"/>
              </a:rPr>
              <a:t>This can be </a:t>
            </a:r>
            <a:r>
              <a:rPr lang="en-US" sz="1500" b="1" dirty="0" smtClean="0">
                <a:latin typeface="Verdana" pitchFamily="34" charset="0"/>
                <a:ea typeface="ヒラギノ角ゴ Pro W3"/>
                <a:cs typeface="ヒラギノ角ゴ Pro W3"/>
              </a:rPr>
              <a:t>done using brainstorming and other envisionment techniques </a:t>
            </a:r>
            <a:r>
              <a:rPr lang="en-US" sz="1500" dirty="0" smtClean="0">
                <a:latin typeface="Verdana" pitchFamily="34" charset="0"/>
                <a:ea typeface="ヒラギノ角ゴ Pro W3"/>
                <a:cs typeface="ヒラギノ角ゴ Pro W3"/>
              </a:rPr>
              <a:t>and </a:t>
            </a:r>
            <a:r>
              <a:rPr lang="en-US" sz="1500" b="1" dirty="0" smtClean="0">
                <a:latin typeface="Verdana" pitchFamily="34" charset="0"/>
                <a:ea typeface="ヒラギノ角ゴ Pro W3"/>
                <a:cs typeface="ヒラギノ角ゴ Pro W3"/>
              </a:rPr>
              <a:t>by working with people </a:t>
            </a:r>
            <a:r>
              <a:rPr lang="en-US" sz="1500" dirty="0" smtClean="0">
                <a:latin typeface="Verdana" pitchFamily="34" charset="0"/>
                <a:ea typeface="ヒラギノ角ゴ Pro W3"/>
                <a:cs typeface="ヒラギノ角ゴ Pro W3"/>
              </a:rPr>
              <a:t>through observations, interviews and workshops.</a:t>
            </a:r>
          </a:p>
          <a:p>
            <a:pPr algn="just" eaLnBrk="1" hangingPunct="1">
              <a:lnSpc>
                <a:spcPct val="150000"/>
              </a:lnSpc>
            </a:pPr>
            <a:r>
              <a:rPr lang="en-US" sz="1500" dirty="0" smtClean="0">
                <a:latin typeface="Verdana" pitchFamily="34" charset="0"/>
                <a:ea typeface="ヒラギノ角ゴ Pro W3"/>
                <a:cs typeface="ヒラギノ角ゴ Pro W3"/>
              </a:rPr>
              <a:t>The designer should look for trade-offs between combinations of PACT and think about how these might affect design.</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Title 1"/>
          <p:cNvSpPr>
            <a:spLocks noGrp="1"/>
          </p:cNvSpPr>
          <p:nvPr>
            <p:ph type="title"/>
          </p:nvPr>
        </p:nvSpPr>
        <p:spPr>
          <a:xfrm>
            <a:off x="457200" y="274638"/>
            <a:ext cx="8229600" cy="1004663"/>
          </a:xfrm>
        </p:spPr>
        <p:txBody>
          <a:bodyPr/>
          <a:lstStyle/>
          <a:p>
            <a:pPr eaLnBrk="1" hangingPunct="1"/>
            <a:r>
              <a:rPr lang="en-US" sz="1500" dirty="0" smtClean="0">
                <a:latin typeface="Verdana" pitchFamily="34" charset="0"/>
                <a:ea typeface="ヒラギノ角ゴ Pro W3"/>
                <a:cs typeface="ヒラギノ角ゴ Pro W3"/>
              </a:rPr>
              <a:t>People, activities, contexts, technologies</a:t>
            </a:r>
          </a:p>
        </p:txBody>
      </p:sp>
      <p:sp>
        <p:nvSpPr>
          <p:cNvPr id="71682" name="Text Placeholder 2"/>
          <p:cNvSpPr>
            <a:spLocks noGrp="1"/>
          </p:cNvSpPr>
          <p:nvPr>
            <p:ph type="body" idx="1"/>
          </p:nvPr>
        </p:nvSpPr>
        <p:spPr>
          <a:xfrm>
            <a:off x="606388" y="1325547"/>
            <a:ext cx="7931224" cy="4525963"/>
          </a:xfrm>
        </p:spPr>
        <p:txBody>
          <a:bodyPr/>
          <a:lstStyle/>
          <a:p>
            <a:pPr algn="just" eaLnBrk="1" hangingPunct="1">
              <a:lnSpc>
                <a:spcPct val="150000"/>
              </a:lnSpc>
            </a:pPr>
            <a:r>
              <a:rPr lang="en-US" sz="1500" b="1" dirty="0" smtClean="0">
                <a:latin typeface="Verdana" pitchFamily="34" charset="0"/>
                <a:ea typeface="ヒラギノ角ゴ Pro W3"/>
                <a:cs typeface="ヒラギノ角ゴ Pro W3"/>
              </a:rPr>
              <a:t>For people</a:t>
            </a:r>
            <a:r>
              <a:rPr lang="en-US" sz="1500" dirty="0" smtClean="0">
                <a:latin typeface="Verdana" pitchFamily="34" charset="0"/>
                <a:ea typeface="ヒラギノ角ゴ Pro W3"/>
                <a:cs typeface="ヒラギノ角ゴ Pro W3"/>
              </a:rPr>
              <a:t>, designers need to think about the </a:t>
            </a:r>
            <a:r>
              <a:rPr lang="en-US" sz="1500" b="1" dirty="0" smtClean="0">
                <a:latin typeface="Verdana" pitchFamily="34" charset="0"/>
                <a:ea typeface="ヒラギノ角ゴ Pro W3"/>
                <a:cs typeface="ヒラギノ角ゴ Pro W3"/>
              </a:rPr>
              <a:t>physical, psychological and social differences</a:t>
            </a:r>
            <a:r>
              <a:rPr lang="en-US" sz="1500" dirty="0" smtClean="0">
                <a:latin typeface="Verdana" pitchFamily="34" charset="0"/>
                <a:ea typeface="ヒラギノ角ゴ Pro W3"/>
                <a:cs typeface="ヒラギノ角ゴ Pro W3"/>
              </a:rPr>
              <a:t> and how those differences change in different circumstances and over time. It is most important that designers </a:t>
            </a:r>
            <a:r>
              <a:rPr lang="en-US" sz="1500" b="1" dirty="0" smtClean="0">
                <a:latin typeface="Verdana" pitchFamily="34" charset="0"/>
                <a:ea typeface="ヒラギノ角ゴ Pro W3"/>
                <a:cs typeface="ヒラギノ角ゴ Pro W3"/>
              </a:rPr>
              <a:t>consider</a:t>
            </a:r>
            <a:r>
              <a:rPr lang="en-US" sz="1500" dirty="0" smtClean="0">
                <a:latin typeface="Verdana" pitchFamily="34" charset="0"/>
                <a:ea typeface="ヒラギノ角ゴ Pro W3"/>
                <a:cs typeface="ヒラギノ角ゴ Pro W3"/>
              </a:rPr>
              <a:t> all the various </a:t>
            </a:r>
            <a:r>
              <a:rPr lang="en-US" sz="1500" b="1" dirty="0" smtClean="0">
                <a:latin typeface="Verdana" pitchFamily="34" charset="0"/>
                <a:ea typeface="ヒラギノ角ゴ Pro W3"/>
                <a:cs typeface="ヒラギノ角ゴ Pro W3"/>
              </a:rPr>
              <a:t>stakeholders in a project</a:t>
            </a:r>
            <a:r>
              <a:rPr lang="en-US" sz="1500" dirty="0" smtClean="0">
                <a:latin typeface="Verdana" pitchFamily="34" charset="0"/>
                <a:ea typeface="ヒラギノ角ゴ Pro W3"/>
                <a:cs typeface="ヒラギノ角ゴ Pro W3"/>
              </a:rPr>
              <a:t>.  </a:t>
            </a:r>
          </a:p>
          <a:p>
            <a:pPr algn="just" eaLnBrk="1" hangingPunct="1">
              <a:lnSpc>
                <a:spcPct val="150000"/>
              </a:lnSpc>
            </a:pPr>
            <a:r>
              <a:rPr lang="en-US" sz="1500" b="1" dirty="0" smtClean="0">
                <a:latin typeface="Verdana" pitchFamily="34" charset="0"/>
                <a:ea typeface="ヒラギノ角ゴ Pro W3"/>
                <a:cs typeface="ヒラギノ角ゴ Pro W3"/>
              </a:rPr>
              <a:t>For activities. </a:t>
            </a:r>
            <a:r>
              <a:rPr lang="en-US" sz="1500" dirty="0">
                <a:latin typeface="Verdana" pitchFamily="34" charset="0"/>
                <a:ea typeface="ヒラギノ角ゴ Pro W3"/>
                <a:cs typeface="ヒラギノ角ゴ Pro W3"/>
              </a:rPr>
              <a:t>designers need </a:t>
            </a:r>
            <a:r>
              <a:rPr lang="en-US" sz="1500" dirty="0" smtClean="0">
                <a:latin typeface="Verdana" pitchFamily="34" charset="0"/>
                <a:ea typeface="ヒラギノ角ゴ Pro W3"/>
                <a:cs typeface="ヒラギノ角ゴ Pro W3"/>
              </a:rPr>
              <a:t>to think about the complexity of the activity (focused or vague, simple or difficult, few steps or many), the temporal features (frequency, peaks and troughs, continuous or interruptible), cooperative features and the nature of the data. </a:t>
            </a:r>
          </a:p>
          <a:p>
            <a:pPr algn="just" eaLnBrk="1" hangingPunct="1">
              <a:lnSpc>
                <a:spcPct val="150000"/>
              </a:lnSpc>
            </a:pPr>
            <a:r>
              <a:rPr lang="en-US" sz="1500" b="1" dirty="0" smtClean="0">
                <a:latin typeface="Verdana" pitchFamily="34" charset="0"/>
                <a:ea typeface="ヒラギノ角ゴ Pro W3"/>
                <a:cs typeface="ヒラギノ角ゴ Pro W3"/>
              </a:rPr>
              <a:t>For contexts, </a:t>
            </a:r>
            <a:r>
              <a:rPr lang="en-US" sz="1500" dirty="0" smtClean="0">
                <a:latin typeface="Verdana" pitchFamily="34" charset="0"/>
                <a:ea typeface="ヒラギノ角ゴ Pro W3"/>
                <a:cs typeface="ヒラギノ角ゴ Pro W3"/>
              </a:rPr>
              <a:t>designers</a:t>
            </a:r>
            <a:r>
              <a:rPr lang="en-US" sz="1500" b="1" dirty="0" smtClean="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think about the physical, social and organizational setting</a:t>
            </a:r>
          </a:p>
          <a:p>
            <a:pPr algn="just" eaLnBrk="1" hangingPunct="1">
              <a:lnSpc>
                <a:spcPct val="150000"/>
              </a:lnSpc>
            </a:pPr>
            <a:r>
              <a:rPr lang="en-US" sz="1500" b="1" dirty="0" smtClean="0">
                <a:latin typeface="Verdana" pitchFamily="34" charset="0"/>
                <a:ea typeface="ヒラギノ角ゴ Pro W3"/>
                <a:cs typeface="ヒラギノ角ゴ Pro W3"/>
              </a:rPr>
              <a:t>For </a:t>
            </a:r>
            <a:r>
              <a:rPr lang="en-US" sz="1500" b="1" dirty="0">
                <a:latin typeface="Verdana" pitchFamily="34" charset="0"/>
                <a:ea typeface="ヒラギノ角ゴ Pro W3"/>
                <a:cs typeface="ヒラギノ角ゴ Pro W3"/>
              </a:rPr>
              <a:t>technologies</a:t>
            </a:r>
            <a:r>
              <a:rPr lang="en-US" sz="1500" dirty="0">
                <a:latin typeface="Verdana" pitchFamily="34" charset="0"/>
                <a:ea typeface="ヒラギノ角ゴ Pro W3"/>
                <a:cs typeface="ヒラギノ角ゴ Pro W3"/>
              </a:rPr>
              <a:t>, </a:t>
            </a:r>
            <a:r>
              <a:rPr lang="en-US" sz="1500" dirty="0" smtClean="0">
                <a:latin typeface="Verdana" pitchFamily="34" charset="0"/>
                <a:ea typeface="ヒラギノ角ゴ Pro W3"/>
                <a:cs typeface="ヒラギノ角ゴ Pro W3"/>
              </a:rPr>
              <a:t>designers concentrate on input, output, communication and content.</a:t>
            </a: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Title 1"/>
          <p:cNvSpPr>
            <a:spLocks noGrp="1"/>
          </p:cNvSpPr>
          <p:nvPr>
            <p:ph type="title"/>
          </p:nvPr>
        </p:nvSpPr>
        <p:spPr>
          <a:xfrm>
            <a:off x="457200" y="274638"/>
            <a:ext cx="8229600" cy="706090"/>
          </a:xfrm>
        </p:spPr>
        <p:txBody>
          <a:bodyPr/>
          <a:lstStyle/>
          <a:p>
            <a:pPr eaLnBrk="1" hangingPunct="1"/>
            <a:r>
              <a:rPr lang="en-US" sz="1500" dirty="0" smtClean="0">
                <a:latin typeface="Verdana" pitchFamily="34" charset="0"/>
                <a:ea typeface="ヒラギノ角ゴ Pro W3"/>
                <a:cs typeface="ヒラギノ角ゴ Pro W3"/>
              </a:rPr>
              <a:t>PACT example </a:t>
            </a:r>
            <a:r>
              <a:rPr lang="en-US" sz="1800" b="1" dirty="0" smtClean="0">
                <a:latin typeface="Verdana" pitchFamily="34" charset="0"/>
                <a:ea typeface="ヒラギノ角ゴ Pro W3"/>
                <a:cs typeface="ヒラギノ角ゴ Pro W3"/>
              </a:rPr>
              <a:t>People</a:t>
            </a:r>
          </a:p>
        </p:txBody>
      </p:sp>
      <p:sp>
        <p:nvSpPr>
          <p:cNvPr id="72706" name="Text Placeholder 2"/>
          <p:cNvSpPr>
            <a:spLocks noGrp="1"/>
          </p:cNvSpPr>
          <p:nvPr>
            <p:ph type="body" idx="1"/>
          </p:nvPr>
        </p:nvSpPr>
        <p:spPr>
          <a:xfrm>
            <a:off x="467544" y="980728"/>
            <a:ext cx="8229600" cy="5112568"/>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We have been asked by a university department to consider developing a system controlling access to their laboratories. PACT analysis might include the following.</a:t>
            </a:r>
          </a:p>
          <a:p>
            <a:pPr algn="just" eaLnBrk="1" hangingPunct="1">
              <a:lnSpc>
                <a:spcPct val="150000"/>
              </a:lnSpc>
            </a:pPr>
            <a:r>
              <a:rPr lang="en-US" sz="1500" dirty="0" smtClean="0">
                <a:latin typeface="Verdana" pitchFamily="34" charset="0"/>
                <a:ea typeface="ヒラギノ角ゴ Pro W3"/>
                <a:cs typeface="ヒラギノ角ゴ Pro W3"/>
              </a:rPr>
              <a:t>Students, lecturers and technicians are the main groups. </a:t>
            </a:r>
          </a:p>
          <a:p>
            <a:pPr algn="just" eaLnBrk="1" hangingPunct="1">
              <a:lnSpc>
                <a:spcPct val="150000"/>
              </a:lnSpc>
            </a:pPr>
            <a:r>
              <a:rPr lang="en-US" sz="1500" dirty="0" smtClean="0">
                <a:latin typeface="Verdana" pitchFamily="34" charset="0"/>
                <a:ea typeface="ヒラギノ角ゴ Pro W3"/>
                <a:cs typeface="ヒラギノ角ゴ Pro W3"/>
              </a:rPr>
              <a:t>These are all well educated and understand things such as swipe cards, passwords and so on. </a:t>
            </a:r>
          </a:p>
          <a:p>
            <a:pPr algn="just" eaLnBrk="1" hangingPunct="1">
              <a:lnSpc>
                <a:spcPct val="150000"/>
              </a:lnSpc>
            </a:pPr>
            <a:r>
              <a:rPr lang="en-US" sz="1500" dirty="0" smtClean="0">
                <a:latin typeface="Verdana" pitchFamily="34" charset="0"/>
                <a:ea typeface="ヒラギノ角ゴ Pro W3"/>
                <a:cs typeface="ヒラギノ角ゴ Pro W3"/>
              </a:rPr>
              <a:t>People in wheelchairs need to be considered as do other design issues such as color blindness. </a:t>
            </a:r>
          </a:p>
          <a:p>
            <a:pPr algn="just" eaLnBrk="1" hangingPunct="1">
              <a:lnSpc>
                <a:spcPct val="150000"/>
              </a:lnSpc>
            </a:pPr>
            <a:r>
              <a:rPr lang="en-US" sz="1500" dirty="0" smtClean="0">
                <a:latin typeface="Verdana" pitchFamily="34" charset="0"/>
                <a:ea typeface="ヒラギノ角ゴ Pro W3"/>
                <a:cs typeface="ヒラギノ角ゴ Pro W3"/>
              </a:rPr>
              <a:t>There may be language differences. </a:t>
            </a:r>
          </a:p>
          <a:p>
            <a:pPr algn="just" eaLnBrk="1" hangingPunct="1">
              <a:lnSpc>
                <a:spcPct val="150000"/>
              </a:lnSpc>
            </a:pPr>
            <a:r>
              <a:rPr lang="en-US" sz="1500" dirty="0" smtClean="0">
                <a:latin typeface="Verdana" pitchFamily="34" charset="0"/>
                <a:ea typeface="ヒラギノ角ゴ Pro W3"/>
                <a:cs typeface="ヒラギノ角ゴ Pro W3"/>
              </a:rPr>
              <a:t>Both visitors and frequent visitors need to be considered. </a:t>
            </a:r>
          </a:p>
          <a:p>
            <a:pPr algn="just" eaLnBrk="1" hangingPunct="1">
              <a:lnSpc>
                <a:spcPct val="150000"/>
              </a:lnSpc>
            </a:pPr>
            <a:r>
              <a:rPr lang="en-US" sz="1500" dirty="0" smtClean="0">
                <a:latin typeface="Verdana" pitchFamily="34" charset="0"/>
                <a:ea typeface="ヒラギノ角ゴ Pro W3"/>
                <a:cs typeface="ヒラギノ角ゴ Pro W3"/>
              </a:rPr>
              <a:t>However, there are other stakeholders who need access to rooms, such as cleaning staff and security personnel. </a:t>
            </a:r>
          </a:p>
          <a:p>
            <a:pPr algn="just" eaLnBrk="1" hangingPunct="1">
              <a:lnSpc>
                <a:spcPct val="150000"/>
              </a:lnSpc>
            </a:pPr>
            <a:r>
              <a:rPr lang="en-US" sz="1500" dirty="0" smtClean="0">
                <a:latin typeface="Verdana" pitchFamily="34" charset="0"/>
                <a:ea typeface="ヒラギノ角ゴ Pro W3"/>
                <a:cs typeface="ヒラギノ角ゴ Pro W3"/>
              </a:rPr>
              <a:t>What are the motivations for management wanting to control access in the first place?</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Title 1"/>
          <p:cNvSpPr>
            <a:spLocks noGrp="1"/>
          </p:cNvSpPr>
          <p:nvPr>
            <p:ph type="title"/>
          </p:nvPr>
        </p:nvSpPr>
        <p:spPr>
          <a:xfrm>
            <a:off x="457200" y="274638"/>
            <a:ext cx="8229600" cy="1066130"/>
          </a:xfrm>
        </p:spPr>
        <p:txBody>
          <a:bodyPr/>
          <a:lstStyle/>
          <a:p>
            <a:pPr eaLnBrk="1" hangingPunct="1"/>
            <a:r>
              <a:rPr lang="en-US" sz="1500" dirty="0" smtClean="0">
                <a:latin typeface="Verdana" pitchFamily="34" charset="0"/>
                <a:ea typeface="ヒラギノ角ゴ Pro W3"/>
                <a:cs typeface="ヒラギノ角ゴ Pro W3"/>
              </a:rPr>
              <a:t>PACT example </a:t>
            </a:r>
            <a:r>
              <a:rPr lang="en-US" sz="1800" b="1" dirty="0" smtClean="0">
                <a:latin typeface="Verdana" pitchFamily="34" charset="0"/>
                <a:ea typeface="ヒラギノ角ゴ Pro W3"/>
                <a:cs typeface="ヒラギノ角ゴ Pro W3"/>
              </a:rPr>
              <a:t>Activities</a:t>
            </a:r>
          </a:p>
        </p:txBody>
      </p:sp>
      <p:sp>
        <p:nvSpPr>
          <p:cNvPr id="73730" name="Text Placeholder 2"/>
          <p:cNvSpPr>
            <a:spLocks noGrp="1"/>
          </p:cNvSpPr>
          <p:nvPr>
            <p:ph type="body" idx="1"/>
          </p:nvPr>
        </p:nvSpPr>
        <p:spPr>
          <a:xfrm>
            <a:off x="707830" y="1340768"/>
            <a:ext cx="7931224"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The overall purpose of the activity is to enter some form of security clearance and to open the door. </a:t>
            </a:r>
          </a:p>
          <a:p>
            <a:pPr algn="just" eaLnBrk="1" hangingPunct="1">
              <a:lnSpc>
                <a:spcPct val="150000"/>
              </a:lnSpc>
            </a:pPr>
            <a:r>
              <a:rPr lang="en-US" sz="1500" dirty="0" smtClean="0">
                <a:latin typeface="Verdana" pitchFamily="34" charset="0"/>
                <a:ea typeface="ヒラギノ角ゴ Pro W3"/>
                <a:cs typeface="ヒラギノ角ゴ Pro W3"/>
              </a:rPr>
              <a:t>This is a very well-defined activity that takes place in one step. </a:t>
            </a:r>
          </a:p>
          <a:p>
            <a:pPr algn="just" eaLnBrk="1" hangingPunct="1">
              <a:lnSpc>
                <a:spcPct val="150000"/>
              </a:lnSpc>
            </a:pPr>
            <a:r>
              <a:rPr lang="en-US" sz="1500" dirty="0" smtClean="0">
                <a:latin typeface="Verdana" pitchFamily="34" charset="0"/>
                <a:ea typeface="ヒラギノ角ゴ Pro W3"/>
                <a:cs typeface="ヒラギノ角ゴ Pro W3"/>
              </a:rPr>
              <a:t>It happens very frequently with peaks at the start of each laboratory session. </a:t>
            </a:r>
          </a:p>
          <a:p>
            <a:pPr algn="just" eaLnBrk="1" hangingPunct="1">
              <a:lnSpc>
                <a:spcPct val="150000"/>
              </a:lnSpc>
            </a:pPr>
            <a:r>
              <a:rPr lang="en-US" sz="1500" dirty="0" smtClean="0">
                <a:latin typeface="Verdana" pitchFamily="34" charset="0"/>
                <a:ea typeface="ヒラギノ角ゴ Pro W3"/>
                <a:cs typeface="ヒラギノ角ゴ Pro W3"/>
              </a:rPr>
              <a:t>The data to be entered is a simple numeric or alpha-numeric code. </a:t>
            </a:r>
          </a:p>
          <a:p>
            <a:pPr algn="just" eaLnBrk="1" hangingPunct="1">
              <a:lnSpc>
                <a:spcPct val="150000"/>
              </a:lnSpc>
            </a:pPr>
            <a:r>
              <a:rPr lang="en-US" sz="1500" dirty="0" smtClean="0">
                <a:latin typeface="Verdana" pitchFamily="34" charset="0"/>
                <a:ea typeface="ヒラギノ角ゴ Pro W3"/>
                <a:cs typeface="ヒラギノ角ゴ Pro W3"/>
              </a:rPr>
              <a:t>It is an activity that does not require cooperation with others (though it may be done with others, of course). </a:t>
            </a:r>
          </a:p>
          <a:p>
            <a:pPr algn="just" eaLnBrk="1" hangingPunct="1">
              <a:lnSpc>
                <a:spcPct val="150000"/>
              </a:lnSpc>
            </a:pPr>
            <a:r>
              <a:rPr lang="en-US" sz="1500" dirty="0" smtClean="0">
                <a:latin typeface="Verdana" pitchFamily="34" charset="0"/>
                <a:ea typeface="ヒラギノ角ゴ Pro W3"/>
                <a:cs typeface="ヒラギノ角ゴ Pro W3"/>
              </a:rPr>
              <a:t>It is not safety-critical, however security is an important aspect.</a:t>
            </a: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Title 1"/>
          <p:cNvSpPr>
            <a:spLocks noGrp="1"/>
          </p:cNvSpPr>
          <p:nvPr>
            <p:ph type="title"/>
          </p:nvPr>
        </p:nvSpPr>
        <p:spPr>
          <a:xfrm>
            <a:off x="457200" y="413792"/>
            <a:ext cx="8229600" cy="1070992"/>
          </a:xfrm>
        </p:spPr>
        <p:txBody>
          <a:bodyPr/>
          <a:lstStyle/>
          <a:p>
            <a:pPr eaLnBrk="1" hangingPunct="1"/>
            <a:r>
              <a:rPr lang="en-US" sz="1500" dirty="0" smtClean="0">
                <a:latin typeface="Verdana" pitchFamily="34" charset="0"/>
                <a:ea typeface="ヒラギノ角ゴ Pro W3"/>
                <a:cs typeface="ヒラギノ角ゴ Pro W3"/>
              </a:rPr>
              <a:t>PACT example </a:t>
            </a:r>
            <a:r>
              <a:rPr lang="en-US" sz="1800" b="1" dirty="0" smtClean="0">
                <a:latin typeface="Verdana" pitchFamily="34" charset="0"/>
                <a:ea typeface="ヒラギノ角ゴ Pro W3"/>
                <a:cs typeface="ヒラギノ角ゴ Pro W3"/>
              </a:rPr>
              <a:t>Contexts </a:t>
            </a:r>
            <a:r>
              <a:rPr lang="en-US" sz="1500" dirty="0" smtClean="0">
                <a:latin typeface="Verdana" pitchFamily="34" charset="0"/>
                <a:ea typeface="ヒラギノ角ゴ Pro W3"/>
                <a:cs typeface="ヒラギノ角ゴ Pro W3"/>
              </a:rPr>
              <a:t>(background)</a:t>
            </a:r>
          </a:p>
        </p:txBody>
      </p:sp>
      <p:sp>
        <p:nvSpPr>
          <p:cNvPr id="74754" name="Text Placeholder 2"/>
          <p:cNvSpPr>
            <a:spLocks noGrp="1"/>
          </p:cNvSpPr>
          <p:nvPr>
            <p:ph type="body" idx="1"/>
          </p:nvPr>
        </p:nvSpPr>
        <p:spPr>
          <a:xfrm>
            <a:off x="611560" y="1484784"/>
            <a:ext cx="7931224"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Physically, the activity takes place indoors, but people might be carrying books and other things that makes doing anything complicated quite difficult. </a:t>
            </a:r>
          </a:p>
          <a:p>
            <a:pPr algn="just" eaLnBrk="1" hangingPunct="1">
              <a:lnSpc>
                <a:spcPct val="150000"/>
              </a:lnSpc>
            </a:pPr>
            <a:r>
              <a:rPr lang="en-US" sz="1500" dirty="0" smtClean="0">
                <a:latin typeface="Verdana" pitchFamily="34" charset="0"/>
                <a:ea typeface="ヒラギノ角ゴ Pro W3"/>
                <a:cs typeface="ヒラギノ角ゴ Pro W3"/>
              </a:rPr>
              <a:t>Socially, it may happen in a crowd, but also it may happen late at night when no-one else is about. </a:t>
            </a:r>
          </a:p>
          <a:p>
            <a:pPr algn="just" eaLnBrk="1" hangingPunct="1">
              <a:lnSpc>
                <a:spcPct val="150000"/>
              </a:lnSpc>
            </a:pPr>
            <a:r>
              <a:rPr lang="en-US" sz="1500" dirty="0" smtClean="0">
                <a:latin typeface="Verdana" pitchFamily="34" charset="0"/>
                <a:ea typeface="ヒラギノ角ゴ Pro W3"/>
                <a:cs typeface="ヒラギノ角ゴ Pro W3"/>
              </a:rPr>
              <a:t>Organizationally, the context is primarily about security and who has access to which rooms and when they can gain access. </a:t>
            </a:r>
          </a:p>
          <a:p>
            <a:pPr algn="just" eaLnBrk="1" hangingPunct="1">
              <a:lnSpc>
                <a:spcPct val="150000"/>
              </a:lnSpc>
            </a:pPr>
            <a:r>
              <a:rPr lang="en-US" sz="1500" dirty="0" smtClean="0">
                <a:latin typeface="Verdana" pitchFamily="34" charset="0"/>
                <a:ea typeface="ヒラギノ角ゴ Pro W3"/>
                <a:cs typeface="ヒラギノ角ゴ Pro W3"/>
              </a:rPr>
              <a:t>This is likely to be quite a politically charged setting.</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Title 1"/>
          <p:cNvSpPr>
            <a:spLocks noGrp="1"/>
          </p:cNvSpPr>
          <p:nvPr>
            <p:ph type="title"/>
          </p:nvPr>
        </p:nvSpPr>
        <p:spPr>
          <a:xfrm>
            <a:off x="457200" y="418654"/>
            <a:ext cx="8229600" cy="994122"/>
          </a:xfrm>
        </p:spPr>
        <p:txBody>
          <a:bodyPr/>
          <a:lstStyle/>
          <a:p>
            <a:pPr eaLnBrk="1" hangingPunct="1"/>
            <a:r>
              <a:rPr lang="en-US" sz="1500" dirty="0" smtClean="0">
                <a:latin typeface="Verdana" pitchFamily="34" charset="0"/>
                <a:ea typeface="ヒラギノ角ゴ Pro W3"/>
                <a:cs typeface="ヒラギノ角ゴ Pro W3"/>
              </a:rPr>
              <a:t>PACT example </a:t>
            </a:r>
            <a:r>
              <a:rPr lang="en-US" sz="1800" b="1" dirty="0" smtClean="0">
                <a:latin typeface="Verdana" pitchFamily="34" charset="0"/>
                <a:ea typeface="ヒラギノ角ゴ Pro W3"/>
                <a:cs typeface="ヒラギノ角ゴ Pro W3"/>
              </a:rPr>
              <a:t>Technologies</a:t>
            </a:r>
          </a:p>
        </p:txBody>
      </p:sp>
      <p:sp>
        <p:nvSpPr>
          <p:cNvPr id="75778" name="Text Placeholder 2"/>
          <p:cNvSpPr>
            <a:spLocks noGrp="1"/>
          </p:cNvSpPr>
          <p:nvPr>
            <p:ph type="body" idx="1"/>
          </p:nvPr>
        </p:nvSpPr>
        <p:spPr>
          <a:xfrm>
            <a:off x="457200" y="1484784"/>
            <a:ext cx="8229600" cy="4525963"/>
          </a:xfrm>
        </p:spPr>
        <p:txBody>
          <a:bodyPr/>
          <a:lstStyle/>
          <a:p>
            <a:pPr algn="just" eaLnBrk="1" hangingPunct="1">
              <a:lnSpc>
                <a:spcPct val="150000"/>
              </a:lnSpc>
            </a:pPr>
            <a:r>
              <a:rPr lang="en-US" sz="1500" dirty="0" smtClean="0">
                <a:latin typeface="Verdana" pitchFamily="34" charset="0"/>
                <a:ea typeface="ヒラギノ角ゴ Pro W3"/>
                <a:cs typeface="ヒラギノ角ゴ Pro W3"/>
              </a:rPr>
              <a:t>A small amount of data has to be entered quickly. </a:t>
            </a:r>
          </a:p>
          <a:p>
            <a:pPr algn="just" eaLnBrk="1" hangingPunct="1">
              <a:lnSpc>
                <a:spcPct val="150000"/>
              </a:lnSpc>
            </a:pPr>
            <a:r>
              <a:rPr lang="en-US" sz="1500" dirty="0" smtClean="0">
                <a:latin typeface="Verdana" pitchFamily="34" charset="0"/>
                <a:ea typeface="ヒラギノ角ゴ Pro W3"/>
                <a:cs typeface="ヒラギノ角ゴ Pro W3"/>
              </a:rPr>
              <a:t>It must be obvious how to do this to accommodate visitors and people unfamiliar with the system. </a:t>
            </a:r>
          </a:p>
          <a:p>
            <a:pPr algn="just" eaLnBrk="1" hangingPunct="1">
              <a:lnSpc>
                <a:spcPct val="150000"/>
              </a:lnSpc>
            </a:pPr>
            <a:r>
              <a:rPr lang="en-US" sz="1500" dirty="0" smtClean="0">
                <a:latin typeface="Verdana" pitchFamily="34" charset="0"/>
                <a:ea typeface="ヒラギノ角ゴ Pro W3"/>
                <a:cs typeface="ヒラギノ角ゴ Pro W3"/>
              </a:rPr>
              <a:t>It needs to be accessible by people in wheelchairs. </a:t>
            </a:r>
          </a:p>
          <a:p>
            <a:pPr algn="just" eaLnBrk="1" hangingPunct="1">
              <a:lnSpc>
                <a:spcPct val="150000"/>
              </a:lnSpc>
            </a:pPr>
            <a:r>
              <a:rPr lang="en-US" sz="1500" dirty="0" smtClean="0">
                <a:latin typeface="Verdana" pitchFamily="34" charset="0"/>
                <a:ea typeface="ヒラギノ角ゴ Pro W3"/>
                <a:cs typeface="ヒラギノ角ゴ Pro W3"/>
              </a:rPr>
              <a:t>The output from the technology needs to be clear: that the security data has been accepted or not and the door has to be opened if the process was successful. </a:t>
            </a:r>
          </a:p>
          <a:p>
            <a:pPr algn="just" eaLnBrk="1" hangingPunct="1">
              <a:lnSpc>
                <a:spcPct val="150000"/>
              </a:lnSpc>
            </a:pPr>
            <a:r>
              <a:rPr lang="en-US" sz="1500" dirty="0" smtClean="0">
                <a:latin typeface="Verdana" pitchFamily="34" charset="0"/>
                <a:ea typeface="ヒラギノ角ゴ Pro W3"/>
                <a:cs typeface="ヒラギノ角ゴ Pro W3"/>
              </a:rPr>
              <a:t>Communication with a central database may be necessary to validate any data input, but there is little other content in the application.</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4720</TotalTime>
  <Words>6155</Words>
  <Application>Microsoft Office PowerPoint</Application>
  <PresentationFormat>On-screen Show (4:3)</PresentationFormat>
  <Paragraphs>341</Paragraphs>
  <Slides>53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ヒラギノ角ゴ Pro W3</vt:lpstr>
      <vt:lpstr>Arial</vt:lpstr>
      <vt:lpstr>Calibri</vt:lpstr>
      <vt:lpstr>Verdana</vt:lpstr>
      <vt:lpstr>Wingdings</vt:lpstr>
      <vt:lpstr>Office Theme</vt:lpstr>
      <vt:lpstr>PACT:   A Framework for Designing Interactive Systems</vt:lpstr>
      <vt:lpstr>Overview</vt:lpstr>
      <vt:lpstr>PACT</vt:lpstr>
      <vt:lpstr>The Cycle continues</vt:lpstr>
      <vt:lpstr>People</vt:lpstr>
      <vt:lpstr>1) Physical differences</vt:lpstr>
      <vt:lpstr> Ergonomics</vt:lpstr>
      <vt:lpstr>Ergonomic design</vt:lpstr>
      <vt:lpstr>2) Psychological differences</vt:lpstr>
      <vt:lpstr>Individual Differences</vt:lpstr>
      <vt:lpstr>Psychological tests</vt:lpstr>
      <vt:lpstr>Mental models</vt:lpstr>
      <vt:lpstr>Developing a mental model</vt:lpstr>
      <vt:lpstr>The mental model problem.</vt:lpstr>
      <vt:lpstr>The Nature Of Mental Models Of Interactive Systems (Norman, 1983)</vt:lpstr>
      <vt:lpstr>Stephen Payne’s view</vt:lpstr>
      <vt:lpstr>Device Models (case study)</vt:lpstr>
      <vt:lpstr>3) Social differences</vt:lpstr>
      <vt:lpstr>Novice and experts</vt:lpstr>
      <vt:lpstr>Similarity between people</vt:lpstr>
      <vt:lpstr>Activities</vt:lpstr>
      <vt:lpstr>Temporal aspects of activities</vt:lpstr>
      <vt:lpstr>More temporal aspects</vt:lpstr>
      <vt:lpstr>Cooperative and complex activities</vt:lpstr>
      <vt:lpstr>Safety-critical activities</vt:lpstr>
      <vt:lpstr>Data and media requirements</vt:lpstr>
      <vt:lpstr>Contexts</vt:lpstr>
      <vt:lpstr>Example</vt:lpstr>
      <vt:lpstr>Physical environment</vt:lpstr>
      <vt:lpstr>Social context</vt:lpstr>
      <vt:lpstr>Organizational context</vt:lpstr>
      <vt:lpstr>Interface plasticity (flexibility)</vt:lpstr>
      <vt:lpstr>Technologies</vt:lpstr>
      <vt:lpstr>Classifying Technologies</vt:lpstr>
      <vt:lpstr>Input</vt:lpstr>
      <vt:lpstr>Input methods</vt:lpstr>
      <vt:lpstr>Pointing</vt:lpstr>
      <vt:lpstr>More Pointing devices</vt:lpstr>
      <vt:lpstr>Sensors and Speech</vt:lpstr>
      <vt:lpstr>Output</vt:lpstr>
      <vt:lpstr>Multi-touch surfaces</vt:lpstr>
      <vt:lpstr>Printers</vt:lpstr>
      <vt:lpstr>Haptics</vt:lpstr>
      <vt:lpstr>Communication</vt:lpstr>
      <vt:lpstr>Wireless communication </vt:lpstr>
      <vt:lpstr>Content</vt:lpstr>
      <vt:lpstr>Media characteristics</vt:lpstr>
      <vt:lpstr>Scoping (analyze) a problem with PACT</vt:lpstr>
      <vt:lpstr>People, activities, contexts, technologies</vt:lpstr>
      <vt:lpstr>PACT example People</vt:lpstr>
      <vt:lpstr>PACT example Activities</vt:lpstr>
      <vt:lpstr>PACT example Contexts (background)</vt:lpstr>
      <vt:lpstr>PACT example Technologies</vt:lpstr>
    </vt:vector>
  </TitlesOfParts>
  <Company>Napier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PACT: A framework for designing interactive systems</dc:title>
  <dc:creator>david benyon</dc:creator>
  <cp:lastModifiedBy>SANA</cp:lastModifiedBy>
  <cp:revision>344</cp:revision>
  <dcterms:created xsi:type="dcterms:W3CDTF">2010-01-25T14:24:16Z</dcterms:created>
  <dcterms:modified xsi:type="dcterms:W3CDTF">2025-02-19T18:04:19Z</dcterms:modified>
</cp:coreProperties>
</file>