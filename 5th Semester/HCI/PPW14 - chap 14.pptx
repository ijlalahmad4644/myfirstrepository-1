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6" r:id="rId10"/>
    <p:sldId id="268" r:id="rId11"/>
    <p:sldId id="270" r:id="rId12"/>
    <p:sldId id="271" r:id="rId13"/>
    <p:sldId id="275" r:id="rId14"/>
    <p:sldId id="277" r:id="rId15"/>
    <p:sldId id="279" r:id="rId16"/>
    <p:sldId id="284" r:id="rId17"/>
    <p:sldId id="281" r:id="rId18"/>
    <p:sldId id="282" r:id="rId19"/>
    <p:sldId id="283" r:id="rId2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94622" autoAdjust="0"/>
  </p:normalViewPr>
  <p:slideViewPr>
    <p:cSldViewPr snapToObjects="1">
      <p:cViewPr varScale="1">
        <p:scale>
          <a:sx n="69" d="100"/>
          <a:sy n="69" d="100"/>
        </p:scale>
        <p:origin x="108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F9EF08E-35D1-4DF3-8522-92B0CD74C438}"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EAA7265-DF0F-4459-A179-80A94EBC0FF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FA6C561-2349-4612-85E5-B072FE39D050}"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900E9CC-768E-4704-BBC5-4358AB07F92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3D7D888-14F6-453D-9168-C5189654BB63}"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628F597-B18A-4612-AFA5-29ADC3A15DC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2E2CBB53-535A-4729-BC0E-8A34318F07AF}" type="datetimeFigureOut">
              <a:rPr lang="en-US"/>
              <a:pPr>
                <a:defRPr/>
              </a:pPr>
              <a:t>14-May-25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705A79A-79BE-4C64-B58D-0BBE01222B0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DF6BA8C-0BBE-487B-A9F9-D1428E1E6B6F}" type="datetimeFigureOut">
              <a:rPr lang="en-US"/>
              <a:pPr>
                <a:defRPr/>
              </a:pPr>
              <a:t>14-May-25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3C71E24-BC94-4E62-A65C-44B1D7ACE45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02ADB6D-49FF-486F-955A-2333653FBC10}" type="datetimeFigureOut">
              <a:rPr lang="en-US"/>
              <a:pPr>
                <a:defRPr/>
              </a:pPr>
              <a:t>14-May-25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E254D63-588B-474D-A6A3-296A64A59E1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19F24E2-C79B-4838-8194-A7C03197E306}" type="datetimeFigureOut">
              <a:rPr lang="en-US"/>
              <a:pPr>
                <a:defRPr/>
              </a:pPr>
              <a:t>14-May-25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166AFA4-6249-47E9-8519-D4527B94928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E36BB53-3AEC-455C-A240-A470E867C2BE}" type="datetimeFigureOut">
              <a:rPr lang="en-US"/>
              <a:pPr>
                <a:defRPr/>
              </a:pPr>
              <a:t>14-May-25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EB76D63-97B0-4D70-BB92-D09C1E4D12C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1779C8E-6C0D-4644-BE44-29221367248F}" type="datetimeFigureOut">
              <a:rPr lang="en-US"/>
              <a:pPr>
                <a:defRPr/>
              </a:pPr>
              <a:t>14-May-25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87EC62-40E2-4C00-BADC-7DE2A966106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54208D-2270-410B-BFDB-68A16D10EA82}"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4E38DBC-E172-49AA-96EF-CB31175CDD4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0EFE63C-D6A8-4C99-A6B7-C6CCCF77DA31}"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A5F028-42AC-4730-BBF2-8368394C15BB}"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5D68512-79C5-4A6D-A850-528EA82E95EC}" type="datetimeFigureOut">
              <a:rPr lang="en-US"/>
              <a:pPr>
                <a:defRPr/>
              </a:pPr>
              <a:t>14-May-25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43252A4-217F-4F00-A098-BB3716CFC37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88F99918-6FC3-4FC0-87BA-F02D3F9ABDE3}" type="datetimeFigureOut">
              <a:rPr lang="en-US"/>
              <a:pPr>
                <a:defRPr/>
              </a:pPr>
              <a:t>14-May-25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C971DBCF-9D9D-4317-9F00-DAB2CF2BE43B}" type="slidenum">
              <a:rPr lang="en-US"/>
              <a:pPr>
                <a:defRPr/>
              </a:pPr>
              <a:t>‹#›</a:t>
            </a:fld>
            <a:endParaRPr lang="en-US"/>
          </a:p>
        </p:txBody>
      </p:sp>
      <p:sp>
        <p:nvSpPr>
          <p:cNvPr id="2"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a:defRPr/>
            </a:pPr>
            <a:r>
              <a:rPr lang="en-GB" sz="900">
                <a:latin typeface="Verdana" pitchFamily="34" charset="0"/>
              </a:rPr>
              <a:t>Benyon, </a:t>
            </a:r>
            <a:r>
              <a:rPr lang="en-US" sz="900" i="1">
                <a:latin typeface="Verdana" pitchFamily="34" charset="0"/>
              </a:rPr>
              <a:t>Designing Interactive Systems: A comprehensive guide to HCI, UX and interaction design</a:t>
            </a:r>
            <a:r>
              <a:rPr lang="en-GB" sz="900">
                <a:latin typeface="Verdana" pitchFamily="34" charset="0"/>
              </a:rPr>
              <a:t>, 3rd Ed., © Pearson Education Limited 2013</a:t>
            </a:r>
            <a:endParaRPr lang="en-GB"/>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a:xfrm>
            <a:off x="685800" y="1412776"/>
            <a:ext cx="7772400" cy="3386807"/>
          </a:xfrm>
        </p:spPr>
        <p:txBody>
          <a:bodyPr/>
          <a:lstStyle/>
          <a:p>
            <a:pPr eaLnBrk="1" hangingPunct="1">
              <a:lnSpc>
                <a:spcPct val="200000"/>
              </a:lnSpc>
            </a:pPr>
            <a:r>
              <a:rPr lang="en-US" sz="2000" b="1" dirty="0" smtClean="0">
                <a:latin typeface="Verdana" pitchFamily="34" charset="0"/>
                <a:ea typeface="ヒラギノ角ゴ Pro W3"/>
                <a:cs typeface="ヒラギノ角ゴ Pro W3"/>
              </a:rPr>
              <a:t>Designing Websites</a:t>
            </a:r>
            <a:br>
              <a:rPr lang="en-US" sz="2000" b="1" dirty="0" smtClean="0">
                <a:latin typeface="Verdana" pitchFamily="34" charset="0"/>
                <a:ea typeface="ヒラギノ角ゴ Pro W3"/>
                <a:cs typeface="ヒラギノ角ゴ Pro W3"/>
              </a:rPr>
            </a:br>
            <a:r>
              <a:rPr lang="en-US" sz="1500" b="1" dirty="0">
                <a:latin typeface="Verdana" pitchFamily="34" charset="0"/>
                <a:ea typeface="ヒラギノ角ゴ Pro W3"/>
                <a:cs typeface="ヒラギノ角ゴ Pro W3"/>
              </a:rPr>
              <a:t/>
            </a:r>
            <a:br>
              <a:rPr lang="en-US" sz="1500" b="1" dirty="0">
                <a:latin typeface="Verdana" pitchFamily="34" charset="0"/>
                <a:ea typeface="ヒラギノ角ゴ Pro W3"/>
                <a:cs typeface="ヒラギノ角ゴ Pro W3"/>
              </a:rPr>
            </a:br>
            <a:r>
              <a:rPr lang="en-US" sz="1500" dirty="0">
                <a:latin typeface="Verdana" pitchFamily="34" charset="0"/>
                <a:ea typeface="ヒラギノ角ゴ Pro W3"/>
                <a:cs typeface="ヒラギノ角ゴ Pro W3"/>
              </a:rPr>
              <a:t>W</a:t>
            </a:r>
            <a:r>
              <a:rPr lang="en-US" sz="1500" dirty="0" smtClean="0">
                <a:latin typeface="Verdana" pitchFamily="34" charset="0"/>
                <a:ea typeface="ヒラギノ角ゴ Pro W3"/>
                <a:cs typeface="ヒラギノ角ゴ Pro W3"/>
              </a:rPr>
              <a:t>ebsite </a:t>
            </a:r>
            <a:r>
              <a:rPr lang="en-US" sz="1500" dirty="0">
                <a:latin typeface="Verdana" pitchFamily="34" charset="0"/>
                <a:ea typeface="ヒラギノ角ゴ Pro W3"/>
                <a:cs typeface="ヒラギノ角ゴ Pro W3"/>
              </a:rPr>
              <a:t>and app </a:t>
            </a:r>
            <a:r>
              <a:rPr lang="en-US" sz="1500" dirty="0" smtClean="0">
                <a:latin typeface="Verdana" pitchFamily="34" charset="0"/>
                <a:ea typeface="ヒラギノ角ゴ Pro W3"/>
                <a:cs typeface="ヒラギノ角ゴ Pro W3"/>
              </a:rPr>
              <a:t>development</a:t>
            </a:r>
            <a:br>
              <a:rPr lang="en-US" sz="1500" dirty="0" smtClean="0">
                <a:latin typeface="Verdana" pitchFamily="34" charset="0"/>
                <a:ea typeface="ヒラギノ角ゴ Pro W3"/>
                <a:cs typeface="ヒラギノ角ゴ Pro W3"/>
              </a:rPr>
            </a:br>
            <a:r>
              <a:rPr lang="en-US" sz="1500" dirty="0" smtClean="0">
                <a:latin typeface="Verdana" pitchFamily="34" charset="0"/>
                <a:ea typeface="ヒラギノ角ゴ Pro W3"/>
                <a:cs typeface="ヒラギノ角ゴ Pro W3"/>
              </a:rPr>
              <a:t>Information </a:t>
            </a:r>
            <a:r>
              <a:rPr lang="en-US" sz="1500" dirty="0">
                <a:latin typeface="Verdana" pitchFamily="34" charset="0"/>
                <a:ea typeface="ヒラギノ角ゴ Pro W3"/>
                <a:cs typeface="ヒラギノ角ゴ Pro W3"/>
              </a:rPr>
              <a:t>architecture of apps and </a:t>
            </a:r>
            <a:r>
              <a:rPr lang="en-US" sz="1500" dirty="0" smtClean="0">
                <a:latin typeface="Verdana" pitchFamily="34" charset="0"/>
                <a:ea typeface="ヒラギノ角ゴ Pro W3"/>
                <a:cs typeface="ヒラギノ角ゴ Pro W3"/>
              </a:rPr>
              <a:t>website</a:t>
            </a:r>
            <a:br>
              <a:rPr lang="en-US" sz="1500" dirty="0" smtClean="0">
                <a:latin typeface="Verdana" pitchFamily="34" charset="0"/>
                <a:ea typeface="ヒラギノ角ゴ Pro W3"/>
                <a:cs typeface="ヒラギノ角ゴ Pro W3"/>
              </a:rPr>
            </a:br>
            <a:r>
              <a:rPr lang="en-US" sz="1500" dirty="0" smtClean="0">
                <a:latin typeface="Verdana" pitchFamily="34" charset="0"/>
                <a:ea typeface="ヒラギノ角ゴ Pro W3"/>
                <a:cs typeface="ヒラギノ角ゴ Pro W3"/>
              </a:rPr>
              <a:t>Navigation </a:t>
            </a:r>
            <a:r>
              <a:rPr lang="en-US" sz="1500" dirty="0">
                <a:latin typeface="Verdana" pitchFamily="34" charset="0"/>
                <a:ea typeface="ヒラギノ角ゴ Pro W3"/>
                <a:cs typeface="ヒラギノ角ゴ Pro W3"/>
              </a:rPr>
              <a:t>design for apps and </a:t>
            </a:r>
            <a:r>
              <a:rPr lang="en-US" sz="1500" dirty="0" smtClean="0">
                <a:latin typeface="Verdana" pitchFamily="34" charset="0"/>
                <a:ea typeface="ヒラギノ角ゴ Pro W3"/>
                <a:cs typeface="ヒラギノ角ゴ Pro W3"/>
              </a:rPr>
              <a:t>websites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457200" y="274638"/>
            <a:ext cx="8229600" cy="860647"/>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Introduction</a:t>
            </a:r>
          </a:p>
        </p:txBody>
      </p:sp>
      <p:sp>
        <p:nvSpPr>
          <p:cNvPr id="16386" name="Text Placeholder 2"/>
          <p:cNvSpPr>
            <a:spLocks noGrp="1"/>
          </p:cNvSpPr>
          <p:nvPr>
            <p:ph type="body" idx="1"/>
          </p:nvPr>
        </p:nvSpPr>
        <p:spPr>
          <a:xfrm>
            <a:off x="457200" y="1052736"/>
            <a:ext cx="8229600" cy="5174035"/>
          </a:xfrm>
        </p:spPr>
        <p:txBody>
          <a:bodyPr/>
          <a:lstStyle/>
          <a:p>
            <a:pPr algn="just" eaLnBrk="1" hangingPunct="1">
              <a:lnSpc>
                <a:spcPct val="150000"/>
              </a:lnSpc>
            </a:pPr>
            <a:r>
              <a:rPr lang="en-US" sz="1500" dirty="0" smtClean="0">
                <a:latin typeface="Verdana" pitchFamily="34" charset="0"/>
                <a:cs typeface="Times New Roman" pitchFamily="18" charset="0"/>
              </a:rPr>
              <a:t>The development of a website involves far more than just its design. </a:t>
            </a:r>
          </a:p>
          <a:p>
            <a:pPr algn="just" eaLnBrk="1" hangingPunct="1">
              <a:lnSpc>
                <a:spcPct val="150000"/>
              </a:lnSpc>
            </a:pPr>
            <a:r>
              <a:rPr lang="en-US" sz="1500" dirty="0" smtClean="0">
                <a:latin typeface="Verdana" pitchFamily="34" charset="0"/>
                <a:cs typeface="Times New Roman" pitchFamily="18" charset="0"/>
              </a:rPr>
              <a:t>There are a lot of pre-design activities concerned with establishing the purpose of the site, who it is aimed at and how it fits into the organization’s overall publicity strategy. </a:t>
            </a:r>
          </a:p>
          <a:p>
            <a:pPr algn="just" eaLnBrk="1" hangingPunct="1">
              <a:lnSpc>
                <a:spcPct val="150000"/>
              </a:lnSpc>
            </a:pPr>
            <a:r>
              <a:rPr lang="en-US" sz="1500" dirty="0" smtClean="0">
                <a:latin typeface="Verdana" pitchFamily="34" charset="0"/>
                <a:cs typeface="Times New Roman" pitchFamily="18" charset="0"/>
              </a:rPr>
              <a:t>In larger organizations there will be plenty of disagreement and arguments about all these issues and these internal politics often affect the final quality of the site.</a:t>
            </a:r>
          </a:p>
          <a:p>
            <a:pPr algn="just" eaLnBrk="1" hangingPunct="1">
              <a:lnSpc>
                <a:spcPct val="150000"/>
              </a:lnSpc>
            </a:pPr>
            <a:r>
              <a:rPr lang="en-US" sz="1500" dirty="0" smtClean="0">
                <a:latin typeface="Verdana" pitchFamily="34" charset="0"/>
                <a:cs typeface="Times New Roman" pitchFamily="18" charset="0"/>
              </a:rPr>
              <a:t>Many sites finish up as too large, trying to serve too many issues with the marketing people in charge; usability and engagement come a long way down the list of priorities. </a:t>
            </a:r>
          </a:p>
          <a:p>
            <a:pPr algn="just" eaLnBrk="1" hangingPunct="1">
              <a:lnSpc>
                <a:spcPct val="150000"/>
              </a:lnSpc>
            </a:pPr>
            <a:r>
              <a:rPr lang="en-US" sz="1500" dirty="0" smtClean="0">
                <a:latin typeface="Verdana" pitchFamily="34" charset="0"/>
                <a:cs typeface="Times New Roman" pitchFamily="18" charset="0"/>
              </a:rPr>
              <a:t>At the other end of the process the launch of the site has to be carefully managed and other infrastructure issues will need to be addressed such as how, when and by whom the content is written and updated, who deals with e-mails and site maintenance, and so forth.</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457200" y="274638"/>
            <a:ext cx="8229600" cy="1076671"/>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Design and Development</a:t>
            </a:r>
          </a:p>
        </p:txBody>
      </p:sp>
      <p:sp>
        <p:nvSpPr>
          <p:cNvPr id="17410" name="Text Placeholder 2"/>
          <p:cNvSpPr>
            <a:spLocks noGrp="1"/>
          </p:cNvSpPr>
          <p:nvPr>
            <p:ph type="body" idx="1"/>
          </p:nvPr>
        </p:nvSpPr>
        <p:spPr>
          <a:xfrm>
            <a:off x="719572" y="1340768"/>
            <a:ext cx="7704856" cy="4525963"/>
          </a:xfrm>
        </p:spPr>
        <p:txBody>
          <a:bodyPr/>
          <a:lstStyle/>
          <a:p>
            <a:pPr algn="just" eaLnBrk="1" hangingPunct="1">
              <a:lnSpc>
                <a:spcPct val="150000"/>
              </a:lnSpc>
            </a:pPr>
            <a:r>
              <a:rPr lang="en-US" sz="1500" dirty="0" smtClean="0">
                <a:latin typeface="Verdana" pitchFamily="34" charset="0"/>
                <a:cs typeface="Times New Roman" pitchFamily="18" charset="0"/>
              </a:rPr>
              <a:t>The part that interests us – the </a:t>
            </a:r>
            <a:r>
              <a:rPr lang="en-US" sz="1500" b="1" dirty="0" smtClean="0">
                <a:latin typeface="Verdana" pitchFamily="34" charset="0"/>
                <a:cs typeface="Times New Roman" pitchFamily="18" charset="0"/>
              </a:rPr>
              <a:t>design and development of a site that is effective, learnable and accommodating (helpful)</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This includes developing the </a:t>
            </a:r>
            <a:r>
              <a:rPr lang="en-US" sz="1500" b="1" dirty="0" smtClean="0">
                <a:latin typeface="Verdana" pitchFamily="34" charset="0"/>
                <a:cs typeface="Times New Roman" pitchFamily="18" charset="0"/>
              </a:rPr>
              <a:t>structure of the site; the information architecture</a:t>
            </a:r>
            <a:r>
              <a:rPr lang="en-US" sz="1500" dirty="0">
                <a:latin typeface="Verdana" pitchFamily="34" charset="0"/>
                <a:cs typeface="Times New Roman" pitchFamily="18" charset="0"/>
              </a:rPr>
              <a:t> </a:t>
            </a:r>
            <a:r>
              <a:rPr lang="en-US" sz="1500" dirty="0" smtClean="0">
                <a:latin typeface="Verdana" pitchFamily="34" charset="0"/>
                <a:cs typeface="Times New Roman" pitchFamily="18" charset="0"/>
              </a:rPr>
              <a:t>(blueprint). </a:t>
            </a:r>
          </a:p>
          <a:p>
            <a:pPr algn="just" eaLnBrk="1" hangingPunct="1">
              <a:lnSpc>
                <a:spcPct val="150000"/>
              </a:lnSpc>
            </a:pPr>
            <a:r>
              <a:rPr lang="en-US" sz="1500" dirty="0" smtClean="0">
                <a:latin typeface="Verdana" pitchFamily="34" charset="0"/>
                <a:cs typeface="Times New Roman" pitchFamily="18" charset="0"/>
              </a:rPr>
              <a:t>Web site design is also concerned with </a:t>
            </a:r>
            <a:r>
              <a:rPr lang="en-US" sz="1500" b="1" dirty="0" smtClean="0">
                <a:latin typeface="Verdana" pitchFamily="34" charset="0"/>
                <a:cs typeface="Times New Roman" pitchFamily="18" charset="0"/>
              </a:rPr>
              <a:t>information </a:t>
            </a:r>
            <a:r>
              <a:rPr lang="en-US" sz="1500" b="1" dirty="0">
                <a:latin typeface="Verdana" pitchFamily="34" charset="0"/>
                <a:cs typeface="Times New Roman" pitchFamily="18" charset="0"/>
              </a:rPr>
              <a:t>design </a:t>
            </a:r>
            <a:r>
              <a:rPr lang="en-US" sz="1500" dirty="0">
                <a:latin typeface="Verdana" pitchFamily="34" charset="0"/>
                <a:cs typeface="Times New Roman" pitchFamily="18" charset="0"/>
              </a:rPr>
              <a:t>(efficient &amp;</a:t>
            </a:r>
            <a:r>
              <a:rPr lang="en-US" sz="1500" dirty="0" smtClean="0">
                <a:latin typeface="Verdana" pitchFamily="34" charset="0"/>
                <a:cs typeface="Times New Roman" pitchFamily="18" charset="0"/>
              </a:rPr>
              <a:t> </a:t>
            </a:r>
            <a:r>
              <a:rPr lang="en-US" sz="1500" dirty="0">
                <a:latin typeface="Verdana" pitchFamily="34" charset="0"/>
                <a:cs typeface="Times New Roman" pitchFamily="18" charset="0"/>
              </a:rPr>
              <a:t>effective understanding of the </a:t>
            </a:r>
            <a:r>
              <a:rPr lang="en-US" sz="1500" dirty="0" smtClean="0">
                <a:latin typeface="Verdana" pitchFamily="34" charset="0"/>
                <a:cs typeface="Times New Roman" pitchFamily="18" charset="0"/>
              </a:rPr>
              <a:t>information)</a:t>
            </a:r>
            <a:r>
              <a:rPr lang="en-US" sz="1500" b="1" dirty="0" smtClean="0">
                <a:latin typeface="Verdana" pitchFamily="34" charset="0"/>
                <a:cs typeface="Times New Roman" pitchFamily="18" charset="0"/>
              </a:rPr>
              <a:t> and, importantly with navigation design</a:t>
            </a:r>
            <a:r>
              <a:rPr lang="en-US" sz="1500" dirty="0" smtClean="0">
                <a:latin typeface="Verdana" pitchFamily="34" charset="0"/>
                <a:cs typeface="Times New Roman" pitchFamily="18" charset="0"/>
              </a:rPr>
              <a:t>.</a:t>
            </a:r>
          </a:p>
          <a:p>
            <a:pPr algn="just" eaLnBrk="1" hangingPunct="1">
              <a:lnSpc>
                <a:spcPct val="150000"/>
              </a:lnSpc>
            </a:pPr>
            <a:r>
              <a:rPr lang="en-US" sz="1500" b="1" dirty="0" smtClean="0">
                <a:latin typeface="Verdana" pitchFamily="34" charset="0"/>
                <a:cs typeface="Times New Roman" pitchFamily="18" charset="0"/>
              </a:rPr>
              <a:t>Vital to the success of a website</a:t>
            </a:r>
            <a:r>
              <a:rPr lang="en-US" sz="1500" dirty="0" smtClean="0">
                <a:latin typeface="Verdana" pitchFamily="34" charset="0"/>
                <a:cs typeface="Times New Roman" pitchFamily="18" charset="0"/>
              </a:rPr>
              <a:t>, of course, is the </a:t>
            </a:r>
            <a:r>
              <a:rPr lang="en-US" sz="1500" b="1" dirty="0" smtClean="0">
                <a:latin typeface="Verdana" pitchFamily="34" charset="0"/>
                <a:cs typeface="Times New Roman" pitchFamily="18" charset="0"/>
              </a:rPr>
              <a:t>content.</a:t>
            </a:r>
            <a:r>
              <a:rPr lang="en-US" sz="1500" dirty="0" smtClean="0">
                <a:latin typeface="Verdana" pitchFamily="34" charset="0"/>
                <a:cs typeface="Times New Roman" pitchFamily="18" charset="0"/>
              </a:rPr>
              <a:t> In website design, the designer has to acquire another skill – that of writing and organizing information content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pPr eaLnBrk="1" hangingPunct="1">
              <a:lnSpc>
                <a:spcPct val="120000"/>
              </a:lnSpc>
            </a:pPr>
            <a:r>
              <a:rPr lang="en-US" sz="2000" b="1" dirty="0" smtClean="0">
                <a:solidFill>
                  <a:srgbClr val="0070C0"/>
                </a:solidFill>
                <a:latin typeface="Verdana" pitchFamily="34" charset="0"/>
                <a:ea typeface="ヒラギノ角ゴ Pro W3"/>
                <a:cs typeface="ヒラギノ角ゴ Pro W3"/>
              </a:rPr>
              <a:t>Website Development</a:t>
            </a:r>
          </a:p>
        </p:txBody>
      </p:sp>
      <p:sp>
        <p:nvSpPr>
          <p:cNvPr id="18434" name="Text Placeholder 2"/>
          <p:cNvSpPr>
            <a:spLocks noGrp="1"/>
          </p:cNvSpPr>
          <p:nvPr>
            <p:ph type="body" idx="1"/>
          </p:nvPr>
        </p:nvSpPr>
        <p:spPr>
          <a:xfrm>
            <a:off x="518864" y="1423317"/>
            <a:ext cx="8229600" cy="4525963"/>
          </a:xfrm>
        </p:spPr>
        <p:txBody>
          <a:bodyPr/>
          <a:lstStyle/>
          <a:p>
            <a:pPr eaLnBrk="1" hangingPunct="1">
              <a:lnSpc>
                <a:spcPct val="150000"/>
              </a:lnSpc>
            </a:pPr>
            <a:r>
              <a:rPr lang="en-US" sz="1500" dirty="0" smtClean="0">
                <a:latin typeface="Verdana" pitchFamily="34" charset="0"/>
                <a:cs typeface="Times New Roman" pitchFamily="18" charset="0"/>
              </a:rPr>
              <a:t>The design of web sites should follow the principles of good interaction design that have been outlined previously. </a:t>
            </a:r>
          </a:p>
          <a:p>
            <a:pPr eaLnBrk="1" hangingPunct="1">
              <a:lnSpc>
                <a:spcPct val="150000"/>
              </a:lnSpc>
            </a:pPr>
            <a:r>
              <a:rPr lang="en-US" sz="1500" dirty="0" smtClean="0">
                <a:latin typeface="Verdana" pitchFamily="34" charset="0"/>
                <a:cs typeface="Times New Roman" pitchFamily="18" charset="0"/>
              </a:rPr>
              <a:t>Designers need to know </a:t>
            </a:r>
            <a:r>
              <a:rPr lang="en-US" sz="1500" b="1" dirty="0" smtClean="0">
                <a:latin typeface="Verdana" pitchFamily="34" charset="0"/>
                <a:cs typeface="Times New Roman" pitchFamily="18" charset="0"/>
              </a:rPr>
              <a:t>who is going to use the site and what they are going to use it for</a:t>
            </a:r>
            <a:r>
              <a:rPr lang="en-US" sz="1500" dirty="0" smtClean="0">
                <a:latin typeface="Verdana" pitchFamily="34" charset="0"/>
                <a:cs typeface="Times New Roman" pitchFamily="18" charset="0"/>
              </a:rPr>
              <a:t>.  </a:t>
            </a:r>
          </a:p>
          <a:p>
            <a:pPr eaLnBrk="1" hangingPunct="1">
              <a:lnSpc>
                <a:spcPct val="150000"/>
              </a:lnSpc>
            </a:pPr>
            <a:r>
              <a:rPr lang="en-US" sz="1500" dirty="0" smtClean="0">
                <a:latin typeface="Verdana" pitchFamily="34" charset="0"/>
                <a:cs typeface="Times New Roman" pitchFamily="18" charset="0"/>
              </a:rPr>
              <a:t>Web sites need to be well </a:t>
            </a:r>
            <a:r>
              <a:rPr lang="en-US" sz="1500" b="1" dirty="0" smtClean="0">
                <a:latin typeface="Verdana" pitchFamily="34" charset="0"/>
                <a:cs typeface="Times New Roman" pitchFamily="18" charset="0"/>
              </a:rPr>
              <a:t>focused with clear objectives</a:t>
            </a:r>
            <a:r>
              <a:rPr lang="en-US" sz="1500" dirty="0" smtClean="0">
                <a:latin typeface="Verdana" pitchFamily="34" charset="0"/>
                <a:cs typeface="Times New Roman" pitchFamily="18" charset="0"/>
              </a:rPr>
              <a:t>. </a:t>
            </a:r>
          </a:p>
          <a:p>
            <a:pPr eaLnBrk="1" hangingPunct="1">
              <a:lnSpc>
                <a:spcPct val="150000"/>
              </a:lnSpc>
            </a:pPr>
            <a:r>
              <a:rPr lang="en-US" sz="1500" dirty="0" smtClean="0">
                <a:latin typeface="Verdana" pitchFamily="34" charset="0"/>
                <a:cs typeface="Times New Roman" pitchFamily="18" charset="0"/>
              </a:rPr>
              <a:t>They should </a:t>
            </a:r>
            <a:r>
              <a:rPr lang="en-US" sz="1500" b="1" dirty="0" smtClean="0">
                <a:latin typeface="Verdana" pitchFamily="34" charset="0"/>
                <a:cs typeface="Times New Roman" pitchFamily="18" charset="0"/>
              </a:rPr>
              <a:t>develop personas of the people who they expect to be visiting</a:t>
            </a:r>
            <a:r>
              <a:rPr lang="en-US" sz="1500" dirty="0" smtClean="0">
                <a:latin typeface="Verdana" pitchFamily="34" charset="0"/>
                <a:cs typeface="Times New Roman" pitchFamily="18" charset="0"/>
              </a:rPr>
              <a:t> the site and </a:t>
            </a:r>
            <a:r>
              <a:rPr lang="en-US" sz="1500" b="1" dirty="0" smtClean="0">
                <a:latin typeface="Verdana" pitchFamily="34" charset="0"/>
                <a:cs typeface="Times New Roman" pitchFamily="18" charset="0"/>
              </a:rPr>
              <a:t>understand clearly what goals they will have</a:t>
            </a:r>
            <a:r>
              <a:rPr lang="en-US" sz="1500" dirty="0" smtClean="0">
                <a:latin typeface="Verdana" pitchFamily="34" charset="0"/>
                <a:cs typeface="Times New Roman" pitchFamily="18" charset="0"/>
              </a:rPr>
              <a:t> when using the site. </a:t>
            </a:r>
          </a:p>
          <a:p>
            <a:pPr eaLnBrk="1" hangingPunct="1">
              <a:lnSpc>
                <a:spcPct val="15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design phases of understanding, </a:t>
            </a:r>
            <a:r>
              <a:rPr lang="en-US" sz="1500" b="1" dirty="0" err="1" smtClean="0">
                <a:latin typeface="Verdana" pitchFamily="34" charset="0"/>
                <a:cs typeface="Times New Roman" pitchFamily="18" charset="0"/>
              </a:rPr>
              <a:t>envisionment</a:t>
            </a:r>
            <a:r>
              <a:rPr lang="en-US" sz="1500" b="1" dirty="0" smtClean="0">
                <a:latin typeface="Verdana" pitchFamily="34" charset="0"/>
                <a:cs typeface="Times New Roman" pitchFamily="18" charset="0"/>
              </a:rPr>
              <a:t>, design and evaluation need to be undertaken</a:t>
            </a:r>
            <a:r>
              <a:rPr lang="en-US" sz="1500" dirty="0" smtClean="0">
                <a:latin typeface="Verdana" pitchFamily="34" charset="0"/>
                <a:cs typeface="Times New Roman" pitchFamily="18" charset="0"/>
              </a:rPr>
              <a:t>. </a:t>
            </a:r>
          </a:p>
          <a:p>
            <a:pPr eaLnBrk="1" hangingPunct="1">
              <a:lnSpc>
                <a:spcPct val="150000"/>
              </a:lnSpc>
            </a:pPr>
            <a:r>
              <a:rPr lang="en-US" sz="1500" b="1" dirty="0" smtClean="0">
                <a:latin typeface="Verdana" pitchFamily="34" charset="0"/>
                <a:cs typeface="Times New Roman" pitchFamily="18" charset="0"/>
              </a:rPr>
              <a:t>Scenarios </a:t>
            </a:r>
            <a:r>
              <a:rPr lang="en-US" sz="1500" dirty="0" smtClean="0">
                <a:latin typeface="Verdana" pitchFamily="34" charset="0"/>
                <a:cs typeface="Times New Roman" pitchFamily="18" charset="0"/>
              </a:rPr>
              <a:t>of use should be </a:t>
            </a:r>
            <a:r>
              <a:rPr lang="en-US" sz="1500" b="1" dirty="0" smtClean="0">
                <a:latin typeface="Verdana" pitchFamily="34" charset="0"/>
                <a:cs typeface="Times New Roman" pitchFamily="18" charset="0"/>
              </a:rPr>
              <a:t>developed, prototyped and evaluated</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200" y="116632"/>
            <a:ext cx="8229600" cy="72717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Navigation</a:t>
            </a:r>
          </a:p>
        </p:txBody>
      </p:sp>
      <p:sp>
        <p:nvSpPr>
          <p:cNvPr id="19458" name="Text Placeholder 2"/>
          <p:cNvSpPr>
            <a:spLocks noGrp="1"/>
          </p:cNvSpPr>
          <p:nvPr>
            <p:ph type="body" idx="1"/>
          </p:nvPr>
        </p:nvSpPr>
        <p:spPr>
          <a:xfrm>
            <a:off x="457200" y="836712"/>
            <a:ext cx="8229600" cy="4525963"/>
          </a:xfrm>
        </p:spPr>
        <p:txBody>
          <a:bodyPr/>
          <a:lstStyle/>
          <a:p>
            <a:pPr algn="just" eaLnBrk="1" hangingPunct="1">
              <a:lnSpc>
                <a:spcPct val="200000"/>
              </a:lnSpc>
            </a:pPr>
            <a:r>
              <a:rPr lang="en-US" sz="1500" dirty="0" smtClean="0">
                <a:latin typeface="Verdana" pitchFamily="34" charset="0"/>
                <a:cs typeface="Times New Roman" pitchFamily="18" charset="0"/>
              </a:rPr>
              <a:t>Even if a site is well focused, it will soon get large and so issues of how to move around a website become important; </a:t>
            </a:r>
            <a:r>
              <a:rPr lang="en-US" sz="1500" b="1" dirty="0" smtClean="0">
                <a:latin typeface="Verdana" pitchFamily="34" charset="0"/>
                <a:cs typeface="Times New Roman" pitchFamily="18" charset="0"/>
              </a:rPr>
              <a:t>navigation is a central concern</a:t>
            </a:r>
            <a:r>
              <a:rPr lang="en-US" sz="1500" dirty="0" smtClean="0">
                <a:latin typeface="Verdana" pitchFamily="34" charset="0"/>
                <a:cs typeface="Times New Roman" pitchFamily="18" charset="0"/>
              </a:rPr>
              <a:t> here. </a:t>
            </a:r>
          </a:p>
          <a:p>
            <a:pPr algn="just" eaLnBrk="1" hangingPunct="1">
              <a:lnSpc>
                <a:spcPct val="200000"/>
              </a:lnSpc>
            </a:pPr>
            <a:r>
              <a:rPr lang="en-US" sz="1500" dirty="0" smtClean="0">
                <a:latin typeface="Verdana" pitchFamily="34" charset="0"/>
                <a:cs typeface="Times New Roman" pitchFamily="18" charset="0"/>
              </a:rPr>
              <a:t>Support to enable people to discover the structure and content of the site and to find their way to a particular part of the site is the </a:t>
            </a:r>
            <a:r>
              <a:rPr lang="en-US" sz="1500" dirty="0" smtClean="0">
                <a:solidFill>
                  <a:srgbClr val="FF0000"/>
                </a:solidFill>
                <a:latin typeface="Verdana" pitchFamily="34" charset="0"/>
                <a:cs typeface="Times New Roman" pitchFamily="18" charset="0"/>
              </a:rPr>
              <a:t>key issue</a:t>
            </a:r>
            <a:r>
              <a:rPr lang="en-US" sz="1500" dirty="0" smtClean="0">
                <a:latin typeface="Verdana" pitchFamily="34" charset="0"/>
                <a:cs typeface="Times New Roman" pitchFamily="18" charset="0"/>
              </a:rPr>
              <a:t>. </a:t>
            </a:r>
          </a:p>
          <a:p>
            <a:pPr algn="just" eaLnBrk="1" hangingPunct="1">
              <a:lnSpc>
                <a:spcPct val="200000"/>
              </a:lnSpc>
            </a:pPr>
            <a:r>
              <a:rPr lang="en-US" sz="1500" b="1" dirty="0" smtClean="0">
                <a:latin typeface="Verdana" pitchFamily="34" charset="0"/>
                <a:cs typeface="Times New Roman" pitchFamily="18" charset="0"/>
              </a:rPr>
              <a:t>Information architecture </a:t>
            </a:r>
            <a:r>
              <a:rPr lang="en-US" sz="1500" dirty="0" smtClean="0">
                <a:latin typeface="Verdana" pitchFamily="34" charset="0"/>
                <a:cs typeface="Times New Roman" pitchFamily="18" charset="0"/>
              </a:rPr>
              <a:t>(blueprint) is an area of study devoted to designing websites and helping people to answer questions such as: </a:t>
            </a:r>
          </a:p>
          <a:p>
            <a:pPr lvl="1" algn="just" eaLnBrk="1" hangingPunct="1">
              <a:lnSpc>
                <a:spcPct val="200000"/>
              </a:lnSpc>
              <a:buFont typeface="Wingdings" panose="05000000000000000000" pitchFamily="2" charset="2"/>
              <a:buChar char="Ø"/>
            </a:pPr>
            <a:r>
              <a:rPr lang="en-US" sz="1500" dirty="0" smtClean="0">
                <a:latin typeface="Verdana" pitchFamily="34" charset="0"/>
                <a:cs typeface="Times New Roman" pitchFamily="18" charset="0"/>
              </a:rPr>
              <a:t>Where am I? Where can I go? Where have I been? What is nearby? </a:t>
            </a:r>
          </a:p>
          <a:p>
            <a:pPr marL="457200" lvl="1" indent="0" algn="just" eaLnBrk="1" hangingPunct="1">
              <a:lnSpc>
                <a:spcPct val="200000"/>
              </a:lnSpc>
              <a:buNone/>
            </a:pPr>
            <a:r>
              <a:rPr lang="en-US" sz="1500" dirty="0" smtClean="0">
                <a:latin typeface="Verdana" pitchFamily="34" charset="0"/>
                <a:cs typeface="Times New Roman" pitchFamily="18" charset="0"/>
              </a:rPr>
              <a:t>This</a:t>
            </a:r>
            <a:r>
              <a:rPr lang="en-US" sz="1500" b="1" dirty="0" smtClean="0">
                <a:latin typeface="Verdana" pitchFamily="34" charset="0"/>
                <a:cs typeface="Times New Roman" pitchFamily="18" charset="0"/>
              </a:rPr>
              <a:t> support to enable people to discover the structure and content of the site</a:t>
            </a:r>
            <a:r>
              <a:rPr lang="en-US" sz="1500" dirty="0" smtClean="0">
                <a:latin typeface="Verdana" pitchFamily="34" charset="0"/>
                <a:cs typeface="Times New Roman" pitchFamily="18" charset="0"/>
              </a:rPr>
              <a:t> and to </a:t>
            </a:r>
            <a:r>
              <a:rPr lang="en-US" sz="1500" b="1" dirty="0" smtClean="0">
                <a:latin typeface="Verdana" pitchFamily="34" charset="0"/>
                <a:cs typeface="Times New Roman" pitchFamily="18" charset="0"/>
              </a:rPr>
              <a:t>find their way to a particular part</a:t>
            </a:r>
            <a:endParaRPr lang="en-US" sz="1500" dirty="0" smtClean="0">
              <a:latin typeface="Verdana" pitchFamily="34" charset="0"/>
              <a:cs typeface="Times New Roman" pitchFamily="18" charset="0"/>
            </a:endParaRPr>
          </a:p>
          <a:p>
            <a:pPr algn="just" eaLnBrk="1" hangingPunct="1">
              <a:lnSpc>
                <a:spcPct val="200000"/>
              </a:lnSpc>
            </a:pPr>
            <a:r>
              <a:rPr lang="en-US" sz="1500" b="1" dirty="0" smtClean="0">
                <a:latin typeface="Verdana" pitchFamily="34" charset="0"/>
                <a:cs typeface="Times New Roman" pitchFamily="18" charset="0"/>
              </a:rPr>
              <a:t>Navigation bars </a:t>
            </a:r>
            <a:r>
              <a:rPr lang="en-US" sz="1500" dirty="0" smtClean="0">
                <a:latin typeface="Verdana" pitchFamily="34" charset="0"/>
                <a:cs typeface="Times New Roman" pitchFamily="18" charset="0"/>
              </a:rPr>
              <a:t>at the top and down the side of the web pages will help people </a:t>
            </a:r>
            <a:r>
              <a:rPr lang="en-US" sz="1500" b="1" dirty="0" smtClean="0">
                <a:latin typeface="Verdana" pitchFamily="34" charset="0"/>
                <a:cs typeface="Times New Roman" pitchFamily="18" charset="0"/>
              </a:rPr>
              <a:t>develop a clear overall ‘map’ </a:t>
            </a:r>
            <a:r>
              <a:rPr lang="en-US" sz="1500" dirty="0" smtClean="0">
                <a:latin typeface="Verdana" pitchFamily="34" charset="0"/>
                <a:cs typeface="Times New Roman" pitchFamily="18" charset="0"/>
              </a:rPr>
              <a:t>of the site.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274638"/>
            <a:ext cx="8229600" cy="778098"/>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Design principles </a:t>
            </a:r>
          </a:p>
        </p:txBody>
      </p:sp>
      <p:sp>
        <p:nvSpPr>
          <p:cNvPr id="20482" name="Text Placeholder 2"/>
          <p:cNvSpPr>
            <a:spLocks noGrp="1"/>
          </p:cNvSpPr>
          <p:nvPr>
            <p:ph type="body" idx="1"/>
          </p:nvPr>
        </p:nvSpPr>
        <p:spPr>
          <a:xfrm>
            <a:off x="457200" y="1052736"/>
            <a:ext cx="8229600" cy="5184576"/>
          </a:xfrm>
        </p:spPr>
        <p:txBody>
          <a:bodyPr/>
          <a:lstStyle/>
          <a:p>
            <a:pPr algn="just" eaLnBrk="1" hangingPunct="1">
              <a:lnSpc>
                <a:spcPct val="150000"/>
              </a:lnSpc>
            </a:pPr>
            <a:r>
              <a:rPr lang="en-US" sz="1500" b="1" dirty="0" smtClean="0">
                <a:latin typeface="Verdana" pitchFamily="34" charset="0"/>
                <a:cs typeface="Times New Roman" pitchFamily="18" charset="0"/>
              </a:rPr>
              <a:t>Consistency</a:t>
            </a:r>
            <a:r>
              <a:rPr lang="en-US" sz="1500" dirty="0" smtClean="0">
                <a:latin typeface="Verdana" pitchFamily="34" charset="0"/>
                <a:cs typeface="Times New Roman" pitchFamily="18" charset="0"/>
              </a:rPr>
              <a:t> is important and a clear design language should be developed including interaction patterns for the main recurring interactions. </a:t>
            </a:r>
          </a:p>
          <a:p>
            <a:pPr algn="just" eaLnBrk="1" hangingPunct="1">
              <a:lnSpc>
                <a:spcPct val="150000"/>
              </a:lnSpc>
            </a:pPr>
            <a:r>
              <a:rPr lang="en-US" sz="1500" dirty="0" smtClean="0">
                <a:latin typeface="Verdana" pitchFamily="34" charset="0"/>
                <a:cs typeface="Times New Roman" pitchFamily="18" charset="0"/>
              </a:rPr>
              <a:t>If it is not desirable to use the standard blue underlined links then ensure that links are consistent so people will quickly learn them. </a:t>
            </a:r>
          </a:p>
          <a:p>
            <a:pPr algn="just" eaLnBrk="1" hangingPunct="1">
              <a:lnSpc>
                <a:spcPct val="150000"/>
              </a:lnSpc>
            </a:pPr>
            <a:r>
              <a:rPr lang="en-US" sz="1500" dirty="0" smtClean="0">
                <a:latin typeface="Verdana" pitchFamily="34" charset="0"/>
                <a:cs typeface="Times New Roman" pitchFamily="18" charset="0"/>
              </a:rPr>
              <a:t>Many sites confuse people by not making links sufficiently visible and distinguishable from other text in the site.</a:t>
            </a:r>
          </a:p>
          <a:p>
            <a:pPr algn="just" eaLnBrk="1" hangingPunct="1">
              <a:lnSpc>
                <a:spcPct val="150000"/>
              </a:lnSpc>
            </a:pPr>
            <a:r>
              <a:rPr lang="en-US" sz="1500" dirty="0" smtClean="0">
                <a:latin typeface="Verdana" pitchFamily="34" charset="0"/>
                <a:cs typeface="Times New Roman" pitchFamily="18" charset="0"/>
              </a:rPr>
              <a:t>Provide people with </a:t>
            </a:r>
            <a:r>
              <a:rPr lang="en-US" sz="1500" b="1" dirty="0" smtClean="0">
                <a:latin typeface="Verdana" pitchFamily="34" charset="0"/>
                <a:cs typeface="Times New Roman" pitchFamily="18" charset="0"/>
              </a:rPr>
              <a:t>feedback</a:t>
            </a:r>
            <a:r>
              <a:rPr lang="en-US" sz="1500" dirty="0" smtClean="0">
                <a:latin typeface="Verdana" pitchFamily="34" charset="0"/>
                <a:cs typeface="Times New Roman" pitchFamily="18" charset="0"/>
              </a:rPr>
              <a:t> on where they are in the site and clarify contexts and content. </a:t>
            </a:r>
          </a:p>
          <a:p>
            <a:pPr algn="just" eaLnBrk="1" hangingPunct="1">
              <a:lnSpc>
                <a:spcPct val="150000"/>
              </a:lnSpc>
            </a:pPr>
            <a:r>
              <a:rPr lang="en-US" sz="1500" dirty="0" smtClean="0">
                <a:latin typeface="Verdana" pitchFamily="34" charset="0"/>
                <a:cs typeface="Times New Roman" pitchFamily="18" charset="0"/>
              </a:rPr>
              <a:t>Using meaningful URLs (Uniform Resource Locators, i.e. Web addresses) and familiar titles will help people find what they are looking for and understand what other content is in the site. </a:t>
            </a:r>
          </a:p>
          <a:p>
            <a:pPr algn="just" eaLnBrk="1" hangingPunct="1">
              <a:lnSpc>
                <a:spcPct val="150000"/>
              </a:lnSpc>
            </a:pPr>
            <a:r>
              <a:rPr lang="en-US" sz="1500" dirty="0" smtClean="0">
                <a:latin typeface="Verdana" pitchFamily="34" charset="0"/>
                <a:cs typeface="Times New Roman" pitchFamily="18" charset="0"/>
              </a:rPr>
              <a:t>A good design guideline for websites is to </a:t>
            </a:r>
            <a:r>
              <a:rPr lang="en-US" sz="1500" b="1" dirty="0" smtClean="0">
                <a:latin typeface="Verdana" pitchFamily="34" charset="0"/>
                <a:cs typeface="Times New Roman" pitchFamily="18" charset="0"/>
              </a:rPr>
              <a:t>minimize the need for scrolling </a:t>
            </a:r>
            <a:r>
              <a:rPr lang="en-US" sz="1500" dirty="0" smtClean="0">
                <a:latin typeface="Verdana" pitchFamily="34" charset="0"/>
                <a:cs typeface="Times New Roman" pitchFamily="18" charset="0"/>
              </a:rPr>
              <a:t>and plan for entry at (almost) any page, as not all your visitors will go in through the front page.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457200" y="274638"/>
            <a:ext cx="8229600" cy="922114"/>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Design principles </a:t>
            </a:r>
          </a:p>
        </p:txBody>
      </p:sp>
      <p:sp>
        <p:nvSpPr>
          <p:cNvPr id="21506" name="Text Placeholder 2"/>
          <p:cNvSpPr>
            <a:spLocks noGrp="1"/>
          </p:cNvSpPr>
          <p:nvPr>
            <p:ph type="body" idx="1"/>
          </p:nvPr>
        </p:nvSpPr>
        <p:spPr>
          <a:xfrm>
            <a:off x="683568" y="1124744"/>
            <a:ext cx="7776864" cy="5030019"/>
          </a:xfrm>
        </p:spPr>
        <p:txBody>
          <a:bodyPr/>
          <a:lstStyle/>
          <a:p>
            <a:pPr algn="just" eaLnBrk="1" hangingPunct="1">
              <a:lnSpc>
                <a:spcPct val="150000"/>
              </a:lnSpc>
            </a:pPr>
            <a:r>
              <a:rPr lang="en-US" sz="1500" dirty="0" smtClean="0">
                <a:latin typeface="Verdana" pitchFamily="34" charset="0"/>
                <a:cs typeface="Times New Roman" pitchFamily="18" charset="0"/>
              </a:rPr>
              <a:t>In general, there is a trade-off in designing pages between people who have just arrived there and people who have followed the navigational structure. </a:t>
            </a:r>
          </a:p>
          <a:p>
            <a:pPr algn="just" eaLnBrk="1" hangingPunct="1">
              <a:lnSpc>
                <a:spcPct val="150000"/>
              </a:lnSpc>
            </a:pPr>
            <a:r>
              <a:rPr lang="en-US" sz="1500" dirty="0" smtClean="0">
                <a:latin typeface="Verdana" pitchFamily="34" charset="0"/>
                <a:cs typeface="Times New Roman" pitchFamily="18" charset="0"/>
              </a:rPr>
              <a:t>Having a </a:t>
            </a:r>
            <a:r>
              <a:rPr lang="en-US" sz="1500" b="1" dirty="0" smtClean="0">
                <a:latin typeface="Verdana" pitchFamily="34" charset="0"/>
                <a:cs typeface="Times New Roman" pitchFamily="18" charset="0"/>
              </a:rPr>
              <a:t>link to the ‘home’ (front) page </a:t>
            </a:r>
            <a:r>
              <a:rPr lang="en-US" sz="1500" dirty="0" smtClean="0">
                <a:latin typeface="Verdana" pitchFamily="34" charset="0"/>
                <a:cs typeface="Times New Roman" pitchFamily="18" charset="0"/>
              </a:rPr>
              <a:t>of a site in a prominent position and having a </a:t>
            </a:r>
            <a:r>
              <a:rPr lang="en-US" sz="1500" b="1" dirty="0" smtClean="0">
                <a:latin typeface="Verdana" pitchFamily="34" charset="0"/>
                <a:cs typeface="Times New Roman" pitchFamily="18" charset="0"/>
              </a:rPr>
              <a:t>site map</a:t>
            </a:r>
            <a:r>
              <a:rPr lang="en-US" sz="1500" dirty="0" smtClean="0">
                <a:latin typeface="Verdana" pitchFamily="34" charset="0"/>
                <a:cs typeface="Times New Roman" pitchFamily="18" charset="0"/>
              </a:rPr>
              <a:t> will afford people getting oriented. </a:t>
            </a:r>
          </a:p>
          <a:p>
            <a:pPr algn="just" eaLnBrk="1" hangingPunct="1">
              <a:lnSpc>
                <a:spcPct val="15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site’s home page </a:t>
            </a:r>
            <a:r>
              <a:rPr lang="en-US" sz="1500" dirty="0" smtClean="0">
                <a:latin typeface="Verdana" pitchFamily="34" charset="0"/>
                <a:cs typeface="Times New Roman" pitchFamily="18" charset="0"/>
              </a:rPr>
              <a:t>is particularly important and should </a:t>
            </a:r>
            <a:r>
              <a:rPr lang="en-US" sz="1500" b="1" dirty="0" smtClean="0">
                <a:latin typeface="Verdana" pitchFamily="34" charset="0"/>
                <a:cs typeface="Times New Roman" pitchFamily="18" charset="0"/>
              </a:rPr>
              <a:t>feature a directory, a summary of important news/stories and a search facility</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Ensure that it is </a:t>
            </a:r>
            <a:r>
              <a:rPr lang="en-US" sz="1500" b="1" dirty="0" smtClean="0">
                <a:latin typeface="Verdana" pitchFamily="34" charset="0"/>
                <a:cs typeface="Times New Roman" pitchFamily="18" charset="0"/>
              </a:rPr>
              <a:t>clear</a:t>
            </a:r>
            <a:r>
              <a:rPr lang="en-US" sz="1500" dirty="0" smtClean="0">
                <a:latin typeface="Verdana" pitchFamily="34" charset="0"/>
                <a:cs typeface="Times New Roman" pitchFamily="18" charset="0"/>
              </a:rPr>
              <a:t> what has been searched when designing the search facility. </a:t>
            </a:r>
          </a:p>
          <a:p>
            <a:pPr algn="just" eaLnBrk="1" hangingPunct="1">
              <a:lnSpc>
                <a:spcPct val="150000"/>
              </a:lnSpc>
            </a:pPr>
            <a:r>
              <a:rPr lang="en-US" sz="1500" b="1" dirty="0" smtClean="0">
                <a:latin typeface="Verdana" pitchFamily="34" charset="0"/>
                <a:cs typeface="Times New Roman" pitchFamily="18" charset="0"/>
              </a:rPr>
              <a:t>Search-focused</a:t>
            </a:r>
            <a:r>
              <a:rPr lang="en-US" sz="1500" dirty="0" smtClean="0">
                <a:latin typeface="Verdana" pitchFamily="34" charset="0"/>
                <a:cs typeface="Times New Roman" pitchFamily="18" charset="0"/>
              </a:rPr>
              <a:t> people are task-</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and want to find what they want, whereas the </a:t>
            </a:r>
            <a:r>
              <a:rPr lang="en-US" sz="1500" b="1" dirty="0" smtClean="0">
                <a:latin typeface="Verdana" pitchFamily="34" charset="0"/>
                <a:cs typeface="Times New Roman" pitchFamily="18" charset="0"/>
              </a:rPr>
              <a:t>others </a:t>
            </a:r>
            <a:r>
              <a:rPr lang="en-US" sz="1500" dirty="0" smtClean="0">
                <a:latin typeface="Verdana" pitchFamily="34" charset="0"/>
                <a:cs typeface="Times New Roman" pitchFamily="18" charset="0"/>
              </a:rPr>
              <a:t>are more happy to browse around.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457200" y="116632"/>
            <a:ext cx="8229600" cy="63408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5 Planes of web site design</a:t>
            </a:r>
          </a:p>
        </p:txBody>
      </p:sp>
      <p:sp>
        <p:nvSpPr>
          <p:cNvPr id="22530" name="Text Placeholder 2"/>
          <p:cNvSpPr>
            <a:spLocks noGrp="1"/>
          </p:cNvSpPr>
          <p:nvPr>
            <p:ph type="body" idx="1"/>
          </p:nvPr>
        </p:nvSpPr>
        <p:spPr>
          <a:xfrm>
            <a:off x="290170" y="692696"/>
            <a:ext cx="8507288" cy="5246043"/>
          </a:xfrm>
        </p:spPr>
        <p:txBody>
          <a:bodyPr/>
          <a:lstStyle/>
          <a:p>
            <a:pPr algn="just" eaLnBrk="1" hangingPunct="1">
              <a:lnSpc>
                <a:spcPct val="150000"/>
              </a:lnSpc>
            </a:pPr>
            <a:r>
              <a:rPr lang="en-US" sz="1400" dirty="0" smtClean="0">
                <a:latin typeface="Verdana" pitchFamily="34" charset="0"/>
                <a:cs typeface="Times New Roman" pitchFamily="18" charset="0"/>
              </a:rPr>
              <a:t>The </a:t>
            </a:r>
            <a:r>
              <a:rPr lang="en-US" sz="1400" b="1" dirty="0" smtClean="0">
                <a:latin typeface="Verdana" pitchFamily="34" charset="0"/>
                <a:cs typeface="Times New Roman" pitchFamily="18" charset="0"/>
              </a:rPr>
              <a:t>bottom layer is the ‘</a:t>
            </a:r>
            <a:r>
              <a:rPr lang="en-US" sz="1400" b="1" dirty="0" smtClean="0">
                <a:solidFill>
                  <a:srgbClr val="0070C0"/>
                </a:solidFill>
                <a:latin typeface="Verdana" pitchFamily="34" charset="0"/>
                <a:cs typeface="Times New Roman" pitchFamily="18" charset="0"/>
              </a:rPr>
              <a:t>strategy’</a:t>
            </a:r>
            <a:r>
              <a:rPr lang="en-US" sz="1400" b="1" dirty="0" smtClean="0">
                <a:latin typeface="Verdana" pitchFamily="34" charset="0"/>
                <a:cs typeface="Times New Roman" pitchFamily="18" charset="0"/>
              </a:rPr>
              <a:t> </a:t>
            </a:r>
            <a:r>
              <a:rPr lang="en-US" sz="1400" dirty="0" smtClean="0">
                <a:latin typeface="Verdana" pitchFamily="34" charset="0"/>
                <a:cs typeface="Times New Roman" pitchFamily="18" charset="0"/>
              </a:rPr>
              <a:t>plane concerned with </a:t>
            </a:r>
            <a:r>
              <a:rPr lang="en-US" sz="1400" b="1" dirty="0" smtClean="0">
                <a:latin typeface="Verdana" pitchFamily="34" charset="0"/>
                <a:cs typeface="Times New Roman" pitchFamily="18" charset="0"/>
              </a:rPr>
              <a:t>understanding the overall objective</a:t>
            </a:r>
            <a:r>
              <a:rPr lang="en-US" sz="1400" dirty="0" smtClean="0">
                <a:latin typeface="Verdana" pitchFamily="34" charset="0"/>
                <a:cs typeface="Times New Roman" pitchFamily="18" charset="0"/>
              </a:rPr>
              <a:t> of the website, the </a:t>
            </a:r>
            <a:r>
              <a:rPr lang="en-US" sz="1400" b="1" dirty="0" smtClean="0">
                <a:latin typeface="Verdana" pitchFamily="34" charset="0"/>
                <a:cs typeface="Times New Roman" pitchFamily="18" charset="0"/>
              </a:rPr>
              <a:t>nature of the people</a:t>
            </a:r>
            <a:r>
              <a:rPr lang="en-US" sz="1400" dirty="0" smtClean="0">
                <a:latin typeface="Verdana" pitchFamily="34" charset="0"/>
                <a:cs typeface="Times New Roman" pitchFamily="18" charset="0"/>
              </a:rPr>
              <a:t> who will be using the site and what </a:t>
            </a:r>
            <a:r>
              <a:rPr lang="en-US" sz="1400" b="1" dirty="0" smtClean="0">
                <a:latin typeface="Verdana" pitchFamily="34" charset="0"/>
                <a:cs typeface="Times New Roman" pitchFamily="18" charset="0"/>
              </a:rPr>
              <a:t>their requirements </a:t>
            </a:r>
            <a:r>
              <a:rPr lang="en-US" sz="1400" dirty="0" smtClean="0">
                <a:latin typeface="Verdana" pitchFamily="34" charset="0"/>
                <a:cs typeface="Times New Roman" pitchFamily="18" charset="0"/>
              </a:rPr>
              <a:t>of the site are. </a:t>
            </a:r>
            <a:r>
              <a:rPr lang="en-US" sz="1400" b="1" dirty="0" smtClean="0">
                <a:latin typeface="Verdana" pitchFamily="34" charset="0"/>
                <a:cs typeface="Times New Roman" pitchFamily="18" charset="0"/>
              </a:rPr>
              <a:t>Strategy</a:t>
            </a:r>
            <a:r>
              <a:rPr lang="en-US" sz="1400" dirty="0" smtClean="0">
                <a:latin typeface="Verdana" pitchFamily="34" charset="0"/>
                <a:cs typeface="Times New Roman" pitchFamily="18" charset="0"/>
              </a:rPr>
              <a:t> is concerned with business goals, the organization’s brand and a market analysis.</a:t>
            </a:r>
          </a:p>
          <a:p>
            <a:pPr algn="just" eaLnBrk="1" hangingPunct="1">
              <a:lnSpc>
                <a:spcPct val="150000"/>
              </a:lnSpc>
            </a:pPr>
            <a:r>
              <a:rPr lang="en-US" sz="1400" dirty="0" smtClean="0">
                <a:latin typeface="Verdana" pitchFamily="34" charset="0"/>
                <a:cs typeface="Times New Roman" pitchFamily="18" charset="0"/>
              </a:rPr>
              <a:t>The </a:t>
            </a:r>
            <a:r>
              <a:rPr lang="en-US" sz="1400" b="1" dirty="0" smtClean="0">
                <a:latin typeface="Verdana" pitchFamily="34" charset="0"/>
                <a:cs typeface="Times New Roman" pitchFamily="18" charset="0"/>
              </a:rPr>
              <a:t>next layer is the ‘</a:t>
            </a:r>
            <a:r>
              <a:rPr lang="en-US" sz="1400" b="1" dirty="0" smtClean="0">
                <a:solidFill>
                  <a:srgbClr val="0070C0"/>
                </a:solidFill>
                <a:latin typeface="Verdana" pitchFamily="34" charset="0"/>
                <a:cs typeface="Times New Roman" pitchFamily="18" charset="0"/>
              </a:rPr>
              <a:t>scope</a:t>
            </a:r>
            <a:r>
              <a:rPr lang="en-US" sz="1400" b="1" dirty="0" smtClean="0">
                <a:latin typeface="Verdana" pitchFamily="34" charset="0"/>
                <a:cs typeface="Times New Roman" pitchFamily="18" charset="0"/>
              </a:rPr>
              <a:t>’ plane where the emphasis is on functionality </a:t>
            </a:r>
            <a:r>
              <a:rPr lang="en-US" sz="1400" dirty="0" smtClean="0">
                <a:latin typeface="Verdana" pitchFamily="34" charset="0"/>
                <a:cs typeface="Times New Roman" pitchFamily="18" charset="0"/>
              </a:rPr>
              <a:t>(what the site will let people do) and on </a:t>
            </a:r>
            <a:r>
              <a:rPr lang="en-US" sz="1400" b="1" dirty="0" smtClean="0">
                <a:latin typeface="Verdana" pitchFamily="34" charset="0"/>
                <a:cs typeface="Times New Roman" pitchFamily="18" charset="0"/>
              </a:rPr>
              <a:t>content </a:t>
            </a:r>
            <a:r>
              <a:rPr lang="en-US" sz="1400" dirty="0" smtClean="0">
                <a:latin typeface="Verdana" pitchFamily="34" charset="0"/>
                <a:cs typeface="Times New Roman" pitchFamily="18" charset="0"/>
              </a:rPr>
              <a:t>(the information the site will hold). He argues that spending time on the scope plane is important so that Web designers know what they are designing and what they are not designing! The </a:t>
            </a:r>
            <a:r>
              <a:rPr lang="en-US" sz="1400" b="1" dirty="0" smtClean="0">
                <a:latin typeface="Verdana" pitchFamily="34" charset="0"/>
                <a:cs typeface="Times New Roman" pitchFamily="18" charset="0"/>
              </a:rPr>
              <a:t>result of scoping</a:t>
            </a:r>
            <a:r>
              <a:rPr lang="en-US" sz="1400" dirty="0" smtClean="0">
                <a:latin typeface="Verdana" pitchFamily="34" charset="0"/>
                <a:cs typeface="Times New Roman" pitchFamily="18" charset="0"/>
              </a:rPr>
              <a:t> the site is a clear, prioritized set of requirements.</a:t>
            </a:r>
          </a:p>
          <a:p>
            <a:pPr algn="just" eaLnBrk="1" hangingPunct="1">
              <a:lnSpc>
                <a:spcPct val="150000"/>
              </a:lnSpc>
            </a:pPr>
            <a:r>
              <a:rPr lang="en-US" sz="1400" dirty="0" smtClean="0">
                <a:latin typeface="Verdana" pitchFamily="34" charset="0"/>
                <a:cs typeface="Times New Roman" pitchFamily="18" charset="0"/>
              </a:rPr>
              <a:t>The </a:t>
            </a:r>
            <a:r>
              <a:rPr lang="en-US" sz="1400" b="1" dirty="0" smtClean="0">
                <a:latin typeface="Verdana" pitchFamily="34" charset="0"/>
                <a:cs typeface="Times New Roman" pitchFamily="18" charset="0"/>
              </a:rPr>
              <a:t>third layer </a:t>
            </a:r>
            <a:r>
              <a:rPr lang="en-US" sz="1400" dirty="0" smtClean="0">
                <a:latin typeface="Verdana" pitchFamily="34" charset="0"/>
                <a:cs typeface="Times New Roman" pitchFamily="18" charset="0"/>
              </a:rPr>
              <a:t>is called the </a:t>
            </a:r>
            <a:r>
              <a:rPr lang="en-US" sz="1400" b="1" dirty="0" smtClean="0">
                <a:latin typeface="Verdana" pitchFamily="34" charset="0"/>
                <a:cs typeface="Times New Roman" pitchFamily="18" charset="0"/>
              </a:rPr>
              <a:t>‘</a:t>
            </a:r>
            <a:r>
              <a:rPr lang="en-US" sz="1400" b="1" dirty="0" smtClean="0">
                <a:solidFill>
                  <a:srgbClr val="0070C0"/>
                </a:solidFill>
                <a:latin typeface="Verdana" pitchFamily="34" charset="0"/>
                <a:cs typeface="Times New Roman" pitchFamily="18" charset="0"/>
              </a:rPr>
              <a:t>structure</a:t>
            </a:r>
            <a:r>
              <a:rPr lang="en-US" sz="1400" b="1" dirty="0" smtClean="0">
                <a:latin typeface="Verdana" pitchFamily="34" charset="0"/>
                <a:cs typeface="Times New Roman" pitchFamily="18" charset="0"/>
              </a:rPr>
              <a:t>’ plane</a:t>
            </a:r>
            <a:r>
              <a:rPr lang="en-US" sz="1400" dirty="0" smtClean="0">
                <a:latin typeface="Verdana" pitchFamily="34" charset="0"/>
                <a:cs typeface="Times New Roman" pitchFamily="18" charset="0"/>
              </a:rPr>
              <a:t>. It </a:t>
            </a:r>
            <a:r>
              <a:rPr lang="en-US" sz="1400" b="1" dirty="0" smtClean="0">
                <a:latin typeface="Verdana" pitchFamily="34" charset="0"/>
                <a:cs typeface="Times New Roman" pitchFamily="18" charset="0"/>
              </a:rPr>
              <a:t>covers information architecture</a:t>
            </a:r>
            <a:r>
              <a:rPr lang="en-US" sz="1400" dirty="0" smtClean="0">
                <a:latin typeface="Verdana" pitchFamily="34" charset="0"/>
                <a:cs typeface="Times New Roman" pitchFamily="18" charset="0"/>
              </a:rPr>
              <a:t>  but also includes </a:t>
            </a:r>
            <a:r>
              <a:rPr lang="en-US" sz="1400" b="1" dirty="0" smtClean="0">
                <a:latin typeface="Verdana" pitchFamily="34" charset="0"/>
                <a:cs typeface="Times New Roman" pitchFamily="18" charset="0"/>
              </a:rPr>
              <a:t>specifying the interaction design</a:t>
            </a:r>
            <a:r>
              <a:rPr lang="en-US" sz="1400" dirty="0" smtClean="0">
                <a:latin typeface="Verdana" pitchFamily="34" charset="0"/>
                <a:cs typeface="Times New Roman" pitchFamily="18" charset="0"/>
              </a:rPr>
              <a:t>. The </a:t>
            </a:r>
            <a:r>
              <a:rPr lang="en-US" sz="1400" b="1" dirty="0" smtClean="0">
                <a:latin typeface="Verdana" pitchFamily="34" charset="0"/>
                <a:cs typeface="Times New Roman" pitchFamily="18" charset="0"/>
              </a:rPr>
              <a:t>key feature here is to establish a clear conceptual model.</a:t>
            </a:r>
          </a:p>
          <a:p>
            <a:pPr algn="just" eaLnBrk="1" hangingPunct="1">
              <a:lnSpc>
                <a:spcPct val="150000"/>
              </a:lnSpc>
            </a:pPr>
            <a:r>
              <a:rPr lang="en-US" sz="1400" dirty="0" smtClean="0">
                <a:latin typeface="Verdana" pitchFamily="34" charset="0"/>
                <a:cs typeface="Times New Roman" pitchFamily="18" charset="0"/>
              </a:rPr>
              <a:t>The </a:t>
            </a:r>
            <a:r>
              <a:rPr lang="en-US" sz="1400" b="1" dirty="0" smtClean="0">
                <a:latin typeface="Verdana" pitchFamily="34" charset="0"/>
                <a:cs typeface="Times New Roman" pitchFamily="18" charset="0"/>
              </a:rPr>
              <a:t>‘</a:t>
            </a:r>
            <a:r>
              <a:rPr lang="en-US" sz="1400" b="1" dirty="0" smtClean="0">
                <a:solidFill>
                  <a:srgbClr val="0070C0"/>
                </a:solidFill>
                <a:latin typeface="Verdana" pitchFamily="34" charset="0"/>
                <a:cs typeface="Times New Roman" pitchFamily="18" charset="0"/>
              </a:rPr>
              <a:t>skeleton</a:t>
            </a:r>
            <a:r>
              <a:rPr lang="en-US" sz="1400" b="1" dirty="0" smtClean="0">
                <a:latin typeface="Verdana" pitchFamily="34" charset="0"/>
                <a:cs typeface="Times New Roman" pitchFamily="18" charset="0"/>
              </a:rPr>
              <a:t>’ plane is concerned with information design, navigation design and interface design</a:t>
            </a:r>
            <a:r>
              <a:rPr lang="en-US" sz="1400" dirty="0" smtClean="0">
                <a:latin typeface="Verdana" pitchFamily="34" charset="0"/>
                <a:cs typeface="Times New Roman" pitchFamily="18" charset="0"/>
              </a:rPr>
              <a:t>.</a:t>
            </a:r>
          </a:p>
          <a:p>
            <a:pPr algn="just" eaLnBrk="1" hangingPunct="1">
              <a:lnSpc>
                <a:spcPct val="150000"/>
              </a:lnSpc>
            </a:pPr>
            <a:r>
              <a:rPr lang="en-US" sz="1400" dirty="0">
                <a:latin typeface="Verdana" pitchFamily="34" charset="0"/>
                <a:cs typeface="Times New Roman" pitchFamily="18" charset="0"/>
              </a:rPr>
              <a:t>F</a:t>
            </a:r>
            <a:r>
              <a:rPr lang="en-US" sz="1400" dirty="0" smtClean="0">
                <a:latin typeface="Verdana" pitchFamily="34" charset="0"/>
                <a:cs typeface="Times New Roman" pitchFamily="18" charset="0"/>
              </a:rPr>
              <a:t>inal element of Garrett’s scheme is </a:t>
            </a:r>
            <a:r>
              <a:rPr lang="en-US" sz="1400" b="1" dirty="0" smtClean="0">
                <a:latin typeface="Verdana" pitchFamily="34" charset="0"/>
                <a:cs typeface="Times New Roman" pitchFamily="18" charset="0"/>
              </a:rPr>
              <a:t>the ‘</a:t>
            </a:r>
            <a:r>
              <a:rPr lang="en-US" sz="1400" b="1" dirty="0" smtClean="0">
                <a:solidFill>
                  <a:srgbClr val="0070C0"/>
                </a:solidFill>
                <a:latin typeface="Verdana" pitchFamily="34" charset="0"/>
                <a:cs typeface="Times New Roman" pitchFamily="18" charset="0"/>
              </a:rPr>
              <a:t>surface</a:t>
            </a:r>
            <a:r>
              <a:rPr lang="en-US" sz="1400" b="1" dirty="0" smtClean="0">
                <a:latin typeface="Verdana" pitchFamily="34" charset="0"/>
                <a:cs typeface="Times New Roman" pitchFamily="18" charset="0"/>
              </a:rPr>
              <a:t>’ plane </a:t>
            </a:r>
            <a:r>
              <a:rPr lang="en-US" sz="1400" dirty="0" smtClean="0">
                <a:latin typeface="Verdana" pitchFamily="34" charset="0"/>
                <a:cs typeface="Times New Roman" pitchFamily="18" charset="0"/>
              </a:rPr>
              <a:t>concerned with the </a:t>
            </a:r>
            <a:r>
              <a:rPr lang="en-US" sz="1400" b="1" dirty="0" smtClean="0">
                <a:latin typeface="Verdana" pitchFamily="34" charset="0"/>
                <a:cs typeface="Times New Roman" pitchFamily="18" charset="0"/>
              </a:rPr>
              <a:t>aesthetics of site</a:t>
            </a:r>
            <a:r>
              <a:rPr lang="en-US" sz="1400" dirty="0" smtClean="0">
                <a:latin typeface="Verdana" pitchFamily="34" charset="0"/>
                <a:cs typeface="Times New Roman" pitchFamily="18" charset="0"/>
              </a:rPr>
              <a:t> and with ensuring that </a:t>
            </a:r>
            <a:r>
              <a:rPr lang="en-US" sz="1400" b="1" dirty="0" smtClean="0">
                <a:latin typeface="Verdana" pitchFamily="34" charset="0"/>
                <a:cs typeface="Times New Roman" pitchFamily="18" charset="0"/>
              </a:rPr>
              <a:t>good design guidelines </a:t>
            </a:r>
            <a:r>
              <a:rPr lang="en-US" sz="1400" dirty="0" smtClean="0">
                <a:latin typeface="Verdana" pitchFamily="34" charset="0"/>
                <a:cs typeface="Times New Roman" pitchFamily="18" charset="0"/>
              </a:rPr>
              <a:t>are followed. For example, links should look like links and things that are not links should not!</a:t>
            </a:r>
            <a:endParaRPr lang="en-US" sz="1400" baseline="-250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Web elements</a:t>
            </a:r>
          </a:p>
        </p:txBody>
      </p:sp>
      <p:sp>
        <p:nvSpPr>
          <p:cNvPr id="23554" name="Text Placeholder 2"/>
          <p:cNvSpPr>
            <a:spLocks noGrp="1"/>
          </p:cNvSpPr>
          <p:nvPr>
            <p:ph type="body" idx="1"/>
          </p:nvPr>
        </p:nvSpPr>
        <p:spPr>
          <a:xfrm>
            <a:off x="534380" y="1412776"/>
            <a:ext cx="8075240" cy="4525963"/>
          </a:xfrm>
        </p:spPr>
        <p:txBody>
          <a:bodyPr/>
          <a:lstStyle/>
          <a:p>
            <a:pPr algn="just" eaLnBrk="1" hangingPunct="1">
              <a:lnSpc>
                <a:spcPct val="200000"/>
              </a:lnSpc>
            </a:pPr>
            <a:r>
              <a:rPr lang="en-US" sz="1500" dirty="0" smtClean="0">
                <a:latin typeface="Verdana" pitchFamily="34" charset="0"/>
                <a:cs typeface="Times New Roman" pitchFamily="18" charset="0"/>
              </a:rPr>
              <a:t>Garrett </a:t>
            </a:r>
            <a:r>
              <a:rPr lang="en-US" sz="1500" b="1" dirty="0" smtClean="0">
                <a:latin typeface="Verdana" pitchFamily="34" charset="0"/>
                <a:cs typeface="Times New Roman" pitchFamily="18" charset="0"/>
              </a:rPr>
              <a:t>advocates using a simple graphical ‘language</a:t>
            </a:r>
            <a:r>
              <a:rPr lang="en-US" sz="1500" dirty="0" smtClean="0">
                <a:latin typeface="Verdana" pitchFamily="34" charset="0"/>
                <a:cs typeface="Times New Roman" pitchFamily="18" charset="0"/>
              </a:rPr>
              <a:t>’ to map out the information architecture of a website. </a:t>
            </a:r>
          </a:p>
          <a:p>
            <a:pPr algn="just" eaLnBrk="1" hangingPunct="1">
              <a:lnSpc>
                <a:spcPct val="200000"/>
              </a:lnSpc>
            </a:pPr>
            <a:r>
              <a:rPr lang="en-US" sz="1500" dirty="0" smtClean="0">
                <a:latin typeface="Verdana" pitchFamily="34" charset="0"/>
                <a:cs typeface="Times New Roman" pitchFamily="18" charset="0"/>
              </a:rPr>
              <a:t>The key elements of the language are a representation of pages, files, and stacks of pages and files. </a:t>
            </a:r>
          </a:p>
          <a:p>
            <a:pPr algn="just" eaLnBrk="1" hangingPunct="1">
              <a:lnSpc>
                <a:spcPct val="200000"/>
              </a:lnSpc>
            </a:pPr>
            <a:r>
              <a:rPr lang="en-US" sz="1500" dirty="0" smtClean="0">
                <a:latin typeface="Verdana" pitchFamily="34" charset="0"/>
                <a:cs typeface="Times New Roman" pitchFamily="18" charset="0"/>
              </a:rPr>
              <a:t>These are structured into site maps, showing direction of links if appropriate.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a:xfrm>
            <a:off x="457200" y="116632"/>
            <a:ext cx="8229600" cy="706090"/>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Skeleton plane </a:t>
            </a:r>
          </a:p>
        </p:txBody>
      </p:sp>
      <p:sp>
        <p:nvSpPr>
          <p:cNvPr id="24578" name="Text Placeholder 2"/>
          <p:cNvSpPr>
            <a:spLocks noGrp="1"/>
          </p:cNvSpPr>
          <p:nvPr>
            <p:ph type="body" idx="1"/>
          </p:nvPr>
        </p:nvSpPr>
        <p:spPr>
          <a:xfrm>
            <a:off x="179512" y="836712"/>
            <a:ext cx="8640960" cy="5472608"/>
          </a:xfrm>
        </p:spPr>
        <p:txBody>
          <a:bodyPr/>
          <a:lstStyle/>
          <a:p>
            <a:pPr algn="just" eaLnBrk="1" hangingPunct="1">
              <a:lnSpc>
                <a:spcPct val="150000"/>
              </a:lnSpc>
            </a:pPr>
            <a:r>
              <a:rPr lang="en-US" sz="1500" dirty="0" smtClean="0">
                <a:latin typeface="Verdana" pitchFamily="34" charset="0"/>
                <a:cs typeface="Times New Roman" pitchFamily="18" charset="0"/>
              </a:rPr>
              <a:t>This is </a:t>
            </a:r>
            <a:r>
              <a:rPr lang="en-US" sz="1500" b="1" dirty="0" smtClean="0">
                <a:latin typeface="Verdana" pitchFamily="34" charset="0"/>
                <a:cs typeface="Times New Roman" pitchFamily="18" charset="0"/>
              </a:rPr>
              <a:t>concerned with information design, navigation design </a:t>
            </a:r>
            <a:r>
              <a:rPr lang="en-US" sz="1500" b="1" dirty="0">
                <a:latin typeface="Verdana" pitchFamily="34" charset="0"/>
                <a:cs typeface="Times New Roman" pitchFamily="18" charset="0"/>
              </a:rPr>
              <a:t>&amp;</a:t>
            </a:r>
            <a:r>
              <a:rPr lang="en-US" sz="1500" b="1" dirty="0" smtClean="0">
                <a:latin typeface="Verdana" pitchFamily="34" charset="0"/>
                <a:cs typeface="Times New Roman" pitchFamily="18" charset="0"/>
              </a:rPr>
              <a:t> </a:t>
            </a:r>
            <a:r>
              <a:rPr lang="en-US" sz="1500" b="1" dirty="0" smtClean="0">
                <a:latin typeface="Verdana" pitchFamily="34" charset="0"/>
                <a:cs typeface="Times New Roman" pitchFamily="18" charset="0"/>
              </a:rPr>
              <a:t>interface design.</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A key technique for bringing all these elements together is the </a:t>
            </a:r>
            <a:r>
              <a:rPr lang="en-US" sz="1500" b="1" dirty="0" smtClean="0">
                <a:latin typeface="Verdana" pitchFamily="34" charset="0"/>
                <a:cs typeface="Times New Roman" pitchFamily="18" charset="0"/>
              </a:rPr>
              <a:t>‘wireframe’. </a:t>
            </a:r>
          </a:p>
          <a:p>
            <a:pPr algn="just" eaLnBrk="1" hangingPunct="1">
              <a:lnSpc>
                <a:spcPct val="150000"/>
              </a:lnSpc>
            </a:pPr>
            <a:r>
              <a:rPr lang="en-US" sz="1500" b="1" dirty="0" smtClean="0">
                <a:latin typeface="Verdana" pitchFamily="34" charset="0"/>
                <a:cs typeface="Times New Roman" pitchFamily="18" charset="0"/>
              </a:rPr>
              <a:t>Wireframes aim to capture a skeleton of a general page layout</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They are on the </a:t>
            </a:r>
            <a:r>
              <a:rPr lang="en-US" sz="1500" b="1" dirty="0" smtClean="0">
                <a:latin typeface="Verdana" pitchFamily="34" charset="0"/>
                <a:cs typeface="Times New Roman" pitchFamily="18" charset="0"/>
              </a:rPr>
              <a:t>border between information architecture and information design </a:t>
            </a:r>
            <a:r>
              <a:rPr lang="en-US" sz="1500" dirty="0" smtClean="0">
                <a:latin typeface="Verdana" pitchFamily="34" charset="0"/>
                <a:cs typeface="Times New Roman" pitchFamily="18" charset="0"/>
              </a:rPr>
              <a:t>as the various components of a page are assembled into the standard structures described by wireframes.</a:t>
            </a:r>
          </a:p>
          <a:p>
            <a:pPr algn="just" eaLnBrk="1" hangingPunct="1">
              <a:lnSpc>
                <a:spcPct val="150000"/>
              </a:lnSpc>
            </a:pPr>
            <a:r>
              <a:rPr lang="en-US" sz="1500" dirty="0" smtClean="0">
                <a:latin typeface="Verdana" pitchFamily="34" charset="0"/>
                <a:cs typeface="Times New Roman" pitchFamily="18" charset="0"/>
              </a:rPr>
              <a:t>To </a:t>
            </a:r>
            <a:r>
              <a:rPr lang="en-US" sz="1500" b="1" dirty="0" smtClean="0">
                <a:latin typeface="Verdana" pitchFamily="34" charset="0"/>
                <a:cs typeface="Times New Roman" pitchFamily="18" charset="0"/>
              </a:rPr>
              <a:t>construct a wireframe, designers need to identify the key components of design for each different type of page, then place them on a layout. </a:t>
            </a:r>
            <a:r>
              <a:rPr lang="en-US" sz="1500" dirty="0" smtClean="0">
                <a:latin typeface="Verdana" pitchFamily="34" charset="0"/>
                <a:cs typeface="Times New Roman" pitchFamily="18" charset="0"/>
              </a:rPr>
              <a:t>It is very important to </a:t>
            </a:r>
            <a:r>
              <a:rPr lang="en-US" sz="1500" b="1" dirty="0" smtClean="0">
                <a:latin typeface="Verdana" pitchFamily="34" charset="0"/>
                <a:cs typeface="Times New Roman" pitchFamily="18" charset="0"/>
              </a:rPr>
              <a:t>consider not just the type of object</a:t>
            </a:r>
            <a:r>
              <a:rPr lang="en-US" sz="1500" dirty="0" smtClean="0">
                <a:latin typeface="Verdana" pitchFamily="34" charset="0"/>
                <a:cs typeface="Times New Roman" pitchFamily="18" charset="0"/>
              </a:rPr>
              <a:t> (navigation bar, search box, banner headline, advert, text box, and so on) </a:t>
            </a:r>
            <a:r>
              <a:rPr lang="en-US" sz="1500" b="1" dirty="0" smtClean="0">
                <a:latin typeface="Verdana" pitchFamily="34" charset="0"/>
                <a:cs typeface="Times New Roman" pitchFamily="18" charset="0"/>
              </a:rPr>
              <a:t>but what content </a:t>
            </a:r>
            <a:r>
              <a:rPr lang="en-US" sz="1500" dirty="0" smtClean="0">
                <a:latin typeface="Verdana" pitchFamily="34" charset="0"/>
                <a:cs typeface="Times New Roman" pitchFamily="18" charset="0"/>
              </a:rPr>
              <a:t>that item can have. </a:t>
            </a:r>
          </a:p>
          <a:p>
            <a:pPr algn="just" eaLnBrk="1" hangingPunct="1">
              <a:lnSpc>
                <a:spcPct val="150000"/>
              </a:lnSpc>
            </a:pPr>
            <a:r>
              <a:rPr lang="en-US" sz="1500" dirty="0" smtClean="0">
                <a:latin typeface="Verdana" pitchFamily="34" charset="0"/>
                <a:cs typeface="Times New Roman" pitchFamily="18" charset="0"/>
              </a:rPr>
              <a:t>It is no use having a very small text box, for example, if there is a lot of text to go in it. It is no good having a drop-down menu if the user has to search through hundreds of items.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57200" y="519671"/>
            <a:ext cx="8229600" cy="490066"/>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Visual design </a:t>
            </a:r>
          </a:p>
        </p:txBody>
      </p:sp>
      <p:sp>
        <p:nvSpPr>
          <p:cNvPr id="25602" name="Text Placeholder 2"/>
          <p:cNvSpPr>
            <a:spLocks noGrp="1"/>
          </p:cNvSpPr>
          <p:nvPr>
            <p:ph type="body" idx="1"/>
          </p:nvPr>
        </p:nvSpPr>
        <p:spPr>
          <a:xfrm>
            <a:off x="442989" y="1484784"/>
            <a:ext cx="8089451" cy="4104456"/>
          </a:xfrm>
        </p:spPr>
        <p:txBody>
          <a:bodyPr/>
          <a:lstStyle/>
          <a:p>
            <a:pPr algn="just" eaLnBrk="1" hangingPunct="1">
              <a:lnSpc>
                <a:spcPct val="150000"/>
              </a:lnSpc>
            </a:pPr>
            <a:r>
              <a:rPr lang="en-US" sz="1500" b="1" dirty="0" smtClean="0">
                <a:latin typeface="Verdana" pitchFamily="34" charset="0"/>
                <a:cs typeface="Times New Roman" pitchFamily="18" charset="0"/>
              </a:rPr>
              <a:t>Consistency and appropriateness </a:t>
            </a:r>
            <a:r>
              <a:rPr lang="en-US" sz="1500" dirty="0" smtClean="0">
                <a:latin typeface="Verdana" pitchFamily="34" charset="0"/>
                <a:cs typeface="Times New Roman" pitchFamily="18" charset="0"/>
              </a:rPr>
              <a:t>of the presentation are critical here. </a:t>
            </a:r>
          </a:p>
          <a:p>
            <a:pPr algn="just" eaLnBrk="1" hangingPunct="1">
              <a:lnSpc>
                <a:spcPct val="150000"/>
              </a:lnSpc>
            </a:pPr>
            <a:r>
              <a:rPr lang="en-US" sz="1500" dirty="0" smtClean="0">
                <a:latin typeface="Verdana" pitchFamily="34" charset="0"/>
                <a:cs typeface="Times New Roman" pitchFamily="18" charset="0"/>
              </a:rPr>
              <a:t>An effective way of achieving this consistency is through the use of style sheets. </a:t>
            </a:r>
          </a:p>
          <a:p>
            <a:pPr algn="just" eaLnBrk="1" hangingPunct="1">
              <a:lnSpc>
                <a:spcPct val="150000"/>
              </a:lnSpc>
            </a:pPr>
            <a:r>
              <a:rPr lang="en-US" sz="1500" dirty="0" smtClean="0">
                <a:latin typeface="Verdana" pitchFamily="34" charset="0"/>
                <a:cs typeface="Times New Roman" pitchFamily="18" charset="0"/>
              </a:rPr>
              <a:t>Style sheets describe how Web documents are displayed, the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 that are used and other formatting issues that will make for a </a:t>
            </a:r>
            <a:r>
              <a:rPr lang="en-US" sz="1500" b="1" dirty="0" smtClean="0">
                <a:latin typeface="Verdana" pitchFamily="34" charset="0"/>
                <a:cs typeface="Times New Roman" pitchFamily="18" charset="0"/>
              </a:rPr>
              <a:t>clear and logical layout</a:t>
            </a:r>
            <a:r>
              <a:rPr lang="en-US" sz="1500" dirty="0" smtClean="0">
                <a:latin typeface="Verdana" pitchFamily="34" charset="0"/>
                <a:cs typeface="Times New Roman" pitchFamily="18" charset="0"/>
              </a:rPr>
              <a:t>. Just as the wireframe specifies the structure, so the style sheet specifies the visual language used. </a:t>
            </a:r>
          </a:p>
          <a:p>
            <a:pPr algn="just" eaLnBrk="1" hangingPunct="1">
              <a:lnSpc>
                <a:spcPct val="15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World Wide Web Consortium, W3C</a:t>
            </a:r>
            <a:r>
              <a:rPr lang="en-US" sz="1500" dirty="0" smtClean="0">
                <a:latin typeface="Verdana" pitchFamily="34" charset="0"/>
                <a:cs typeface="Times New Roman" pitchFamily="18" charset="0"/>
              </a:rPr>
              <a:t>, is responsible for developing the CSS (‘cascading style sheets’) language, a mark-up language for specifying over 100 different style features including layouts, </a:t>
            </a:r>
            <a:r>
              <a:rPr lang="en-US" sz="1500" dirty="0" err="1" smtClean="0">
                <a:latin typeface="Verdana" pitchFamily="34" charset="0"/>
                <a:cs typeface="Times New Roman" pitchFamily="18" charset="0"/>
              </a:rPr>
              <a:t>colours</a:t>
            </a:r>
            <a:r>
              <a:rPr lang="en-US" sz="1500" dirty="0" smtClean="0">
                <a:latin typeface="Verdana" pitchFamily="34" charset="0"/>
                <a:cs typeface="Times New Roman" pitchFamily="18" charset="0"/>
              </a:rPr>
              <a:t> and sounds.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457200" y="130622"/>
            <a:ext cx="8229600" cy="562074"/>
          </a:xfrm>
        </p:spPr>
        <p:txBody>
          <a:bodyPr/>
          <a:lstStyle/>
          <a:p>
            <a:pPr eaLnBrk="1" hangingPunct="1">
              <a:lnSpc>
                <a:spcPct val="120000"/>
              </a:lnSpc>
            </a:pPr>
            <a:r>
              <a:rPr lang="en-US" sz="2000" b="1" dirty="0" smtClean="0">
                <a:solidFill>
                  <a:srgbClr val="0070C0"/>
                </a:solidFill>
                <a:latin typeface="Verdana" pitchFamily="34" charset="0"/>
                <a:ea typeface="ヒラギノ角ゴ Pro W3"/>
                <a:cs typeface="ヒラギノ角ゴ Pro W3"/>
              </a:rPr>
              <a:t>information architecture</a:t>
            </a:r>
          </a:p>
        </p:txBody>
      </p:sp>
      <p:sp>
        <p:nvSpPr>
          <p:cNvPr id="26626" name="Text Placeholder 2"/>
          <p:cNvSpPr>
            <a:spLocks noGrp="1"/>
          </p:cNvSpPr>
          <p:nvPr>
            <p:ph type="body" idx="1"/>
          </p:nvPr>
        </p:nvSpPr>
        <p:spPr>
          <a:xfrm>
            <a:off x="251520" y="735228"/>
            <a:ext cx="8640960" cy="3707107"/>
          </a:xfrm>
        </p:spPr>
        <p:txBody>
          <a:bodyPr/>
          <a:lstStyle/>
          <a:p>
            <a:pPr algn="just" eaLnBrk="1" hangingPunct="1">
              <a:lnSpc>
                <a:spcPct val="150000"/>
              </a:lnSpc>
            </a:pPr>
            <a:r>
              <a:rPr lang="en-US" sz="1500" b="1" dirty="0" smtClean="0">
                <a:latin typeface="Verdana" pitchFamily="34" charset="0"/>
                <a:cs typeface="Times New Roman" pitchFamily="18" charset="0"/>
              </a:rPr>
              <a:t>Information architecture </a:t>
            </a:r>
            <a:r>
              <a:rPr lang="en-US" sz="1500" dirty="0" smtClean="0">
                <a:latin typeface="Verdana" pitchFamily="34" charset="0"/>
                <a:cs typeface="Times New Roman" pitchFamily="18" charset="0"/>
              </a:rPr>
              <a:t>is concerned with how the content is classified and organized.  </a:t>
            </a:r>
            <a:r>
              <a:rPr lang="en-US" sz="1500" dirty="0" smtClean="0">
                <a:solidFill>
                  <a:srgbClr val="FF0000"/>
                </a:solidFill>
                <a:latin typeface="Verdana" pitchFamily="34" charset="0"/>
                <a:cs typeface="Times New Roman" pitchFamily="18" charset="0"/>
              </a:rPr>
              <a:t>(a blueprint/visual representation which show hierarchy)</a:t>
            </a:r>
          </a:p>
          <a:p>
            <a:pPr algn="just" eaLnBrk="1" hangingPunct="1">
              <a:lnSpc>
                <a:spcPct val="150000"/>
              </a:lnSpc>
            </a:pPr>
            <a:r>
              <a:rPr lang="en-US" sz="1500" dirty="0" smtClean="0">
                <a:latin typeface="Verdana" pitchFamily="34" charset="0"/>
                <a:cs typeface="Times New Roman" pitchFamily="18" charset="0"/>
              </a:rPr>
              <a:t>Techniques such as card sorts are used to understand how people conceptualize content.</a:t>
            </a:r>
          </a:p>
          <a:p>
            <a:pPr algn="just" eaLnBrk="1" hangingPunct="1">
              <a:lnSpc>
                <a:spcPct val="150000"/>
              </a:lnSpc>
            </a:pPr>
            <a:r>
              <a:rPr lang="en-US" sz="1500" dirty="0" smtClean="0">
                <a:latin typeface="Verdana" pitchFamily="34" charset="0"/>
                <a:cs typeface="Times New Roman" pitchFamily="18" charset="0"/>
              </a:rPr>
              <a:t>Getting an information architecture that is robust enough to serve such multiple interests is difficult and website ‘information architects’ are in great demand. </a:t>
            </a:r>
          </a:p>
          <a:p>
            <a:pPr algn="just" eaLnBrk="1" hangingPunct="1">
              <a:lnSpc>
                <a:spcPct val="150000"/>
              </a:lnSpc>
            </a:pPr>
            <a:r>
              <a:rPr lang="en-US" sz="1500" b="1" dirty="0" smtClean="0">
                <a:latin typeface="Verdana" pitchFamily="34" charset="0"/>
                <a:cs typeface="Times New Roman" pitchFamily="18" charset="0"/>
              </a:rPr>
              <a:t>Information architecture </a:t>
            </a:r>
            <a:r>
              <a:rPr lang="en-US" sz="1500" dirty="0" smtClean="0">
                <a:latin typeface="Verdana" pitchFamily="34" charset="0"/>
                <a:cs typeface="Times New Roman" pitchFamily="18" charset="0"/>
              </a:rPr>
              <a:t>for websites is to do with how the content of the site is organized and described: how to organize the content (i.e. create a taxonomy), how to label the items and categories, how to describe the content in the site and how to present the architecture to users and to other designers.</a:t>
            </a:r>
          </a:p>
        </p:txBody>
      </p:sp>
      <p:sp>
        <p:nvSpPr>
          <p:cNvPr id="2" name="Rectangle 1"/>
          <p:cNvSpPr/>
          <p:nvPr/>
        </p:nvSpPr>
        <p:spPr>
          <a:xfrm>
            <a:off x="457200" y="4442336"/>
            <a:ext cx="8507288" cy="1938992"/>
          </a:xfrm>
          <a:prstGeom prst="rect">
            <a:avLst/>
          </a:prstGeom>
        </p:spPr>
        <p:txBody>
          <a:bodyPr wrap="square">
            <a:spAutoFit/>
          </a:bodyPr>
          <a:lstStyle/>
          <a:p>
            <a:pPr algn="just"/>
            <a:r>
              <a:rPr lang="en-US" sz="1500" dirty="0" smtClean="0">
                <a:solidFill>
                  <a:srgbClr val="00B050"/>
                </a:solidFill>
                <a:latin typeface="Arial" panose="020B0604020202020204" pitchFamily="34" charset="0"/>
              </a:rPr>
              <a:t>Information </a:t>
            </a:r>
            <a:r>
              <a:rPr lang="en-US" sz="1500" dirty="0">
                <a:solidFill>
                  <a:srgbClr val="00B050"/>
                </a:solidFill>
                <a:latin typeface="Arial" panose="020B0604020202020204" pitchFamily="34" charset="0"/>
              </a:rPr>
              <a:t>architecture (IA) is, like a </a:t>
            </a:r>
            <a:r>
              <a:rPr lang="en-US" sz="1500" b="1" dirty="0">
                <a:solidFill>
                  <a:srgbClr val="00B050"/>
                </a:solidFill>
                <a:latin typeface="Arial" panose="020B0604020202020204" pitchFamily="34" charset="0"/>
              </a:rPr>
              <a:t>blueprint, a visual representation of product’s infrastructure, features, and hierarchy</a:t>
            </a:r>
            <a:r>
              <a:rPr lang="en-US" sz="1500" dirty="0">
                <a:solidFill>
                  <a:srgbClr val="00B050"/>
                </a:solidFill>
                <a:latin typeface="Arial" panose="020B0604020202020204" pitchFamily="34" charset="0"/>
              </a:rPr>
              <a:t>. IA may also include </a:t>
            </a:r>
            <a:r>
              <a:rPr lang="en-US" sz="1500" b="1" dirty="0">
                <a:solidFill>
                  <a:srgbClr val="00B050"/>
                </a:solidFill>
                <a:latin typeface="Arial" panose="020B0604020202020204" pitchFamily="34" charset="0"/>
              </a:rPr>
              <a:t>navigation, application functions and behaviors, content, flows, labeling, and information hierarchy. </a:t>
            </a:r>
            <a:r>
              <a:rPr lang="en-US" sz="1500" dirty="0" smtClean="0">
                <a:solidFill>
                  <a:srgbClr val="00B050"/>
                </a:solidFill>
                <a:latin typeface="Arial" panose="020B0604020202020204" pitchFamily="34" charset="0"/>
              </a:rPr>
              <a:t>IA </a:t>
            </a:r>
            <a:r>
              <a:rPr lang="en-US" sz="1500" dirty="0">
                <a:solidFill>
                  <a:srgbClr val="00B050"/>
                </a:solidFill>
                <a:latin typeface="Arial" panose="020B0604020202020204" pitchFamily="34" charset="0"/>
              </a:rPr>
              <a:t>is the practice of organizing and structuring information to support </a:t>
            </a:r>
            <a:r>
              <a:rPr lang="en-US" sz="1500" b="1" dirty="0">
                <a:solidFill>
                  <a:srgbClr val="00B050"/>
                </a:solidFill>
                <a:latin typeface="Arial" panose="020B0604020202020204" pitchFamily="34" charset="0"/>
              </a:rPr>
              <a:t>usability, findability </a:t>
            </a:r>
            <a:r>
              <a:rPr lang="en-US" sz="1500" dirty="0">
                <a:solidFill>
                  <a:srgbClr val="00B050"/>
                </a:solidFill>
                <a:latin typeface="Arial" panose="020B0604020202020204" pitchFamily="34" charset="0"/>
              </a:rPr>
              <a:t>and </a:t>
            </a:r>
            <a:r>
              <a:rPr lang="en-US" sz="1500" b="1" dirty="0">
                <a:solidFill>
                  <a:srgbClr val="00B050"/>
                </a:solidFill>
                <a:latin typeface="Arial" panose="020B0604020202020204" pitchFamily="34" charset="0"/>
              </a:rPr>
              <a:t>understand complex information. </a:t>
            </a:r>
            <a:r>
              <a:rPr lang="en-US" sz="1500" dirty="0">
                <a:solidFill>
                  <a:srgbClr val="00B050"/>
                </a:solidFill>
                <a:latin typeface="Arial" panose="020B0604020202020204" pitchFamily="34" charset="0"/>
              </a:rPr>
              <a:t>IA provides designers (as well as product development and engineering teams) a </a:t>
            </a:r>
            <a:r>
              <a:rPr lang="en-US" sz="1500" b="1" dirty="0">
                <a:solidFill>
                  <a:srgbClr val="00B050"/>
                </a:solidFill>
                <a:latin typeface="Arial" panose="020B0604020202020204" pitchFamily="34" charset="0"/>
              </a:rPr>
              <a:t>bird’s-eye view </a:t>
            </a:r>
            <a:r>
              <a:rPr lang="en-US" sz="1500" dirty="0">
                <a:solidFill>
                  <a:srgbClr val="00B050"/>
                </a:solidFill>
                <a:latin typeface="Arial" panose="020B0604020202020204" pitchFamily="34" charset="0"/>
              </a:rPr>
              <a:t>of entire product. </a:t>
            </a:r>
          </a:p>
          <a:p>
            <a:pPr algn="just"/>
            <a:r>
              <a:rPr lang="en-US" sz="1500" dirty="0">
                <a:solidFill>
                  <a:srgbClr val="00B050"/>
                </a:solidFill>
                <a:latin typeface="Arial" panose="020B0604020202020204" pitchFamily="34" charset="0"/>
              </a:rPr>
              <a:t>With IA available, it becomes significantly </a:t>
            </a:r>
            <a:r>
              <a:rPr lang="en-US" sz="1500" b="1" dirty="0">
                <a:solidFill>
                  <a:srgbClr val="00B050"/>
                </a:solidFill>
                <a:latin typeface="Arial" panose="020B0604020202020204" pitchFamily="34" charset="0"/>
              </a:rPr>
              <a:t>easier to make </a:t>
            </a:r>
            <a:r>
              <a:rPr lang="en-US" sz="1500" dirty="0">
                <a:solidFill>
                  <a:srgbClr val="00B050"/>
                </a:solidFill>
                <a:latin typeface="Arial" panose="020B0604020202020204" pitchFamily="34" charset="0"/>
              </a:rPr>
              <a:t>key decisions for new features and implementations and to follow user behavior through multiple processes.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457200" y="274638"/>
            <a:ext cx="8229600" cy="418058"/>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Organizational structures</a:t>
            </a:r>
          </a:p>
        </p:txBody>
      </p:sp>
      <p:sp>
        <p:nvSpPr>
          <p:cNvPr id="30722" name="Text Placeholder 2"/>
          <p:cNvSpPr>
            <a:spLocks noGrp="1"/>
          </p:cNvSpPr>
          <p:nvPr>
            <p:ph type="body" idx="1"/>
          </p:nvPr>
        </p:nvSpPr>
        <p:spPr>
          <a:xfrm>
            <a:off x="308515" y="764704"/>
            <a:ext cx="8526969" cy="5544616"/>
          </a:xfrm>
        </p:spPr>
        <p:txBody>
          <a:bodyPr/>
          <a:lstStyle/>
          <a:p>
            <a:pPr algn="just" eaLnBrk="1" hangingPunct="1">
              <a:lnSpc>
                <a:spcPct val="150000"/>
              </a:lnSpc>
            </a:pPr>
            <a:r>
              <a:rPr lang="en-US" sz="1500" dirty="0" smtClean="0">
                <a:latin typeface="Verdana" pitchFamily="34" charset="0"/>
                <a:cs typeface="Times New Roman" pitchFamily="18" charset="0"/>
              </a:rPr>
              <a:t>One thing that a designer can be quite sure about is that he or she will not be able to fit everything onto one page. Some decision will have to be taken about how to break up the site to accommodate this constraint. </a:t>
            </a:r>
          </a:p>
          <a:p>
            <a:pPr algn="just" eaLnBrk="1" hangingPunct="1">
              <a:lnSpc>
                <a:spcPct val="150000"/>
              </a:lnSpc>
            </a:pPr>
            <a:r>
              <a:rPr lang="en-US" sz="1500" dirty="0" smtClean="0">
                <a:latin typeface="Verdana" pitchFamily="34" charset="0"/>
                <a:cs typeface="Times New Roman" pitchFamily="18" charset="0"/>
              </a:rPr>
              <a:t>A </a:t>
            </a:r>
            <a:r>
              <a:rPr lang="en-US" sz="1500" b="1" dirty="0" smtClean="0">
                <a:latin typeface="Verdana" pitchFamily="34" charset="0"/>
                <a:cs typeface="Times New Roman" pitchFamily="18" charset="0"/>
              </a:rPr>
              <a:t>hierarchical structure (also sometimes called a ‘tree’, although it is an upside-down tree) arranges the pages with a single root at the top and a number of branches underneath, each of which has several sub-branches. </a:t>
            </a:r>
          </a:p>
          <a:p>
            <a:pPr algn="just" eaLnBrk="1" hangingPunct="1">
              <a:lnSpc>
                <a:spcPct val="150000"/>
              </a:lnSpc>
            </a:pPr>
            <a:r>
              <a:rPr lang="en-US" sz="1500" b="1" dirty="0" smtClean="0">
                <a:latin typeface="Verdana" pitchFamily="34" charset="0"/>
                <a:cs typeface="Times New Roman" pitchFamily="18" charset="0"/>
              </a:rPr>
              <a:t>The problem with a hierarchical structure is that no matter what classification scheme is chosen, some item will not fit nicely into it, and the designer will want to put it under two or more headings. </a:t>
            </a:r>
          </a:p>
          <a:p>
            <a:pPr algn="just" eaLnBrk="1" hangingPunct="1">
              <a:lnSpc>
                <a:spcPct val="150000"/>
              </a:lnSpc>
            </a:pPr>
            <a:r>
              <a:rPr lang="en-US" sz="1500" dirty="0" smtClean="0">
                <a:latin typeface="Verdana" pitchFamily="34" charset="0"/>
                <a:cs typeface="Times New Roman" pitchFamily="18" charset="0"/>
              </a:rPr>
              <a:t>As soon as this happens, the nice clean structure of a hierarchy breaks down. Soon the hierarchy becomes a </a:t>
            </a:r>
            <a:r>
              <a:rPr lang="en-US" sz="1500" b="1" dirty="0" smtClean="0">
                <a:latin typeface="Verdana" pitchFamily="34" charset="0"/>
                <a:cs typeface="Times New Roman" pitchFamily="18" charset="0"/>
              </a:rPr>
              <a:t>network.</a:t>
            </a:r>
          </a:p>
          <a:p>
            <a:pPr algn="just" eaLnBrk="1" hangingPunct="1">
              <a:lnSpc>
                <a:spcPct val="150000"/>
              </a:lnSpc>
            </a:pPr>
            <a:r>
              <a:rPr lang="en-US" sz="1500" dirty="0" smtClean="0">
                <a:latin typeface="Verdana" pitchFamily="34" charset="0"/>
                <a:cs typeface="Times New Roman" pitchFamily="18" charset="0"/>
              </a:rPr>
              <a:t>Networks are structures in which the same item may be linked into several different hierarchies. </a:t>
            </a:r>
          </a:p>
          <a:p>
            <a:pPr algn="just" eaLnBrk="1" hangingPunct="1">
              <a:lnSpc>
                <a:spcPct val="150000"/>
              </a:lnSpc>
            </a:pPr>
            <a:r>
              <a:rPr lang="en-US" sz="1500" dirty="0" smtClean="0">
                <a:latin typeface="Verdana" pitchFamily="34" charset="0"/>
                <a:cs typeface="Times New Roman" pitchFamily="18" charset="0"/>
              </a:rPr>
              <a:t>Organizing pages into a </a:t>
            </a:r>
            <a:r>
              <a:rPr lang="en-US" sz="1500" b="1" dirty="0" smtClean="0">
                <a:latin typeface="Verdana" pitchFamily="34" charset="0"/>
                <a:cs typeface="Times New Roman" pitchFamily="18" charset="0"/>
              </a:rPr>
              <a:t>sequence is ideal for dealing with a straightforward task structure such as buying a product or filling in a series of questions.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Metadata</a:t>
            </a:r>
          </a:p>
        </p:txBody>
      </p:sp>
      <p:sp>
        <p:nvSpPr>
          <p:cNvPr id="31746" name="Text Placeholder 2"/>
          <p:cNvSpPr>
            <a:spLocks noGrp="1"/>
          </p:cNvSpPr>
          <p:nvPr>
            <p:ph type="body" idx="1"/>
          </p:nvPr>
        </p:nvSpPr>
        <p:spPr>
          <a:xfrm>
            <a:off x="457200" y="1484784"/>
            <a:ext cx="8229600" cy="4525963"/>
          </a:xfrm>
        </p:spPr>
        <p:txBody>
          <a:bodyPr/>
          <a:lstStyle/>
          <a:p>
            <a:pPr eaLnBrk="1" hangingPunct="1">
              <a:lnSpc>
                <a:spcPct val="200000"/>
              </a:lnSpc>
            </a:pPr>
            <a:r>
              <a:rPr lang="en-US" sz="1500" b="1" dirty="0" smtClean="0">
                <a:latin typeface="Verdana" pitchFamily="34" charset="0"/>
                <a:cs typeface="Times New Roman" pitchFamily="18" charset="0"/>
              </a:rPr>
              <a:t>Metadata means data </a:t>
            </a:r>
            <a:r>
              <a:rPr lang="en-US" sz="1500" dirty="0" smtClean="0">
                <a:latin typeface="Verdana" pitchFamily="34" charset="0"/>
                <a:cs typeface="Times New Roman" pitchFamily="18" charset="0"/>
              </a:rPr>
              <a:t>about data and in the case of websites this means data about the content of the site. </a:t>
            </a:r>
          </a:p>
          <a:p>
            <a:pPr eaLnBrk="1" hangingPunct="1">
              <a:lnSpc>
                <a:spcPct val="200000"/>
              </a:lnSpc>
            </a:pPr>
            <a:r>
              <a:rPr lang="en-US" sz="1500" dirty="0" smtClean="0">
                <a:latin typeface="Verdana" pitchFamily="34" charset="0"/>
                <a:cs typeface="Times New Roman" pitchFamily="18" charset="0"/>
              </a:rPr>
              <a:t>Metadata is becoming increasingly important with the ubiquitous use of tags and search engine optimization (SEO). </a:t>
            </a:r>
          </a:p>
          <a:p>
            <a:pPr eaLnBrk="1" hangingPunct="1">
              <a:lnSpc>
                <a:spcPct val="200000"/>
              </a:lnSpc>
            </a:pPr>
            <a:r>
              <a:rPr lang="en-US" sz="1500" dirty="0" smtClean="0">
                <a:latin typeface="Verdana" pitchFamily="34" charset="0"/>
                <a:cs typeface="Times New Roman" pitchFamily="18" charset="0"/>
              </a:rPr>
              <a:t>Metadata is easily seen and indeed is used by search engines on the Web to locate and rank pages for relevance to a search term entered.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457200" y="188640"/>
            <a:ext cx="8229600" cy="634082"/>
          </a:xfrm>
        </p:spPr>
        <p:txBody>
          <a:bodyPr/>
          <a:lstStyle/>
          <a:p>
            <a:pPr eaLnBrk="1" hangingPunct="1">
              <a:lnSpc>
                <a:spcPct val="120000"/>
              </a:lnSpc>
            </a:pPr>
            <a:r>
              <a:rPr lang="en-US" sz="2000" b="1" dirty="0" smtClean="0">
                <a:solidFill>
                  <a:srgbClr val="0070C0"/>
                </a:solidFill>
                <a:latin typeface="Verdana" pitchFamily="34" charset="0"/>
                <a:ea typeface="ヒラギノ角ゴ Pro W3"/>
                <a:cs typeface="ヒラギノ角ゴ Pro W3"/>
              </a:rPr>
              <a:t>Navigation design for websites</a:t>
            </a:r>
          </a:p>
        </p:txBody>
      </p:sp>
      <p:sp>
        <p:nvSpPr>
          <p:cNvPr id="33794" name="Text Placeholder 2"/>
          <p:cNvSpPr>
            <a:spLocks noGrp="1"/>
          </p:cNvSpPr>
          <p:nvPr>
            <p:ph type="body" idx="1"/>
          </p:nvPr>
        </p:nvSpPr>
        <p:spPr>
          <a:xfrm>
            <a:off x="374848" y="836712"/>
            <a:ext cx="8311952" cy="5472608"/>
          </a:xfrm>
        </p:spPr>
        <p:txBody>
          <a:bodyPr/>
          <a:lstStyle/>
          <a:p>
            <a:pPr algn="just" eaLnBrk="1" hangingPunct="1">
              <a:lnSpc>
                <a:spcPct val="120000"/>
              </a:lnSpc>
            </a:pPr>
            <a:r>
              <a:rPr lang="en-US" sz="1400" dirty="0" smtClean="0">
                <a:latin typeface="Verdana" pitchFamily="34" charset="0"/>
                <a:cs typeface="Times New Roman" pitchFamily="18" charset="0"/>
              </a:rPr>
              <a:t>The design of navigation mechanisms is the second main pillar of information architecture. </a:t>
            </a:r>
          </a:p>
          <a:p>
            <a:pPr algn="just" eaLnBrk="1" hangingPunct="1">
              <a:lnSpc>
                <a:spcPct val="120000"/>
              </a:lnSpc>
            </a:pPr>
            <a:r>
              <a:rPr lang="en-US" sz="1400" dirty="0" smtClean="0">
                <a:latin typeface="Verdana" pitchFamily="34" charset="0"/>
                <a:cs typeface="Times New Roman" pitchFamily="18" charset="0"/>
              </a:rPr>
              <a:t>There are </a:t>
            </a:r>
            <a:r>
              <a:rPr lang="en-US" sz="1400" dirty="0" smtClean="0">
                <a:solidFill>
                  <a:srgbClr val="0070C0"/>
                </a:solidFill>
                <a:latin typeface="Verdana" pitchFamily="34" charset="0"/>
                <a:cs typeface="Times New Roman" pitchFamily="18" charset="0"/>
              </a:rPr>
              <a:t>three key features of a good navigation design for websites: labelling, navigation support and searching mechanisms</a:t>
            </a:r>
            <a:r>
              <a:rPr lang="en-US" sz="1400" dirty="0" smtClean="0">
                <a:latin typeface="Verdana" pitchFamily="34" charset="0"/>
                <a:cs typeface="Times New Roman" pitchFamily="18" charset="0"/>
              </a:rPr>
              <a:t>.</a:t>
            </a:r>
          </a:p>
          <a:p>
            <a:pPr algn="just" eaLnBrk="1" hangingPunct="1">
              <a:lnSpc>
                <a:spcPct val="120000"/>
              </a:lnSpc>
            </a:pPr>
            <a:endParaRPr lang="en-US" sz="1400" b="1" dirty="0" smtClean="0">
              <a:solidFill>
                <a:srgbClr val="0070C0"/>
              </a:solidFill>
              <a:latin typeface="Verdana" pitchFamily="34" charset="0"/>
              <a:cs typeface="Times New Roman" pitchFamily="18" charset="0"/>
            </a:endParaRPr>
          </a:p>
          <a:p>
            <a:pPr algn="just" eaLnBrk="1" hangingPunct="1">
              <a:lnSpc>
                <a:spcPct val="120000"/>
              </a:lnSpc>
            </a:pPr>
            <a:r>
              <a:rPr lang="en-US" sz="1400" b="1" dirty="0" smtClean="0">
                <a:solidFill>
                  <a:srgbClr val="0070C0"/>
                </a:solidFill>
                <a:latin typeface="Verdana" pitchFamily="34" charset="0"/>
                <a:cs typeface="Times New Roman" pitchFamily="18" charset="0"/>
              </a:rPr>
              <a:t>Labeling: </a:t>
            </a:r>
            <a:r>
              <a:rPr lang="en-US" sz="1400" b="1" dirty="0" smtClean="0">
                <a:latin typeface="Verdana" pitchFamily="34" charset="0"/>
                <a:cs typeface="Times New Roman" pitchFamily="18" charset="0"/>
              </a:rPr>
              <a:t>Labels are used for internal </a:t>
            </a:r>
            <a:r>
              <a:rPr lang="en-US" sz="1400" b="1" dirty="0">
                <a:latin typeface="Verdana" pitchFamily="34" charset="0"/>
                <a:cs typeface="Times New Roman" pitchFamily="18" charset="0"/>
              </a:rPr>
              <a:t>&amp;</a:t>
            </a:r>
            <a:r>
              <a:rPr lang="en-US" sz="1400" b="1" dirty="0" smtClean="0">
                <a:latin typeface="Verdana" pitchFamily="34" charset="0"/>
                <a:cs typeface="Times New Roman" pitchFamily="18" charset="0"/>
              </a:rPr>
              <a:t> external links, headings </a:t>
            </a:r>
            <a:r>
              <a:rPr lang="en-US" sz="1400" b="1" dirty="0">
                <a:latin typeface="Verdana" pitchFamily="34" charset="0"/>
                <a:cs typeface="Times New Roman" pitchFamily="18" charset="0"/>
              </a:rPr>
              <a:t>&amp;</a:t>
            </a:r>
            <a:r>
              <a:rPr lang="en-US" sz="1400" b="1" dirty="0" smtClean="0">
                <a:latin typeface="Verdana" pitchFamily="34" charset="0"/>
                <a:cs typeface="Times New Roman" pitchFamily="18" charset="0"/>
              </a:rPr>
              <a:t> sub-headings, titles </a:t>
            </a:r>
            <a:r>
              <a:rPr lang="en-US" sz="1400" b="1" dirty="0">
                <a:latin typeface="Verdana" pitchFamily="34" charset="0"/>
                <a:cs typeface="Times New Roman" pitchFamily="18" charset="0"/>
              </a:rPr>
              <a:t>&amp;</a:t>
            </a:r>
            <a:r>
              <a:rPr lang="en-US" sz="1400" b="1" dirty="0" smtClean="0">
                <a:latin typeface="Verdana" pitchFamily="34" charset="0"/>
                <a:cs typeface="Times New Roman" pitchFamily="18" charset="0"/>
              </a:rPr>
              <a:t> related areas.</a:t>
            </a:r>
          </a:p>
          <a:p>
            <a:pPr algn="just" eaLnBrk="1" hangingPunct="1">
              <a:lnSpc>
                <a:spcPct val="120000"/>
              </a:lnSpc>
            </a:pPr>
            <a:r>
              <a:rPr lang="en-US" sz="1400" dirty="0" smtClean="0">
                <a:latin typeface="Verdana" pitchFamily="34" charset="0"/>
                <a:cs typeface="Times New Roman" pitchFamily="18" charset="0"/>
              </a:rPr>
              <a:t>Paying attention to good, consistent, relevant labels is a critical part of information architecture. Information architects must develop a clear and unambiguous preferred vocabulary.</a:t>
            </a:r>
          </a:p>
          <a:p>
            <a:pPr marL="0" indent="0" algn="just" eaLnBrk="1" hangingPunct="1">
              <a:lnSpc>
                <a:spcPct val="120000"/>
              </a:lnSpc>
              <a:buNone/>
            </a:pPr>
            <a:endParaRPr lang="en-US" sz="1400" dirty="0" smtClean="0">
              <a:latin typeface="Verdana" pitchFamily="34" charset="0"/>
              <a:cs typeface="Times New Roman" pitchFamily="18" charset="0"/>
            </a:endParaRPr>
          </a:p>
          <a:p>
            <a:pPr algn="just" eaLnBrk="1" hangingPunct="1">
              <a:lnSpc>
                <a:spcPct val="120000"/>
              </a:lnSpc>
            </a:pPr>
            <a:r>
              <a:rPr lang="en-US" sz="1400" b="1" dirty="0" smtClean="0">
                <a:solidFill>
                  <a:srgbClr val="0070C0"/>
                </a:solidFill>
                <a:latin typeface="Verdana" pitchFamily="34" charset="0"/>
                <a:cs typeface="Times New Roman" pitchFamily="18" charset="0"/>
              </a:rPr>
              <a:t>Navigation support: </a:t>
            </a:r>
            <a:r>
              <a:rPr lang="en-US" sz="1400" dirty="0" smtClean="0">
                <a:latin typeface="Verdana" pitchFamily="34" charset="0"/>
                <a:cs typeface="Times New Roman" pitchFamily="18" charset="0"/>
              </a:rPr>
              <a:t>Of course, </a:t>
            </a:r>
            <a:r>
              <a:rPr lang="en-US" sz="1400" b="1" dirty="0" smtClean="0">
                <a:latin typeface="Verdana" pitchFamily="34" charset="0"/>
                <a:cs typeface="Times New Roman" pitchFamily="18" charset="0"/>
              </a:rPr>
              <a:t>many of the signs &amp; labels on website are deliberately placed in order to support navigation (global navigation </a:t>
            </a:r>
            <a:r>
              <a:rPr lang="en-US" sz="1400" b="1" dirty="0">
                <a:latin typeface="Verdana" pitchFamily="34" charset="0"/>
                <a:cs typeface="Times New Roman" pitchFamily="18" charset="0"/>
              </a:rPr>
              <a:t>&amp;</a:t>
            </a:r>
            <a:r>
              <a:rPr lang="en-US" sz="1400" b="1" dirty="0" smtClean="0">
                <a:latin typeface="Verdana" pitchFamily="34" charset="0"/>
                <a:cs typeface="Times New Roman" pitchFamily="18" charset="0"/>
              </a:rPr>
              <a:t> local navigation)</a:t>
            </a:r>
          </a:p>
          <a:p>
            <a:pPr algn="just" eaLnBrk="1" hangingPunct="1">
              <a:lnSpc>
                <a:spcPct val="120000"/>
              </a:lnSpc>
            </a:pPr>
            <a:endParaRPr lang="en-US" sz="1400" b="1" dirty="0" smtClean="0">
              <a:latin typeface="Verdana" pitchFamily="34" charset="0"/>
              <a:cs typeface="Times New Roman" pitchFamily="18" charset="0"/>
            </a:endParaRPr>
          </a:p>
          <a:p>
            <a:pPr algn="just" eaLnBrk="1" hangingPunct="1">
              <a:lnSpc>
                <a:spcPct val="120000"/>
              </a:lnSpc>
            </a:pPr>
            <a:r>
              <a:rPr lang="en-US" sz="1400" b="1" dirty="0" smtClean="0">
                <a:solidFill>
                  <a:srgbClr val="0070C0"/>
                </a:solidFill>
                <a:latin typeface="Verdana" pitchFamily="34" charset="0"/>
                <a:cs typeface="Times New Roman" pitchFamily="18" charset="0"/>
              </a:rPr>
              <a:t>Searching: </a:t>
            </a:r>
            <a:r>
              <a:rPr lang="en-US" sz="1400" dirty="0" smtClean="0">
                <a:latin typeface="Verdana" pitchFamily="34" charset="0"/>
                <a:cs typeface="Times New Roman" pitchFamily="18" charset="0"/>
              </a:rPr>
              <a:t>one of </a:t>
            </a:r>
            <a:r>
              <a:rPr lang="en-US" sz="1400" dirty="0">
                <a:latin typeface="Verdana" pitchFamily="34" charset="0"/>
                <a:cs typeface="Times New Roman" pitchFamily="18" charset="0"/>
              </a:rPr>
              <a:t>the significant features of the Web as an information space is that </a:t>
            </a:r>
            <a:r>
              <a:rPr lang="en-US" sz="1400" b="1" dirty="0" smtClean="0">
                <a:latin typeface="Verdana" pitchFamily="34" charset="0"/>
                <a:cs typeface="Times New Roman" pitchFamily="18" charset="0"/>
              </a:rPr>
              <a:t> many sites support searching. </a:t>
            </a:r>
          </a:p>
          <a:p>
            <a:pPr algn="just" eaLnBrk="1" hangingPunct="1">
              <a:lnSpc>
                <a:spcPct val="120000"/>
              </a:lnSpc>
            </a:pPr>
            <a:r>
              <a:rPr lang="en-US" sz="1400" dirty="0" smtClean="0">
                <a:latin typeface="Verdana" pitchFamily="34" charset="0"/>
                <a:cs typeface="Times New Roman" pitchFamily="18" charset="0"/>
              </a:rPr>
              <a:t>The first is knowing exactly what sort of documents the search engine is searching. The second is how to express combinations of search criteria. </a:t>
            </a:r>
            <a:endParaRPr lang="en-US" sz="1400" b="1"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457200" y="274638"/>
            <a:ext cx="8229600" cy="634082"/>
          </a:xfrm>
        </p:spPr>
        <p:txBody>
          <a:bodyPr/>
          <a:lstStyle/>
          <a:p>
            <a:pPr eaLnBrk="1" hangingPunct="1">
              <a:lnSpc>
                <a:spcPct val="120000"/>
              </a:lnSpc>
            </a:pPr>
            <a:r>
              <a:rPr lang="en-US" sz="2000" b="1" dirty="0" smtClean="0">
                <a:solidFill>
                  <a:srgbClr val="0070C0"/>
                </a:solidFill>
                <a:latin typeface="Verdana" pitchFamily="34" charset="0"/>
                <a:ea typeface="ヒラギノ角ゴ Pro W3"/>
                <a:cs typeface="ヒラギノ角ゴ Pro W3"/>
              </a:rPr>
              <a:t>Navigation design for websites</a:t>
            </a:r>
          </a:p>
        </p:txBody>
      </p:sp>
      <p:sp>
        <p:nvSpPr>
          <p:cNvPr id="33794" name="Text Placeholder 2"/>
          <p:cNvSpPr>
            <a:spLocks noGrp="1"/>
          </p:cNvSpPr>
          <p:nvPr>
            <p:ph type="body" idx="1"/>
          </p:nvPr>
        </p:nvSpPr>
        <p:spPr>
          <a:xfrm>
            <a:off x="374848" y="1196752"/>
            <a:ext cx="8229600" cy="4853136"/>
          </a:xfrm>
        </p:spPr>
        <p:txBody>
          <a:bodyPr/>
          <a:lstStyle/>
          <a:p>
            <a:pPr marL="0" indent="0" algn="just" eaLnBrk="1" hangingPunct="1">
              <a:lnSpc>
                <a:spcPct val="150000"/>
              </a:lnSpc>
              <a:buNone/>
            </a:pPr>
            <a:r>
              <a:rPr lang="en-US" sz="1500" dirty="0" smtClean="0">
                <a:latin typeface="Verdana" pitchFamily="34" charset="0"/>
                <a:cs typeface="Times New Roman" pitchFamily="18" charset="0"/>
              </a:rPr>
              <a:t>There </a:t>
            </a:r>
            <a:r>
              <a:rPr lang="en-US" sz="1500" dirty="0">
                <a:latin typeface="Verdana" pitchFamily="34" charset="0"/>
                <a:cs typeface="Times New Roman" pitchFamily="18" charset="0"/>
              </a:rPr>
              <a:t>are </a:t>
            </a:r>
            <a:r>
              <a:rPr lang="en-US" sz="1500" b="1" dirty="0">
                <a:latin typeface="Verdana" pitchFamily="34" charset="0"/>
                <a:cs typeface="Times New Roman" pitchFamily="18" charset="0"/>
              </a:rPr>
              <a:t>two main problems</a:t>
            </a:r>
            <a:r>
              <a:rPr lang="en-US" sz="1500" dirty="0">
                <a:latin typeface="Verdana" pitchFamily="34" charset="0"/>
                <a:cs typeface="Times New Roman" pitchFamily="18" charset="0"/>
              </a:rPr>
              <a:t> with searching a </a:t>
            </a:r>
            <a:r>
              <a:rPr lang="en-US" sz="1500" dirty="0" smtClean="0">
                <a:latin typeface="Verdana" pitchFamily="34" charset="0"/>
                <a:cs typeface="Times New Roman" pitchFamily="18" charset="0"/>
              </a:rPr>
              <a:t>website.</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The </a:t>
            </a:r>
            <a:r>
              <a:rPr lang="en-US" sz="1500" dirty="0">
                <a:latin typeface="Verdana" pitchFamily="34" charset="0"/>
                <a:cs typeface="Times New Roman" pitchFamily="18" charset="0"/>
              </a:rPr>
              <a:t>first is knowing </a:t>
            </a:r>
            <a:r>
              <a:rPr lang="en-US" sz="1500" dirty="0" smtClean="0">
                <a:latin typeface="Verdana" pitchFamily="34" charset="0"/>
                <a:cs typeface="Times New Roman" pitchFamily="18" charset="0"/>
              </a:rPr>
              <a:t>exactly </a:t>
            </a:r>
            <a:r>
              <a:rPr lang="en-US" sz="1500" b="1" dirty="0" smtClean="0">
                <a:latin typeface="Verdana" pitchFamily="34" charset="0"/>
                <a:cs typeface="Times New Roman" pitchFamily="18" charset="0"/>
              </a:rPr>
              <a:t>what </a:t>
            </a:r>
            <a:r>
              <a:rPr lang="en-US" sz="1500" b="1" dirty="0">
                <a:latin typeface="Verdana" pitchFamily="34" charset="0"/>
                <a:cs typeface="Times New Roman" pitchFamily="18" charset="0"/>
              </a:rPr>
              <a:t>sort of documents the search engine is </a:t>
            </a:r>
            <a:r>
              <a:rPr lang="en-US" sz="1500" b="1" dirty="0" smtClean="0">
                <a:latin typeface="Verdana" pitchFamily="34" charset="0"/>
                <a:cs typeface="Times New Roman" pitchFamily="18" charset="0"/>
              </a:rPr>
              <a:t>searching</a:t>
            </a:r>
            <a:r>
              <a:rPr lang="en-US" sz="1500" dirty="0" smtClean="0">
                <a:latin typeface="Verdana" pitchFamily="34" charset="0"/>
                <a:cs typeface="Times New Roman" pitchFamily="18" charset="0"/>
              </a:rPr>
              <a:t>.</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The </a:t>
            </a:r>
            <a:r>
              <a:rPr lang="en-US" sz="1500" dirty="0">
                <a:latin typeface="Verdana" pitchFamily="34" charset="0"/>
                <a:cs typeface="Times New Roman" pitchFamily="18" charset="0"/>
              </a:rPr>
              <a:t>second is </a:t>
            </a:r>
            <a:r>
              <a:rPr lang="en-US" sz="1500" b="1" dirty="0">
                <a:latin typeface="Verdana" pitchFamily="34" charset="0"/>
                <a:cs typeface="Times New Roman" pitchFamily="18" charset="0"/>
              </a:rPr>
              <a:t>how to </a:t>
            </a:r>
            <a:r>
              <a:rPr lang="en-US" sz="1500" b="1" dirty="0" smtClean="0">
                <a:latin typeface="Verdana" pitchFamily="34" charset="0"/>
                <a:cs typeface="Times New Roman" pitchFamily="18" charset="0"/>
              </a:rPr>
              <a:t>express combinations </a:t>
            </a:r>
            <a:r>
              <a:rPr lang="en-US" sz="1500" b="1" dirty="0">
                <a:latin typeface="Verdana" pitchFamily="34" charset="0"/>
                <a:cs typeface="Times New Roman" pitchFamily="18" charset="0"/>
              </a:rPr>
              <a:t>of search </a:t>
            </a:r>
            <a:r>
              <a:rPr lang="en-US" sz="1500" b="1" dirty="0" smtClean="0">
                <a:latin typeface="Verdana" pitchFamily="34" charset="0"/>
                <a:cs typeface="Times New Roman" pitchFamily="18" charset="0"/>
              </a:rPr>
              <a:t>criteria</a:t>
            </a:r>
            <a:r>
              <a:rPr lang="en-US" sz="1500" dirty="0" smtClean="0">
                <a:latin typeface="Verdana" pitchFamily="34" charset="0"/>
                <a:cs typeface="Times New Roman" pitchFamily="18" charset="0"/>
              </a:rPr>
              <a:t>.</a:t>
            </a:r>
          </a:p>
          <a:p>
            <a:pPr marL="0" indent="0" algn="just" eaLnBrk="1" hangingPunct="1">
              <a:lnSpc>
                <a:spcPct val="150000"/>
              </a:lnSpc>
              <a:buNone/>
            </a:pPr>
            <a:endParaRPr lang="en-US" sz="1500" dirty="0" smtClean="0">
              <a:latin typeface="Verdana" pitchFamily="34" charset="0"/>
              <a:cs typeface="Times New Roman" pitchFamily="18" charset="0"/>
            </a:endParaRPr>
          </a:p>
          <a:p>
            <a:pPr marL="0" indent="0" algn="just" eaLnBrk="1" hangingPunct="1">
              <a:lnSpc>
                <a:spcPct val="150000"/>
              </a:lnSpc>
              <a:buNone/>
            </a:pPr>
            <a:r>
              <a:rPr lang="en-US" sz="1500" dirty="0" smtClean="0">
                <a:latin typeface="Verdana" pitchFamily="34" charset="0"/>
                <a:cs typeface="Times New Roman" pitchFamily="18" charset="0"/>
              </a:rPr>
              <a:t>A </a:t>
            </a:r>
            <a:r>
              <a:rPr lang="en-US" sz="1500" dirty="0">
                <a:latin typeface="Verdana" pitchFamily="34" charset="0"/>
                <a:cs typeface="Times New Roman" pitchFamily="18" charset="0"/>
              </a:rPr>
              <a:t>frequent failing of websites is not to make </a:t>
            </a:r>
            <a:r>
              <a:rPr lang="en-US" sz="1500" dirty="0" smtClean="0">
                <a:latin typeface="Verdana" pitchFamily="34" charset="0"/>
                <a:cs typeface="Times New Roman" pitchFamily="18" charset="0"/>
              </a:rPr>
              <a:t>clear which </a:t>
            </a:r>
            <a:r>
              <a:rPr lang="en-US" sz="1500" dirty="0">
                <a:latin typeface="Verdana" pitchFamily="34" charset="0"/>
                <a:cs typeface="Times New Roman" pitchFamily="18" charset="0"/>
              </a:rPr>
              <a:t>items are included in the </a:t>
            </a:r>
            <a:r>
              <a:rPr lang="en-US" sz="1500" dirty="0" smtClean="0">
                <a:latin typeface="Verdana" pitchFamily="34" charset="0"/>
                <a:cs typeface="Times New Roman" pitchFamily="18" charset="0"/>
              </a:rPr>
              <a:t>search. Is </a:t>
            </a:r>
            <a:r>
              <a:rPr lang="en-US" sz="1500" dirty="0">
                <a:latin typeface="Verdana" pitchFamily="34" charset="0"/>
                <a:cs typeface="Times New Roman" pitchFamily="18" charset="0"/>
              </a:rPr>
              <a:t>the content of different documents </a:t>
            </a:r>
            <a:r>
              <a:rPr lang="en-US" sz="1500" dirty="0" smtClean="0">
                <a:latin typeface="Verdana" pitchFamily="34" charset="0"/>
                <a:cs typeface="Times New Roman" pitchFamily="18" charset="0"/>
              </a:rPr>
              <a:t>searched, or </a:t>
            </a:r>
            <a:r>
              <a:rPr lang="en-US" sz="1500" dirty="0">
                <a:latin typeface="Verdana" pitchFamily="34" charset="0"/>
                <a:cs typeface="Times New Roman" pitchFamily="18" charset="0"/>
              </a:rPr>
              <a:t>is it just the web pages themselves? Does it include PDF files, or Word files, and </a:t>
            </a:r>
            <a:r>
              <a:rPr lang="en-US" sz="1500" dirty="0" smtClean="0">
                <a:latin typeface="Verdana" pitchFamily="34" charset="0"/>
                <a:cs typeface="Times New Roman" pitchFamily="18" charset="0"/>
              </a:rPr>
              <a:t>in the </a:t>
            </a:r>
            <a:r>
              <a:rPr lang="en-US" sz="1500" dirty="0">
                <a:latin typeface="Verdana" pitchFamily="34" charset="0"/>
                <a:cs typeface="Times New Roman" pitchFamily="18" charset="0"/>
              </a:rPr>
              <a:t>latter case is it the whole content or just some tagged </a:t>
            </a:r>
            <a:r>
              <a:rPr lang="en-US" sz="1500" dirty="0" smtClean="0">
                <a:latin typeface="Verdana" pitchFamily="34" charset="0"/>
                <a:cs typeface="Times New Roman" pitchFamily="18" charset="0"/>
              </a:rPr>
              <a:t>keywords?</a:t>
            </a:r>
          </a:p>
          <a:p>
            <a:pPr marL="0" indent="0" algn="just" eaLnBrk="1" hangingPunct="1">
              <a:lnSpc>
                <a:spcPct val="150000"/>
              </a:lnSpc>
              <a:buNone/>
            </a:pPr>
            <a:endParaRPr lang="en-US" sz="1500" dirty="0" smtClean="0">
              <a:latin typeface="Verdana" pitchFamily="34" charset="0"/>
              <a:cs typeface="Times New Roman" pitchFamily="18" charset="0"/>
            </a:endParaRPr>
          </a:p>
          <a:p>
            <a:pPr marL="0" indent="0" algn="just" eaLnBrk="1" hangingPunct="1">
              <a:lnSpc>
                <a:spcPct val="150000"/>
              </a:lnSpc>
              <a:buNone/>
            </a:pPr>
            <a:r>
              <a:rPr lang="en-US" sz="1500" b="1" dirty="0" smtClean="0">
                <a:latin typeface="Verdana" pitchFamily="34" charset="0"/>
                <a:cs typeface="Times New Roman" pitchFamily="18" charset="0"/>
              </a:rPr>
              <a:t>Sites </a:t>
            </a:r>
            <a:r>
              <a:rPr lang="en-US" sz="1500" b="1" dirty="0">
                <a:latin typeface="Verdana" pitchFamily="34" charset="0"/>
                <a:cs typeface="Times New Roman" pitchFamily="18" charset="0"/>
              </a:rPr>
              <a:t>should </a:t>
            </a:r>
            <a:r>
              <a:rPr lang="en-US" sz="1500" b="1" dirty="0" smtClean="0">
                <a:latin typeface="Verdana" pitchFamily="34" charset="0"/>
                <a:cs typeface="Times New Roman" pitchFamily="18" charset="0"/>
              </a:rPr>
              <a:t>indicate what </a:t>
            </a:r>
            <a:r>
              <a:rPr lang="en-US" sz="1500" b="1" dirty="0">
                <a:latin typeface="Verdana" pitchFamily="34" charset="0"/>
                <a:cs typeface="Times New Roman" pitchFamily="18" charset="0"/>
              </a:rPr>
              <a:t>is searched and provide options to search different types of </a:t>
            </a:r>
            <a:r>
              <a:rPr lang="en-US" sz="1500" b="1" dirty="0" smtClean="0">
                <a:latin typeface="Verdana" pitchFamily="34" charset="0"/>
                <a:cs typeface="Times New Roman" pitchFamily="18" charset="0"/>
              </a:rPr>
              <a:t>content.</a:t>
            </a:r>
          </a:p>
        </p:txBody>
      </p:sp>
    </p:spTree>
    <p:extLst>
      <p:ext uri="{BB962C8B-B14F-4D97-AF65-F5344CB8AC3E}">
        <p14:creationId xmlns:p14="http://schemas.microsoft.com/office/powerpoint/2010/main" val="34161996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457200" y="202630"/>
            <a:ext cx="8229600" cy="562074"/>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How people navigate</a:t>
            </a:r>
          </a:p>
        </p:txBody>
      </p:sp>
      <p:sp>
        <p:nvSpPr>
          <p:cNvPr id="34818" name="Text Placeholder 2"/>
          <p:cNvSpPr>
            <a:spLocks noGrp="1"/>
          </p:cNvSpPr>
          <p:nvPr>
            <p:ph type="body" idx="1"/>
          </p:nvPr>
        </p:nvSpPr>
        <p:spPr>
          <a:xfrm>
            <a:off x="215516" y="836712"/>
            <a:ext cx="8712968" cy="5184576"/>
          </a:xfrm>
        </p:spPr>
        <p:txBody>
          <a:bodyPr/>
          <a:lstStyle/>
          <a:p>
            <a:pPr algn="just" eaLnBrk="1" hangingPunct="1">
              <a:lnSpc>
                <a:spcPct val="120000"/>
              </a:lnSpc>
            </a:pPr>
            <a:r>
              <a:rPr lang="en-US" sz="1500" b="1" dirty="0" smtClean="0">
                <a:latin typeface="Verdana" pitchFamily="34" charset="0"/>
                <a:cs typeface="Times New Roman" pitchFamily="18" charset="0"/>
              </a:rPr>
              <a:t>Omniscience</a:t>
            </a:r>
            <a:r>
              <a:rPr lang="en-US" sz="1500" dirty="0" smtClean="0">
                <a:latin typeface="Verdana" pitchFamily="34" charset="0"/>
                <a:cs typeface="Times New Roman" pitchFamily="18" charset="0"/>
              </a:rPr>
              <a:t>: Users have perfect knowledge and make no mistakes – provide short, efficient paths.</a:t>
            </a:r>
          </a:p>
          <a:p>
            <a:pPr algn="just" eaLnBrk="1" hangingPunct="1">
              <a:lnSpc>
                <a:spcPct val="120000"/>
              </a:lnSpc>
            </a:pPr>
            <a:r>
              <a:rPr lang="en-US" sz="1500" b="1" dirty="0" smtClean="0">
                <a:latin typeface="Verdana" pitchFamily="34" charset="0"/>
                <a:cs typeface="Times New Roman" pitchFamily="18" charset="0"/>
              </a:rPr>
              <a:t>Optimal rationality</a:t>
            </a:r>
            <a:r>
              <a:rPr lang="en-US" sz="1500" dirty="0" smtClean="0">
                <a:latin typeface="Verdana" pitchFamily="34" charset="0"/>
                <a:cs typeface="Times New Roman" pitchFamily="18" charset="0"/>
              </a:rPr>
              <a:t>: Users reason perfectly, but only know what they have seen. make sure links provide adequate cues to the content they lead to.</a:t>
            </a:r>
          </a:p>
          <a:p>
            <a:pPr algn="just" eaLnBrk="1" hangingPunct="1">
              <a:lnSpc>
                <a:spcPct val="120000"/>
              </a:lnSpc>
            </a:pPr>
            <a:r>
              <a:rPr lang="en-US" sz="1500" b="1" dirty="0" smtClean="0">
                <a:latin typeface="Verdana" pitchFamily="34" charset="0"/>
                <a:cs typeface="Times New Roman" pitchFamily="18" charset="0"/>
              </a:rPr>
              <a:t>Satisficing</a:t>
            </a:r>
            <a:r>
              <a:rPr lang="en-US" sz="1500" dirty="0" smtClean="0">
                <a:latin typeface="Verdana" pitchFamily="34" charset="0"/>
                <a:cs typeface="Times New Roman" pitchFamily="18" charset="0"/>
              </a:rPr>
              <a:t>: Users avoid remembering and planning and make decisions on what is immediately perceptible – organize the page to make the most important content and links available immediately.</a:t>
            </a:r>
          </a:p>
          <a:p>
            <a:pPr algn="just" eaLnBrk="1" hangingPunct="1">
              <a:lnSpc>
                <a:spcPct val="120000"/>
              </a:lnSpc>
            </a:pPr>
            <a:r>
              <a:rPr lang="en-US" sz="1500" b="1" dirty="0" smtClean="0">
                <a:latin typeface="Verdana" pitchFamily="34" charset="0"/>
                <a:cs typeface="Times New Roman" pitchFamily="18" charset="0"/>
              </a:rPr>
              <a:t>Mental maps</a:t>
            </a:r>
            <a:r>
              <a:rPr lang="en-US" sz="1500" dirty="0" smtClean="0">
                <a:latin typeface="Verdana" pitchFamily="34" charset="0"/>
                <a:cs typeface="Times New Roman" pitchFamily="18" charset="0"/>
              </a:rPr>
              <a:t>: Users actively use the cues available to try to infer the structure of a website – organize the site simply so that users can easily conceptualize it. Design the navigation bar and site maps to reinforce this mental map.</a:t>
            </a:r>
          </a:p>
          <a:p>
            <a:pPr algn="just" eaLnBrk="1" hangingPunct="1">
              <a:lnSpc>
                <a:spcPct val="120000"/>
              </a:lnSpc>
            </a:pPr>
            <a:r>
              <a:rPr lang="en-US" sz="1500" b="1" dirty="0" smtClean="0">
                <a:latin typeface="Verdana" pitchFamily="34" charset="0"/>
                <a:cs typeface="Times New Roman" pitchFamily="18" charset="0"/>
              </a:rPr>
              <a:t>Route memorization</a:t>
            </a:r>
            <a:r>
              <a:rPr lang="en-US" sz="1500" dirty="0" smtClean="0">
                <a:latin typeface="Verdana" pitchFamily="34" charset="0"/>
                <a:cs typeface="Times New Roman" pitchFamily="18" charset="0"/>
              </a:rPr>
              <a:t>: When users find a path that works, they tend to remember and repeat it – make sure the most obvious solution is also efficient. Use distinctive landmarks and orientation cues to help people recognize where they have been before.</a:t>
            </a:r>
          </a:p>
          <a:p>
            <a:pPr algn="just" eaLnBrk="1" hangingPunct="1">
              <a:lnSpc>
                <a:spcPct val="120000"/>
              </a:lnSpc>
            </a:pPr>
            <a:r>
              <a:rPr lang="en-US" sz="1500" b="1" dirty="0" smtClean="0">
                <a:latin typeface="Verdana" pitchFamily="34" charset="0"/>
                <a:cs typeface="Times New Roman" pitchFamily="18" charset="0"/>
              </a:rPr>
              <a:t>Information foraging</a:t>
            </a:r>
            <a:r>
              <a:rPr lang="en-US" sz="1500" dirty="0" smtClean="0">
                <a:latin typeface="Verdana" pitchFamily="34" charset="0"/>
                <a:cs typeface="Times New Roman" pitchFamily="18" charset="0"/>
              </a:rPr>
              <a:t>: Users try to get as much as possible at one location – enable spontaneous discovery by providing context, structure and related topics.</a:t>
            </a:r>
          </a:p>
          <a:p>
            <a:pPr algn="just" eaLnBrk="1" hangingPunct="1">
              <a:lnSpc>
                <a:spcPct val="120000"/>
              </a:lnSpc>
            </a:pPr>
            <a:r>
              <a:rPr lang="en-US" sz="1500" b="1" dirty="0" smtClean="0">
                <a:latin typeface="Verdana" pitchFamily="34" charset="0"/>
                <a:cs typeface="Times New Roman" pitchFamily="18" charset="0"/>
              </a:rPr>
              <a:t>Information costs</a:t>
            </a:r>
            <a:r>
              <a:rPr lang="en-US" sz="1500" dirty="0" smtClean="0">
                <a:latin typeface="Verdana" pitchFamily="34" charset="0"/>
                <a:cs typeface="Times New Roman" pitchFamily="18" charset="0"/>
              </a:rPr>
              <a:t>: Users have limited knowledge and reasoning ability – minimize the mental costs of sense making, decision making, remembering and planning.</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457200" y="274638"/>
            <a:ext cx="8229600" cy="418058"/>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Navigation</a:t>
            </a:r>
          </a:p>
        </p:txBody>
      </p:sp>
      <p:sp>
        <p:nvSpPr>
          <p:cNvPr id="35842" name="Text Placeholder 2"/>
          <p:cNvSpPr>
            <a:spLocks noGrp="1"/>
          </p:cNvSpPr>
          <p:nvPr>
            <p:ph type="body" idx="1"/>
          </p:nvPr>
        </p:nvSpPr>
        <p:spPr>
          <a:xfrm>
            <a:off x="323528" y="692696"/>
            <a:ext cx="8496944" cy="4032448"/>
          </a:xfrm>
        </p:spPr>
        <p:txBody>
          <a:bodyPr/>
          <a:lstStyle/>
          <a:p>
            <a:pPr algn="just" eaLnBrk="1" hangingPunct="1">
              <a:lnSpc>
                <a:spcPct val="200000"/>
              </a:lnSpc>
            </a:pPr>
            <a:r>
              <a:rPr lang="en-US" sz="1500" dirty="0" smtClean="0">
                <a:latin typeface="Verdana" pitchFamily="34" charset="0"/>
                <a:cs typeface="Times New Roman" pitchFamily="18" charset="0"/>
              </a:rPr>
              <a:t>An essential feature of the navigation features of any website is to provide a </a:t>
            </a:r>
            <a:r>
              <a:rPr lang="en-US" sz="1500" b="1" dirty="0" smtClean="0">
                <a:latin typeface="Verdana" pitchFamily="34" charset="0"/>
                <a:cs typeface="Times New Roman" pitchFamily="18" charset="0"/>
              </a:rPr>
              <a:t>‘you are here’ sign</a:t>
            </a:r>
            <a:r>
              <a:rPr lang="en-US" sz="1500" dirty="0" smtClean="0">
                <a:latin typeface="Verdana" pitchFamily="34" charset="0"/>
                <a:cs typeface="Times New Roman" pitchFamily="18" charset="0"/>
              </a:rPr>
              <a:t>..</a:t>
            </a:r>
          </a:p>
          <a:p>
            <a:pPr algn="just" eaLnBrk="1" hangingPunct="1">
              <a:lnSpc>
                <a:spcPct val="200000"/>
              </a:lnSpc>
            </a:pPr>
            <a:r>
              <a:rPr lang="en-US" sz="1500" dirty="0" smtClean="0">
                <a:latin typeface="Verdana" pitchFamily="34" charset="0"/>
                <a:cs typeface="Times New Roman" pitchFamily="18" charset="0"/>
              </a:rPr>
              <a:t> A </a:t>
            </a:r>
            <a:r>
              <a:rPr lang="en-US" sz="1500" b="1" dirty="0" smtClean="0">
                <a:latin typeface="Verdana" pitchFamily="34" charset="0"/>
                <a:cs typeface="Times New Roman" pitchFamily="18" charset="0"/>
              </a:rPr>
              <a:t>site map </a:t>
            </a:r>
            <a:r>
              <a:rPr lang="en-US" sz="1500" dirty="0" smtClean="0">
                <a:latin typeface="Verdana" pitchFamily="34" charset="0"/>
                <a:cs typeface="Times New Roman" pitchFamily="18" charset="0"/>
              </a:rPr>
              <a:t>should be made available that can be called up when needed.</a:t>
            </a:r>
          </a:p>
          <a:p>
            <a:pPr algn="just" eaLnBrk="1" hangingPunct="1">
              <a:lnSpc>
                <a:spcPct val="200000"/>
              </a:lnSpc>
            </a:pPr>
            <a:r>
              <a:rPr lang="en-US" sz="1500" dirty="0" smtClean="0">
                <a:latin typeface="Verdana" pitchFamily="34" charset="0"/>
                <a:cs typeface="Times New Roman" pitchFamily="18" charset="0"/>
              </a:rPr>
              <a:t>Using </a:t>
            </a:r>
            <a:r>
              <a:rPr lang="en-US" sz="1500" b="1" dirty="0" smtClean="0">
                <a:latin typeface="Verdana" pitchFamily="34" charset="0"/>
                <a:cs typeface="Times New Roman" pitchFamily="18" charset="0"/>
              </a:rPr>
              <a:t>breadcrumbs</a:t>
            </a:r>
            <a:r>
              <a:rPr lang="en-US" sz="1500" dirty="0" smtClean="0">
                <a:latin typeface="Verdana" pitchFamily="34" charset="0"/>
                <a:cs typeface="Times New Roman" pitchFamily="18" charset="0"/>
              </a:rPr>
              <a:t> is a common way of showing people where they are.</a:t>
            </a:r>
          </a:p>
          <a:p>
            <a:pPr algn="just" eaLnBrk="1" hangingPunct="1">
              <a:lnSpc>
                <a:spcPct val="200000"/>
              </a:lnSpc>
            </a:pPr>
            <a:r>
              <a:rPr lang="en-US" sz="1500" b="1" dirty="0" smtClean="0">
                <a:latin typeface="Verdana" pitchFamily="34" charset="0"/>
                <a:cs typeface="Times New Roman" pitchFamily="18" charset="0"/>
              </a:rPr>
              <a:t>Navigation bars </a:t>
            </a:r>
            <a:r>
              <a:rPr lang="en-US" sz="1500" dirty="0" smtClean="0">
                <a:latin typeface="Verdana" pitchFamily="34" charset="0"/>
                <a:cs typeface="Times New Roman" pitchFamily="18" charset="0"/>
              </a:rPr>
              <a:t>– both local and global – are essential for supporting easy navigation around a site. </a:t>
            </a:r>
          </a:p>
          <a:p>
            <a:pPr algn="just" eaLnBrk="1" hangingPunct="1">
              <a:lnSpc>
                <a:spcPct val="200000"/>
              </a:lnSpc>
            </a:pPr>
            <a:r>
              <a:rPr lang="en-US" sz="1500" b="1" dirty="0" smtClean="0">
                <a:latin typeface="Verdana" pitchFamily="34" charset="0"/>
                <a:cs typeface="Times New Roman" pitchFamily="18" charset="0"/>
              </a:rPr>
              <a:t>Site maps </a:t>
            </a:r>
            <a:r>
              <a:rPr lang="en-US" sz="1500" b="1" dirty="0">
                <a:latin typeface="Verdana" pitchFamily="34" charset="0"/>
                <a:cs typeface="Times New Roman" pitchFamily="18" charset="0"/>
              </a:rPr>
              <a:t>&amp;</a:t>
            </a:r>
            <a:r>
              <a:rPr lang="en-US" sz="1500" b="1" dirty="0" smtClean="0">
                <a:latin typeface="Verdana" pitchFamily="34" charset="0"/>
                <a:cs typeface="Times New Roman" pitchFamily="18" charset="0"/>
              </a:rPr>
              <a:t> good feedback </a:t>
            </a:r>
            <a:r>
              <a:rPr lang="en-US" sz="1500" dirty="0" smtClean="0">
                <a:latin typeface="Verdana" pitchFamily="34" charset="0"/>
                <a:cs typeface="Times New Roman" pitchFamily="18" charset="0"/>
              </a:rPr>
              <a:t>on where people are in the structure will also help. </a:t>
            </a:r>
          </a:p>
          <a:p>
            <a:pPr algn="just" eaLnBrk="1" hangingPunct="1">
              <a:lnSpc>
                <a:spcPct val="200000"/>
              </a:lnSpc>
            </a:pPr>
            <a:r>
              <a:rPr lang="en-US" sz="1500" dirty="0" smtClean="0">
                <a:latin typeface="Verdana" pitchFamily="34" charset="0"/>
                <a:cs typeface="Times New Roman" pitchFamily="18" charset="0"/>
              </a:rPr>
              <a:t>Another alternative is to </a:t>
            </a:r>
            <a:r>
              <a:rPr lang="en-US" sz="1500" b="1" dirty="0" smtClean="0">
                <a:latin typeface="Verdana" pitchFamily="34" charset="0"/>
                <a:cs typeface="Times New Roman" pitchFamily="18" charset="0"/>
              </a:rPr>
              <a:t>provide a clear path</a:t>
            </a:r>
            <a:r>
              <a:rPr lang="en-US" sz="1500" dirty="0" smtClean="0">
                <a:latin typeface="Verdana" pitchFamily="34" charset="0"/>
                <a:cs typeface="Times New Roman" pitchFamily="18" charset="0"/>
              </a:rPr>
              <a:t> through a part of the site. </a:t>
            </a:r>
          </a:p>
        </p:txBody>
      </p:sp>
      <p:pic>
        <p:nvPicPr>
          <p:cNvPr id="1026" name="Picture 2" descr="Breadcrumbs In Web Design: Examples And Best Practices — Smashing Magazine"/>
          <p:cNvPicPr>
            <a:picLocks noChangeAspect="1" noChangeArrowheads="1"/>
          </p:cNvPicPr>
          <p:nvPr/>
        </p:nvPicPr>
        <p:blipFill rotWithShape="1">
          <a:blip r:embed="rId2">
            <a:extLst>
              <a:ext uri="{28A0092B-C50C-407E-A947-70E740481C1C}">
                <a14:useLocalDpi xmlns:a14="http://schemas.microsoft.com/office/drawing/2010/main" val="0"/>
              </a:ext>
            </a:extLst>
          </a:blip>
          <a:srcRect t="23727"/>
          <a:stretch/>
        </p:blipFill>
        <p:spPr bwMode="auto">
          <a:xfrm>
            <a:off x="1691680" y="4797152"/>
            <a:ext cx="5328592" cy="14550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Summary </a:t>
            </a:r>
          </a:p>
        </p:txBody>
      </p:sp>
      <p:sp>
        <p:nvSpPr>
          <p:cNvPr id="36866" name="Text Placeholder 2"/>
          <p:cNvSpPr>
            <a:spLocks noGrp="1"/>
          </p:cNvSpPr>
          <p:nvPr>
            <p:ph type="body" idx="1"/>
          </p:nvPr>
        </p:nvSpPr>
        <p:spPr/>
        <p:txBody>
          <a:bodyPr/>
          <a:lstStyle/>
          <a:p>
            <a:pPr algn="just" eaLnBrk="1" hangingPunct="1">
              <a:lnSpc>
                <a:spcPct val="150000"/>
              </a:lnSpc>
            </a:pPr>
            <a:r>
              <a:rPr lang="en-US" sz="1500" dirty="0" smtClean="0">
                <a:latin typeface="Verdana" pitchFamily="34" charset="0"/>
                <a:cs typeface="Times New Roman" pitchFamily="18" charset="0"/>
              </a:rPr>
              <a:t>As with the design of all interactive systems, the design of web sites understanding, </a:t>
            </a:r>
            <a:r>
              <a:rPr lang="en-US" sz="1500" dirty="0" err="1" smtClean="0">
                <a:latin typeface="Verdana" pitchFamily="34" charset="0"/>
                <a:cs typeface="Times New Roman" pitchFamily="18" charset="0"/>
              </a:rPr>
              <a:t>envisionment</a:t>
            </a:r>
            <a:r>
              <a:rPr lang="en-US" sz="1500" dirty="0" smtClean="0">
                <a:latin typeface="Verdana" pitchFamily="34" charset="0"/>
                <a:cs typeface="Times New Roman" pitchFamily="18" charset="0"/>
              </a:rPr>
              <a:t>, design and evaluation and a clear view of the purpose of the system.</a:t>
            </a:r>
          </a:p>
          <a:p>
            <a:pPr algn="just" eaLnBrk="1" hangingPunct="1">
              <a:lnSpc>
                <a:spcPct val="150000"/>
              </a:lnSpc>
            </a:pPr>
            <a:r>
              <a:rPr lang="en-US" sz="1500" dirty="0" smtClean="0">
                <a:latin typeface="Verdana" pitchFamily="34" charset="0"/>
                <a:cs typeface="Times New Roman" pitchFamily="18" charset="0"/>
              </a:rPr>
              <a:t>Web site design needs to follow sound design principles and will include the development of personas, scenarios and a clear design language.</a:t>
            </a:r>
          </a:p>
          <a:p>
            <a:pPr algn="just" eaLnBrk="1" hangingPunct="1">
              <a:lnSpc>
                <a:spcPct val="150000"/>
              </a:lnSpc>
            </a:pPr>
            <a:r>
              <a:rPr lang="en-US" sz="1500" dirty="0" smtClean="0">
                <a:latin typeface="Verdana" pitchFamily="34" charset="0"/>
                <a:cs typeface="Times New Roman" pitchFamily="18" charset="0"/>
              </a:rPr>
              <a:t>Information architecture is concerned with understanding the structure and organization of the content of the site</a:t>
            </a:r>
          </a:p>
          <a:p>
            <a:pPr algn="just" eaLnBrk="1" hangingPunct="1">
              <a:lnSpc>
                <a:spcPct val="150000"/>
              </a:lnSpc>
            </a:pPr>
            <a:r>
              <a:rPr lang="en-US" sz="1500" dirty="0" smtClean="0">
                <a:latin typeface="Verdana" pitchFamily="34" charset="0"/>
                <a:cs typeface="Times New Roman" pitchFamily="18" charset="0"/>
              </a:rPr>
              <a:t>Navigation concerns how people move around the site and how they get to know what is on the site and where it is.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7305</TotalTime>
  <Words>2590</Words>
  <Application>Microsoft Office PowerPoint</Application>
  <PresentationFormat>On-screen Show (4:3)</PresentationFormat>
  <Paragraphs>118</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ヒラギノ角ゴ Pro W3</vt:lpstr>
      <vt:lpstr>Arial</vt:lpstr>
      <vt:lpstr>Calibri</vt:lpstr>
      <vt:lpstr>Times New Roman</vt:lpstr>
      <vt:lpstr>Verdana</vt:lpstr>
      <vt:lpstr>Wingdings</vt:lpstr>
      <vt:lpstr>Office Theme</vt:lpstr>
      <vt:lpstr>Designing Websites  Website and app development Information architecture of apps and website Navigation design for apps and websites</vt:lpstr>
      <vt:lpstr>Introduction</vt:lpstr>
      <vt:lpstr>Design and Development</vt:lpstr>
      <vt:lpstr>Website Development</vt:lpstr>
      <vt:lpstr>Navigation</vt:lpstr>
      <vt:lpstr>Design principles </vt:lpstr>
      <vt:lpstr>Design principles </vt:lpstr>
      <vt:lpstr>5 Planes of web site design</vt:lpstr>
      <vt:lpstr>Web elements</vt:lpstr>
      <vt:lpstr>Skeleton plane </vt:lpstr>
      <vt:lpstr>Visual design </vt:lpstr>
      <vt:lpstr>information architecture</vt:lpstr>
      <vt:lpstr>Organizational structures</vt:lpstr>
      <vt:lpstr>Metadata</vt:lpstr>
      <vt:lpstr>Navigation design for websites</vt:lpstr>
      <vt:lpstr>Navigation design for websites</vt:lpstr>
      <vt:lpstr>How people navigate</vt:lpstr>
      <vt:lpstr>Navigation</vt:lpstr>
      <vt:lpstr>Summary </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Web sites</dc:title>
  <dc:creator>david benyon</dc:creator>
  <cp:lastModifiedBy>SANA</cp:lastModifiedBy>
  <cp:revision>90</cp:revision>
  <dcterms:created xsi:type="dcterms:W3CDTF">2010-08-16T13:32:20Z</dcterms:created>
  <dcterms:modified xsi:type="dcterms:W3CDTF">2025-05-14T17:00:18Z</dcterms:modified>
</cp:coreProperties>
</file>