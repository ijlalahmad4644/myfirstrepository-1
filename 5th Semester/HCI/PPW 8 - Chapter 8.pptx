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9"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5" r:id="rId38"/>
    <p:sldId id="296" r:id="rId39"/>
    <p:sldId id="297" r:id="rId40"/>
    <p:sldId id="298" r:id="rId41"/>
    <p:sldId id="300" r:id="rId42"/>
    <p:sldId id="301" r:id="rId43"/>
    <p:sldId id="302" r:id="rId44"/>
    <p:sldId id="303" r:id="rId45"/>
    <p:sldId id="304" r:id="rId46"/>
    <p:sldId id="305" r:id="rId47"/>
    <p:sldId id="307" r:id="rId4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2" autoAdjust="0"/>
    <p:restoredTop sz="94343" autoAdjust="0"/>
  </p:normalViewPr>
  <p:slideViewPr>
    <p:cSldViewPr snapToObjects="1">
      <p:cViewPr>
        <p:scale>
          <a:sx n="69" d="100"/>
          <a:sy n="69" d="100"/>
        </p:scale>
        <p:origin x="774" y="66"/>
      </p:cViewPr>
      <p:guideLst>
        <p:guide orient="horz" pos="2160"/>
        <p:guide pos="2880"/>
      </p:guideLst>
    </p:cSldViewPr>
  </p:slideViewPr>
  <p:outlineViewPr>
    <p:cViewPr>
      <p:scale>
        <a:sx n="33" d="100"/>
        <a:sy n="33" d="100"/>
      </p:scale>
      <p:origin x="0" y="7032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83AF6E41-3AF8-4A7A-B3A0-43574C73C7D6}"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477BA5F-C5DE-4BAA-A41D-F879E81DCEC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25A862-23C9-467A-8E69-267041D5407F}"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9E857E0-A4B9-4C2B-B9D7-F4D59A78EBF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4AA9C48-191C-4578-B0B8-F2A9BE11C71A}"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AC5643-A835-4C35-A181-7774EE78663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2833A1C-DE2F-4454-9645-8F147BD893A5}" type="datetimeFigureOut">
              <a:rPr lang="en-US"/>
              <a:pPr>
                <a:defRPr/>
              </a:pPr>
              <a:t>10/25/2024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37042C-660F-4017-84A8-0F7CBE62FBE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832349A-B12B-4B33-81CD-A0F9EC77FBFF}" type="datetimeFigureOut">
              <a:rPr lang="en-US"/>
              <a:pPr>
                <a:defRPr/>
              </a:pPr>
              <a:t>10/25/2024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57D907D-5378-4802-BE48-653D99C9117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FE99412-303C-45D6-8F32-BDA8A29EE9DC}" type="datetimeFigureOut">
              <a:rPr lang="en-US"/>
              <a:pPr>
                <a:defRPr/>
              </a:pPr>
              <a:t>10/25/2024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6044C3F-886C-4FD5-BAC2-0C48870889A8}"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63D3EE1-CBA5-4B8F-91C7-128044770057}" type="datetimeFigureOut">
              <a:rPr lang="en-US"/>
              <a:pPr>
                <a:defRPr/>
              </a:pPr>
              <a:t>10/25/2024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E61A766-9395-408A-9FD5-67FDDDC1301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1BF66F8-05D9-444F-9351-A0882B33CFAB}" type="datetimeFigureOut">
              <a:rPr lang="en-US"/>
              <a:pPr>
                <a:defRPr/>
              </a:pPr>
              <a:t>10/25/2024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F3A736-3342-469D-AAF9-D6C073C7A01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D0D933C-0C0D-40D3-806C-7B9A7036DD69}" type="datetimeFigureOut">
              <a:rPr lang="en-US"/>
              <a:pPr>
                <a:defRPr/>
              </a:pPr>
              <a:t>10/25/2024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AFBB798-40AF-4324-AB12-958C81574AE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561EBD0-E34D-4D49-82E3-CD68A32465BB}"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5151FF9-1356-4896-BCB5-6925A87699D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EF79948-A99D-45D1-A7AF-26CE072634E3}"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9CCA912-B51E-4466-AE56-E2E861F2BF9C}"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A83D564-AD40-4CF4-877E-A23A5A5E8D0A}" type="datetimeFigureOut">
              <a:rPr lang="en-US"/>
              <a:pPr>
                <a:defRPr/>
              </a:pPr>
              <a:t>10/25/2024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D686ACE-4EB3-4CAD-904E-8F14E7AE73A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497D5BE-3DFA-4652-BFE4-3DC3E8852E41}" type="datetimeFigureOut">
              <a:rPr lang="en-US"/>
              <a:pPr>
                <a:defRPr/>
              </a:pPr>
              <a:t>10/25/2024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6C28407B-B9AF-4FCB-B46F-21258E3F12E3}"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3"/>
          <p:cNvSpPr>
            <a:spLocks noGrp="1"/>
          </p:cNvSpPr>
          <p:nvPr>
            <p:ph type="ctrTitle"/>
          </p:nvPr>
        </p:nvSpPr>
        <p:spPr>
          <a:xfrm>
            <a:off x="654928" y="1412776"/>
            <a:ext cx="7772400" cy="4104456"/>
          </a:xfrm>
        </p:spPr>
        <p:txBody>
          <a:bodyPr/>
          <a:lstStyle/>
          <a:p>
            <a:pPr eaLnBrk="1" hangingPunct="1">
              <a:lnSpc>
                <a:spcPct val="150000"/>
              </a:lnSpc>
            </a:pPr>
            <a:r>
              <a:rPr lang="en-US" sz="2000" b="1" dirty="0" smtClean="0">
                <a:latin typeface="Verdana" pitchFamily="34" charset="0"/>
              </a:rPr>
              <a:t>Envisionment</a:t>
            </a:r>
            <a:br>
              <a:rPr lang="en-US" sz="2000" b="1" dirty="0" smtClean="0">
                <a:latin typeface="Verdana" pitchFamily="34" charset="0"/>
              </a:rPr>
            </a:br>
            <a:r>
              <a:rPr lang="en-US" sz="1600" dirty="0">
                <a:latin typeface="Verdana" pitchFamily="34" charset="0"/>
              </a:rPr>
              <a:t/>
            </a:r>
            <a:br>
              <a:rPr lang="en-US" sz="1600" dirty="0">
                <a:latin typeface="Verdana" pitchFamily="34" charset="0"/>
              </a:rPr>
            </a:br>
            <a:r>
              <a:rPr lang="en-US" sz="1600" dirty="0" smtClean="0">
                <a:latin typeface="Verdana" pitchFamily="34" charset="0"/>
              </a:rPr>
              <a:t>Finding suitable representations</a:t>
            </a:r>
            <a:r>
              <a:rPr lang="en-US" sz="1600" dirty="0">
                <a:latin typeface="Verdana" pitchFamily="34" charset="0"/>
              </a:rPr>
              <a:t/>
            </a:r>
            <a:br>
              <a:rPr lang="en-US" sz="1600" dirty="0">
                <a:latin typeface="Verdana" pitchFamily="34" charset="0"/>
              </a:rPr>
            </a:br>
            <a:r>
              <a:rPr lang="en-US" sz="1600" dirty="0" smtClean="0">
                <a:latin typeface="Verdana" pitchFamily="34" charset="0"/>
              </a:rPr>
              <a:t>Sketching </a:t>
            </a:r>
            <a:r>
              <a:rPr lang="en-US" sz="1600" dirty="0">
                <a:latin typeface="Verdana" pitchFamily="34" charset="0"/>
              </a:rPr>
              <a:t>for </a:t>
            </a:r>
            <a:r>
              <a:rPr lang="en-US" sz="1600" dirty="0" smtClean="0">
                <a:latin typeface="Verdana" pitchFamily="34" charset="0"/>
              </a:rPr>
              <a:t>ideation</a:t>
            </a:r>
            <a:r>
              <a:rPr lang="en-US" sz="1600" dirty="0">
                <a:latin typeface="Verdana" pitchFamily="34" charset="0"/>
              </a:rPr>
              <a:t/>
            </a:r>
            <a:br>
              <a:rPr lang="en-US" sz="1600" dirty="0">
                <a:latin typeface="Verdana" pitchFamily="34" charset="0"/>
              </a:rPr>
            </a:br>
            <a:r>
              <a:rPr lang="en-US" sz="1600" dirty="0" smtClean="0">
                <a:latin typeface="Verdana" pitchFamily="34" charset="0"/>
              </a:rPr>
              <a:t>Visualizing </a:t>
            </a:r>
            <a:r>
              <a:rPr lang="en-US" sz="1600" dirty="0">
                <a:latin typeface="Verdana" pitchFamily="34" charset="0"/>
              </a:rPr>
              <a:t>look and </a:t>
            </a:r>
            <a:r>
              <a:rPr lang="en-US" sz="1600" dirty="0" smtClean="0">
                <a:latin typeface="Verdana" pitchFamily="34" charset="0"/>
              </a:rPr>
              <a:t>feel</a:t>
            </a:r>
            <a:br>
              <a:rPr lang="en-US" sz="1600" dirty="0" smtClean="0">
                <a:latin typeface="Verdana" pitchFamily="34" charset="0"/>
              </a:rPr>
            </a:br>
            <a:r>
              <a:rPr lang="en-US" sz="1600" dirty="0" smtClean="0">
                <a:latin typeface="Verdana" pitchFamily="34" charset="0"/>
              </a:rPr>
              <a:t>Mapping </a:t>
            </a:r>
            <a:r>
              <a:rPr lang="en-US" sz="1600" dirty="0">
                <a:latin typeface="Verdana" pitchFamily="34" charset="0"/>
              </a:rPr>
              <a:t>the </a:t>
            </a:r>
            <a:r>
              <a:rPr lang="en-US" sz="1600" dirty="0" smtClean="0">
                <a:latin typeface="Verdana" pitchFamily="34" charset="0"/>
              </a:rPr>
              <a:t>interaction</a:t>
            </a:r>
            <a:br>
              <a:rPr lang="en-US" sz="1600" dirty="0" smtClean="0">
                <a:latin typeface="Verdana" pitchFamily="34" charset="0"/>
              </a:rPr>
            </a:br>
            <a:r>
              <a:rPr lang="en-US" sz="1600" dirty="0" smtClean="0">
                <a:latin typeface="Verdana" pitchFamily="34" charset="0"/>
              </a:rPr>
              <a:t/>
            </a:r>
            <a:br>
              <a:rPr lang="en-US" sz="1600" dirty="0" smtClean="0">
                <a:latin typeface="Verdana" pitchFamily="34" charset="0"/>
              </a:rPr>
            </a:br>
            <a:r>
              <a:rPr lang="en-US" sz="1600" dirty="0" smtClean="0">
                <a:latin typeface="Verdana" pitchFamily="34" charset="0"/>
              </a:rPr>
              <a:t>Wireframes</a:t>
            </a:r>
            <a:r>
              <a:rPr lang="en-US" sz="1600" dirty="0">
                <a:latin typeface="Verdana" pitchFamily="34" charset="0"/>
              </a:rPr>
              <a:t/>
            </a:r>
            <a:br>
              <a:rPr lang="en-US" sz="1600" dirty="0">
                <a:latin typeface="Verdana" pitchFamily="34" charset="0"/>
              </a:rPr>
            </a:br>
            <a:r>
              <a:rPr lang="en-US" sz="1600" dirty="0" smtClean="0">
                <a:latin typeface="Verdana" pitchFamily="34" charset="0"/>
              </a:rPr>
              <a:t>Prototypes</a:t>
            </a:r>
            <a:r>
              <a:rPr lang="en-US" sz="1600" dirty="0">
                <a:latin typeface="Verdana" pitchFamily="34" charset="0"/>
              </a:rPr>
              <a:t/>
            </a:r>
            <a:br>
              <a:rPr lang="en-US" sz="1600" dirty="0">
                <a:latin typeface="Verdana" pitchFamily="34" charset="0"/>
              </a:rPr>
            </a:br>
            <a:r>
              <a:rPr lang="en-US" sz="1600" dirty="0" smtClean="0">
                <a:latin typeface="Verdana" pitchFamily="34" charset="0"/>
              </a:rPr>
              <a:t>Envisionment </a:t>
            </a:r>
            <a:r>
              <a:rPr lang="en-US" sz="1600" dirty="0">
                <a:latin typeface="Verdana" pitchFamily="34" charset="0"/>
              </a:rPr>
              <a:t>in practice</a:t>
            </a:r>
            <a:endParaRPr lang="en-US" sz="1600" dirty="0" smtClean="0">
              <a:latin typeface="Verdan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457200" y="274639"/>
            <a:ext cx="8229600" cy="634082"/>
          </a:xfrm>
        </p:spPr>
        <p:txBody>
          <a:bodyPr/>
          <a:lstStyle/>
          <a:p>
            <a:pPr eaLnBrk="1" hangingPunct="1">
              <a:lnSpc>
                <a:spcPct val="120000"/>
              </a:lnSpc>
            </a:pPr>
            <a:r>
              <a:rPr lang="en-US" sz="1700" b="1" dirty="0" smtClean="0">
                <a:latin typeface="Verdana" pitchFamily="34" charset="0"/>
                <a:ea typeface="Bodoni SvtyTwo OS ITC TT-Book"/>
                <a:cs typeface="Bodoni SvtyTwo OS ITC TT-Book"/>
              </a:rPr>
              <a:t>Envisionment</a:t>
            </a:r>
          </a:p>
        </p:txBody>
      </p:sp>
      <p:sp>
        <p:nvSpPr>
          <p:cNvPr id="15362" name="Text Placeholder 2"/>
          <p:cNvSpPr>
            <a:spLocks noGrp="1"/>
          </p:cNvSpPr>
          <p:nvPr>
            <p:ph type="body" idx="1"/>
          </p:nvPr>
        </p:nvSpPr>
        <p:spPr>
          <a:xfrm>
            <a:off x="385192" y="1052736"/>
            <a:ext cx="8363272" cy="5102027"/>
          </a:xfrm>
        </p:spPr>
        <p:txBody>
          <a:bodyPr/>
          <a:lstStyle/>
          <a:p>
            <a:pPr algn="just" eaLnBrk="1" hangingPunct="1">
              <a:lnSpc>
                <a:spcPct val="150000"/>
              </a:lnSpc>
            </a:pPr>
            <a:r>
              <a:rPr lang="en-US" sz="1500" b="1" dirty="0" smtClean="0">
                <a:latin typeface="Verdana" pitchFamily="34" charset="0"/>
                <a:ea typeface="Bodoni SvtyTwo OS ITC TT-Book"/>
                <a:cs typeface="Bodoni SvtyTwo OS ITC TT-Book"/>
              </a:rPr>
              <a:t>Envisionment</a:t>
            </a:r>
            <a:r>
              <a:rPr lang="en-US" sz="1500" dirty="0" smtClean="0">
                <a:latin typeface="Verdana" pitchFamily="34" charset="0"/>
                <a:ea typeface="Bodoni SvtyTwo OS ITC TT-Book"/>
                <a:cs typeface="Bodoni SvtyTwo OS ITC TT-Book"/>
              </a:rPr>
              <a:t> is concerned with </a:t>
            </a:r>
            <a:r>
              <a:rPr lang="en-US" sz="1500" b="1" dirty="0" smtClean="0">
                <a:latin typeface="Verdana" pitchFamily="34" charset="0"/>
                <a:ea typeface="Bodoni SvtyTwo OS ITC TT-Book"/>
                <a:cs typeface="Bodoni SvtyTwo OS ITC TT-Book"/>
              </a:rPr>
              <a:t>making ideas visible; with externalizing (expressing) thoughts</a:t>
            </a:r>
            <a:r>
              <a:rPr lang="en-US" sz="1500" dirty="0" smtClean="0">
                <a:latin typeface="Verdana" pitchFamily="34" charset="0"/>
                <a:ea typeface="Bodoni SvtyTwo OS ITC TT-Book"/>
                <a:cs typeface="Bodoni SvtyTwo OS ITC TT-Book"/>
              </a:rPr>
              <a:t>.</a:t>
            </a:r>
          </a:p>
          <a:p>
            <a:pPr algn="just" eaLnBrk="1" hangingPunct="1">
              <a:lnSpc>
                <a:spcPct val="150000"/>
              </a:lnSpc>
            </a:pPr>
            <a:r>
              <a:rPr lang="en-US" sz="1500" b="1" dirty="0" smtClean="0">
                <a:latin typeface="Verdana" pitchFamily="34" charset="0"/>
                <a:ea typeface="Bodoni SvtyTwo OS ITC TT-Book"/>
                <a:cs typeface="Bodoni SvtyTwo OS ITC TT-Book"/>
              </a:rPr>
              <a:t>Externalization can take all manner of forms: </a:t>
            </a:r>
            <a:r>
              <a:rPr lang="en-US" sz="1500" dirty="0" smtClean="0">
                <a:latin typeface="Verdana" pitchFamily="34" charset="0"/>
                <a:ea typeface="Bodoni SvtyTwo OS ITC TT-Book"/>
                <a:cs typeface="Bodoni SvtyTwo OS ITC TT-Book"/>
              </a:rPr>
              <a:t>stories and scenarios, presentations, sketches, formal models, software prototypes, cardboard models and so on. </a:t>
            </a:r>
          </a:p>
          <a:p>
            <a:pPr algn="just" eaLnBrk="1" hangingPunct="1">
              <a:lnSpc>
                <a:spcPct val="150000"/>
              </a:lnSpc>
            </a:pPr>
            <a:r>
              <a:rPr lang="en-US" sz="1500" dirty="0" smtClean="0">
                <a:latin typeface="Verdana" pitchFamily="34" charset="0"/>
                <a:ea typeface="Bodoni SvtyTwo OS ITC TT-Book"/>
                <a:cs typeface="Bodoni SvtyTwo OS ITC TT-Book"/>
              </a:rPr>
              <a:t>Different forms of representation will be more or less useful at different stages in the design process and more or less effective for doing different things. </a:t>
            </a:r>
          </a:p>
          <a:p>
            <a:pPr algn="just" eaLnBrk="1" hangingPunct="1">
              <a:lnSpc>
                <a:spcPct val="150000"/>
              </a:lnSpc>
            </a:pPr>
            <a:r>
              <a:rPr lang="en-US" sz="1500" dirty="0" smtClean="0">
                <a:latin typeface="Verdana" pitchFamily="34" charset="0"/>
                <a:ea typeface="Bodoni SvtyTwo OS ITC TT-Book"/>
                <a:cs typeface="Bodoni SvtyTwo OS ITC TT-Book"/>
              </a:rPr>
              <a:t>A formal presentation of a design concept for a potential client will look quite different from a sketch of a screen layout intended to explore what something will look like. </a:t>
            </a:r>
          </a:p>
          <a:p>
            <a:pPr algn="just" eaLnBrk="1" hangingPunct="1">
              <a:lnSpc>
                <a:spcPct val="150000"/>
              </a:lnSpc>
            </a:pPr>
            <a:r>
              <a:rPr lang="en-US" sz="1500" b="1" dirty="0" smtClean="0">
                <a:latin typeface="Verdana" pitchFamily="34" charset="0"/>
                <a:ea typeface="Bodoni SvtyTwo OS ITC TT-Book"/>
                <a:cs typeface="Bodoni SvtyTwo OS ITC TT-Book"/>
              </a:rPr>
              <a:t>Envisionment is needed to represent design work to ourselves </a:t>
            </a:r>
            <a:r>
              <a:rPr lang="en-US" sz="1500" b="1" dirty="0">
                <a:latin typeface="Verdana" pitchFamily="34" charset="0"/>
                <a:ea typeface="Bodoni SvtyTwo OS ITC TT-Book"/>
                <a:cs typeface="Bodoni SvtyTwo OS ITC TT-Book"/>
              </a:rPr>
              <a:t>&amp;</a:t>
            </a:r>
            <a:r>
              <a:rPr lang="en-US" sz="1500" b="1" dirty="0" smtClean="0">
                <a:latin typeface="Verdana" pitchFamily="34" charset="0"/>
                <a:ea typeface="Bodoni SvtyTwo OS ITC TT-Book"/>
                <a:cs typeface="Bodoni SvtyTwo OS ITC TT-Book"/>
              </a:rPr>
              <a:t> to others.</a:t>
            </a:r>
            <a:r>
              <a:rPr lang="en-US" sz="1500" dirty="0" smtClean="0">
                <a:latin typeface="Verdana" pitchFamily="34" charset="0"/>
                <a:ea typeface="Bodoni SvtyTwo OS ITC TT-Book"/>
                <a:cs typeface="Bodoni SvtyTwo OS ITC TT-Book"/>
              </a:rPr>
              <a:t> </a:t>
            </a:r>
          </a:p>
          <a:p>
            <a:pPr algn="just" eaLnBrk="1" hangingPunct="1">
              <a:lnSpc>
                <a:spcPct val="150000"/>
              </a:lnSpc>
            </a:pPr>
            <a:r>
              <a:rPr lang="en-US" sz="1500" dirty="0" smtClean="0">
                <a:latin typeface="Verdana" pitchFamily="34" charset="0"/>
                <a:ea typeface="Bodoni SvtyTwo OS ITC TT-Book"/>
                <a:cs typeface="Bodoni SvtyTwo OS ITC TT-Book"/>
              </a:rPr>
              <a:t>It </a:t>
            </a:r>
            <a:r>
              <a:rPr lang="en-US" sz="1500" b="1" dirty="0" smtClean="0">
                <a:latin typeface="Verdana" pitchFamily="34" charset="0"/>
                <a:ea typeface="Bodoni SvtyTwo OS ITC TT-Book"/>
                <a:cs typeface="Bodoni SvtyTwo OS ITC TT-Book"/>
              </a:rPr>
              <a:t>occurs throughout development </a:t>
            </a:r>
            <a:r>
              <a:rPr lang="en-US" sz="1500" dirty="0" smtClean="0">
                <a:latin typeface="Verdana" pitchFamily="34" charset="0"/>
                <a:ea typeface="Bodoni SvtyTwo OS ITC TT-Book"/>
                <a:cs typeface="Bodoni SvtyTwo OS ITC TT-Book"/>
              </a:rPr>
              <a:t>as the designer </a:t>
            </a:r>
            <a:r>
              <a:rPr lang="en-US" sz="1500" b="1" dirty="0" smtClean="0">
                <a:latin typeface="Verdana" pitchFamily="34" charset="0"/>
                <a:ea typeface="Bodoni SvtyTwo OS ITC TT-Book"/>
                <a:cs typeface="Bodoni SvtyTwo OS ITC TT-Book"/>
              </a:rPr>
              <a:t>generates multiple design solutions and shapes them down to a final product</a:t>
            </a:r>
            <a:r>
              <a:rPr lang="en-US" sz="1500" dirty="0" smtClean="0">
                <a:latin typeface="Verdana" pitchFamily="34" charset="0"/>
                <a:ea typeface="Bodoni SvtyTwo OS ITC TT-Book"/>
                <a:cs typeface="Bodoni SvtyTwo OS ITC TT-Book"/>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lnSpc>
                <a:spcPct val="120000"/>
              </a:lnSpc>
            </a:pPr>
            <a:r>
              <a:rPr lang="en-US" sz="2000" b="1" dirty="0" smtClean="0">
                <a:solidFill>
                  <a:srgbClr val="0070C0"/>
                </a:solidFill>
                <a:latin typeface="Verdana" pitchFamily="34" charset="0"/>
                <a:ea typeface="Bodoni SvtyTwo OS ITC TT-Book"/>
                <a:cs typeface="Bodoni SvtyTwo OS ITC TT-Book"/>
              </a:rPr>
              <a:t>Finding suitable representations</a:t>
            </a:r>
          </a:p>
        </p:txBody>
      </p:sp>
      <p:sp>
        <p:nvSpPr>
          <p:cNvPr id="17410" name="Text Placeholder 2"/>
          <p:cNvSpPr>
            <a:spLocks noGrp="1"/>
          </p:cNvSpPr>
          <p:nvPr>
            <p:ph type="body" idx="1"/>
          </p:nvPr>
        </p:nvSpPr>
        <p:spPr>
          <a:xfrm>
            <a:off x="457200" y="1484784"/>
            <a:ext cx="8229600" cy="4525963"/>
          </a:xfrm>
        </p:spPr>
        <p:txBody>
          <a:bodyPr/>
          <a:lstStyle/>
          <a:p>
            <a:pPr algn="just" eaLnBrk="1" hangingPunct="1">
              <a:lnSpc>
                <a:spcPct val="200000"/>
              </a:lnSpc>
            </a:pPr>
            <a:r>
              <a:rPr lang="en-US" sz="1500" dirty="0" smtClean="0">
                <a:latin typeface="Verdana" pitchFamily="34" charset="0"/>
                <a:ea typeface="Bodoni SvtyTwo OS ITC TT-Book"/>
                <a:cs typeface="Bodoni SvtyTwo OS ITC TT-Book"/>
              </a:rPr>
              <a:t>Envisionment is fundamental to effective human-</a:t>
            </a:r>
            <a:r>
              <a:rPr lang="en-US" sz="1500" dirty="0" err="1" smtClean="0">
                <a:latin typeface="Verdana" pitchFamily="34" charset="0"/>
                <a:ea typeface="Bodoni SvtyTwo OS ITC TT-Book"/>
                <a:cs typeface="Bodoni SvtyTwo OS ITC TT-Book"/>
              </a:rPr>
              <a:t>centred</a:t>
            </a:r>
            <a:r>
              <a:rPr lang="en-US" sz="1500" dirty="0" smtClean="0">
                <a:latin typeface="Verdana" pitchFamily="34" charset="0"/>
                <a:ea typeface="Bodoni SvtyTwo OS ITC TT-Book"/>
                <a:cs typeface="Bodoni SvtyTwo OS ITC TT-Book"/>
              </a:rPr>
              <a:t> design, to </a:t>
            </a:r>
            <a:r>
              <a:rPr lang="en-US" sz="1500" b="1" dirty="0" smtClean="0">
                <a:latin typeface="Verdana" pitchFamily="34" charset="0"/>
                <a:ea typeface="Bodoni SvtyTwo OS ITC TT-Book"/>
                <a:cs typeface="Bodoni SvtyTwo OS ITC TT-Book"/>
              </a:rPr>
              <a:t>enable designers to see things from other people’s perspectives and to explore design concepts and ideas with others</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Different representations of design ideas are useful at different stages for different people. </a:t>
            </a:r>
          </a:p>
          <a:p>
            <a:pPr algn="just" eaLnBrk="1" hangingPunct="1">
              <a:lnSpc>
                <a:spcPct val="200000"/>
              </a:lnSpc>
            </a:pPr>
            <a:r>
              <a:rPr lang="en-US" sz="1500" dirty="0" smtClean="0">
                <a:latin typeface="Verdana" pitchFamily="34" charset="0"/>
                <a:ea typeface="Bodoni SvtyTwo OS ITC TT-Book"/>
                <a:cs typeface="Bodoni SvtyTwo OS ITC TT-Book"/>
              </a:rPr>
              <a:t>They </a:t>
            </a:r>
            <a:r>
              <a:rPr lang="en-US" sz="1500" b="1" dirty="0" smtClean="0">
                <a:latin typeface="Verdana" pitchFamily="34" charset="0"/>
                <a:ea typeface="Bodoni SvtyTwo OS ITC TT-Book"/>
                <a:cs typeface="Bodoni SvtyTwo OS ITC TT-Book"/>
              </a:rPr>
              <a:t>help with generation, communication and evaluation of ideas</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A sketch ‘on the back of an envelope’ might be useful for generating an idea and expressing it to a colleague – but it is not so good for giving to a client.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457200" y="274638"/>
            <a:ext cx="8229600" cy="490066"/>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Techniques</a:t>
            </a:r>
          </a:p>
        </p:txBody>
      </p:sp>
      <p:sp>
        <p:nvSpPr>
          <p:cNvPr id="18434" name="Text Placeholder 2"/>
          <p:cNvSpPr>
            <a:spLocks noGrp="1"/>
          </p:cNvSpPr>
          <p:nvPr>
            <p:ph type="body" idx="1"/>
          </p:nvPr>
        </p:nvSpPr>
        <p:spPr>
          <a:xfrm>
            <a:off x="323528" y="1024136"/>
            <a:ext cx="8496944" cy="5357192"/>
          </a:xfrm>
        </p:spPr>
        <p:txBody>
          <a:bodyPr/>
          <a:lstStyle/>
          <a:p>
            <a:pPr algn="just" eaLnBrk="1" hangingPunct="1">
              <a:lnSpc>
                <a:spcPct val="150000"/>
              </a:lnSpc>
            </a:pPr>
            <a:r>
              <a:rPr lang="en-US" sz="1400" dirty="0" smtClean="0">
                <a:latin typeface="Verdana" pitchFamily="34" charset="0"/>
                <a:ea typeface="Bodoni SvtyTwo OS ITC TT-Book"/>
                <a:cs typeface="Bodoni SvtyTwo OS ITC TT-Book"/>
              </a:rPr>
              <a:t>There are many techniques that can be used to help develop an understanding of the design problem and to envision possible solutions. </a:t>
            </a:r>
          </a:p>
          <a:p>
            <a:pPr algn="just" eaLnBrk="1" hangingPunct="1">
              <a:lnSpc>
                <a:spcPct val="150000"/>
              </a:lnSpc>
            </a:pPr>
            <a:r>
              <a:rPr lang="en-US" sz="1400" b="1" dirty="0" smtClean="0">
                <a:latin typeface="Verdana" pitchFamily="34" charset="0"/>
                <a:ea typeface="Bodoni SvtyTwo OS ITC TT-Book"/>
                <a:cs typeface="Bodoni SvtyTwo OS ITC TT-Book"/>
              </a:rPr>
              <a:t>None of these techniques in themselves will lead to the perfect design</a:t>
            </a:r>
            <a:r>
              <a:rPr lang="en-US" sz="1400" dirty="0" smtClean="0">
                <a:latin typeface="Verdana" pitchFamily="34" charset="0"/>
                <a:ea typeface="Bodoni SvtyTwo OS ITC TT-Book"/>
                <a:cs typeface="Bodoni SvtyTwo OS ITC TT-Book"/>
              </a:rPr>
              <a:t>, but they will all </a:t>
            </a:r>
            <a:r>
              <a:rPr lang="en-US" sz="1400" b="1" dirty="0" smtClean="0">
                <a:latin typeface="Verdana" pitchFamily="34" charset="0"/>
                <a:ea typeface="Bodoni SvtyTwo OS ITC TT-Book"/>
                <a:cs typeface="Bodoni SvtyTwo OS ITC TT-Book"/>
              </a:rPr>
              <a:t>generate some kind of document or representation that can be used in the process of communicating with clients, customers and colleagues</a:t>
            </a:r>
            <a:r>
              <a:rPr lang="en-US" sz="1400" dirty="0" smtClean="0">
                <a:latin typeface="Verdana" pitchFamily="34" charset="0"/>
                <a:ea typeface="Bodoni SvtyTwo OS ITC TT-Book"/>
                <a:cs typeface="Bodoni SvtyTwo OS ITC TT-Book"/>
              </a:rPr>
              <a:t>. </a:t>
            </a:r>
          </a:p>
          <a:p>
            <a:pPr algn="just" eaLnBrk="1" hangingPunct="1">
              <a:lnSpc>
                <a:spcPct val="150000"/>
              </a:lnSpc>
            </a:pPr>
            <a:r>
              <a:rPr lang="en-US" sz="1400" dirty="0" smtClean="0">
                <a:latin typeface="Verdana" pitchFamily="34" charset="0"/>
                <a:ea typeface="Bodoni SvtyTwo OS ITC TT-Book"/>
                <a:cs typeface="Bodoni SvtyTwo OS ITC TT-Book"/>
              </a:rPr>
              <a:t>It is </a:t>
            </a:r>
            <a:r>
              <a:rPr lang="en-US" sz="1400" b="1" dirty="0" smtClean="0">
                <a:latin typeface="Verdana" pitchFamily="34" charset="0"/>
                <a:ea typeface="Bodoni SvtyTwo OS ITC TT-Book"/>
                <a:cs typeface="Bodoni SvtyTwo OS ITC TT-Book"/>
              </a:rPr>
              <a:t>through communication that design solutions will arise, be evaluated, and (eventually) be transformed into a final product</a:t>
            </a:r>
            <a:r>
              <a:rPr lang="en-US" sz="1400" dirty="0" smtClean="0">
                <a:latin typeface="Verdana" pitchFamily="34" charset="0"/>
                <a:ea typeface="Bodoni SvtyTwo OS ITC TT-Book"/>
                <a:cs typeface="Bodoni SvtyTwo OS ITC TT-Book"/>
              </a:rPr>
              <a:t>.</a:t>
            </a:r>
          </a:p>
          <a:p>
            <a:pPr algn="just" eaLnBrk="1" hangingPunct="1">
              <a:lnSpc>
                <a:spcPct val="150000"/>
              </a:lnSpc>
            </a:pPr>
            <a:r>
              <a:rPr lang="en-US" sz="1400" b="1" dirty="0" smtClean="0">
                <a:latin typeface="Verdana" pitchFamily="34" charset="0"/>
                <a:ea typeface="Bodoni SvtyTwo OS ITC TT-Book"/>
                <a:cs typeface="Bodoni SvtyTwo OS ITC TT-Book"/>
              </a:rPr>
              <a:t>Which techniques are used</a:t>
            </a:r>
            <a:r>
              <a:rPr lang="en-US" sz="1400" dirty="0" smtClean="0">
                <a:latin typeface="Verdana" pitchFamily="34" charset="0"/>
                <a:ea typeface="Bodoni SvtyTwo OS ITC TT-Book"/>
                <a:cs typeface="Bodoni SvtyTwo OS ITC TT-Book"/>
              </a:rPr>
              <a:t> on a particular project will </a:t>
            </a:r>
            <a:r>
              <a:rPr lang="en-US" sz="1400" b="1" dirty="0" smtClean="0">
                <a:latin typeface="Verdana" pitchFamily="34" charset="0"/>
                <a:ea typeface="Bodoni SvtyTwo OS ITC TT-Book"/>
                <a:cs typeface="Bodoni SvtyTwo OS ITC TT-Book"/>
              </a:rPr>
              <a:t>depend on</a:t>
            </a:r>
            <a:r>
              <a:rPr lang="en-US" sz="1400" dirty="0" smtClean="0">
                <a:latin typeface="Verdana" pitchFamily="34" charset="0"/>
                <a:ea typeface="Bodoni SvtyTwo OS ITC TT-Book"/>
                <a:cs typeface="Bodoni SvtyTwo OS ITC TT-Book"/>
              </a:rPr>
              <a:t> a number of factors:</a:t>
            </a:r>
          </a:p>
          <a:p>
            <a:pPr lvl="2" algn="just" eaLnBrk="1" hangingPunct="1">
              <a:lnSpc>
                <a:spcPct val="150000"/>
              </a:lnSpc>
              <a:buFont typeface="+mj-lt"/>
              <a:buAutoNum type="arabicParenR"/>
            </a:pPr>
            <a:r>
              <a:rPr lang="en-US" sz="1400" dirty="0" smtClean="0">
                <a:latin typeface="Verdana" pitchFamily="34" charset="0"/>
                <a:ea typeface="Bodoni SvtyTwo OS ITC TT-Book"/>
                <a:cs typeface="Bodoni SvtyTwo OS ITC TT-Book"/>
              </a:rPr>
              <a:t>the working style of the development team</a:t>
            </a:r>
          </a:p>
          <a:p>
            <a:pPr lvl="2" algn="just" eaLnBrk="1" hangingPunct="1">
              <a:lnSpc>
                <a:spcPct val="150000"/>
              </a:lnSpc>
              <a:buFont typeface="+mj-lt"/>
              <a:buAutoNum type="arabicParenR"/>
            </a:pPr>
            <a:r>
              <a:rPr lang="en-US" sz="1400" dirty="0" smtClean="0">
                <a:latin typeface="Verdana" pitchFamily="34" charset="0"/>
                <a:ea typeface="Bodoni SvtyTwo OS ITC TT-Book"/>
                <a:cs typeface="Bodoni SvtyTwo OS ITC TT-Book"/>
              </a:rPr>
              <a:t>the type of project</a:t>
            </a:r>
          </a:p>
          <a:p>
            <a:pPr lvl="2" algn="just" eaLnBrk="1" hangingPunct="1">
              <a:lnSpc>
                <a:spcPct val="150000"/>
              </a:lnSpc>
              <a:buFont typeface="+mj-lt"/>
              <a:buAutoNum type="arabicParenR"/>
            </a:pPr>
            <a:r>
              <a:rPr lang="en-US" sz="1400" dirty="0" smtClean="0">
                <a:latin typeface="Verdana" pitchFamily="34" charset="0"/>
                <a:ea typeface="Bodoni SvtyTwo OS ITC TT-Book"/>
                <a:cs typeface="Bodoni SvtyTwo OS ITC TT-Book"/>
              </a:rPr>
              <a:t>the resources available and so on. </a:t>
            </a:r>
          </a:p>
          <a:p>
            <a:pPr algn="just" eaLnBrk="1" hangingPunct="1">
              <a:lnSpc>
                <a:spcPct val="150000"/>
              </a:lnSpc>
            </a:pPr>
            <a:r>
              <a:rPr lang="en-US" sz="1400" dirty="0" smtClean="0">
                <a:latin typeface="Verdana" pitchFamily="34" charset="0"/>
                <a:ea typeface="Bodoni SvtyTwo OS ITC TT-Book"/>
                <a:cs typeface="Bodoni SvtyTwo OS ITC TT-Book"/>
              </a:rPr>
              <a:t>In an ideal world, </a:t>
            </a:r>
            <a:r>
              <a:rPr lang="en-US" sz="1400" b="1" dirty="0" smtClean="0">
                <a:latin typeface="Verdana" pitchFamily="34" charset="0"/>
                <a:ea typeface="Bodoni SvtyTwo OS ITC TT-Book"/>
                <a:cs typeface="Bodoni SvtyTwo OS ITC TT-Book"/>
              </a:rPr>
              <a:t>developers would use a wide variety of representations</a:t>
            </a:r>
            <a:r>
              <a:rPr lang="en-US" sz="1400" dirty="0" smtClean="0">
                <a:latin typeface="Verdana" pitchFamily="34" charset="0"/>
                <a:ea typeface="Bodoni SvtyTwo OS ITC TT-Book"/>
                <a:cs typeface="Bodoni SvtyTwo OS ITC TT-Book"/>
              </a:rPr>
              <a:t>, but in a two-person company working on a project with a deadline of four weeks this may not be possible.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Choosing suitable representations </a:t>
            </a:r>
          </a:p>
        </p:txBody>
      </p:sp>
      <p:sp>
        <p:nvSpPr>
          <p:cNvPr id="19458" name="Text Placeholder 2"/>
          <p:cNvSpPr>
            <a:spLocks noGrp="1"/>
          </p:cNvSpPr>
          <p:nvPr>
            <p:ph type="body" idx="1"/>
          </p:nvPr>
        </p:nvSpPr>
        <p:spPr>
          <a:xfrm>
            <a:off x="323528" y="1600200"/>
            <a:ext cx="8363272" cy="4525963"/>
          </a:xfrm>
        </p:spPr>
        <p:txBody>
          <a:bodyPr/>
          <a:lstStyle/>
          <a:p>
            <a:pPr algn="just" eaLnBrk="1" hangingPunct="1">
              <a:lnSpc>
                <a:spcPct val="200000"/>
              </a:lnSpc>
            </a:pPr>
            <a:r>
              <a:rPr lang="en-US" sz="1500" dirty="0" smtClean="0">
                <a:latin typeface="Verdana" pitchFamily="34" charset="0"/>
                <a:ea typeface="Bodoni SvtyTwo OS ITC TT-Book"/>
                <a:cs typeface="Bodoni SvtyTwo OS ITC TT-Book"/>
              </a:rPr>
              <a:t>Choosing suitable representations for the task at hand is one of the skills of a designer; another is making </a:t>
            </a:r>
            <a:r>
              <a:rPr lang="en-US" sz="1500" b="1" dirty="0" smtClean="0">
                <a:latin typeface="Verdana" pitchFamily="34" charset="0"/>
                <a:ea typeface="Bodoni SvtyTwo OS ITC TT-Book"/>
                <a:cs typeface="Bodoni SvtyTwo OS ITC TT-Book"/>
              </a:rPr>
              <a:t>good use of that representation</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Representations work by suppressing unnecessary detail, thus ensuring that the </a:t>
            </a:r>
            <a:r>
              <a:rPr lang="en-US" sz="1500" b="1" dirty="0" smtClean="0">
                <a:latin typeface="Verdana" pitchFamily="34" charset="0"/>
                <a:ea typeface="Bodoni SvtyTwo OS ITC TT-Book"/>
                <a:cs typeface="Bodoni SvtyTwo OS ITC TT-Book"/>
              </a:rPr>
              <a:t>significant features of some artifact or activity stand out</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A good representation is </a:t>
            </a:r>
            <a:r>
              <a:rPr lang="en-US" sz="1500" b="1" dirty="0" smtClean="0">
                <a:latin typeface="Verdana" pitchFamily="34" charset="0"/>
                <a:ea typeface="Bodoni SvtyTwo OS ITC TT-Book"/>
                <a:cs typeface="Bodoni SvtyTwo OS ITC TT-Book"/>
              </a:rPr>
              <a:t>accurate enough to reflect the features</a:t>
            </a:r>
            <a:r>
              <a:rPr lang="en-US" sz="1500" dirty="0" smtClean="0">
                <a:latin typeface="Verdana" pitchFamily="34" charset="0"/>
                <a:ea typeface="Bodoni SvtyTwo OS ITC TT-Book"/>
                <a:cs typeface="Bodoni SvtyTwo OS ITC TT-Book"/>
              </a:rPr>
              <a:t> of the system being modeled, but </a:t>
            </a:r>
            <a:r>
              <a:rPr lang="en-US" sz="1500" b="1" dirty="0" smtClean="0">
                <a:latin typeface="Verdana" pitchFamily="34" charset="0"/>
                <a:ea typeface="Bodoni SvtyTwo OS ITC TT-Book"/>
                <a:cs typeface="Bodoni SvtyTwo OS ITC TT-Book"/>
              </a:rPr>
              <a:t>simple enough to avoid confusion</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It </a:t>
            </a:r>
            <a:r>
              <a:rPr lang="en-US" sz="1500" b="1" dirty="0" smtClean="0">
                <a:latin typeface="Verdana" pitchFamily="34" charset="0"/>
                <a:ea typeface="Bodoni SvtyTwo OS ITC TT-Book"/>
                <a:cs typeface="Bodoni SvtyTwo OS ITC TT-Book"/>
              </a:rPr>
              <a:t>adopts a style of presentation that is suitable for its purpose</a:t>
            </a:r>
            <a:r>
              <a:rPr lang="en-US" sz="1500" dirty="0" smtClean="0">
                <a:latin typeface="Verdana" pitchFamily="34" charset="0"/>
                <a:ea typeface="Bodoni SvtyTwo OS ITC TT-Book"/>
                <a:cs typeface="Bodoni SvtyTwo OS ITC TT-Book"/>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Example</a:t>
            </a:r>
            <a:r>
              <a:rPr lang="en-US" sz="1500" dirty="0">
                <a:latin typeface="Verdana" pitchFamily="34" charset="0"/>
                <a:ea typeface="Bodoni SvtyTwo OS ITC TT-Book"/>
                <a:cs typeface="Bodoni SvtyTwo OS ITC TT-Book"/>
              </a:rPr>
              <a:t>: A car designer </a:t>
            </a:r>
            <a:r>
              <a:rPr lang="en-US" sz="1500" dirty="0" smtClean="0">
                <a:latin typeface="Verdana" pitchFamily="34" charset="0"/>
                <a:ea typeface="Bodoni SvtyTwo OS ITC TT-Book"/>
                <a:cs typeface="Bodoni SvtyTwo OS ITC TT-Book"/>
              </a:rPr>
              <a:t>  (cont..)</a:t>
            </a:r>
          </a:p>
        </p:txBody>
      </p:sp>
      <p:sp>
        <p:nvSpPr>
          <p:cNvPr id="20482" name="Text Placeholder 2"/>
          <p:cNvSpPr>
            <a:spLocks noGrp="1"/>
          </p:cNvSpPr>
          <p:nvPr>
            <p:ph type="body" idx="1"/>
          </p:nvPr>
        </p:nvSpPr>
        <p:spPr>
          <a:xfrm>
            <a:off x="457200" y="1063277"/>
            <a:ext cx="8229600" cy="5318051"/>
          </a:xfrm>
        </p:spPr>
        <p:txBody>
          <a:bodyPr/>
          <a:lstStyle/>
          <a:p>
            <a:pPr algn="just" eaLnBrk="1" hangingPunct="1">
              <a:lnSpc>
                <a:spcPct val="200000"/>
              </a:lnSpc>
            </a:pPr>
            <a:r>
              <a:rPr lang="en-US" sz="1500" dirty="0" smtClean="0">
                <a:latin typeface="Verdana" pitchFamily="34" charset="0"/>
                <a:ea typeface="Bodoni SvtyTwo OS ITC TT-Book"/>
                <a:cs typeface="Bodoni SvtyTwo OS ITC TT-Book"/>
              </a:rPr>
              <a:t>A car designer has been commissioned to produce a new luxury sports car. He or she doodles a few designs on paper and shows them to other designers on the team. They make some comments and criticisms and as a result changes are made. Finally the designer is satisfied with one of the designs and draws up detailed blueprints that are given to the firm’s model maker.</a:t>
            </a:r>
          </a:p>
          <a:p>
            <a:pPr algn="just" eaLnBrk="1" hangingPunct="1">
              <a:lnSpc>
                <a:spcPct val="200000"/>
              </a:lnSpc>
            </a:pPr>
            <a:r>
              <a:rPr lang="en-US" sz="1500" dirty="0" smtClean="0">
                <a:latin typeface="Verdana" pitchFamily="34" charset="0"/>
                <a:ea typeface="Bodoni SvtyTwo OS ITC TT-Book"/>
                <a:cs typeface="Bodoni SvtyTwo OS ITC TT-Book"/>
              </a:rPr>
              <a:t>Scale models are produced and sent to Marketing and Sales for customer reaction. The scale models are also subjected to wind tunnel experiments to investigate the aerodynamics of the design and the results are used in a computer program that will calculate the car’s speed and fuel efficiency.</a:t>
            </a:r>
          </a:p>
          <a:p>
            <a:pPr marL="400050" lvl="1" indent="0" algn="just" eaLnBrk="1" hangingPunct="1">
              <a:lnSpc>
                <a:spcPct val="200000"/>
              </a:lnSpc>
              <a:buNone/>
            </a:pPr>
            <a:r>
              <a:rPr lang="en-US" sz="1400" dirty="0">
                <a:solidFill>
                  <a:srgbClr val="00B050"/>
                </a:solidFill>
                <a:latin typeface="Verdana" pitchFamily="34" charset="0"/>
                <a:ea typeface="Bodoni SvtyTwo OS ITC TT-Book"/>
                <a:cs typeface="Bodoni SvtyTwo OS ITC TT-Book"/>
              </a:rPr>
              <a:t>(A Wind Tunnel is a tool used in aerodynamic research to study the effects of air moving past solid objects)</a:t>
            </a:r>
            <a:endParaRPr lang="en-US" sz="1400" dirty="0" smtClean="0">
              <a:solidFill>
                <a:srgbClr val="00B050"/>
              </a:solidFill>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The car designer</a:t>
            </a:r>
          </a:p>
        </p:txBody>
      </p:sp>
      <p:sp>
        <p:nvSpPr>
          <p:cNvPr id="21506" name="Text Placeholder 2"/>
          <p:cNvSpPr>
            <a:spLocks noGrp="1"/>
          </p:cNvSpPr>
          <p:nvPr>
            <p:ph type="body" idx="1"/>
          </p:nvPr>
        </p:nvSpPr>
        <p:spPr>
          <a:xfrm>
            <a:off x="467544" y="1268760"/>
            <a:ext cx="8219256" cy="4525963"/>
          </a:xfrm>
        </p:spPr>
        <p:txBody>
          <a:bodyPr/>
          <a:lstStyle/>
          <a:p>
            <a:pPr marL="0" indent="0" algn="just" eaLnBrk="1" hangingPunct="1">
              <a:lnSpc>
                <a:spcPct val="200000"/>
              </a:lnSpc>
              <a:buNone/>
            </a:pPr>
            <a:r>
              <a:rPr lang="en-US" sz="1500" dirty="0" smtClean="0">
                <a:latin typeface="Verdana" pitchFamily="34" charset="0"/>
                <a:ea typeface="Bodoni SvtyTwo OS ITC TT-Book"/>
                <a:cs typeface="Bodoni SvtyTwo OS ITC TT-Book"/>
              </a:rPr>
              <a:t>The designer is using four different representations in at least four different ways:</a:t>
            </a:r>
          </a:p>
          <a:p>
            <a:pPr algn="just" eaLnBrk="1" hangingPunct="1">
              <a:lnSpc>
                <a:spcPct val="200000"/>
              </a:lnSpc>
              <a:buFont typeface="+mj-lt"/>
              <a:buAutoNum type="arabicParenR"/>
            </a:pPr>
            <a:r>
              <a:rPr lang="en-US" sz="1500" dirty="0" smtClean="0">
                <a:latin typeface="Verdana" pitchFamily="34" charset="0"/>
                <a:ea typeface="Bodoni SvtyTwo OS ITC TT-Book"/>
                <a:cs typeface="Bodoni SvtyTwo OS ITC TT-Book"/>
              </a:rPr>
              <a:t>The </a:t>
            </a:r>
            <a:r>
              <a:rPr lang="en-US" sz="1500" b="1" dirty="0" smtClean="0">
                <a:latin typeface="Verdana" pitchFamily="34" charset="0"/>
                <a:ea typeface="Bodoni SvtyTwo OS ITC TT-Book"/>
                <a:cs typeface="Bodoni SvtyTwo OS ITC TT-Book"/>
              </a:rPr>
              <a:t>original representations </a:t>
            </a:r>
            <a:r>
              <a:rPr lang="en-US" sz="1500" dirty="0" smtClean="0">
                <a:latin typeface="Verdana" pitchFamily="34" charset="0"/>
                <a:ea typeface="Bodoni SvtyTwo OS ITC TT-Book"/>
                <a:cs typeface="Bodoni SvtyTwo OS ITC TT-Book"/>
              </a:rPr>
              <a:t>represent a clearing of the mind. In this case they are </a:t>
            </a:r>
            <a:r>
              <a:rPr lang="en-US" sz="1500" b="1" dirty="0" smtClean="0">
                <a:latin typeface="Verdana" pitchFamily="34" charset="0"/>
                <a:ea typeface="Bodoni SvtyTwo OS ITC TT-Book"/>
                <a:cs typeface="Bodoni SvtyTwo OS ITC TT-Book"/>
              </a:rPr>
              <a:t>doodles and sketches </a:t>
            </a:r>
            <a:r>
              <a:rPr lang="en-US" sz="1500" dirty="0" smtClean="0">
                <a:latin typeface="Verdana" pitchFamily="34" charset="0"/>
                <a:ea typeface="Bodoni SvtyTwo OS ITC TT-Book"/>
                <a:cs typeface="Bodoni SvtyTwo OS ITC TT-Book"/>
              </a:rPr>
              <a:t>that are used to generate new ideas, examine possibilities and prompt for questions.</a:t>
            </a:r>
          </a:p>
          <a:p>
            <a:pPr algn="just" eaLnBrk="1" hangingPunct="1">
              <a:lnSpc>
                <a:spcPct val="200000"/>
              </a:lnSpc>
              <a:buFont typeface="+mj-lt"/>
              <a:buAutoNum type="arabicParenR"/>
            </a:pPr>
            <a:r>
              <a:rPr lang="en-US" sz="1500" dirty="0" smtClean="0">
                <a:latin typeface="Verdana" pitchFamily="34" charset="0"/>
                <a:ea typeface="Bodoni SvtyTwo OS ITC TT-Book"/>
                <a:cs typeface="Bodoni SvtyTwo OS ITC TT-Book"/>
              </a:rPr>
              <a:t>The </a:t>
            </a:r>
            <a:r>
              <a:rPr lang="en-US" sz="1500" b="1" dirty="0" smtClean="0">
                <a:latin typeface="Verdana" pitchFamily="34" charset="0"/>
                <a:ea typeface="Bodoni SvtyTwo OS ITC TT-Book"/>
                <a:cs typeface="Bodoni SvtyTwo OS ITC TT-Book"/>
              </a:rPr>
              <a:t>blueprints</a:t>
            </a:r>
            <a:r>
              <a:rPr lang="en-US" sz="1500" dirty="0" smtClean="0">
                <a:latin typeface="Verdana" pitchFamily="34" charset="0"/>
                <a:ea typeface="Bodoni SvtyTwo OS ITC TT-Book"/>
                <a:cs typeface="Bodoni SvtyTwo OS ITC TT-Book"/>
              </a:rPr>
              <a:t> given to the model maker &amp; the scale model given to the Marketing &amp; Sales Departments are suitable for accurately expressing ideas to others.</a:t>
            </a:r>
          </a:p>
          <a:p>
            <a:pPr algn="just" eaLnBrk="1" hangingPunct="1">
              <a:lnSpc>
                <a:spcPct val="200000"/>
              </a:lnSpc>
              <a:buFont typeface="+mj-lt"/>
              <a:buAutoNum type="arabicParenR"/>
            </a:pPr>
            <a:r>
              <a:rPr lang="en-US" sz="1500" dirty="0" smtClean="0">
                <a:latin typeface="Verdana" pitchFamily="34" charset="0"/>
                <a:ea typeface="Bodoni SvtyTwo OS ITC TT-Book"/>
                <a:cs typeface="Bodoni SvtyTwo OS ITC TT-Book"/>
              </a:rPr>
              <a:t>The </a:t>
            </a:r>
            <a:r>
              <a:rPr lang="en-US" sz="1500" b="1" dirty="0" smtClean="0">
                <a:latin typeface="Verdana" pitchFamily="34" charset="0"/>
                <a:ea typeface="Bodoni SvtyTwo OS ITC TT-Book"/>
                <a:cs typeface="Bodoni SvtyTwo OS ITC TT-Book"/>
              </a:rPr>
              <a:t>wind tunnel experiments </a:t>
            </a:r>
            <a:r>
              <a:rPr lang="en-US" sz="1500" dirty="0" smtClean="0">
                <a:latin typeface="Verdana" pitchFamily="34" charset="0"/>
                <a:ea typeface="Bodoni SvtyTwo OS ITC TT-Book"/>
                <a:cs typeface="Bodoni SvtyTwo OS ITC TT-Book"/>
              </a:rPr>
              <a:t>show representations being used to test ideas.</a:t>
            </a:r>
          </a:p>
          <a:p>
            <a:pPr algn="just" eaLnBrk="1" hangingPunct="1">
              <a:lnSpc>
                <a:spcPct val="200000"/>
              </a:lnSpc>
              <a:buFont typeface="+mj-lt"/>
              <a:buAutoNum type="arabicParenR"/>
            </a:pPr>
            <a:r>
              <a:rPr lang="en-US" sz="1500" dirty="0" smtClean="0">
                <a:latin typeface="Verdana" pitchFamily="34" charset="0"/>
                <a:ea typeface="Bodoni SvtyTwo OS ITC TT-Book"/>
                <a:cs typeface="Bodoni SvtyTwo OS ITC TT-Book"/>
              </a:rPr>
              <a:t>The </a:t>
            </a:r>
            <a:r>
              <a:rPr lang="en-US" sz="1500" b="1" dirty="0" smtClean="0">
                <a:latin typeface="Verdana" pitchFamily="34" charset="0"/>
                <a:ea typeface="Bodoni SvtyTwo OS ITC TT-Book"/>
                <a:cs typeface="Bodoni SvtyTwo OS ITC TT-Book"/>
              </a:rPr>
              <a:t>computer model is used to make predictions</a:t>
            </a:r>
            <a:r>
              <a:rPr lang="en-US" sz="1500" dirty="0" smtClean="0">
                <a:latin typeface="Verdana" pitchFamily="34" charset="0"/>
                <a:ea typeface="Bodoni SvtyTwo OS ITC TT-Book"/>
                <a:cs typeface="Bodoni SvtyTwo OS ITC TT-Book"/>
              </a:rPr>
              <a:t>.</a:t>
            </a:r>
            <a:endParaRPr lang="en-US" sz="1500" baseline="-25000" dirty="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395536" y="346646"/>
            <a:ext cx="8229600" cy="490066"/>
          </a:xfrm>
        </p:spPr>
        <p:txBody>
          <a:bodyPr/>
          <a:lstStyle/>
          <a:p>
            <a:pPr eaLnBrk="1" hangingPunct="1">
              <a:lnSpc>
                <a:spcPct val="120000"/>
              </a:lnSpc>
            </a:pPr>
            <a:r>
              <a:rPr lang="en-US" sz="1500" b="1" dirty="0" smtClean="0">
                <a:latin typeface="Verdana" pitchFamily="34" charset="0"/>
                <a:ea typeface="Bodoni SvtyTwo OS ITC TT-Book"/>
                <a:cs typeface="Bodoni SvtyTwo OS ITC TT-Book"/>
              </a:rPr>
              <a:t>An outline </a:t>
            </a:r>
            <a:r>
              <a:rPr lang="en-US" sz="1500" b="1" dirty="0" err="1" smtClean="0">
                <a:latin typeface="Verdana" pitchFamily="34" charset="0"/>
                <a:ea typeface="Bodoni SvtyTwo OS ITC TT-Book"/>
                <a:cs typeface="Bodoni SvtyTwo OS ITC TT-Book"/>
              </a:rPr>
              <a:t>envisionment</a:t>
            </a:r>
            <a:r>
              <a:rPr lang="en-US" sz="1500" b="1" dirty="0" smtClean="0">
                <a:latin typeface="Verdana" pitchFamily="34" charset="0"/>
                <a:ea typeface="Bodoni SvtyTwo OS ITC TT-Book"/>
                <a:cs typeface="Bodoni SvtyTwo OS ITC TT-Book"/>
              </a:rPr>
              <a:t> process</a:t>
            </a:r>
          </a:p>
        </p:txBody>
      </p:sp>
      <p:sp>
        <p:nvSpPr>
          <p:cNvPr id="22530" name="Text Placeholder 2"/>
          <p:cNvSpPr>
            <a:spLocks noGrp="1"/>
          </p:cNvSpPr>
          <p:nvPr>
            <p:ph type="body" idx="1"/>
          </p:nvPr>
        </p:nvSpPr>
        <p:spPr>
          <a:xfrm>
            <a:off x="446856" y="991269"/>
            <a:ext cx="8229600" cy="5462067"/>
          </a:xfrm>
        </p:spPr>
        <p:txBody>
          <a:bodyPr/>
          <a:lstStyle/>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Review</a:t>
            </a:r>
            <a:r>
              <a:rPr lang="en-US" sz="1500" dirty="0" smtClean="0">
                <a:latin typeface="Verdana" pitchFamily="34" charset="0"/>
                <a:ea typeface="Bodoni SvtyTwo OS ITC TT-Book"/>
                <a:cs typeface="Bodoni SvtyTwo OS ITC TT-Book"/>
              </a:rPr>
              <a:t> </a:t>
            </a:r>
            <a:r>
              <a:rPr lang="en-US" sz="1500" dirty="0">
                <a:latin typeface="Verdana" pitchFamily="34" charset="0"/>
                <a:ea typeface="Bodoni SvtyTwo OS ITC TT-Book"/>
                <a:cs typeface="Bodoni SvtyTwo OS ITC TT-Book"/>
              </a:rPr>
              <a:t>the design brief</a:t>
            </a:r>
            <a:r>
              <a:rPr lang="en-US" sz="1500" dirty="0" smtClean="0">
                <a:latin typeface="Verdana" pitchFamily="34" charset="0"/>
                <a:ea typeface="Bodoni SvtyTwo OS ITC TT-Book"/>
                <a:cs typeface="Bodoni SvtyTwo OS ITC TT-Book"/>
              </a:rPr>
              <a:t>, </a:t>
            </a:r>
            <a:r>
              <a:rPr lang="en-US" sz="1500" dirty="0">
                <a:latin typeface="Verdana" pitchFamily="34" charset="0"/>
                <a:ea typeface="Bodoni SvtyTwo OS ITC TT-Book"/>
                <a:cs typeface="Bodoni SvtyTwo OS ITC TT-Book"/>
              </a:rPr>
              <a:t>constraints &amp;</a:t>
            </a:r>
            <a:r>
              <a:rPr lang="en-US" sz="1500" dirty="0" smtClean="0">
                <a:latin typeface="Verdana" pitchFamily="34" charset="0"/>
                <a:ea typeface="Bodoni SvtyTwo OS ITC TT-Book"/>
                <a:cs typeface="Bodoni SvtyTwo OS ITC TT-Book"/>
              </a:rPr>
              <a:t> </a:t>
            </a:r>
            <a:r>
              <a:rPr lang="en-US" sz="1500" dirty="0">
                <a:latin typeface="Verdana" pitchFamily="34" charset="0"/>
                <a:ea typeface="Bodoni SvtyTwo OS ITC TT-Book"/>
                <a:cs typeface="Bodoni SvtyTwo OS ITC TT-Book"/>
              </a:rPr>
              <a:t>requirements and conceptual scenarios.</a:t>
            </a:r>
          </a:p>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Develop </a:t>
            </a:r>
            <a:r>
              <a:rPr lang="en-US" sz="1500" b="1" dirty="0">
                <a:latin typeface="Verdana" pitchFamily="34" charset="0"/>
                <a:ea typeface="Bodoni SvtyTwo OS ITC TT-Book"/>
                <a:cs typeface="Bodoni SvtyTwo OS ITC TT-Book"/>
              </a:rPr>
              <a:t>representations </a:t>
            </a:r>
            <a:r>
              <a:rPr lang="en-US" sz="1500" dirty="0">
                <a:latin typeface="Verdana" pitchFamily="34" charset="0"/>
                <a:ea typeface="Bodoni SvtyTwo OS ITC TT-Book"/>
                <a:cs typeface="Bodoni SvtyTwo OS ITC TT-Book"/>
              </a:rPr>
              <a:t>of your design ideas. This is the process of </a:t>
            </a:r>
            <a:r>
              <a:rPr lang="en-US" sz="1500" b="1" dirty="0" smtClean="0">
                <a:latin typeface="Verdana" pitchFamily="34" charset="0"/>
                <a:ea typeface="Bodoni SvtyTwo OS ITC TT-Book"/>
                <a:cs typeface="Bodoni SvtyTwo OS ITC TT-Book"/>
              </a:rPr>
              <a:t>ideation</a:t>
            </a:r>
            <a:r>
              <a:rPr lang="en-US" sz="1500" dirty="0" smtClean="0">
                <a:latin typeface="Verdana" pitchFamily="34" charset="0"/>
                <a:ea typeface="Bodoni SvtyTwo OS ITC TT-Book"/>
                <a:cs typeface="Bodoni SvtyTwo OS ITC TT-Book"/>
              </a:rPr>
              <a:t>. Sketching </a:t>
            </a:r>
            <a:r>
              <a:rPr lang="en-US" sz="1500" dirty="0">
                <a:latin typeface="Verdana" pitchFamily="34" charset="0"/>
                <a:ea typeface="Bodoni SvtyTwo OS ITC TT-Book"/>
                <a:cs typeface="Bodoni SvtyTwo OS ITC TT-Book"/>
              </a:rPr>
              <a:t>is central to the process. The aim is to generate many ideas to explore </a:t>
            </a:r>
            <a:r>
              <a:rPr lang="en-US" sz="1500" dirty="0" smtClean="0">
                <a:latin typeface="Verdana" pitchFamily="34" charset="0"/>
                <a:ea typeface="Bodoni SvtyTwo OS ITC TT-Book"/>
                <a:cs typeface="Bodoni SvtyTwo OS ITC TT-Book"/>
              </a:rPr>
              <a:t>the spaces </a:t>
            </a:r>
            <a:r>
              <a:rPr lang="en-US" sz="1500" dirty="0">
                <a:latin typeface="Verdana" pitchFamily="34" charset="0"/>
                <a:ea typeface="Bodoni SvtyTwo OS ITC TT-Book"/>
                <a:cs typeface="Bodoni SvtyTwo OS ITC TT-Book"/>
              </a:rPr>
              <a:t>of possible </a:t>
            </a:r>
            <a:r>
              <a:rPr lang="en-US" sz="1500" dirty="0" smtClean="0">
                <a:latin typeface="Verdana" pitchFamily="34" charset="0"/>
                <a:ea typeface="Bodoni SvtyTwo OS ITC TT-Book"/>
                <a:cs typeface="Bodoni SvtyTwo OS ITC TT-Book"/>
              </a:rPr>
              <a:t>experiences.</a:t>
            </a:r>
            <a:endParaRPr lang="en-US" sz="1500" dirty="0">
              <a:latin typeface="Verdana" pitchFamily="34" charset="0"/>
              <a:ea typeface="Bodoni SvtyTwo OS ITC TT-Book"/>
              <a:cs typeface="Bodoni SvtyTwo OS ITC TT-Book"/>
            </a:endParaRPr>
          </a:p>
          <a:p>
            <a:pPr algn="just" eaLnBrk="1" hangingPunct="1">
              <a:lnSpc>
                <a:spcPct val="150000"/>
              </a:lnSpc>
              <a:buFont typeface="+mj-lt"/>
              <a:buAutoNum type="arabicParenR"/>
            </a:pPr>
            <a:r>
              <a:rPr lang="en-US" sz="1500" dirty="0" smtClean="0">
                <a:latin typeface="Verdana" pitchFamily="34" charset="0"/>
                <a:ea typeface="Bodoni SvtyTwo OS ITC TT-Book"/>
                <a:cs typeface="Bodoni SvtyTwo OS ITC TT-Book"/>
              </a:rPr>
              <a:t>If </a:t>
            </a:r>
            <a:r>
              <a:rPr lang="en-US" sz="1500" dirty="0">
                <a:latin typeface="Verdana" pitchFamily="34" charset="0"/>
                <a:ea typeface="Bodoni SvtyTwo OS ITC TT-Book"/>
                <a:cs typeface="Bodoni SvtyTwo OS ITC TT-Book"/>
              </a:rPr>
              <a:t>your service or product is a new one, </a:t>
            </a:r>
            <a:r>
              <a:rPr lang="en-US" sz="1500" b="1" dirty="0">
                <a:latin typeface="Verdana" pitchFamily="34" charset="0"/>
                <a:ea typeface="Bodoni SvtyTwo OS ITC TT-Book"/>
                <a:cs typeface="Bodoni SvtyTwo OS ITC TT-Book"/>
              </a:rPr>
              <a:t>experiment</a:t>
            </a:r>
            <a:r>
              <a:rPr lang="en-US" sz="1500" dirty="0">
                <a:latin typeface="Verdana" pitchFamily="34" charset="0"/>
                <a:ea typeface="Bodoni SvtyTwo OS ITC TT-Book"/>
                <a:cs typeface="Bodoni SvtyTwo OS ITC TT-Book"/>
              </a:rPr>
              <a:t> with different </a:t>
            </a:r>
            <a:r>
              <a:rPr lang="en-US" sz="1500" dirty="0" smtClean="0">
                <a:latin typeface="Verdana" pitchFamily="34" charset="0"/>
                <a:ea typeface="Bodoni SvtyTwo OS ITC TT-Book"/>
                <a:cs typeface="Bodoni SvtyTwo OS ITC TT-Book"/>
              </a:rPr>
              <a:t>metaphors and design </a:t>
            </a:r>
            <a:r>
              <a:rPr lang="en-US" sz="1500" dirty="0">
                <a:latin typeface="Verdana" pitchFamily="34" charset="0"/>
                <a:ea typeface="Bodoni SvtyTwo OS ITC TT-Book"/>
                <a:cs typeface="Bodoni SvtyTwo OS ITC TT-Book"/>
              </a:rPr>
              <a:t>concepts through your </a:t>
            </a:r>
            <a:r>
              <a:rPr lang="en-US" sz="1500" dirty="0" smtClean="0">
                <a:latin typeface="Verdana" pitchFamily="34" charset="0"/>
                <a:ea typeface="Bodoni SvtyTwo OS ITC TT-Book"/>
                <a:cs typeface="Bodoni SvtyTwo OS ITC TT-Book"/>
              </a:rPr>
              <a:t>representations.</a:t>
            </a:r>
            <a:endParaRPr lang="en-US" sz="1500" dirty="0">
              <a:latin typeface="Verdana" pitchFamily="34" charset="0"/>
              <a:ea typeface="Bodoni SvtyTwo OS ITC TT-Book"/>
              <a:cs typeface="Bodoni SvtyTwo OS ITC TT-Book"/>
            </a:endParaRPr>
          </a:p>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Develop </a:t>
            </a:r>
            <a:r>
              <a:rPr lang="en-US" sz="1500" b="1" dirty="0">
                <a:latin typeface="Verdana" pitchFamily="34" charset="0"/>
                <a:ea typeface="Bodoni SvtyTwo OS ITC TT-Book"/>
                <a:cs typeface="Bodoni SvtyTwo OS ITC TT-Book"/>
              </a:rPr>
              <a:t>the ‘look and feel</a:t>
            </a:r>
            <a:r>
              <a:rPr lang="en-US" sz="1500" dirty="0">
                <a:latin typeface="Verdana" pitchFamily="34" charset="0"/>
                <a:ea typeface="Bodoni SvtyTwo OS ITC TT-Book"/>
                <a:cs typeface="Bodoni SvtyTwo OS ITC TT-Book"/>
              </a:rPr>
              <a:t>’ of the service or product, sketch out </a:t>
            </a:r>
            <a:r>
              <a:rPr lang="en-US" sz="1500" dirty="0" smtClean="0">
                <a:latin typeface="Verdana" pitchFamily="34" charset="0"/>
                <a:ea typeface="Bodoni SvtyTwo OS ITC TT-Book"/>
                <a:cs typeface="Bodoni SvtyTwo OS ITC TT-Book"/>
              </a:rPr>
              <a:t>the touchpoints, channels </a:t>
            </a:r>
            <a:r>
              <a:rPr lang="en-US" sz="1500" dirty="0">
                <a:latin typeface="Verdana" pitchFamily="34" charset="0"/>
                <a:ea typeface="Bodoni SvtyTwo OS ITC TT-Book"/>
                <a:cs typeface="Bodoni SvtyTwo OS ITC TT-Book"/>
              </a:rPr>
              <a:t>of interaction and navigational structure of the whole </a:t>
            </a:r>
            <a:r>
              <a:rPr lang="en-US" sz="1500" dirty="0" smtClean="0">
                <a:latin typeface="Verdana" pitchFamily="34" charset="0"/>
                <a:ea typeface="Bodoni SvtyTwo OS ITC TT-Book"/>
                <a:cs typeface="Bodoni SvtyTwo OS ITC TT-Book"/>
              </a:rPr>
              <a:t>UX.</a:t>
            </a:r>
            <a:endParaRPr lang="en-US" sz="1500" dirty="0">
              <a:latin typeface="Verdana" pitchFamily="34" charset="0"/>
              <a:ea typeface="Bodoni SvtyTwo OS ITC TT-Book"/>
              <a:cs typeface="Bodoni SvtyTwo OS ITC TT-Book"/>
            </a:endParaRPr>
          </a:p>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Explore </a:t>
            </a:r>
            <a:r>
              <a:rPr lang="en-US" sz="1500" b="1" dirty="0">
                <a:latin typeface="Verdana" pitchFamily="34" charset="0"/>
                <a:ea typeface="Bodoni SvtyTwo OS ITC TT-Book"/>
                <a:cs typeface="Bodoni SvtyTwo OS ITC TT-Book"/>
              </a:rPr>
              <a:t>design ideas </a:t>
            </a:r>
            <a:r>
              <a:rPr lang="en-US" sz="1500" dirty="0">
                <a:latin typeface="Verdana" pitchFamily="34" charset="0"/>
                <a:ea typeface="Bodoni SvtyTwo OS ITC TT-Book"/>
                <a:cs typeface="Bodoni SvtyTwo OS ITC TT-Book"/>
              </a:rPr>
              <a:t>with the people who will be using the system </a:t>
            </a:r>
            <a:r>
              <a:rPr lang="en-US" sz="1500" dirty="0" smtClean="0">
                <a:latin typeface="Verdana" pitchFamily="34" charset="0"/>
                <a:ea typeface="Bodoni SvtyTwo OS ITC TT-Book"/>
                <a:cs typeface="Bodoni SvtyTwo OS ITC TT-Book"/>
              </a:rPr>
              <a:t>wherever possible.</a:t>
            </a:r>
            <a:endParaRPr lang="en-US" sz="1500" dirty="0">
              <a:latin typeface="Verdana" pitchFamily="34" charset="0"/>
              <a:ea typeface="Bodoni SvtyTwo OS ITC TT-Book"/>
              <a:cs typeface="Bodoni SvtyTwo OS ITC TT-Book"/>
            </a:endParaRPr>
          </a:p>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Develop</a:t>
            </a:r>
            <a:r>
              <a:rPr lang="en-US" sz="1500" dirty="0" smtClean="0">
                <a:latin typeface="Verdana" pitchFamily="34" charset="0"/>
                <a:ea typeface="Bodoni SvtyTwo OS ITC TT-Book"/>
                <a:cs typeface="Bodoni SvtyTwo OS ITC TT-Book"/>
              </a:rPr>
              <a:t> </a:t>
            </a:r>
            <a:r>
              <a:rPr lang="en-US" sz="1500" b="1" dirty="0">
                <a:latin typeface="Verdana" pitchFamily="34" charset="0"/>
                <a:ea typeface="Bodoni SvtyTwo OS ITC TT-Book"/>
                <a:cs typeface="Bodoni SvtyTwo OS ITC TT-Book"/>
              </a:rPr>
              <a:t>wireframes</a:t>
            </a:r>
            <a:r>
              <a:rPr lang="en-US" sz="1500" dirty="0">
                <a:latin typeface="Verdana" pitchFamily="34" charset="0"/>
                <a:ea typeface="Bodoni SvtyTwo OS ITC TT-Book"/>
                <a:cs typeface="Bodoni SvtyTwo OS ITC TT-Book"/>
              </a:rPr>
              <a:t> to provide more detail on the proposed </a:t>
            </a:r>
            <a:r>
              <a:rPr lang="en-US" sz="1500" dirty="0">
                <a:solidFill>
                  <a:srgbClr val="FF0000"/>
                </a:solidFill>
                <a:latin typeface="Verdana" pitchFamily="34" charset="0"/>
                <a:ea typeface="Bodoni SvtyTwo OS ITC TT-Book"/>
                <a:cs typeface="Bodoni SvtyTwo OS ITC TT-Book"/>
              </a:rPr>
              <a:t>structure </a:t>
            </a:r>
            <a:r>
              <a:rPr lang="en-US" sz="1500" dirty="0" smtClean="0">
                <a:solidFill>
                  <a:srgbClr val="FF0000"/>
                </a:solidFill>
                <a:latin typeface="Verdana" pitchFamily="34" charset="0"/>
                <a:ea typeface="Bodoni SvtyTwo OS ITC TT-Book"/>
                <a:cs typeface="Bodoni SvtyTwo OS ITC TT-Book"/>
              </a:rPr>
              <a:t>and navigation.</a:t>
            </a:r>
            <a:endParaRPr lang="en-US" sz="1500" dirty="0">
              <a:solidFill>
                <a:srgbClr val="FF0000"/>
              </a:solidFill>
              <a:latin typeface="Verdana" pitchFamily="34" charset="0"/>
              <a:ea typeface="Bodoni SvtyTwo OS ITC TT-Book"/>
              <a:cs typeface="Bodoni SvtyTwo OS ITC TT-Book"/>
            </a:endParaRPr>
          </a:p>
          <a:p>
            <a:pPr algn="just" eaLnBrk="1" hangingPunct="1">
              <a:lnSpc>
                <a:spcPct val="150000"/>
              </a:lnSpc>
              <a:buFont typeface="+mj-lt"/>
              <a:buAutoNum type="arabicParenR"/>
            </a:pPr>
            <a:r>
              <a:rPr lang="en-US" sz="1500" b="1" dirty="0" smtClean="0">
                <a:latin typeface="Verdana" pitchFamily="34" charset="0"/>
                <a:ea typeface="Bodoni SvtyTwo OS ITC TT-Book"/>
                <a:cs typeface="Bodoni SvtyTwo OS ITC TT-Book"/>
              </a:rPr>
              <a:t>Iterate </a:t>
            </a:r>
            <a:r>
              <a:rPr lang="en-US" sz="1500" b="1" dirty="0">
                <a:latin typeface="Verdana" pitchFamily="34" charset="0"/>
                <a:ea typeface="Bodoni SvtyTwo OS ITC TT-Book"/>
                <a:cs typeface="Bodoni SvtyTwo OS ITC TT-Book"/>
              </a:rPr>
              <a:t>and gradually formalize the design</a:t>
            </a:r>
            <a:r>
              <a:rPr lang="en-US" sz="1500" dirty="0">
                <a:latin typeface="Verdana" pitchFamily="34" charset="0"/>
                <a:ea typeface="Bodoni SvtyTwo OS ITC TT-Book"/>
                <a:cs typeface="Bodoni SvtyTwo OS ITC TT-Book"/>
              </a:rPr>
              <a:t> (making it more concrete) </a:t>
            </a:r>
            <a:r>
              <a:rPr lang="en-US" sz="1500" dirty="0" smtClean="0">
                <a:latin typeface="Verdana" pitchFamily="34" charset="0"/>
                <a:ea typeface="Bodoni SvtyTwo OS ITC TT-Book"/>
                <a:cs typeface="Bodoni SvtyTwo OS ITC TT-Book"/>
              </a:rPr>
              <a:t>through prototypes and </a:t>
            </a:r>
            <a:r>
              <a:rPr lang="en-US" sz="1500" dirty="0">
                <a:latin typeface="Verdana" pitchFamily="34" charset="0"/>
                <a:ea typeface="Bodoni SvtyTwo OS ITC TT-Book"/>
                <a:cs typeface="Bodoni SvtyTwo OS ITC TT-Book"/>
              </a:rPr>
              <a:t>further </a:t>
            </a:r>
            <a:r>
              <a:rPr lang="en-US" sz="1500" dirty="0" smtClean="0">
                <a:latin typeface="Verdana" pitchFamily="34" charset="0"/>
                <a:ea typeface="Bodoni SvtyTwo OS ITC TT-Book"/>
                <a:cs typeface="Bodoni SvtyTwo OS ITC TT-Book"/>
              </a:rPr>
              <a:t>evaluations.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lnSpc>
                <a:spcPct val="120000"/>
              </a:lnSpc>
            </a:pPr>
            <a:r>
              <a:rPr lang="en-US" sz="2000" b="1" dirty="0" smtClean="0">
                <a:solidFill>
                  <a:srgbClr val="0070C0"/>
                </a:solidFill>
                <a:latin typeface="Verdana" pitchFamily="34" charset="0"/>
                <a:ea typeface="Bodoni SvtyTwo OS ITC TT-Book"/>
                <a:cs typeface="Bodoni SvtyTwo OS ITC TT-Book"/>
              </a:rPr>
              <a:t>Sketches (Snapshots) for Ideation</a:t>
            </a:r>
          </a:p>
        </p:txBody>
      </p:sp>
      <p:sp>
        <p:nvSpPr>
          <p:cNvPr id="23554" name="Text Placeholder 2"/>
          <p:cNvSpPr>
            <a:spLocks noGrp="1"/>
          </p:cNvSpPr>
          <p:nvPr>
            <p:ph type="body" idx="1"/>
          </p:nvPr>
        </p:nvSpPr>
        <p:spPr/>
        <p:txBody>
          <a:bodyPr/>
          <a:lstStyle/>
          <a:p>
            <a:pPr algn="just" eaLnBrk="1" hangingPunct="1">
              <a:lnSpc>
                <a:spcPct val="200000"/>
              </a:lnSpc>
            </a:pPr>
            <a:r>
              <a:rPr lang="en-US" sz="1500" dirty="0" smtClean="0">
                <a:latin typeface="Verdana" pitchFamily="34" charset="0"/>
                <a:ea typeface="Bodoni SvtyTwo OS ITC TT-Book"/>
                <a:cs typeface="Bodoni SvtyTwo OS ITC TT-Book"/>
              </a:rPr>
              <a:t>The art of sketching is something that all designers should practice. </a:t>
            </a:r>
          </a:p>
          <a:p>
            <a:pPr algn="just" eaLnBrk="1" hangingPunct="1">
              <a:lnSpc>
                <a:spcPct val="200000"/>
              </a:lnSpc>
            </a:pPr>
            <a:r>
              <a:rPr lang="en-US" sz="1500" b="1" dirty="0" smtClean="0">
                <a:latin typeface="Verdana" pitchFamily="34" charset="0"/>
                <a:ea typeface="Bodoni SvtyTwo OS ITC TT-Book"/>
                <a:cs typeface="Bodoni SvtyTwo OS ITC TT-Book"/>
              </a:rPr>
              <a:t>Ideas and thoughts can be quickly visualized – either to yourself, or to others – and explored.  </a:t>
            </a:r>
          </a:p>
          <a:p>
            <a:pPr algn="just" eaLnBrk="1" hangingPunct="1">
              <a:lnSpc>
                <a:spcPct val="200000"/>
              </a:lnSpc>
            </a:pPr>
            <a:r>
              <a:rPr lang="en-US" sz="1500" dirty="0" smtClean="0">
                <a:latin typeface="Verdana" pitchFamily="34" charset="0"/>
                <a:ea typeface="Bodoni SvtyTwo OS ITC TT-Book"/>
                <a:cs typeface="Bodoni SvtyTwo OS ITC TT-Book"/>
              </a:rPr>
              <a:t>The millennium bridge across the River Thames in London was reputedly designed on a paper napkin in a restaurant. </a:t>
            </a:r>
          </a:p>
          <a:p>
            <a:pPr algn="just" eaLnBrk="1" hangingPunct="1">
              <a:lnSpc>
                <a:spcPct val="200000"/>
              </a:lnSpc>
            </a:pPr>
            <a:r>
              <a:rPr lang="en-US" sz="1500" dirty="0" smtClean="0">
                <a:latin typeface="Verdana" pitchFamily="34" charset="0"/>
                <a:ea typeface="Bodoni SvtyTwo OS ITC TT-Book"/>
                <a:cs typeface="Bodoni SvtyTwo OS ITC TT-Book"/>
              </a:rPr>
              <a:t>Designers do well to carry a sketch book with them so that inspiration can be quickly captured and preserved.</a:t>
            </a:r>
          </a:p>
          <a:p>
            <a:pPr algn="just" eaLnBrk="1" hangingPunct="1">
              <a:lnSpc>
                <a:spcPct val="200000"/>
              </a:lnSpc>
            </a:pP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Example</a:t>
            </a:r>
          </a:p>
        </p:txBody>
      </p:sp>
      <p:sp>
        <p:nvSpPr>
          <p:cNvPr id="24578" name="Text Placeholder 2"/>
          <p:cNvSpPr>
            <a:spLocks noGrp="1"/>
          </p:cNvSpPr>
          <p:nvPr>
            <p:ph type="body" idx="1"/>
          </p:nvPr>
        </p:nvSpPr>
        <p:spPr>
          <a:xfrm>
            <a:off x="467544" y="1600200"/>
            <a:ext cx="8229600" cy="4525963"/>
          </a:xfrm>
        </p:spPr>
        <p:txBody>
          <a:bodyPr/>
          <a:lstStyle/>
          <a:p>
            <a:pPr algn="just" eaLnBrk="1" hangingPunct="1">
              <a:lnSpc>
                <a:spcPct val="150000"/>
              </a:lnSpc>
            </a:pPr>
            <a:r>
              <a:rPr lang="en-US" sz="1500" dirty="0" smtClean="0">
                <a:latin typeface="Verdana" pitchFamily="34" charset="0"/>
                <a:ea typeface="Bodoni SvtyTwo OS ITC TT-Book"/>
                <a:cs typeface="Bodoni SvtyTwo OS ITC TT-Book"/>
              </a:rPr>
              <a:t> … to display large amounts of data without the need for scrolling (in order to move away from the personal computer paradigm). </a:t>
            </a:r>
          </a:p>
          <a:p>
            <a:pPr algn="just" eaLnBrk="1" hangingPunct="1">
              <a:lnSpc>
                <a:spcPct val="150000"/>
              </a:lnSpc>
            </a:pPr>
            <a:r>
              <a:rPr lang="en-US" sz="1500" dirty="0" smtClean="0">
                <a:latin typeface="Verdana" pitchFamily="34" charset="0"/>
                <a:ea typeface="Bodoni SvtyTwo OS ITC TT-Book"/>
                <a:cs typeface="Bodoni SvtyTwo OS ITC TT-Book"/>
              </a:rPr>
              <a:t>The design principle underlying the designs is often referred to as ‘focus and context’. </a:t>
            </a:r>
          </a:p>
          <a:p>
            <a:pPr algn="just" eaLnBrk="1" hangingPunct="1">
              <a:lnSpc>
                <a:spcPct val="150000"/>
              </a:lnSpc>
            </a:pPr>
            <a:r>
              <a:rPr lang="en-US" sz="1500" dirty="0" smtClean="0">
                <a:latin typeface="Verdana" pitchFamily="34" charset="0"/>
                <a:ea typeface="Bodoni SvtyTwo OS ITC TT-Book"/>
                <a:cs typeface="Bodoni SvtyTwo OS ITC TT-Book"/>
              </a:rPr>
              <a:t>Ben </a:t>
            </a:r>
            <a:r>
              <a:rPr lang="en-US" sz="1500" dirty="0" err="1" smtClean="0">
                <a:latin typeface="Verdana" pitchFamily="34" charset="0"/>
                <a:ea typeface="Bodoni SvtyTwo OS ITC TT-Book"/>
                <a:cs typeface="Bodoni SvtyTwo OS ITC TT-Book"/>
              </a:rPr>
              <a:t>Shneiderman</a:t>
            </a:r>
            <a:r>
              <a:rPr lang="en-US" sz="1500" dirty="0" smtClean="0">
                <a:latin typeface="Verdana" pitchFamily="34" charset="0"/>
                <a:ea typeface="Bodoni SvtyTwo OS ITC TT-Book"/>
                <a:cs typeface="Bodoni SvtyTwo OS ITC TT-Book"/>
              </a:rPr>
              <a:t> has a mantra for visualizations of large amounts of data that he encourages designers to use: ‘overview first, zoom and filter, then details on demand’ </a:t>
            </a:r>
          </a:p>
          <a:p>
            <a:pPr algn="just" eaLnBrk="1" hangingPunct="1">
              <a:lnSpc>
                <a:spcPct val="150000"/>
              </a:lnSpc>
            </a:pPr>
            <a:r>
              <a:rPr lang="en-US" sz="1500" dirty="0" smtClean="0">
                <a:latin typeface="Verdana" pitchFamily="34" charset="0"/>
                <a:ea typeface="Bodoni SvtyTwo OS ITC TT-Book"/>
                <a:cs typeface="Bodoni SvtyTwo OS ITC TT-Book"/>
              </a:rPr>
              <a:t>Notice how the hyperbolic tree is better for capturing the focus and context principles.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58614"/>
            <a:ext cx="8229600" cy="634082"/>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Individual snapshots </a:t>
            </a:r>
          </a:p>
        </p:txBody>
      </p:sp>
      <p:sp>
        <p:nvSpPr>
          <p:cNvPr id="25602" name="Text Placeholder 2"/>
          <p:cNvSpPr>
            <a:spLocks noGrp="1"/>
          </p:cNvSpPr>
          <p:nvPr>
            <p:ph type="body" idx="1"/>
          </p:nvPr>
        </p:nvSpPr>
        <p:spPr>
          <a:xfrm>
            <a:off x="72008" y="692015"/>
            <a:ext cx="8964488" cy="1566887"/>
          </a:xfrm>
        </p:spPr>
        <p:txBody>
          <a:bodyPr/>
          <a:lstStyle/>
          <a:p>
            <a:pPr eaLnBrk="1" hangingPunct="1">
              <a:lnSpc>
                <a:spcPct val="150000"/>
              </a:lnSpc>
            </a:pPr>
            <a:r>
              <a:rPr lang="en-US" sz="1500" dirty="0" smtClean="0">
                <a:latin typeface="Verdana" pitchFamily="34" charset="0"/>
                <a:ea typeface="Bodoni SvtyTwo OS ITC TT-Book"/>
                <a:cs typeface="Bodoni SvtyTwo OS ITC TT-Book"/>
              </a:rPr>
              <a:t>Individual </a:t>
            </a:r>
            <a:r>
              <a:rPr lang="en-US" sz="1500" b="1" dirty="0" smtClean="0">
                <a:latin typeface="Verdana" pitchFamily="34" charset="0"/>
                <a:ea typeface="Bodoni SvtyTwo OS ITC TT-Book"/>
                <a:cs typeface="Bodoni SvtyTwo OS ITC TT-Book"/>
              </a:rPr>
              <a:t>snapshots of a design </a:t>
            </a:r>
            <a:r>
              <a:rPr lang="en-US" sz="1500" dirty="0" smtClean="0">
                <a:latin typeface="Verdana" pitchFamily="34" charset="0"/>
                <a:ea typeface="Bodoni SvtyTwo OS ITC TT-Book"/>
                <a:cs typeface="Bodoni SvtyTwo OS ITC TT-Book"/>
              </a:rPr>
              <a:t>can be provided to show key moments in interaction and are particularly useful for exploring the impact of a certain style or design. </a:t>
            </a:r>
          </a:p>
          <a:p>
            <a:pPr eaLnBrk="1" hangingPunct="1">
              <a:lnSpc>
                <a:spcPct val="150000"/>
              </a:lnSpc>
            </a:pPr>
            <a:r>
              <a:rPr lang="en-US" sz="1500" dirty="0" smtClean="0">
                <a:latin typeface="Verdana" pitchFamily="34" charset="0"/>
                <a:ea typeface="Bodoni SvtyTwo OS ITC TT-Book"/>
                <a:cs typeface="Bodoni SvtyTwo OS ITC TT-Book"/>
              </a:rPr>
              <a:t>Snapshots can be </a:t>
            </a:r>
            <a:r>
              <a:rPr lang="en-US" sz="1500" b="1" dirty="0" smtClean="0">
                <a:latin typeface="Verdana" pitchFamily="34" charset="0"/>
                <a:ea typeface="Bodoni SvtyTwo OS ITC TT-Book"/>
                <a:cs typeface="Bodoni SvtyTwo OS ITC TT-Book"/>
              </a:rPr>
              <a:t>single sketches, or frames, from a storyboard</a:t>
            </a:r>
            <a:r>
              <a:rPr lang="en-US" sz="1500" dirty="0" smtClean="0">
                <a:latin typeface="Verdana" pitchFamily="34" charset="0"/>
                <a:ea typeface="Bodoni SvtyTwo OS ITC TT-Book"/>
                <a:cs typeface="Bodoni SvtyTwo OS ITC TT-Book"/>
              </a:rPr>
              <a:t> (see below) or they can be produced using software.</a:t>
            </a:r>
          </a:p>
        </p:txBody>
      </p:sp>
      <p:pic>
        <p:nvPicPr>
          <p:cNvPr id="2" name="Picture 1"/>
          <p:cNvPicPr>
            <a:picLocks noChangeAspect="1"/>
          </p:cNvPicPr>
          <p:nvPr/>
        </p:nvPicPr>
        <p:blipFill>
          <a:blip r:embed="rId2"/>
          <a:stretch>
            <a:fillRect/>
          </a:stretch>
        </p:blipFill>
        <p:spPr>
          <a:xfrm>
            <a:off x="216024" y="2276872"/>
            <a:ext cx="5148064" cy="2298243"/>
          </a:xfrm>
          <a:prstGeom prst="rect">
            <a:avLst/>
          </a:prstGeom>
        </p:spPr>
      </p:pic>
      <p:pic>
        <p:nvPicPr>
          <p:cNvPr id="3" name="Picture 2"/>
          <p:cNvPicPr>
            <a:picLocks noChangeAspect="1"/>
          </p:cNvPicPr>
          <p:nvPr/>
        </p:nvPicPr>
        <p:blipFill rotWithShape="1">
          <a:blip r:embed="rId3"/>
          <a:srcRect r="34903"/>
          <a:stretch/>
        </p:blipFill>
        <p:spPr>
          <a:xfrm>
            <a:off x="5454312" y="2132856"/>
            <a:ext cx="3257640" cy="2405343"/>
          </a:xfrm>
          <a:prstGeom prst="rect">
            <a:avLst/>
          </a:prstGeom>
        </p:spPr>
      </p:pic>
      <p:pic>
        <p:nvPicPr>
          <p:cNvPr id="4" name="Picture 3"/>
          <p:cNvPicPr>
            <a:picLocks noChangeAspect="1"/>
          </p:cNvPicPr>
          <p:nvPr/>
        </p:nvPicPr>
        <p:blipFill rotWithShape="1">
          <a:blip r:embed="rId3"/>
          <a:srcRect l="64204" t="4734" r="4361" b="8139"/>
          <a:stretch/>
        </p:blipFill>
        <p:spPr>
          <a:xfrm>
            <a:off x="3563888" y="4365104"/>
            <a:ext cx="1656184" cy="220635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274638"/>
            <a:ext cx="8229600" cy="706090"/>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Storyboards</a:t>
            </a:r>
          </a:p>
        </p:txBody>
      </p:sp>
      <p:sp>
        <p:nvSpPr>
          <p:cNvPr id="26626" name="Text Placeholder 2"/>
          <p:cNvSpPr>
            <a:spLocks noGrp="1"/>
          </p:cNvSpPr>
          <p:nvPr>
            <p:ph type="body" idx="1"/>
          </p:nvPr>
        </p:nvSpPr>
        <p:spPr>
          <a:xfrm>
            <a:off x="323528" y="980728"/>
            <a:ext cx="8229600" cy="5256584"/>
          </a:xfrm>
        </p:spPr>
        <p:txBody>
          <a:bodyPr/>
          <a:lstStyle/>
          <a:p>
            <a:pPr algn="just" eaLnBrk="1" hangingPunct="1">
              <a:lnSpc>
                <a:spcPct val="200000"/>
              </a:lnSpc>
            </a:pPr>
            <a:r>
              <a:rPr lang="en-US" sz="1500" b="1" dirty="0" smtClean="0">
                <a:latin typeface="Verdana" pitchFamily="34" charset="0"/>
                <a:ea typeface="Bodoni SvtyTwo OS ITC TT-Book"/>
                <a:cs typeface="Bodoni SvtyTwo OS ITC TT-Book"/>
              </a:rPr>
              <a:t>Storyboarding </a:t>
            </a:r>
            <a:r>
              <a:rPr lang="en-US" sz="1500" dirty="0" smtClean="0">
                <a:latin typeface="Verdana" pitchFamily="34" charset="0"/>
                <a:ea typeface="Bodoni SvtyTwo OS ITC TT-Book"/>
                <a:cs typeface="Bodoni SvtyTwo OS ITC TT-Book"/>
              </a:rPr>
              <a:t>is a technique taken from film making – using a simple cartoon-like structure, key moments from the interactive experience are represented. </a:t>
            </a:r>
          </a:p>
          <a:p>
            <a:pPr algn="just" eaLnBrk="1" hangingPunct="1">
              <a:lnSpc>
                <a:spcPct val="200000"/>
              </a:lnSpc>
            </a:pPr>
            <a:r>
              <a:rPr lang="en-US" sz="1500" dirty="0" smtClean="0">
                <a:latin typeface="Verdana" pitchFamily="34" charset="0"/>
                <a:ea typeface="Bodoni SvtyTwo OS ITC TT-Book"/>
                <a:cs typeface="Bodoni SvtyTwo OS ITC TT-Book"/>
              </a:rPr>
              <a:t>The </a:t>
            </a:r>
            <a:r>
              <a:rPr lang="en-US" sz="1500" b="1" dirty="0" smtClean="0">
                <a:latin typeface="Verdana" pitchFamily="34" charset="0"/>
                <a:ea typeface="Bodoni SvtyTwo OS ITC TT-Book"/>
                <a:cs typeface="Bodoni SvtyTwo OS ITC TT-Book"/>
              </a:rPr>
              <a:t>advantage </a:t>
            </a:r>
            <a:r>
              <a:rPr lang="en-US" sz="1500" dirty="0" smtClean="0">
                <a:latin typeface="Verdana" pitchFamily="34" charset="0"/>
                <a:ea typeface="Bodoni SvtyTwo OS ITC TT-Book"/>
                <a:cs typeface="Bodoni SvtyTwo OS ITC TT-Book"/>
              </a:rPr>
              <a:t>of storyboarding is that it allows you to </a:t>
            </a:r>
            <a:r>
              <a:rPr lang="en-US" sz="1500" b="1" dirty="0" smtClean="0">
                <a:latin typeface="Verdana" pitchFamily="34" charset="0"/>
                <a:ea typeface="Bodoni SvtyTwo OS ITC TT-Book"/>
                <a:cs typeface="Bodoni SvtyTwo OS ITC TT-Book"/>
              </a:rPr>
              <a:t>get a feel for the ‘flow’ of the experience</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It is also a very </a:t>
            </a:r>
            <a:r>
              <a:rPr lang="en-US" sz="1500" b="1" dirty="0" smtClean="0">
                <a:latin typeface="Verdana" pitchFamily="34" charset="0"/>
                <a:ea typeface="Bodoni SvtyTwo OS ITC TT-Book"/>
                <a:cs typeface="Bodoni SvtyTwo OS ITC TT-Book"/>
              </a:rPr>
              <a:t>economical way of representing the design </a:t>
            </a:r>
            <a:r>
              <a:rPr lang="en-US" sz="1500" dirty="0" smtClean="0">
                <a:latin typeface="Verdana" pitchFamily="34" charset="0"/>
                <a:ea typeface="Bodoni SvtyTwo OS ITC TT-Book"/>
                <a:cs typeface="Bodoni SvtyTwo OS ITC TT-Book"/>
              </a:rPr>
              <a:t>– a single page can hold 6–8 ‘scenes’. </a:t>
            </a:r>
          </a:p>
          <a:p>
            <a:pPr algn="just" eaLnBrk="1" hangingPunct="1">
              <a:lnSpc>
                <a:spcPct val="200000"/>
              </a:lnSpc>
            </a:pPr>
            <a:r>
              <a:rPr lang="en-US" sz="1500" dirty="0" smtClean="0">
                <a:latin typeface="Verdana" pitchFamily="34" charset="0"/>
                <a:ea typeface="Bodoni SvtyTwo OS ITC TT-Book"/>
                <a:cs typeface="Bodoni SvtyTwo OS ITC TT-Book"/>
              </a:rPr>
              <a:t>It is often </a:t>
            </a:r>
            <a:r>
              <a:rPr lang="en-US" sz="1500" b="1" dirty="0" smtClean="0">
                <a:latin typeface="Verdana" pitchFamily="34" charset="0"/>
                <a:ea typeface="Bodoni SvtyTwo OS ITC TT-Book"/>
                <a:cs typeface="Bodoni SvtyTwo OS ITC TT-Book"/>
              </a:rPr>
              <a:t>helpful to sketch out a storyboard based around a concrete scenario</a:t>
            </a:r>
            <a:r>
              <a:rPr lang="en-US" sz="1500" dirty="0" smtClean="0">
                <a:latin typeface="Verdana" pitchFamily="34" charset="0"/>
                <a:ea typeface="Bodoni SvtyTwo OS ITC TT-Book"/>
                <a:cs typeface="Bodoni SvtyTwo OS ITC TT-Book"/>
              </a:rPr>
              <a:t>. </a:t>
            </a:r>
          </a:p>
          <a:p>
            <a:pPr algn="just" eaLnBrk="1" hangingPunct="1">
              <a:lnSpc>
                <a:spcPct val="200000"/>
              </a:lnSpc>
            </a:pPr>
            <a:r>
              <a:rPr lang="en-US" sz="1500" dirty="0" smtClean="0">
                <a:latin typeface="Verdana" pitchFamily="34" charset="0"/>
                <a:ea typeface="Bodoni SvtyTwo OS ITC TT-Book"/>
                <a:cs typeface="Bodoni SvtyTwo OS ITC TT-Book"/>
              </a:rPr>
              <a:t>The two together are very helpful in working through design ideas with customers.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457200" y="274638"/>
            <a:ext cx="8229600" cy="706090"/>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Three main types of storyboarding:</a:t>
            </a:r>
          </a:p>
        </p:txBody>
      </p:sp>
      <p:sp>
        <p:nvSpPr>
          <p:cNvPr id="27650" name="Text Placeholder 2"/>
          <p:cNvSpPr>
            <a:spLocks noGrp="1"/>
          </p:cNvSpPr>
          <p:nvPr>
            <p:ph type="body" idx="1"/>
          </p:nvPr>
        </p:nvSpPr>
        <p:spPr>
          <a:xfrm>
            <a:off x="457200" y="980728"/>
            <a:ext cx="8229600" cy="5472608"/>
          </a:xfrm>
        </p:spPr>
        <p:txBody>
          <a:bodyPr/>
          <a:lstStyle/>
          <a:p>
            <a:pPr algn="just" eaLnBrk="1" hangingPunct="1">
              <a:lnSpc>
                <a:spcPct val="150000"/>
              </a:lnSpc>
            </a:pPr>
            <a:r>
              <a:rPr lang="en-US" sz="1500" dirty="0" smtClean="0">
                <a:latin typeface="Verdana" pitchFamily="34" charset="0"/>
                <a:ea typeface="Bodoni SvtyTwo OS ITC TT-Book"/>
                <a:cs typeface="Bodoni SvtyTwo OS ITC TT-Book"/>
              </a:rPr>
              <a:t>Traditional storyboarding. A storyboard for a film would usually have some </a:t>
            </a:r>
            <a:r>
              <a:rPr lang="en-US" sz="1500" b="1" dirty="0" smtClean="0">
                <a:latin typeface="Verdana" pitchFamily="34" charset="0"/>
                <a:ea typeface="Bodoni SvtyTwo OS ITC TT-Book"/>
                <a:cs typeface="Bodoni SvtyTwo OS ITC TT-Book"/>
              </a:rPr>
              <a:t>notes attached to each scene</a:t>
            </a:r>
            <a:r>
              <a:rPr lang="en-US" sz="1500" dirty="0" smtClean="0">
                <a:latin typeface="Verdana" pitchFamily="34" charset="0"/>
                <a:ea typeface="Bodoni SvtyTwo OS ITC TT-Book"/>
                <a:cs typeface="Bodoni SvtyTwo OS ITC TT-Book"/>
              </a:rPr>
              <a:t> expanding on what will happen – this helps </a:t>
            </a:r>
            <a:r>
              <a:rPr lang="en-US" sz="1500" b="1" dirty="0" smtClean="0">
                <a:latin typeface="Verdana" pitchFamily="34" charset="0"/>
                <a:ea typeface="Bodoni SvtyTwo OS ITC TT-Book"/>
                <a:cs typeface="Bodoni SvtyTwo OS ITC TT-Book"/>
              </a:rPr>
              <a:t>overcome the limitations of representing a dynamic experience in a static medium.</a:t>
            </a:r>
            <a:r>
              <a:rPr lang="en-US" sz="1500" dirty="0" smtClean="0">
                <a:latin typeface="Verdana" pitchFamily="34" charset="0"/>
                <a:ea typeface="Bodoni SvtyTwo OS ITC TT-Book"/>
                <a:cs typeface="Bodoni SvtyTwo OS ITC TT-Book"/>
              </a:rPr>
              <a:t> For interactive systems, notes below each </a:t>
            </a:r>
            <a:r>
              <a:rPr lang="en-US" sz="1500" b="1" dirty="0" smtClean="0">
                <a:latin typeface="Verdana" pitchFamily="34" charset="0"/>
                <a:ea typeface="Bodoni SvtyTwo OS ITC TT-Book"/>
                <a:cs typeface="Bodoni SvtyTwo OS ITC TT-Book"/>
              </a:rPr>
              <a:t>sketch usually contain the relevant steps from a scenario</a:t>
            </a:r>
            <a:r>
              <a:rPr lang="en-US" sz="1500" dirty="0" smtClean="0">
                <a:latin typeface="Verdana" pitchFamily="34" charset="0"/>
                <a:ea typeface="Bodoni SvtyTwo OS ITC TT-Book"/>
                <a:cs typeface="Bodoni SvtyTwo OS ITC TT-Book"/>
              </a:rPr>
              <a:t>, and the sketches themselves are annotated to </a:t>
            </a:r>
            <a:r>
              <a:rPr lang="en-US" sz="1500" b="1" dirty="0" smtClean="0">
                <a:latin typeface="Verdana" pitchFamily="34" charset="0"/>
                <a:ea typeface="Bodoni SvtyTwo OS ITC TT-Book"/>
                <a:cs typeface="Bodoni SvtyTwo OS ITC TT-Book"/>
              </a:rPr>
              <a:t>indicate interactive </a:t>
            </a:r>
            <a:r>
              <a:rPr lang="en-US" sz="1500" b="1" dirty="0" err="1" smtClean="0">
                <a:latin typeface="Verdana" pitchFamily="34" charset="0"/>
                <a:ea typeface="Bodoni SvtyTwo OS ITC TT-Book"/>
                <a:cs typeface="Bodoni SvtyTwo OS ITC TT-Book"/>
              </a:rPr>
              <a:t>behaviour</a:t>
            </a:r>
            <a:r>
              <a:rPr lang="en-US" sz="1500" dirty="0" smtClean="0">
                <a:latin typeface="Verdana" pitchFamily="34" charset="0"/>
                <a:ea typeface="Bodoni SvtyTwo OS ITC TT-Book"/>
                <a:cs typeface="Bodoni SvtyTwo OS ITC TT-Book"/>
              </a:rPr>
              <a:t>. This is the most usual form of storyboard if there is not a strongly multimedia </a:t>
            </a:r>
            <a:r>
              <a:rPr lang="en-US" sz="1500" dirty="0" err="1" smtClean="0">
                <a:latin typeface="Verdana" pitchFamily="34" charset="0"/>
                <a:ea typeface="Bodoni SvtyTwo OS ITC TT-Book"/>
                <a:cs typeface="Bodoni SvtyTwo OS ITC TT-Book"/>
              </a:rPr>
              <a:t>flavour</a:t>
            </a:r>
            <a:r>
              <a:rPr lang="en-US" sz="1500" dirty="0" smtClean="0">
                <a:latin typeface="Verdana" pitchFamily="34" charset="0"/>
                <a:ea typeface="Bodoni SvtyTwo OS ITC TT-Book"/>
                <a:cs typeface="Bodoni SvtyTwo OS ITC TT-Book"/>
              </a:rPr>
              <a:t> to the application.</a:t>
            </a:r>
          </a:p>
          <a:p>
            <a:pPr algn="just" eaLnBrk="1" hangingPunct="1">
              <a:lnSpc>
                <a:spcPct val="150000"/>
              </a:lnSpc>
            </a:pPr>
            <a:r>
              <a:rPr lang="en-US" sz="1500" dirty="0" smtClean="0">
                <a:latin typeface="Verdana" pitchFamily="34" charset="0"/>
                <a:ea typeface="Bodoni SvtyTwo OS ITC TT-Book"/>
                <a:cs typeface="Bodoni SvtyTwo OS ITC TT-Book"/>
              </a:rPr>
              <a:t>Scored storyboards. If the application has a </a:t>
            </a:r>
            <a:r>
              <a:rPr lang="en-US" sz="1500" b="1" dirty="0" smtClean="0">
                <a:latin typeface="Verdana" pitchFamily="34" charset="0"/>
                <a:ea typeface="Bodoni SvtyTwo OS ITC TT-Book"/>
                <a:cs typeface="Bodoni SvtyTwo OS ITC TT-Book"/>
              </a:rPr>
              <a:t>lot of motion graphics the storyboard can be marked </a:t>
            </a:r>
            <a:r>
              <a:rPr lang="en-US" sz="1500" dirty="0" smtClean="0">
                <a:latin typeface="Verdana" pitchFamily="34" charset="0"/>
                <a:ea typeface="Bodoni SvtyTwo OS ITC TT-Book"/>
                <a:cs typeface="Bodoni SvtyTwo OS ITC TT-Book"/>
              </a:rPr>
              <a:t>– a sketch is annotated with appropriate notation and notes about, for example, type, </a:t>
            </a:r>
            <a:r>
              <a:rPr lang="en-US" sz="1500" dirty="0" err="1" smtClean="0">
                <a:latin typeface="Verdana" pitchFamily="34" charset="0"/>
                <a:ea typeface="Bodoni SvtyTwo OS ITC TT-Book"/>
                <a:cs typeface="Bodoni SvtyTwo OS ITC TT-Book"/>
              </a:rPr>
              <a:t>colours</a:t>
            </a:r>
            <a:r>
              <a:rPr lang="en-US" sz="1500" dirty="0" smtClean="0">
                <a:latin typeface="Verdana" pitchFamily="34" charset="0"/>
                <a:ea typeface="Bodoni SvtyTwo OS ITC TT-Book"/>
                <a:cs typeface="Bodoni SvtyTwo OS ITC TT-Book"/>
              </a:rPr>
              <a:t>, images, sound and other issues are attached underneath.</a:t>
            </a:r>
          </a:p>
          <a:p>
            <a:pPr algn="just" eaLnBrk="1" hangingPunct="1">
              <a:lnSpc>
                <a:spcPct val="150000"/>
              </a:lnSpc>
            </a:pPr>
            <a:r>
              <a:rPr lang="en-US" sz="1500" dirty="0" smtClean="0">
                <a:latin typeface="Verdana" pitchFamily="34" charset="0"/>
                <a:ea typeface="Bodoni SvtyTwo OS ITC TT-Book"/>
                <a:cs typeface="Bodoni SvtyTwo OS ITC TT-Book"/>
              </a:rPr>
              <a:t>Text-only storyboards. These are </a:t>
            </a:r>
            <a:r>
              <a:rPr lang="en-US" sz="1500" b="1" dirty="0" smtClean="0">
                <a:latin typeface="Verdana" pitchFamily="34" charset="0"/>
                <a:ea typeface="Bodoni SvtyTwo OS ITC TT-Book"/>
                <a:cs typeface="Bodoni SvtyTwo OS ITC TT-Book"/>
              </a:rPr>
              <a:t>useful if the application has a lot of very complex sequences. </a:t>
            </a:r>
            <a:r>
              <a:rPr lang="en-US" sz="1500" dirty="0" smtClean="0">
                <a:latin typeface="Verdana" pitchFamily="34" charset="0"/>
                <a:ea typeface="Bodoni SvtyTwo OS ITC TT-Book"/>
                <a:cs typeface="Bodoni SvtyTwo OS ITC TT-Book"/>
              </a:rPr>
              <a:t>You can </a:t>
            </a:r>
            <a:r>
              <a:rPr lang="en-US" sz="1500" b="1" dirty="0" smtClean="0">
                <a:latin typeface="Verdana" pitchFamily="34" charset="0"/>
                <a:ea typeface="Bodoni SvtyTwo OS ITC TT-Book"/>
                <a:cs typeface="Bodoni SvtyTwo OS ITC TT-Book"/>
              </a:rPr>
              <a:t>specify what images appear, what text accompanies them, any accompanying media, general notes about tone, flow, etc.</a:t>
            </a:r>
            <a:endParaRPr lang="en-US" sz="1500" b="1" baseline="-25000" dirty="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274638"/>
            <a:ext cx="8229600" cy="994122"/>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Mood boards</a:t>
            </a:r>
          </a:p>
        </p:txBody>
      </p:sp>
      <p:sp>
        <p:nvSpPr>
          <p:cNvPr id="28674" name="Text Placeholder 2"/>
          <p:cNvSpPr>
            <a:spLocks noGrp="1"/>
          </p:cNvSpPr>
          <p:nvPr>
            <p:ph type="body" idx="1"/>
          </p:nvPr>
        </p:nvSpPr>
        <p:spPr>
          <a:xfrm>
            <a:off x="457200" y="1412776"/>
            <a:ext cx="8229600" cy="4525963"/>
          </a:xfrm>
        </p:spPr>
        <p:txBody>
          <a:bodyPr/>
          <a:lstStyle/>
          <a:p>
            <a:pPr algn="just" eaLnBrk="1" hangingPunct="1">
              <a:lnSpc>
                <a:spcPct val="120000"/>
              </a:lnSpc>
            </a:pPr>
            <a:r>
              <a:rPr lang="en-US" sz="1500" dirty="0" smtClean="0">
                <a:latin typeface="Verdana" pitchFamily="34" charset="0"/>
                <a:ea typeface="Bodoni SvtyTwo OS ITC TT-Book"/>
                <a:cs typeface="Bodoni SvtyTwo OS ITC TT-Book"/>
              </a:rPr>
              <a:t>Mood boards are widely used in advertising and interior design. </a:t>
            </a:r>
          </a:p>
          <a:p>
            <a:pPr algn="just" eaLnBrk="1" hangingPunct="1">
              <a:lnSpc>
                <a:spcPct val="120000"/>
              </a:lnSpc>
            </a:pPr>
            <a:r>
              <a:rPr lang="en-US" sz="1500" dirty="0" smtClean="0">
                <a:latin typeface="Verdana" pitchFamily="34" charset="0"/>
                <a:ea typeface="Bodoni SvtyTwo OS ITC TT-Book"/>
                <a:cs typeface="Bodoni SvtyTwo OS ITC TT-Book"/>
              </a:rPr>
              <a:t>Quite simply you gather visual stimuli that capture something of </a:t>
            </a:r>
            <a:r>
              <a:rPr lang="en-US" sz="1500" b="1" dirty="0" smtClean="0">
                <a:latin typeface="Verdana" pitchFamily="34" charset="0"/>
                <a:ea typeface="Bodoni SvtyTwo OS ITC TT-Book"/>
                <a:cs typeface="Bodoni SvtyTwo OS ITC TT-Book"/>
              </a:rPr>
              <a:t>how you feel about the design</a:t>
            </a:r>
            <a:r>
              <a:rPr lang="en-US" sz="1500" dirty="0" smtClean="0">
                <a:latin typeface="Verdana" pitchFamily="34" charset="0"/>
                <a:ea typeface="Bodoni SvtyTwo OS ITC TT-Book"/>
                <a:cs typeface="Bodoni SvtyTwo OS ITC TT-Book"/>
              </a:rPr>
              <a:t> – photographs and other images, </a:t>
            </a:r>
            <a:r>
              <a:rPr lang="en-US" sz="1500" dirty="0" err="1" smtClean="0">
                <a:latin typeface="Verdana" pitchFamily="34" charset="0"/>
                <a:ea typeface="Bodoni SvtyTwo OS ITC TT-Book"/>
                <a:cs typeface="Bodoni SvtyTwo OS ITC TT-Book"/>
              </a:rPr>
              <a:t>colours</a:t>
            </a:r>
            <a:r>
              <a:rPr lang="en-US" sz="1500" dirty="0" smtClean="0">
                <a:latin typeface="Verdana" pitchFamily="34" charset="0"/>
                <a:ea typeface="Bodoni SvtyTwo OS ITC TT-Book"/>
                <a:cs typeface="Bodoni SvtyTwo OS ITC TT-Book"/>
              </a:rPr>
              <a:t>, textures, shapes, headlines from newspapers or magazines, quotations from people, pieces of fabric and so on. </a:t>
            </a:r>
          </a:p>
          <a:p>
            <a:pPr algn="just" eaLnBrk="1" hangingPunct="1">
              <a:lnSpc>
                <a:spcPct val="120000"/>
              </a:lnSpc>
            </a:pPr>
            <a:r>
              <a:rPr lang="en-US" sz="1500" dirty="0" smtClean="0">
                <a:latin typeface="Verdana" pitchFamily="34" charset="0"/>
                <a:ea typeface="Bodoni SvtyTwo OS ITC TT-Book"/>
                <a:cs typeface="Bodoni SvtyTwo OS ITC TT-Book"/>
              </a:rPr>
              <a:t>Attach the stimuli to a </a:t>
            </a:r>
            <a:r>
              <a:rPr lang="en-US" sz="1500" dirty="0" err="1" smtClean="0">
                <a:latin typeface="Verdana" pitchFamily="34" charset="0"/>
                <a:ea typeface="Bodoni SvtyTwo OS ITC TT-Book"/>
                <a:cs typeface="Bodoni SvtyTwo OS ITC TT-Book"/>
              </a:rPr>
              <a:t>pinboard</a:t>
            </a:r>
            <a:r>
              <a:rPr lang="en-US" sz="1500" dirty="0" smtClean="0">
                <a:latin typeface="Verdana" pitchFamily="34" charset="0"/>
                <a:ea typeface="Bodoni SvtyTwo OS ITC TT-Book"/>
                <a:cs typeface="Bodoni SvtyTwo OS ITC TT-Book"/>
              </a:rPr>
              <a:t>. </a:t>
            </a:r>
          </a:p>
          <a:p>
            <a:pPr algn="just" eaLnBrk="1" hangingPunct="1">
              <a:lnSpc>
                <a:spcPct val="120000"/>
              </a:lnSpc>
            </a:pPr>
            <a:r>
              <a:rPr lang="en-US" sz="1500" dirty="0" smtClean="0">
                <a:latin typeface="Verdana" pitchFamily="34" charset="0"/>
                <a:ea typeface="Bodoni SvtyTwo OS ITC TT-Book"/>
                <a:cs typeface="Bodoni SvtyTwo OS ITC TT-Book"/>
              </a:rPr>
              <a:t>Even thinking about their arrangement can stimulate ideas. </a:t>
            </a:r>
          </a:p>
          <a:p>
            <a:pPr algn="just" eaLnBrk="1" hangingPunct="1">
              <a:lnSpc>
                <a:spcPct val="120000"/>
              </a:lnSpc>
            </a:pPr>
            <a:r>
              <a:rPr lang="en-US" sz="1500" dirty="0" smtClean="0">
                <a:latin typeface="Verdana" pitchFamily="34" charset="0"/>
                <a:ea typeface="Bodoni SvtyTwo OS ITC TT-Book"/>
                <a:cs typeface="Bodoni SvtyTwo OS ITC TT-Book"/>
              </a:rPr>
              <a:t>You can put pages from websites you like on mood boards. </a:t>
            </a:r>
          </a:p>
          <a:p>
            <a:pPr algn="just" eaLnBrk="1" hangingPunct="1">
              <a:lnSpc>
                <a:spcPct val="120000"/>
              </a:lnSpc>
            </a:pPr>
            <a:r>
              <a:rPr lang="en-US" sz="1500" dirty="0" smtClean="0">
                <a:latin typeface="Verdana" pitchFamily="34" charset="0"/>
                <a:ea typeface="Bodoni SvtyTwo OS ITC TT-Book"/>
                <a:cs typeface="Bodoni SvtyTwo OS ITC TT-Book"/>
              </a:rPr>
              <a:t>If you use </a:t>
            </a:r>
            <a:r>
              <a:rPr lang="en-US" sz="1500" dirty="0" err="1" smtClean="0">
                <a:latin typeface="Verdana" pitchFamily="34" charset="0"/>
                <a:ea typeface="Bodoni SvtyTwo OS ITC TT-Book"/>
                <a:cs typeface="Bodoni SvtyTwo OS ITC TT-Book"/>
              </a:rPr>
              <a:t>Blu</a:t>
            </a:r>
            <a:r>
              <a:rPr lang="en-US" sz="1500" dirty="0" smtClean="0">
                <a:latin typeface="Verdana" pitchFamily="34" charset="0"/>
                <a:ea typeface="Bodoni SvtyTwo OS ITC TT-Book"/>
                <a:cs typeface="Bodoni SvtyTwo OS ITC TT-Book"/>
              </a:rPr>
              <a:t>-tack or something similar then you can add and delete items as your thinking changes. </a:t>
            </a:r>
          </a:p>
          <a:p>
            <a:pPr algn="just" eaLnBrk="1" hangingPunct="1">
              <a:lnSpc>
                <a:spcPct val="120000"/>
              </a:lnSpc>
            </a:pPr>
            <a:r>
              <a:rPr lang="en-US" sz="1500" dirty="0" smtClean="0">
                <a:latin typeface="Verdana" pitchFamily="34" charset="0"/>
                <a:ea typeface="Bodoni SvtyTwo OS ITC TT-Book"/>
                <a:cs typeface="Bodoni SvtyTwo OS ITC TT-Book"/>
              </a:rPr>
              <a:t>The rule with mood boards is that ‘anything goes’. </a:t>
            </a:r>
          </a:p>
          <a:p>
            <a:pPr marL="0" indent="0" algn="just" eaLnBrk="1" hangingPunct="1">
              <a:lnSpc>
                <a:spcPct val="120000"/>
              </a:lnSpc>
              <a:buNone/>
            </a:pPr>
            <a:endParaRPr lang="en-US" sz="1500" dirty="0" smtClean="0">
              <a:solidFill>
                <a:srgbClr val="00B050"/>
              </a:solidFill>
              <a:latin typeface="Verdana" pitchFamily="34" charset="0"/>
              <a:ea typeface="Bodoni SvtyTwo OS ITC TT-Book"/>
              <a:cs typeface="Bodoni SvtyTwo OS ITC TT-Book"/>
            </a:endParaRPr>
          </a:p>
          <a:p>
            <a:pPr marL="0" indent="0" algn="just" eaLnBrk="1" hangingPunct="1">
              <a:lnSpc>
                <a:spcPct val="120000"/>
              </a:lnSpc>
              <a:buNone/>
            </a:pPr>
            <a:r>
              <a:rPr lang="en-US" sz="1500" dirty="0" smtClean="0">
                <a:solidFill>
                  <a:srgbClr val="00B050"/>
                </a:solidFill>
                <a:latin typeface="Verdana" pitchFamily="34" charset="0"/>
                <a:ea typeface="Bodoni SvtyTwo OS ITC TT-Book"/>
                <a:cs typeface="Bodoni SvtyTwo OS ITC TT-Book"/>
              </a:rPr>
              <a:t>Mood </a:t>
            </a:r>
            <a:r>
              <a:rPr lang="en-US" sz="1500" dirty="0">
                <a:solidFill>
                  <a:srgbClr val="00B050"/>
                </a:solidFill>
                <a:latin typeface="Verdana" pitchFamily="34" charset="0"/>
                <a:ea typeface="Bodoni SvtyTwo OS ITC TT-Book"/>
                <a:cs typeface="Bodoni SvtyTwo OS ITC TT-Book"/>
              </a:rPr>
              <a:t>board vs </a:t>
            </a:r>
            <a:r>
              <a:rPr lang="en-US" sz="1500" dirty="0" smtClean="0">
                <a:solidFill>
                  <a:srgbClr val="00B050"/>
                </a:solidFill>
                <a:latin typeface="Verdana" pitchFamily="34" charset="0"/>
                <a:ea typeface="Bodoni SvtyTwo OS ITC TT-Book"/>
                <a:cs typeface="Bodoni SvtyTwo OS ITC TT-Book"/>
              </a:rPr>
              <a:t>storyboard: Storyboards </a:t>
            </a:r>
            <a:r>
              <a:rPr lang="en-US" sz="1500" dirty="0">
                <a:solidFill>
                  <a:srgbClr val="00B050"/>
                </a:solidFill>
                <a:latin typeface="Verdana" pitchFamily="34" charset="0"/>
                <a:ea typeface="Bodoni SvtyTwo OS ITC TT-Book"/>
                <a:cs typeface="Bodoni SvtyTwo OS ITC TT-Book"/>
              </a:rPr>
              <a:t>are used to map out the user journey, while mood boards are used to explore the aesthetic and emotional aspects of product design.</a:t>
            </a:r>
            <a:endParaRPr lang="en-US" sz="1500" dirty="0" smtClean="0">
              <a:solidFill>
                <a:srgbClr val="00B050"/>
              </a:solidFill>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Mood boards</a:t>
            </a:r>
          </a:p>
        </p:txBody>
      </p:sp>
      <p:sp>
        <p:nvSpPr>
          <p:cNvPr id="29698" name="Text Placeholder 2"/>
          <p:cNvSpPr>
            <a:spLocks noGrp="1"/>
          </p:cNvSpPr>
          <p:nvPr>
            <p:ph type="body" idx="1"/>
          </p:nvPr>
        </p:nvSpPr>
        <p:spPr/>
        <p:txBody>
          <a:bodyPr/>
          <a:lstStyle/>
          <a:p>
            <a:pPr eaLnBrk="1" hangingPunct="1">
              <a:lnSpc>
                <a:spcPct val="120000"/>
              </a:lnSpc>
            </a:pPr>
            <a:r>
              <a:rPr lang="en-US" sz="1500" dirty="0" smtClean="0">
                <a:latin typeface="Verdana" pitchFamily="34" charset="0"/>
                <a:ea typeface="Bodoni SvtyTwo OS ITC TT-Book"/>
                <a:cs typeface="Bodoni SvtyTwo OS ITC TT-Book"/>
              </a:rPr>
              <a:t>The point of the board is not to formally represent some aspect of the design, simply to </a:t>
            </a:r>
            <a:r>
              <a:rPr lang="en-US" sz="1500" b="1" dirty="0" smtClean="0">
                <a:latin typeface="Verdana" pitchFamily="34" charset="0"/>
                <a:ea typeface="Bodoni SvtyTwo OS ITC TT-Book"/>
                <a:cs typeface="Bodoni SvtyTwo OS ITC TT-Book"/>
              </a:rPr>
              <a:t>act as inspiration </a:t>
            </a:r>
            <a:r>
              <a:rPr lang="en-US" sz="1500" dirty="0" smtClean="0">
                <a:latin typeface="Verdana" pitchFamily="34" charset="0"/>
                <a:ea typeface="Bodoni SvtyTwo OS ITC TT-Book"/>
                <a:cs typeface="Bodoni SvtyTwo OS ITC TT-Book"/>
              </a:rPr>
              <a:t>– perhaps promoting a particular line of thought, or providing inspiration for a </a:t>
            </a:r>
            <a:r>
              <a:rPr lang="en-US" sz="1500" dirty="0" err="1" smtClean="0">
                <a:latin typeface="Verdana" pitchFamily="34" charset="0"/>
                <a:ea typeface="Bodoni SvtyTwo OS ITC TT-Book"/>
                <a:cs typeface="Bodoni SvtyTwo OS ITC TT-Book"/>
              </a:rPr>
              <a:t>colour</a:t>
            </a:r>
            <a:r>
              <a:rPr lang="en-US" sz="1500" dirty="0" smtClean="0">
                <a:latin typeface="Verdana" pitchFamily="34" charset="0"/>
                <a:ea typeface="Bodoni SvtyTwo OS ITC TT-Book"/>
                <a:cs typeface="Bodoni SvtyTwo OS ITC TT-Book"/>
              </a:rPr>
              <a:t> scheme. </a:t>
            </a:r>
          </a:p>
          <a:p>
            <a:pPr eaLnBrk="1" hangingPunct="1">
              <a:lnSpc>
                <a:spcPct val="120000"/>
              </a:lnSpc>
            </a:pPr>
            <a:r>
              <a:rPr lang="en-US" sz="1500" dirty="0" smtClean="0">
                <a:latin typeface="Verdana" pitchFamily="34" charset="0"/>
                <a:ea typeface="Bodoni SvtyTwo OS ITC TT-Book"/>
                <a:cs typeface="Bodoni SvtyTwo OS ITC TT-Book"/>
              </a:rPr>
              <a:t>One technique is to get the client to create a mood board. </a:t>
            </a:r>
          </a:p>
          <a:p>
            <a:pPr eaLnBrk="1" hangingPunct="1">
              <a:lnSpc>
                <a:spcPct val="120000"/>
              </a:lnSpc>
            </a:pPr>
            <a:r>
              <a:rPr lang="en-US" sz="1500" dirty="0" smtClean="0">
                <a:latin typeface="Verdana" pitchFamily="34" charset="0"/>
                <a:ea typeface="Bodoni SvtyTwo OS ITC TT-Book"/>
                <a:cs typeface="Bodoni SvtyTwo OS ITC TT-Book"/>
              </a:rPr>
              <a:t>This can give you an insight into the kinds of aesthetics that are likely to appeal to them. </a:t>
            </a:r>
          </a:p>
          <a:p>
            <a:pPr eaLnBrk="1" hangingPunct="1">
              <a:lnSpc>
                <a:spcPct val="120000"/>
              </a:lnSpc>
            </a:pPr>
            <a:r>
              <a:rPr lang="en-US" sz="1500" dirty="0" smtClean="0">
                <a:latin typeface="Verdana" pitchFamily="34" charset="0"/>
                <a:ea typeface="Bodoni SvtyTwo OS ITC TT-Book"/>
                <a:cs typeface="Bodoni SvtyTwo OS ITC TT-Book"/>
              </a:rPr>
              <a:t>As a variation on the mood board concept, writing down adjectives that describe some aspect of the system can be useful.</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Navigation maps</a:t>
            </a:r>
          </a:p>
        </p:txBody>
      </p:sp>
      <p:sp>
        <p:nvSpPr>
          <p:cNvPr id="30722" name="Text Placeholder 2"/>
          <p:cNvSpPr>
            <a:spLocks noGrp="1"/>
          </p:cNvSpPr>
          <p:nvPr>
            <p:ph type="body" idx="1"/>
          </p:nvPr>
        </p:nvSpPr>
        <p:spPr>
          <a:xfrm>
            <a:off x="457200" y="1340768"/>
            <a:ext cx="8229600" cy="4525963"/>
          </a:xfrm>
        </p:spPr>
        <p:txBody>
          <a:bodyPr/>
          <a:lstStyle/>
          <a:p>
            <a:pPr algn="just" eaLnBrk="1" hangingPunct="1">
              <a:lnSpc>
                <a:spcPct val="150000"/>
              </a:lnSpc>
            </a:pPr>
            <a:r>
              <a:rPr lang="en-US" sz="1500" dirty="0" smtClean="0">
                <a:latin typeface="Verdana" pitchFamily="34" charset="0"/>
                <a:ea typeface="Bodoni SvtyTwo OS ITC TT-Book"/>
                <a:cs typeface="Bodoni SvtyTwo OS ITC TT-Book"/>
              </a:rPr>
              <a:t>Navigation is a key feature for many systems. </a:t>
            </a:r>
          </a:p>
          <a:p>
            <a:pPr algn="just" eaLnBrk="1" hangingPunct="1">
              <a:lnSpc>
                <a:spcPct val="150000"/>
              </a:lnSpc>
            </a:pPr>
            <a:r>
              <a:rPr lang="en-US" sz="1500" dirty="0" smtClean="0">
                <a:latin typeface="Verdana" pitchFamily="34" charset="0"/>
                <a:ea typeface="Bodoni SvtyTwo OS ITC TT-Book"/>
                <a:cs typeface="Bodoni SvtyTwo OS ITC TT-Book"/>
              </a:rPr>
              <a:t>Navigation maps </a:t>
            </a:r>
            <a:r>
              <a:rPr lang="en-US" sz="1500" b="1" dirty="0" smtClean="0">
                <a:latin typeface="Verdana" pitchFamily="34" charset="0"/>
                <a:ea typeface="Bodoni SvtyTwo OS ITC TT-Book"/>
                <a:cs typeface="Bodoni SvtyTwo OS ITC TT-Book"/>
              </a:rPr>
              <a:t>focus on how people move through the site or application</a:t>
            </a:r>
            <a:r>
              <a:rPr lang="en-US" sz="1500" dirty="0" smtClean="0">
                <a:latin typeface="Verdana" pitchFamily="34" charset="0"/>
                <a:ea typeface="Bodoni SvtyTwo OS ITC TT-Book"/>
                <a:cs typeface="Bodoni SvtyTwo OS ITC TT-Book"/>
              </a:rPr>
              <a:t>. </a:t>
            </a:r>
          </a:p>
          <a:p>
            <a:pPr algn="just" eaLnBrk="1" hangingPunct="1">
              <a:lnSpc>
                <a:spcPct val="150000"/>
              </a:lnSpc>
            </a:pPr>
            <a:r>
              <a:rPr lang="en-US" sz="1500" dirty="0" smtClean="0">
                <a:latin typeface="Verdana" pitchFamily="34" charset="0"/>
                <a:ea typeface="Bodoni SvtyTwo OS ITC TT-Book"/>
                <a:cs typeface="Bodoni SvtyTwo OS ITC TT-Book"/>
              </a:rPr>
              <a:t>The aim is to </a:t>
            </a:r>
            <a:r>
              <a:rPr lang="en-US" sz="1500" b="1" dirty="0" smtClean="0">
                <a:latin typeface="Verdana" pitchFamily="34" charset="0"/>
                <a:ea typeface="Bodoni SvtyTwo OS ITC TT-Book"/>
                <a:cs typeface="Bodoni SvtyTwo OS ITC TT-Book"/>
              </a:rPr>
              <a:t>focus on how people will experience the site</a:t>
            </a:r>
            <a:r>
              <a:rPr lang="en-US" sz="1500" dirty="0" smtClean="0">
                <a:latin typeface="Verdana" pitchFamily="34" charset="0"/>
                <a:ea typeface="Bodoni SvtyTwo OS ITC TT-Book"/>
                <a:cs typeface="Bodoni SvtyTwo OS ITC TT-Book"/>
              </a:rPr>
              <a:t>. </a:t>
            </a:r>
          </a:p>
          <a:p>
            <a:pPr algn="just" eaLnBrk="1" hangingPunct="1">
              <a:lnSpc>
                <a:spcPct val="150000"/>
              </a:lnSpc>
            </a:pPr>
            <a:r>
              <a:rPr lang="en-US" sz="1500" dirty="0" smtClean="0">
                <a:latin typeface="Verdana" pitchFamily="34" charset="0"/>
                <a:ea typeface="Bodoni SvtyTwo OS ITC TT-Book"/>
                <a:cs typeface="Bodoni SvtyTwo OS ITC TT-Book"/>
              </a:rPr>
              <a:t>Each page in the site, or location in the application, is represented with a box or heading and every page that can be accessed from that page should flow from it. </a:t>
            </a:r>
          </a:p>
          <a:p>
            <a:pPr algn="just" eaLnBrk="1" hangingPunct="1">
              <a:lnSpc>
                <a:spcPct val="150000"/>
              </a:lnSpc>
            </a:pPr>
            <a:r>
              <a:rPr lang="en-US" sz="1500" dirty="0" smtClean="0">
                <a:latin typeface="Verdana" pitchFamily="34" charset="0"/>
                <a:ea typeface="Bodoni SvtyTwo OS ITC TT-Book"/>
                <a:cs typeface="Bodoni SvtyTwo OS ITC TT-Book"/>
              </a:rPr>
              <a:t>A useful tip is to put in all flows possible (i.e. back and forwards from a page) as this will highlight sections where people might get stranded.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Navigation maps</a:t>
            </a:r>
          </a:p>
        </p:txBody>
      </p:sp>
      <p:sp>
        <p:nvSpPr>
          <p:cNvPr id="31746" name="Text Placeholder 2"/>
          <p:cNvSpPr>
            <a:spLocks noGrp="1"/>
          </p:cNvSpPr>
          <p:nvPr>
            <p:ph type="body" idx="1"/>
          </p:nvPr>
        </p:nvSpPr>
        <p:spPr>
          <a:xfrm>
            <a:off x="457200" y="1423317"/>
            <a:ext cx="8229600" cy="4525963"/>
          </a:xfrm>
        </p:spPr>
        <p:txBody>
          <a:bodyPr/>
          <a:lstStyle/>
          <a:p>
            <a:pPr algn="just" eaLnBrk="1" hangingPunct="1">
              <a:lnSpc>
                <a:spcPct val="150000"/>
              </a:lnSpc>
            </a:pPr>
            <a:r>
              <a:rPr lang="en-US" sz="1500" dirty="0" smtClean="0">
                <a:latin typeface="Verdana" pitchFamily="34" charset="0"/>
                <a:ea typeface="Bodoni SvtyTwo OS ITC TT-Book"/>
                <a:cs typeface="Bodoni SvtyTwo OS ITC TT-Book"/>
              </a:rPr>
              <a:t>Navigation maps can usefully be redrawn many times through the project lifecycle, as </a:t>
            </a:r>
            <a:r>
              <a:rPr lang="en-US" sz="1500" b="1" dirty="0" smtClean="0">
                <a:latin typeface="Verdana" pitchFamily="34" charset="0"/>
                <a:ea typeface="Bodoni SvtyTwo OS ITC TT-Book"/>
                <a:cs typeface="Bodoni SvtyTwo OS ITC TT-Book"/>
              </a:rPr>
              <a:t>poor navigational structure is one of the main reasons people turn off a website, </a:t>
            </a:r>
            <a:r>
              <a:rPr lang="en-US" sz="1500" dirty="0" smtClean="0">
                <a:latin typeface="Verdana" pitchFamily="34" charset="0"/>
                <a:ea typeface="Bodoni SvtyTwo OS ITC TT-Book"/>
                <a:cs typeface="Bodoni SvtyTwo OS ITC TT-Book"/>
              </a:rPr>
              <a:t>for example. </a:t>
            </a:r>
          </a:p>
          <a:p>
            <a:pPr algn="just" eaLnBrk="1" hangingPunct="1">
              <a:lnSpc>
                <a:spcPct val="150000"/>
              </a:lnSpc>
            </a:pPr>
            <a:r>
              <a:rPr lang="en-US" sz="1500" dirty="0" smtClean="0">
                <a:latin typeface="Verdana" pitchFamily="34" charset="0"/>
                <a:ea typeface="Bodoni SvtyTwo OS ITC TT-Book"/>
                <a:cs typeface="Bodoni SvtyTwo OS ITC TT-Book"/>
              </a:rPr>
              <a:t>The maps can be used with scenarios to ‘walk through’ particular activities and are a very good way of spotting poor aspects of design such as ‘orphan pages’ (pages which are not accessible) or dead ends.</a:t>
            </a:r>
          </a:p>
          <a:p>
            <a:pPr algn="just" eaLnBrk="1" hangingPunct="1">
              <a:lnSpc>
                <a:spcPct val="150000"/>
              </a:lnSpc>
            </a:pPr>
            <a:r>
              <a:rPr lang="en-US" sz="1500" dirty="0" smtClean="0">
                <a:latin typeface="Verdana" pitchFamily="34" charset="0"/>
                <a:ea typeface="Bodoni SvtyTwo OS ITC TT-Book"/>
                <a:cs typeface="Bodoni SvtyTwo OS ITC TT-Book"/>
              </a:rPr>
              <a:t>Navigation is important in all manner of applications and products, not just websites. </a:t>
            </a:r>
          </a:p>
          <a:p>
            <a:pPr algn="just" eaLnBrk="1" hangingPunct="1">
              <a:lnSpc>
                <a:spcPct val="150000"/>
              </a:lnSpc>
            </a:pPr>
            <a:r>
              <a:rPr lang="en-US" sz="1500" dirty="0" smtClean="0">
                <a:latin typeface="Verdana" pitchFamily="34" charset="0"/>
                <a:ea typeface="Bodoni SvtyTwo OS ITC TT-Book"/>
                <a:cs typeface="Bodoni SvtyTwo OS ITC TT-Book"/>
              </a:rPr>
              <a:t>More formal and more fully annotated maps can also be developed </a:t>
            </a:r>
          </a:p>
          <a:p>
            <a:pPr algn="just" eaLnBrk="1" hangingPunct="1">
              <a:lnSpc>
                <a:spcPct val="150000"/>
              </a:lnSpc>
            </a:pPr>
            <a:r>
              <a:rPr lang="en-US" sz="1500" dirty="0" smtClean="0">
                <a:latin typeface="Verdana" pitchFamily="34" charset="0"/>
                <a:ea typeface="Bodoni SvtyTwo OS ITC TT-Book"/>
                <a:cs typeface="Bodoni SvtyTwo OS ITC TT-Book"/>
              </a:rPr>
              <a:t>Arrows can be added to lines if the direction of a link is important.</a:t>
            </a:r>
          </a:p>
          <a:p>
            <a:pPr algn="just" eaLnBrk="1" hangingPunct="1">
              <a:lnSpc>
                <a:spcPct val="150000"/>
              </a:lnSpc>
            </a:pP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pPr eaLnBrk="1" hangingPunct="1">
              <a:lnSpc>
                <a:spcPct val="120000"/>
              </a:lnSpc>
            </a:pPr>
            <a:r>
              <a:rPr lang="en-US" sz="2000" b="1" dirty="0" smtClean="0">
                <a:solidFill>
                  <a:schemeClr val="accent1"/>
                </a:solidFill>
                <a:latin typeface="Verdana" pitchFamily="34" charset="0"/>
                <a:ea typeface="Bodoni SvtyTwo OS ITC TT-Book"/>
                <a:cs typeface="Bodoni SvtyTwo OS ITC TT-Book"/>
              </a:rPr>
              <a:t>Prototypes</a:t>
            </a:r>
            <a:br>
              <a:rPr lang="en-US" sz="2000" b="1" dirty="0" smtClean="0">
                <a:solidFill>
                  <a:schemeClr val="accent1"/>
                </a:solidFill>
                <a:latin typeface="Verdana" pitchFamily="34" charset="0"/>
                <a:ea typeface="Bodoni SvtyTwo OS ITC TT-Book"/>
                <a:cs typeface="Bodoni SvtyTwo OS ITC TT-Book"/>
              </a:rPr>
            </a:br>
            <a:r>
              <a:rPr lang="en-US" sz="2000" b="1" dirty="0">
                <a:solidFill>
                  <a:srgbClr val="FF0000"/>
                </a:solidFill>
                <a:latin typeface="Verdana" pitchFamily="34" charset="0"/>
                <a:ea typeface="ヒラギノ角ゴ Pro W3"/>
                <a:cs typeface="ヒラギノ角ゴ Pro W3"/>
              </a:rPr>
              <a:t>(provided in pdf document as well)</a:t>
            </a:r>
            <a:endParaRPr lang="en-US" sz="2000" b="1" dirty="0" smtClean="0">
              <a:solidFill>
                <a:schemeClr val="accent1"/>
              </a:solidFill>
              <a:latin typeface="Verdana" pitchFamily="34" charset="0"/>
              <a:ea typeface="Bodoni SvtyTwo OS ITC TT-Book"/>
              <a:cs typeface="Bodoni SvtyTwo OS ITC TT-Book"/>
            </a:endParaRPr>
          </a:p>
        </p:txBody>
      </p:sp>
      <p:sp>
        <p:nvSpPr>
          <p:cNvPr id="34818" name="Text Placeholder 2"/>
          <p:cNvSpPr>
            <a:spLocks noGrp="1"/>
          </p:cNvSpPr>
          <p:nvPr>
            <p:ph type="body" idx="1"/>
          </p:nvPr>
        </p:nvSpPr>
        <p:spPr>
          <a:xfrm>
            <a:off x="457200" y="1556792"/>
            <a:ext cx="8229600" cy="4525963"/>
          </a:xfrm>
        </p:spPr>
        <p:txBody>
          <a:bodyPr/>
          <a:lstStyle/>
          <a:p>
            <a:pPr algn="just" eaLnBrk="1" hangingPunct="1">
              <a:lnSpc>
                <a:spcPct val="200000"/>
              </a:lnSpc>
            </a:pPr>
            <a:r>
              <a:rPr lang="en-US" sz="1500" dirty="0" smtClean="0">
                <a:latin typeface="Verdana" pitchFamily="34" charset="0"/>
                <a:ea typeface="Bodoni SvtyTwo OS ITC TT-Book"/>
                <a:cs typeface="Bodoni SvtyTwo OS ITC TT-Book"/>
              </a:rPr>
              <a:t>A prototype is a concrete but partial representation or implementation of a system design. </a:t>
            </a:r>
          </a:p>
          <a:p>
            <a:pPr algn="just" eaLnBrk="1" hangingPunct="1">
              <a:lnSpc>
                <a:spcPct val="200000"/>
              </a:lnSpc>
            </a:pPr>
            <a:r>
              <a:rPr lang="en-US" sz="1500" dirty="0" smtClean="0">
                <a:latin typeface="Verdana" pitchFamily="34" charset="0"/>
                <a:ea typeface="Bodoni SvtyTwo OS ITC TT-Book"/>
                <a:cs typeface="Bodoni SvtyTwo OS ITC TT-Book"/>
              </a:rPr>
              <a:t>Prototypes are used extensively in most design and construction domains. </a:t>
            </a:r>
          </a:p>
          <a:p>
            <a:pPr algn="just" eaLnBrk="1" hangingPunct="1">
              <a:lnSpc>
                <a:spcPct val="200000"/>
              </a:lnSpc>
            </a:pPr>
            <a:r>
              <a:rPr lang="en-US" sz="1500" dirty="0" smtClean="0">
                <a:latin typeface="Verdana" pitchFamily="34" charset="0"/>
                <a:ea typeface="Bodoni SvtyTwo OS ITC TT-Book"/>
                <a:cs typeface="Bodoni SvtyTwo OS ITC TT-Book"/>
              </a:rPr>
              <a:t>Lim and </a:t>
            </a:r>
            <a:r>
              <a:rPr lang="en-US" sz="1500" dirty="0" err="1" smtClean="0">
                <a:latin typeface="Verdana" pitchFamily="34" charset="0"/>
                <a:ea typeface="Bodoni SvtyTwo OS ITC TT-Book"/>
                <a:cs typeface="Bodoni SvtyTwo OS ITC TT-Book"/>
              </a:rPr>
              <a:t>Stolterman</a:t>
            </a:r>
            <a:r>
              <a:rPr lang="en-US" sz="1500" dirty="0" smtClean="0">
                <a:latin typeface="Verdana" pitchFamily="34" charset="0"/>
                <a:ea typeface="Bodoni SvtyTwo OS ITC TT-Book"/>
                <a:cs typeface="Bodoni SvtyTwo OS ITC TT-Book"/>
              </a:rPr>
              <a:t> (2008) present a view of prototypes as ‘tools for traversing a design space where all possible design alternatives and their rationales can be explored … Designers communicate the rationales of their design decisions through prototypes. Prototypes stimulate reﬂections, and designers use them to frame, reﬁne, and discover possibilities in a design space.’ (p. 7:2).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ea typeface="ヒラギノ角ゴ Pro W3"/>
                <a:cs typeface="ヒラギノ角ゴ Pro W3"/>
              </a:rPr>
              <a:t>Prototypes </a:t>
            </a:r>
          </a:p>
        </p:txBody>
      </p:sp>
      <p:sp>
        <p:nvSpPr>
          <p:cNvPr id="35842" name="Text Placeholder 2"/>
          <p:cNvSpPr>
            <a:spLocks noGrp="1"/>
          </p:cNvSpPr>
          <p:nvPr>
            <p:ph type="body" idx="1"/>
          </p:nvPr>
        </p:nvSpPr>
        <p:spPr>
          <a:xfrm>
            <a:off x="457200" y="1268760"/>
            <a:ext cx="8229600" cy="4896544"/>
          </a:xfrm>
        </p:spPr>
        <p:txBody>
          <a:bodyPr/>
          <a:lstStyle/>
          <a:p>
            <a:pPr algn="just" eaLnBrk="1" hangingPunct="1">
              <a:lnSpc>
                <a:spcPct val="150000"/>
              </a:lnSpc>
            </a:pPr>
            <a:r>
              <a:rPr lang="en-US" sz="1500" dirty="0" smtClean="0">
                <a:latin typeface="Verdana" pitchFamily="34" charset="0"/>
                <a:ea typeface="Bodoni SvtyTwo OS ITC TT-Book"/>
                <a:cs typeface="Bodoni SvtyTwo OS ITC TT-Book"/>
              </a:rPr>
              <a:t>Prototypes may be used to demonstrate a concept (e.g. a prototype car) in early design, to test details of that concept at a later stage and sometimes as a specification for the final product. </a:t>
            </a:r>
          </a:p>
          <a:p>
            <a:pPr algn="just" eaLnBrk="1" hangingPunct="1">
              <a:lnSpc>
                <a:spcPct val="150000"/>
              </a:lnSpc>
            </a:pPr>
            <a:r>
              <a:rPr lang="en-US" sz="1500" dirty="0" smtClean="0">
                <a:latin typeface="Verdana" pitchFamily="34" charset="0"/>
                <a:ea typeface="Bodoni SvtyTwo OS ITC TT-Book"/>
                <a:cs typeface="Bodoni SvtyTwo OS ITC TT-Book"/>
              </a:rPr>
              <a:t>A prototype may be made of something as simple as paper, cardboard or other suitable material, or it may be developed using a sophisticated software package.</a:t>
            </a:r>
          </a:p>
          <a:p>
            <a:pPr algn="just" eaLnBrk="1" hangingPunct="1">
              <a:lnSpc>
                <a:spcPct val="150000"/>
              </a:lnSpc>
            </a:pPr>
            <a:r>
              <a:rPr lang="en-US" sz="1500" dirty="0" smtClean="0">
                <a:latin typeface="Verdana" pitchFamily="34" charset="0"/>
                <a:ea typeface="Bodoni SvtyTwo OS ITC TT-Book"/>
                <a:cs typeface="Bodoni SvtyTwo OS ITC TT-Book"/>
              </a:rPr>
              <a:t>The main distinguishing characteristic of a prototype is that it is interactive. </a:t>
            </a:r>
          </a:p>
          <a:p>
            <a:pPr algn="just" eaLnBrk="1" hangingPunct="1">
              <a:lnSpc>
                <a:spcPct val="150000"/>
              </a:lnSpc>
            </a:pPr>
            <a:r>
              <a:rPr lang="en-US" sz="1500" dirty="0" smtClean="0">
                <a:latin typeface="Verdana" pitchFamily="34" charset="0"/>
                <a:ea typeface="Bodoni SvtyTwo OS ITC TT-Book"/>
                <a:cs typeface="Bodoni SvtyTwo OS ITC TT-Book"/>
              </a:rPr>
              <a:t>Something happens when a person ‘presses’ a ‘button’ – even if the button is drawn on paper and the action consists of a menu on a Post-it note being added by the designer. </a:t>
            </a:r>
          </a:p>
          <a:p>
            <a:pPr algn="just" eaLnBrk="1" hangingPunct="1">
              <a:lnSpc>
                <a:spcPct val="150000"/>
              </a:lnSpc>
            </a:pPr>
            <a:r>
              <a:rPr lang="en-US" sz="1500" dirty="0" smtClean="0">
                <a:latin typeface="Verdana" pitchFamily="34" charset="0"/>
                <a:ea typeface="Bodoni SvtyTwo OS ITC TT-Book"/>
                <a:cs typeface="Bodoni SvtyTwo OS ITC TT-Book"/>
              </a:rPr>
              <a:t>The appropriateness of a prototype will depend on a number of factors such as whom the prototype is aimed at, the stage of the design process and what features the designer is looking to explore.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Using Prototypes</a:t>
            </a:r>
          </a:p>
        </p:txBody>
      </p:sp>
      <p:sp>
        <p:nvSpPr>
          <p:cNvPr id="36866"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For the design team representations like navigation maps and flow charts might be meaningful, but for clients and ordinary people some form of prototype is crucial for capturing the outcomes of the envisioning techniques we have discussed so far. </a:t>
            </a:r>
          </a:p>
          <a:p>
            <a:pPr eaLnBrk="1" hangingPunct="1">
              <a:lnSpc>
                <a:spcPct val="120000"/>
              </a:lnSpc>
            </a:pPr>
            <a:r>
              <a:rPr lang="en-US" sz="1500" smtClean="0">
                <a:latin typeface="Verdana" pitchFamily="34" charset="0"/>
                <a:ea typeface="Bodoni SvtyTwo OS ITC TT-Book"/>
                <a:cs typeface="Bodoni SvtyTwo OS ITC TT-Book"/>
              </a:rPr>
              <a:t>The prototype might seek to highlight just the interface, or some crucial aspect of the functionality. </a:t>
            </a:r>
          </a:p>
          <a:p>
            <a:pPr eaLnBrk="1" hangingPunct="1">
              <a:lnSpc>
                <a:spcPct val="120000"/>
              </a:lnSpc>
            </a:pPr>
            <a:r>
              <a:rPr lang="en-US" sz="1500" smtClean="0">
                <a:latin typeface="Verdana" pitchFamily="34" charset="0"/>
                <a:ea typeface="Bodoni SvtyTwo OS ITC TT-Book"/>
                <a:cs typeface="Bodoni SvtyTwo OS ITC TT-Book"/>
              </a:rPr>
              <a:t>Prototypes are first and foremost a way of involving people and clients in evaluating your design ideas. </a:t>
            </a:r>
          </a:p>
          <a:p>
            <a:pPr eaLnBrk="1" hangingPunct="1">
              <a:lnSpc>
                <a:spcPct val="120000"/>
              </a:lnSpc>
            </a:pPr>
            <a:r>
              <a:rPr lang="en-US" sz="1500" smtClean="0">
                <a:latin typeface="Verdana" pitchFamily="34" charset="0"/>
                <a:ea typeface="Bodoni SvtyTwo OS ITC TT-Book"/>
                <a:cs typeface="Bodoni SvtyTwo OS ITC TT-Book"/>
              </a:rPr>
              <a:t>There are two main kinds of prototyping – low fidelity (lo-fi) and high fidelity (hi-fi). </a:t>
            </a:r>
          </a:p>
          <a:p>
            <a:pPr eaLnBrk="1" hangingPunct="1">
              <a:lnSpc>
                <a:spcPct val="120000"/>
              </a:lnSpc>
            </a:pPr>
            <a:r>
              <a:rPr lang="en-US" sz="1500" smtClean="0">
                <a:latin typeface="Verdana" pitchFamily="34" charset="0"/>
                <a:ea typeface="Bodoni SvtyTwo OS ITC TT-Book"/>
                <a:cs typeface="Bodoni SvtyTwo OS ITC TT-Book"/>
              </a:rPr>
              <a:t>Also there are video prototypes, a medium that is becoming increasingly useful and common in interaction design.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Hi-fi prototypes</a:t>
            </a:r>
          </a:p>
        </p:txBody>
      </p:sp>
      <p:sp>
        <p:nvSpPr>
          <p:cNvPr id="37890"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Hi-fi prototypes are similar in look and feel, if not necessarily in functionality, to the anticipated final product. </a:t>
            </a:r>
          </a:p>
          <a:p>
            <a:pPr eaLnBrk="1" hangingPunct="1">
              <a:lnSpc>
                <a:spcPct val="120000"/>
              </a:lnSpc>
            </a:pPr>
            <a:r>
              <a:rPr lang="en-US" sz="1500" smtClean="0">
                <a:latin typeface="Verdana" pitchFamily="34" charset="0"/>
                <a:ea typeface="Bodoni SvtyTwo OS ITC TT-Book"/>
                <a:cs typeface="Bodoni SvtyTwo OS ITC TT-Book"/>
              </a:rPr>
              <a:t>They are produced in software, whether in the development environment which will be used for implementation or in packages that will allow interactive effects to be mocked-up easily. </a:t>
            </a:r>
          </a:p>
          <a:p>
            <a:pPr eaLnBrk="1" hangingPunct="1">
              <a:lnSpc>
                <a:spcPct val="120000"/>
              </a:lnSpc>
            </a:pPr>
            <a:r>
              <a:rPr lang="en-US" sz="1500" smtClean="0">
                <a:latin typeface="Verdana" pitchFamily="34" charset="0"/>
                <a:ea typeface="Bodoni SvtyTwo OS ITC TT-Book"/>
                <a:cs typeface="Bodoni SvtyTwo OS ITC TT-Book"/>
              </a:rPr>
              <a:t>It is useful for detailed evaluation of the main design elements (content, visuals, interactivity, functionality and media) – for example, hi-fi prototypes can be used in usability studies to establish whether people can learn to use the system within a specified amount of time.</a:t>
            </a:r>
          </a:p>
          <a:p>
            <a:pPr eaLnBrk="1" hangingPunct="1">
              <a:lnSpc>
                <a:spcPct val="120000"/>
              </a:lnSpc>
            </a:pPr>
            <a:r>
              <a:rPr lang="en-US" sz="1500" smtClean="0">
                <a:latin typeface="Verdana" pitchFamily="34" charset="0"/>
                <a:ea typeface="Bodoni SvtyTwo OS ITC TT-Book"/>
                <a:cs typeface="Bodoni SvtyTwo OS ITC TT-Book"/>
              </a:rPr>
              <a:t>It often constitutes a crucial stage in client acceptance – as a kind of final design document which the client must agree to before the final implementation.</a:t>
            </a:r>
          </a:p>
          <a:p>
            <a:pPr eaLnBrk="1" hangingPunct="1">
              <a:lnSpc>
                <a:spcPct val="120000"/>
              </a:lnSpc>
            </a:pPr>
            <a:r>
              <a:rPr lang="en-US" sz="1500" smtClean="0">
                <a:latin typeface="Verdana" pitchFamily="34" charset="0"/>
                <a:ea typeface="Bodoni SvtyTwo OS ITC TT-Book"/>
                <a:cs typeface="Bodoni SvtyTwo OS ITC TT-Book"/>
              </a:rPr>
              <a:t>It is generally developed fairly well into the project when ideas are beginning to firm up, unless there is some crucial issue that needs to be resolved before any other work can proceed.</a:t>
            </a:r>
            <a:endParaRPr lang="en-US" sz="1500" baseline="-2500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Hi-fi prototypes</a:t>
            </a:r>
          </a:p>
        </p:txBody>
      </p:sp>
      <p:sp>
        <p:nvSpPr>
          <p:cNvPr id="38914"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A problem with developing hi-fi prototypes is that people believe them! </a:t>
            </a:r>
          </a:p>
          <a:p>
            <a:pPr eaLnBrk="1" hangingPunct="1">
              <a:lnSpc>
                <a:spcPct val="120000"/>
              </a:lnSpc>
            </a:pPr>
            <a:r>
              <a:rPr lang="en-US" sz="1500" smtClean="0">
                <a:latin typeface="Verdana" pitchFamily="34" charset="0"/>
                <a:ea typeface="Bodoni SvtyTwo OS ITC TT-Book"/>
                <a:cs typeface="Bodoni SvtyTwo OS ITC TT-Book"/>
              </a:rPr>
              <a:t>This is dangerous if the designer has not checked details and thought through ideas clearly beforehand. </a:t>
            </a:r>
          </a:p>
          <a:p>
            <a:pPr eaLnBrk="1" hangingPunct="1">
              <a:lnSpc>
                <a:spcPct val="120000"/>
              </a:lnSpc>
            </a:pPr>
            <a:r>
              <a:rPr lang="en-US" sz="1500" smtClean="0">
                <a:latin typeface="Verdana" pitchFamily="34" charset="0"/>
                <a:ea typeface="Bodoni SvtyTwo OS ITC TT-Book"/>
                <a:cs typeface="Bodoni SvtyTwo OS ITC TT-Book"/>
              </a:rPr>
              <a:t>A simple error – perhaps in the name of a customer, or of a product – can completely ruin a prototype because clients or employees will get confused. </a:t>
            </a:r>
          </a:p>
          <a:p>
            <a:pPr eaLnBrk="1" hangingPunct="1">
              <a:lnSpc>
                <a:spcPct val="120000"/>
              </a:lnSpc>
            </a:pPr>
            <a:r>
              <a:rPr lang="en-US" sz="1500" smtClean="0">
                <a:latin typeface="Verdana" pitchFamily="34" charset="0"/>
                <a:ea typeface="Bodoni SvtyTwo OS ITC TT-Book"/>
                <a:cs typeface="Bodoni SvtyTwo OS ITC TT-Book"/>
              </a:rPr>
              <a:t>If everything else seems real why aren’t the customers our real customers? </a:t>
            </a:r>
          </a:p>
          <a:p>
            <a:pPr eaLnBrk="1" hangingPunct="1">
              <a:lnSpc>
                <a:spcPct val="120000"/>
              </a:lnSpc>
            </a:pPr>
            <a:r>
              <a:rPr lang="en-US" sz="1500" smtClean="0">
                <a:latin typeface="Verdana" pitchFamily="34" charset="0"/>
                <a:ea typeface="Bodoni SvtyTwo OS ITC TT-Book"/>
                <a:cs typeface="Bodoni SvtyTwo OS ITC TT-Book"/>
              </a:rPr>
              <a:t>For hi-fi prototyping accurate detail is vital. </a:t>
            </a:r>
          </a:p>
          <a:p>
            <a:pPr eaLnBrk="1" hangingPunct="1">
              <a:lnSpc>
                <a:spcPct val="120000"/>
              </a:lnSpc>
            </a:pPr>
            <a:r>
              <a:rPr lang="en-US" sz="1500" smtClean="0">
                <a:latin typeface="Verdana" pitchFamily="34" charset="0"/>
                <a:ea typeface="Bodoni SvtyTwo OS ITC TT-Book"/>
                <a:cs typeface="Bodoni SvtyTwo OS ITC TT-Book"/>
              </a:rPr>
              <a:t>Another problem with hi-fi prototyping is that it suggests such a system can be implemented. </a:t>
            </a:r>
          </a:p>
          <a:p>
            <a:pPr eaLnBrk="1" hangingPunct="1">
              <a:lnSpc>
                <a:spcPct val="120000"/>
              </a:lnSpc>
            </a:pPr>
            <a:r>
              <a:rPr lang="en-US" sz="1500" smtClean="0">
                <a:latin typeface="Verdana" pitchFamily="34" charset="0"/>
                <a:ea typeface="Bodoni SvtyTwo OS ITC TT-Book"/>
                <a:cs typeface="Bodoni SvtyTwo OS ITC TT-Book"/>
              </a:rPr>
              <a:t>Inevitably a degree of effort and time is consumed in producing the prototype. </a:t>
            </a:r>
          </a:p>
          <a:p>
            <a:pPr eaLnBrk="1" hangingPunct="1">
              <a:lnSpc>
                <a:spcPct val="120000"/>
              </a:lnSpc>
            </a:pPr>
            <a:r>
              <a:rPr lang="en-US" sz="1500" smtClean="0">
                <a:latin typeface="Verdana" pitchFamily="34" charset="0"/>
                <a:ea typeface="Bodoni SvtyTwo OS ITC TT-Book"/>
                <a:cs typeface="Bodoni SvtyTwo OS ITC TT-Book"/>
              </a:rPr>
              <a:t>If this is in the eventual development environment, developers can be understandably reluctant to discard work on features rejected in exploring the prototype.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Lo-fi prototypes</a:t>
            </a:r>
          </a:p>
        </p:txBody>
      </p:sp>
      <p:sp>
        <p:nvSpPr>
          <p:cNvPr id="39938"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Lo-fi prototypes – often termed paper prototypes, since that is what they are usually made from – on the other hand, have the following features.</a:t>
            </a:r>
          </a:p>
          <a:p>
            <a:pPr eaLnBrk="1" hangingPunct="1">
              <a:lnSpc>
                <a:spcPct val="120000"/>
              </a:lnSpc>
            </a:pPr>
            <a:r>
              <a:rPr lang="en-US" sz="1500" smtClean="0">
                <a:latin typeface="Verdana" pitchFamily="34" charset="0"/>
                <a:ea typeface="Bodoni SvtyTwo OS ITC TT-Book"/>
                <a:cs typeface="Bodoni SvtyTwo OS ITC TT-Book"/>
              </a:rPr>
              <a:t>They are more focused on the broad underlying design ideas – such as content, form and structure, the ‘tone’ of the design, key functionality requirements and navigational structure.</a:t>
            </a:r>
          </a:p>
          <a:p>
            <a:pPr eaLnBrk="1" hangingPunct="1">
              <a:lnSpc>
                <a:spcPct val="120000"/>
              </a:lnSpc>
            </a:pPr>
            <a:r>
              <a:rPr lang="en-US" sz="1500" smtClean="0">
                <a:latin typeface="Verdana" pitchFamily="34" charset="0"/>
                <a:ea typeface="Bodoni SvtyTwo OS ITC TT-Book"/>
                <a:cs typeface="Bodoni SvtyTwo OS ITC TT-Book"/>
              </a:rPr>
              <a:t>They are designed to be produced quickly, and thrown away as quickly.</a:t>
            </a:r>
          </a:p>
          <a:p>
            <a:pPr eaLnBrk="1" hangingPunct="1">
              <a:lnSpc>
                <a:spcPct val="120000"/>
              </a:lnSpc>
            </a:pPr>
            <a:r>
              <a:rPr lang="en-US" sz="1500" smtClean="0">
                <a:latin typeface="Verdana" pitchFamily="34" charset="0"/>
                <a:ea typeface="Bodoni SvtyTwo OS ITC TT-Book"/>
                <a:cs typeface="Bodoni SvtyTwo OS ITC TT-Book"/>
              </a:rPr>
              <a:t>They capture very early design thinking and should aid, not hinder, the process of generating and evaluating many possible design solutions.</a:t>
            </a:r>
          </a:p>
          <a:p>
            <a:pPr eaLnBrk="1" hangingPunct="1">
              <a:lnSpc>
                <a:spcPct val="120000"/>
              </a:lnSpc>
            </a:pPr>
            <a:r>
              <a:rPr lang="en-US" sz="1500" smtClean="0">
                <a:latin typeface="Verdana" pitchFamily="34" charset="0"/>
                <a:ea typeface="Bodoni SvtyTwo OS ITC TT-Book"/>
                <a:cs typeface="Bodoni SvtyTwo OS ITC TT-Book"/>
              </a:rPr>
              <a:t>The products of some of the envisioning techniques discussed previously are kinds of lo-fi prototypes in some respects. </a:t>
            </a:r>
          </a:p>
          <a:p>
            <a:pPr eaLnBrk="1" hangingPunct="1">
              <a:lnSpc>
                <a:spcPct val="120000"/>
              </a:lnSpc>
            </a:pPr>
            <a:r>
              <a:rPr lang="en-US" sz="1500" smtClean="0">
                <a:latin typeface="Verdana" pitchFamily="34" charset="0"/>
                <a:ea typeface="Bodoni SvtyTwo OS ITC TT-Book"/>
                <a:cs typeface="Bodoni SvtyTwo OS ITC TT-Book"/>
              </a:rPr>
              <a:t>However, the most usual form of this sort of prototype is a series of ‘screenshots’ that people can ‘walk through’ (for example, a button on screen shot 1 can be ‘clicked’ and this is followed by screen shot 6, etc.). </a:t>
            </a:r>
          </a:p>
          <a:p>
            <a:pPr eaLnBrk="1" hangingPunct="1">
              <a:lnSpc>
                <a:spcPct val="120000"/>
              </a:lnSpc>
            </a:pPr>
            <a:r>
              <a:rPr lang="en-US" sz="1500" smtClean="0">
                <a:latin typeface="Verdana" pitchFamily="34" charset="0"/>
                <a:ea typeface="Bodoni SvtyTwo OS ITC TT-Book"/>
                <a:cs typeface="Bodoni SvtyTwo OS ITC TT-Book"/>
              </a:rPr>
              <a:t>How the prototype is implemented is limited only by your imagination, by time and the materials readily to hand.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Lo-fi prototypes</a:t>
            </a:r>
          </a:p>
        </p:txBody>
      </p:sp>
      <p:sp>
        <p:nvSpPr>
          <p:cNvPr id="40962"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Very flexible prototypes can be produced simply and quickly using screen-sized pieces of stiff paper and index cards or Post-its in different colours. </a:t>
            </a:r>
          </a:p>
          <a:p>
            <a:pPr eaLnBrk="1" hangingPunct="1">
              <a:lnSpc>
                <a:spcPct val="120000"/>
              </a:lnSpc>
            </a:pPr>
            <a:r>
              <a:rPr lang="en-US" sz="1500" smtClean="0">
                <a:latin typeface="Verdana" pitchFamily="34" charset="0"/>
                <a:ea typeface="Bodoni SvtyTwo OS ITC TT-Book"/>
                <a:cs typeface="Bodoni SvtyTwo OS ITC TT-Book"/>
              </a:rPr>
              <a:t>Permanent features of each screen are drawn on the card; dynamic items such as dialogue boxes or menus use the cards or Post-its, cut to size as necessary. </a:t>
            </a:r>
          </a:p>
          <a:p>
            <a:pPr eaLnBrk="1" hangingPunct="1">
              <a:lnSpc>
                <a:spcPct val="120000"/>
              </a:lnSpc>
            </a:pPr>
            <a:r>
              <a:rPr lang="en-US" sz="1500" smtClean="0">
                <a:latin typeface="Verdana" pitchFamily="34" charset="0"/>
                <a:ea typeface="Bodoni SvtyTwo OS ITC TT-Book"/>
                <a:cs typeface="Bodoni SvtyTwo OS ITC TT-Book"/>
              </a:rPr>
              <a:t>Overlays of acetates can simulate dynamic features, or allow people to write comments using wipe-off pens. </a:t>
            </a:r>
          </a:p>
          <a:p>
            <a:pPr eaLnBrk="1" hangingPunct="1">
              <a:lnSpc>
                <a:spcPct val="120000"/>
              </a:lnSpc>
            </a:pPr>
            <a:r>
              <a:rPr lang="en-US" sz="1500" smtClean="0">
                <a:latin typeface="Verdana" pitchFamily="34" charset="0"/>
                <a:ea typeface="Bodoni SvtyTwo OS ITC TT-Book"/>
                <a:cs typeface="Bodoni SvtyTwo OS ITC TT-Book"/>
              </a:rPr>
              <a:t>But it is really important not to spend too much time doing this – the whole point is the low investment in the prototype build. </a:t>
            </a:r>
          </a:p>
          <a:p>
            <a:pPr eaLnBrk="1" hangingPunct="1">
              <a:lnSpc>
                <a:spcPct val="120000"/>
              </a:lnSpc>
            </a:pPr>
            <a:r>
              <a:rPr lang="en-US" sz="1500" smtClean="0">
                <a:latin typeface="Verdana" pitchFamily="34" charset="0"/>
                <a:ea typeface="Bodoni SvtyTwo OS ITC TT-Book"/>
                <a:cs typeface="Bodoni SvtyTwo OS ITC TT-Book"/>
              </a:rPr>
              <a:t>If you are spending a good deal of time trying to replicate design details on paper, you should probably be using a hi-fi software prototype instead.</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457200" y="778694"/>
            <a:ext cx="8229600" cy="490066"/>
          </a:xfrm>
        </p:spPr>
        <p:txBody>
          <a:bodyPr/>
          <a:lstStyle/>
          <a:p>
            <a:pPr eaLnBrk="1" hangingPunct="1">
              <a:lnSpc>
                <a:spcPct val="120000"/>
              </a:lnSpc>
            </a:pPr>
            <a:r>
              <a:rPr lang="en-US" sz="1800" b="1" dirty="0" smtClean="0">
                <a:latin typeface="Verdana" pitchFamily="34" charset="0"/>
                <a:ea typeface="Bodoni SvtyTwo OS ITC TT-Book"/>
                <a:cs typeface="Bodoni SvtyTwo OS ITC TT-Book"/>
              </a:rPr>
              <a:t>practical issues with paper prototypes </a:t>
            </a:r>
          </a:p>
        </p:txBody>
      </p:sp>
      <p:sp>
        <p:nvSpPr>
          <p:cNvPr id="41986" name="Text Placeholder 2"/>
          <p:cNvSpPr>
            <a:spLocks noGrp="1"/>
          </p:cNvSpPr>
          <p:nvPr>
            <p:ph type="body" idx="1"/>
          </p:nvPr>
        </p:nvSpPr>
        <p:spPr/>
        <p:txBody>
          <a:bodyPr/>
          <a:lstStyle/>
          <a:p>
            <a:pPr algn="just" eaLnBrk="1" hangingPunct="1">
              <a:lnSpc>
                <a:spcPct val="120000"/>
              </a:lnSpc>
            </a:pPr>
            <a:r>
              <a:rPr lang="en-US" sz="1600" dirty="0" smtClean="0">
                <a:latin typeface="Verdana" pitchFamily="34" charset="0"/>
                <a:ea typeface="Bodoni SvtyTwo OS ITC TT-Book"/>
                <a:cs typeface="Bodoni SvtyTwo OS ITC TT-Book"/>
              </a:rPr>
              <a:t>Robustness – if a paper prototype is to be handled by lots of people it needs to be tough enough to survive.</a:t>
            </a:r>
          </a:p>
          <a:p>
            <a:pPr algn="just" eaLnBrk="1" hangingPunct="1">
              <a:lnSpc>
                <a:spcPct val="120000"/>
              </a:lnSpc>
            </a:pPr>
            <a:r>
              <a:rPr lang="en-US" sz="1600" dirty="0" smtClean="0">
                <a:latin typeface="Verdana" pitchFamily="34" charset="0"/>
                <a:ea typeface="Bodoni SvtyTwo OS ITC TT-Book"/>
                <a:cs typeface="Bodoni SvtyTwo OS ITC TT-Book"/>
              </a:rPr>
              <a:t>Scope – focus on broad issues and key elements; if you are trying to tell too detailed a story it can be hard for users to understand.</a:t>
            </a:r>
          </a:p>
          <a:p>
            <a:pPr algn="just" eaLnBrk="1" hangingPunct="1">
              <a:lnSpc>
                <a:spcPct val="120000"/>
              </a:lnSpc>
            </a:pPr>
            <a:r>
              <a:rPr lang="en-US" sz="1600" dirty="0" smtClean="0">
                <a:latin typeface="Verdana" pitchFamily="34" charset="0"/>
                <a:ea typeface="Bodoni SvtyTwo OS ITC TT-Book"/>
                <a:cs typeface="Bodoni SvtyTwo OS ITC TT-Book"/>
              </a:rPr>
              <a:t>Instructions – there is a trade-off between adding enough detail for someone to able to use the prototype without the designer helping (in which case the boundary between the design ideas and the supplementary information can be hard to see) and adding so much detail that it needs someone to talk the user through it (which may affect the user’s responses).</a:t>
            </a:r>
          </a:p>
          <a:p>
            <a:pPr algn="just" eaLnBrk="1" hangingPunct="1">
              <a:lnSpc>
                <a:spcPct val="120000"/>
              </a:lnSpc>
            </a:pPr>
            <a:r>
              <a:rPr lang="en-US" sz="1600" dirty="0" smtClean="0">
                <a:latin typeface="Verdana" pitchFamily="34" charset="0"/>
                <a:ea typeface="Bodoni SvtyTwo OS ITC TT-Book"/>
                <a:cs typeface="Bodoni SvtyTwo OS ITC TT-Book"/>
              </a:rPr>
              <a:t>Flexibility – have parts of the paper prototype adjustable so that people viewing it can ‘redesign it’ on the fly, e.g. by using sticky notes to represent parts of the screen where the user can move elements around or add new items.</a:t>
            </a:r>
            <a:endParaRPr lang="en-US" sz="1600" baseline="-25000" dirty="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Video prototypes</a:t>
            </a:r>
          </a:p>
        </p:txBody>
      </p:sp>
      <p:sp>
        <p:nvSpPr>
          <p:cNvPr id="43010" name="Text Placeholder 2"/>
          <p:cNvSpPr>
            <a:spLocks noGrp="1"/>
          </p:cNvSpPr>
          <p:nvPr>
            <p:ph type="body" idx="1"/>
          </p:nvPr>
        </p:nvSpPr>
        <p:spPr>
          <a:xfrm>
            <a:off x="457200" y="1196752"/>
            <a:ext cx="8229600" cy="5184576"/>
          </a:xfrm>
        </p:spPr>
        <p:txBody>
          <a:bodyPr/>
          <a:lstStyle/>
          <a:p>
            <a:pPr algn="just" eaLnBrk="1" hangingPunct="1">
              <a:lnSpc>
                <a:spcPct val="120000"/>
              </a:lnSpc>
            </a:pPr>
            <a:r>
              <a:rPr lang="en-US" sz="1500" dirty="0" smtClean="0">
                <a:latin typeface="Verdana" pitchFamily="34" charset="0"/>
                <a:ea typeface="Bodoni SvtyTwo OS ITC TT-Book"/>
                <a:cs typeface="Bodoni SvtyTwo OS ITC TT-Book"/>
              </a:rPr>
              <a:t>the potential of video as a tool within the participatory design process, </a:t>
            </a:r>
          </a:p>
          <a:p>
            <a:pPr algn="just" eaLnBrk="1" hangingPunct="1">
              <a:lnSpc>
                <a:spcPct val="120000"/>
              </a:lnSpc>
            </a:pPr>
            <a:r>
              <a:rPr lang="en-US" sz="1500" dirty="0" smtClean="0">
                <a:latin typeface="Verdana" pitchFamily="34" charset="0"/>
                <a:ea typeface="Bodoni SvtyTwo OS ITC TT-Book"/>
                <a:cs typeface="Bodoni SvtyTwo OS ITC TT-Book"/>
              </a:rPr>
              <a:t>from initial observation, through ideas generation and design exploration, what Mackay et al called “video brainstorming” and “video prototyping” (2000). </a:t>
            </a:r>
          </a:p>
          <a:p>
            <a:pPr algn="just" eaLnBrk="1" hangingPunct="1">
              <a:lnSpc>
                <a:spcPct val="120000"/>
              </a:lnSpc>
            </a:pPr>
            <a:r>
              <a:rPr lang="en-US" sz="1500" dirty="0" err="1" smtClean="0">
                <a:latin typeface="Verdana" pitchFamily="34" charset="0"/>
                <a:ea typeface="Bodoni SvtyTwo OS ITC TT-Book"/>
                <a:cs typeface="Bodoni SvtyTwo OS ITC TT-Book"/>
              </a:rPr>
              <a:t>Vertelney’s</a:t>
            </a:r>
            <a:r>
              <a:rPr lang="en-US" sz="1500" dirty="0" smtClean="0">
                <a:latin typeface="Verdana" pitchFamily="34" charset="0"/>
                <a:ea typeface="Bodoni SvtyTwo OS ITC TT-Book"/>
                <a:cs typeface="Bodoni SvtyTwo OS ITC TT-Book"/>
              </a:rPr>
              <a:t> method  involves the creation of a physical mock-up model of the product, a video is then shot with an actor interacting (or “acting”) with the model as though it were fully functional. </a:t>
            </a:r>
          </a:p>
          <a:p>
            <a:pPr algn="just" eaLnBrk="1" hangingPunct="1">
              <a:lnSpc>
                <a:spcPct val="120000"/>
              </a:lnSpc>
            </a:pPr>
            <a:r>
              <a:rPr lang="en-US" sz="1500" dirty="0" smtClean="0">
                <a:latin typeface="Verdana" pitchFamily="34" charset="0"/>
                <a:ea typeface="Bodoni SvtyTwo OS ITC TT-Book"/>
                <a:cs typeface="Bodoni SvtyTwo OS ITC TT-Book"/>
              </a:rPr>
              <a:t>The products display dynamics are simulated in an animation program, and are superimposed (or composited) on the video ensuring synchronization to give the appearance that the product is actually responding to the person’s actions. </a:t>
            </a:r>
          </a:p>
          <a:p>
            <a:pPr algn="just" eaLnBrk="1" hangingPunct="1">
              <a:lnSpc>
                <a:spcPct val="120000"/>
              </a:lnSpc>
            </a:pPr>
            <a:r>
              <a:rPr lang="en-US" sz="1500" dirty="0" smtClean="0">
                <a:latin typeface="Verdana" pitchFamily="34" charset="0"/>
                <a:ea typeface="Bodoni SvtyTwo OS ITC TT-Book"/>
                <a:cs typeface="Bodoni SvtyTwo OS ITC TT-Book"/>
              </a:rPr>
              <a:t>the “weatherman” technique, where a video image is superimposed onto computer graphics. </a:t>
            </a:r>
          </a:p>
          <a:p>
            <a:pPr algn="just" eaLnBrk="1" hangingPunct="1">
              <a:lnSpc>
                <a:spcPct val="120000"/>
              </a:lnSpc>
            </a:pPr>
            <a:r>
              <a:rPr lang="en-US" sz="1500" dirty="0" smtClean="0">
                <a:latin typeface="Verdana" pitchFamily="34" charset="0"/>
                <a:ea typeface="Bodoni SvtyTwo OS ITC TT-Book"/>
                <a:cs typeface="Bodoni SvtyTwo OS ITC TT-Book"/>
              </a:rPr>
              <a:t>Actions are captured against a blue screen (typically a green screen is used now) allowing removal of the background (via </a:t>
            </a:r>
            <a:r>
              <a:rPr lang="en-US" sz="1500" dirty="0" err="1" smtClean="0">
                <a:latin typeface="Verdana" pitchFamily="34" charset="0"/>
                <a:ea typeface="Bodoni SvtyTwo OS ITC TT-Book"/>
                <a:cs typeface="Bodoni SvtyTwo OS ITC TT-Book"/>
              </a:rPr>
              <a:t>chromakey</a:t>
            </a:r>
            <a:r>
              <a:rPr lang="en-US" sz="1500" dirty="0" smtClean="0">
                <a:latin typeface="Verdana" pitchFamily="34" charset="0"/>
                <a:ea typeface="Bodoni SvtyTwo OS ITC TT-Book"/>
                <a:cs typeface="Bodoni SvtyTwo OS ITC TT-Book"/>
              </a:rPr>
              <a:t> </a:t>
            </a:r>
            <a:r>
              <a:rPr lang="en-US" sz="1500" dirty="0" err="1" smtClean="0">
                <a:latin typeface="Verdana" pitchFamily="34" charset="0"/>
                <a:ea typeface="Bodoni SvtyTwo OS ITC TT-Book"/>
                <a:cs typeface="Bodoni SvtyTwo OS ITC TT-Book"/>
              </a:rPr>
              <a:t>colour</a:t>
            </a:r>
            <a:r>
              <a:rPr lang="en-US" sz="1500" dirty="0" smtClean="0">
                <a:latin typeface="Verdana" pitchFamily="34" charset="0"/>
                <a:ea typeface="Bodoni SvtyTwo OS ITC TT-Book"/>
                <a:cs typeface="Bodoni SvtyTwo OS ITC TT-Book"/>
              </a:rPr>
              <a:t> removal) and the superimposition of the video image onto a pre-modeled 3D environment. </a:t>
            </a:r>
          </a:p>
          <a:p>
            <a:pPr algn="just" eaLnBrk="1" hangingPunct="1">
              <a:lnSpc>
                <a:spcPct val="120000"/>
              </a:lnSpc>
            </a:pPr>
            <a:r>
              <a:rPr lang="en-US" sz="1500" dirty="0" smtClean="0">
                <a:latin typeface="Verdana" pitchFamily="34" charset="0"/>
                <a:ea typeface="Bodoni SvtyTwo OS ITC TT-Book"/>
                <a:cs typeface="Bodoni SvtyTwo OS ITC TT-Book"/>
              </a:rPr>
              <a:t>With appropriate real world camera movement synchronized with parallel movement within the virtual environment, the resulting composite can be a powerful effect.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Technology</a:t>
            </a:r>
          </a:p>
        </p:txBody>
      </p:sp>
      <p:sp>
        <p:nvSpPr>
          <p:cNvPr id="44034"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The technology and computing power used for the production of ground breaking Hollywood visual effects, such as the liquid metal T1000 in 1991’s Terminator 2, are now available to the sub-£1000 consumer market. </a:t>
            </a:r>
          </a:p>
          <a:p>
            <a:pPr eaLnBrk="1" hangingPunct="1">
              <a:lnSpc>
                <a:spcPct val="120000"/>
              </a:lnSpc>
            </a:pPr>
            <a:r>
              <a:rPr lang="en-US" sz="1500" smtClean="0">
                <a:latin typeface="Verdana" pitchFamily="34" charset="0"/>
                <a:ea typeface="Bodoni SvtyTwo OS ITC TT-Book"/>
                <a:cs typeface="Bodoni SvtyTwo OS ITC TT-Book"/>
              </a:rPr>
              <a:t>The software tools used in professional film and television production, such as Apple’s Final Cut Pro (editing and post production) and Shake (compositing) as well as Adobe’s After Effects (3D animation and rendering) are all well within educational budgets (all are available below £500 </a:t>
            </a:r>
          </a:p>
          <a:p>
            <a:pPr eaLnBrk="1" hangingPunct="1">
              <a:lnSpc>
                <a:spcPct val="120000"/>
              </a:lnSpc>
            </a:pPr>
            <a:r>
              <a:rPr lang="en-US" sz="1500" smtClean="0">
                <a:latin typeface="Verdana" pitchFamily="34" charset="0"/>
                <a:ea typeface="Bodoni SvtyTwo OS ITC TT-Book"/>
                <a:cs typeface="Bodoni SvtyTwo OS ITC TT-Book"/>
              </a:rPr>
              <a:t>The advent of technologies such as HDV (High Definition Video), the successor to the ubiquitous mini-DV tape format, has brought High Definition capability at consumer price.</a:t>
            </a:r>
          </a:p>
          <a:p>
            <a:pPr eaLnBrk="1" hangingPunct="1">
              <a:lnSpc>
                <a:spcPct val="120000"/>
              </a:lnSpc>
            </a:pPr>
            <a:r>
              <a:rPr lang="en-US" sz="1500" smtClean="0">
                <a:latin typeface="Verdana" pitchFamily="34" charset="0"/>
                <a:ea typeface="Bodoni SvtyTwo OS ITC TT-Book"/>
                <a:cs typeface="Bodoni SvtyTwo OS ITC TT-Book"/>
              </a:rPr>
              <a:t> The bottleneck is not with the video production hardware or software now, but rather with the skill of the production team. </a:t>
            </a:r>
          </a:p>
          <a:p>
            <a:pPr eaLnBrk="1" hangingPunct="1">
              <a:lnSpc>
                <a:spcPct val="120000"/>
              </a:lnSpc>
            </a:pPr>
            <a:r>
              <a:rPr lang="en-US" sz="1500" smtClean="0">
                <a:latin typeface="Verdana" pitchFamily="34" charset="0"/>
                <a:ea typeface="Bodoni SvtyTwo OS ITC TT-Book"/>
                <a:cs typeface="Bodoni SvtyTwo OS ITC TT-Book"/>
              </a:rPr>
              <a:t>And of course the ability to put films into the public arena on sites such as Youtube can elicit wide ranging reactions to design ideas.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An example </a:t>
            </a:r>
          </a:p>
        </p:txBody>
      </p:sp>
      <p:sp>
        <p:nvSpPr>
          <p:cNvPr id="45058"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 “Lexi is a 3D projected figure who helps it’s guardian, Tom, by scheduling his personal and work life, keeping him up to date with relevant news articles and being first point of contact for emails, phonecalls, text messages and the like. Lexi is a mobile companion who can “leap” from technology to technology as necessary but is most fully realised when  projected as a 3D figure on Tom’s smart pad.” </a:t>
            </a:r>
          </a:p>
          <a:p>
            <a:pPr eaLnBrk="1" hangingPunct="1">
              <a:lnSpc>
                <a:spcPct val="120000"/>
              </a:lnSpc>
            </a:pPr>
            <a:endParaRPr lang="en-US" sz="1500" i="1"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Different approaches to functionality in prototypes</a:t>
            </a:r>
          </a:p>
        </p:txBody>
      </p:sp>
      <p:sp>
        <p:nvSpPr>
          <p:cNvPr id="46082"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A full prototype provides full functionality, but at a lower performance than the target system. </a:t>
            </a:r>
          </a:p>
          <a:p>
            <a:pPr eaLnBrk="1" hangingPunct="1">
              <a:lnSpc>
                <a:spcPct val="120000"/>
              </a:lnSpc>
            </a:pPr>
            <a:r>
              <a:rPr lang="en-US" sz="1500" smtClean="0">
                <a:latin typeface="Verdana" pitchFamily="34" charset="0"/>
                <a:ea typeface="Bodoni SvtyTwo OS ITC TT-Book"/>
                <a:cs typeface="Bodoni SvtyTwo OS ITC TT-Book"/>
              </a:rPr>
              <a:t>A horizontal prototype aims to go across the whole system, but deals only with top-level functions, so much of the detail is omitted. </a:t>
            </a:r>
          </a:p>
          <a:p>
            <a:pPr eaLnBrk="1" hangingPunct="1">
              <a:lnSpc>
                <a:spcPct val="120000"/>
              </a:lnSpc>
            </a:pPr>
            <a:r>
              <a:rPr lang="en-US" sz="1500" smtClean="0">
                <a:latin typeface="Verdana" pitchFamily="34" charset="0"/>
                <a:ea typeface="Bodoni SvtyTwo OS ITC TT-Book"/>
                <a:cs typeface="Bodoni SvtyTwo OS ITC TT-Book"/>
              </a:rPr>
              <a:t>A vertical prototype implements the full range of features, from top to bottom, but is applied to only a small number of functions of the overall system. </a:t>
            </a:r>
          </a:p>
          <a:p>
            <a:pPr eaLnBrk="1" hangingPunct="1">
              <a:lnSpc>
                <a:spcPct val="120000"/>
              </a:lnSpc>
            </a:pPr>
            <a:r>
              <a:rPr lang="en-US" sz="1500" smtClean="0">
                <a:latin typeface="Verdana" pitchFamily="34" charset="0"/>
                <a:ea typeface="Bodoni SvtyTwo OS ITC TT-Book"/>
                <a:cs typeface="Bodoni SvtyTwo OS ITC TT-Book"/>
              </a:rPr>
              <a:t>Combinations of these are common. </a:t>
            </a:r>
          </a:p>
          <a:p>
            <a:pPr eaLnBrk="1" hangingPunct="1">
              <a:lnSpc>
                <a:spcPct val="120000"/>
              </a:lnSpc>
            </a:pPr>
            <a:r>
              <a:rPr lang="en-US" sz="1500" smtClean="0">
                <a:latin typeface="Verdana" pitchFamily="34" charset="0"/>
                <a:ea typeface="Bodoni SvtyTwo OS ITC TT-Book"/>
                <a:cs typeface="Bodoni SvtyTwo OS ITC TT-Book"/>
              </a:rPr>
              <a:t>Evolutionary and incremental (a more step-wise version of evolutionary) prototypes eventually develop into the full system.</a:t>
            </a:r>
          </a:p>
          <a:p>
            <a:pPr eaLnBrk="1" hangingPunct="1">
              <a:lnSpc>
                <a:spcPct val="120000"/>
              </a:lnSpc>
            </a:pPr>
            <a:endParaRPr lang="en-US" sz="150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pPr eaLnBrk="1" hangingPunct="1">
              <a:lnSpc>
                <a:spcPct val="120000"/>
              </a:lnSpc>
            </a:pPr>
            <a:r>
              <a:rPr lang="en-US" sz="1500" dirty="0" smtClean="0">
                <a:latin typeface="Verdana" pitchFamily="34" charset="0"/>
                <a:ea typeface="ヒラギノ角ゴ Pro W3"/>
                <a:cs typeface="ヒラギノ角ゴ Pro W3"/>
              </a:rPr>
              <a:t>Envisionment in Practice</a:t>
            </a:r>
          </a:p>
        </p:txBody>
      </p:sp>
      <p:sp>
        <p:nvSpPr>
          <p:cNvPr id="47106"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In using the prototype, designers sit alongside the people who will use the final system to make the prototype ‘work’ if it is a lo-fi version. </a:t>
            </a:r>
          </a:p>
          <a:p>
            <a:pPr eaLnBrk="1" hangingPunct="1">
              <a:lnSpc>
                <a:spcPct val="120000"/>
              </a:lnSpc>
            </a:pPr>
            <a:r>
              <a:rPr lang="en-US" sz="1500" smtClean="0">
                <a:latin typeface="Verdana" pitchFamily="34" charset="0"/>
                <a:ea typeface="Bodoni SvtyTwo OS ITC TT-Book"/>
                <a:cs typeface="Bodoni SvtyTwo OS ITC TT-Book"/>
              </a:rPr>
              <a:t>It helps to have two designers, one to ‘play computer’ and one to make notes. </a:t>
            </a:r>
          </a:p>
          <a:p>
            <a:pPr eaLnBrk="1" hangingPunct="1">
              <a:lnSpc>
                <a:spcPct val="120000"/>
              </a:lnSpc>
            </a:pPr>
            <a:r>
              <a:rPr lang="en-US" sz="1500" smtClean="0">
                <a:latin typeface="Verdana" pitchFamily="34" charset="0"/>
                <a:ea typeface="Bodoni SvtyTwo OS ITC TT-Book"/>
                <a:cs typeface="Bodoni SvtyTwo OS ITC TT-Book"/>
              </a:rPr>
              <a:t>Whatever the type of prototype, record comments and design issues as they arise. </a:t>
            </a:r>
          </a:p>
          <a:p>
            <a:pPr eaLnBrk="1" hangingPunct="1">
              <a:lnSpc>
                <a:spcPct val="120000"/>
              </a:lnSpc>
            </a:pPr>
            <a:r>
              <a:rPr lang="en-US" sz="1500" smtClean="0">
                <a:latin typeface="Verdana" pitchFamily="34" charset="0"/>
                <a:ea typeface="Bodoni SvtyTwo OS ITC TT-Book"/>
                <a:cs typeface="Bodoni SvtyTwo OS ITC TT-Book"/>
              </a:rPr>
              <a:t>Videotape can sometimes be useful if there is likely to be a substantial quantity of detailed feedback for other members of the team.</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lnSpc>
                <a:spcPct val="120000"/>
              </a:lnSpc>
            </a:pPr>
            <a:r>
              <a:rPr lang="en-US" sz="1500" dirty="0" smtClean="0">
                <a:latin typeface="Verdana" pitchFamily="34" charset="0"/>
                <a:ea typeface="ヒラギノ角ゴ Pro W3"/>
                <a:cs typeface="ヒラギノ角ゴ Pro W3"/>
              </a:rPr>
              <a:t>Envisionment in Practice</a:t>
            </a:r>
          </a:p>
        </p:txBody>
      </p:sp>
      <p:sp>
        <p:nvSpPr>
          <p:cNvPr id="48130"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People find it difficult to react to a prototype if it is just placed in front of them devoid of any context. </a:t>
            </a:r>
          </a:p>
          <a:p>
            <a:pPr eaLnBrk="1" hangingPunct="1">
              <a:lnSpc>
                <a:spcPct val="120000"/>
              </a:lnSpc>
            </a:pPr>
            <a:r>
              <a:rPr lang="en-US" sz="1500" smtClean="0">
                <a:latin typeface="Verdana" pitchFamily="34" charset="0"/>
                <a:ea typeface="Bodoni SvtyTwo OS ITC TT-Book"/>
                <a:cs typeface="Bodoni SvtyTwo OS ITC TT-Book"/>
              </a:rPr>
              <a:t>Some sort of structuring narrative is required. </a:t>
            </a:r>
          </a:p>
          <a:p>
            <a:pPr eaLnBrk="1" hangingPunct="1">
              <a:lnSpc>
                <a:spcPct val="120000"/>
              </a:lnSpc>
            </a:pPr>
            <a:r>
              <a:rPr lang="en-US" sz="1500" smtClean="0">
                <a:latin typeface="Verdana" pitchFamily="34" charset="0"/>
                <a:ea typeface="Bodoni SvtyTwo OS ITC TT-Book"/>
                <a:cs typeface="Bodoni SvtyTwo OS ITC TT-Book"/>
              </a:rPr>
              <a:t>The most common strategy is to have people step through a scenario using the new application or to try carrying out one of their current tasks if the application is to replace an earlier system. </a:t>
            </a:r>
          </a:p>
          <a:p>
            <a:pPr eaLnBrk="1" hangingPunct="1">
              <a:lnSpc>
                <a:spcPct val="120000"/>
              </a:lnSpc>
            </a:pPr>
            <a:r>
              <a:rPr lang="en-US" sz="1500" smtClean="0">
                <a:latin typeface="Verdana" pitchFamily="34" charset="0"/>
                <a:ea typeface="Bodoni SvtyTwo OS ITC TT-Book"/>
                <a:cs typeface="Bodoni SvtyTwo OS ITC TT-Book"/>
              </a:rPr>
              <a:t>For interface design details, set the scene by suggesting what someone would be trying to do with the software at that particular point, for example ‘You are interested in buying the shirt shown on this screen but want to know more about the material – show me what you would do now.’ </a:t>
            </a:r>
          </a:p>
          <a:p>
            <a:pPr eaLnBrk="1" hangingPunct="1">
              <a:lnSpc>
                <a:spcPct val="120000"/>
              </a:lnSpc>
            </a:pPr>
            <a:r>
              <a:rPr lang="en-US" sz="1500" smtClean="0">
                <a:latin typeface="Verdana" pitchFamily="34" charset="0"/>
                <a:ea typeface="Bodoni SvtyTwo OS ITC TT-Book"/>
                <a:cs typeface="Bodoni SvtyTwo OS ITC TT-Book"/>
              </a:rPr>
              <a:t>It is always best if people interact with the prototype themselves, even if only by pointing to a paper button. This promotes engagement with the questions to be explored, and avoids any danger of the person running the prototyping session misinterpreting responses.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When interaction is not feasible. </a:t>
            </a:r>
          </a:p>
        </p:txBody>
      </p:sp>
      <p:sp>
        <p:nvSpPr>
          <p:cNvPr id="49154"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Perhaps the prototype software is fragile, or the prototype is at a very early stage with very little genuine interactivity. </a:t>
            </a:r>
          </a:p>
          <a:p>
            <a:pPr eaLnBrk="1" hangingPunct="1">
              <a:lnSpc>
                <a:spcPct val="120000"/>
              </a:lnSpc>
            </a:pPr>
            <a:r>
              <a:rPr lang="en-US" sz="1500" smtClean="0">
                <a:latin typeface="Verdana" pitchFamily="34" charset="0"/>
                <a:ea typeface="Bodoni SvtyTwo OS ITC TT-Book"/>
                <a:cs typeface="Bodoni SvtyTwo OS ITC TT-Book"/>
              </a:rPr>
              <a:t>Here designers can run a video prototype produced in software such as Director, Keynote, Powerpoint or Flash to simulate a usage session. </a:t>
            </a:r>
          </a:p>
          <a:p>
            <a:pPr eaLnBrk="1" hangingPunct="1">
              <a:lnSpc>
                <a:spcPct val="120000"/>
              </a:lnSpc>
            </a:pPr>
            <a:r>
              <a:rPr lang="en-US" sz="1500" smtClean="0">
                <a:latin typeface="Verdana" pitchFamily="34" charset="0"/>
                <a:ea typeface="Bodoni SvtyTwo OS ITC TT-Book"/>
                <a:cs typeface="Bodoni SvtyTwo OS ITC TT-Book"/>
              </a:rPr>
              <a:t>The movie can be paused as appropriate for discussion. </a:t>
            </a:r>
          </a:p>
          <a:p>
            <a:pPr eaLnBrk="1" hangingPunct="1">
              <a:lnSpc>
                <a:spcPct val="120000"/>
              </a:lnSpc>
            </a:pPr>
            <a:r>
              <a:rPr lang="en-US" sz="1500" smtClean="0">
                <a:latin typeface="Verdana" pitchFamily="34" charset="0"/>
                <a:ea typeface="Bodoni SvtyTwo OS ITC TT-Book"/>
                <a:cs typeface="Bodoni SvtyTwo OS ITC TT-Book"/>
              </a:rPr>
              <a:t>What is happening here is of course early evaluation, so many of the techniques of evaluation are appropriate.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Prototypes and participatory design</a:t>
            </a:r>
          </a:p>
        </p:txBody>
      </p:sp>
      <p:sp>
        <p:nvSpPr>
          <p:cNvPr id="50178"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Lo-fi prototypes are an essential part of participatory design because people cannot always understand formal models, but they can explore and evaluate ideas through engaging with prototyped systems. </a:t>
            </a:r>
          </a:p>
          <a:p>
            <a:pPr eaLnBrk="1" hangingPunct="1">
              <a:lnSpc>
                <a:spcPct val="120000"/>
              </a:lnSpc>
            </a:pPr>
            <a:r>
              <a:rPr lang="en-US" sz="1500" smtClean="0">
                <a:latin typeface="Verdana" pitchFamily="34" charset="0"/>
                <a:ea typeface="Bodoni SvtyTwo OS ITC TT-Book"/>
                <a:cs typeface="Bodoni SvtyTwo OS ITC TT-Book"/>
              </a:rPr>
              <a:t>People can also be directly involved in prototype design. </a:t>
            </a:r>
          </a:p>
          <a:p>
            <a:pPr eaLnBrk="1" hangingPunct="1">
              <a:lnSpc>
                <a:spcPct val="120000"/>
              </a:lnSpc>
            </a:pPr>
            <a:r>
              <a:rPr lang="en-US" sz="1500" smtClean="0">
                <a:latin typeface="Verdana" pitchFamily="34" charset="0"/>
                <a:ea typeface="Bodoni SvtyTwo OS ITC TT-Book"/>
                <a:cs typeface="Bodoni SvtyTwo OS ITC TT-Book"/>
              </a:rPr>
              <a:t>During the development of the HIC we ran a workshop with schoolchildren from a school in Dumfries and Galloway in Scotland.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Trade-offs in prototyping</a:t>
            </a:r>
          </a:p>
        </p:txBody>
      </p:sp>
      <p:sp>
        <p:nvSpPr>
          <p:cNvPr id="51202"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As with so many aspects of design the designer has to consider the trade-offs in terms of time, resources, the aim of the evaluation, the stage of the project and so on. </a:t>
            </a:r>
          </a:p>
          <a:p>
            <a:pPr eaLnBrk="1" hangingPunct="1">
              <a:lnSpc>
                <a:spcPct val="120000"/>
              </a:lnSpc>
            </a:pPr>
            <a:r>
              <a:rPr lang="en-US" sz="1500" smtClean="0">
                <a:latin typeface="Verdana" pitchFamily="34" charset="0"/>
                <a:ea typeface="Bodoni SvtyTwo OS ITC TT-Book"/>
                <a:cs typeface="Bodoni SvtyTwo OS ITC TT-Book"/>
              </a:rPr>
              <a:t>Indeed, when reflecting on how and what to prototype, the designer should think in terms of the PACT elements – people, activities, contexts and technologies. </a:t>
            </a:r>
          </a:p>
          <a:p>
            <a:pPr eaLnBrk="1" hangingPunct="1">
              <a:lnSpc>
                <a:spcPct val="120000"/>
              </a:lnSpc>
            </a:pPr>
            <a:r>
              <a:rPr lang="en-US" sz="1500" smtClean="0">
                <a:latin typeface="Verdana" pitchFamily="34" charset="0"/>
                <a:ea typeface="Bodoni SvtyTwo OS ITC TT-Book"/>
                <a:cs typeface="Bodoni SvtyTwo OS ITC TT-Book"/>
              </a:rPr>
              <a:t>Who is the prototype aimed at? </a:t>
            </a:r>
          </a:p>
          <a:p>
            <a:pPr eaLnBrk="1" hangingPunct="1">
              <a:lnSpc>
                <a:spcPct val="120000"/>
              </a:lnSpc>
            </a:pPr>
            <a:r>
              <a:rPr lang="en-US" sz="1500" smtClean="0">
                <a:latin typeface="Verdana" pitchFamily="34" charset="0"/>
                <a:ea typeface="Bodoni SvtyTwo OS ITC TT-Book"/>
                <a:cs typeface="Bodoni SvtyTwo OS ITC TT-Book"/>
              </a:rPr>
              <a:t>What is the designer trying to achieve with the prototype? </a:t>
            </a:r>
          </a:p>
          <a:p>
            <a:pPr eaLnBrk="1" hangingPunct="1">
              <a:lnSpc>
                <a:spcPct val="120000"/>
              </a:lnSpc>
            </a:pPr>
            <a:r>
              <a:rPr lang="en-US" sz="1500" smtClean="0">
                <a:latin typeface="Verdana" pitchFamily="34" charset="0"/>
                <a:ea typeface="Bodoni SvtyTwo OS ITC TT-Book"/>
                <a:cs typeface="Bodoni SvtyTwo OS ITC TT-Book"/>
              </a:rPr>
              <a:t>What stage of the project are things at and what is the context for the use of the prototype? </a:t>
            </a:r>
          </a:p>
          <a:p>
            <a:pPr eaLnBrk="1" hangingPunct="1">
              <a:lnSpc>
                <a:spcPct val="120000"/>
              </a:lnSpc>
            </a:pPr>
            <a:r>
              <a:rPr lang="en-US" sz="1500" smtClean="0">
                <a:latin typeface="Verdana" pitchFamily="34" charset="0"/>
                <a:ea typeface="Bodoni SvtyTwo OS ITC TT-Book"/>
                <a:cs typeface="Bodoni SvtyTwo OS ITC TT-Book"/>
              </a:rPr>
              <a:t>What technologies (hi-fi or lo-fi) are appropriate?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Rosson and Carroll (2002) </a:t>
            </a:r>
          </a:p>
        </p:txBody>
      </p:sp>
      <p:sp>
        <p:nvSpPr>
          <p:cNvPr id="52226"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High-quality graphics and animation can be used to create convincing and exciting prototypes </a:t>
            </a:r>
            <a:r>
              <a:rPr lang="en-US" sz="1500" i="1" smtClean="0">
                <a:latin typeface="Verdana" pitchFamily="34" charset="0"/>
                <a:ea typeface="Bodoni SvtyTwo OS ITC TT-Book"/>
                <a:cs typeface="Bodoni SvtyTwo OS ITC TT-Book"/>
              </a:rPr>
              <a:t>but may also lead to premature commitment to some design decision.</a:t>
            </a:r>
          </a:p>
          <a:p>
            <a:pPr eaLnBrk="1" hangingPunct="1">
              <a:lnSpc>
                <a:spcPct val="120000"/>
              </a:lnSpc>
            </a:pPr>
            <a:r>
              <a:rPr lang="en-US" sz="1500" smtClean="0">
                <a:latin typeface="Verdana" pitchFamily="34" charset="0"/>
                <a:ea typeface="Bodoni SvtyTwo OS ITC TT-Book"/>
                <a:cs typeface="Bodoni SvtyTwo OS ITC TT-Book"/>
              </a:rPr>
              <a:t>Detailed special-purpose prototypes help to answer specific questions about a design, </a:t>
            </a:r>
            <a:r>
              <a:rPr lang="en-US" sz="1500" i="1" smtClean="0">
                <a:latin typeface="Verdana" pitchFamily="34" charset="0"/>
                <a:ea typeface="Bodoni SvtyTwo OS ITC TT-Book"/>
                <a:cs typeface="Bodoni SvtyTwo OS ITC TT-Book"/>
              </a:rPr>
              <a:t>but building a meaningful prototype for each issue is expensive.</a:t>
            </a:r>
          </a:p>
          <a:p>
            <a:pPr eaLnBrk="1" hangingPunct="1">
              <a:lnSpc>
                <a:spcPct val="120000"/>
              </a:lnSpc>
            </a:pPr>
            <a:r>
              <a:rPr lang="en-US" sz="1500" smtClean="0">
                <a:latin typeface="Verdana" pitchFamily="34" charset="0"/>
                <a:ea typeface="Bodoni SvtyTwo OS ITC TT-Book"/>
                <a:cs typeface="Bodoni SvtyTwo OS ITC TT-Book"/>
              </a:rPr>
              <a:t>Realistic prototypes increase the validity of user test data, </a:t>
            </a:r>
            <a:r>
              <a:rPr lang="en-US" sz="1500" i="1" smtClean="0">
                <a:latin typeface="Verdana" pitchFamily="34" charset="0"/>
                <a:ea typeface="Bodoni SvtyTwo OS ITC TT-Book"/>
                <a:cs typeface="Bodoni SvtyTwo OS ITC TT-Book"/>
              </a:rPr>
              <a:t>but may postpone testing, or require construction of throw-away prototypes.</a:t>
            </a:r>
          </a:p>
          <a:p>
            <a:pPr eaLnBrk="1" hangingPunct="1">
              <a:lnSpc>
                <a:spcPct val="120000"/>
              </a:lnSpc>
            </a:pPr>
            <a:r>
              <a:rPr lang="en-US" sz="1500" smtClean="0">
                <a:latin typeface="Verdana" pitchFamily="34" charset="0"/>
                <a:ea typeface="Bodoni SvtyTwo OS ITC TT-Book"/>
                <a:cs typeface="Bodoni SvtyTwo OS ITC TT-Book"/>
              </a:rPr>
              <a:t>Iterative refinement of an implementation enables continual testing and feedback, </a:t>
            </a:r>
            <a:r>
              <a:rPr lang="en-US" sz="1500" i="1" smtClean="0">
                <a:latin typeface="Verdana" pitchFamily="34" charset="0"/>
                <a:ea typeface="Bodoni SvtyTwo OS ITC TT-Book"/>
                <a:cs typeface="Bodoni SvtyTwo OS ITC TT-Book"/>
              </a:rPr>
              <a:t>but may discourage consideration of radical transformations.</a:t>
            </a:r>
            <a:endParaRPr lang="en-US" sz="1500" i="1" baseline="-2500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a:xfrm>
            <a:off x="457200" y="274638"/>
            <a:ext cx="8229600" cy="706090"/>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Prototyping throughout the design process.</a:t>
            </a:r>
          </a:p>
        </p:txBody>
      </p:sp>
      <p:sp>
        <p:nvSpPr>
          <p:cNvPr id="53250" name="Text Placeholder 2"/>
          <p:cNvSpPr>
            <a:spLocks noGrp="1"/>
          </p:cNvSpPr>
          <p:nvPr>
            <p:ph type="body" idx="1"/>
          </p:nvPr>
        </p:nvSpPr>
        <p:spPr>
          <a:xfrm>
            <a:off x="457200" y="1196752"/>
            <a:ext cx="8229600" cy="4525963"/>
          </a:xfrm>
        </p:spPr>
        <p:txBody>
          <a:bodyPr/>
          <a:lstStyle/>
          <a:p>
            <a:pPr eaLnBrk="1" hangingPunct="1">
              <a:lnSpc>
                <a:spcPct val="120000"/>
              </a:lnSpc>
            </a:pPr>
            <a:r>
              <a:rPr lang="en-US" sz="1500" dirty="0" smtClean="0">
                <a:latin typeface="Verdana" pitchFamily="34" charset="0"/>
                <a:ea typeface="Bodoni SvtyTwo OS ITC TT-Book"/>
                <a:cs typeface="Bodoni SvtyTwo OS ITC TT-Book"/>
              </a:rPr>
              <a:t>‘Requirements animation’ is a term used to describe the use of prototyping to illustrate requirements. Used at an early stage, a quick prototype can be developed and shown to the client/users for comment on the general design.</a:t>
            </a:r>
          </a:p>
          <a:p>
            <a:pPr eaLnBrk="1" hangingPunct="1">
              <a:lnSpc>
                <a:spcPct val="120000"/>
              </a:lnSpc>
            </a:pPr>
            <a:r>
              <a:rPr lang="en-US" sz="1500" dirty="0" smtClean="0">
                <a:latin typeface="Verdana" pitchFamily="34" charset="0"/>
                <a:ea typeface="Bodoni SvtyTwo OS ITC TT-Book"/>
                <a:cs typeface="Bodoni SvtyTwo OS ITC TT-Book"/>
              </a:rPr>
              <a:t>Rapid prototyping (also known as ‘throw-it-away’ prototyping) is common in user interface design where software such as PowerPoint or Macromedia Director is used to illustrate concepts. The prototype will be ‘thrown away’ because implementation will be in a different language. However, as one famous quotation in software development has it, ‘You will throw away your first few designs, so you might as well plan to throw them away in the first place’.</a:t>
            </a:r>
          </a:p>
          <a:p>
            <a:pPr eaLnBrk="1" hangingPunct="1">
              <a:lnSpc>
                <a:spcPct val="120000"/>
              </a:lnSpc>
            </a:pPr>
            <a:r>
              <a:rPr lang="en-US" sz="1500" dirty="0" smtClean="0">
                <a:latin typeface="Verdana" pitchFamily="34" charset="0"/>
                <a:ea typeface="Bodoni SvtyTwo OS ITC TT-Book"/>
                <a:cs typeface="Bodoni SvtyTwo OS ITC TT-Book"/>
              </a:rPr>
              <a:t>Use case prototyping is when a “polished” video is produced to disseminate to a wider audience and also to the software and hardware development teams whose job it is to bring the product into existence. </a:t>
            </a:r>
          </a:p>
          <a:p>
            <a:pPr eaLnBrk="1" hangingPunct="1">
              <a:lnSpc>
                <a:spcPct val="120000"/>
              </a:lnSpc>
            </a:pPr>
            <a:r>
              <a:rPr lang="en-US" sz="1500" dirty="0" smtClean="0">
                <a:latin typeface="Verdana" pitchFamily="34" charset="0"/>
                <a:ea typeface="Bodoni SvtyTwo OS ITC TT-Book"/>
                <a:cs typeface="Bodoni SvtyTwo OS ITC TT-Book"/>
              </a:rPr>
              <a:t>The power of this type of video to communicate design requirements in product design as well as software engineering is extremely strong </a:t>
            </a:r>
          </a:p>
          <a:p>
            <a:pPr eaLnBrk="1" hangingPunct="1">
              <a:lnSpc>
                <a:spcPct val="120000"/>
              </a:lnSpc>
            </a:pPr>
            <a:r>
              <a:rPr lang="en-US" sz="1500" dirty="0" smtClean="0">
                <a:latin typeface="Verdana" pitchFamily="34" charset="0"/>
                <a:ea typeface="Bodoni SvtyTwo OS ITC TT-Book"/>
                <a:cs typeface="Bodoni SvtyTwo OS ITC TT-Book"/>
              </a:rPr>
              <a:t>In certain designs this Use Case will employ a technology beyond what is capable, we have coined these “</a:t>
            </a:r>
            <a:r>
              <a:rPr lang="en-US" sz="1500" i="1" dirty="0" smtClean="0">
                <a:latin typeface="Verdana" pitchFamily="34" charset="0"/>
                <a:ea typeface="Bodoni SvtyTwo OS ITC TT-Book"/>
                <a:cs typeface="Bodoni SvtyTwo OS ITC TT-Book"/>
              </a:rPr>
              <a:t>Future Now” movies.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Prototyping tools</a:t>
            </a:r>
          </a:p>
        </p:txBody>
      </p:sp>
      <p:sp>
        <p:nvSpPr>
          <p:cNvPr id="54274"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Given the wide range of uses for prototyping and the large number of occasions when it is used, it is not surprising that there are a wealth of software ‘tools’ that can be used. </a:t>
            </a:r>
          </a:p>
          <a:p>
            <a:pPr eaLnBrk="1" hangingPunct="1">
              <a:lnSpc>
                <a:spcPct val="120000"/>
              </a:lnSpc>
            </a:pPr>
            <a:r>
              <a:rPr lang="en-US" sz="1500" smtClean="0">
                <a:latin typeface="Verdana" pitchFamily="34" charset="0"/>
                <a:ea typeface="Bodoni SvtyTwo OS ITC TT-Book"/>
                <a:cs typeface="Bodoni SvtyTwo OS ITC TT-Book"/>
              </a:rPr>
              <a:t>A good prototyping tool should:</a:t>
            </a:r>
          </a:p>
          <a:p>
            <a:pPr eaLnBrk="1" hangingPunct="1">
              <a:lnSpc>
                <a:spcPct val="120000"/>
              </a:lnSpc>
            </a:pPr>
            <a:r>
              <a:rPr lang="en-US" sz="1500" smtClean="0">
                <a:latin typeface="Verdana" pitchFamily="34" charset="0"/>
                <a:ea typeface="Bodoni SvtyTwo OS ITC TT-Book"/>
                <a:cs typeface="Bodoni SvtyTwo OS ITC TT-Book"/>
              </a:rPr>
              <a:t>Allow easy, rapid modification of interface details or functionality</a:t>
            </a:r>
          </a:p>
          <a:p>
            <a:pPr eaLnBrk="1" hangingPunct="1">
              <a:lnSpc>
                <a:spcPct val="120000"/>
              </a:lnSpc>
            </a:pPr>
            <a:r>
              <a:rPr lang="en-US" sz="1500" smtClean="0">
                <a:latin typeface="Verdana" pitchFamily="34" charset="0"/>
                <a:ea typeface="Bodoni SvtyTwo OS ITC TT-Book"/>
                <a:cs typeface="Bodoni SvtyTwo OS ITC TT-Book"/>
              </a:rPr>
              <a:t>For designers who are not programmers, allow direct manipulation of prototype components</a:t>
            </a:r>
          </a:p>
          <a:p>
            <a:pPr eaLnBrk="1" hangingPunct="1">
              <a:lnSpc>
                <a:spcPct val="120000"/>
              </a:lnSpc>
            </a:pPr>
            <a:r>
              <a:rPr lang="en-US" sz="1500" smtClean="0">
                <a:latin typeface="Verdana" pitchFamily="34" charset="0"/>
                <a:ea typeface="Bodoni SvtyTwo OS ITC TT-Book"/>
                <a:cs typeface="Bodoni SvtyTwo OS ITC TT-Book"/>
              </a:rPr>
              <a:t>For incremental and evolutionary prototypes, facilitate reuse of code</a:t>
            </a:r>
          </a:p>
          <a:p>
            <a:pPr eaLnBrk="1" hangingPunct="1">
              <a:lnSpc>
                <a:spcPct val="120000"/>
              </a:lnSpc>
            </a:pPr>
            <a:r>
              <a:rPr lang="en-US" sz="1500" smtClean="0">
                <a:latin typeface="Verdana" pitchFamily="34" charset="0"/>
                <a:ea typeface="Bodoni SvtyTwo OS ITC TT-Book"/>
                <a:cs typeface="Bodoni SvtyTwo OS ITC TT-Book"/>
              </a:rPr>
              <a:t>Not constrain the designer to default styles for interface objects.</a:t>
            </a:r>
            <a:endParaRPr lang="en-US" sz="1500" baseline="-25000" smtClean="0">
              <a:latin typeface="Verdana" pitchFamily="34" charset="0"/>
              <a:ea typeface="Bodoni SvtyTwo OS ITC TT-Book"/>
              <a:cs typeface="Bodoni SvtyTwo OS ITC TT-Book"/>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Useful tools </a:t>
            </a:r>
          </a:p>
        </p:txBody>
      </p:sp>
      <p:sp>
        <p:nvSpPr>
          <p:cNvPr id="55298"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For requirements animation include paper, PowerPoint (e.g. for illustrating main screens) and drawing packages. </a:t>
            </a:r>
          </a:p>
          <a:p>
            <a:pPr eaLnBrk="1" hangingPunct="1">
              <a:lnSpc>
                <a:spcPct val="120000"/>
              </a:lnSpc>
            </a:pPr>
            <a:r>
              <a:rPr lang="en-US" sz="1500" smtClean="0">
                <a:latin typeface="Verdana" pitchFamily="34" charset="0"/>
                <a:ea typeface="Bodoni SvtyTwo OS ITC TT-Book"/>
                <a:cs typeface="Bodoni SvtyTwo OS ITC TT-Book"/>
              </a:rPr>
              <a:t>Data manipulation languages such as SQL can be effective in animating the functionality of a system.</a:t>
            </a:r>
          </a:p>
          <a:p>
            <a:pPr eaLnBrk="1" hangingPunct="1">
              <a:lnSpc>
                <a:spcPct val="120000"/>
              </a:lnSpc>
            </a:pPr>
            <a:r>
              <a:rPr lang="en-US" sz="1500" smtClean="0">
                <a:latin typeface="Verdana" pitchFamily="34" charset="0"/>
                <a:ea typeface="Bodoni SvtyTwo OS ITC TT-Book"/>
                <a:cs typeface="Bodoni SvtyTwo OS ITC TT-Book"/>
              </a:rPr>
              <a:t>Throw-it-away (rapid) prototyping emphasizes rapid evaluation and changing requirements. Useful software here includes Macromedia Director and similar tools, Visual Basic, PowerPoint, hypermedia tools and Web tools such as Dreamweaver or Flash. </a:t>
            </a:r>
          </a:p>
          <a:p>
            <a:pPr eaLnBrk="1" hangingPunct="1">
              <a:lnSpc>
                <a:spcPct val="120000"/>
              </a:lnSpc>
            </a:pPr>
            <a:r>
              <a:rPr lang="en-US" sz="1500" smtClean="0">
                <a:latin typeface="Verdana" pitchFamily="34" charset="0"/>
                <a:ea typeface="Bodoni SvtyTwo OS ITC TT-Book"/>
                <a:cs typeface="Bodoni SvtyTwo OS ITC TT-Book"/>
              </a:rPr>
              <a:t>For evolutionary and incremental prototyping there is a compromise between production and prototyping and a long-term view of system development, so a development environment that can be used for implementation is needed. </a:t>
            </a:r>
          </a:p>
          <a:p>
            <a:pPr eaLnBrk="1" hangingPunct="1">
              <a:lnSpc>
                <a:spcPct val="120000"/>
              </a:lnSpc>
            </a:pPr>
            <a:r>
              <a:rPr lang="en-US" sz="1500" smtClean="0">
                <a:latin typeface="Verdana" pitchFamily="34" charset="0"/>
                <a:ea typeface="Bodoni SvtyTwo OS ITC TT-Book"/>
                <a:cs typeface="Bodoni SvtyTwo OS ITC TT-Book"/>
              </a:rPr>
              <a:t>Reuse of code is likely and hence object-oriented languages are suitable.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Pitfalls</a:t>
            </a:r>
          </a:p>
        </p:txBody>
      </p:sp>
      <p:sp>
        <p:nvSpPr>
          <p:cNvPr id="56322"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Prototyping functionality in software has its own pitfalls. </a:t>
            </a:r>
          </a:p>
          <a:p>
            <a:pPr eaLnBrk="1" hangingPunct="1">
              <a:lnSpc>
                <a:spcPct val="120000"/>
              </a:lnSpc>
            </a:pPr>
            <a:r>
              <a:rPr lang="en-US" sz="1500" smtClean="0">
                <a:latin typeface="Verdana" pitchFamily="34" charset="0"/>
                <a:ea typeface="Bodoni SvtyTwo OS ITC TT-Book"/>
                <a:cs typeface="Bodoni SvtyTwo OS ITC TT-Book"/>
              </a:rPr>
              <a:t>For example, if the interface prototype diverges from the functional prototype it may not be possible for them to be brought together. </a:t>
            </a:r>
          </a:p>
          <a:p>
            <a:pPr eaLnBrk="1" hangingPunct="1">
              <a:lnSpc>
                <a:spcPct val="120000"/>
              </a:lnSpc>
            </a:pPr>
            <a:r>
              <a:rPr lang="en-US" sz="1500" smtClean="0">
                <a:latin typeface="Verdana" pitchFamily="34" charset="0"/>
                <a:ea typeface="Bodoni SvtyTwo OS ITC TT-Book"/>
                <a:cs typeface="Bodoni SvtyTwo OS ITC TT-Book"/>
              </a:rPr>
              <a:t>Other dangers include people being unable to evaluate functionality because the interface is distractingly difficult – something that happened in DISCOVER, </a:t>
            </a:r>
          </a:p>
          <a:p>
            <a:pPr eaLnBrk="1" hangingPunct="1">
              <a:lnSpc>
                <a:spcPct val="120000"/>
              </a:lnSpc>
            </a:pPr>
            <a:r>
              <a:rPr lang="en-US" sz="1500" smtClean="0">
                <a:latin typeface="Verdana" pitchFamily="34" charset="0"/>
                <a:ea typeface="Bodoni SvtyTwo OS ITC TT-Book"/>
                <a:cs typeface="Bodoni SvtyTwo OS ITC TT-Book"/>
              </a:rPr>
              <a:t>We recovered the situation by refocusing the early evaluation sessions on interaction mechanisms and considering functionality much later, when the worst problems had been resolved. </a:t>
            </a:r>
          </a:p>
          <a:p>
            <a:pPr eaLnBrk="1" hangingPunct="1">
              <a:lnSpc>
                <a:spcPct val="120000"/>
              </a:lnSpc>
            </a:pPr>
            <a:r>
              <a:rPr lang="en-US" sz="1500" smtClean="0">
                <a:latin typeface="Verdana" pitchFamily="34" charset="0"/>
                <a:ea typeface="Bodoni SvtyTwo OS ITC TT-Book"/>
                <a:cs typeface="Bodoni SvtyTwo OS ITC TT-Book"/>
              </a:rPr>
              <a:t>Incidentally, this illustrates the value of prototyping with people as early as possible in the process. </a:t>
            </a:r>
          </a:p>
          <a:p>
            <a:pPr eaLnBrk="1" hangingPunct="1">
              <a:lnSpc>
                <a:spcPct val="120000"/>
              </a:lnSpc>
            </a:pPr>
            <a:r>
              <a:rPr lang="en-US" sz="1500" smtClean="0">
                <a:latin typeface="Verdana" pitchFamily="34" charset="0"/>
                <a:ea typeface="Bodoni SvtyTwo OS ITC TT-Book"/>
                <a:cs typeface="Bodoni SvtyTwo OS ITC TT-Book"/>
              </a:rPr>
              <a:t>The software designers themselves had naturally experienced no problems with virtual movement.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a:t>
            </a:r>
          </a:p>
        </p:txBody>
      </p:sp>
      <p:sp>
        <p:nvSpPr>
          <p:cNvPr id="57346"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 ideas clearly and appropriately is a key skill of the designer. </a:t>
            </a:r>
          </a:p>
          <a:p>
            <a:pPr eaLnBrk="1" hangingPunct="1">
              <a:lnSpc>
                <a:spcPct val="120000"/>
              </a:lnSpc>
            </a:pPr>
            <a:r>
              <a:rPr lang="en-US" sz="1500" smtClean="0">
                <a:latin typeface="Verdana" pitchFamily="34" charset="0"/>
                <a:ea typeface="Bodoni SvtyTwo OS ITC TT-Book"/>
                <a:cs typeface="Bodoni SvtyTwo OS ITC TT-Book"/>
              </a:rPr>
              <a:t>The design process is a long one with many different stages, there are many different people involved and there are many different reasons for giving a presentation.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a:t>
            </a:r>
          </a:p>
        </p:txBody>
      </p:sp>
      <p:sp>
        <p:nvSpPr>
          <p:cNvPr id="58370"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 ideas clearly and appropriately is a key skill of the designer. </a:t>
            </a:r>
          </a:p>
          <a:p>
            <a:pPr eaLnBrk="1" hangingPunct="1">
              <a:lnSpc>
                <a:spcPct val="120000"/>
              </a:lnSpc>
            </a:pPr>
            <a:r>
              <a:rPr lang="en-US" sz="1500" smtClean="0">
                <a:latin typeface="Verdana" pitchFamily="34" charset="0"/>
                <a:ea typeface="Bodoni SvtyTwo OS ITC TT-Book"/>
                <a:cs typeface="Bodoni SvtyTwo OS ITC TT-Book"/>
              </a:rPr>
              <a:t>The design process is a long one with many different stages, there are many different people involved and there are many different reasons for giving a presentation. </a:t>
            </a:r>
          </a:p>
          <a:p>
            <a:pPr eaLnBrk="1" hangingPunct="1">
              <a:lnSpc>
                <a:spcPct val="120000"/>
              </a:lnSpc>
            </a:pPr>
            <a:r>
              <a:rPr lang="en-US" sz="1500" smtClean="0">
                <a:latin typeface="Verdana" pitchFamily="34" charset="0"/>
                <a:ea typeface="Bodoni SvtyTwo OS ITC TT-Book"/>
                <a:cs typeface="Bodoni SvtyTwo OS ITC TT-Book"/>
              </a:rPr>
              <a:t>The combination of these will affect what sort of presentation and what sort of representation is suitable.</a:t>
            </a:r>
          </a:p>
          <a:p>
            <a:pPr eaLnBrk="1" hangingPunct="1">
              <a:lnSpc>
                <a:spcPct val="120000"/>
              </a:lnSpc>
            </a:pPr>
            <a:r>
              <a:rPr lang="en-US" sz="1500" smtClean="0">
                <a:latin typeface="Verdana" pitchFamily="34" charset="0"/>
                <a:ea typeface="Bodoni SvtyTwo OS ITC TT-Book"/>
                <a:cs typeface="Bodoni SvtyTwo OS ITC TT-Book"/>
              </a:rPr>
              <a:t>If the ideas are aimed at senior management, for example, then it is likely that the focus is on vision, concepts and key features of design. </a:t>
            </a:r>
          </a:p>
          <a:p>
            <a:pPr eaLnBrk="1" hangingPunct="1">
              <a:lnSpc>
                <a:spcPct val="120000"/>
              </a:lnSpc>
            </a:pPr>
            <a:r>
              <a:rPr lang="en-US" sz="1500" smtClean="0">
                <a:latin typeface="Verdana" pitchFamily="34" charset="0"/>
                <a:ea typeface="Bodoni SvtyTwo OS ITC TT-Book"/>
                <a:cs typeface="Bodoni SvtyTwo OS ITC TT-Book"/>
              </a:rPr>
              <a:t>People in this position are generally concerned with strategic issues rather than detail, so a presentation to management should focus on impact, image and concept.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 who?</a:t>
            </a:r>
          </a:p>
        </p:txBody>
      </p:sp>
      <p:sp>
        <p:nvSpPr>
          <p:cNvPr id="59394"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If the presentation is aimed at the client then one would expect a bit more detail and some idea of how it works. </a:t>
            </a:r>
          </a:p>
          <a:p>
            <a:pPr eaLnBrk="1" hangingPunct="1">
              <a:lnSpc>
                <a:spcPct val="120000"/>
              </a:lnSpc>
            </a:pPr>
            <a:r>
              <a:rPr lang="en-US" sz="1500" smtClean="0">
                <a:latin typeface="Verdana" pitchFamily="34" charset="0"/>
                <a:ea typeface="Bodoni SvtyTwo OS ITC TT-Book"/>
                <a:cs typeface="Bodoni SvtyTwo OS ITC TT-Book"/>
              </a:rPr>
              <a:t>If the presentation is aimed at end-users then it is most likely to concentrate on the detail of the design and the workings of the system. </a:t>
            </a:r>
          </a:p>
          <a:p>
            <a:pPr eaLnBrk="1" hangingPunct="1">
              <a:lnSpc>
                <a:spcPct val="120000"/>
              </a:lnSpc>
            </a:pPr>
            <a:r>
              <a:rPr lang="en-US" sz="1500" smtClean="0">
                <a:latin typeface="Verdana" pitchFamily="34" charset="0"/>
                <a:ea typeface="Bodoni SvtyTwo OS ITC TT-Book"/>
                <a:cs typeface="Bodoni SvtyTwo OS ITC TT-Book"/>
              </a:rPr>
              <a:t>If presenting to the people who will be using the system it is important to beware of misconceptions about current activities. </a:t>
            </a:r>
          </a:p>
          <a:p>
            <a:pPr eaLnBrk="1" hangingPunct="1">
              <a:lnSpc>
                <a:spcPct val="120000"/>
              </a:lnSpc>
            </a:pPr>
            <a:r>
              <a:rPr lang="en-US" sz="1500" smtClean="0">
                <a:latin typeface="Verdana" pitchFamily="34" charset="0"/>
                <a:ea typeface="Bodoni SvtyTwo OS ITC TT-Book"/>
                <a:cs typeface="Bodoni SvtyTwo OS ITC TT-Book"/>
              </a:rPr>
              <a:t>It is very easy for people to lose credibility with such an audience if an unrealistic scenario or example is used.</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 purpose?</a:t>
            </a:r>
          </a:p>
        </p:txBody>
      </p:sp>
      <p:sp>
        <p:nvSpPr>
          <p:cNvPr id="60418"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The purpose of the presentation is equally important. </a:t>
            </a:r>
          </a:p>
          <a:p>
            <a:pPr eaLnBrk="1" hangingPunct="1">
              <a:lnSpc>
                <a:spcPct val="120000"/>
              </a:lnSpc>
            </a:pPr>
            <a:r>
              <a:rPr lang="en-US" sz="1500" smtClean="0">
                <a:latin typeface="Verdana" pitchFamily="34" charset="0"/>
                <a:ea typeface="Bodoni SvtyTwo OS ITC TT-Book"/>
                <a:cs typeface="Bodoni SvtyTwo OS ITC TT-Book"/>
              </a:rPr>
              <a:t>If the aim is getting the contract then the presentation should focus on the big selling point and what it is that distinguishes your design from the others. If </a:t>
            </a:r>
          </a:p>
          <a:p>
            <a:pPr eaLnBrk="1" hangingPunct="1">
              <a:lnSpc>
                <a:spcPct val="120000"/>
              </a:lnSpc>
            </a:pPr>
            <a:r>
              <a:rPr lang="en-US" sz="1500" smtClean="0">
                <a:latin typeface="Verdana" pitchFamily="34" charset="0"/>
                <a:ea typeface="Bodoni SvtyTwo OS ITC TT-Book"/>
                <a:cs typeface="Bodoni SvtyTwo OS ITC TT-Book"/>
              </a:rPr>
              <a:t>the contract is organized and the aim is agreeing the concept, then the focus will be on restating the client’s brief, clarifying requirements and scoping the area. </a:t>
            </a:r>
          </a:p>
          <a:p>
            <a:pPr eaLnBrk="1" hangingPunct="1">
              <a:lnSpc>
                <a:spcPct val="120000"/>
              </a:lnSpc>
            </a:pPr>
            <a:r>
              <a:rPr lang="en-US" sz="1500" smtClean="0">
                <a:latin typeface="Verdana" pitchFamily="34" charset="0"/>
                <a:ea typeface="Bodoni SvtyTwo OS ITC TT-Book"/>
                <a:cs typeface="Bodoni SvtyTwo OS ITC TT-Book"/>
              </a:rPr>
              <a:t>Where the presentation is concerned with evaluating a general design idea, or with testing major design features with users, then it must be focused on eliciting an appropriate response.</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 Design stage</a:t>
            </a:r>
          </a:p>
        </p:txBody>
      </p:sp>
      <p:sp>
        <p:nvSpPr>
          <p:cNvPr id="61442"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If the prototype or design is still at the concept stage, broad images of the system are appropriate with little functionality except in key areas. </a:t>
            </a:r>
          </a:p>
          <a:p>
            <a:pPr eaLnBrk="1" hangingPunct="1">
              <a:lnSpc>
                <a:spcPct val="120000"/>
              </a:lnSpc>
            </a:pPr>
            <a:r>
              <a:rPr lang="en-US" sz="1500" smtClean="0">
                <a:latin typeface="Verdana" pitchFamily="34" charset="0"/>
                <a:ea typeface="Bodoni SvtyTwo OS ITC TT-Book"/>
                <a:cs typeface="Bodoni SvtyTwo OS ITC TT-Book"/>
              </a:rPr>
              <a:t>An early design will emphasize the design principles and the basis of the design language. </a:t>
            </a:r>
          </a:p>
          <a:p>
            <a:pPr eaLnBrk="1" hangingPunct="1">
              <a:lnSpc>
                <a:spcPct val="120000"/>
              </a:lnSpc>
            </a:pPr>
            <a:r>
              <a:rPr lang="en-US" sz="1500" smtClean="0">
                <a:latin typeface="Verdana" pitchFamily="34" charset="0"/>
                <a:ea typeface="Bodoni SvtyTwo OS ITC TT-Book"/>
                <a:cs typeface="Bodoni SvtyTwo OS ITC TT-Book"/>
              </a:rPr>
              <a:t>It will show how the parts fit together, basic navigational features and so on. </a:t>
            </a:r>
          </a:p>
          <a:p>
            <a:pPr eaLnBrk="1" hangingPunct="1">
              <a:lnSpc>
                <a:spcPct val="120000"/>
              </a:lnSpc>
            </a:pPr>
            <a:r>
              <a:rPr lang="en-US" sz="1500" smtClean="0">
                <a:latin typeface="Verdana" pitchFamily="34" charset="0"/>
                <a:ea typeface="Bodoni SvtyTwo OS ITC TT-Book"/>
                <a:cs typeface="Bodoni SvtyTwo OS ITC TT-Book"/>
              </a:rPr>
              <a:t>If it is a detailed design then the correct size is important along with the proposed shapes, colours and text.</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Presenting designs. what</a:t>
            </a:r>
          </a:p>
        </p:txBody>
      </p:sp>
      <p:sp>
        <p:nvSpPr>
          <p:cNvPr id="62466" name="Text Placeholder 2"/>
          <p:cNvSpPr>
            <a:spLocks noGrp="1"/>
          </p:cNvSpPr>
          <p:nvPr>
            <p:ph type="body" idx="1"/>
          </p:nvPr>
        </p:nvSpPr>
        <p:spPr/>
        <p:txBody>
          <a:bodyPr/>
          <a:lstStyle/>
          <a:p>
            <a:pPr eaLnBrk="1" hangingPunct="1">
              <a:lnSpc>
                <a:spcPct val="120000"/>
              </a:lnSpc>
            </a:pPr>
            <a:r>
              <a:rPr lang="en-US" sz="1500" smtClean="0">
                <a:latin typeface="Verdana" pitchFamily="34" charset="0"/>
                <a:ea typeface="Bodoni SvtyTwo OS ITC TT-Book"/>
                <a:cs typeface="Bodoni SvtyTwo OS ITC TT-Book"/>
              </a:rPr>
              <a:t>Finally it is important to be clear about what is being highlighted by the presentation. </a:t>
            </a:r>
          </a:p>
          <a:p>
            <a:pPr eaLnBrk="1" hangingPunct="1">
              <a:lnSpc>
                <a:spcPct val="120000"/>
              </a:lnSpc>
            </a:pPr>
            <a:r>
              <a:rPr lang="en-US" sz="1500" smtClean="0">
                <a:latin typeface="Verdana" pitchFamily="34" charset="0"/>
                <a:ea typeface="Bodoni SvtyTwo OS ITC TT-Book"/>
                <a:cs typeface="Bodoni SvtyTwo OS ITC TT-Book"/>
              </a:rPr>
              <a:t>Is it the functionality and events</a:t>
            </a:r>
          </a:p>
          <a:p>
            <a:pPr eaLnBrk="1" hangingPunct="1">
              <a:lnSpc>
                <a:spcPct val="120000"/>
              </a:lnSpc>
            </a:pPr>
            <a:r>
              <a:rPr lang="en-US" sz="1500" smtClean="0">
                <a:latin typeface="Verdana" pitchFamily="34" charset="0"/>
                <a:ea typeface="Bodoni SvtyTwo OS ITC TT-Book"/>
                <a:cs typeface="Bodoni SvtyTwo OS ITC TT-Book"/>
              </a:rPr>
              <a:t>is it the interactions and usability with the focus on look and feel, or ease of use? </a:t>
            </a:r>
          </a:p>
          <a:p>
            <a:pPr eaLnBrk="1" hangingPunct="1">
              <a:lnSpc>
                <a:spcPct val="120000"/>
              </a:lnSpc>
            </a:pPr>
            <a:r>
              <a:rPr lang="en-US" sz="1500" smtClean="0">
                <a:latin typeface="Verdana" pitchFamily="34" charset="0"/>
                <a:ea typeface="Bodoni SvtyTwo OS ITC TT-Book"/>
                <a:cs typeface="Bodoni SvtyTwo OS ITC TT-Book"/>
              </a:rPr>
              <a:t>If the focus is on content and structure, then attend to what information is there, and how is it organized, </a:t>
            </a:r>
          </a:p>
          <a:p>
            <a:pPr eaLnBrk="1" hangingPunct="1">
              <a:lnSpc>
                <a:spcPct val="120000"/>
              </a:lnSpc>
            </a:pPr>
            <a:r>
              <a:rPr lang="en-US" sz="1500" smtClean="0">
                <a:latin typeface="Verdana" pitchFamily="34" charset="0"/>
                <a:ea typeface="Bodoni SvtyTwo OS ITC TT-Book"/>
                <a:cs typeface="Bodoni SvtyTwo OS ITC TT-Book"/>
              </a:rPr>
              <a:t>whereas if it is style and aesthetics then the focus is on features such as enjoyability, visual and tangible design and use of media.</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Summary </a:t>
            </a:r>
          </a:p>
        </p:txBody>
      </p:sp>
      <p:sp>
        <p:nvSpPr>
          <p:cNvPr id="63490" name="Text Placeholder 2"/>
          <p:cNvSpPr>
            <a:spLocks noGrp="1"/>
          </p:cNvSpPr>
          <p:nvPr>
            <p:ph type="body" idx="1"/>
          </p:nvPr>
        </p:nvSpPr>
        <p:spPr/>
        <p:txBody>
          <a:bodyPr/>
          <a:lstStyle/>
          <a:p>
            <a:pPr eaLnBrk="1" hangingPunct="1">
              <a:lnSpc>
                <a:spcPct val="120000"/>
              </a:lnSpc>
            </a:pPr>
            <a:r>
              <a:rPr lang="en-US" sz="1500" dirty="0" smtClean="0">
                <a:latin typeface="Verdana" pitchFamily="34" charset="0"/>
                <a:ea typeface="Bodoni SvtyTwo OS ITC TT-Book"/>
                <a:cs typeface="Bodoni SvtyTwo OS ITC TT-Book"/>
              </a:rPr>
              <a:t>Envisionment – the making concrete of design ideas – is a key feature of design. All aspects of the system can and should be envisioned: concepts, functions, structure, interactions.</a:t>
            </a:r>
          </a:p>
          <a:p>
            <a:pPr eaLnBrk="1" hangingPunct="1">
              <a:lnSpc>
                <a:spcPct val="120000"/>
              </a:lnSpc>
            </a:pPr>
            <a:r>
              <a:rPr lang="en-US" sz="1500" dirty="0" smtClean="0">
                <a:latin typeface="Verdana" pitchFamily="34" charset="0"/>
                <a:ea typeface="Bodoni SvtyTwo OS ITC TT-Book"/>
                <a:cs typeface="Bodoni SvtyTwo OS ITC TT-Book"/>
              </a:rPr>
              <a:t>Envisionment aids the generation, communication and evaluation of ideas.</a:t>
            </a:r>
          </a:p>
          <a:p>
            <a:pPr eaLnBrk="1" hangingPunct="1">
              <a:lnSpc>
                <a:spcPct val="120000"/>
              </a:lnSpc>
            </a:pPr>
            <a:r>
              <a:rPr lang="en-US" sz="1500" dirty="0" smtClean="0">
                <a:latin typeface="Verdana" pitchFamily="34" charset="0"/>
                <a:ea typeface="Bodoni SvtyTwo OS ITC TT-Book"/>
                <a:cs typeface="Bodoni SvtyTwo OS ITC TT-Book"/>
              </a:rPr>
              <a:t>People should take an active part in </a:t>
            </a:r>
            <a:r>
              <a:rPr lang="en-US" sz="1500" dirty="0" err="1" smtClean="0">
                <a:latin typeface="Verdana" pitchFamily="34" charset="0"/>
                <a:ea typeface="Bodoni SvtyTwo OS ITC TT-Book"/>
                <a:cs typeface="Bodoni SvtyTwo OS ITC TT-Book"/>
              </a:rPr>
              <a:t>envisionment</a:t>
            </a:r>
            <a:r>
              <a:rPr lang="en-US" sz="1500" dirty="0" smtClean="0">
                <a:latin typeface="Verdana" pitchFamily="34" charset="0"/>
                <a:ea typeface="Bodoni SvtyTwo OS ITC TT-Book"/>
                <a:cs typeface="Bodoni SvtyTwo OS ITC TT-Book"/>
              </a:rPr>
              <a:t> wherever possible – the process allows essential feedback from customers and clients.</a:t>
            </a:r>
          </a:p>
          <a:p>
            <a:pPr eaLnBrk="1" hangingPunct="1">
              <a:lnSpc>
                <a:spcPct val="120000"/>
              </a:lnSpc>
            </a:pPr>
            <a:r>
              <a:rPr lang="en-US" sz="1500" dirty="0" smtClean="0">
                <a:latin typeface="Verdana" pitchFamily="34" charset="0"/>
                <a:ea typeface="Bodoni SvtyTwo OS ITC TT-Book"/>
                <a:cs typeface="Bodoni SvtyTwo OS ITC TT-Book"/>
              </a:rPr>
              <a:t>Basic techniques include storyboards, different forms of sketch, mood boards, navigation maps and concrete scenarios.</a:t>
            </a:r>
          </a:p>
          <a:p>
            <a:pPr eaLnBrk="1" hangingPunct="1">
              <a:lnSpc>
                <a:spcPct val="120000"/>
              </a:lnSpc>
            </a:pPr>
            <a:r>
              <a:rPr lang="en-US" sz="1500" dirty="0" smtClean="0">
                <a:latin typeface="Verdana" pitchFamily="34" charset="0"/>
                <a:ea typeface="Bodoni SvtyTwo OS ITC TT-Book"/>
                <a:cs typeface="Bodoni SvtyTwo OS ITC TT-Book"/>
              </a:rPr>
              <a:t>Prototyping may focus on a vertical or horizontal slice through the system, or cover the whole system, and may evolve into a final product or be thrown away and re-engineered.</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lnSpc>
                <a:spcPct val="120000"/>
              </a:lnSpc>
            </a:pPr>
            <a:r>
              <a:rPr lang="en-US" sz="1500" smtClean="0">
                <a:latin typeface="Verdana" pitchFamily="34" charset="0"/>
                <a:ea typeface="ヒラギノ角ゴ Pro W3"/>
                <a:cs typeface="ヒラギノ角ゴ Pro W3"/>
              </a:rPr>
              <a:t>Conclusion</a:t>
            </a:r>
          </a:p>
        </p:txBody>
      </p:sp>
      <p:sp>
        <p:nvSpPr>
          <p:cNvPr id="64514" name="Text Placeholder 2"/>
          <p:cNvSpPr>
            <a:spLocks noGrp="1"/>
          </p:cNvSpPr>
          <p:nvPr>
            <p:ph type="body" idx="1"/>
          </p:nvPr>
        </p:nvSpPr>
        <p:spPr/>
        <p:txBody>
          <a:bodyPr/>
          <a:lstStyle/>
          <a:p>
            <a:pPr eaLnBrk="1" hangingPunct="1">
              <a:lnSpc>
                <a:spcPct val="120000"/>
              </a:lnSpc>
            </a:pPr>
            <a:r>
              <a:rPr lang="en-US" sz="1500" dirty="0" smtClean="0">
                <a:latin typeface="Verdana" pitchFamily="34" charset="0"/>
                <a:ea typeface="Bodoni SvtyTwo OS ITC TT-Book"/>
                <a:cs typeface="Bodoni SvtyTwo OS ITC TT-Book"/>
              </a:rPr>
              <a:t>Envisionment and prototyping bring designs to life for both designers and the people who will use the new designs. </a:t>
            </a:r>
          </a:p>
          <a:p>
            <a:pPr eaLnBrk="1" hangingPunct="1">
              <a:lnSpc>
                <a:spcPct val="120000"/>
              </a:lnSpc>
            </a:pPr>
            <a:r>
              <a:rPr lang="en-US" sz="1500" dirty="0" smtClean="0">
                <a:latin typeface="Verdana" pitchFamily="34" charset="0"/>
                <a:ea typeface="Bodoni SvtyTwo OS ITC TT-Book"/>
                <a:cs typeface="Bodoni SvtyTwo OS ITC TT-Book"/>
              </a:rPr>
              <a:t>Prototypes can be anywhere along the spectrum of technical sophistication, be put together in half an hour or take several days of programming.  </a:t>
            </a:r>
          </a:p>
          <a:p>
            <a:pPr eaLnBrk="1" hangingPunct="1">
              <a:lnSpc>
                <a:spcPct val="120000"/>
              </a:lnSpc>
            </a:pPr>
            <a:r>
              <a:rPr lang="en-US" sz="1500" dirty="0" smtClean="0">
                <a:latin typeface="Verdana" pitchFamily="34" charset="0"/>
                <a:ea typeface="Bodoni SvtyTwo OS ITC TT-Book"/>
                <a:cs typeface="Bodoni SvtyTwo OS ITC TT-Book"/>
              </a:rPr>
              <a:t>The point is to explore ideas, not to build an entire parallel system or product. </a:t>
            </a:r>
          </a:p>
          <a:p>
            <a:pPr eaLnBrk="1" hangingPunct="1">
              <a:lnSpc>
                <a:spcPct val="120000"/>
              </a:lnSpc>
            </a:pPr>
            <a:r>
              <a:rPr lang="en-US" sz="1500" dirty="0" smtClean="0">
                <a:latin typeface="Verdana" pitchFamily="34" charset="0"/>
                <a:ea typeface="Bodoni SvtyTwo OS ITC TT-Book"/>
                <a:cs typeface="Bodoni SvtyTwo OS ITC TT-Book"/>
              </a:rPr>
              <a:t>Prototyping is at the heart of a human-</a:t>
            </a:r>
            <a:r>
              <a:rPr lang="en-US" sz="1500" dirty="0" err="1" smtClean="0">
                <a:latin typeface="Verdana" pitchFamily="34" charset="0"/>
                <a:ea typeface="Bodoni SvtyTwo OS ITC TT-Book"/>
                <a:cs typeface="Bodoni SvtyTwo OS ITC TT-Book"/>
              </a:rPr>
              <a:t>centred</a:t>
            </a:r>
            <a:r>
              <a:rPr lang="en-US" sz="1500" dirty="0" smtClean="0">
                <a:latin typeface="Verdana" pitchFamily="34" charset="0"/>
                <a:ea typeface="Bodoni SvtyTwo OS ITC TT-Book"/>
                <a:cs typeface="Bodoni SvtyTwo OS ITC TT-Book"/>
              </a:rPr>
              <a:t> design process.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2753</TotalTime>
  <Words>5498</Words>
  <Application>Microsoft Office PowerPoint</Application>
  <PresentationFormat>On-screen Show (4:3)</PresentationFormat>
  <Paragraphs>266</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Bodoni SvtyTwo OS ITC TT-Book</vt:lpstr>
      <vt:lpstr>ヒラギノ角ゴ Pro W3</vt:lpstr>
      <vt:lpstr>Arial</vt:lpstr>
      <vt:lpstr>Calibri</vt:lpstr>
      <vt:lpstr>Verdana</vt:lpstr>
      <vt:lpstr>Office Theme</vt:lpstr>
      <vt:lpstr>Envisionment  Finding suitable representations Sketching for ideation Visualizing look and feel Mapping the interaction  Wireframes Prototypes Envisionment in practice</vt:lpstr>
      <vt:lpstr>Envisionment</vt:lpstr>
      <vt:lpstr>Finding suitable representations</vt:lpstr>
      <vt:lpstr>Techniques</vt:lpstr>
      <vt:lpstr>Choosing suitable representations </vt:lpstr>
      <vt:lpstr>Example: A car designer   (cont..)</vt:lpstr>
      <vt:lpstr>The car designer</vt:lpstr>
      <vt:lpstr>An outline envisionment process</vt:lpstr>
      <vt:lpstr>Sketches (Snapshots) for Ideation</vt:lpstr>
      <vt:lpstr>Example</vt:lpstr>
      <vt:lpstr>Individual snapshots </vt:lpstr>
      <vt:lpstr>Storyboards</vt:lpstr>
      <vt:lpstr>Three main types of storyboarding:</vt:lpstr>
      <vt:lpstr>Mood boards</vt:lpstr>
      <vt:lpstr>Mood boards</vt:lpstr>
      <vt:lpstr>Navigation maps</vt:lpstr>
      <vt:lpstr>Navigation maps</vt:lpstr>
      <vt:lpstr>Prototypes (provided in pdf document as well)</vt:lpstr>
      <vt:lpstr>Prototypes </vt:lpstr>
      <vt:lpstr>Using Prototypes</vt:lpstr>
      <vt:lpstr>Hi-fi prototypes</vt:lpstr>
      <vt:lpstr>Hi-fi prototypes</vt:lpstr>
      <vt:lpstr>Lo-fi prototypes</vt:lpstr>
      <vt:lpstr>Lo-fi prototypes</vt:lpstr>
      <vt:lpstr>practical issues with paper prototypes </vt:lpstr>
      <vt:lpstr>Video prototypes</vt:lpstr>
      <vt:lpstr>Technology</vt:lpstr>
      <vt:lpstr>An example </vt:lpstr>
      <vt:lpstr>Different approaches to functionality in prototypes</vt:lpstr>
      <vt:lpstr>Envisionment in Practice</vt:lpstr>
      <vt:lpstr>Envisionment in Practice</vt:lpstr>
      <vt:lpstr>When interaction is not feasible. </vt:lpstr>
      <vt:lpstr>Prototypes and participatory design</vt:lpstr>
      <vt:lpstr>Trade-offs in prototyping</vt:lpstr>
      <vt:lpstr>Rosson and Carroll (2002) </vt:lpstr>
      <vt:lpstr>Prototyping throughout the design process.</vt:lpstr>
      <vt:lpstr>Prototyping tools</vt:lpstr>
      <vt:lpstr>Useful tools </vt:lpstr>
      <vt:lpstr>Pitfalls</vt:lpstr>
      <vt:lpstr>Presenting designs</vt:lpstr>
      <vt:lpstr>Presenting designs</vt:lpstr>
      <vt:lpstr>Presenting designs who?</vt:lpstr>
      <vt:lpstr>Presenting designs purpose?</vt:lpstr>
      <vt:lpstr>Presenting designs. Design stage</vt:lpstr>
      <vt:lpstr>Presenting designs. what</vt:lpstr>
      <vt:lpstr>Summary </vt:lpstr>
      <vt:lpstr>Conclusion</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Envisionment</dc:title>
  <dc:creator>david benyon</dc:creator>
  <cp:lastModifiedBy>SANA</cp:lastModifiedBy>
  <cp:revision>66</cp:revision>
  <dcterms:created xsi:type="dcterms:W3CDTF">2010-06-03T13:26:52Z</dcterms:created>
  <dcterms:modified xsi:type="dcterms:W3CDTF">2024-10-25T06:12:26Z</dcterms:modified>
</cp:coreProperties>
</file>