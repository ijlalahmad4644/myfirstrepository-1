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61"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8" r:id="rId19"/>
    <p:sldId id="279" r:id="rId20"/>
    <p:sldId id="280" r:id="rId21"/>
    <p:sldId id="282" r:id="rId22"/>
    <p:sldId id="283" r:id="rId23"/>
    <p:sldId id="285" r:id="rId24"/>
    <p:sldId id="286" r:id="rId25"/>
    <p:sldId id="288" r:id="rId26"/>
    <p:sldId id="289" r:id="rId27"/>
    <p:sldId id="290" r:id="rId28"/>
    <p:sldId id="291" r:id="rId29"/>
    <p:sldId id="292" r:id="rId30"/>
    <p:sldId id="294" r:id="rId31"/>
    <p:sldId id="297" r:id="rId32"/>
    <p:sldId id="298" r:id="rId33"/>
    <p:sldId id="299" r:id="rId34"/>
    <p:sldId id="300" r:id="rId35"/>
    <p:sldId id="301" r:id="rId36"/>
    <p:sldId id="302" r:id="rId37"/>
    <p:sldId id="303" r:id="rId38"/>
    <p:sldId id="304" r:id="rId39"/>
    <p:sldId id="305" r:id="rId40"/>
    <p:sldId id="306" r:id="rId41"/>
    <p:sldId id="307" r:id="rId42"/>
    <p:sldId id="310" r:id="rId43"/>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mn-ea"/>
        <a:cs typeface="+mn-cs"/>
      </a:defRPr>
    </a:lvl1pPr>
    <a:lvl2pPr marL="457200" algn="l" defTabSz="457200" rtl="0" fontAlgn="base">
      <a:spcBef>
        <a:spcPct val="0"/>
      </a:spcBef>
      <a:spcAft>
        <a:spcPct val="0"/>
      </a:spcAft>
      <a:defRPr kern="1200">
        <a:solidFill>
          <a:schemeClr val="tx1"/>
        </a:solidFill>
        <a:latin typeface="Arial" charset="0"/>
        <a:ea typeface="+mn-ea"/>
        <a:cs typeface="+mn-cs"/>
      </a:defRPr>
    </a:lvl2pPr>
    <a:lvl3pPr marL="914400" algn="l" defTabSz="457200" rtl="0" fontAlgn="base">
      <a:spcBef>
        <a:spcPct val="0"/>
      </a:spcBef>
      <a:spcAft>
        <a:spcPct val="0"/>
      </a:spcAft>
      <a:defRPr kern="1200">
        <a:solidFill>
          <a:schemeClr val="tx1"/>
        </a:solidFill>
        <a:latin typeface="Arial" charset="0"/>
        <a:ea typeface="+mn-ea"/>
        <a:cs typeface="+mn-cs"/>
      </a:defRPr>
    </a:lvl3pPr>
    <a:lvl4pPr marL="1371600" algn="l" defTabSz="457200" rtl="0" fontAlgn="base">
      <a:spcBef>
        <a:spcPct val="0"/>
      </a:spcBef>
      <a:spcAft>
        <a:spcPct val="0"/>
      </a:spcAft>
      <a:defRPr kern="1200">
        <a:solidFill>
          <a:schemeClr val="tx1"/>
        </a:solidFill>
        <a:latin typeface="Arial" charset="0"/>
        <a:ea typeface="+mn-ea"/>
        <a:cs typeface="+mn-cs"/>
      </a:defRPr>
    </a:lvl4pPr>
    <a:lvl5pPr marL="1828800" algn="l" defTabSz="457200"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529" autoAdjust="0"/>
    <p:restoredTop sz="91788" autoAdjust="0"/>
  </p:normalViewPr>
  <p:slideViewPr>
    <p:cSldViewPr snapToObjects="1">
      <p:cViewPr varScale="1">
        <p:scale>
          <a:sx n="67" d="100"/>
          <a:sy n="67" d="100"/>
        </p:scale>
        <p:origin x="1152" y="72"/>
      </p:cViewPr>
      <p:guideLst>
        <p:guide orient="horz" pos="2160"/>
        <p:guide pos="2880"/>
      </p:guideLst>
    </p:cSldViewPr>
  </p:slideViewPr>
  <p:outlineViewPr>
    <p:cViewPr>
      <p:scale>
        <a:sx n="33" d="100"/>
        <a:sy n="33" d="100"/>
      </p:scale>
      <p:origin x="0" y="104544"/>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1F334050-4E17-45C9-B70D-980F589D5365}" type="datetimeFigureOut">
              <a:rPr lang="en-US"/>
              <a:pPr>
                <a:defRPr/>
              </a:pPr>
              <a:t>2/27/2025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EF77399-B979-4563-A9B2-09E200774742}"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7D7B558-5A5B-4312-9956-722A62DE6A0B}" type="datetimeFigureOut">
              <a:rPr lang="en-US"/>
              <a:pPr>
                <a:defRPr/>
              </a:pPr>
              <a:t>2/27/2025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5690FEC-46A9-4F35-A03B-3E8AE6A7F4BD}"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3BA1DD2F-E322-47CC-8111-9B7866C66855}" type="datetimeFigureOut">
              <a:rPr lang="en-US"/>
              <a:pPr>
                <a:defRPr/>
              </a:pPr>
              <a:t>2/27/2025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1FDA45D-BCAE-449A-8DFA-10D2117D55C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DC82C4D4-969F-48FA-B5F9-FC4441E9194B}" type="datetimeFigureOut">
              <a:rPr lang="en-US"/>
              <a:pPr>
                <a:defRPr/>
              </a:pPr>
              <a:t>2/27/2025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83BAFD2-927F-465F-9C04-56162210448E}"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088D8DB-9F81-42CF-B30B-8E10448B9551}" type="datetimeFigureOut">
              <a:rPr lang="en-US"/>
              <a:pPr>
                <a:defRPr/>
              </a:pPr>
              <a:t>2/27/2025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E3EF6595-BB52-462A-A8D5-920DFD775478}"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AB4A6026-11D4-4D9A-B1E5-B97A665F5CB4}" type="datetimeFigureOut">
              <a:rPr lang="en-US"/>
              <a:pPr>
                <a:defRPr/>
              </a:pPr>
              <a:t>2/27/2025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366CE24-80B6-426F-BBCC-A5E3487D4D7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6B93661-3365-479A-99FA-5CC24CFE2581}" type="datetimeFigureOut">
              <a:rPr lang="en-US"/>
              <a:pPr>
                <a:defRPr/>
              </a:pPr>
              <a:t>2/27/2025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99ECB3F5-0CA9-4E17-90CB-536CA5A91DFD}"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99EEBF48-D701-4073-9035-40B3F4838452}" type="datetimeFigureOut">
              <a:rPr lang="en-US"/>
              <a:pPr>
                <a:defRPr/>
              </a:pPr>
              <a:t>2/27/2025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AFB7692-5163-44A3-8853-5B39FCA30A3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DF1F266A-1A85-4D37-8614-B7B74FC34E6E}" type="datetimeFigureOut">
              <a:rPr lang="en-US"/>
              <a:pPr>
                <a:defRPr/>
              </a:pPr>
              <a:t>2/27/2025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0D48D3A-65A8-48E0-9A2D-7AB92551F958}"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62A2EBDA-DACB-43F1-B751-3D57C5D18790}" type="datetimeFigureOut">
              <a:rPr lang="en-US"/>
              <a:pPr>
                <a:defRPr/>
              </a:pPr>
              <a:t>2/27/2025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91E436A-D8AC-40BA-84F9-770F891750E5}"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8EFCD11-9B3B-4240-B009-A5F2202BBA65}" type="datetimeFigureOut">
              <a:rPr lang="en-US"/>
              <a:pPr>
                <a:defRPr/>
              </a:pPr>
              <a:t>2/27/2025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BDA1EDA-767C-4DA6-9B12-2802DCAD68A3}"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Text Placeholder 2"/>
          <p:cNvSpPr>
            <a:spLocks noGrp="1"/>
          </p:cNvSpPr>
          <p:nvPr>
            <p:ph type="body"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3EB7C0E-9208-41C2-A217-E9A7B6198137}" type="datetimeFigureOut">
              <a:rPr lang="en-US"/>
              <a:pPr>
                <a:defRPr/>
              </a:pPr>
              <a:t>2/27/2025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DA9BDAA-F55E-42E6-8104-D8AD56015CF3}"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smtClean="0"/>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43FE1906-ED2A-4664-BC73-63B861FEC747}" type="datetimeFigureOut">
              <a:rPr lang="en-US"/>
              <a:pPr>
                <a:defRPr/>
              </a:pPr>
              <a:t>2/27/2025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AC0CE0A6-9E51-4E55-8931-FD10EF0F3E48}" type="slidenum">
              <a:rPr lang="en-US"/>
              <a:pPr>
                <a:defRPr/>
              </a:pPr>
              <a:t>‹#›</a:t>
            </a:fld>
            <a:endParaRPr lang="en-US"/>
          </a:p>
        </p:txBody>
      </p:sp>
      <p:sp>
        <p:nvSpPr>
          <p:cNvPr id="2" name="Text Box 4"/>
          <p:cNvSpPr txBox="1">
            <a:spLocks noChangeArrowheads="1"/>
          </p:cNvSpPr>
          <p:nvPr userDrawn="1"/>
        </p:nvSpPr>
        <p:spPr bwMode="auto">
          <a:xfrm>
            <a:off x="107950" y="6356350"/>
            <a:ext cx="8928100" cy="228600"/>
          </a:xfrm>
          <a:prstGeom prst="rect">
            <a:avLst/>
          </a:prstGeom>
          <a:noFill/>
          <a:ln w="9525">
            <a:noFill/>
            <a:miter lim="800000"/>
            <a:headEnd/>
            <a:tailEnd/>
          </a:ln>
        </p:spPr>
        <p:txBody>
          <a:bodyPr>
            <a:spAutoFit/>
          </a:bodyPr>
          <a:lstStyle/>
          <a:p>
            <a:pPr algn="ctr">
              <a:defRPr/>
            </a:pPr>
            <a:r>
              <a:rPr lang="en-GB" sz="900">
                <a:latin typeface="Verdana" pitchFamily="34" charset="0"/>
              </a:rPr>
              <a:t>Benyon, </a:t>
            </a:r>
            <a:r>
              <a:rPr lang="en-US" sz="900" i="1">
                <a:latin typeface="Verdana" pitchFamily="34" charset="0"/>
              </a:rPr>
              <a:t>Designing Interactive Systems: A comprehensive guide to HCI, UX and interaction design</a:t>
            </a:r>
            <a:r>
              <a:rPr lang="en-GB" sz="900">
                <a:latin typeface="Verdana" pitchFamily="34" charset="0"/>
              </a:rPr>
              <a:t>, 3rd Ed., © Pearson Education Limited 2013</a:t>
            </a:r>
            <a:endParaRPr lang="en-GB"/>
          </a:p>
        </p:txBody>
      </p:sp>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54" r:id="rId7"/>
    <p:sldLayoutId id="2147483653" r:id="rId8"/>
    <p:sldLayoutId id="2147483652" r:id="rId9"/>
    <p:sldLayoutId id="2147483651" r:id="rId10"/>
    <p:sldLayoutId id="2147483650" r:id="rId11"/>
    <p:sldLayoutId id="2147483649" r:id="rId12"/>
  </p:sldLayoutIdLst>
  <p:txStyles>
    <p:titleStyle>
      <a:lvl1pPr algn="ctr" defTabSz="457200" rtl="0" eaLnBrk="0" fontAlgn="base" hangingPunct="0">
        <a:spcBef>
          <a:spcPct val="0"/>
        </a:spcBef>
        <a:spcAft>
          <a:spcPct val="0"/>
        </a:spcAft>
        <a:defRPr sz="4400" kern="1200">
          <a:solidFill>
            <a:schemeClr val="tx1"/>
          </a:solidFill>
          <a:latin typeface="+mj-lt"/>
          <a:ea typeface="+mj-ea"/>
          <a:cs typeface="+mj-cs"/>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p:cNvSpPr>
            <a:spLocks noGrp="1"/>
          </p:cNvSpPr>
          <p:nvPr>
            <p:ph type="ctrTitle"/>
          </p:nvPr>
        </p:nvSpPr>
        <p:spPr>
          <a:xfrm>
            <a:off x="467544" y="2203450"/>
            <a:ext cx="8278688" cy="1470025"/>
          </a:xfrm>
        </p:spPr>
        <p:txBody>
          <a:bodyPr/>
          <a:lstStyle/>
          <a:p>
            <a:pPr eaLnBrk="1" hangingPunct="1">
              <a:lnSpc>
                <a:spcPct val="200000"/>
              </a:lnSpc>
            </a:pPr>
            <a:r>
              <a:rPr lang="en-US" sz="1800" b="1" dirty="0" smtClean="0">
                <a:latin typeface="Arial" panose="020B0604020202020204" pitchFamily="34" charset="0"/>
                <a:ea typeface="ヒラギノ角ゴ Pro W3"/>
                <a:cs typeface="Arial" panose="020B0604020202020204" pitchFamily="34" charset="0"/>
              </a:rPr>
              <a:t>The Process of Human-</a:t>
            </a:r>
            <a:r>
              <a:rPr lang="en-US" sz="1800" b="1" dirty="0" err="1">
                <a:latin typeface="Arial" panose="020B0604020202020204" pitchFamily="34" charset="0"/>
                <a:ea typeface="ヒラギノ角ゴ Pro W3"/>
                <a:cs typeface="Arial" panose="020B0604020202020204" pitchFamily="34" charset="0"/>
              </a:rPr>
              <a:t>C</a:t>
            </a:r>
            <a:r>
              <a:rPr lang="en-US" sz="1800" b="1" dirty="0" err="1" smtClean="0">
                <a:latin typeface="Arial" panose="020B0604020202020204" pitchFamily="34" charset="0"/>
                <a:ea typeface="ヒラギノ角ゴ Pro W3"/>
                <a:cs typeface="Arial" panose="020B0604020202020204" pitchFamily="34" charset="0"/>
              </a:rPr>
              <a:t>entred</a:t>
            </a:r>
            <a:r>
              <a:rPr lang="en-US" sz="1800" b="1" dirty="0" smtClean="0">
                <a:latin typeface="Arial" panose="020B0604020202020204" pitchFamily="34" charset="0"/>
                <a:ea typeface="ヒラギノ角ゴ Pro W3"/>
                <a:cs typeface="Arial" panose="020B0604020202020204" pitchFamily="34" charset="0"/>
              </a:rPr>
              <a:t> Interactive Systems Design (UX design)</a:t>
            </a:r>
            <a:br>
              <a:rPr lang="en-US" sz="1800" b="1" dirty="0" smtClean="0">
                <a:latin typeface="Arial" panose="020B0604020202020204" pitchFamily="34" charset="0"/>
                <a:ea typeface="ヒラギノ角ゴ Pro W3"/>
                <a:cs typeface="Arial" panose="020B0604020202020204" pitchFamily="34" charset="0"/>
              </a:rPr>
            </a:br>
            <a:r>
              <a:rPr lang="en-US" sz="1800" b="1" dirty="0" smtClean="0">
                <a:latin typeface="Arial" panose="020B0604020202020204" pitchFamily="34" charset="0"/>
                <a:ea typeface="ヒラギノ角ゴ Pro W3"/>
                <a:cs typeface="Arial" panose="020B0604020202020204" pitchFamily="34" charset="0"/>
              </a:rPr>
              <a:t>Developing </a:t>
            </a:r>
            <a:r>
              <a:rPr lang="en-US" sz="1800" b="1" dirty="0">
                <a:latin typeface="Arial" panose="020B0604020202020204" pitchFamily="34" charset="0"/>
                <a:ea typeface="ヒラギノ角ゴ Pro W3"/>
                <a:cs typeface="Arial" panose="020B0604020202020204" pitchFamily="34" charset="0"/>
              </a:rPr>
              <a:t>personas</a:t>
            </a:r>
            <a:endParaRPr lang="en-US" sz="1800" b="1" dirty="0" smtClean="0">
              <a:latin typeface="Arial" panose="020B0604020202020204" pitchFamily="34" charset="0"/>
              <a:ea typeface="ヒラギノ角ゴ Pro W3"/>
              <a:cs typeface="Arial" panose="020B0604020202020204"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a:xfrm>
            <a:off x="395536" y="231230"/>
            <a:ext cx="8229600" cy="461466"/>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Introduction</a:t>
            </a:r>
          </a:p>
        </p:txBody>
      </p:sp>
      <p:sp>
        <p:nvSpPr>
          <p:cNvPr id="17410" name="Text Placeholder 2"/>
          <p:cNvSpPr>
            <a:spLocks noGrp="1"/>
          </p:cNvSpPr>
          <p:nvPr>
            <p:ph type="body" idx="1"/>
          </p:nvPr>
        </p:nvSpPr>
        <p:spPr>
          <a:xfrm>
            <a:off x="313184" y="736104"/>
            <a:ext cx="8435280" cy="5573216"/>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many different ways of characterizing the activities involved in design process. </a:t>
            </a:r>
          </a:p>
          <a:p>
            <a:pPr algn="just" eaLnBrk="1" hangingPunct="1">
              <a:lnSpc>
                <a:spcPct val="150000"/>
              </a:lnSpc>
            </a:pPr>
            <a:r>
              <a:rPr lang="en-US" sz="1500" dirty="0" smtClean="0">
                <a:latin typeface="Verdana" pitchFamily="34" charset="0"/>
                <a:ea typeface="ヒラギノ角ゴ Pro W3"/>
                <a:cs typeface="ヒラギノ角ゴ Pro W3"/>
              </a:rPr>
              <a:t>For David Kelley, founder of the product design company IDEO,</a:t>
            </a:r>
          </a:p>
          <a:p>
            <a:pPr lvl="1" algn="just" eaLnBrk="1" hangingPunct="1">
              <a:lnSpc>
                <a:spcPct val="150000"/>
              </a:lnSpc>
            </a:pPr>
            <a:r>
              <a:rPr lang="en-US" sz="1500" dirty="0" smtClean="0">
                <a:latin typeface="Verdana" pitchFamily="34" charset="0"/>
                <a:ea typeface="ヒラギノ角ゴ Pro W3"/>
                <a:cs typeface="ヒラギノ角ゴ Pro W3"/>
              </a:rPr>
              <a:t>‘Design has </a:t>
            </a:r>
            <a:r>
              <a:rPr lang="en-US" sz="1500" b="1" dirty="0" smtClean="0">
                <a:latin typeface="Verdana" pitchFamily="34" charset="0"/>
                <a:ea typeface="ヒラギノ角ゴ Pro W3"/>
                <a:cs typeface="ヒラギノ角ゴ Pro W3"/>
              </a:rPr>
              <a:t>three activities: understand, observe and visualize</a:t>
            </a:r>
            <a:r>
              <a:rPr lang="en-US" sz="1500" dirty="0" smtClean="0">
                <a:latin typeface="Verdana" pitchFamily="34" charset="0"/>
                <a:ea typeface="ヒラギノ角ゴ Pro W3"/>
                <a:cs typeface="ヒラギノ角ゴ Pro W3"/>
              </a:rPr>
              <a:t>.’</a:t>
            </a:r>
          </a:p>
          <a:p>
            <a:pPr lvl="1" algn="just" eaLnBrk="1" hangingPunct="1">
              <a:lnSpc>
                <a:spcPct val="150000"/>
              </a:lnSpc>
            </a:pPr>
            <a:r>
              <a:rPr lang="en-US" sz="1500" dirty="0" smtClean="0">
                <a:latin typeface="Verdana" pitchFamily="34" charset="0"/>
                <a:ea typeface="ヒラギノ角ゴ Pro W3"/>
                <a:cs typeface="ヒラギノ角ゴ Pro W3"/>
              </a:rPr>
              <a:t> ‘Remember, </a:t>
            </a:r>
            <a:r>
              <a:rPr lang="en-US" sz="1500" b="1" dirty="0" smtClean="0">
                <a:latin typeface="Verdana" pitchFamily="34" charset="0"/>
                <a:ea typeface="ヒラギノ角ゴ Pro W3"/>
                <a:cs typeface="ヒラギノ角ゴ Pro W3"/>
              </a:rPr>
              <a:t>design is messy</a:t>
            </a:r>
            <a:r>
              <a:rPr lang="en-US" sz="1500" dirty="0" smtClean="0">
                <a:latin typeface="Verdana" pitchFamily="34" charset="0"/>
                <a:ea typeface="ヒラギノ角ゴ Pro W3"/>
                <a:cs typeface="ヒラギノ角ゴ Pro W3"/>
              </a:rPr>
              <a:t>; designers try to understand this mess. They observe how their products will be used; </a:t>
            </a:r>
            <a:r>
              <a:rPr lang="en-US" sz="1500" b="1" dirty="0" smtClean="0">
                <a:latin typeface="Verdana" pitchFamily="34" charset="0"/>
                <a:ea typeface="ヒラギノ角ゴ Pro W3"/>
                <a:cs typeface="ヒラギノ角ゴ Pro W3"/>
              </a:rPr>
              <a:t>design is about users and use</a:t>
            </a:r>
            <a:r>
              <a:rPr lang="en-US" sz="1500" dirty="0" smtClean="0">
                <a:latin typeface="Verdana" pitchFamily="34" charset="0"/>
                <a:ea typeface="ヒラギノ角ゴ Pro W3"/>
                <a:cs typeface="ヒラギノ角ゴ Pro W3"/>
              </a:rPr>
              <a:t>. They visualize which is the act of deciding what it is.’</a:t>
            </a:r>
          </a:p>
          <a:p>
            <a:pPr algn="just" eaLnBrk="1" hangingPunct="1">
              <a:lnSpc>
                <a:spcPct val="150000"/>
              </a:lnSpc>
            </a:pPr>
            <a:r>
              <a:rPr lang="en-US" sz="1500" dirty="0" smtClean="0">
                <a:latin typeface="Verdana" pitchFamily="34" charset="0"/>
                <a:ea typeface="ヒラギノ角ゴ Pro W3"/>
                <a:cs typeface="ヒラギノ角ゴ Pro W3"/>
              </a:rPr>
              <a:t>We characterize the </a:t>
            </a:r>
            <a:r>
              <a:rPr lang="en-US" sz="1500" dirty="0" smtClean="0">
                <a:solidFill>
                  <a:srgbClr val="0070C0"/>
                </a:solidFill>
                <a:latin typeface="Verdana" pitchFamily="34" charset="0"/>
                <a:ea typeface="ヒラギノ角ゴ Pro W3"/>
                <a:cs typeface="ヒラギノ角ゴ Pro W3"/>
              </a:rPr>
              <a:t>overall design process in terms of the four activities </a:t>
            </a:r>
            <a:r>
              <a:rPr lang="en-US" sz="1500" b="1" dirty="0" smtClean="0">
                <a:solidFill>
                  <a:srgbClr val="0070C0"/>
                </a:solidFill>
                <a:latin typeface="Verdana" pitchFamily="34" charset="0"/>
                <a:ea typeface="ヒラギノ角ゴ Pro W3"/>
                <a:cs typeface="ヒラギノ角ゴ Pro W3"/>
              </a:rPr>
              <a:t>understanding, envisionment, design and evaluation</a:t>
            </a:r>
            <a:r>
              <a:rPr lang="en-US" sz="1500" dirty="0" smtClean="0">
                <a:solidFill>
                  <a:srgbClr val="0070C0"/>
                </a:solidFill>
                <a:latin typeface="Verdana" pitchFamily="34" charset="0"/>
                <a:ea typeface="ヒラギノ角ゴ Pro W3"/>
                <a:cs typeface="ヒラギノ角ゴ Pro W3"/>
              </a:rPr>
              <a:t>:</a:t>
            </a:r>
          </a:p>
          <a:p>
            <a:pPr lvl="1" algn="just" eaLnBrk="1" hangingPunct="1">
              <a:lnSpc>
                <a:spcPct val="150000"/>
              </a:lnSpc>
            </a:pPr>
            <a:r>
              <a:rPr lang="en-US" sz="1500" b="1" dirty="0" smtClean="0">
                <a:latin typeface="Verdana" pitchFamily="34" charset="0"/>
                <a:ea typeface="ヒラギノ角ゴ Pro W3"/>
                <a:cs typeface="ヒラギノ角ゴ Pro W3"/>
              </a:rPr>
              <a:t>Evaluation is central </a:t>
            </a:r>
            <a:r>
              <a:rPr lang="en-US" sz="1500" dirty="0" smtClean="0">
                <a:latin typeface="Verdana" pitchFamily="34" charset="0"/>
                <a:ea typeface="ヒラギノ角ゴ Pro W3"/>
                <a:cs typeface="ヒラギノ角ゴ Pro W3"/>
              </a:rPr>
              <a:t>to designing interactive systems. Everything gets evaluated at every step of the process.</a:t>
            </a:r>
          </a:p>
          <a:p>
            <a:pPr lvl="1" algn="just" eaLnBrk="1" hangingPunct="1">
              <a:lnSpc>
                <a:spcPct val="150000"/>
              </a:lnSpc>
            </a:pPr>
            <a:r>
              <a:rPr lang="en-US" sz="1500" b="1" dirty="0" smtClean="0">
                <a:latin typeface="Verdana" pitchFamily="34" charset="0"/>
                <a:ea typeface="ヒラギノ角ゴ Pro W3"/>
                <a:cs typeface="ヒラギノ角ゴ Pro W3"/>
              </a:rPr>
              <a:t>process can start at any point</a:t>
            </a:r>
            <a:r>
              <a:rPr lang="en-US" sz="1500" dirty="0" smtClean="0">
                <a:latin typeface="Verdana" pitchFamily="34" charset="0"/>
                <a:ea typeface="ヒラギノ角ゴ Pro W3"/>
                <a:cs typeface="ヒラギノ角ゴ Pro W3"/>
              </a:rPr>
              <a:t>. sometimes there’s a conceptual design, sometimes we start with a prototype or sometimes start with requirements.</a:t>
            </a:r>
          </a:p>
          <a:p>
            <a:pPr lvl="1" algn="just" eaLnBrk="1" hangingPunct="1">
              <a:lnSpc>
                <a:spcPct val="150000"/>
              </a:lnSpc>
            </a:pPr>
            <a:r>
              <a:rPr lang="en-US" sz="1500" b="1" dirty="0" smtClean="0">
                <a:latin typeface="Verdana" pitchFamily="34" charset="0"/>
                <a:ea typeface="ヒラギノ角ゴ Pro W3"/>
                <a:cs typeface="ヒラギノ角ゴ Pro W3"/>
              </a:rPr>
              <a:t>activities can happen in any order</a:t>
            </a:r>
            <a:r>
              <a:rPr lang="en-US" sz="1500" dirty="0" smtClean="0">
                <a:latin typeface="Verdana" pitchFamily="34" charset="0"/>
                <a:ea typeface="ヒラギノ角ゴ Pro W3"/>
                <a:cs typeface="ヒラギノ角ゴ Pro W3"/>
              </a:rPr>
              <a:t>, e.g. requirements might be evaluated and a prototype built and evaluated and some aspect of a physical design might then be identified.</a:t>
            </a:r>
            <a:endParaRPr lang="en-US" sz="1500" baseline="-25000" dirty="0" smtClean="0">
              <a:latin typeface="Verdana" pitchFamily="34" charset="0"/>
              <a:ea typeface="ヒラギノ角ゴ Pro W3"/>
              <a:cs typeface="ヒラギノ角ゴ Pro W3"/>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a:xfrm>
            <a:off x="374848" y="476672"/>
            <a:ext cx="8229600" cy="922114"/>
          </a:xfrm>
        </p:spPr>
        <p:txBody>
          <a:bodyPr/>
          <a:lstStyle/>
          <a:p>
            <a:pPr eaLnBrk="1" hangingPunct="1">
              <a:lnSpc>
                <a:spcPct val="150000"/>
              </a:lnSpc>
            </a:pPr>
            <a:r>
              <a:rPr lang="en-US" sz="2500" b="1" dirty="0" smtClean="0">
                <a:solidFill>
                  <a:srgbClr val="0070C0"/>
                </a:solidFill>
                <a:latin typeface="Verdana" pitchFamily="34" charset="0"/>
                <a:ea typeface="ヒラギノ角ゴ Pro W3"/>
                <a:cs typeface="ヒラギノ角ゴ Pro W3"/>
              </a:rPr>
              <a:t>1  Understanding</a:t>
            </a:r>
          </a:p>
        </p:txBody>
      </p:sp>
      <p:sp>
        <p:nvSpPr>
          <p:cNvPr id="3" name="Text Placeholder 2"/>
          <p:cNvSpPr>
            <a:spLocks noGrp="1"/>
          </p:cNvSpPr>
          <p:nvPr>
            <p:ph type="body" idx="1"/>
          </p:nvPr>
        </p:nvSpPr>
        <p:spPr/>
        <p:txBody>
          <a:bodyPr>
            <a:normAutofit/>
          </a:bodyPr>
          <a:lstStyle/>
          <a:p>
            <a:pPr algn="just" eaLnBrk="1" hangingPunct="1">
              <a:lnSpc>
                <a:spcPct val="200000"/>
              </a:lnSpc>
            </a:pPr>
            <a:r>
              <a:rPr lang="en-US" sz="1500" dirty="0" smtClean="0">
                <a:latin typeface="Verdana" pitchFamily="34" charset="0"/>
                <a:ea typeface="ヒラギノ角ゴ Pro W3"/>
                <a:cs typeface="ヒラギノ角ゴ Pro W3"/>
              </a:rPr>
              <a:t>Understanding is concerned with what the </a:t>
            </a:r>
            <a:r>
              <a:rPr lang="en-US" sz="1500" b="1" dirty="0" smtClean="0">
                <a:latin typeface="Verdana" pitchFamily="34" charset="0"/>
                <a:ea typeface="ヒラギノ角ゴ Pro W3"/>
                <a:cs typeface="ヒラギノ角ゴ Pro W3"/>
              </a:rPr>
              <a:t>system has to do</a:t>
            </a:r>
            <a:r>
              <a:rPr lang="en-US" sz="1500" dirty="0" smtClean="0">
                <a:latin typeface="Verdana" pitchFamily="34" charset="0"/>
                <a:ea typeface="ヒラギノ角ゴ Pro W3"/>
                <a:cs typeface="ヒラギノ角ゴ Pro W3"/>
              </a:rPr>
              <a:t>, what it has to </a:t>
            </a:r>
            <a:r>
              <a:rPr lang="en-US" sz="1500" b="1" dirty="0" smtClean="0">
                <a:latin typeface="Verdana" pitchFamily="34" charset="0"/>
                <a:ea typeface="ヒラギノ角ゴ Pro W3"/>
                <a:cs typeface="ヒラギノ角ゴ Pro W3"/>
              </a:rPr>
              <a:t>be like </a:t>
            </a:r>
            <a:r>
              <a:rPr lang="en-US" sz="1500" dirty="0" smtClean="0">
                <a:latin typeface="Verdana" pitchFamily="34" charset="0"/>
                <a:ea typeface="ヒラギノ角ゴ Pro W3"/>
                <a:cs typeface="ヒラギノ角ゴ Pro W3"/>
              </a:rPr>
              <a:t>and how it has </a:t>
            </a:r>
            <a:r>
              <a:rPr lang="en-US" sz="1500" b="1" dirty="0" smtClean="0">
                <a:latin typeface="Verdana" pitchFamily="34" charset="0"/>
                <a:ea typeface="ヒラギノ角ゴ Pro W3"/>
                <a:cs typeface="ヒラギノ角ゴ Pro W3"/>
              </a:rPr>
              <a:t>to fit in with other things</a:t>
            </a:r>
            <a:r>
              <a:rPr lang="en-US" sz="1500" dirty="0" smtClean="0">
                <a:latin typeface="Verdana" pitchFamily="34" charset="0"/>
                <a:ea typeface="ヒラギノ角ゴ Pro W3"/>
                <a:cs typeface="ヒラギノ角ゴ Pro W3"/>
              </a:rPr>
              <a:t>; with the requirements of the product, system or service. </a:t>
            </a:r>
          </a:p>
          <a:p>
            <a:pPr algn="just" eaLnBrk="1" hangingPunct="1">
              <a:lnSpc>
                <a:spcPct val="200000"/>
              </a:lnSpc>
            </a:pPr>
            <a:r>
              <a:rPr lang="en-US" sz="1500" dirty="0" smtClean="0">
                <a:latin typeface="Verdana" pitchFamily="34" charset="0"/>
                <a:ea typeface="ヒラギノ角ゴ Pro W3"/>
                <a:cs typeface="ヒラギノ角ゴ Pro W3"/>
              </a:rPr>
              <a:t>Designers </a:t>
            </a:r>
            <a:r>
              <a:rPr lang="en-US" sz="1500" b="1" dirty="0" smtClean="0">
                <a:latin typeface="Verdana" pitchFamily="34" charset="0"/>
                <a:ea typeface="ヒラギノ角ゴ Pro W3"/>
                <a:cs typeface="ヒラギノ角ゴ Pro W3"/>
              </a:rPr>
              <a:t>need to research </a:t>
            </a:r>
            <a:r>
              <a:rPr lang="en-US" sz="1500" dirty="0" smtClean="0">
                <a:latin typeface="Verdana" pitchFamily="34" charset="0"/>
                <a:ea typeface="ヒラギノ角ゴ Pro W3"/>
                <a:cs typeface="ヒラギノ角ゴ Pro W3"/>
              </a:rPr>
              <a:t>the range of people, activities and contexts relevant to the domain they are investigating so that they can understand the requirements of the system they are developing. </a:t>
            </a:r>
          </a:p>
          <a:p>
            <a:pPr algn="just" eaLnBrk="1" hangingPunct="1">
              <a:lnSpc>
                <a:spcPct val="200000"/>
              </a:lnSpc>
            </a:pPr>
            <a:r>
              <a:rPr lang="en-US" sz="1500" dirty="0" smtClean="0">
                <a:latin typeface="Verdana" pitchFamily="34" charset="0"/>
                <a:ea typeface="ヒラギノ角ゴ Pro W3"/>
                <a:cs typeface="ヒラギノ角ゴ Pro W3"/>
              </a:rPr>
              <a:t>They need to </a:t>
            </a:r>
            <a:r>
              <a:rPr lang="en-US" sz="1500" b="1" dirty="0" smtClean="0">
                <a:latin typeface="Verdana" pitchFamily="34" charset="0"/>
                <a:ea typeface="ヒラギノ角ゴ Pro W3"/>
                <a:cs typeface="ヒラギノ角ゴ Pro W3"/>
              </a:rPr>
              <a:t>understand the opportunities and constraints</a:t>
            </a:r>
            <a:r>
              <a:rPr lang="en-US" sz="1500" dirty="0" smtClean="0">
                <a:latin typeface="Verdana" pitchFamily="34" charset="0"/>
                <a:ea typeface="ヒラギノ角ゴ Pro W3"/>
                <a:cs typeface="ヒラギノ角ゴ Pro W3"/>
              </a:rPr>
              <a:t> provided by </a:t>
            </a:r>
            <a:r>
              <a:rPr lang="en-US" sz="1500" b="1" dirty="0" smtClean="0">
                <a:latin typeface="Verdana" pitchFamily="34" charset="0"/>
                <a:ea typeface="ヒラギノ角ゴ Pro W3"/>
                <a:cs typeface="ヒラギノ角ゴ Pro W3"/>
              </a:rPr>
              <a:t>technologies</a:t>
            </a:r>
            <a:r>
              <a:rPr lang="en-US" sz="1500" dirty="0" smtClean="0">
                <a:latin typeface="Verdana" pitchFamily="34" charset="0"/>
                <a:ea typeface="ヒラギノ角ゴ Pro W3"/>
                <a:cs typeface="ヒラギノ角ゴ Pro W3"/>
              </a:rPr>
              <a:t>.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a:xfrm>
            <a:off x="457200" y="188640"/>
            <a:ext cx="8229600" cy="634082"/>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Requirements</a:t>
            </a:r>
          </a:p>
        </p:txBody>
      </p:sp>
      <p:sp>
        <p:nvSpPr>
          <p:cNvPr id="3" name="Text Placeholder 2"/>
          <p:cNvSpPr>
            <a:spLocks noGrp="1"/>
          </p:cNvSpPr>
          <p:nvPr>
            <p:ph type="body" idx="1"/>
          </p:nvPr>
        </p:nvSpPr>
        <p:spPr>
          <a:xfrm>
            <a:off x="457200" y="836712"/>
            <a:ext cx="8229600" cy="5616624"/>
          </a:xfrm>
        </p:spPr>
        <p:txBody>
          <a:bodyPr>
            <a:noAutofit/>
          </a:bodyPr>
          <a:lstStyle/>
          <a:p>
            <a:pPr algn="just" eaLnBrk="1" hangingPunct="1">
              <a:lnSpc>
                <a:spcPct val="160000"/>
              </a:lnSpc>
            </a:pPr>
            <a:r>
              <a:rPr lang="en-US" sz="1500" dirty="0" smtClean="0">
                <a:latin typeface="Verdana" pitchFamily="34" charset="0"/>
                <a:ea typeface="ヒラギノ角ゴ Pro W3"/>
                <a:cs typeface="ヒラギノ角ゴ Pro W3"/>
              </a:rPr>
              <a:t>There are both functional and non-functional requirements to consider. </a:t>
            </a:r>
          </a:p>
          <a:p>
            <a:pPr algn="just" eaLnBrk="1" hangingPunct="1">
              <a:lnSpc>
                <a:spcPct val="160000"/>
              </a:lnSpc>
            </a:pPr>
            <a:r>
              <a:rPr lang="en-US" sz="1500" b="1" dirty="0" smtClean="0">
                <a:latin typeface="Verdana" pitchFamily="34" charset="0"/>
                <a:ea typeface="ヒラギノ角ゴ Pro W3"/>
                <a:cs typeface="ヒラギノ角ゴ Pro W3"/>
              </a:rPr>
              <a:t>Functional requirements </a:t>
            </a:r>
            <a:r>
              <a:rPr lang="en-US" sz="1500" dirty="0" smtClean="0">
                <a:latin typeface="Verdana" pitchFamily="34" charset="0"/>
                <a:ea typeface="ヒラギノ角ゴ Pro W3"/>
                <a:cs typeface="ヒラギノ角ゴ Pro W3"/>
              </a:rPr>
              <a:t>are concerned with what the system should be able to do and with the functional constraints of a system. </a:t>
            </a:r>
          </a:p>
          <a:p>
            <a:pPr algn="just" eaLnBrk="1" hangingPunct="1">
              <a:lnSpc>
                <a:spcPct val="160000"/>
              </a:lnSpc>
            </a:pPr>
            <a:r>
              <a:rPr lang="en-US" sz="1500" dirty="0" smtClean="0">
                <a:latin typeface="Verdana" pitchFamily="34" charset="0"/>
                <a:ea typeface="ヒラギノ角ゴ Pro W3"/>
                <a:cs typeface="ヒラギノ角ゴ Pro W3"/>
              </a:rPr>
              <a:t>It is important for designer to </a:t>
            </a:r>
            <a:r>
              <a:rPr lang="en-US" sz="1500" b="1" dirty="0" smtClean="0">
                <a:latin typeface="Verdana" pitchFamily="34" charset="0"/>
                <a:ea typeface="ヒラギノ角ゴ Pro W3"/>
                <a:cs typeface="ヒラギノ角ゴ Pro W3"/>
              </a:rPr>
              <a:t>think about the whole interaction experience </a:t>
            </a:r>
            <a:r>
              <a:rPr lang="en-US" sz="1500" dirty="0" smtClean="0">
                <a:latin typeface="Verdana" pitchFamily="34" charset="0"/>
                <a:ea typeface="ヒラギノ角ゴ Pro W3"/>
                <a:cs typeface="ヒラギノ角ゴ Pro W3"/>
              </a:rPr>
              <a:t>in an abstract way. </a:t>
            </a:r>
          </a:p>
          <a:p>
            <a:pPr algn="just" eaLnBrk="1" hangingPunct="1">
              <a:lnSpc>
                <a:spcPct val="160000"/>
              </a:lnSpc>
            </a:pPr>
            <a:r>
              <a:rPr lang="en-US" sz="1500" b="1" dirty="0" smtClean="0">
                <a:latin typeface="Verdana" pitchFamily="34" charset="0"/>
                <a:ea typeface="ヒラギノ角ゴ Pro W3"/>
                <a:cs typeface="ヒラギノ角ゴ Pro W3"/>
              </a:rPr>
              <a:t>Deciding</a:t>
            </a:r>
            <a:r>
              <a:rPr lang="en-US" sz="1500" dirty="0" smtClean="0">
                <a:latin typeface="Verdana" pitchFamily="34" charset="0"/>
                <a:ea typeface="ヒラギノ角ゴ Pro W3"/>
                <a:cs typeface="ヒラギノ角ゴ Pro W3"/>
              </a:rPr>
              <a:t> who does what, when something should be displayed or the sequence in which actions are undertaken should come later in design process. </a:t>
            </a:r>
          </a:p>
          <a:p>
            <a:pPr algn="just" eaLnBrk="1" hangingPunct="1">
              <a:lnSpc>
                <a:spcPct val="160000"/>
              </a:lnSpc>
            </a:pPr>
            <a:r>
              <a:rPr lang="en-US" sz="1500" dirty="0" smtClean="0">
                <a:latin typeface="Verdana" pitchFamily="34" charset="0"/>
                <a:ea typeface="ヒラギノ角ゴ Pro W3"/>
                <a:cs typeface="ヒラギノ角ゴ Pro W3"/>
              </a:rPr>
              <a:t>A </a:t>
            </a:r>
            <a:r>
              <a:rPr lang="en-US" sz="1500" b="1" dirty="0" smtClean="0">
                <a:latin typeface="Verdana" pitchFamily="34" charset="0"/>
                <a:ea typeface="ヒラギノ角ゴ Pro W3"/>
                <a:cs typeface="ヒラギノ角ゴ Pro W3"/>
              </a:rPr>
              <a:t>good analysis </a:t>
            </a:r>
            <a:r>
              <a:rPr lang="en-US" sz="1500" dirty="0" smtClean="0">
                <a:latin typeface="Verdana" pitchFamily="34" charset="0"/>
                <a:ea typeface="ヒラギノ角ゴ Pro W3"/>
                <a:cs typeface="ヒラギノ角ゴ Pro W3"/>
              </a:rPr>
              <a:t>of an activity will strive to be as independent of current practice as possible. </a:t>
            </a:r>
          </a:p>
          <a:p>
            <a:pPr algn="just" eaLnBrk="1" hangingPunct="1">
              <a:lnSpc>
                <a:spcPct val="160000"/>
              </a:lnSpc>
            </a:pPr>
            <a:r>
              <a:rPr lang="en-US" sz="1500" dirty="0" smtClean="0">
                <a:latin typeface="Verdana" pitchFamily="34" charset="0"/>
                <a:ea typeface="ヒラギノ角ゴ Pro W3"/>
                <a:cs typeface="ヒラギノ角ゴ Pro W3"/>
              </a:rPr>
              <a:t>Of course, there are always </a:t>
            </a:r>
            <a:r>
              <a:rPr lang="en-US" sz="1500" b="1" dirty="0" smtClean="0">
                <a:latin typeface="Verdana" pitchFamily="34" charset="0"/>
                <a:ea typeface="ヒラギノ角ゴ Pro W3"/>
                <a:cs typeface="ヒラギノ角ゴ Pro W3"/>
              </a:rPr>
              <a:t>functional constraints </a:t>
            </a:r>
            <a:r>
              <a:rPr lang="en-US" sz="1500" dirty="0" smtClean="0">
                <a:latin typeface="Verdana" pitchFamily="34" charset="0"/>
                <a:ea typeface="ヒラギノ角ゴ Pro W3"/>
                <a:cs typeface="ヒラギノ角ゴ Pro W3"/>
              </a:rPr>
              <a:t>– the realities of what is technically possible – which render certain ordering, sequencing and allocation of functions inevitable. </a:t>
            </a:r>
          </a:p>
          <a:p>
            <a:pPr algn="just" eaLnBrk="1" hangingPunct="1">
              <a:lnSpc>
                <a:spcPct val="160000"/>
              </a:lnSpc>
            </a:pPr>
            <a:r>
              <a:rPr lang="en-US" sz="1500" dirty="0" smtClean="0">
                <a:latin typeface="Verdana" pitchFamily="34" charset="0"/>
                <a:ea typeface="ヒラギノ角ゴ Pro W3"/>
                <a:cs typeface="ヒラギノ角ゴ Pro W3"/>
              </a:rPr>
              <a:t>There are also logical and organizational constraints that may make particular designs infeasible.</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a:xfrm>
            <a:off x="457200" y="274638"/>
            <a:ext cx="8229600" cy="1070667"/>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Defining Requirements</a:t>
            </a:r>
          </a:p>
        </p:txBody>
      </p:sp>
      <p:sp>
        <p:nvSpPr>
          <p:cNvPr id="3" name="Text Placeholder 2"/>
          <p:cNvSpPr>
            <a:spLocks noGrp="1"/>
          </p:cNvSpPr>
          <p:nvPr>
            <p:ph type="body" idx="1"/>
          </p:nvPr>
        </p:nvSpPr>
        <p:spPr>
          <a:xfrm>
            <a:off x="606388" y="1345305"/>
            <a:ext cx="7931224" cy="4525963"/>
          </a:xfrm>
        </p:spPr>
        <p:txBody>
          <a:bodyPr>
            <a:normAutofit fontScale="92500"/>
          </a:bodyPr>
          <a:lstStyle/>
          <a:p>
            <a:pPr algn="just" eaLnBrk="1" hangingPunct="1">
              <a:lnSpc>
                <a:spcPct val="200000"/>
              </a:lnSpc>
            </a:pPr>
            <a:r>
              <a:rPr lang="en-US" sz="1500" b="1" dirty="0" smtClean="0">
                <a:latin typeface="Verdana" pitchFamily="34" charset="0"/>
                <a:ea typeface="ヒラギノ角ゴ Pro W3"/>
                <a:cs typeface="ヒラギノ角ゴ Pro W3"/>
              </a:rPr>
              <a:t>Requirements are generated through</a:t>
            </a:r>
            <a:r>
              <a:rPr lang="en-US" sz="1500" dirty="0" smtClean="0">
                <a:latin typeface="Verdana" pitchFamily="34" charset="0"/>
                <a:ea typeface="ヒラギノ角ゴ Pro W3"/>
                <a:cs typeface="ヒラギノ角ゴ Pro W3"/>
              </a:rPr>
              <a:t> discussions and interactions with people who will use or be affected by the proposed system, the stakeholders.</a:t>
            </a:r>
          </a:p>
          <a:p>
            <a:pPr algn="just" eaLnBrk="1" hangingPunct="1">
              <a:lnSpc>
                <a:spcPct val="200000"/>
              </a:lnSpc>
            </a:pPr>
            <a:r>
              <a:rPr lang="en-US" sz="1500" b="1" dirty="0" smtClean="0">
                <a:latin typeface="Verdana" pitchFamily="34" charset="0"/>
                <a:ea typeface="ヒラギノ角ゴ Pro W3"/>
                <a:cs typeface="ヒラギノ角ゴ Pro W3"/>
              </a:rPr>
              <a:t>Requirements are also generated through </a:t>
            </a:r>
            <a:r>
              <a:rPr lang="en-US" sz="1500" dirty="0" smtClean="0">
                <a:latin typeface="Verdana" pitchFamily="34" charset="0"/>
                <a:ea typeface="ヒラギノ角ゴ Pro W3"/>
                <a:cs typeface="ヒラギノ角ゴ Pro W3"/>
              </a:rPr>
              <a:t>observations of existing systems, research into similar systems, what people do now and what they would like to do. </a:t>
            </a:r>
          </a:p>
          <a:p>
            <a:pPr algn="just" eaLnBrk="1" hangingPunct="1">
              <a:lnSpc>
                <a:spcPct val="200000"/>
              </a:lnSpc>
            </a:pPr>
            <a:r>
              <a:rPr lang="en-US" sz="1500" b="1" dirty="0" smtClean="0">
                <a:latin typeface="Verdana" pitchFamily="34" charset="0"/>
                <a:ea typeface="ヒラギノ角ゴ Pro W3"/>
                <a:cs typeface="ヒラギノ角ゴ Pro W3"/>
              </a:rPr>
              <a:t>Requirements can be generated through </a:t>
            </a:r>
            <a:r>
              <a:rPr lang="en-US" sz="1500" dirty="0" smtClean="0">
                <a:latin typeface="Verdana" pitchFamily="34" charset="0"/>
                <a:ea typeface="ヒラギノ角ゴ Pro W3"/>
                <a:cs typeface="ヒラギノ角ゴ Pro W3"/>
              </a:rPr>
              <a:t>working with people in focus groups, design workshops and so on, where different scenarios can be considered </a:t>
            </a:r>
          </a:p>
          <a:p>
            <a:pPr algn="just" eaLnBrk="1" hangingPunct="1">
              <a:lnSpc>
                <a:spcPct val="200000"/>
              </a:lnSpc>
            </a:pPr>
            <a:r>
              <a:rPr lang="en-US" sz="1500" b="1" dirty="0" smtClean="0">
                <a:latin typeface="Verdana" pitchFamily="34" charset="0"/>
                <a:ea typeface="ヒラギノ角ゴ Pro W3"/>
                <a:cs typeface="ヒラギノ角ゴ Pro W3"/>
              </a:rPr>
              <a:t>The aim is to collect and analyze </a:t>
            </a:r>
            <a:r>
              <a:rPr lang="en-US" sz="1500" dirty="0" smtClean="0">
                <a:latin typeface="Verdana" pitchFamily="34" charset="0"/>
                <a:ea typeface="ヒラギノ角ゴ Pro W3"/>
                <a:cs typeface="ヒラギノ角ゴ Pro W3"/>
              </a:rPr>
              <a:t>the stories people have to tell. Requirements are essentially about understanding.</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pPr eaLnBrk="1" hangingPunct="1">
              <a:lnSpc>
                <a:spcPct val="120000"/>
              </a:lnSpc>
            </a:pPr>
            <a:r>
              <a:rPr lang="en-US" sz="1500" b="1" smtClean="0">
                <a:latin typeface="Verdana" pitchFamily="34" charset="0"/>
                <a:ea typeface="ヒラギノ角ゴ Pro W3"/>
                <a:cs typeface="ヒラギノ角ゴ Pro W3"/>
              </a:rPr>
              <a:t>Stakeholders</a:t>
            </a:r>
          </a:p>
        </p:txBody>
      </p:sp>
      <p:sp>
        <p:nvSpPr>
          <p:cNvPr id="3" name="Text Placeholder 2"/>
          <p:cNvSpPr>
            <a:spLocks noGrp="1"/>
          </p:cNvSpPr>
          <p:nvPr>
            <p:ph type="body" idx="1"/>
          </p:nvPr>
        </p:nvSpPr>
        <p:spPr>
          <a:xfrm>
            <a:off x="457200" y="1196752"/>
            <a:ext cx="8229600" cy="5030019"/>
          </a:xfrm>
        </p:spPr>
        <p:txBody>
          <a:bodyPr>
            <a:normAutofit fontScale="92500" lnSpcReduction="20000"/>
          </a:bodyPr>
          <a:lstStyle/>
          <a:p>
            <a:pPr algn="just" eaLnBrk="1" hangingPunct="1">
              <a:lnSpc>
                <a:spcPct val="170000"/>
              </a:lnSpc>
            </a:pPr>
            <a:r>
              <a:rPr lang="en-US" sz="1500" dirty="0" smtClean="0">
                <a:latin typeface="Verdana" pitchFamily="34" charset="0"/>
                <a:ea typeface="ヒラギノ角ゴ Pro W3"/>
                <a:cs typeface="ヒラギノ角ゴ Pro W3"/>
              </a:rPr>
              <a:t>Stakeholders is a term that </a:t>
            </a:r>
            <a:r>
              <a:rPr lang="en-US" sz="1500" b="1" dirty="0" smtClean="0">
                <a:latin typeface="Verdana" pitchFamily="34" charset="0"/>
                <a:ea typeface="ヒラギノ角ゴ Pro W3"/>
                <a:cs typeface="ヒラギノ角ゴ Pro W3"/>
              </a:rPr>
              <a:t>refers of all the people who will be affected </a:t>
            </a:r>
            <a:r>
              <a:rPr lang="en-US" sz="1500" dirty="0" smtClean="0">
                <a:latin typeface="Verdana" pitchFamily="34" charset="0"/>
                <a:ea typeface="ヒラギノ角ゴ Pro W3"/>
                <a:cs typeface="ヒラギノ角ゴ Pro W3"/>
              </a:rPr>
              <a:t>by any systems that results from the process of interactive systems design.</a:t>
            </a:r>
          </a:p>
          <a:p>
            <a:pPr algn="just" eaLnBrk="1" hangingPunct="1">
              <a:lnSpc>
                <a:spcPct val="170000"/>
              </a:lnSpc>
            </a:pPr>
            <a:r>
              <a:rPr lang="en-US" sz="1500" dirty="0" smtClean="0">
                <a:latin typeface="Verdana" pitchFamily="34" charset="0"/>
                <a:ea typeface="ヒラギノ角ゴ Pro W3"/>
                <a:cs typeface="ヒラギノ角ゴ Pro W3"/>
              </a:rPr>
              <a:t>This includes the people who will finish up using the new system (sometimes called </a:t>
            </a:r>
            <a:r>
              <a:rPr lang="en-US" sz="1500" b="1" dirty="0" smtClean="0">
                <a:latin typeface="Verdana" pitchFamily="34" charset="0"/>
                <a:ea typeface="ヒラギノ角ゴ Pro W3"/>
                <a:cs typeface="ヒラギノ角ゴ Pro W3"/>
              </a:rPr>
              <a:t>the ‘users’), </a:t>
            </a:r>
            <a:r>
              <a:rPr lang="en-US" sz="1500" dirty="0" smtClean="0">
                <a:latin typeface="Verdana" pitchFamily="34" charset="0"/>
                <a:ea typeface="ヒラギノ角ゴ Pro W3"/>
                <a:cs typeface="ヒラギノ角ゴ Pro W3"/>
              </a:rPr>
              <a:t>but it</a:t>
            </a:r>
            <a:r>
              <a:rPr lang="en-US" sz="1500" b="1" dirty="0" smtClean="0">
                <a:latin typeface="Verdana" pitchFamily="34" charset="0"/>
                <a:ea typeface="ヒラギノ角ゴ Pro W3"/>
                <a:cs typeface="ヒラギノ角ゴ Pro W3"/>
              </a:rPr>
              <a:t> also includes many other people.</a:t>
            </a:r>
            <a:r>
              <a:rPr lang="en-US" sz="1500" dirty="0" smtClean="0">
                <a:latin typeface="Verdana" pitchFamily="34" charset="0"/>
                <a:ea typeface="ヒラギノ角ゴ Pro W3"/>
                <a:cs typeface="ヒラギノ角ゴ Pro W3"/>
              </a:rPr>
              <a:t> </a:t>
            </a:r>
          </a:p>
          <a:p>
            <a:pPr algn="just" eaLnBrk="1" hangingPunct="1">
              <a:lnSpc>
                <a:spcPct val="170000"/>
              </a:lnSpc>
            </a:pPr>
            <a:r>
              <a:rPr lang="en-US" sz="1500" dirty="0" smtClean="0">
                <a:latin typeface="Verdana" pitchFamily="34" charset="0"/>
                <a:ea typeface="ヒラギノ角ゴ Pro W3"/>
                <a:cs typeface="ヒラギノ角ゴ Pro W3"/>
              </a:rPr>
              <a:t>For example, the organization that the system is being designed for will probably have </a:t>
            </a:r>
            <a:r>
              <a:rPr lang="en-US" sz="1500" b="1" dirty="0" smtClean="0">
                <a:latin typeface="Verdana" pitchFamily="34" charset="0"/>
                <a:ea typeface="ヒラギノ角ゴ Pro W3"/>
                <a:cs typeface="ヒラギノ角ゴ Pro W3"/>
              </a:rPr>
              <a:t>many people in it that will not be using the system, but will be affected</a:t>
            </a:r>
            <a:r>
              <a:rPr lang="en-US" sz="1500" dirty="0" smtClean="0">
                <a:latin typeface="Verdana" pitchFamily="34" charset="0"/>
                <a:ea typeface="ヒラギノ角ゴ Pro W3"/>
                <a:cs typeface="ヒラギノ角ゴ Pro W3"/>
              </a:rPr>
              <a:t> by it as it might change their job. There may be </a:t>
            </a:r>
            <a:r>
              <a:rPr lang="en-US" sz="1500" b="1" dirty="0" smtClean="0">
                <a:latin typeface="Verdana" pitchFamily="34" charset="0"/>
                <a:ea typeface="ヒラギノ角ゴ Pro W3"/>
                <a:cs typeface="ヒラギノ角ゴ Pro W3"/>
              </a:rPr>
              <a:t>stakeholders outside the organization such as government authorities </a:t>
            </a:r>
            <a:r>
              <a:rPr lang="en-US" sz="1500" dirty="0" smtClean="0">
                <a:latin typeface="Verdana" pitchFamily="34" charset="0"/>
                <a:ea typeface="ヒラギノ角ゴ Pro W3"/>
                <a:cs typeface="ヒラギノ角ゴ Pro W3"/>
              </a:rPr>
              <a:t>that need to verify some procedures. </a:t>
            </a:r>
            <a:r>
              <a:rPr lang="en-US" sz="1500" dirty="0" smtClean="0">
                <a:solidFill>
                  <a:srgbClr val="00B050"/>
                </a:solidFill>
                <a:latin typeface="Verdana" pitchFamily="34" charset="0"/>
                <a:ea typeface="ヒラギノ角ゴ Pro W3"/>
                <a:cs typeface="ヒラギノ角ゴ Pro W3"/>
              </a:rPr>
              <a:t>(PEMRA, NADRA)</a:t>
            </a:r>
          </a:p>
          <a:p>
            <a:pPr algn="just" eaLnBrk="1" hangingPunct="1">
              <a:lnSpc>
                <a:spcPct val="170000"/>
              </a:lnSpc>
            </a:pPr>
            <a:r>
              <a:rPr lang="en-US" sz="1500" dirty="0" smtClean="0">
                <a:latin typeface="Verdana" pitchFamily="34" charset="0"/>
                <a:ea typeface="ヒラギノ角ゴ Pro W3"/>
                <a:cs typeface="ヒラギノ角ゴ Pro W3"/>
              </a:rPr>
              <a:t> The number and type of people affected by a new interactive system will vary greatly according to what sort of system it is.</a:t>
            </a:r>
          </a:p>
          <a:p>
            <a:pPr algn="just" eaLnBrk="1" hangingPunct="1">
              <a:lnSpc>
                <a:spcPct val="170000"/>
              </a:lnSpc>
            </a:pPr>
            <a:r>
              <a:rPr lang="en-US" sz="1500" dirty="0" smtClean="0">
                <a:latin typeface="Verdana" pitchFamily="34" charset="0"/>
                <a:ea typeface="ヒラギノ角ゴ Pro W3"/>
                <a:cs typeface="ヒラギノ角ゴ Pro W3"/>
              </a:rPr>
              <a:t>An important part of the understanding process is to </a:t>
            </a:r>
            <a:r>
              <a:rPr lang="en-US" sz="1500" b="1" dirty="0" smtClean="0">
                <a:latin typeface="Verdana" pitchFamily="34" charset="0"/>
                <a:ea typeface="ヒラギノ角ゴ Pro W3"/>
                <a:cs typeface="ヒラギノ角ゴ Pro W3"/>
              </a:rPr>
              <a:t>consider all the different stakeholders</a:t>
            </a:r>
            <a:r>
              <a:rPr lang="en-US" sz="1500" dirty="0" smtClean="0">
                <a:latin typeface="Verdana" pitchFamily="34" charset="0"/>
                <a:ea typeface="ヒラギノ角ゴ Pro W3"/>
                <a:cs typeface="ヒラギノ角ゴ Pro W3"/>
              </a:rPr>
              <a:t> and how they might be affected, to decide who should be involved in discussions about the design. </a:t>
            </a:r>
            <a:r>
              <a:rPr lang="en-US" sz="1500" b="1" dirty="0" smtClean="0">
                <a:latin typeface="Verdana" pitchFamily="34" charset="0"/>
                <a:ea typeface="ヒラギノ角ゴ Pro W3"/>
                <a:cs typeface="ヒラギノ角ゴ Pro W3"/>
              </a:rPr>
              <a:t>(designer, developer, finance manager etc.)</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a:xfrm>
            <a:off x="457200" y="130622"/>
            <a:ext cx="8229600" cy="850106"/>
          </a:xfrm>
        </p:spPr>
        <p:txBody>
          <a:bodyPr/>
          <a:lstStyle/>
          <a:p>
            <a:pPr eaLnBrk="1" hangingPunct="1">
              <a:lnSpc>
                <a:spcPct val="150000"/>
              </a:lnSpc>
            </a:pPr>
            <a:r>
              <a:rPr lang="en-US" sz="2500" b="1" dirty="0">
                <a:solidFill>
                  <a:srgbClr val="0070C0"/>
                </a:solidFill>
                <a:latin typeface="Verdana" pitchFamily="34" charset="0"/>
                <a:ea typeface="ヒラギノ角ゴ Pro W3"/>
                <a:cs typeface="ヒラギノ角ゴ Pro W3"/>
              </a:rPr>
              <a:t>2</a:t>
            </a:r>
            <a:r>
              <a:rPr lang="en-US" sz="2500" b="1" dirty="0" smtClean="0">
                <a:solidFill>
                  <a:srgbClr val="0070C0"/>
                </a:solidFill>
                <a:latin typeface="Verdana" pitchFamily="34" charset="0"/>
                <a:ea typeface="ヒラギノ角ゴ Pro W3"/>
                <a:cs typeface="ヒラギノ角ゴ Pro W3"/>
              </a:rPr>
              <a:t>  Design</a:t>
            </a:r>
            <a:r>
              <a:rPr lang="en-US" sz="1500" b="1" dirty="0" smtClean="0">
                <a:latin typeface="Verdana" pitchFamily="34" charset="0"/>
                <a:ea typeface="ヒラギノ角ゴ Pro W3"/>
                <a:cs typeface="ヒラギノ角ゴ Pro W3"/>
              </a:rPr>
              <a:t/>
            </a:r>
            <a:br>
              <a:rPr lang="en-US" sz="1500" b="1" dirty="0" smtClean="0">
                <a:latin typeface="Verdana" pitchFamily="34" charset="0"/>
                <a:ea typeface="ヒラギノ角ゴ Pro W3"/>
                <a:cs typeface="ヒラギノ角ゴ Pro W3"/>
              </a:rPr>
            </a:br>
            <a:r>
              <a:rPr lang="en-US" sz="1500" b="1" dirty="0" smtClean="0">
                <a:latin typeface="Verdana" pitchFamily="34" charset="0"/>
                <a:ea typeface="ヒラギノ角ゴ Pro W3"/>
                <a:cs typeface="ヒラギノ角ゴ Pro W3"/>
              </a:rPr>
              <a:t>Conceptual Design</a:t>
            </a:r>
          </a:p>
        </p:txBody>
      </p:sp>
      <p:sp>
        <p:nvSpPr>
          <p:cNvPr id="3" name="Text Placeholder 2"/>
          <p:cNvSpPr>
            <a:spLocks noGrp="1"/>
          </p:cNvSpPr>
          <p:nvPr>
            <p:ph type="body" idx="1"/>
          </p:nvPr>
        </p:nvSpPr>
        <p:spPr>
          <a:xfrm>
            <a:off x="251520" y="1052736"/>
            <a:ext cx="8719319" cy="5544616"/>
          </a:xfrm>
        </p:spPr>
        <p:txBody>
          <a:bodyPr>
            <a:noAutofit/>
          </a:bodyPr>
          <a:lstStyle/>
          <a:p>
            <a:pPr algn="just" eaLnBrk="1" hangingPunct="1">
              <a:lnSpc>
                <a:spcPct val="170000"/>
              </a:lnSpc>
            </a:pPr>
            <a:r>
              <a:rPr lang="en-US" sz="1250" dirty="0" smtClean="0">
                <a:latin typeface="Verdana" pitchFamily="34" charset="0"/>
                <a:ea typeface="ヒラギノ角ゴ Pro W3"/>
                <a:cs typeface="ヒラギノ角ゴ Pro W3"/>
              </a:rPr>
              <a:t>Design activities concern both conceptual design and physical design. </a:t>
            </a:r>
          </a:p>
          <a:p>
            <a:pPr algn="just" eaLnBrk="1" hangingPunct="1">
              <a:lnSpc>
                <a:spcPct val="170000"/>
              </a:lnSpc>
            </a:pPr>
            <a:r>
              <a:rPr lang="en-US" sz="1250" b="1" dirty="0" smtClean="0">
                <a:latin typeface="Verdana" pitchFamily="34" charset="0"/>
                <a:ea typeface="ヒラギノ角ゴ Pro W3"/>
                <a:cs typeface="ヒラギノ角ゴ Pro W3"/>
              </a:rPr>
              <a:t>Conceptual design is </a:t>
            </a:r>
            <a:r>
              <a:rPr lang="en-US" sz="1250" dirty="0" smtClean="0">
                <a:latin typeface="Verdana" pitchFamily="34" charset="0"/>
                <a:ea typeface="ヒラギノ角ゴ Pro W3"/>
                <a:cs typeface="ヒラギノ角ゴ Pro W3"/>
              </a:rPr>
              <a:t>about designing a system in the abstract, </a:t>
            </a:r>
            <a:r>
              <a:rPr lang="en-US" sz="1250" b="1" dirty="0" smtClean="0">
                <a:latin typeface="Verdana" pitchFamily="34" charset="0"/>
                <a:ea typeface="ヒラギノ角ゴ Pro W3"/>
                <a:cs typeface="ヒラギノ角ゴ Pro W3"/>
              </a:rPr>
              <a:t>physical design </a:t>
            </a:r>
            <a:r>
              <a:rPr lang="en-US" sz="1250" dirty="0" smtClean="0">
                <a:latin typeface="Verdana" pitchFamily="34" charset="0"/>
                <a:ea typeface="ヒラギノ角ゴ Pro W3"/>
                <a:cs typeface="ヒラギノ角ゴ Pro W3"/>
              </a:rPr>
              <a:t>is concerned with making things concrete (existing). </a:t>
            </a:r>
          </a:p>
          <a:p>
            <a:pPr algn="just" eaLnBrk="1" hangingPunct="1">
              <a:lnSpc>
                <a:spcPct val="170000"/>
              </a:lnSpc>
            </a:pPr>
            <a:r>
              <a:rPr lang="en-US" sz="1250" dirty="0" smtClean="0">
                <a:latin typeface="Verdana" pitchFamily="34" charset="0"/>
                <a:ea typeface="ヒラギノ角ゴ Pro W3"/>
                <a:cs typeface="ヒラギノ角ゴ Pro W3"/>
              </a:rPr>
              <a:t>It is about considering what </a:t>
            </a:r>
            <a:r>
              <a:rPr lang="en-US" sz="1250" b="1" dirty="0" smtClean="0">
                <a:latin typeface="Verdana" pitchFamily="34" charset="0"/>
                <a:ea typeface="ヒラギノ角ゴ Pro W3"/>
                <a:cs typeface="ヒラギノ角ゴ Pro W3"/>
              </a:rPr>
              <a:t>information &amp; functions </a:t>
            </a:r>
            <a:r>
              <a:rPr lang="en-US" sz="1250" dirty="0" smtClean="0">
                <a:latin typeface="Verdana" pitchFamily="34" charset="0"/>
                <a:ea typeface="ヒラギノ角ゴ Pro W3"/>
                <a:cs typeface="ヒラギノ角ゴ Pro W3"/>
              </a:rPr>
              <a:t>are needed for system to achieve its purpose</a:t>
            </a:r>
          </a:p>
          <a:p>
            <a:pPr algn="just" eaLnBrk="1" hangingPunct="1">
              <a:lnSpc>
                <a:spcPct val="170000"/>
              </a:lnSpc>
            </a:pPr>
            <a:r>
              <a:rPr lang="en-US" sz="1250" dirty="0" smtClean="0">
                <a:latin typeface="Verdana" pitchFamily="34" charset="0"/>
                <a:ea typeface="ヒラギノ角ゴ Pro W3"/>
                <a:cs typeface="ヒラギノ角ゴ Pro W3"/>
              </a:rPr>
              <a:t>It is about deciding what someone will have to know to use the system. </a:t>
            </a:r>
          </a:p>
          <a:p>
            <a:pPr algn="just" eaLnBrk="1" hangingPunct="1">
              <a:lnSpc>
                <a:spcPct val="170000"/>
              </a:lnSpc>
            </a:pPr>
            <a:r>
              <a:rPr lang="en-US" sz="1250" dirty="0" smtClean="0">
                <a:latin typeface="Verdana" pitchFamily="34" charset="0"/>
                <a:ea typeface="ヒラギノ角ゴ Pro W3"/>
                <a:cs typeface="ヒラギノ角ゴ Pro W3"/>
              </a:rPr>
              <a:t>It is about </a:t>
            </a:r>
            <a:r>
              <a:rPr lang="en-US" sz="1250" b="1" dirty="0" smtClean="0">
                <a:latin typeface="Verdana" pitchFamily="34" charset="0"/>
                <a:ea typeface="ヒラギノ角ゴ Pro W3"/>
                <a:cs typeface="ヒラギノ角ゴ Pro W3"/>
              </a:rPr>
              <a:t>finding a clear conceptualization of a design solution </a:t>
            </a:r>
            <a:r>
              <a:rPr lang="en-US" sz="1250" dirty="0" smtClean="0">
                <a:latin typeface="Verdana" pitchFamily="34" charset="0"/>
                <a:ea typeface="ヒラギノ角ゴ Pro W3"/>
                <a:cs typeface="ヒラギノ角ゴ Pro W3"/>
              </a:rPr>
              <a:t>and </a:t>
            </a:r>
            <a:r>
              <a:rPr lang="en-US" sz="1250" b="1" dirty="0" smtClean="0">
                <a:latin typeface="Verdana" pitchFamily="34" charset="0"/>
                <a:ea typeface="ヒラギノ角ゴ Pro W3"/>
                <a:cs typeface="ヒラギノ角ゴ Pro W3"/>
              </a:rPr>
              <a:t>how that conceptualization will be communicated to people</a:t>
            </a:r>
            <a:r>
              <a:rPr lang="en-US" sz="1250" dirty="0" smtClean="0">
                <a:latin typeface="Verdana" pitchFamily="34" charset="0"/>
                <a:ea typeface="ヒラギノ角ゴ Pro W3"/>
                <a:cs typeface="ヒラギノ角ゴ Pro W3"/>
              </a:rPr>
              <a:t> (so that people will quickly develop a</a:t>
            </a:r>
            <a:r>
              <a:rPr lang="en-US" sz="1250" b="1" dirty="0" smtClean="0">
                <a:latin typeface="Verdana" pitchFamily="34" charset="0"/>
                <a:ea typeface="ヒラギノ角ゴ Pro W3"/>
                <a:cs typeface="ヒラギノ角ゴ Pro W3"/>
              </a:rPr>
              <a:t> clear mental model</a:t>
            </a:r>
            <a:r>
              <a:rPr lang="en-US" sz="1250" dirty="0" smtClean="0">
                <a:latin typeface="Verdana" pitchFamily="34" charset="0"/>
                <a:ea typeface="ヒラギノ角ゴ Pro W3"/>
                <a:cs typeface="ヒラギノ角ゴ Pro W3"/>
              </a:rPr>
              <a:t>).</a:t>
            </a:r>
          </a:p>
          <a:p>
            <a:pPr algn="just" eaLnBrk="1" hangingPunct="1">
              <a:lnSpc>
                <a:spcPct val="170000"/>
              </a:lnSpc>
            </a:pPr>
            <a:r>
              <a:rPr lang="en-US" sz="1250" dirty="0" smtClean="0">
                <a:latin typeface="Verdana" pitchFamily="34" charset="0"/>
                <a:ea typeface="ヒラギノ角ゴ Pro W3"/>
                <a:cs typeface="ヒラギノ角ゴ Pro W3"/>
              </a:rPr>
              <a:t>The </a:t>
            </a:r>
            <a:r>
              <a:rPr lang="en-US" sz="1250" b="1" dirty="0" smtClean="0">
                <a:latin typeface="Verdana" pitchFamily="34" charset="0"/>
                <a:ea typeface="ヒラギノ角ゴ Pro W3"/>
                <a:cs typeface="ヒラギノ角ゴ Pro W3"/>
              </a:rPr>
              <a:t>key feature </a:t>
            </a:r>
            <a:r>
              <a:rPr lang="en-US" sz="1250" dirty="0" smtClean="0">
                <a:latin typeface="Verdana" pitchFamily="34" charset="0"/>
                <a:ea typeface="ヒラギノ角ゴ Pro W3"/>
                <a:cs typeface="ヒラギノ角ゴ Pro W3"/>
              </a:rPr>
              <a:t>of conceptual design is </a:t>
            </a:r>
            <a:r>
              <a:rPr lang="en-US" sz="1250" b="1" dirty="0" smtClean="0">
                <a:latin typeface="Verdana" pitchFamily="34" charset="0"/>
                <a:ea typeface="ヒラギノ角ゴ Pro W3"/>
                <a:cs typeface="ヒラギノ角ゴ Pro W3"/>
              </a:rPr>
              <a:t>to keep things abstract </a:t>
            </a:r>
            <a:r>
              <a:rPr lang="en-US" sz="1250" dirty="0" smtClean="0">
                <a:latin typeface="Verdana" pitchFamily="34" charset="0"/>
                <a:ea typeface="ヒラギノ角ゴ Pro W3"/>
                <a:cs typeface="ヒラギノ角ゴ Pro W3"/>
              </a:rPr>
              <a:t>– </a:t>
            </a:r>
            <a:r>
              <a:rPr lang="en-US" sz="1250" b="1" dirty="0" smtClean="0">
                <a:latin typeface="Verdana" pitchFamily="34" charset="0"/>
                <a:ea typeface="ヒラギノ角ゴ Pro W3"/>
                <a:cs typeface="ヒラギノ角ゴ Pro W3"/>
              </a:rPr>
              <a:t>focus on ‘what’ rather than ‘how’</a:t>
            </a:r>
            <a:r>
              <a:rPr lang="en-US" sz="1250" dirty="0" smtClean="0">
                <a:latin typeface="Verdana" pitchFamily="34" charset="0"/>
                <a:ea typeface="ヒラギノ角ゴ Pro W3"/>
                <a:cs typeface="ヒラギノ角ゴ Pro W3"/>
              </a:rPr>
              <a:t> – and to </a:t>
            </a:r>
            <a:r>
              <a:rPr lang="en-US" sz="1250" b="1" dirty="0" smtClean="0">
                <a:latin typeface="Verdana" pitchFamily="34" charset="0"/>
                <a:ea typeface="ヒラギノ角ゴ Pro W3"/>
                <a:cs typeface="ヒラギノ角ゴ Pro W3"/>
              </a:rPr>
              <a:t>avoid making assumptions</a:t>
            </a:r>
            <a:r>
              <a:rPr lang="en-US" sz="1250" dirty="0" smtClean="0">
                <a:latin typeface="Verdana" pitchFamily="34" charset="0"/>
                <a:ea typeface="ヒラギノ角ゴ Pro W3"/>
                <a:cs typeface="ヒラギノ角ゴ Pro W3"/>
              </a:rPr>
              <a:t> about how functions </a:t>
            </a:r>
            <a:r>
              <a:rPr lang="en-US" sz="1250" dirty="0">
                <a:latin typeface="Verdana" pitchFamily="34" charset="0"/>
                <a:ea typeface="ヒラギノ角ゴ Pro W3"/>
                <a:cs typeface="ヒラギノ角ゴ Pro W3"/>
              </a:rPr>
              <a:t>&amp;</a:t>
            </a:r>
            <a:r>
              <a:rPr lang="en-US" sz="1250" dirty="0" smtClean="0">
                <a:latin typeface="Verdana" pitchFamily="34" charset="0"/>
                <a:ea typeface="ヒラギノ角ゴ Pro W3"/>
                <a:cs typeface="ヒラギノ角ゴ Pro W3"/>
              </a:rPr>
              <a:t> information will be distributed.</a:t>
            </a:r>
          </a:p>
          <a:p>
            <a:pPr algn="just" eaLnBrk="1" hangingPunct="1">
              <a:lnSpc>
                <a:spcPct val="170000"/>
              </a:lnSpc>
            </a:pPr>
            <a:r>
              <a:rPr lang="en-US" sz="1250" dirty="0" smtClean="0">
                <a:latin typeface="Verdana" pitchFamily="34" charset="0"/>
                <a:ea typeface="ヒラギノ角ゴ Pro W3"/>
                <a:cs typeface="ヒラギノ角ゴ Pro W3"/>
              </a:rPr>
              <a:t>There </a:t>
            </a:r>
            <a:r>
              <a:rPr lang="en-US" sz="1250" b="1" dirty="0" smtClean="0">
                <a:latin typeface="Verdana" pitchFamily="34" charset="0"/>
                <a:ea typeface="ヒラギノ角ゴ Pro W3"/>
                <a:cs typeface="ヒラギノ角ゴ Pro W3"/>
              </a:rPr>
              <a:t>is no clear-cut distinction between conceptual and physical design</a:t>
            </a:r>
            <a:r>
              <a:rPr lang="en-US" sz="1250" dirty="0" smtClean="0">
                <a:latin typeface="Verdana" pitchFamily="34" charset="0"/>
                <a:ea typeface="ヒラギノ角ゴ Pro W3"/>
                <a:cs typeface="ヒラギノ角ゴ Pro W3"/>
              </a:rPr>
              <a:t>, but rather there are degrees of conceptuality</a:t>
            </a:r>
          </a:p>
          <a:p>
            <a:pPr marL="0" indent="0" algn="just" eaLnBrk="1" hangingPunct="1">
              <a:lnSpc>
                <a:spcPct val="170000"/>
              </a:lnSpc>
              <a:buNone/>
            </a:pPr>
            <a:r>
              <a:rPr lang="en-US" sz="1250" dirty="0" smtClean="0">
                <a:solidFill>
                  <a:srgbClr val="00B050"/>
                </a:solidFill>
                <a:latin typeface="Verdana" pitchFamily="34" charset="0"/>
                <a:ea typeface="ヒラギノ角ゴ Pro W3"/>
                <a:cs typeface="ヒラギノ角ゴ Pro W3"/>
              </a:rPr>
              <a:t>(</a:t>
            </a:r>
            <a:r>
              <a:rPr lang="en-US" sz="1250" b="1" dirty="0" smtClean="0">
                <a:solidFill>
                  <a:srgbClr val="00B050"/>
                </a:solidFill>
                <a:latin typeface="Verdana" pitchFamily="34" charset="0"/>
                <a:ea typeface="ヒラギノ角ゴ Pro W3"/>
                <a:cs typeface="ヒラギノ角ゴ Pro W3"/>
              </a:rPr>
              <a:t>Difference: </a:t>
            </a:r>
            <a:r>
              <a:rPr lang="en-US" sz="1250" dirty="0" smtClean="0">
                <a:solidFill>
                  <a:srgbClr val="00B050"/>
                </a:solidFill>
                <a:latin typeface="Verdana" pitchFamily="34" charset="0"/>
                <a:ea typeface="ヒラギノ角ゴ Pro W3"/>
                <a:cs typeface="ヒラギノ角ゴ Pro W3"/>
              </a:rPr>
              <a:t>conceptual design is </a:t>
            </a:r>
            <a:r>
              <a:rPr lang="en-US" sz="1250" dirty="0">
                <a:solidFill>
                  <a:srgbClr val="00B050"/>
                </a:solidFill>
                <a:latin typeface="Verdana" pitchFamily="34" charset="0"/>
                <a:ea typeface="ヒラギノ角ゴ Pro W3"/>
                <a:cs typeface="ヒラギノ角ゴ Pro W3"/>
              </a:rPr>
              <a:t>concerned with developing a conceptual model that captures what the product will do and how it will behave, while the </a:t>
            </a:r>
            <a:r>
              <a:rPr lang="en-US" sz="1250" dirty="0" smtClean="0">
                <a:solidFill>
                  <a:srgbClr val="00B050"/>
                </a:solidFill>
                <a:latin typeface="Verdana" pitchFamily="34" charset="0"/>
                <a:ea typeface="ヒラギノ角ゴ Pro W3"/>
                <a:cs typeface="ヒラギノ角ゴ Pro W3"/>
              </a:rPr>
              <a:t>physical design </a:t>
            </a:r>
            <a:r>
              <a:rPr lang="en-US" sz="1250" dirty="0">
                <a:solidFill>
                  <a:srgbClr val="00B050"/>
                </a:solidFill>
                <a:latin typeface="Verdana" pitchFamily="34" charset="0"/>
                <a:ea typeface="ヒラギノ角ゴ Pro W3"/>
                <a:cs typeface="ヒラギノ角ゴ Pro W3"/>
              </a:rPr>
              <a:t>is concerned with details of the design such as screen and menu structures, icons, and graphics.)</a:t>
            </a:r>
            <a:endParaRPr lang="en-US" sz="1250" dirty="0" smtClean="0">
              <a:solidFill>
                <a:srgbClr val="00B050"/>
              </a:solidFill>
              <a:latin typeface="Verdana" pitchFamily="34" charset="0"/>
              <a:ea typeface="ヒラギノ角ゴ Pro W3"/>
              <a:cs typeface="ヒラギノ角ゴ Pro W3"/>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76672"/>
            <a:ext cx="8229600" cy="994122"/>
          </a:xfrm>
        </p:spPr>
        <p:txBody>
          <a:bodyPr>
            <a:normAutofit/>
          </a:bodyPr>
          <a:lstStyle/>
          <a:p>
            <a:pPr eaLnBrk="1" hangingPunct="1">
              <a:lnSpc>
                <a:spcPct val="120000"/>
              </a:lnSpc>
            </a:pPr>
            <a:r>
              <a:rPr lang="en-US" sz="1500" b="1" dirty="0" smtClean="0">
                <a:latin typeface="Verdana" pitchFamily="34" charset="0"/>
                <a:ea typeface="ヒラギノ角ゴ Pro W3"/>
                <a:cs typeface="ヒラギノ角ゴ Pro W3"/>
              </a:rPr>
              <a:t>Techniques to help with conceptual design. </a:t>
            </a:r>
          </a:p>
        </p:txBody>
      </p:sp>
      <p:sp>
        <p:nvSpPr>
          <p:cNvPr id="3" name="Text Placeholder 2"/>
          <p:cNvSpPr>
            <a:spLocks noGrp="1"/>
          </p:cNvSpPr>
          <p:nvPr>
            <p:ph type="body" idx="1"/>
          </p:nvPr>
        </p:nvSpPr>
        <p:spPr>
          <a:xfrm>
            <a:off x="678396" y="1484784"/>
            <a:ext cx="7787208" cy="4104456"/>
          </a:xfrm>
        </p:spPr>
        <p:txBody>
          <a:bodyPr>
            <a:normAutofit/>
          </a:bodyPr>
          <a:lstStyle/>
          <a:p>
            <a:pPr algn="just" eaLnBrk="1" hangingPunct="1">
              <a:lnSpc>
                <a:spcPct val="150000"/>
              </a:lnSpc>
            </a:pPr>
            <a:r>
              <a:rPr lang="en-US" sz="1500" dirty="0" smtClean="0">
                <a:latin typeface="Verdana" pitchFamily="34" charset="0"/>
                <a:ea typeface="ヒラギノ角ゴ Pro W3"/>
                <a:cs typeface="ヒラギノ角ゴ Pro W3"/>
              </a:rPr>
              <a:t>Software engineers prefer modeling </a:t>
            </a:r>
            <a:r>
              <a:rPr lang="en-US" sz="1500" b="1" dirty="0" smtClean="0">
                <a:latin typeface="Verdana" pitchFamily="34" charset="0"/>
                <a:ea typeface="ヒラギノ角ゴ Pro W3"/>
                <a:cs typeface="ヒラギノ角ゴ Pro W3"/>
              </a:rPr>
              <a:t>possible solutions with objects, relationships and ‘use cases’ </a:t>
            </a:r>
            <a:r>
              <a:rPr lang="en-US" sz="1500" dirty="0" smtClean="0">
                <a:latin typeface="Verdana" pitchFamily="34" charset="0"/>
                <a:ea typeface="ヒラギノ角ゴ Pro W3"/>
                <a:cs typeface="ヒラギノ角ゴ Pro W3"/>
              </a:rPr>
              <a:t>(a semi-formal scenario representation). </a:t>
            </a:r>
          </a:p>
          <a:p>
            <a:pPr algn="just" eaLnBrk="1" hangingPunct="1">
              <a:lnSpc>
                <a:spcPct val="150000"/>
              </a:lnSpc>
            </a:pPr>
            <a:r>
              <a:rPr lang="en-US" sz="1500" b="1" dirty="0" smtClean="0">
                <a:latin typeface="Verdana" pitchFamily="34" charset="0"/>
                <a:ea typeface="ヒラギノ角ゴ Pro W3"/>
                <a:cs typeface="ヒラギノ角ゴ Pro W3"/>
              </a:rPr>
              <a:t>Entity–relationship models </a:t>
            </a:r>
            <a:r>
              <a:rPr lang="en-US" sz="1500" dirty="0" smtClean="0">
                <a:latin typeface="Verdana" pitchFamily="34" charset="0"/>
                <a:ea typeface="ヒラギノ角ゴ Pro W3"/>
                <a:cs typeface="ヒラギノ角ゴ Pro W3"/>
              </a:rPr>
              <a:t>are another popular conceptual modeling tool. </a:t>
            </a:r>
          </a:p>
          <a:p>
            <a:pPr algn="just" eaLnBrk="1" hangingPunct="1">
              <a:lnSpc>
                <a:spcPct val="150000"/>
              </a:lnSpc>
            </a:pPr>
            <a:r>
              <a:rPr lang="en-US" sz="1500" b="1" dirty="0" smtClean="0">
                <a:latin typeface="Verdana" pitchFamily="34" charset="0"/>
                <a:ea typeface="ヒラギノ角ゴ Pro W3"/>
                <a:cs typeface="ヒラギノ角ゴ Pro W3"/>
              </a:rPr>
              <a:t>Flow</a:t>
            </a:r>
            <a:r>
              <a:rPr lang="en-US" sz="1500" dirty="0" smtClean="0">
                <a:latin typeface="Verdana" pitchFamily="34" charset="0"/>
                <a:ea typeface="ヒラギノ角ゴ Pro W3"/>
                <a:cs typeface="ヒラギノ角ゴ Pro W3"/>
              </a:rPr>
              <a:t> can be represented using dataflow diagrams and structure can be shown with structure charts. </a:t>
            </a:r>
          </a:p>
          <a:p>
            <a:pPr algn="just" eaLnBrk="1" hangingPunct="1">
              <a:lnSpc>
                <a:spcPct val="150000"/>
              </a:lnSpc>
            </a:pPr>
            <a:r>
              <a:rPr lang="en-US" sz="1500" dirty="0" smtClean="0">
                <a:latin typeface="Verdana" pitchFamily="34" charset="0"/>
                <a:ea typeface="ヒラギノ角ゴ Pro W3"/>
                <a:cs typeface="ヒラギノ角ゴ Pro W3"/>
              </a:rPr>
              <a:t>The </a:t>
            </a:r>
            <a:r>
              <a:rPr lang="en-US" sz="1500" b="1" dirty="0" smtClean="0">
                <a:latin typeface="Verdana" pitchFamily="34" charset="0"/>
                <a:ea typeface="ヒラギノ角ゴ Pro W3"/>
                <a:cs typeface="ヒラギノ角ゴ Pro W3"/>
              </a:rPr>
              <a:t>conceptual design of a website</a:t>
            </a:r>
            <a:r>
              <a:rPr lang="en-US" sz="1500" dirty="0" smtClean="0">
                <a:latin typeface="Verdana" pitchFamily="34" charset="0"/>
                <a:ea typeface="ヒラギノ角ゴ Pro W3"/>
                <a:cs typeface="ヒラギノ角ゴ Pro W3"/>
              </a:rPr>
              <a:t>, for example, </a:t>
            </a:r>
            <a:r>
              <a:rPr lang="en-US" sz="1500" b="1" dirty="0" smtClean="0">
                <a:latin typeface="Verdana" pitchFamily="34" charset="0"/>
                <a:ea typeface="ヒラギノ角ゴ Pro W3"/>
                <a:cs typeface="ヒラギノ角ゴ Pro W3"/>
              </a:rPr>
              <a:t>will include a site map and a navigation structure</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Many different conceptual models are used in the contextual inquiry method.</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a:xfrm>
            <a:off x="457200" y="274638"/>
            <a:ext cx="8229600" cy="778098"/>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Rich Pictures</a:t>
            </a:r>
          </a:p>
        </p:txBody>
      </p:sp>
      <p:sp>
        <p:nvSpPr>
          <p:cNvPr id="24578" name="Text Placeholder 2"/>
          <p:cNvSpPr>
            <a:spLocks noGrp="1"/>
          </p:cNvSpPr>
          <p:nvPr>
            <p:ph type="body" idx="1"/>
          </p:nvPr>
        </p:nvSpPr>
        <p:spPr>
          <a:xfrm>
            <a:off x="457200" y="1052736"/>
            <a:ext cx="8229600" cy="5256584"/>
          </a:xfrm>
        </p:spPr>
        <p:txBody>
          <a:bodyPr/>
          <a:lstStyle/>
          <a:p>
            <a:pPr algn="just" eaLnBrk="1" hangingPunct="1">
              <a:lnSpc>
                <a:spcPct val="150000"/>
              </a:lnSpc>
            </a:pPr>
            <a:r>
              <a:rPr lang="en-US" sz="1400" dirty="0" smtClean="0">
                <a:latin typeface="Verdana" pitchFamily="34" charset="0"/>
                <a:ea typeface="ヒラギノ角ゴ Pro W3"/>
                <a:cs typeface="ヒラギノ角ゴ Pro W3"/>
              </a:rPr>
              <a:t>A </a:t>
            </a:r>
            <a:r>
              <a:rPr lang="en-US" sz="1400" b="1" dirty="0" smtClean="0">
                <a:latin typeface="Verdana" pitchFamily="34" charset="0"/>
                <a:ea typeface="ヒラギノ角ゴ Pro W3"/>
                <a:cs typeface="ヒラギノ角ゴ Pro W3"/>
              </a:rPr>
              <a:t>rich picture </a:t>
            </a:r>
            <a:r>
              <a:rPr lang="en-US" sz="1400" dirty="0" smtClean="0">
                <a:latin typeface="Verdana" pitchFamily="34" charset="0"/>
                <a:ea typeface="ヒラギノ角ゴ Pro W3"/>
                <a:cs typeface="ヒラギノ角ゴ Pro W3"/>
              </a:rPr>
              <a:t>captures</a:t>
            </a:r>
            <a:r>
              <a:rPr lang="en-US" sz="1400" b="1" dirty="0" smtClean="0">
                <a:latin typeface="Verdana" pitchFamily="34" charset="0"/>
                <a:ea typeface="ヒラギノ角ゴ Pro W3"/>
                <a:cs typeface="ヒラギノ角ゴ Pro W3"/>
              </a:rPr>
              <a:t> </a:t>
            </a:r>
            <a:r>
              <a:rPr lang="en-US" sz="1400" dirty="0" smtClean="0">
                <a:latin typeface="Verdana" pitchFamily="34" charset="0"/>
                <a:ea typeface="ヒラギノ角ゴ Pro W3"/>
                <a:cs typeface="ヒラギノ角ゴ Pro W3"/>
              </a:rPr>
              <a:t>the </a:t>
            </a:r>
            <a:r>
              <a:rPr lang="en-US" sz="1400" b="1" dirty="0" smtClean="0">
                <a:latin typeface="Verdana" pitchFamily="34" charset="0"/>
                <a:ea typeface="ヒラギノ角ゴ Pro W3"/>
                <a:cs typeface="ヒラギノ角ゴ Pro W3"/>
              </a:rPr>
              <a:t>main conceptual relationships between </a:t>
            </a:r>
            <a:r>
              <a:rPr lang="en-US" sz="1400" dirty="0" smtClean="0">
                <a:latin typeface="Verdana" pitchFamily="34" charset="0"/>
                <a:ea typeface="ヒラギノ角ゴ Pro W3"/>
                <a:cs typeface="ヒラギノ角ゴ Pro W3"/>
              </a:rPr>
              <a:t>the main conceptual entities in a system – a model of the structure of a situation. Peter </a:t>
            </a:r>
            <a:r>
              <a:rPr lang="en-US" sz="1400" dirty="0" err="1" smtClean="0">
                <a:latin typeface="Verdana" pitchFamily="34" charset="0"/>
                <a:ea typeface="ヒラギノ角ゴ Pro W3"/>
                <a:cs typeface="ヒラギノ角ゴ Pro W3"/>
              </a:rPr>
              <a:t>Checkland</a:t>
            </a:r>
            <a:r>
              <a:rPr lang="en-US" sz="1400" dirty="0" smtClean="0">
                <a:latin typeface="Verdana" pitchFamily="34" charset="0"/>
                <a:ea typeface="ヒラギノ角ゴ Pro W3"/>
                <a:cs typeface="ヒラギノ角ゴ Pro W3"/>
              </a:rPr>
              <a:t>, who originated the soft systems approach, also emphasizes focusing on the </a:t>
            </a:r>
            <a:r>
              <a:rPr lang="en-US" sz="1400" b="1" dirty="0" smtClean="0">
                <a:latin typeface="Verdana" pitchFamily="34" charset="0"/>
                <a:ea typeface="ヒラギノ角ゴ Pro W3"/>
                <a:cs typeface="ヒラギノ角ゴ Pro W3"/>
              </a:rPr>
              <a:t>key transformation of a system</a:t>
            </a:r>
          </a:p>
          <a:p>
            <a:pPr algn="just" eaLnBrk="1" hangingPunct="1">
              <a:lnSpc>
                <a:spcPct val="150000"/>
              </a:lnSpc>
            </a:pPr>
            <a:r>
              <a:rPr lang="en-US" sz="1400" dirty="0" smtClean="0">
                <a:latin typeface="Verdana" pitchFamily="34" charset="0"/>
                <a:ea typeface="ヒラギノ角ゴ Pro W3"/>
                <a:cs typeface="ヒラギノ角ゴ Pro W3"/>
              </a:rPr>
              <a:t>The </a:t>
            </a:r>
            <a:r>
              <a:rPr lang="en-US" sz="1400" b="1" dirty="0" smtClean="0">
                <a:latin typeface="Verdana" pitchFamily="34" charset="0"/>
                <a:ea typeface="ヒラギノ角ゴ Pro W3"/>
                <a:cs typeface="ヒラギノ角ゴ Pro W3"/>
              </a:rPr>
              <a:t>principal stakeholders </a:t>
            </a:r>
            <a:r>
              <a:rPr lang="en-US" sz="1400" dirty="0" smtClean="0">
                <a:latin typeface="Verdana" pitchFamily="34" charset="0"/>
                <a:ea typeface="ヒラギノ角ゴ Pro W3"/>
                <a:cs typeface="ヒラギノ角ゴ Pro W3"/>
              </a:rPr>
              <a:t>– customers, actors, system owners – should be identified. </a:t>
            </a:r>
          </a:p>
          <a:p>
            <a:pPr algn="just" eaLnBrk="1" hangingPunct="1">
              <a:lnSpc>
                <a:spcPct val="150000"/>
              </a:lnSpc>
            </a:pPr>
            <a:r>
              <a:rPr lang="en-US" sz="1400" dirty="0" smtClean="0">
                <a:latin typeface="Verdana" pitchFamily="34" charset="0"/>
                <a:ea typeface="ヒラギノ角ゴ Pro W3"/>
                <a:cs typeface="ヒラギノ角ゴ Pro W3"/>
              </a:rPr>
              <a:t>The designer should also consider the perspective from which an activity is being viewed as a system </a:t>
            </a:r>
            <a:r>
              <a:rPr lang="en-US" sz="1400" b="1" dirty="0" smtClean="0">
                <a:latin typeface="Verdana" pitchFamily="34" charset="0"/>
                <a:ea typeface="ヒラギノ角ゴ Pro W3"/>
                <a:cs typeface="ヒラギノ角ゴ Pro W3"/>
              </a:rPr>
              <a:t>(the Weltanschauung) </a:t>
            </a:r>
            <a:r>
              <a:rPr lang="en-US" sz="1400" dirty="0" smtClean="0">
                <a:latin typeface="Verdana" pitchFamily="34" charset="0"/>
                <a:ea typeface="ヒラギノ角ゴ Pro W3"/>
                <a:cs typeface="ヒラギノ角ゴ Pro W3"/>
              </a:rPr>
              <a:t>and the environment in which the activities take place. </a:t>
            </a:r>
          </a:p>
          <a:p>
            <a:pPr algn="just" eaLnBrk="1" hangingPunct="1">
              <a:lnSpc>
                <a:spcPct val="150000"/>
              </a:lnSpc>
            </a:pPr>
            <a:r>
              <a:rPr lang="en-US" sz="1400" dirty="0" smtClean="0">
                <a:latin typeface="Verdana" pitchFamily="34" charset="0"/>
                <a:ea typeface="ヒラギノ角ゴ Pro W3"/>
                <a:cs typeface="ヒラギノ角ゴ Pro W3"/>
              </a:rPr>
              <a:t>(</a:t>
            </a:r>
            <a:r>
              <a:rPr lang="en-US" sz="1400" dirty="0" err="1" smtClean="0">
                <a:latin typeface="Verdana" pitchFamily="34" charset="0"/>
                <a:ea typeface="ヒラギノ角ゴ Pro W3"/>
                <a:cs typeface="ヒラギノ角ゴ Pro W3"/>
              </a:rPr>
              <a:t>Checkland</a:t>
            </a:r>
            <a:r>
              <a:rPr lang="en-US" sz="1400" dirty="0" smtClean="0">
                <a:latin typeface="Verdana" pitchFamily="34" charset="0"/>
                <a:ea typeface="ヒラギノ角ゴ Pro W3"/>
                <a:cs typeface="ヒラギノ角ゴ Pro W3"/>
              </a:rPr>
              <a:t> proposes the </a:t>
            </a:r>
            <a:r>
              <a:rPr lang="en-US" sz="1400" b="1" dirty="0" smtClean="0">
                <a:latin typeface="Verdana" pitchFamily="34" charset="0"/>
                <a:ea typeface="ヒラギノ角ゴ Pro W3"/>
                <a:cs typeface="ヒラギノ角ゴ Pro W3"/>
              </a:rPr>
              <a:t>acronym CATWOE</a:t>
            </a:r>
            <a:r>
              <a:rPr lang="en-US" sz="1400" dirty="0" smtClean="0">
                <a:latin typeface="Verdana" pitchFamily="34" charset="0"/>
                <a:ea typeface="ヒラギノ角ゴ Pro W3"/>
                <a:cs typeface="ヒラギノ角ゴ Pro W3"/>
              </a:rPr>
              <a:t> – customers, actors, transformation, Weltanschauung, owners, environment – for these elements of a rich picture.) </a:t>
            </a:r>
          </a:p>
          <a:p>
            <a:pPr algn="just" eaLnBrk="1" hangingPunct="1">
              <a:lnSpc>
                <a:spcPct val="150000"/>
              </a:lnSpc>
            </a:pPr>
            <a:r>
              <a:rPr lang="en-US" sz="1400" dirty="0" smtClean="0">
                <a:latin typeface="Verdana" pitchFamily="34" charset="0"/>
                <a:ea typeface="ヒラギノ角ゴ Pro W3"/>
                <a:cs typeface="ヒラギノ角ゴ Pro W3"/>
              </a:rPr>
              <a:t>Most importantly the </a:t>
            </a:r>
            <a:r>
              <a:rPr lang="en-US" sz="1400" b="1" dirty="0" smtClean="0">
                <a:latin typeface="Verdana" pitchFamily="34" charset="0"/>
                <a:ea typeface="ヒラギノ角ゴ Pro W3"/>
                <a:cs typeface="ヒラギノ角ゴ Pro W3"/>
              </a:rPr>
              <a:t>rich picture identifies </a:t>
            </a:r>
            <a:r>
              <a:rPr lang="en-US" sz="1400" dirty="0" smtClean="0">
                <a:latin typeface="Verdana" pitchFamily="34" charset="0"/>
                <a:ea typeface="ヒラギノ角ゴ Pro W3"/>
                <a:cs typeface="ヒラギノ角ゴ Pro W3"/>
              </a:rPr>
              <a:t>the issues or concerns of stakeholders, thus </a:t>
            </a:r>
            <a:r>
              <a:rPr lang="en-US" sz="1400" b="1" dirty="0" smtClean="0">
                <a:latin typeface="Verdana" pitchFamily="34" charset="0"/>
                <a:ea typeface="ヒラギノ角ゴ Pro W3"/>
                <a:cs typeface="ヒラギノ角ゴ Pro W3"/>
              </a:rPr>
              <a:t>helping to focus </a:t>
            </a:r>
            <a:r>
              <a:rPr lang="en-US" sz="1400" dirty="0" smtClean="0">
                <a:latin typeface="Verdana" pitchFamily="34" charset="0"/>
                <a:ea typeface="ヒラギノ角ゴ Pro W3"/>
                <a:cs typeface="ヒラギノ角ゴ Pro W3"/>
              </a:rPr>
              <a:t>attention on problems or potential design solutions.</a:t>
            </a:r>
          </a:p>
          <a:p>
            <a:pPr marL="0" indent="0" algn="just" eaLnBrk="1" hangingPunct="1">
              <a:lnSpc>
                <a:spcPct val="150000"/>
              </a:lnSpc>
              <a:buNone/>
            </a:pPr>
            <a:r>
              <a:rPr lang="en-US" sz="1400" dirty="0" smtClean="0">
                <a:solidFill>
                  <a:srgbClr val="00B050"/>
                </a:solidFill>
                <a:latin typeface="Verdana" pitchFamily="34" charset="0"/>
                <a:ea typeface="ヒラギノ角ゴ Pro W3"/>
                <a:cs typeface="ヒラギノ角ゴ Pro W3"/>
              </a:rPr>
              <a:t>(</a:t>
            </a:r>
            <a:r>
              <a:rPr lang="en-US" sz="1400" b="1" dirty="0" smtClean="0">
                <a:solidFill>
                  <a:srgbClr val="00B050"/>
                </a:solidFill>
                <a:latin typeface="Verdana" pitchFamily="34" charset="0"/>
                <a:ea typeface="ヒラギノ角ゴ Pro W3"/>
                <a:cs typeface="ヒラギノ角ゴ Pro W3"/>
              </a:rPr>
              <a:t>Weltanschauung: </a:t>
            </a:r>
            <a:r>
              <a:rPr lang="en-US" sz="1400" dirty="0">
                <a:solidFill>
                  <a:srgbClr val="00B050"/>
                </a:solidFill>
                <a:latin typeface="Verdana" pitchFamily="34" charset="0"/>
                <a:ea typeface="ヒラギノ角ゴ Pro W3"/>
                <a:cs typeface="ヒラギノ角ゴ Pro W3"/>
              </a:rPr>
              <a:t>Meaning: "world view</a:t>
            </a:r>
            <a:r>
              <a:rPr lang="en-US" sz="1400" dirty="0" smtClean="0">
                <a:solidFill>
                  <a:srgbClr val="00B050"/>
                </a:solidFill>
                <a:latin typeface="Verdana" pitchFamily="34" charset="0"/>
                <a:ea typeface="ヒラギノ角ゴ Pro W3"/>
                <a:cs typeface="ヒラギノ角ゴ Pro W3"/>
              </a:rPr>
              <a:t>”.</a:t>
            </a:r>
            <a:r>
              <a:rPr lang="en-US" sz="1400" b="1" dirty="0" smtClean="0">
                <a:solidFill>
                  <a:srgbClr val="00B050"/>
                </a:solidFill>
                <a:latin typeface="Verdana" pitchFamily="34" charset="0"/>
                <a:ea typeface="ヒラギノ角ゴ Pro W3"/>
                <a:cs typeface="ヒラギノ角ゴ Pro W3"/>
              </a:rPr>
              <a:t> </a:t>
            </a:r>
            <a:r>
              <a:rPr lang="en-US" sz="1400" dirty="0">
                <a:solidFill>
                  <a:srgbClr val="00B050"/>
                </a:solidFill>
                <a:latin typeface="Verdana" pitchFamily="34" charset="0"/>
                <a:ea typeface="ヒラギノ角ゴ Pro W3"/>
                <a:cs typeface="ヒラギノ角ゴ Pro W3"/>
              </a:rPr>
              <a:t>A</a:t>
            </a:r>
            <a:r>
              <a:rPr lang="en-US" sz="1400" dirty="0" smtClean="0">
                <a:solidFill>
                  <a:srgbClr val="00B050"/>
                </a:solidFill>
                <a:latin typeface="Verdana" pitchFamily="34" charset="0"/>
                <a:ea typeface="ヒラギノ角ゴ Pro W3"/>
                <a:cs typeface="ヒラギノ角ゴ Pro W3"/>
              </a:rPr>
              <a:t> </a:t>
            </a:r>
            <a:r>
              <a:rPr lang="en-US" sz="1400" dirty="0">
                <a:solidFill>
                  <a:srgbClr val="00B050"/>
                </a:solidFill>
                <a:latin typeface="Verdana" pitchFamily="34" charset="0"/>
                <a:ea typeface="ヒラギノ角ゴ Pro W3"/>
                <a:cs typeface="ヒラギノ角ゴ Pro W3"/>
              </a:rPr>
              <a:t>particular philosophy or view of life; the world view of an individual or </a:t>
            </a:r>
            <a:r>
              <a:rPr lang="en-US" sz="1400" dirty="0" smtClean="0">
                <a:solidFill>
                  <a:srgbClr val="00B050"/>
                </a:solidFill>
                <a:latin typeface="Verdana" pitchFamily="34" charset="0"/>
                <a:ea typeface="ヒラギノ角ゴ Pro W3"/>
                <a:cs typeface="ヒラギノ角ゴ Pro W3"/>
              </a:rPr>
              <a:t>group.)</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a:xfrm>
            <a:off x="457200" y="274638"/>
            <a:ext cx="8229600" cy="778098"/>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Physical design</a:t>
            </a:r>
          </a:p>
        </p:txBody>
      </p:sp>
      <p:sp>
        <p:nvSpPr>
          <p:cNvPr id="3" name="Text Placeholder 2"/>
          <p:cNvSpPr>
            <a:spLocks noGrp="1"/>
          </p:cNvSpPr>
          <p:nvPr>
            <p:ph type="body" idx="1"/>
          </p:nvPr>
        </p:nvSpPr>
        <p:spPr>
          <a:xfrm>
            <a:off x="436532" y="1052736"/>
            <a:ext cx="8229600" cy="5040560"/>
          </a:xfrm>
        </p:spPr>
        <p:txBody>
          <a:bodyPr>
            <a:normAutofit/>
          </a:bodyPr>
          <a:lstStyle/>
          <a:p>
            <a:pPr algn="just" eaLnBrk="1" hangingPunct="1">
              <a:lnSpc>
                <a:spcPct val="150000"/>
              </a:lnSpc>
            </a:pPr>
            <a:r>
              <a:rPr lang="en-US" sz="1300" b="1" dirty="0" smtClean="0">
                <a:latin typeface="Verdana" pitchFamily="34" charset="0"/>
                <a:ea typeface="ヒラギノ角ゴ Pro W3"/>
                <a:cs typeface="ヒラギノ角ゴ Pro W3"/>
              </a:rPr>
              <a:t>Physical design </a:t>
            </a:r>
            <a:r>
              <a:rPr lang="en-US" sz="1300" dirty="0" smtClean="0">
                <a:latin typeface="Verdana" pitchFamily="34" charset="0"/>
                <a:ea typeface="ヒラギノ角ゴ Pro W3"/>
                <a:cs typeface="ヒラギノ角ゴ Pro W3"/>
              </a:rPr>
              <a:t>is concerned with </a:t>
            </a:r>
            <a:r>
              <a:rPr lang="en-US" sz="1300" b="1" dirty="0" smtClean="0">
                <a:latin typeface="Verdana" pitchFamily="34" charset="0"/>
                <a:ea typeface="ヒラギノ角ゴ Pro W3"/>
                <a:cs typeface="ヒラギノ角ゴ Pro W3"/>
              </a:rPr>
              <a:t>how</a:t>
            </a:r>
            <a:r>
              <a:rPr lang="en-US" sz="1300" dirty="0" smtClean="0">
                <a:latin typeface="Verdana" pitchFamily="34" charset="0"/>
                <a:ea typeface="ヒラギノ角ゴ Pro W3"/>
                <a:cs typeface="ヒラギノ角ゴ Pro W3"/>
              </a:rPr>
              <a:t> things are going to work and with detailing the look and feel of the product. </a:t>
            </a:r>
          </a:p>
          <a:p>
            <a:pPr algn="just" eaLnBrk="1" hangingPunct="1">
              <a:lnSpc>
                <a:spcPct val="150000"/>
              </a:lnSpc>
            </a:pPr>
            <a:r>
              <a:rPr lang="en-US" sz="1300" b="1" dirty="0" smtClean="0">
                <a:latin typeface="Verdana" pitchFamily="34" charset="0"/>
                <a:ea typeface="ヒラギノ角ゴ Pro W3"/>
                <a:cs typeface="ヒラギノ角ゴ Pro W3"/>
              </a:rPr>
              <a:t>Physical design </a:t>
            </a:r>
            <a:r>
              <a:rPr lang="en-US" sz="1300" dirty="0" smtClean="0">
                <a:latin typeface="Verdana" pitchFamily="34" charset="0"/>
                <a:ea typeface="ヒラギノ角ゴ Pro W3"/>
                <a:cs typeface="ヒラギノ角ゴ Pro W3"/>
              </a:rPr>
              <a:t>is about structuring interactions into logical sequences and about clarifying and presenting the allocation of functions and knowledge between people and devices. </a:t>
            </a:r>
          </a:p>
          <a:p>
            <a:pPr algn="just" eaLnBrk="1" hangingPunct="1">
              <a:lnSpc>
                <a:spcPct val="150000"/>
              </a:lnSpc>
            </a:pPr>
            <a:r>
              <a:rPr lang="en-US" sz="1300" dirty="0" smtClean="0">
                <a:latin typeface="Verdana" pitchFamily="34" charset="0"/>
                <a:ea typeface="ヒラギノ角ゴ Pro W3"/>
                <a:cs typeface="ヒラギノ角ゴ Pro W3"/>
              </a:rPr>
              <a:t>The distinction between conceptual and physical design is very important. </a:t>
            </a:r>
          </a:p>
          <a:p>
            <a:pPr algn="just" eaLnBrk="1" hangingPunct="1">
              <a:lnSpc>
                <a:spcPct val="150000"/>
              </a:lnSpc>
            </a:pPr>
            <a:r>
              <a:rPr lang="en-US" sz="1300" dirty="0" smtClean="0">
                <a:latin typeface="Verdana" pitchFamily="34" charset="0"/>
                <a:ea typeface="ヒラギノ角ゴ Pro W3"/>
                <a:cs typeface="ヒラギノ角ゴ Pro W3"/>
              </a:rPr>
              <a:t>The </a:t>
            </a:r>
            <a:r>
              <a:rPr lang="en-US" sz="1300" b="1" dirty="0" smtClean="0">
                <a:latin typeface="Verdana" pitchFamily="34" charset="0"/>
                <a:ea typeface="ヒラギノ角ゴ Pro W3"/>
                <a:cs typeface="ヒラギノ角ゴ Pro W3"/>
              </a:rPr>
              <a:t>conceptual design </a:t>
            </a:r>
            <a:r>
              <a:rPr lang="en-US" sz="1300" dirty="0" smtClean="0">
                <a:latin typeface="Verdana" pitchFamily="34" charset="0"/>
                <a:ea typeface="ヒラギノ角ゴ Pro W3"/>
                <a:cs typeface="ヒラギノ角ゴ Pro W3"/>
              </a:rPr>
              <a:t>relates to the overall purpose of the whole interactive system. </a:t>
            </a:r>
          </a:p>
          <a:p>
            <a:pPr algn="just" eaLnBrk="1" hangingPunct="1">
              <a:lnSpc>
                <a:spcPct val="150000"/>
              </a:lnSpc>
            </a:pPr>
            <a:r>
              <a:rPr lang="en-US" sz="1300" dirty="0" smtClean="0">
                <a:latin typeface="Verdana" pitchFamily="34" charset="0"/>
                <a:ea typeface="ヒラギノ角ゴ Pro W3"/>
                <a:cs typeface="ヒラギノ角ゴ Pro W3"/>
              </a:rPr>
              <a:t>Between the people and the technologies, there has to be enough knowledge and ability to achieve the purpose. </a:t>
            </a:r>
          </a:p>
          <a:p>
            <a:pPr algn="just" eaLnBrk="1" hangingPunct="1">
              <a:lnSpc>
                <a:spcPct val="150000"/>
              </a:lnSpc>
            </a:pPr>
            <a:r>
              <a:rPr lang="en-US" sz="1300" b="1" dirty="0" smtClean="0">
                <a:latin typeface="Verdana" pitchFamily="34" charset="0"/>
                <a:ea typeface="ヒラギノ角ゴ Pro W3"/>
                <a:cs typeface="ヒラギノ角ゴ Pro W3"/>
              </a:rPr>
              <a:t>Physical design </a:t>
            </a:r>
            <a:r>
              <a:rPr lang="en-US" sz="1300" dirty="0" smtClean="0">
                <a:latin typeface="Verdana" pitchFamily="34" charset="0"/>
                <a:ea typeface="ヒラギノ角ゴ Pro W3"/>
                <a:cs typeface="ヒラギノ角ゴ Pro W3"/>
              </a:rPr>
              <a:t>is concerned with taking this </a:t>
            </a:r>
            <a:r>
              <a:rPr lang="en-US" sz="1300" b="1" dirty="0" smtClean="0">
                <a:latin typeface="Verdana" pitchFamily="34" charset="0"/>
                <a:ea typeface="ヒラギノ角ゴ Pro W3"/>
                <a:cs typeface="ヒラギノ角ゴ Pro W3"/>
              </a:rPr>
              <a:t>abstract representation and translating it into concrete designs.</a:t>
            </a:r>
            <a:r>
              <a:rPr lang="en-US" sz="1300" dirty="0" smtClean="0">
                <a:latin typeface="Verdana" pitchFamily="34" charset="0"/>
                <a:ea typeface="ヒラギノ角ゴ Pro W3"/>
                <a:cs typeface="ヒラギノ角ゴ Pro W3"/>
              </a:rPr>
              <a:t> </a:t>
            </a:r>
          </a:p>
          <a:p>
            <a:pPr algn="just" eaLnBrk="1" hangingPunct="1">
              <a:lnSpc>
                <a:spcPct val="150000"/>
              </a:lnSpc>
            </a:pPr>
            <a:r>
              <a:rPr lang="en-US" sz="1300" dirty="0" smtClean="0">
                <a:latin typeface="Verdana" pitchFamily="34" charset="0"/>
                <a:ea typeface="ヒラギノ角ゴ Pro W3"/>
                <a:cs typeface="ヒラギノ角ゴ Pro W3"/>
              </a:rPr>
              <a:t>On one side, this means </a:t>
            </a:r>
            <a:r>
              <a:rPr lang="en-US" sz="1300" b="1" dirty="0" smtClean="0">
                <a:latin typeface="Verdana" pitchFamily="34" charset="0"/>
                <a:ea typeface="ヒラギノ角ゴ Pro W3"/>
                <a:cs typeface="ヒラギノ角ゴ Pro W3"/>
              </a:rPr>
              <a:t>requirements for hardware and software </a:t>
            </a:r>
            <a:r>
              <a:rPr lang="en-US" sz="1300" dirty="0" smtClean="0">
                <a:latin typeface="Verdana" pitchFamily="34" charset="0"/>
                <a:ea typeface="ヒラギノ角ゴ Pro W3"/>
                <a:cs typeface="ヒラギノ角ゴ Pro W3"/>
              </a:rPr>
              <a:t>and on the other side </a:t>
            </a:r>
            <a:r>
              <a:rPr lang="en-US" sz="1300" b="1" dirty="0" smtClean="0">
                <a:latin typeface="Verdana" pitchFamily="34" charset="0"/>
                <a:ea typeface="ヒラギノ角ゴ Pro W3"/>
                <a:cs typeface="ヒラギノ角ゴ Pro W3"/>
              </a:rPr>
              <a:t>it defines the knowledge, tasks and activities </a:t>
            </a:r>
            <a:r>
              <a:rPr lang="en-US" sz="1300" dirty="0" smtClean="0">
                <a:latin typeface="Verdana" pitchFamily="34" charset="0"/>
                <a:ea typeface="ヒラギノ角ゴ Pro W3"/>
                <a:cs typeface="ヒラギノ角ゴ Pro W3"/>
              </a:rPr>
              <a:t>that people will be required to do.</a:t>
            </a:r>
          </a:p>
          <a:p>
            <a:pPr algn="just" eaLnBrk="1" hangingPunct="1">
              <a:lnSpc>
                <a:spcPct val="150000"/>
              </a:lnSpc>
            </a:pPr>
            <a:r>
              <a:rPr lang="en-US" sz="1300" dirty="0" smtClean="0">
                <a:latin typeface="Verdana" pitchFamily="34" charset="0"/>
                <a:ea typeface="ヒラギノ角ゴ Pro W3"/>
                <a:cs typeface="ヒラギノ角ゴ Pro W3"/>
              </a:rPr>
              <a:t>The </a:t>
            </a:r>
            <a:r>
              <a:rPr lang="en-US" sz="1300" b="1" dirty="0" smtClean="0">
                <a:solidFill>
                  <a:schemeClr val="accent1"/>
                </a:solidFill>
                <a:latin typeface="Verdana" pitchFamily="34" charset="0"/>
                <a:ea typeface="ヒラギノ角ゴ Pro W3"/>
                <a:cs typeface="ヒラギノ角ゴ Pro W3"/>
              </a:rPr>
              <a:t>3 components are</a:t>
            </a:r>
            <a:r>
              <a:rPr lang="en-US" sz="1300" dirty="0" smtClean="0">
                <a:latin typeface="Verdana" pitchFamily="34" charset="0"/>
                <a:ea typeface="ヒラギノ角ゴ Pro W3"/>
                <a:cs typeface="ヒラギノ角ゴ Pro W3"/>
              </a:rPr>
              <a:t>: operational design, representational design, and design of interactions </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p:txBody>
          <a:bodyPr/>
          <a:lstStyle/>
          <a:p>
            <a:pPr eaLnBrk="1" hangingPunct="1">
              <a:lnSpc>
                <a:spcPct val="120000"/>
              </a:lnSpc>
            </a:pPr>
            <a:r>
              <a:rPr lang="en-US" sz="1500" b="1" dirty="0" smtClean="0">
                <a:latin typeface="Verdana" pitchFamily="34" charset="0"/>
                <a:ea typeface="ヒラギノ角ゴ Pro W3"/>
                <a:cs typeface="ヒラギノ角ゴ Pro W3"/>
              </a:rPr>
              <a:t>Operational Design</a:t>
            </a:r>
          </a:p>
        </p:txBody>
      </p:sp>
      <p:sp>
        <p:nvSpPr>
          <p:cNvPr id="3" name="Text Placeholder 2"/>
          <p:cNvSpPr>
            <a:spLocks noGrp="1"/>
          </p:cNvSpPr>
          <p:nvPr>
            <p:ph type="body" idx="1"/>
          </p:nvPr>
        </p:nvSpPr>
        <p:spPr>
          <a:xfrm>
            <a:off x="457200" y="1423317"/>
            <a:ext cx="8229600" cy="4525963"/>
          </a:xfrm>
        </p:spPr>
        <p:txBody>
          <a:bodyPr>
            <a:normAutofit/>
          </a:bodyPr>
          <a:lstStyle/>
          <a:p>
            <a:pPr algn="just" eaLnBrk="1" hangingPunct="1">
              <a:lnSpc>
                <a:spcPct val="150000"/>
              </a:lnSpc>
            </a:pPr>
            <a:r>
              <a:rPr lang="en-US" sz="1500" b="1" dirty="0" smtClean="0">
                <a:latin typeface="Verdana" pitchFamily="34" charset="0"/>
                <a:ea typeface="ヒラギノ角ゴ Pro W3"/>
                <a:cs typeface="ヒラギノ角ゴ Pro W3"/>
              </a:rPr>
              <a:t>Operational design </a:t>
            </a:r>
            <a:r>
              <a:rPr lang="en-US" sz="1500" dirty="0" smtClean="0">
                <a:latin typeface="Verdana" pitchFamily="34" charset="0"/>
                <a:ea typeface="ヒラギノ角ゴ Pro W3"/>
                <a:cs typeface="ヒラギノ角ゴ Pro W3"/>
              </a:rPr>
              <a:t>is concerned with specifying how everything works and how content is structured and stored. </a:t>
            </a:r>
          </a:p>
          <a:p>
            <a:pPr algn="just" eaLnBrk="1" hangingPunct="1">
              <a:lnSpc>
                <a:spcPct val="150000"/>
              </a:lnSpc>
            </a:pPr>
            <a:r>
              <a:rPr lang="en-US" sz="1500" b="1" dirty="0" smtClean="0">
                <a:latin typeface="Verdana" pitchFamily="34" charset="0"/>
                <a:ea typeface="ヒラギノ角ゴ Pro W3"/>
                <a:cs typeface="ヒラギノ角ゴ Pro W3"/>
              </a:rPr>
              <a:t>Taking a functional view of an activity</a:t>
            </a:r>
            <a:r>
              <a:rPr lang="en-US" sz="1500" dirty="0" smtClean="0">
                <a:latin typeface="Verdana" pitchFamily="34" charset="0"/>
                <a:ea typeface="ヒラギノ角ゴ Pro W3"/>
                <a:cs typeface="ヒラギノ角ゴ Pro W3"/>
              </a:rPr>
              <a:t> means focusing on </a:t>
            </a:r>
            <a:r>
              <a:rPr lang="en-US" sz="1500" b="1" dirty="0" smtClean="0">
                <a:latin typeface="Verdana" pitchFamily="34" charset="0"/>
                <a:ea typeface="ヒラギノ角ゴ Pro W3"/>
                <a:cs typeface="ヒラギノ角ゴ Pro W3"/>
              </a:rPr>
              <a:t>processes</a:t>
            </a:r>
            <a:r>
              <a:rPr lang="en-US" sz="1500" dirty="0" smtClean="0">
                <a:latin typeface="Verdana" pitchFamily="34" charset="0"/>
                <a:ea typeface="ヒラギノ角ゴ Pro W3"/>
                <a:cs typeface="ヒラギノ角ゴ Pro W3"/>
              </a:rPr>
              <a:t> and on the </a:t>
            </a:r>
            <a:r>
              <a:rPr lang="en-US" sz="1500" b="1" dirty="0" smtClean="0">
                <a:latin typeface="Verdana" pitchFamily="34" charset="0"/>
                <a:ea typeface="ヒラギノ角ゴ Pro W3"/>
                <a:cs typeface="ヒラギノ角ゴ Pro W3"/>
              </a:rPr>
              <a:t>movement, or flow, of things through a system</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b="1" dirty="0" smtClean="0">
                <a:latin typeface="Verdana" pitchFamily="34" charset="0"/>
                <a:ea typeface="ヒラギノ角ゴ Pro W3"/>
                <a:cs typeface="ヒラギノ角ゴ Pro W3"/>
              </a:rPr>
              <a:t>Events</a:t>
            </a:r>
            <a:r>
              <a:rPr lang="en-US" sz="1500" dirty="0" smtClean="0">
                <a:latin typeface="Verdana" pitchFamily="34" charset="0"/>
                <a:ea typeface="ヒラギノ角ゴ Pro W3"/>
                <a:cs typeface="ヒラギノ角ゴ Pro W3"/>
              </a:rPr>
              <a:t> are occurrences that cause, or trigger, some other functions to be undertaken. </a:t>
            </a:r>
          </a:p>
          <a:p>
            <a:pPr algn="just" eaLnBrk="1" hangingPunct="1">
              <a:lnSpc>
                <a:spcPct val="150000"/>
              </a:lnSpc>
            </a:pPr>
            <a:r>
              <a:rPr lang="en-US" sz="1500" dirty="0" smtClean="0">
                <a:latin typeface="Verdana" pitchFamily="34" charset="0"/>
                <a:ea typeface="ヒラギノ角ゴ Pro W3"/>
                <a:cs typeface="ヒラギノ角ゴ Pro W3"/>
              </a:rPr>
              <a:t>Sometimes these </a:t>
            </a:r>
            <a:r>
              <a:rPr lang="en-US" sz="1500" b="1" dirty="0" smtClean="0">
                <a:latin typeface="Verdana" pitchFamily="34" charset="0"/>
                <a:ea typeface="ヒラギノ角ゴ Pro W3"/>
                <a:cs typeface="ヒラギノ角ゴ Pro W3"/>
              </a:rPr>
              <a:t>arise from outside </a:t>
            </a:r>
            <a:r>
              <a:rPr lang="en-US" sz="1500" dirty="0" smtClean="0">
                <a:latin typeface="Verdana" pitchFamily="34" charset="0"/>
                <a:ea typeface="ヒラギノ角ゴ Pro W3"/>
                <a:cs typeface="ヒラギノ角ゴ Pro W3"/>
              </a:rPr>
              <a:t>the system under consideration and sometimes they </a:t>
            </a:r>
            <a:r>
              <a:rPr lang="en-US" sz="1500" b="1" dirty="0" smtClean="0">
                <a:latin typeface="Verdana" pitchFamily="34" charset="0"/>
                <a:ea typeface="ヒラギノ角ゴ Pro W3"/>
                <a:cs typeface="ヒラギノ角ゴ Pro W3"/>
              </a:rPr>
              <a:t>arise as a result </a:t>
            </a:r>
            <a:r>
              <a:rPr lang="en-US" sz="1500" dirty="0" smtClean="0">
                <a:latin typeface="Verdana" pitchFamily="34" charset="0"/>
                <a:ea typeface="ヒラギノ角ゴ Pro W3"/>
                <a:cs typeface="ヒラギノ角ゴ Pro W3"/>
              </a:rPr>
              <a:t>of doing something else. </a:t>
            </a:r>
          </a:p>
          <a:p>
            <a:pPr algn="just" eaLnBrk="1" hangingPunct="1">
              <a:lnSpc>
                <a:spcPct val="150000"/>
              </a:lnSpc>
            </a:pPr>
            <a:r>
              <a:rPr lang="en-US" sz="1500" dirty="0" smtClean="0">
                <a:latin typeface="Verdana" pitchFamily="34" charset="0"/>
                <a:ea typeface="ヒラギノ角ゴ Pro W3"/>
                <a:cs typeface="ヒラギノ角ゴ Pro W3"/>
              </a:rPr>
              <a:t>For example, some activity might be triggered on a particular day or at a particular time</a:t>
            </a:r>
          </a:p>
          <a:p>
            <a:pPr algn="just" eaLnBrk="1" hangingPunct="1">
              <a:lnSpc>
                <a:spcPct val="150000"/>
              </a:lnSpc>
            </a:pPr>
            <a:r>
              <a:rPr lang="en-US" sz="1500" dirty="0" smtClean="0">
                <a:latin typeface="Verdana" pitchFamily="34" charset="0"/>
                <a:ea typeface="ヒラギノ角ゴ Pro W3"/>
                <a:cs typeface="ヒラギノ角ゴ Pro W3"/>
              </a:rPr>
              <a:t>Another might be triggered by the arrival of a person or document.</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a:xfrm>
            <a:off x="457200" y="274638"/>
            <a:ext cx="8229600" cy="778098"/>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Representational design </a:t>
            </a:r>
          </a:p>
        </p:txBody>
      </p:sp>
      <p:sp>
        <p:nvSpPr>
          <p:cNvPr id="3" name="Text Placeholder 2"/>
          <p:cNvSpPr>
            <a:spLocks noGrp="1"/>
          </p:cNvSpPr>
          <p:nvPr>
            <p:ph type="body" idx="1"/>
          </p:nvPr>
        </p:nvSpPr>
        <p:spPr>
          <a:xfrm>
            <a:off x="611560" y="1196752"/>
            <a:ext cx="8229600" cy="4813995"/>
          </a:xfrm>
        </p:spPr>
        <p:txBody>
          <a:bodyPr>
            <a:normAutofit lnSpcReduction="10000"/>
          </a:bodyPr>
          <a:lstStyle/>
          <a:p>
            <a:pPr algn="just" eaLnBrk="1" hangingPunct="1">
              <a:lnSpc>
                <a:spcPct val="150000"/>
              </a:lnSpc>
            </a:pPr>
            <a:r>
              <a:rPr lang="en-US" sz="1500" b="1" dirty="0" smtClean="0">
                <a:latin typeface="Verdana" pitchFamily="34" charset="0"/>
                <a:ea typeface="ヒラギノ角ゴ Pro W3"/>
                <a:cs typeface="ヒラギノ角ゴ Pro W3"/>
              </a:rPr>
              <a:t>Representational design </a:t>
            </a:r>
            <a:r>
              <a:rPr lang="en-US" sz="1500" dirty="0" smtClean="0">
                <a:latin typeface="Verdana" pitchFamily="34" charset="0"/>
                <a:ea typeface="ヒラギノ角ゴ Pro W3"/>
                <a:cs typeface="ヒラギノ角ゴ Pro W3"/>
              </a:rPr>
              <a:t>is concerned with fixing on </a:t>
            </a:r>
            <a:r>
              <a:rPr lang="en-US" sz="1500" dirty="0" err="1" smtClean="0">
                <a:latin typeface="Verdana" pitchFamily="34" charset="0"/>
                <a:ea typeface="ヒラギノ角ゴ Pro W3"/>
                <a:cs typeface="ヒラギノ角ゴ Pro W3"/>
              </a:rPr>
              <a:t>colours</a:t>
            </a:r>
            <a:r>
              <a:rPr lang="en-US" sz="1500" dirty="0" smtClean="0">
                <a:latin typeface="Verdana" pitchFamily="34" charset="0"/>
                <a:ea typeface="ヒラギノ角ゴ Pro W3"/>
                <a:cs typeface="ヒラギノ角ゴ Pro W3"/>
              </a:rPr>
              <a:t>, shapes, sizes and information layout. </a:t>
            </a:r>
          </a:p>
          <a:p>
            <a:pPr algn="just" eaLnBrk="1" hangingPunct="1">
              <a:lnSpc>
                <a:spcPct val="150000"/>
              </a:lnSpc>
            </a:pPr>
            <a:r>
              <a:rPr lang="en-US" sz="1500" dirty="0" smtClean="0">
                <a:latin typeface="Verdana" pitchFamily="34" charset="0"/>
                <a:ea typeface="ヒラギノ角ゴ Pro W3"/>
                <a:cs typeface="ヒラギノ角ゴ Pro W3"/>
              </a:rPr>
              <a:t>It </a:t>
            </a:r>
            <a:r>
              <a:rPr lang="en-US" sz="1500" b="1" dirty="0" smtClean="0">
                <a:latin typeface="Verdana" pitchFamily="34" charset="0"/>
                <a:ea typeface="ヒラギノ角ゴ Pro W3"/>
                <a:cs typeface="ヒラギノ角ゴ Pro W3"/>
              </a:rPr>
              <a:t>is concerned with style and aesthetics </a:t>
            </a:r>
            <a:r>
              <a:rPr lang="en-US" sz="1500" dirty="0" smtClean="0">
                <a:latin typeface="Verdana" pitchFamily="34" charset="0"/>
                <a:ea typeface="ヒラギノ角ゴ Pro W3"/>
                <a:cs typeface="ヒラギノ角ゴ Pro W3"/>
              </a:rPr>
              <a:t>and is particularly </a:t>
            </a:r>
            <a:r>
              <a:rPr lang="en-US" sz="1500" b="1" dirty="0" smtClean="0">
                <a:latin typeface="Verdana" pitchFamily="34" charset="0"/>
                <a:ea typeface="ヒラギノ角ゴ Pro W3"/>
                <a:cs typeface="ヒラギノ角ゴ Pro W3"/>
              </a:rPr>
              <a:t>important for issues</a:t>
            </a:r>
            <a:r>
              <a:rPr lang="en-US" sz="1500" dirty="0" smtClean="0">
                <a:latin typeface="Verdana" pitchFamily="34" charset="0"/>
                <a:ea typeface="ヒラギノ角ゴ Pro W3"/>
                <a:cs typeface="ヒラギノ角ゴ Pro W3"/>
              </a:rPr>
              <a:t> such as the attitudes and feelings of people, but also for the efficient retrieval of information.</a:t>
            </a:r>
          </a:p>
          <a:p>
            <a:pPr algn="just" eaLnBrk="1" hangingPunct="1">
              <a:lnSpc>
                <a:spcPct val="150000"/>
              </a:lnSpc>
            </a:pPr>
            <a:r>
              <a:rPr lang="en-US" sz="1500" b="1" dirty="0" smtClean="0">
                <a:latin typeface="Verdana" pitchFamily="34" charset="0"/>
                <a:ea typeface="ヒラギノ角ゴ Pro W3"/>
                <a:cs typeface="ヒラギノ角ゴ Pro W3"/>
              </a:rPr>
              <a:t>Style concerns the overall ‘look and feel’</a:t>
            </a:r>
            <a:r>
              <a:rPr lang="en-US" sz="1500" dirty="0" smtClean="0">
                <a:latin typeface="Verdana" pitchFamily="34" charset="0"/>
                <a:ea typeface="ヒラギノ角ゴ Pro W3"/>
                <a:cs typeface="ヒラギノ角ゴ Pro W3"/>
              </a:rPr>
              <a:t> of the system. </a:t>
            </a:r>
          </a:p>
          <a:p>
            <a:pPr algn="just" eaLnBrk="1" hangingPunct="1">
              <a:lnSpc>
                <a:spcPct val="150000"/>
              </a:lnSpc>
            </a:pPr>
            <a:r>
              <a:rPr lang="en-US" sz="1500" dirty="0" smtClean="0">
                <a:latin typeface="Verdana" pitchFamily="34" charset="0"/>
                <a:ea typeface="ヒラギノ角ゴ Pro W3"/>
                <a:cs typeface="ヒラギノ角ゴ Pro W3"/>
              </a:rPr>
              <a:t>Does it appear old and ‘clunky’ or is slick, smooth and modern? What mood and feelings does the design engender? </a:t>
            </a:r>
          </a:p>
          <a:p>
            <a:pPr algn="just" eaLnBrk="1" hangingPunct="1">
              <a:lnSpc>
                <a:spcPct val="150000"/>
              </a:lnSpc>
            </a:pPr>
            <a:r>
              <a:rPr lang="en-US" sz="1500" dirty="0" smtClean="0">
                <a:latin typeface="Verdana" pitchFamily="34" charset="0"/>
                <a:ea typeface="ヒラギノ角ゴ Pro W3"/>
                <a:cs typeface="ヒラギノ角ゴ Pro W3"/>
              </a:rPr>
              <a:t>For example, most </a:t>
            </a:r>
            <a:r>
              <a:rPr lang="en-US" sz="1500" b="1" dirty="0" smtClean="0">
                <a:latin typeface="Verdana" pitchFamily="34" charset="0"/>
                <a:ea typeface="ヒラギノ角ゴ Pro W3"/>
                <a:cs typeface="ヒラギノ角ゴ Pro W3"/>
              </a:rPr>
              <a:t>Microsoft products </a:t>
            </a:r>
            <a:r>
              <a:rPr lang="en-US" sz="1500" dirty="0" smtClean="0">
                <a:latin typeface="Verdana" pitchFamily="34" charset="0"/>
                <a:ea typeface="ヒラギノ角ゴ Pro W3"/>
                <a:cs typeface="ヒラギノ角ゴ Pro W3"/>
              </a:rPr>
              <a:t>engender an ‘office’ and ‘work’ mood, </a:t>
            </a:r>
            <a:r>
              <a:rPr lang="en-US" sz="1500" b="1" dirty="0" smtClean="0">
                <a:latin typeface="Verdana" pitchFamily="34" charset="0"/>
                <a:ea typeface="ヒラギノ角ゴ Pro W3"/>
                <a:cs typeface="ヒラギノ角ゴ Pro W3"/>
              </a:rPr>
              <a:t>serious rather than playful</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Many other </a:t>
            </a:r>
            <a:r>
              <a:rPr lang="en-US" sz="1500" b="1" dirty="0" smtClean="0">
                <a:latin typeface="Verdana" pitchFamily="34" charset="0"/>
                <a:ea typeface="ヒラギノ角ゴ Pro W3"/>
                <a:cs typeface="ヒラギノ角ゴ Pro W3"/>
              </a:rPr>
              <a:t>systems aim to make the interaction engaging</a:t>
            </a:r>
            <a:r>
              <a:rPr lang="en-US" sz="1500" dirty="0" smtClean="0">
                <a:latin typeface="Verdana" pitchFamily="34" charset="0"/>
                <a:ea typeface="ヒラギノ角ゴ Pro W3"/>
                <a:cs typeface="ヒラギノ角ゴ Pro W3"/>
              </a:rPr>
              <a:t>, some aim to make it </a:t>
            </a:r>
            <a:r>
              <a:rPr lang="en-US" sz="1500" b="1" dirty="0" smtClean="0">
                <a:latin typeface="Verdana" pitchFamily="34" charset="0"/>
                <a:ea typeface="ヒラギノ角ゴ Pro W3"/>
                <a:cs typeface="ヒラギノ角ゴ Pro W3"/>
              </a:rPr>
              <a:t>challenging and others entertaining</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In </a:t>
            </a:r>
            <a:r>
              <a:rPr lang="en-US" sz="1500" b="1" dirty="0" smtClean="0">
                <a:latin typeface="Verdana" pitchFamily="34" charset="0"/>
                <a:ea typeface="ヒラギノ角ゴ Pro W3"/>
                <a:cs typeface="ヒラギノ角ゴ Pro W3"/>
              </a:rPr>
              <a:t>multimedia and games applications, </a:t>
            </a:r>
            <a:r>
              <a:rPr lang="en-US" sz="1500" dirty="0" smtClean="0">
                <a:latin typeface="Verdana" pitchFamily="34" charset="0"/>
                <a:ea typeface="ヒラギノ角ゴ Pro W3"/>
                <a:cs typeface="ヒラギノ角ゴ Pro W3"/>
              </a:rPr>
              <a:t>this is particularly important.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a:xfrm>
            <a:off x="457200" y="274638"/>
            <a:ext cx="8229600" cy="490066"/>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Interaction design </a:t>
            </a:r>
          </a:p>
        </p:txBody>
      </p:sp>
      <p:sp>
        <p:nvSpPr>
          <p:cNvPr id="3" name="Text Placeholder 2"/>
          <p:cNvSpPr>
            <a:spLocks noGrp="1"/>
          </p:cNvSpPr>
          <p:nvPr>
            <p:ph type="body" idx="1"/>
          </p:nvPr>
        </p:nvSpPr>
        <p:spPr>
          <a:xfrm>
            <a:off x="323528" y="764704"/>
            <a:ext cx="8640960" cy="5544616"/>
          </a:xfrm>
        </p:spPr>
        <p:txBody>
          <a:bodyPr>
            <a:noAutofit/>
          </a:bodyPr>
          <a:lstStyle/>
          <a:p>
            <a:pPr algn="just" eaLnBrk="1" hangingPunct="1">
              <a:lnSpc>
                <a:spcPct val="150000"/>
              </a:lnSpc>
            </a:pPr>
            <a:r>
              <a:rPr lang="en-US" sz="1400" dirty="0" smtClean="0">
                <a:latin typeface="Verdana" pitchFamily="34" charset="0"/>
                <a:ea typeface="ヒラギノ角ゴ Pro W3"/>
                <a:cs typeface="ヒラギノ角ゴ Pro W3"/>
              </a:rPr>
              <a:t>Interaction design (in this context) is concerned with </a:t>
            </a:r>
            <a:r>
              <a:rPr lang="en-US" sz="1400" b="1" dirty="0" smtClean="0">
                <a:latin typeface="Verdana" pitchFamily="34" charset="0"/>
                <a:ea typeface="ヒラギノ角ゴ Pro W3"/>
                <a:cs typeface="ヒラギノ角ゴ Pro W3"/>
              </a:rPr>
              <a:t>allocation of functions to human agency or to technology </a:t>
            </a:r>
            <a:r>
              <a:rPr lang="en-US" sz="1400" dirty="0" smtClean="0">
                <a:latin typeface="Verdana" pitchFamily="34" charset="0"/>
                <a:ea typeface="ヒラギノ角ゴ Pro W3"/>
                <a:cs typeface="ヒラギノ角ゴ Pro W3"/>
              </a:rPr>
              <a:t>and</a:t>
            </a:r>
            <a:r>
              <a:rPr lang="en-US" sz="1400" b="1" dirty="0" smtClean="0">
                <a:latin typeface="Verdana" pitchFamily="34" charset="0"/>
                <a:ea typeface="ヒラギノ角ゴ Pro W3"/>
                <a:cs typeface="ヒラギノ角ゴ Pro W3"/>
              </a:rPr>
              <a:t> with the structuring and sequencing of interactions</a:t>
            </a:r>
            <a:r>
              <a:rPr lang="en-US" sz="1400" dirty="0" smtClean="0">
                <a:latin typeface="Verdana" pitchFamily="34" charset="0"/>
                <a:ea typeface="ヒラギノ角ゴ Pro W3"/>
                <a:cs typeface="ヒラギノ角ゴ Pro W3"/>
              </a:rPr>
              <a:t>. </a:t>
            </a:r>
          </a:p>
          <a:p>
            <a:pPr algn="just" eaLnBrk="1" hangingPunct="1">
              <a:lnSpc>
                <a:spcPct val="150000"/>
              </a:lnSpc>
            </a:pPr>
            <a:r>
              <a:rPr lang="en-US" sz="1400" b="1" dirty="0" smtClean="0">
                <a:latin typeface="Verdana" pitchFamily="34" charset="0"/>
                <a:ea typeface="ヒラギノ角ゴ Pro W3"/>
                <a:cs typeface="ヒラギノ角ゴ Pro W3"/>
              </a:rPr>
              <a:t>Allocation of functions </a:t>
            </a:r>
            <a:r>
              <a:rPr lang="en-US" sz="1400" dirty="0" smtClean="0">
                <a:latin typeface="Verdana" pitchFamily="34" charset="0"/>
                <a:ea typeface="ヒラギノ角ゴ Pro W3"/>
                <a:cs typeface="ヒラギノ角ゴ Pro W3"/>
              </a:rPr>
              <a:t>has a vital impact on how easy &amp; enjoyable a system is to use. </a:t>
            </a:r>
          </a:p>
          <a:p>
            <a:pPr algn="just" eaLnBrk="1" hangingPunct="1">
              <a:lnSpc>
                <a:spcPct val="150000"/>
              </a:lnSpc>
            </a:pPr>
            <a:r>
              <a:rPr lang="en-US" sz="1400" dirty="0" smtClean="0">
                <a:latin typeface="Verdana" pitchFamily="34" charset="0"/>
                <a:ea typeface="ヒラギノ角ゴ Pro W3"/>
                <a:cs typeface="ヒラギノ角ゴ Pro W3"/>
              </a:rPr>
              <a:t>Designers create tasks for people by the way they allocate functions.</a:t>
            </a:r>
          </a:p>
          <a:p>
            <a:pPr algn="just" eaLnBrk="1" hangingPunct="1">
              <a:lnSpc>
                <a:spcPct val="150000"/>
              </a:lnSpc>
            </a:pPr>
            <a:r>
              <a:rPr lang="en-US" sz="1400" dirty="0" smtClean="0">
                <a:latin typeface="Verdana" pitchFamily="34" charset="0"/>
                <a:ea typeface="ヒラギノ角ゴ Pro W3"/>
                <a:cs typeface="ヒラギノ角ゴ Pro W3"/>
              </a:rPr>
              <a:t>For example, consider the activity of </a:t>
            </a:r>
            <a:r>
              <a:rPr lang="en-US" sz="1400" b="1" dirty="0" smtClean="0">
                <a:latin typeface="Verdana" pitchFamily="34" charset="0"/>
                <a:ea typeface="ヒラギノ角ゴ Pro W3"/>
                <a:cs typeface="ヒラギノ角ゴ Pro W3"/>
              </a:rPr>
              <a:t>making a phone call</a:t>
            </a:r>
            <a:r>
              <a:rPr lang="en-US" sz="1400" dirty="0" smtClean="0">
                <a:latin typeface="Verdana" pitchFamily="34" charset="0"/>
                <a:ea typeface="ヒラギノ角ゴ Pro W3"/>
                <a:cs typeface="ヒラギノ角ゴ Pro W3"/>
              </a:rPr>
              <a:t>. Conceptually speaking, certain functions are necessary: indicate a desire to make a phone call, connect to the network, enter the phone number, make connection. Years ago a telephone exchange was staffed by people and it was these people who made </a:t>
            </a:r>
            <a:r>
              <a:rPr lang="en-US" sz="1400" b="1" dirty="0" smtClean="0">
                <a:latin typeface="Verdana" pitchFamily="34" charset="0"/>
                <a:ea typeface="ヒラギノ角ゴ Pro W3"/>
                <a:cs typeface="ヒラギノ角ゴ Pro W3"/>
              </a:rPr>
              <a:t>connections by physically putting wires into connector</a:t>
            </a:r>
            <a:r>
              <a:rPr lang="en-US" sz="1400" dirty="0" smtClean="0">
                <a:latin typeface="Verdana" pitchFamily="34" charset="0"/>
                <a:ea typeface="ヒラギノ角ゴ Pro W3"/>
                <a:cs typeface="ヒラギノ角ゴ Pro W3"/>
              </a:rPr>
              <a:t>s. In the days of wired phones, picking up the receiver indicated the desire to make a call, the full number had to be dialed in and then the telephone exchange would automatically make the connections. </a:t>
            </a:r>
          </a:p>
          <a:p>
            <a:pPr algn="just" eaLnBrk="1" hangingPunct="1">
              <a:lnSpc>
                <a:spcPct val="150000"/>
              </a:lnSpc>
            </a:pPr>
            <a:r>
              <a:rPr lang="en-US" sz="1400" dirty="0" smtClean="0">
                <a:latin typeface="Verdana" pitchFamily="34" charset="0"/>
                <a:ea typeface="ヒラギノ角ゴ Pro W3"/>
                <a:cs typeface="ヒラギノ角ゴ Pro W3"/>
              </a:rPr>
              <a:t>Nowadays a person just has to press the connect button on a cellular phone, choose someone’s name from the phone’s address book and the technology does the rest.</a:t>
            </a:r>
          </a:p>
          <a:p>
            <a:pPr algn="just" eaLnBrk="1" hangingPunct="1">
              <a:lnSpc>
                <a:spcPct val="150000"/>
              </a:lnSpc>
            </a:pPr>
            <a:r>
              <a:rPr lang="en-US" sz="1400" dirty="0" smtClean="0">
                <a:latin typeface="Verdana" pitchFamily="34" charset="0"/>
                <a:ea typeface="ヒラギノ角ゴ Pro W3"/>
                <a:cs typeface="ヒラギノ角ゴ Pro W3"/>
              </a:rPr>
              <a:t>Recall the activity-technology cycle discussed in presentation 2. </a:t>
            </a:r>
          </a:p>
          <a:p>
            <a:pPr algn="just" eaLnBrk="1" hangingPunct="1">
              <a:lnSpc>
                <a:spcPct val="150000"/>
              </a:lnSpc>
            </a:pPr>
            <a:r>
              <a:rPr lang="en-US" sz="1400" dirty="0" smtClean="0">
                <a:latin typeface="Verdana" pitchFamily="34" charset="0"/>
                <a:ea typeface="ヒラギノ角ゴ Pro W3"/>
                <a:cs typeface="ヒラギノ角ゴ Pro W3"/>
              </a:rPr>
              <a:t>The </a:t>
            </a:r>
            <a:r>
              <a:rPr lang="en-US" sz="1400" b="1" dirty="0" smtClean="0">
                <a:latin typeface="Verdana" pitchFamily="34" charset="0"/>
                <a:ea typeface="ヒラギノ角ゴ Pro W3"/>
                <a:cs typeface="ヒラギノ角ゴ Pro W3"/>
              </a:rPr>
              <a:t>allocation of knowledge and activities </a:t>
            </a:r>
            <a:r>
              <a:rPr lang="en-US" sz="1400" dirty="0" smtClean="0">
                <a:latin typeface="Verdana" pitchFamily="34" charset="0"/>
                <a:ea typeface="ヒラギノ角ゴ Pro W3"/>
                <a:cs typeface="ヒラギノ角ゴ Pro W3"/>
              </a:rPr>
              <a:t>between people and technologies is a significant part of how experiences change over time.</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a:xfrm>
            <a:off x="432048" y="433673"/>
            <a:ext cx="8229600" cy="490066"/>
          </a:xfrm>
        </p:spPr>
        <p:txBody>
          <a:bodyPr/>
          <a:lstStyle/>
          <a:p>
            <a:pPr eaLnBrk="1" hangingPunct="1">
              <a:lnSpc>
                <a:spcPct val="120000"/>
              </a:lnSpc>
            </a:pPr>
            <a:r>
              <a:rPr lang="en-US" sz="2500" b="1" dirty="0">
                <a:solidFill>
                  <a:srgbClr val="0070C0"/>
                </a:solidFill>
                <a:latin typeface="Verdana" pitchFamily="34" charset="0"/>
                <a:ea typeface="ヒラギノ角ゴ Pro W3"/>
                <a:cs typeface="ヒラギノ角ゴ Pro W3"/>
              </a:rPr>
              <a:t>3</a:t>
            </a:r>
            <a:r>
              <a:rPr lang="en-US" sz="2500" b="1" dirty="0" smtClean="0">
                <a:solidFill>
                  <a:srgbClr val="0070C0"/>
                </a:solidFill>
                <a:latin typeface="Verdana" pitchFamily="34" charset="0"/>
                <a:ea typeface="ヒラギノ角ゴ Pro W3"/>
                <a:cs typeface="ヒラギノ角ゴ Pro W3"/>
              </a:rPr>
              <a:t>  </a:t>
            </a:r>
            <a:r>
              <a:rPr lang="en-US" sz="2500" b="1" dirty="0" err="1" smtClean="0">
                <a:solidFill>
                  <a:srgbClr val="0070C0"/>
                </a:solidFill>
                <a:latin typeface="Verdana" pitchFamily="34" charset="0"/>
                <a:ea typeface="ヒラギノ角ゴ Pro W3"/>
                <a:cs typeface="ヒラギノ角ゴ Pro W3"/>
              </a:rPr>
              <a:t>Envisionment</a:t>
            </a:r>
            <a:endParaRPr lang="en-US" sz="2500" b="1" dirty="0" smtClean="0">
              <a:solidFill>
                <a:srgbClr val="0070C0"/>
              </a:solidFill>
              <a:latin typeface="Verdana" pitchFamily="34" charset="0"/>
              <a:ea typeface="ヒラギノ角ゴ Pro W3"/>
              <a:cs typeface="ヒラギノ角ゴ Pro W3"/>
            </a:endParaRPr>
          </a:p>
        </p:txBody>
      </p:sp>
      <p:sp>
        <p:nvSpPr>
          <p:cNvPr id="3" name="Text Placeholder 2"/>
          <p:cNvSpPr>
            <a:spLocks noGrp="1"/>
          </p:cNvSpPr>
          <p:nvPr>
            <p:ph type="body" idx="1"/>
          </p:nvPr>
        </p:nvSpPr>
        <p:spPr>
          <a:xfrm>
            <a:off x="432048" y="1207293"/>
            <a:ext cx="8229600" cy="4958011"/>
          </a:xfrm>
        </p:spPr>
        <p:txBody>
          <a:bodyPr>
            <a:noAutofit/>
          </a:bodyPr>
          <a:lstStyle/>
          <a:p>
            <a:pPr algn="just" eaLnBrk="1" hangingPunct="1">
              <a:lnSpc>
                <a:spcPct val="150000"/>
              </a:lnSpc>
            </a:pPr>
            <a:r>
              <a:rPr lang="en-US" sz="1500" dirty="0" smtClean="0">
                <a:latin typeface="Verdana" pitchFamily="34" charset="0"/>
                <a:ea typeface="ヒラギノ角ゴ Pro W3"/>
                <a:cs typeface="ヒラギノ角ゴ Pro W3"/>
              </a:rPr>
              <a:t>Designs need to be visualized both to </a:t>
            </a:r>
            <a:r>
              <a:rPr lang="en-US" sz="1500" b="1" dirty="0" smtClean="0">
                <a:latin typeface="Verdana" pitchFamily="34" charset="0"/>
                <a:ea typeface="ヒラギノ角ゴ Pro W3"/>
                <a:cs typeface="ヒラギノ角ゴ Pro W3"/>
              </a:rPr>
              <a:t>help designers clarify their own ideas </a:t>
            </a:r>
            <a:r>
              <a:rPr lang="en-US" sz="1500" dirty="0" smtClean="0">
                <a:latin typeface="Verdana" pitchFamily="34" charset="0"/>
                <a:ea typeface="ヒラギノ角ゴ Pro W3"/>
                <a:cs typeface="ヒラギノ角ゴ Pro W3"/>
              </a:rPr>
              <a:t>and to </a:t>
            </a:r>
            <a:r>
              <a:rPr lang="en-US" sz="1500" b="1" dirty="0" smtClean="0">
                <a:latin typeface="Verdana" pitchFamily="34" charset="0"/>
                <a:ea typeface="ヒラギノ角ゴ Pro W3"/>
                <a:cs typeface="ヒラギノ角ゴ Pro W3"/>
              </a:rPr>
              <a:t>enable people to evaluate them</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b="1" dirty="0" smtClean="0">
                <a:latin typeface="Verdana" pitchFamily="34" charset="0"/>
                <a:ea typeface="ヒラギノ角ゴ Pro W3"/>
                <a:cs typeface="ヒラギノ角ゴ Pro W3"/>
              </a:rPr>
              <a:t>Envisionment </a:t>
            </a:r>
            <a:r>
              <a:rPr lang="en-US" sz="1500" dirty="0" smtClean="0">
                <a:latin typeface="Verdana" pitchFamily="34" charset="0"/>
                <a:ea typeface="ヒラギノ角ゴ Pro W3"/>
                <a:cs typeface="ヒラギノ角ゴ Pro W3"/>
              </a:rPr>
              <a:t>is concerned with finding appropriate media in which to render design ideas</a:t>
            </a:r>
            <a:r>
              <a:rPr lang="en-US" sz="1500" dirty="0">
                <a:latin typeface="Verdana" pitchFamily="34" charset="0"/>
                <a:ea typeface="ヒラギノ角ゴ Pro W3"/>
                <a:cs typeface="ヒラギノ角ゴ Pro W3"/>
              </a:rPr>
              <a:t>. </a:t>
            </a:r>
            <a:r>
              <a:rPr lang="en-US" sz="1500" dirty="0">
                <a:solidFill>
                  <a:srgbClr val="00B050"/>
                </a:solidFill>
                <a:latin typeface="Verdana" pitchFamily="34" charset="0"/>
                <a:ea typeface="ヒラギノ角ゴ Pro W3"/>
                <a:cs typeface="ヒラギノ角ゴ Pro W3"/>
              </a:rPr>
              <a:t>(</a:t>
            </a:r>
            <a:r>
              <a:rPr lang="en-US" sz="1500" dirty="0" err="1">
                <a:solidFill>
                  <a:srgbClr val="00B050"/>
                </a:solidFill>
                <a:latin typeface="Verdana" pitchFamily="34" charset="0"/>
                <a:ea typeface="ヒラギノ角ゴ Pro W3"/>
                <a:cs typeface="ヒラギノ角ゴ Pro W3"/>
              </a:rPr>
              <a:t>Envisionment</a:t>
            </a:r>
            <a:r>
              <a:rPr lang="en-US" sz="1500" dirty="0">
                <a:solidFill>
                  <a:srgbClr val="00B050"/>
                </a:solidFill>
                <a:latin typeface="Verdana" pitchFamily="34" charset="0"/>
                <a:ea typeface="ヒラギノ角ゴ Pro W3"/>
                <a:cs typeface="ヒラギノ角ゴ Pro W3"/>
              </a:rPr>
              <a:t> is a visual exploration &amp; presentation of key features of design. allows for feedback from users and </a:t>
            </a:r>
            <a:r>
              <a:rPr lang="en-US" sz="1500" dirty="0" smtClean="0">
                <a:solidFill>
                  <a:srgbClr val="00B050"/>
                </a:solidFill>
                <a:latin typeface="Verdana" pitchFamily="34" charset="0"/>
                <a:ea typeface="ヒラギノ角ゴ Pro W3"/>
                <a:cs typeface="ヒラギノ角ゴ Pro W3"/>
              </a:rPr>
              <a:t>clients)</a:t>
            </a:r>
          </a:p>
          <a:p>
            <a:pPr algn="just" eaLnBrk="1" hangingPunct="1">
              <a:lnSpc>
                <a:spcPct val="150000"/>
              </a:lnSpc>
            </a:pPr>
            <a:r>
              <a:rPr lang="en-US" sz="1500" dirty="0" smtClean="0">
                <a:latin typeface="Verdana" pitchFamily="34" charset="0"/>
                <a:ea typeface="ヒラギノ角ゴ Pro W3"/>
                <a:cs typeface="ヒラギノ角ゴ Pro W3"/>
              </a:rPr>
              <a:t>There are many techniques for envisionment, but they include any way in which </a:t>
            </a:r>
            <a:r>
              <a:rPr lang="en-US" sz="1500" b="1" dirty="0" smtClean="0">
                <a:latin typeface="Verdana" pitchFamily="34" charset="0"/>
                <a:ea typeface="ヒラギノ角ゴ Pro W3"/>
                <a:cs typeface="ヒラギノ角ゴ Pro W3"/>
              </a:rPr>
              <a:t>abstract ideas can be brought to life</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Sketches ‘on the back of an envelope’, fully functioning prototypes and cardboard mock-ups are just some of the methods used. </a:t>
            </a:r>
          </a:p>
          <a:p>
            <a:pPr algn="just" eaLnBrk="1" hangingPunct="1">
              <a:lnSpc>
                <a:spcPct val="150000"/>
              </a:lnSpc>
            </a:pPr>
            <a:r>
              <a:rPr lang="en-US" sz="1500" b="1" dirty="0" smtClean="0">
                <a:latin typeface="Verdana" pitchFamily="34" charset="0"/>
                <a:ea typeface="ヒラギノ角ゴ Pro W3"/>
                <a:cs typeface="ヒラギノ角ゴ Pro W3"/>
              </a:rPr>
              <a:t>Scenarios</a:t>
            </a:r>
            <a:r>
              <a:rPr lang="en-US" sz="1500" dirty="0" smtClean="0">
                <a:latin typeface="Verdana" pitchFamily="34" charset="0"/>
                <a:ea typeface="ヒラギノ角ゴ Pro W3"/>
                <a:cs typeface="ヒラギノ角ゴ Pro W3"/>
              </a:rPr>
              <a:t>, sometimes represented in pictorial form as storyboards, are an essential part of prototyping and envisionment. They </a:t>
            </a:r>
            <a:r>
              <a:rPr lang="en-US" sz="1500" b="1" dirty="0" smtClean="0">
                <a:latin typeface="Verdana" pitchFamily="34" charset="0"/>
                <a:ea typeface="ヒラギノ角ゴ Pro W3"/>
                <a:cs typeface="ヒラギノ角ゴ Pro W3"/>
              </a:rPr>
              <a:t>provide a way of working </a:t>
            </a:r>
            <a:r>
              <a:rPr lang="en-US" sz="1500" dirty="0" smtClean="0">
                <a:latin typeface="Verdana" pitchFamily="34" charset="0"/>
                <a:ea typeface="ヒラギノ角ゴ Pro W3"/>
                <a:cs typeface="ヒラギノ角ゴ Pro W3"/>
              </a:rPr>
              <a:t>through a design idea so that the key issues stand out. </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p:cNvSpPr>
            <a:spLocks noGrp="1"/>
          </p:cNvSpPr>
          <p:nvPr>
            <p:ph type="title"/>
          </p:nvPr>
        </p:nvSpPr>
        <p:spPr>
          <a:xfrm>
            <a:off x="457200" y="274638"/>
            <a:ext cx="8229600" cy="634082"/>
          </a:xfrm>
        </p:spPr>
        <p:txBody>
          <a:bodyPr/>
          <a:lstStyle/>
          <a:p>
            <a:pPr eaLnBrk="1" hangingPunct="1">
              <a:lnSpc>
                <a:spcPct val="120000"/>
              </a:lnSpc>
            </a:pPr>
            <a:r>
              <a:rPr lang="en-US" sz="2500" b="1" dirty="0">
                <a:solidFill>
                  <a:srgbClr val="0070C0"/>
                </a:solidFill>
                <a:latin typeface="Verdana" pitchFamily="34" charset="0"/>
                <a:ea typeface="ヒラギノ角ゴ Pro W3"/>
                <a:cs typeface="ヒラギノ角ゴ Pro W3"/>
              </a:rPr>
              <a:t>4</a:t>
            </a:r>
            <a:r>
              <a:rPr lang="en-US" sz="2500" b="1" dirty="0" smtClean="0">
                <a:solidFill>
                  <a:srgbClr val="0070C0"/>
                </a:solidFill>
                <a:latin typeface="Verdana" pitchFamily="34" charset="0"/>
                <a:ea typeface="ヒラギノ角ゴ Pro W3"/>
                <a:cs typeface="ヒラギノ角ゴ Pro W3"/>
              </a:rPr>
              <a:t>  Evaluation</a:t>
            </a:r>
          </a:p>
        </p:txBody>
      </p:sp>
      <p:sp>
        <p:nvSpPr>
          <p:cNvPr id="3" name="Text Placeholder 2"/>
          <p:cNvSpPr>
            <a:spLocks noGrp="1"/>
          </p:cNvSpPr>
          <p:nvPr>
            <p:ph type="body" idx="1"/>
          </p:nvPr>
        </p:nvSpPr>
        <p:spPr>
          <a:xfrm>
            <a:off x="447476" y="908720"/>
            <a:ext cx="8229600" cy="5328592"/>
          </a:xfrm>
        </p:spPr>
        <p:txBody>
          <a:bodyPr>
            <a:normAutofit fontScale="92500" lnSpcReduction="10000"/>
          </a:bodyPr>
          <a:lstStyle/>
          <a:p>
            <a:pPr algn="just" eaLnBrk="1" hangingPunct="1">
              <a:lnSpc>
                <a:spcPct val="170000"/>
              </a:lnSpc>
            </a:pPr>
            <a:r>
              <a:rPr lang="en-US" sz="1500" dirty="0" smtClean="0">
                <a:latin typeface="Verdana" pitchFamily="34" charset="0"/>
                <a:ea typeface="ヒラギノ角ゴ Pro W3"/>
                <a:cs typeface="ヒラギノ角ゴ Pro W3"/>
              </a:rPr>
              <a:t>Evaluation is tightly coupled with envisionment because the </a:t>
            </a:r>
            <a:r>
              <a:rPr lang="en-US" sz="1500" b="1" dirty="0" smtClean="0">
                <a:latin typeface="Verdana" pitchFamily="34" charset="0"/>
                <a:ea typeface="ヒラギノ角ゴ Pro W3"/>
                <a:cs typeface="ヒラギノ角ゴ Pro W3"/>
              </a:rPr>
              <a:t>nature of the representation used will affect what can be evaluated</a:t>
            </a:r>
            <a:r>
              <a:rPr lang="en-US" sz="1500" dirty="0" smtClean="0">
                <a:latin typeface="Verdana" pitchFamily="34" charset="0"/>
                <a:ea typeface="ヒラギノ角ゴ Pro W3"/>
                <a:cs typeface="ヒラギノ角ゴ Pro W3"/>
              </a:rPr>
              <a:t>. </a:t>
            </a:r>
          </a:p>
          <a:p>
            <a:pPr algn="just" eaLnBrk="1" hangingPunct="1">
              <a:lnSpc>
                <a:spcPct val="170000"/>
              </a:lnSpc>
            </a:pPr>
            <a:r>
              <a:rPr lang="en-US" sz="1500" dirty="0" smtClean="0">
                <a:latin typeface="Verdana" pitchFamily="34" charset="0"/>
                <a:ea typeface="ヒラギノ角ゴ Pro W3"/>
                <a:cs typeface="ヒラギノ角ゴ Pro W3"/>
              </a:rPr>
              <a:t>The evaluation criteria will also depend on who is able to use the representation. </a:t>
            </a:r>
          </a:p>
          <a:p>
            <a:pPr algn="just" eaLnBrk="1" hangingPunct="1">
              <a:lnSpc>
                <a:spcPct val="170000"/>
              </a:lnSpc>
            </a:pPr>
            <a:r>
              <a:rPr lang="en-US" sz="1500" dirty="0" smtClean="0">
                <a:latin typeface="Verdana" pitchFamily="34" charset="0"/>
                <a:ea typeface="ヒラギノ角ゴ Pro W3"/>
                <a:cs typeface="ヒラギノ角ゴ Pro W3"/>
              </a:rPr>
              <a:t>Any of the other </a:t>
            </a:r>
            <a:r>
              <a:rPr lang="en-US" sz="1500" b="1" dirty="0" smtClean="0">
                <a:latin typeface="Verdana" pitchFamily="34" charset="0"/>
                <a:ea typeface="ヒラギノ角ゴ Pro W3"/>
                <a:cs typeface="ヒラギノ角ゴ Pro W3"/>
              </a:rPr>
              <a:t>design activities will be followed by an evaluation</a:t>
            </a:r>
            <a:r>
              <a:rPr lang="en-US" sz="1500" dirty="0" smtClean="0">
                <a:latin typeface="Verdana" pitchFamily="34" charset="0"/>
                <a:ea typeface="ヒラギノ角ゴ Pro W3"/>
                <a:cs typeface="ヒラギノ角ゴ Pro W3"/>
              </a:rPr>
              <a:t>. </a:t>
            </a:r>
          </a:p>
          <a:p>
            <a:pPr algn="just" eaLnBrk="1" hangingPunct="1">
              <a:lnSpc>
                <a:spcPct val="170000"/>
              </a:lnSpc>
            </a:pPr>
            <a:r>
              <a:rPr lang="en-US" sz="1500" dirty="0" smtClean="0">
                <a:latin typeface="Verdana" pitchFamily="34" charset="0"/>
                <a:ea typeface="ヒラギノ角ゴ Pro W3"/>
                <a:cs typeface="ヒラギノ角ゴ Pro W3"/>
              </a:rPr>
              <a:t>Sometimes, this is simply the </a:t>
            </a:r>
            <a:r>
              <a:rPr lang="en-US" sz="1500" b="1" dirty="0" smtClean="0">
                <a:latin typeface="Verdana" pitchFamily="34" charset="0"/>
                <a:ea typeface="ヒラギノ角ゴ Pro W3"/>
                <a:cs typeface="ヒラギノ角ゴ Pro W3"/>
              </a:rPr>
              <a:t>designer checking </a:t>
            </a:r>
            <a:r>
              <a:rPr lang="en-US" sz="1500" dirty="0" smtClean="0">
                <a:latin typeface="Verdana" pitchFamily="34" charset="0"/>
                <a:ea typeface="ヒラギノ角ゴ Pro W3"/>
                <a:cs typeface="ヒラギノ角ゴ Pro W3"/>
              </a:rPr>
              <a:t>through to make sure something is complete and correct. </a:t>
            </a:r>
          </a:p>
          <a:p>
            <a:pPr algn="just" eaLnBrk="1" hangingPunct="1">
              <a:lnSpc>
                <a:spcPct val="170000"/>
              </a:lnSpc>
            </a:pPr>
            <a:r>
              <a:rPr lang="en-US" sz="1500" dirty="0" smtClean="0">
                <a:latin typeface="Verdana" pitchFamily="34" charset="0"/>
                <a:ea typeface="ヒラギノ角ゴ Pro W3"/>
                <a:cs typeface="ヒラギノ角ゴ Pro W3"/>
              </a:rPr>
              <a:t>It </a:t>
            </a:r>
            <a:r>
              <a:rPr lang="en-US" sz="1500" b="1" dirty="0" smtClean="0">
                <a:latin typeface="Verdana" pitchFamily="34" charset="0"/>
                <a:ea typeface="ヒラギノ角ゴ Pro W3"/>
                <a:cs typeface="ヒラギノ角ゴ Pro W3"/>
              </a:rPr>
              <a:t>could be a list of requirements or a high-level design brief</a:t>
            </a:r>
            <a:r>
              <a:rPr lang="en-US" sz="1500" dirty="0" smtClean="0">
                <a:latin typeface="Verdana" pitchFamily="34" charset="0"/>
                <a:ea typeface="ヒラギノ角ゴ Pro W3"/>
                <a:cs typeface="ヒラギノ角ゴ Pro W3"/>
              </a:rPr>
              <a:t> that is sent to a client, an abstract conceptual model that is discussed with a colleague, or a formal evaluation of a functional prototype by the future system users.</a:t>
            </a:r>
          </a:p>
          <a:p>
            <a:pPr algn="just" eaLnBrk="1" hangingPunct="1">
              <a:lnSpc>
                <a:spcPct val="170000"/>
              </a:lnSpc>
            </a:pPr>
            <a:r>
              <a:rPr lang="en-US" sz="1500" b="1" dirty="0" smtClean="0">
                <a:latin typeface="Verdana" pitchFamily="34" charset="0"/>
                <a:ea typeface="ヒラギノ角ゴ Pro W3"/>
                <a:cs typeface="ヒラギノ角ゴ Pro W3"/>
              </a:rPr>
              <a:t>Techniques for evaluation are many </a:t>
            </a:r>
            <a:r>
              <a:rPr lang="en-US" sz="1500" dirty="0" smtClean="0">
                <a:latin typeface="Verdana" pitchFamily="34" charset="0"/>
                <a:ea typeface="ヒラギノ角ゴ Pro W3"/>
                <a:cs typeface="ヒラギノ角ゴ Pro W3"/>
              </a:rPr>
              <a:t>and various depending once again on the circumstances. </a:t>
            </a:r>
          </a:p>
          <a:p>
            <a:pPr algn="just" eaLnBrk="1" hangingPunct="1">
              <a:lnSpc>
                <a:spcPct val="170000"/>
              </a:lnSpc>
            </a:pPr>
            <a:r>
              <a:rPr lang="en-US" sz="1500" dirty="0" smtClean="0">
                <a:latin typeface="Verdana" pitchFamily="34" charset="0"/>
                <a:ea typeface="ヒラギノ角ゴ Pro W3"/>
                <a:cs typeface="ヒラギノ角ゴ Pro W3"/>
              </a:rPr>
              <a:t>The </a:t>
            </a:r>
            <a:r>
              <a:rPr lang="en-US" sz="1500" b="1" dirty="0" smtClean="0">
                <a:latin typeface="Verdana" pitchFamily="34" charset="0"/>
                <a:ea typeface="ヒラギノ角ゴ Pro W3"/>
                <a:cs typeface="ヒラギノ角ゴ Pro W3"/>
              </a:rPr>
              <a:t>important thing </a:t>
            </a:r>
            <a:r>
              <a:rPr lang="en-US" sz="1500" dirty="0" smtClean="0">
                <a:latin typeface="Verdana" pitchFamily="34" charset="0"/>
                <a:ea typeface="ヒラギノ角ゴ Pro W3"/>
                <a:cs typeface="ヒラギノ角ゴ Pro W3"/>
              </a:rPr>
              <a:t>to keep in mind is that the </a:t>
            </a:r>
            <a:r>
              <a:rPr lang="en-US" sz="1500" b="1" dirty="0" smtClean="0">
                <a:latin typeface="Verdana" pitchFamily="34" charset="0"/>
                <a:ea typeface="ヒラギノ角ゴ Pro W3"/>
                <a:cs typeface="ヒラギノ角ゴ Pro W3"/>
              </a:rPr>
              <a:t>technique used must be appropriate for the nature of the representation, the questions being asked and the people involved in the evaluation</a:t>
            </a:r>
            <a:r>
              <a:rPr lang="en-US" sz="1500" dirty="0" smtClean="0">
                <a:latin typeface="Verdana" pitchFamily="34" charset="0"/>
                <a:ea typeface="ヒラギノ角ゴ Pro W3"/>
                <a:cs typeface="ヒラギノ角ゴ Pro W3"/>
              </a:rPr>
              <a: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a:xfrm>
            <a:off x="457200" y="274638"/>
            <a:ext cx="8229600" cy="706090"/>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Implementation</a:t>
            </a:r>
          </a:p>
        </p:txBody>
      </p:sp>
      <p:sp>
        <p:nvSpPr>
          <p:cNvPr id="3" name="Text Placeholder 2"/>
          <p:cNvSpPr>
            <a:spLocks noGrp="1"/>
          </p:cNvSpPr>
          <p:nvPr>
            <p:ph type="body" idx="1"/>
          </p:nvPr>
        </p:nvSpPr>
        <p:spPr>
          <a:xfrm>
            <a:off x="251520" y="980728"/>
            <a:ext cx="8640960" cy="5400600"/>
          </a:xfrm>
        </p:spPr>
        <p:txBody>
          <a:bodyPr>
            <a:noAutofit/>
          </a:bodyPr>
          <a:lstStyle/>
          <a:p>
            <a:pPr algn="just" eaLnBrk="1" hangingPunct="1">
              <a:lnSpc>
                <a:spcPct val="150000"/>
              </a:lnSpc>
            </a:pPr>
            <a:r>
              <a:rPr lang="en-US" sz="1500" dirty="0" smtClean="0">
                <a:latin typeface="Verdana" pitchFamily="34" charset="0"/>
                <a:ea typeface="ヒラギノ角ゴ Pro W3"/>
                <a:cs typeface="ヒラギノ角ゴ Pro W3"/>
              </a:rPr>
              <a:t>Ultimately things </a:t>
            </a:r>
            <a:r>
              <a:rPr lang="en-US" sz="1500" b="1" dirty="0" smtClean="0">
                <a:latin typeface="Verdana" pitchFamily="34" charset="0"/>
                <a:ea typeface="ヒラギノ角ゴ Pro W3"/>
                <a:cs typeface="ヒラギノ角ゴ Pro W3"/>
              </a:rPr>
              <a:t>have to be engineered &amp; software </a:t>
            </a:r>
            <a:r>
              <a:rPr lang="en-US" sz="1500" dirty="0" smtClean="0">
                <a:latin typeface="Verdana" pitchFamily="34" charset="0"/>
                <a:ea typeface="ヒラギノ角ゴ Pro W3"/>
                <a:cs typeface="ヒラギノ角ゴ Pro W3"/>
              </a:rPr>
              <a:t>has to be written &amp; tested</a:t>
            </a:r>
          </a:p>
          <a:p>
            <a:pPr algn="just" eaLnBrk="1" hangingPunct="1">
              <a:lnSpc>
                <a:spcPct val="150000"/>
              </a:lnSpc>
            </a:pPr>
            <a:r>
              <a:rPr lang="en-US" sz="1500" dirty="0" smtClean="0">
                <a:latin typeface="Verdana" pitchFamily="34" charset="0"/>
                <a:ea typeface="ヒラギノ角ゴ Pro W3"/>
                <a:cs typeface="ヒラギノ角ゴ Pro W3"/>
              </a:rPr>
              <a:t>Databases have to be designed </a:t>
            </a:r>
            <a:r>
              <a:rPr lang="en-US" sz="1500" dirty="0">
                <a:latin typeface="Verdana" pitchFamily="34" charset="0"/>
                <a:ea typeface="ヒラギノ角ゴ Pro W3"/>
                <a:cs typeface="ヒラギノ角ゴ Pro W3"/>
              </a:rPr>
              <a:t>&amp;</a:t>
            </a:r>
            <a:r>
              <a:rPr lang="en-US" sz="1500" dirty="0" smtClean="0">
                <a:latin typeface="Verdana" pitchFamily="34" charset="0"/>
                <a:ea typeface="ヒラギノ角ゴ Pro W3"/>
                <a:cs typeface="ヒラギノ角ゴ Pro W3"/>
              </a:rPr>
              <a:t> populated, and programs have to be validated</a:t>
            </a:r>
          </a:p>
          <a:p>
            <a:pPr algn="just" eaLnBrk="1" hangingPunct="1">
              <a:lnSpc>
                <a:spcPct val="150000"/>
              </a:lnSpc>
            </a:pPr>
            <a:r>
              <a:rPr lang="en-US" sz="1500" b="1" dirty="0" smtClean="0">
                <a:latin typeface="Verdana" pitchFamily="34" charset="0"/>
                <a:ea typeface="ヒラギノ角ゴ Pro W3"/>
                <a:cs typeface="ヒラギノ角ゴ Pro W3"/>
              </a:rPr>
              <a:t>whole system needs to be checked </a:t>
            </a:r>
            <a:r>
              <a:rPr lang="en-US" sz="1500" dirty="0" smtClean="0">
                <a:latin typeface="Verdana" pitchFamily="34" charset="0"/>
                <a:ea typeface="ヒラギノ角ゴ Pro W3"/>
                <a:cs typeface="ヒラギノ角ゴ Pro W3"/>
              </a:rPr>
              <a:t>to ensure that it </a:t>
            </a:r>
            <a:r>
              <a:rPr lang="en-US" sz="1500" b="1" dirty="0" smtClean="0">
                <a:latin typeface="Verdana" pitchFamily="34" charset="0"/>
                <a:ea typeface="ヒラギノ角ゴ Pro W3"/>
                <a:cs typeface="ヒラギノ角ゴ Pro W3"/>
              </a:rPr>
              <a:t>meets the requirements </a:t>
            </a:r>
            <a:r>
              <a:rPr lang="en-US" sz="1500" dirty="0" smtClean="0">
                <a:latin typeface="Verdana" pitchFamily="34" charset="0"/>
                <a:ea typeface="ヒラギノ角ゴ Pro W3"/>
                <a:cs typeface="ヒラギノ角ゴ Pro W3"/>
              </a:rPr>
              <a:t>until finally the system can be formally </a:t>
            </a:r>
            <a:r>
              <a:rPr lang="en-US" sz="1500" b="1" dirty="0" smtClean="0">
                <a:latin typeface="Verdana" pitchFamily="34" charset="0"/>
                <a:ea typeface="ヒラギノ角ゴ Pro W3"/>
                <a:cs typeface="ヒラギノ角ゴ Pro W3"/>
              </a:rPr>
              <a:t>‘launched’ and signed off as finished</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Clients will often want </a:t>
            </a:r>
            <a:r>
              <a:rPr lang="en-US" sz="1500" b="1" dirty="0" smtClean="0">
                <a:latin typeface="Verdana" pitchFamily="34" charset="0"/>
                <a:ea typeface="ヒラギノ角ゴ Pro W3"/>
                <a:cs typeface="ヒラギノ角ゴ Pro W3"/>
              </a:rPr>
              <a:t>extra features </a:t>
            </a:r>
            <a:r>
              <a:rPr lang="en-US" sz="1500" dirty="0" smtClean="0">
                <a:latin typeface="Verdana" pitchFamily="34" charset="0"/>
                <a:ea typeface="ヒラギノ角ゴ Pro W3"/>
                <a:cs typeface="ヒラギノ角ゴ Pro W3"/>
              </a:rPr>
              <a:t>when they see a system nearing completion, but these will have to be </a:t>
            </a:r>
            <a:r>
              <a:rPr lang="en-US" sz="1500" b="1" dirty="0" smtClean="0">
                <a:latin typeface="Verdana" pitchFamily="34" charset="0"/>
                <a:ea typeface="ヒラギノ角ゴ Pro W3"/>
                <a:cs typeface="ヒラギノ角ゴ Pro W3"/>
              </a:rPr>
              <a:t>costed and paid for</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On the other hand, the developers need to ensure that their </a:t>
            </a:r>
            <a:r>
              <a:rPr lang="en-US" sz="1500" b="1" dirty="0" smtClean="0">
                <a:latin typeface="Verdana" pitchFamily="34" charset="0"/>
                <a:ea typeface="ヒラギノ角ゴ Pro W3"/>
                <a:cs typeface="ヒラギノ角ゴ Pro W3"/>
              </a:rPr>
              <a:t>system really does meet the specification </a:t>
            </a:r>
            <a:r>
              <a:rPr lang="en-US" sz="1500" dirty="0" smtClean="0">
                <a:latin typeface="Verdana" pitchFamily="34" charset="0"/>
                <a:ea typeface="ヒラギノ角ゴ Pro W3"/>
                <a:cs typeface="ヒラギノ角ゴ Pro W3"/>
              </a:rPr>
              <a:t>and does </a:t>
            </a:r>
            <a:r>
              <a:rPr lang="en-US" sz="1500" b="1" dirty="0" smtClean="0">
                <a:latin typeface="Verdana" pitchFamily="34" charset="0"/>
                <a:ea typeface="ヒラギノ角ゴ Pro W3"/>
                <a:cs typeface="ヒラギノ角ゴ Pro W3"/>
              </a:rPr>
              <a:t>not contain any ‘bugs</a:t>
            </a:r>
            <a:r>
              <a:rPr lang="en-US" sz="1500" dirty="0" smtClean="0">
                <a:latin typeface="Verdana" pitchFamily="34" charset="0"/>
                <a:ea typeface="ヒラギノ角ゴ Pro W3"/>
                <a:cs typeface="ヒラギノ角ゴ Pro W3"/>
              </a:rPr>
              <a:t>’.</a:t>
            </a:r>
          </a:p>
          <a:p>
            <a:pPr algn="just" eaLnBrk="1" hangingPunct="1">
              <a:lnSpc>
                <a:spcPct val="150000"/>
              </a:lnSpc>
            </a:pPr>
            <a:r>
              <a:rPr lang="en-US" sz="1500" b="1" dirty="0" smtClean="0">
                <a:latin typeface="Verdana" pitchFamily="34" charset="0"/>
                <a:ea typeface="ヒラギノ角ゴ Pro W3"/>
                <a:cs typeface="ヒラギノ角ゴ Pro W3"/>
              </a:rPr>
              <a:t>If interactive systems designers were architects</a:t>
            </a:r>
            <a:r>
              <a:rPr lang="en-US" sz="1500" dirty="0" smtClean="0">
                <a:latin typeface="Verdana" pitchFamily="34" charset="0"/>
                <a:ea typeface="ヒラギノ角ゴ Pro W3"/>
                <a:cs typeface="ヒラギノ角ゴ Pro W3"/>
              </a:rPr>
              <a:t>, they would have well understood methods &amp; conventions for specifying the results of the design process. </a:t>
            </a:r>
          </a:p>
          <a:p>
            <a:pPr algn="just" eaLnBrk="1" hangingPunct="1">
              <a:lnSpc>
                <a:spcPct val="150000"/>
              </a:lnSpc>
            </a:pPr>
            <a:r>
              <a:rPr lang="en-US" sz="1500" dirty="0" smtClean="0">
                <a:latin typeface="Verdana" pitchFamily="34" charset="0"/>
                <a:ea typeface="ヒラギノ角ゴ Pro W3"/>
                <a:cs typeface="ヒラギノ角ゴ Pro W3"/>
              </a:rPr>
              <a:t>They would produce various blueprints from different elevations and engineering specifications for particular aspects of the design. </a:t>
            </a:r>
          </a:p>
          <a:p>
            <a:pPr algn="just" eaLnBrk="1" hangingPunct="1">
              <a:lnSpc>
                <a:spcPct val="150000"/>
              </a:lnSpc>
            </a:pPr>
            <a:r>
              <a:rPr lang="en-US" sz="1500" dirty="0" smtClean="0">
                <a:latin typeface="Verdana" pitchFamily="34" charset="0"/>
                <a:ea typeface="ヒラギノ角ゴ Pro W3"/>
                <a:cs typeface="ヒラギノ角ゴ Pro W3"/>
              </a:rPr>
              <a:t>In </a:t>
            </a:r>
            <a:r>
              <a:rPr lang="en-US" sz="1500" b="1" dirty="0" smtClean="0">
                <a:latin typeface="Verdana" pitchFamily="34" charset="0"/>
                <a:ea typeface="ヒラギノ角ゴ Pro W3"/>
                <a:cs typeface="ヒラギノ角ゴ Pro W3"/>
              </a:rPr>
              <a:t>interactive systems design</a:t>
            </a:r>
            <a:r>
              <a:rPr lang="en-US" sz="1500" dirty="0" smtClean="0">
                <a:latin typeface="Verdana" pitchFamily="34" charset="0"/>
                <a:ea typeface="ヒラギノ角ゴ Pro W3"/>
                <a:cs typeface="ヒラギノ角ゴ Pro W3"/>
              </a:rPr>
              <a:t>, there are a variety of </a:t>
            </a:r>
            <a:r>
              <a:rPr lang="en-US" sz="1500" b="1" dirty="0" smtClean="0">
                <a:latin typeface="Verdana" pitchFamily="34" charset="0"/>
                <a:ea typeface="ヒラギノ角ゴ Pro W3"/>
                <a:cs typeface="ヒラギノ角ゴ Pro W3"/>
              </a:rPr>
              <a:t>formal, semi-formal and informal methods of specification</a:t>
            </a:r>
            <a:r>
              <a:rPr lang="en-US" sz="1500" dirty="0" smtClean="0">
                <a:latin typeface="Verdana" pitchFamily="34" charset="0"/>
                <a:ea typeface="ヒラギノ角ゴ Pro W3"/>
                <a:cs typeface="ヒラギノ角ゴ Pro W3"/>
              </a:rPr>
              <a:t>. </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a:xfrm>
            <a:off x="457200" y="274638"/>
            <a:ext cx="8229600" cy="418058"/>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Agile development</a:t>
            </a:r>
          </a:p>
        </p:txBody>
      </p:sp>
      <p:sp>
        <p:nvSpPr>
          <p:cNvPr id="3" name="Text Placeholder 2"/>
          <p:cNvSpPr>
            <a:spLocks noGrp="1"/>
          </p:cNvSpPr>
          <p:nvPr>
            <p:ph type="body" idx="1"/>
          </p:nvPr>
        </p:nvSpPr>
        <p:spPr>
          <a:xfrm>
            <a:off x="107504" y="692696"/>
            <a:ext cx="8856984" cy="5544616"/>
          </a:xfrm>
        </p:spPr>
        <p:txBody>
          <a:bodyPr>
            <a:noAutofit/>
          </a:bodyPr>
          <a:lstStyle/>
          <a:p>
            <a:pPr algn="just" eaLnBrk="1" hangingPunct="1">
              <a:lnSpc>
                <a:spcPct val="170000"/>
              </a:lnSpc>
            </a:pPr>
            <a:r>
              <a:rPr lang="en-US" sz="1400" dirty="0" smtClean="0">
                <a:latin typeface="Verdana" pitchFamily="34" charset="0"/>
                <a:ea typeface="ヒラギノ角ゴ Pro W3"/>
                <a:cs typeface="ヒラギノ角ゴ Pro W3"/>
              </a:rPr>
              <a:t>Over the last few years, there has been a move away from large software engineering approaches to the development of interactive systems towards ‘agile’ development methods</a:t>
            </a:r>
          </a:p>
          <a:p>
            <a:pPr algn="just" eaLnBrk="1" hangingPunct="1">
              <a:lnSpc>
                <a:spcPct val="170000"/>
              </a:lnSpc>
            </a:pPr>
            <a:r>
              <a:rPr lang="en-US" sz="1400" dirty="0" smtClean="0">
                <a:latin typeface="Verdana" pitchFamily="34" charset="0"/>
                <a:ea typeface="ヒラギノ角ゴ Pro W3"/>
                <a:cs typeface="ヒラギノ角ゴ Pro W3"/>
              </a:rPr>
              <a:t>These (agile dev.) are </a:t>
            </a:r>
            <a:r>
              <a:rPr lang="en-US" sz="1400" b="1" dirty="0" smtClean="0">
                <a:latin typeface="Verdana" pitchFamily="34" charset="0"/>
                <a:ea typeface="ヒラギノ角ゴ Pro W3"/>
                <a:cs typeface="ヒラギノ角ゴ Pro W3"/>
              </a:rPr>
              <a:t>designed to produce effective systems of high quality </a:t>
            </a:r>
            <a:r>
              <a:rPr lang="en-US" sz="1400" dirty="0" smtClean="0">
                <a:latin typeface="Verdana" pitchFamily="34" charset="0"/>
                <a:ea typeface="ヒラギノ角ゴ Pro W3"/>
                <a:cs typeface="ヒラギノ角ゴ Pro W3"/>
              </a:rPr>
              <a:t>that are </a:t>
            </a:r>
            <a:r>
              <a:rPr lang="en-US" sz="1400" b="1" dirty="0" smtClean="0">
                <a:latin typeface="Verdana" pitchFamily="34" charset="0"/>
                <a:ea typeface="ヒラギノ角ゴ Pro W3"/>
                <a:cs typeface="ヒラギノ角ゴ Pro W3"/>
              </a:rPr>
              <a:t>fit for purpose</a:t>
            </a:r>
            <a:r>
              <a:rPr lang="en-US" sz="1400" dirty="0" smtClean="0">
                <a:latin typeface="Verdana" pitchFamily="34" charset="0"/>
                <a:ea typeface="ヒラギノ角ゴ Pro W3"/>
                <a:cs typeface="ヒラギノ角ゴ Pro W3"/>
              </a:rPr>
              <a:t>, but </a:t>
            </a:r>
            <a:r>
              <a:rPr lang="en-US" sz="1400" b="1" dirty="0" smtClean="0">
                <a:latin typeface="Verdana" pitchFamily="34" charset="0"/>
                <a:ea typeface="ヒラギノ角ゴ Pro W3"/>
                <a:cs typeface="ヒラギノ角ゴ Pro W3"/>
              </a:rPr>
              <a:t>without the huge overhead</a:t>
            </a:r>
            <a:r>
              <a:rPr lang="en-US" sz="1400" dirty="0" smtClean="0">
                <a:latin typeface="Verdana" pitchFamily="34" charset="0"/>
                <a:ea typeface="ヒラギノ角ゴ Pro W3"/>
                <a:cs typeface="ヒラギノ角ゴ Pro W3"/>
              </a:rPr>
              <a:t> associated with the planning and documentation of a large IT project.</a:t>
            </a:r>
          </a:p>
          <a:p>
            <a:pPr algn="just" eaLnBrk="1" hangingPunct="1">
              <a:lnSpc>
                <a:spcPct val="170000"/>
              </a:lnSpc>
            </a:pPr>
            <a:r>
              <a:rPr lang="en-US" sz="1400" dirty="0" smtClean="0">
                <a:latin typeface="Verdana" pitchFamily="34" charset="0"/>
                <a:ea typeface="ヒラギノ角ゴ Pro W3"/>
                <a:cs typeface="ヒラギノ角ゴ Pro W3"/>
              </a:rPr>
              <a:t>There are a number of competing methods, but probably the </a:t>
            </a:r>
            <a:r>
              <a:rPr lang="en-US" sz="1400" b="1" dirty="0" smtClean="0">
                <a:latin typeface="Verdana" pitchFamily="34" charset="0"/>
                <a:ea typeface="ヒラギノ角ゴ Pro W3"/>
                <a:cs typeface="ヒラギノ角ゴ Pro W3"/>
              </a:rPr>
              <a:t>best known comes from DSDM</a:t>
            </a:r>
            <a:r>
              <a:rPr lang="en-US" sz="1400" dirty="0" smtClean="0">
                <a:latin typeface="Verdana" pitchFamily="34" charset="0"/>
                <a:ea typeface="ヒラギノ角ゴ Pro W3"/>
                <a:cs typeface="ヒラギノ角ゴ Pro W3"/>
              </a:rPr>
              <a:t>, a not-for-profit consortium of software development companies.</a:t>
            </a:r>
          </a:p>
          <a:p>
            <a:pPr algn="just" eaLnBrk="1" hangingPunct="1">
              <a:lnSpc>
                <a:spcPct val="170000"/>
              </a:lnSpc>
            </a:pPr>
            <a:r>
              <a:rPr lang="en-US" sz="1400" dirty="0" smtClean="0">
                <a:latin typeface="Verdana" pitchFamily="34" charset="0"/>
                <a:ea typeface="ヒラギノ角ゴ Pro W3"/>
                <a:cs typeface="ヒラギノ角ゴ Pro W3"/>
              </a:rPr>
              <a:t>Their </a:t>
            </a:r>
            <a:r>
              <a:rPr lang="en-US" sz="1400" b="1" dirty="0" smtClean="0">
                <a:latin typeface="Verdana" pitchFamily="34" charset="0"/>
                <a:ea typeface="ヒラギノ角ゴ Pro W3"/>
                <a:cs typeface="ヒラギノ角ゴ Pro W3"/>
              </a:rPr>
              <a:t>system, called </a:t>
            </a:r>
            <a:r>
              <a:rPr lang="en-US" sz="1400" b="1" dirty="0" err="1" smtClean="0">
                <a:latin typeface="Verdana" pitchFamily="34" charset="0"/>
                <a:ea typeface="ヒラギノ角ゴ Pro W3"/>
                <a:cs typeface="ヒラギノ角ゴ Pro W3"/>
              </a:rPr>
              <a:t>Atern</a:t>
            </a:r>
            <a:r>
              <a:rPr lang="en-US" sz="1400" dirty="0" smtClean="0">
                <a:latin typeface="Verdana" pitchFamily="34" charset="0"/>
                <a:ea typeface="ヒラギノ角ゴ Pro W3"/>
                <a:cs typeface="ヒラギノ角ゴ Pro W3"/>
              </a:rPr>
              <a:t>, is fully documented showing how software can be developed in small teams.</a:t>
            </a:r>
          </a:p>
          <a:p>
            <a:pPr algn="just" eaLnBrk="1" hangingPunct="1">
              <a:lnSpc>
                <a:spcPct val="170000"/>
              </a:lnSpc>
            </a:pPr>
            <a:r>
              <a:rPr lang="en-US" sz="1400" dirty="0" smtClean="0">
                <a:latin typeface="Verdana" pitchFamily="34" charset="0"/>
                <a:ea typeface="ヒラギノ角ゴ Pro W3"/>
                <a:cs typeface="ヒラギノ角ゴ Pro W3"/>
              </a:rPr>
              <a:t>There is still plenty of debate about how well these methods, such as extreme programming) , fit in with human-</a:t>
            </a:r>
            <a:r>
              <a:rPr lang="en-US" sz="1400" dirty="0" err="1" smtClean="0">
                <a:latin typeface="Verdana" pitchFamily="34" charset="0"/>
                <a:ea typeface="ヒラギノ角ゴ Pro W3"/>
                <a:cs typeface="ヒラギノ角ゴ Pro W3"/>
              </a:rPr>
              <a:t>centred</a:t>
            </a:r>
            <a:r>
              <a:rPr lang="en-US" sz="1400" dirty="0" smtClean="0">
                <a:latin typeface="Verdana" pitchFamily="34" charset="0"/>
                <a:ea typeface="ヒラギノ角ゴ Pro W3"/>
                <a:cs typeface="ヒラギノ角ゴ Pro W3"/>
              </a:rPr>
              <a:t> approaches, but </a:t>
            </a:r>
            <a:r>
              <a:rPr lang="en-US" sz="1400" b="1" dirty="0" smtClean="0">
                <a:latin typeface="Verdana" pitchFamily="34" charset="0"/>
                <a:ea typeface="ヒラギノ角ゴ Pro W3"/>
                <a:cs typeface="ヒラギノ角ゴ Pro W3"/>
              </a:rPr>
              <a:t>many of the methods do promote participation between developers and stakeholders</a:t>
            </a:r>
          </a:p>
          <a:p>
            <a:pPr marL="0" indent="0" algn="just" eaLnBrk="1" hangingPunct="1">
              <a:lnSpc>
                <a:spcPct val="170000"/>
              </a:lnSpc>
              <a:buNone/>
            </a:pPr>
            <a:r>
              <a:rPr lang="en-US" sz="1400" b="1" dirty="0" smtClean="0">
                <a:solidFill>
                  <a:srgbClr val="00B050"/>
                </a:solidFill>
                <a:latin typeface="Verdana" pitchFamily="34" charset="0"/>
                <a:ea typeface="ヒラギノ角ゴ Pro W3"/>
                <a:cs typeface="ヒラギノ角ゴ Pro W3"/>
              </a:rPr>
              <a:t>DSDM </a:t>
            </a:r>
            <a:r>
              <a:rPr lang="en-US" sz="1400" dirty="0">
                <a:solidFill>
                  <a:srgbClr val="00B050"/>
                </a:solidFill>
                <a:latin typeface="Verdana" pitchFamily="34" charset="0"/>
                <a:ea typeface="ヒラギノ角ゴ Pro W3"/>
                <a:cs typeface="ヒラギノ角ゴ Pro W3"/>
              </a:rPr>
              <a:t>(formally known as Dynamic System Development Method)</a:t>
            </a:r>
            <a:r>
              <a:rPr lang="en-US" sz="1400" b="1" dirty="0" smtClean="0">
                <a:solidFill>
                  <a:srgbClr val="00B050"/>
                </a:solidFill>
                <a:latin typeface="Verdana" pitchFamily="34" charset="0"/>
                <a:ea typeface="ヒラギノ角ゴ Pro W3"/>
                <a:cs typeface="ヒラギノ角ゴ Pro W3"/>
              </a:rPr>
              <a:t> </a:t>
            </a:r>
            <a:r>
              <a:rPr lang="en-US" sz="1400" b="1" dirty="0">
                <a:solidFill>
                  <a:srgbClr val="00B050"/>
                </a:solidFill>
                <a:latin typeface="Verdana" pitchFamily="34" charset="0"/>
                <a:ea typeface="ヒラギノ角ゴ Pro W3"/>
                <a:cs typeface="ヒラギノ角ゴ Pro W3"/>
              </a:rPr>
              <a:t>is an Agile method </a:t>
            </a:r>
            <a:r>
              <a:rPr lang="en-US" sz="1400" dirty="0">
                <a:solidFill>
                  <a:srgbClr val="00B050"/>
                </a:solidFill>
                <a:latin typeface="Verdana" pitchFamily="34" charset="0"/>
                <a:ea typeface="ヒラギノ角ゴ Pro W3"/>
                <a:cs typeface="ヒラギノ角ゴ Pro W3"/>
              </a:rPr>
              <a:t>that focuses on the full project </a:t>
            </a:r>
            <a:r>
              <a:rPr lang="en-US" sz="1400" dirty="0" smtClean="0">
                <a:solidFill>
                  <a:srgbClr val="00B050"/>
                </a:solidFill>
                <a:latin typeface="Verdana" pitchFamily="34" charset="0"/>
                <a:ea typeface="ヒラギノ角ゴ Pro W3"/>
                <a:cs typeface="ヒラギノ角ゴ Pro W3"/>
              </a:rPr>
              <a:t>lifecycle. it was </a:t>
            </a:r>
            <a:r>
              <a:rPr lang="en-US" sz="1400" dirty="0">
                <a:solidFill>
                  <a:srgbClr val="00B050"/>
                </a:solidFill>
                <a:latin typeface="Verdana" pitchFamily="34" charset="0"/>
                <a:ea typeface="ヒラギノ角ゴ Pro W3"/>
                <a:cs typeface="ヒラギノ角ゴ Pro W3"/>
              </a:rPr>
              <a:t>created in 1994, after project managers using </a:t>
            </a:r>
            <a:r>
              <a:rPr lang="en-US" sz="1400" b="1" dirty="0" smtClean="0">
                <a:solidFill>
                  <a:srgbClr val="00B050"/>
                </a:solidFill>
                <a:latin typeface="Verdana" pitchFamily="34" charset="0"/>
                <a:ea typeface="ヒラギノ角ゴ Pro W3"/>
                <a:cs typeface="ヒラギノ角ゴ Pro W3"/>
              </a:rPr>
              <a:t>RAD</a:t>
            </a:r>
            <a:r>
              <a:rPr lang="en-US" sz="1400" dirty="0" smtClean="0">
                <a:solidFill>
                  <a:srgbClr val="00B050"/>
                </a:solidFill>
                <a:latin typeface="Verdana" pitchFamily="34" charset="0"/>
                <a:ea typeface="ヒラギノ角ゴ Pro W3"/>
                <a:cs typeface="ヒラギノ角ゴ Pro W3"/>
              </a:rPr>
              <a:t>  </a:t>
            </a:r>
            <a:r>
              <a:rPr lang="en-US" sz="1400" dirty="0">
                <a:solidFill>
                  <a:srgbClr val="00B050"/>
                </a:solidFill>
                <a:latin typeface="Verdana" pitchFamily="34" charset="0"/>
                <a:ea typeface="ヒラギノ角ゴ Pro W3"/>
                <a:cs typeface="ヒラギノ角ゴ Pro W3"/>
              </a:rPr>
              <a:t>sought more governance and discipline to this new iterative way of working</a:t>
            </a:r>
            <a:r>
              <a:rPr lang="en-US" sz="1400" dirty="0" smtClean="0">
                <a:solidFill>
                  <a:srgbClr val="00B050"/>
                </a:solidFill>
                <a:latin typeface="Verdana" pitchFamily="34" charset="0"/>
                <a:ea typeface="ヒラギノ角ゴ Pro W3"/>
                <a:cs typeface="ヒラギノ角ゴ Pro W3"/>
              </a:rPr>
              <a:t>.</a:t>
            </a:r>
            <a:endParaRPr lang="en-US" sz="1400" dirty="0" smtClean="0">
              <a:latin typeface="Verdana" pitchFamily="34" charset="0"/>
              <a:ea typeface="ヒラギノ角ゴ Pro W3"/>
              <a:cs typeface="ヒラギノ角ゴ Pro W3"/>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850106"/>
          </a:xfrm>
        </p:spPr>
        <p:txBody>
          <a:bodyPr>
            <a:normAutofit/>
          </a:bodyPr>
          <a:lstStyle/>
          <a:p>
            <a:pPr eaLnBrk="1" hangingPunct="1">
              <a:lnSpc>
                <a:spcPct val="120000"/>
              </a:lnSpc>
            </a:pPr>
            <a:r>
              <a:rPr lang="en-US" sz="2000" b="1" dirty="0" smtClean="0">
                <a:latin typeface="Verdana" pitchFamily="34" charset="0"/>
                <a:ea typeface="ヒラギノ角ゴ Pro W3"/>
                <a:cs typeface="ヒラギノ角ゴ Pro W3"/>
              </a:rPr>
              <a:t>Developing Personas and Scenarios</a:t>
            </a:r>
          </a:p>
        </p:txBody>
      </p:sp>
      <p:sp>
        <p:nvSpPr>
          <p:cNvPr id="3" name="Text Placeholder 2"/>
          <p:cNvSpPr>
            <a:spLocks noGrp="1"/>
          </p:cNvSpPr>
          <p:nvPr>
            <p:ph type="body" idx="1"/>
          </p:nvPr>
        </p:nvSpPr>
        <p:spPr>
          <a:xfrm>
            <a:off x="457200" y="1196752"/>
            <a:ext cx="8363272" cy="4896544"/>
          </a:xfrm>
        </p:spPr>
        <p:txBody>
          <a:bodyPr>
            <a:normAutofit lnSpcReduction="10000"/>
          </a:bodyPr>
          <a:lstStyle/>
          <a:p>
            <a:pPr algn="just" eaLnBrk="1" hangingPunct="1">
              <a:lnSpc>
                <a:spcPct val="160000"/>
              </a:lnSpc>
            </a:pPr>
            <a:r>
              <a:rPr lang="en-US" sz="1500" dirty="0" smtClean="0">
                <a:latin typeface="Verdana" pitchFamily="34" charset="0"/>
                <a:ea typeface="ヒラギノ角ゴ Pro W3"/>
                <a:cs typeface="ヒラギノ角ゴ Pro W3"/>
              </a:rPr>
              <a:t>In order to guide the design process, designers need to think about the </a:t>
            </a:r>
            <a:r>
              <a:rPr lang="en-US" sz="1500" b="1" dirty="0" smtClean="0">
                <a:latin typeface="Verdana" pitchFamily="34" charset="0"/>
                <a:ea typeface="ヒラギノ角ゴ Pro W3"/>
                <a:cs typeface="ヒラギノ角ゴ Pro W3"/>
              </a:rPr>
              <a:t>PACT elements. </a:t>
            </a:r>
          </a:p>
          <a:p>
            <a:pPr algn="just" eaLnBrk="1" hangingPunct="1">
              <a:lnSpc>
                <a:spcPct val="160000"/>
              </a:lnSpc>
            </a:pPr>
            <a:r>
              <a:rPr lang="en-US" sz="1500" dirty="0" smtClean="0">
                <a:latin typeface="Verdana" pitchFamily="34" charset="0"/>
                <a:ea typeface="ヒラギノ角ゴ Pro W3"/>
                <a:cs typeface="ヒラギノ角ゴ Pro W3"/>
              </a:rPr>
              <a:t>The </a:t>
            </a:r>
            <a:r>
              <a:rPr lang="en-US" sz="1500" b="1" dirty="0" smtClean="0">
                <a:latin typeface="Verdana" pitchFamily="34" charset="0"/>
                <a:ea typeface="ヒラギノ角ゴ Pro W3"/>
                <a:cs typeface="ヒラギノ角ゴ Pro W3"/>
              </a:rPr>
              <a:t>people</a:t>
            </a:r>
            <a:r>
              <a:rPr lang="en-US" sz="1500" dirty="0" smtClean="0">
                <a:latin typeface="Verdana" pitchFamily="34" charset="0"/>
                <a:ea typeface="ヒラギノ角ゴ Pro W3"/>
                <a:cs typeface="ヒラギノ角ゴ Pro W3"/>
              </a:rPr>
              <a:t> who will use the system are represented by </a:t>
            </a:r>
            <a:r>
              <a:rPr lang="en-US" sz="1500" b="1" dirty="0" smtClean="0">
                <a:latin typeface="Verdana" pitchFamily="34" charset="0"/>
                <a:ea typeface="ヒラギノ角ゴ Pro W3"/>
                <a:cs typeface="ヒラギノ角ゴ Pro W3"/>
              </a:rPr>
              <a:t>personas</a:t>
            </a:r>
            <a:r>
              <a:rPr lang="en-US" sz="1500" dirty="0" smtClean="0">
                <a:latin typeface="Verdana" pitchFamily="34" charset="0"/>
                <a:ea typeface="ヒラギノ角ゴ Pro W3"/>
                <a:cs typeface="ヒラギノ角ゴ Pro W3"/>
              </a:rPr>
              <a:t>; profiles of the different types (or archetypes) of people the designer is designing for. </a:t>
            </a:r>
          </a:p>
          <a:p>
            <a:pPr algn="just" eaLnBrk="1" hangingPunct="1">
              <a:lnSpc>
                <a:spcPct val="160000"/>
              </a:lnSpc>
            </a:pPr>
            <a:r>
              <a:rPr lang="en-US" sz="1500" b="1" dirty="0" smtClean="0">
                <a:latin typeface="Verdana" pitchFamily="34" charset="0"/>
                <a:ea typeface="ヒラギノ角ゴ Pro W3"/>
                <a:cs typeface="ヒラギノ角ゴ Pro W3"/>
              </a:rPr>
              <a:t>Activities &amp; contexts </a:t>
            </a:r>
            <a:r>
              <a:rPr lang="en-US" sz="1500" dirty="0" smtClean="0">
                <a:latin typeface="Verdana" pitchFamily="34" charset="0"/>
                <a:ea typeface="ヒラギノ角ゴ Pro W3"/>
                <a:cs typeface="ヒラギノ角ゴ Pro W3"/>
              </a:rPr>
              <a:t>in which they will occur are envisioned through scenarios of use. </a:t>
            </a:r>
          </a:p>
          <a:p>
            <a:pPr algn="just" eaLnBrk="1" hangingPunct="1">
              <a:lnSpc>
                <a:spcPct val="160000"/>
              </a:lnSpc>
            </a:pPr>
            <a:r>
              <a:rPr lang="en-US" sz="1500" dirty="0" smtClean="0">
                <a:latin typeface="Verdana" pitchFamily="34" charset="0"/>
                <a:ea typeface="ヒラギノ角ゴ Pro W3"/>
                <a:cs typeface="ヒラギノ角ゴ Pro W3"/>
              </a:rPr>
              <a:t>Different </a:t>
            </a:r>
            <a:r>
              <a:rPr lang="en-US" sz="1500" b="1" dirty="0" smtClean="0">
                <a:latin typeface="Verdana" pitchFamily="34" charset="0"/>
                <a:ea typeface="ヒラギノ角ゴ Pro W3"/>
                <a:cs typeface="ヒラギノ角ゴ Pro W3"/>
              </a:rPr>
              <a:t>concrete (real) scenarios can be used to envision how</a:t>
            </a:r>
            <a:r>
              <a:rPr lang="en-US" sz="1500" dirty="0" smtClean="0">
                <a:latin typeface="Verdana" pitchFamily="34" charset="0"/>
                <a:ea typeface="ヒラギノ角ゴ Pro W3"/>
                <a:cs typeface="ヒラギノ角ゴ Pro W3"/>
              </a:rPr>
              <a:t> different technologies could function to achieve the overall purpose of the system. </a:t>
            </a:r>
          </a:p>
          <a:p>
            <a:pPr algn="just" eaLnBrk="1" hangingPunct="1">
              <a:lnSpc>
                <a:spcPct val="160000"/>
              </a:lnSpc>
            </a:pPr>
            <a:r>
              <a:rPr lang="en-US" sz="1500" b="1" dirty="0" smtClean="0">
                <a:latin typeface="Verdana" pitchFamily="34" charset="0"/>
                <a:ea typeface="ヒラギノ角ゴ Pro W3"/>
                <a:cs typeface="ヒラギノ角ゴ Pro W3"/>
              </a:rPr>
              <a:t>Personas and scenarios</a:t>
            </a:r>
            <a:r>
              <a:rPr lang="en-US" sz="1500" dirty="0" smtClean="0">
                <a:latin typeface="Verdana" pitchFamily="34" charset="0"/>
                <a:ea typeface="ヒラギノ角ゴ Pro W3"/>
                <a:cs typeface="ヒラギノ角ゴ Pro W3"/>
              </a:rPr>
              <a:t> are developed through the understanding process and through undertaking a PACT analysis. </a:t>
            </a:r>
          </a:p>
          <a:p>
            <a:pPr algn="just" eaLnBrk="1" hangingPunct="1">
              <a:lnSpc>
                <a:spcPct val="160000"/>
              </a:lnSpc>
            </a:pPr>
            <a:r>
              <a:rPr lang="en-US" sz="1500" dirty="0" smtClean="0">
                <a:latin typeface="Verdana" pitchFamily="34" charset="0"/>
                <a:ea typeface="ヒラギノ角ゴ Pro W3"/>
                <a:cs typeface="ヒラギノ角ゴ Pro W3"/>
              </a:rPr>
              <a:t>Almost certainly, </a:t>
            </a:r>
            <a:r>
              <a:rPr lang="en-US" sz="1500" b="1" dirty="0" smtClean="0">
                <a:latin typeface="Verdana" pitchFamily="34" charset="0"/>
                <a:ea typeface="ヒラギノ角ゴ Pro W3"/>
                <a:cs typeface="ヒラギノ角ゴ Pro W3"/>
              </a:rPr>
              <a:t>personas and scenarios evolve together as </a:t>
            </a:r>
            <a:r>
              <a:rPr lang="en-US" sz="1500" dirty="0" smtClean="0">
                <a:latin typeface="Verdana" pitchFamily="34" charset="0"/>
                <a:ea typeface="ヒラギノ角ゴ Pro W3"/>
                <a:cs typeface="ヒラギノ角ゴ Pro W3"/>
              </a:rPr>
              <a:t>“thinking about people” involves thinking about </a:t>
            </a:r>
            <a:r>
              <a:rPr lang="en-US" sz="1500" b="1" dirty="0" smtClean="0">
                <a:latin typeface="Verdana" pitchFamily="34" charset="0"/>
                <a:ea typeface="ヒラギノ角ゴ Pro W3"/>
                <a:cs typeface="ヒラギノ角ゴ Pro W3"/>
              </a:rPr>
              <a:t>what they want to do</a:t>
            </a:r>
            <a:r>
              <a:rPr lang="en-US" sz="1500" dirty="0" smtClean="0">
                <a:latin typeface="Verdana" pitchFamily="34" charset="0"/>
                <a:ea typeface="ヒラギノ角ゴ Pro W3"/>
                <a:cs typeface="ヒラギノ角ゴ Pro W3"/>
              </a:rPr>
              <a:t>, and thinking about </a:t>
            </a:r>
            <a:r>
              <a:rPr lang="en-US" sz="1500" b="1" dirty="0" smtClean="0">
                <a:latin typeface="Verdana" pitchFamily="34" charset="0"/>
                <a:ea typeface="ヒラギノ角ゴ Pro W3"/>
                <a:cs typeface="ヒラギノ角ゴ Pro W3"/>
              </a:rPr>
              <a:t>activities involves, </a:t>
            </a:r>
            <a:r>
              <a:rPr lang="en-US" sz="1500" dirty="0" smtClean="0">
                <a:latin typeface="Verdana" pitchFamily="34" charset="0"/>
                <a:ea typeface="ヒラギノ角ゴ Pro W3"/>
                <a:cs typeface="ヒラギノ角ゴ Pro W3"/>
              </a:rPr>
              <a:t>thinking about </a:t>
            </a:r>
            <a:r>
              <a:rPr lang="en-US" sz="1500" b="1" dirty="0" smtClean="0">
                <a:latin typeface="Verdana" pitchFamily="34" charset="0"/>
                <a:ea typeface="ヒラギノ角ゴ Pro W3"/>
                <a:cs typeface="ヒラギノ角ゴ Pro W3"/>
              </a:rPr>
              <a:t>who will be undertaking them</a:t>
            </a:r>
            <a:r>
              <a:rPr lang="en-US" sz="1500" dirty="0" smtClean="0">
                <a:latin typeface="Verdana" pitchFamily="34" charset="0"/>
                <a:ea typeface="ヒラギノ角ゴ Pro W3"/>
                <a:cs typeface="ヒラギノ角ゴ Pro W3"/>
              </a:rPr>
              <a:t>!</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a:xfrm>
            <a:off x="457200" y="274638"/>
            <a:ext cx="8229600" cy="850106"/>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Personas</a:t>
            </a:r>
          </a:p>
        </p:txBody>
      </p:sp>
      <p:sp>
        <p:nvSpPr>
          <p:cNvPr id="3" name="Text Placeholder 2"/>
          <p:cNvSpPr>
            <a:spLocks noGrp="1"/>
          </p:cNvSpPr>
          <p:nvPr>
            <p:ph type="body" idx="1"/>
          </p:nvPr>
        </p:nvSpPr>
        <p:spPr>
          <a:xfrm>
            <a:off x="534380" y="1124744"/>
            <a:ext cx="8075240" cy="4968552"/>
          </a:xfrm>
        </p:spPr>
        <p:txBody>
          <a:bodyPr>
            <a:normAutofit/>
          </a:bodyPr>
          <a:lstStyle/>
          <a:p>
            <a:pPr algn="just" eaLnBrk="1" hangingPunct="1">
              <a:lnSpc>
                <a:spcPct val="150000"/>
              </a:lnSpc>
            </a:pPr>
            <a:r>
              <a:rPr lang="en-US" sz="1500" b="1" dirty="0" smtClean="0">
                <a:latin typeface="Verdana" pitchFamily="34" charset="0"/>
                <a:ea typeface="ヒラギノ角ゴ Pro W3"/>
                <a:cs typeface="ヒラギノ角ゴ Pro W3"/>
              </a:rPr>
              <a:t>Personas</a:t>
            </a:r>
            <a:r>
              <a:rPr lang="en-US" sz="1500" dirty="0" smtClean="0">
                <a:latin typeface="Verdana" pitchFamily="34" charset="0"/>
                <a:ea typeface="ヒラギノ角ゴ Pro W3"/>
                <a:cs typeface="ヒラギノ角ゴ Pro W3"/>
              </a:rPr>
              <a:t> are concrete (existing/ actual/ real) representations of the different types of people that the system or service is being designed for. </a:t>
            </a:r>
          </a:p>
          <a:p>
            <a:pPr algn="just" eaLnBrk="1" hangingPunct="1">
              <a:lnSpc>
                <a:spcPct val="150000"/>
              </a:lnSpc>
            </a:pPr>
            <a:r>
              <a:rPr lang="en-US" sz="1500" b="1" dirty="0" smtClean="0">
                <a:latin typeface="Verdana" pitchFamily="34" charset="0"/>
                <a:ea typeface="ヒラギノ角ゴ Pro W3"/>
                <a:cs typeface="ヒラギノ角ゴ Pro W3"/>
              </a:rPr>
              <a:t>Personas should have </a:t>
            </a:r>
            <a:r>
              <a:rPr lang="en-US" sz="1500" dirty="0" smtClean="0">
                <a:latin typeface="Verdana" pitchFamily="34" charset="0"/>
                <a:ea typeface="ヒラギノ角ゴ Pro W3"/>
                <a:cs typeface="ヒラギノ角ゴ Pro W3"/>
              </a:rPr>
              <a:t>a name, some background and, importantly, some goals and aspirations.</a:t>
            </a:r>
          </a:p>
          <a:p>
            <a:pPr algn="just" eaLnBrk="1" hangingPunct="1">
              <a:lnSpc>
                <a:spcPct val="150000"/>
              </a:lnSpc>
            </a:pPr>
            <a:r>
              <a:rPr lang="en-US" sz="1500" b="1" dirty="0" smtClean="0">
                <a:latin typeface="Verdana" pitchFamily="34" charset="0"/>
                <a:ea typeface="ヒラギノ角ゴ Pro W3"/>
                <a:cs typeface="ヒラギノ角ゴ Pro W3"/>
              </a:rPr>
              <a:t>Alan Cooper introduced the idea of personas </a:t>
            </a:r>
            <a:r>
              <a:rPr lang="en-US" sz="1500" dirty="0" smtClean="0">
                <a:latin typeface="Verdana" pitchFamily="34" charset="0"/>
                <a:ea typeface="ヒラギノ角ゴ Pro W3"/>
                <a:cs typeface="ヒラギノ角ゴ Pro W3"/>
              </a:rPr>
              <a:t>in the late 1990s and they have </a:t>
            </a:r>
            <a:r>
              <a:rPr lang="en-US" sz="1500" b="1" dirty="0" smtClean="0">
                <a:latin typeface="Verdana" pitchFamily="34" charset="0"/>
                <a:ea typeface="ヒラギノ角ゴ Pro W3"/>
                <a:cs typeface="ヒラギノ角ゴ Pro W3"/>
              </a:rPr>
              <a:t>gained rapid acceptance as a way of capturing knowledge about the people, </a:t>
            </a:r>
            <a:r>
              <a:rPr lang="en-US" sz="1500" dirty="0" smtClean="0">
                <a:latin typeface="Verdana" pitchFamily="34" charset="0"/>
                <a:ea typeface="ヒラギノ角ゴ Pro W3"/>
                <a:cs typeface="ヒラギノ角ゴ Pro W3"/>
              </a:rPr>
              <a:t>the system or service is target at.</a:t>
            </a:r>
          </a:p>
          <a:p>
            <a:pPr algn="just" eaLnBrk="1" hangingPunct="1">
              <a:lnSpc>
                <a:spcPct val="150000"/>
              </a:lnSpc>
            </a:pPr>
            <a:r>
              <a:rPr lang="en-US" sz="1500" dirty="0" smtClean="0">
                <a:latin typeface="Verdana" pitchFamily="34" charset="0"/>
                <a:ea typeface="ヒラギノ角ゴ Pro W3"/>
                <a:cs typeface="ヒラギノ角ゴ Pro W3"/>
              </a:rPr>
              <a:t>In the latest edition of his book, he links Personas very closely with his ideas of goal-directed design.</a:t>
            </a:r>
          </a:p>
          <a:p>
            <a:pPr algn="just" eaLnBrk="1" hangingPunct="1">
              <a:lnSpc>
                <a:spcPct val="150000"/>
              </a:lnSpc>
            </a:pPr>
            <a:r>
              <a:rPr lang="en-US" sz="1500" b="1" dirty="0" smtClean="0">
                <a:latin typeface="Verdana" pitchFamily="34" charset="0"/>
                <a:ea typeface="ヒラギノ角ゴ Pro W3"/>
                <a:cs typeface="ヒラギノ角ゴ Pro W3"/>
              </a:rPr>
              <a:t>Personas want to be </a:t>
            </a:r>
            <a:r>
              <a:rPr lang="en-US" sz="1500" dirty="0" smtClean="0">
                <a:latin typeface="Verdana" pitchFamily="34" charset="0"/>
                <a:ea typeface="ヒラギノ角ゴ Pro W3"/>
                <a:cs typeface="ヒラギノ角ゴ Pro W3"/>
              </a:rPr>
              <a:t>able to do things using your system. </a:t>
            </a:r>
          </a:p>
          <a:p>
            <a:pPr algn="just" eaLnBrk="1" hangingPunct="1">
              <a:lnSpc>
                <a:spcPct val="150000"/>
              </a:lnSpc>
            </a:pPr>
            <a:r>
              <a:rPr lang="en-US" sz="1500" b="1" dirty="0" smtClean="0">
                <a:latin typeface="Verdana" pitchFamily="34" charset="0"/>
                <a:ea typeface="ヒラギノ角ゴ Pro W3"/>
                <a:cs typeface="ヒラギノ角ゴ Pro W3"/>
              </a:rPr>
              <a:t>They want to </a:t>
            </a:r>
            <a:r>
              <a:rPr lang="en-US" sz="1500" dirty="0" smtClean="0">
                <a:latin typeface="Verdana" pitchFamily="34" charset="0"/>
                <a:ea typeface="ヒラギノ角ゴ Pro W3"/>
                <a:cs typeface="ヒラギノ角ゴ Pro W3"/>
              </a:rPr>
              <a:t>achieve their aims, they want to undertake meaningful activities using the system that the designer will produce. </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title"/>
          </p:nvPr>
        </p:nvSpPr>
        <p:spPr>
          <a:xfrm>
            <a:off x="457200" y="274638"/>
            <a:ext cx="8229600" cy="706090"/>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Using Personas</a:t>
            </a:r>
          </a:p>
        </p:txBody>
      </p:sp>
      <p:sp>
        <p:nvSpPr>
          <p:cNvPr id="3" name="Text Placeholder 2"/>
          <p:cNvSpPr>
            <a:spLocks noGrp="1"/>
          </p:cNvSpPr>
          <p:nvPr>
            <p:ph type="body" idx="1"/>
          </p:nvPr>
        </p:nvSpPr>
        <p:spPr>
          <a:xfrm>
            <a:off x="313184" y="980728"/>
            <a:ext cx="8435280" cy="5184576"/>
          </a:xfrm>
        </p:spPr>
        <p:txBody>
          <a:bodyPr>
            <a:noAutofit/>
          </a:bodyPr>
          <a:lstStyle/>
          <a:p>
            <a:pPr algn="just" eaLnBrk="1" hangingPunct="1">
              <a:lnSpc>
                <a:spcPct val="150000"/>
              </a:lnSpc>
            </a:pPr>
            <a:r>
              <a:rPr lang="en-US" sz="1500" dirty="0" smtClean="0">
                <a:latin typeface="Verdana" pitchFamily="34" charset="0"/>
                <a:ea typeface="ヒラギノ角ゴ Pro W3"/>
                <a:cs typeface="ヒラギノ角ゴ Pro W3"/>
              </a:rPr>
              <a:t>Designers </a:t>
            </a:r>
            <a:r>
              <a:rPr lang="en-US" sz="1500" b="1" dirty="0" smtClean="0">
                <a:latin typeface="Verdana" pitchFamily="34" charset="0"/>
                <a:ea typeface="ヒラギノ角ゴ Pro W3"/>
                <a:cs typeface="ヒラギノ角ゴ Pro W3"/>
              </a:rPr>
              <a:t>need to recognize </a:t>
            </a:r>
            <a:r>
              <a:rPr lang="en-US" sz="1500" dirty="0" smtClean="0">
                <a:latin typeface="Verdana" pitchFamily="34" charset="0"/>
                <a:ea typeface="ヒラギノ角ゴ Pro W3"/>
                <a:cs typeface="ヒラギノ角ゴ Pro W3"/>
              </a:rPr>
              <a:t>that they are not designing for themselves. </a:t>
            </a:r>
          </a:p>
          <a:p>
            <a:pPr algn="just" eaLnBrk="1" hangingPunct="1">
              <a:lnSpc>
                <a:spcPct val="150000"/>
              </a:lnSpc>
            </a:pPr>
            <a:r>
              <a:rPr lang="en-US" sz="1500" dirty="0" smtClean="0">
                <a:latin typeface="Verdana" pitchFamily="34" charset="0"/>
                <a:ea typeface="ヒラギノ角ゴ Pro W3"/>
                <a:cs typeface="ヒラギノ角ゴ Pro W3"/>
              </a:rPr>
              <a:t>Designers </a:t>
            </a:r>
            <a:r>
              <a:rPr lang="en-US" sz="1500" b="1" dirty="0" smtClean="0">
                <a:latin typeface="Verdana" pitchFamily="34" charset="0"/>
                <a:ea typeface="ヒラギノ角ゴ Pro W3"/>
                <a:cs typeface="ヒラギノ角ゴ Pro W3"/>
              </a:rPr>
              <a:t>create personas so that </a:t>
            </a:r>
            <a:r>
              <a:rPr lang="en-US" sz="1500" dirty="0" smtClean="0">
                <a:latin typeface="Verdana" pitchFamily="34" charset="0"/>
                <a:ea typeface="ヒラギノ角ゴ Pro W3"/>
                <a:cs typeface="ヒラギノ角ゴ Pro W3"/>
              </a:rPr>
              <a:t>they can envision who they are designing for.</a:t>
            </a:r>
          </a:p>
          <a:p>
            <a:pPr algn="just" eaLnBrk="1" hangingPunct="1">
              <a:lnSpc>
                <a:spcPct val="150000"/>
              </a:lnSpc>
            </a:pPr>
            <a:r>
              <a:rPr lang="en-US" sz="1500" dirty="0" smtClean="0">
                <a:latin typeface="Verdana" pitchFamily="34" charset="0"/>
                <a:ea typeface="ヒラギノ角ゴ Pro W3"/>
                <a:cs typeface="ヒラギノ角ゴ Pro W3"/>
              </a:rPr>
              <a:t>They create personas so that they </a:t>
            </a:r>
            <a:r>
              <a:rPr lang="en-US" sz="1500" b="1" dirty="0" smtClean="0">
                <a:latin typeface="Verdana" pitchFamily="34" charset="0"/>
                <a:ea typeface="ヒラギノ角ゴ Pro W3"/>
                <a:cs typeface="ヒラギノ角ゴ Pro W3"/>
              </a:rPr>
              <a:t>can put themselves in other people’s shoes</a:t>
            </a:r>
            <a:r>
              <a:rPr lang="en-US" sz="1500" dirty="0" smtClean="0">
                <a:latin typeface="Verdana" pitchFamily="34" charset="0"/>
                <a:ea typeface="ヒラギノ角ゴ Pro W3"/>
                <a:cs typeface="ヒラギノ角ゴ Pro W3"/>
              </a:rPr>
              <a:t>.</a:t>
            </a:r>
          </a:p>
          <a:p>
            <a:pPr algn="just" eaLnBrk="1" hangingPunct="1">
              <a:lnSpc>
                <a:spcPct val="150000"/>
              </a:lnSpc>
            </a:pPr>
            <a:r>
              <a:rPr lang="en-US" sz="1500" dirty="0" smtClean="0">
                <a:latin typeface="Verdana" pitchFamily="34" charset="0"/>
                <a:ea typeface="ヒラギノ角ゴ Pro W3"/>
                <a:cs typeface="ヒラギノ角ゴ Pro W3"/>
              </a:rPr>
              <a:t>As any new system is likely to be used by different types of people, it is important to </a:t>
            </a:r>
            <a:r>
              <a:rPr lang="en-US" sz="1500" b="1" dirty="0" smtClean="0">
                <a:latin typeface="Verdana" pitchFamily="34" charset="0"/>
                <a:ea typeface="ヒラギノ角ゴ Pro W3"/>
                <a:cs typeface="ヒラギノ角ゴ Pro W3"/>
              </a:rPr>
              <a:t>develop several different personas</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For example, in designing a website for people interested in the author Robert Louis Stevenson (described in more detail in Chapter 16), we developed personas for a school teacher in Germany, a university lecturer from the UK, a child in Africa, and a Robert Louis Stevenson enthusiast from the USA. </a:t>
            </a:r>
          </a:p>
          <a:p>
            <a:pPr algn="just" eaLnBrk="1" hangingPunct="1">
              <a:lnSpc>
                <a:spcPct val="150000"/>
              </a:lnSpc>
            </a:pPr>
            <a:r>
              <a:rPr lang="en-US" sz="1500" dirty="0" smtClean="0">
                <a:latin typeface="Verdana" pitchFamily="34" charset="0"/>
                <a:ea typeface="ヒラギノ角ゴ Pro W3"/>
                <a:cs typeface="ヒラギノ角ゴ Pro W3"/>
              </a:rPr>
              <a:t>Such a </a:t>
            </a:r>
            <a:r>
              <a:rPr lang="en-US" sz="1500" b="1" dirty="0" smtClean="0">
                <a:latin typeface="Verdana" pitchFamily="34" charset="0"/>
                <a:ea typeface="ヒラギノ角ゴ Pro W3"/>
                <a:cs typeface="ヒラギノ角ゴ Pro W3"/>
              </a:rPr>
              <a:t>diverse group of people</a:t>
            </a:r>
            <a:r>
              <a:rPr lang="en-US" sz="1500" dirty="0" smtClean="0">
                <a:latin typeface="Verdana" pitchFamily="34" charset="0"/>
                <a:ea typeface="ヒラギノ角ゴ Pro W3"/>
                <a:cs typeface="ヒラギノ角ゴ Pro W3"/>
              </a:rPr>
              <a:t> have very different goals, and aspirations and differ in all manner of ways physically, psychologically and in terms of the usage they would make of the site.</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p:cNvSpPr>
            <a:spLocks noGrp="1"/>
          </p:cNvSpPr>
          <p:nvPr>
            <p:ph type="title"/>
          </p:nvPr>
        </p:nvSpPr>
        <p:spPr>
          <a:xfrm>
            <a:off x="457200" y="274638"/>
            <a:ext cx="8229600" cy="706090"/>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Scenarios</a:t>
            </a:r>
            <a:endParaRPr lang="en-US" sz="1500" dirty="0" smtClean="0">
              <a:latin typeface="Verdana" pitchFamily="34" charset="0"/>
              <a:ea typeface="ヒラギノ角ゴ Pro W3"/>
              <a:cs typeface="ヒラギノ角ゴ Pro W3"/>
            </a:endParaRPr>
          </a:p>
        </p:txBody>
      </p:sp>
      <p:sp>
        <p:nvSpPr>
          <p:cNvPr id="3" name="Text Placeholder 2"/>
          <p:cNvSpPr>
            <a:spLocks noGrp="1"/>
          </p:cNvSpPr>
          <p:nvPr>
            <p:ph type="body" idx="1"/>
          </p:nvPr>
        </p:nvSpPr>
        <p:spPr>
          <a:xfrm>
            <a:off x="457200" y="980728"/>
            <a:ext cx="8229600" cy="5184576"/>
          </a:xfrm>
        </p:spPr>
        <p:txBody>
          <a:bodyPr>
            <a:normAutofit/>
          </a:bodyPr>
          <a:lstStyle/>
          <a:p>
            <a:pPr algn="just" eaLnBrk="1" hangingPunct="1">
              <a:lnSpc>
                <a:spcPct val="150000"/>
              </a:lnSpc>
            </a:pPr>
            <a:r>
              <a:rPr lang="en-US" sz="1500" b="1" dirty="0" smtClean="0">
                <a:latin typeface="Verdana" pitchFamily="34" charset="0"/>
                <a:ea typeface="ヒラギノ角ゴ Pro W3"/>
                <a:cs typeface="ヒラギノ角ゴ Pro W3"/>
              </a:rPr>
              <a:t>Scenarios</a:t>
            </a:r>
            <a:r>
              <a:rPr lang="en-US" sz="1500" dirty="0" smtClean="0">
                <a:latin typeface="Verdana" pitchFamily="34" charset="0"/>
                <a:ea typeface="ヒラギノ角ゴ Pro W3"/>
                <a:cs typeface="ヒラギノ角ゴ Pro W3"/>
              </a:rPr>
              <a:t> are stories about people undertaking activities in contexts using technologies. </a:t>
            </a:r>
          </a:p>
          <a:p>
            <a:pPr algn="just" eaLnBrk="1" hangingPunct="1">
              <a:lnSpc>
                <a:spcPct val="150000"/>
              </a:lnSpc>
            </a:pPr>
            <a:r>
              <a:rPr lang="en-US" sz="1500" dirty="0" smtClean="0">
                <a:latin typeface="Verdana" pitchFamily="34" charset="0"/>
                <a:ea typeface="ヒラギノ角ゴ Pro W3"/>
                <a:cs typeface="ヒラギノ角ゴ Pro W3"/>
              </a:rPr>
              <a:t>They </a:t>
            </a:r>
            <a:r>
              <a:rPr lang="en-US" sz="1500" b="1" dirty="0" smtClean="0">
                <a:latin typeface="Verdana" pitchFamily="34" charset="0"/>
                <a:ea typeface="ヒラギノ角ゴ Pro W3"/>
                <a:cs typeface="ヒラギノ角ゴ Pro W3"/>
              </a:rPr>
              <a:t>appear in a variety of forms throughout </a:t>
            </a:r>
            <a:r>
              <a:rPr lang="en-US" sz="1500" dirty="0" smtClean="0">
                <a:latin typeface="Verdana" pitchFamily="34" charset="0"/>
                <a:ea typeface="ヒラギノ角ゴ Pro W3"/>
                <a:cs typeface="ヒラギノ角ゴ Pro W3"/>
              </a:rPr>
              <a:t>interactive systems design and are a </a:t>
            </a:r>
            <a:r>
              <a:rPr lang="en-US" sz="1500" b="1" dirty="0" smtClean="0">
                <a:latin typeface="Verdana" pitchFamily="34" charset="0"/>
                <a:ea typeface="ヒラギノ角ゴ Pro W3"/>
                <a:cs typeface="ヒラギノ角ゴ Pro W3"/>
              </a:rPr>
              <a:t>key component </a:t>
            </a:r>
            <a:r>
              <a:rPr lang="en-US" sz="1500" dirty="0" smtClean="0">
                <a:latin typeface="Verdana" pitchFamily="34" charset="0"/>
                <a:ea typeface="ヒラギノ角ゴ Pro W3"/>
                <a:cs typeface="ヒラギノ角ゴ Pro W3"/>
              </a:rPr>
              <a:t>of many approaches to design.</a:t>
            </a:r>
          </a:p>
          <a:p>
            <a:pPr algn="just" eaLnBrk="1" hangingPunct="1">
              <a:lnSpc>
                <a:spcPct val="150000"/>
              </a:lnSpc>
            </a:pPr>
            <a:r>
              <a:rPr lang="en-US" sz="1500" b="1" dirty="0" smtClean="0">
                <a:latin typeface="Verdana" pitchFamily="34" charset="0"/>
                <a:ea typeface="ヒラギノ角ゴ Pro W3"/>
                <a:cs typeface="ヒラギノ角ゴ Pro W3"/>
              </a:rPr>
              <a:t>Scenarios</a:t>
            </a:r>
            <a:r>
              <a:rPr lang="en-US" sz="1500" dirty="0" smtClean="0">
                <a:latin typeface="Verdana" pitchFamily="34" charset="0"/>
                <a:ea typeface="ヒラギノ角ゴ Pro W3"/>
                <a:cs typeface="ヒラギノ角ゴ Pro W3"/>
              </a:rPr>
              <a:t> have been used in software engineering, interactive systems design and human–computer interaction work for many years. </a:t>
            </a:r>
          </a:p>
          <a:p>
            <a:pPr algn="just" eaLnBrk="1" hangingPunct="1">
              <a:lnSpc>
                <a:spcPct val="150000"/>
              </a:lnSpc>
            </a:pPr>
            <a:r>
              <a:rPr lang="en-US" sz="1500" dirty="0" smtClean="0">
                <a:latin typeface="Verdana" pitchFamily="34" charset="0"/>
                <a:ea typeface="ヒラギノ角ゴ Pro W3"/>
                <a:cs typeface="ヒラギノ角ゴ Pro W3"/>
              </a:rPr>
              <a:t>More recently, </a:t>
            </a:r>
            <a:r>
              <a:rPr lang="en-US" sz="1500" b="1" dirty="0" smtClean="0">
                <a:latin typeface="Verdana" pitchFamily="34" charset="0"/>
                <a:ea typeface="ヒラギノ角ゴ Pro W3"/>
                <a:cs typeface="ヒラギノ角ゴ Pro W3"/>
              </a:rPr>
              <a:t>scenario-based design has emerged </a:t>
            </a:r>
            <a:r>
              <a:rPr lang="en-US" sz="1500" dirty="0" smtClean="0">
                <a:latin typeface="Verdana" pitchFamily="34" charset="0"/>
                <a:ea typeface="ヒラギノ角ゴ Pro W3"/>
                <a:cs typeface="ヒラギノ角ゴ Pro W3"/>
              </a:rPr>
              <a:t>as an important approach to the design of interactive systems in the twenty-first century </a:t>
            </a:r>
          </a:p>
          <a:p>
            <a:pPr algn="just" eaLnBrk="1" hangingPunct="1">
              <a:lnSpc>
                <a:spcPct val="150000"/>
              </a:lnSpc>
            </a:pPr>
            <a:r>
              <a:rPr lang="en-US" sz="1500" dirty="0" smtClean="0">
                <a:latin typeface="Verdana" pitchFamily="34" charset="0"/>
                <a:ea typeface="ヒラギノ角ゴ Pro W3"/>
                <a:cs typeface="ヒラギノ角ゴ Pro W3"/>
              </a:rPr>
              <a:t>One of the main supporters of scenario-based design is </a:t>
            </a:r>
            <a:r>
              <a:rPr lang="en-US" sz="1500" b="1" dirty="0" smtClean="0">
                <a:latin typeface="Verdana" pitchFamily="34" charset="0"/>
                <a:ea typeface="ヒラギノ角ゴ Pro W3"/>
                <a:cs typeface="ヒラギノ角ゴ Pro W3"/>
              </a:rPr>
              <a:t>John Carroll </a:t>
            </a:r>
            <a:r>
              <a:rPr lang="en-US" sz="1500" dirty="0" smtClean="0">
                <a:latin typeface="Verdana" pitchFamily="34" charset="0"/>
                <a:ea typeface="ヒラギノ角ゴ Pro W3"/>
                <a:cs typeface="ヒラギノ角ゴ Pro W3"/>
              </a:rPr>
              <a:t>and his book </a:t>
            </a:r>
            <a:r>
              <a:rPr lang="en-US" sz="1500" i="1" dirty="0" smtClean="0">
                <a:latin typeface="Verdana" pitchFamily="34" charset="0"/>
                <a:ea typeface="ヒラギノ角ゴ Pro W3"/>
                <a:cs typeface="ヒラギノ角ゴ Pro W3"/>
              </a:rPr>
              <a:t>Making Use remains an excellent introduction to the philosophy underlying the approach. </a:t>
            </a:r>
          </a:p>
          <a:p>
            <a:pPr algn="just" eaLnBrk="1" hangingPunct="1">
              <a:lnSpc>
                <a:spcPct val="150000"/>
              </a:lnSpc>
            </a:pPr>
            <a:r>
              <a:rPr lang="en-US" sz="1500" dirty="0" smtClean="0">
                <a:latin typeface="Verdana" pitchFamily="34" charset="0"/>
                <a:ea typeface="ヒラギノ角ゴ Pro W3"/>
                <a:cs typeface="ヒラギノ角ゴ Pro W3"/>
              </a:rPr>
              <a:t>In it, </a:t>
            </a:r>
            <a:r>
              <a:rPr lang="en-US" sz="1500" b="1" dirty="0" smtClean="0">
                <a:latin typeface="Verdana" pitchFamily="34" charset="0"/>
                <a:ea typeface="ヒラギノ角ゴ Pro W3"/>
                <a:cs typeface="ヒラギノ角ゴ Pro W3"/>
              </a:rPr>
              <a:t>he illustrates how scenarios are used to deal with the inherent difficulty of doing design</a:t>
            </a:r>
            <a:r>
              <a:rPr lang="en-US" sz="1500" dirty="0" smtClean="0">
                <a:latin typeface="Verdana" pitchFamily="34" charset="0"/>
                <a:ea typeface="ヒラギノ角ゴ Pro W3"/>
                <a:cs typeface="ヒラギノ角ゴ Pro W3"/>
              </a:rPr>
              <a:t>. </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a:bodyPr>
          <a:lstStyle/>
          <a:p>
            <a:pPr eaLnBrk="1" hangingPunct="1">
              <a:lnSpc>
                <a:spcPct val="120000"/>
              </a:lnSpc>
            </a:pPr>
            <a:r>
              <a:rPr lang="en-US" sz="1500" b="1" dirty="0" smtClean="0">
                <a:latin typeface="Verdana" pitchFamily="34" charset="0"/>
                <a:ea typeface="ヒラギノ角ゴ Pro W3"/>
                <a:cs typeface="ヒラギノ角ゴ Pro W3"/>
              </a:rPr>
              <a:t>Five key problems of design (from Carroll)</a:t>
            </a:r>
          </a:p>
        </p:txBody>
      </p:sp>
      <p:sp>
        <p:nvSpPr>
          <p:cNvPr id="37890" name="Text Placeholder 2"/>
          <p:cNvSpPr>
            <a:spLocks noGrp="1"/>
          </p:cNvSpPr>
          <p:nvPr>
            <p:ph type="body" idx="1"/>
          </p:nvPr>
        </p:nvSpPr>
        <p:spPr>
          <a:xfrm>
            <a:off x="457200" y="1124744"/>
            <a:ext cx="8229600" cy="4850506"/>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The </a:t>
            </a:r>
            <a:r>
              <a:rPr lang="en-US" sz="1500" b="1" dirty="0" smtClean="0">
                <a:latin typeface="Verdana" pitchFamily="34" charset="0"/>
                <a:ea typeface="ヒラギノ角ゴ Pro W3"/>
                <a:cs typeface="ヒラギノ角ゴ Pro W3"/>
              </a:rPr>
              <a:t>external factors that constrain design </a:t>
            </a:r>
            <a:r>
              <a:rPr lang="en-US" sz="1500" dirty="0" smtClean="0">
                <a:latin typeface="Verdana" pitchFamily="34" charset="0"/>
                <a:ea typeface="ヒラギノ角ゴ Pro W3"/>
                <a:cs typeface="ヒラギノ角ゴ Pro W3"/>
              </a:rPr>
              <a:t>such as time constraints, lack of resources </a:t>
            </a:r>
            <a:r>
              <a:rPr lang="en-US" sz="1500" b="1" dirty="0" smtClean="0">
                <a:latin typeface="Verdana" pitchFamily="34" charset="0"/>
                <a:ea typeface="ヒラギノ角ゴ Pro W3"/>
                <a:cs typeface="ヒラギノ角ゴ Pro W3"/>
              </a:rPr>
              <a:t>having to fit in with existing designs </a:t>
            </a:r>
            <a:r>
              <a:rPr lang="en-US" sz="1500" dirty="0" smtClean="0">
                <a:latin typeface="Verdana" pitchFamily="34" charset="0"/>
                <a:ea typeface="ヒラギノ角ゴ Pro W3"/>
                <a:cs typeface="ヒラギノ角ゴ Pro W3"/>
              </a:rPr>
              <a:t>and so on.</a:t>
            </a:r>
          </a:p>
          <a:p>
            <a:pPr algn="just" eaLnBrk="1" hangingPunct="1">
              <a:lnSpc>
                <a:spcPct val="150000"/>
              </a:lnSpc>
            </a:pPr>
            <a:r>
              <a:rPr lang="en-US" sz="1500" b="1" dirty="0" smtClean="0">
                <a:latin typeface="Verdana" pitchFamily="34" charset="0"/>
                <a:ea typeface="ヒラギノ角ゴ Pro W3"/>
                <a:cs typeface="ヒラギノ角ゴ Pro W3"/>
              </a:rPr>
              <a:t>Design moves have many effects and create many possibilities</a:t>
            </a:r>
            <a:r>
              <a:rPr lang="en-US" sz="1500" dirty="0" smtClean="0">
                <a:latin typeface="Verdana" pitchFamily="34" charset="0"/>
                <a:ea typeface="ヒラギノ角ゴ Pro W3"/>
                <a:cs typeface="ヒラギノ角ゴ Pro W3"/>
              </a:rPr>
              <a:t>, i.e. a single design decision can have an impact in many areas and these need to be explored and evaluated.</a:t>
            </a:r>
          </a:p>
          <a:p>
            <a:pPr algn="just" eaLnBrk="1" hangingPunct="1">
              <a:lnSpc>
                <a:spcPct val="150000"/>
              </a:lnSpc>
            </a:pPr>
            <a:r>
              <a:rPr lang="en-US" sz="1500" b="1" dirty="0" smtClean="0">
                <a:latin typeface="Verdana" pitchFamily="34" charset="0"/>
                <a:ea typeface="ヒラギノ角ゴ Pro W3"/>
                <a:cs typeface="ヒラギノ角ゴ Pro W3"/>
              </a:rPr>
              <a:t>How scientific knowledge and generic solutions lag behind specific situations</a:t>
            </a:r>
            <a:r>
              <a:rPr lang="en-US" sz="1500" dirty="0" smtClean="0">
                <a:latin typeface="Verdana" pitchFamily="34" charset="0"/>
                <a:ea typeface="ヒラギノ角ゴ Pro W3"/>
                <a:cs typeface="ヒラギノ角ゴ Pro W3"/>
              </a:rPr>
              <a:t>. This point concerns generalities. In other design disciplines, general design solutions to general design problems have evolved over the years. In interactive systems design, this does not happen because the technology changes as soon as, or even before, general solutions have been discovered. </a:t>
            </a:r>
            <a:r>
              <a:rPr lang="en-US" sz="1500" dirty="0" smtClean="0">
                <a:solidFill>
                  <a:srgbClr val="00B050"/>
                </a:solidFill>
                <a:latin typeface="Verdana" pitchFamily="34" charset="0"/>
                <a:ea typeface="ヒラギノ角ゴ Pro W3"/>
                <a:cs typeface="ヒラギノ角ゴ Pro W3"/>
              </a:rPr>
              <a:t>(modern problem requires modern solution)</a:t>
            </a:r>
          </a:p>
          <a:p>
            <a:pPr algn="just" eaLnBrk="1" hangingPunct="1">
              <a:lnSpc>
                <a:spcPct val="150000"/>
              </a:lnSpc>
            </a:pPr>
            <a:r>
              <a:rPr lang="en-US" sz="1500" dirty="0" smtClean="0">
                <a:latin typeface="Verdana" pitchFamily="34" charset="0"/>
                <a:ea typeface="ヒラギノ角ゴ Pro W3"/>
                <a:cs typeface="ヒラギノ角ゴ Pro W3"/>
              </a:rPr>
              <a:t>The importance of </a:t>
            </a:r>
            <a:r>
              <a:rPr lang="en-US" sz="1500" b="1" dirty="0" smtClean="0">
                <a:latin typeface="Verdana" pitchFamily="34" charset="0"/>
                <a:ea typeface="ヒラギノ角ゴ Pro W3"/>
                <a:cs typeface="ヒラギノ角ゴ Pro W3"/>
              </a:rPr>
              <a:t>reflection and action in design</a:t>
            </a:r>
            <a:r>
              <a:rPr lang="en-US" sz="1500" dirty="0" smtClean="0">
                <a:latin typeface="Verdana" pitchFamily="34" charset="0"/>
                <a:ea typeface="ヒラギノ角ゴ Pro W3"/>
                <a:cs typeface="ヒラギノ角ゴ Pro W3"/>
              </a:rPr>
              <a:t>.</a:t>
            </a:r>
          </a:p>
          <a:p>
            <a:pPr algn="just" eaLnBrk="1" hangingPunct="1">
              <a:lnSpc>
                <a:spcPct val="150000"/>
              </a:lnSpc>
            </a:pPr>
            <a:r>
              <a:rPr lang="en-US" sz="1500" dirty="0" smtClean="0">
                <a:latin typeface="Verdana" pitchFamily="34" charset="0"/>
                <a:ea typeface="ヒラギノ角ゴ Pro W3"/>
                <a:cs typeface="ヒラギノ角ゴ Pro W3"/>
              </a:rPr>
              <a:t>The </a:t>
            </a:r>
            <a:r>
              <a:rPr lang="en-US" sz="1500" b="1" dirty="0" smtClean="0">
                <a:latin typeface="Verdana" pitchFamily="34" charset="0"/>
                <a:ea typeface="ヒラギノ角ゴ Pro W3"/>
                <a:cs typeface="ヒラギノ角ゴ Pro W3"/>
              </a:rPr>
              <a:t>slippery nature of design problems</a:t>
            </a:r>
            <a:r>
              <a:rPr lang="en-US" sz="1500" dirty="0" smtClean="0">
                <a:latin typeface="Verdana" pitchFamily="34" charset="0"/>
                <a:ea typeface="ヒラギノ角ゴ Pro W3"/>
                <a:cs typeface="ヒラギノ角ゴ Pro W3"/>
              </a:rPr>
              <a:t>.</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a:xfrm>
            <a:off x="457200" y="274638"/>
            <a:ext cx="8229600" cy="994122"/>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Motivations</a:t>
            </a:r>
          </a:p>
        </p:txBody>
      </p:sp>
      <p:sp>
        <p:nvSpPr>
          <p:cNvPr id="3" name="Text Placeholder 2"/>
          <p:cNvSpPr>
            <a:spLocks noGrp="1"/>
          </p:cNvSpPr>
          <p:nvPr>
            <p:ph type="body" idx="1"/>
          </p:nvPr>
        </p:nvSpPr>
        <p:spPr>
          <a:xfrm>
            <a:off x="457200" y="1268760"/>
            <a:ext cx="8229600" cy="4525963"/>
          </a:xfrm>
        </p:spPr>
        <p:txBody>
          <a:bodyPr>
            <a:normAutofit/>
          </a:bodyPr>
          <a:lstStyle/>
          <a:p>
            <a:pPr algn="just" eaLnBrk="1" hangingPunct="1">
              <a:lnSpc>
                <a:spcPct val="150000"/>
              </a:lnSpc>
            </a:pPr>
            <a:r>
              <a:rPr lang="en-US" sz="1500" dirty="0" smtClean="0">
                <a:latin typeface="Verdana" pitchFamily="34" charset="0"/>
                <a:ea typeface="ヒラギノ角ゴ Pro W3"/>
                <a:cs typeface="ヒラギノ角ゴ Pro W3"/>
              </a:rPr>
              <a:t>One </a:t>
            </a:r>
            <a:r>
              <a:rPr lang="en-US" sz="1500" b="1" dirty="0" smtClean="0">
                <a:latin typeface="Verdana" pitchFamily="34" charset="0"/>
                <a:ea typeface="ヒラギノ角ゴ Pro W3"/>
                <a:cs typeface="ヒラギノ角ゴ Pro W3"/>
              </a:rPr>
              <a:t>central theme of the explorations concerned the motivational approaches </a:t>
            </a:r>
            <a:r>
              <a:rPr lang="en-US" sz="1500" dirty="0" smtClean="0">
                <a:latin typeface="Verdana" pitchFamily="34" charset="0"/>
                <a:ea typeface="ヒラギノ角ゴ Pro W3"/>
                <a:cs typeface="ヒラギノ角ゴ Pro W3"/>
              </a:rPr>
              <a:t>that would be suitable for different scenarios and personas. </a:t>
            </a:r>
          </a:p>
          <a:p>
            <a:pPr algn="just" eaLnBrk="1" hangingPunct="1">
              <a:lnSpc>
                <a:spcPct val="150000"/>
              </a:lnSpc>
            </a:pPr>
            <a:r>
              <a:rPr lang="en-US" sz="1500" dirty="0" smtClean="0">
                <a:latin typeface="Verdana" pitchFamily="34" charset="0"/>
                <a:ea typeface="ヒラギノ角ゴ Pro W3"/>
                <a:cs typeface="ヒラギノ角ゴ Pro W3"/>
              </a:rPr>
              <a:t>The Sandy persona would need more encouragement and persuasion to exercise than the Mari persona perhaps by preventing a recorded television program from being shown until training is completed.</a:t>
            </a:r>
          </a:p>
          <a:p>
            <a:pPr algn="just" eaLnBrk="1" hangingPunct="1">
              <a:lnSpc>
                <a:spcPct val="150000"/>
              </a:lnSpc>
            </a:pPr>
            <a:r>
              <a:rPr lang="en-US" sz="1500" dirty="0" smtClean="0">
                <a:latin typeface="Verdana" pitchFamily="34" charset="0"/>
                <a:ea typeface="ヒラギノ角ゴ Pro W3"/>
                <a:cs typeface="ヒラギノ角ゴ Pro W3"/>
              </a:rPr>
              <a:t>Another aspect, concerning social networking, was explored through the Bjorn persona. </a:t>
            </a:r>
          </a:p>
          <a:p>
            <a:pPr algn="just" eaLnBrk="1" hangingPunct="1">
              <a:lnSpc>
                <a:spcPct val="150000"/>
              </a:lnSpc>
            </a:pPr>
            <a:r>
              <a:rPr lang="en-US" sz="1500" dirty="0" smtClean="0">
                <a:latin typeface="Verdana" pitchFamily="34" charset="0"/>
                <a:ea typeface="ヒラギノ角ゴ Pro W3"/>
                <a:cs typeface="ヒラギノ角ゴ Pro W3"/>
              </a:rPr>
              <a:t>Thus the </a:t>
            </a:r>
            <a:r>
              <a:rPr lang="en-US" sz="1500" b="1" dirty="0" smtClean="0">
                <a:latin typeface="Verdana" pitchFamily="34" charset="0"/>
                <a:ea typeface="ヒラギノ角ゴ Pro W3"/>
                <a:cs typeface="ヒラギノ角ゴ Pro W3"/>
              </a:rPr>
              <a:t>personas were developed to reflect particular design issues and values.</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The whole issue of persuasion technologies is a difficult one for interaction design.</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p:cNvSpPr>
            <a:spLocks noGrp="1"/>
          </p:cNvSpPr>
          <p:nvPr>
            <p:ph type="title"/>
          </p:nvPr>
        </p:nvSpPr>
        <p:spPr>
          <a:xfrm>
            <a:off x="457200" y="274638"/>
            <a:ext cx="8229600" cy="490066"/>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Captology</a:t>
            </a:r>
          </a:p>
        </p:txBody>
      </p:sp>
      <p:sp>
        <p:nvSpPr>
          <p:cNvPr id="40962" name="Text Placeholder 2"/>
          <p:cNvSpPr>
            <a:spLocks noGrp="1"/>
          </p:cNvSpPr>
          <p:nvPr>
            <p:ph type="body" idx="1"/>
          </p:nvPr>
        </p:nvSpPr>
        <p:spPr>
          <a:xfrm>
            <a:off x="474340" y="836712"/>
            <a:ext cx="8229600" cy="5328592"/>
          </a:xfrm>
        </p:spPr>
        <p:txBody>
          <a:bodyPr/>
          <a:lstStyle/>
          <a:p>
            <a:pPr algn="just" eaLnBrk="1" hangingPunct="1">
              <a:lnSpc>
                <a:spcPct val="150000"/>
              </a:lnSpc>
            </a:pPr>
            <a:r>
              <a:rPr lang="en-US" sz="1400" dirty="0" smtClean="0">
                <a:latin typeface="Verdana" pitchFamily="34" charset="0"/>
                <a:ea typeface="ヒラギノ角ゴ Pro W3"/>
                <a:cs typeface="ヒラギノ角ゴ Pro W3"/>
              </a:rPr>
              <a:t>The basic </a:t>
            </a:r>
            <a:r>
              <a:rPr lang="en-US" sz="1400" b="1" dirty="0" smtClean="0">
                <a:latin typeface="Verdana" pitchFamily="34" charset="0"/>
                <a:ea typeface="ヒラギノ角ゴ Pro W3"/>
                <a:cs typeface="ヒラギノ角ゴ Pro W3"/>
              </a:rPr>
              <a:t>aim of captology </a:t>
            </a:r>
            <a:r>
              <a:rPr lang="en-US" sz="1400" dirty="0" smtClean="0">
                <a:latin typeface="Verdana" pitchFamily="34" charset="0"/>
                <a:ea typeface="ヒラギノ角ゴ Pro W3"/>
                <a:cs typeface="ヒラギノ角ゴ Pro W3"/>
              </a:rPr>
              <a:t>is to persuade people to do things they otherwise would not do</a:t>
            </a:r>
            <a:r>
              <a:rPr lang="en-US" sz="1400" dirty="0">
                <a:latin typeface="Verdana" pitchFamily="34" charset="0"/>
                <a:ea typeface="ヒラギノ角ゴ Pro W3"/>
                <a:cs typeface="ヒラギノ角ゴ Pro W3"/>
              </a:rPr>
              <a:t>. </a:t>
            </a:r>
            <a:r>
              <a:rPr lang="en-US" sz="1400" dirty="0">
                <a:solidFill>
                  <a:srgbClr val="00B050"/>
                </a:solidFill>
                <a:latin typeface="Verdana" pitchFamily="34" charset="0"/>
                <a:ea typeface="ヒラギノ角ゴ Pro W3"/>
                <a:cs typeface="ヒラギノ角ゴ Pro W3"/>
              </a:rPr>
              <a:t>(the </a:t>
            </a:r>
            <a:r>
              <a:rPr lang="en-US" sz="1400" b="1" dirty="0">
                <a:solidFill>
                  <a:srgbClr val="00B050"/>
                </a:solidFill>
                <a:latin typeface="Verdana" pitchFamily="34" charset="0"/>
                <a:ea typeface="ヒラギノ角ゴ Pro W3"/>
                <a:cs typeface="ヒラギノ角ゴ Pro W3"/>
              </a:rPr>
              <a:t>study</a:t>
            </a:r>
            <a:r>
              <a:rPr lang="en-US" sz="1400" dirty="0">
                <a:solidFill>
                  <a:srgbClr val="00B050"/>
                </a:solidFill>
                <a:latin typeface="Verdana" pitchFamily="34" charset="0"/>
                <a:ea typeface="ヒラギノ角ゴ Pro W3"/>
                <a:cs typeface="ヒラギノ角ゴ Pro W3"/>
              </a:rPr>
              <a:t> of how computer technology can be used to change people's opinions, or to persuade them to do </a:t>
            </a:r>
            <a:r>
              <a:rPr lang="en-US" sz="1400" dirty="0" smtClean="0">
                <a:solidFill>
                  <a:srgbClr val="00B050"/>
                </a:solidFill>
                <a:latin typeface="Verdana" pitchFamily="34" charset="0"/>
                <a:ea typeface="ヒラギノ角ゴ Pro W3"/>
                <a:cs typeface="ヒラギノ角ゴ Pro W3"/>
              </a:rPr>
              <a:t>something)</a:t>
            </a:r>
          </a:p>
          <a:p>
            <a:pPr algn="just" eaLnBrk="1" hangingPunct="1">
              <a:lnSpc>
                <a:spcPct val="150000"/>
              </a:lnSpc>
            </a:pPr>
            <a:r>
              <a:rPr lang="en-US" sz="1400" dirty="0" smtClean="0">
                <a:latin typeface="Verdana" pitchFamily="34" charset="0"/>
                <a:ea typeface="ヒラギノ角ゴ Pro W3"/>
                <a:cs typeface="ヒラギノ角ゴ Pro W3"/>
              </a:rPr>
              <a:t>Who are we, as designers, to </a:t>
            </a:r>
            <a:r>
              <a:rPr lang="en-US" sz="1400" b="1" dirty="0" smtClean="0">
                <a:latin typeface="Verdana" pitchFamily="34" charset="0"/>
                <a:ea typeface="ヒラギノ角ゴ Pro W3"/>
                <a:cs typeface="ヒラギノ角ゴ Pro W3"/>
              </a:rPr>
              <a:t>persuade people to do something they don’t want to </a:t>
            </a:r>
            <a:r>
              <a:rPr lang="en-US" sz="1400" dirty="0" smtClean="0">
                <a:latin typeface="Verdana" pitchFamily="34" charset="0"/>
                <a:ea typeface="ヒラギノ角ゴ Pro W3"/>
                <a:cs typeface="ヒラギノ角ゴ Pro W3"/>
              </a:rPr>
              <a:t>do. </a:t>
            </a:r>
          </a:p>
          <a:p>
            <a:pPr algn="just" eaLnBrk="1" hangingPunct="1">
              <a:lnSpc>
                <a:spcPct val="150000"/>
              </a:lnSpc>
            </a:pPr>
            <a:r>
              <a:rPr lang="en-US" sz="1400" dirty="0" smtClean="0">
                <a:latin typeface="Verdana" pitchFamily="34" charset="0"/>
                <a:ea typeface="ヒラギノ角ゴ Pro W3"/>
                <a:cs typeface="ヒラギノ角ゴ Pro W3"/>
              </a:rPr>
              <a:t>However, we can see examples, such as the Sandy persona, where persuading him to exercise is for his own good. </a:t>
            </a:r>
          </a:p>
          <a:p>
            <a:pPr algn="just" eaLnBrk="1" hangingPunct="1">
              <a:lnSpc>
                <a:spcPct val="150000"/>
              </a:lnSpc>
            </a:pPr>
            <a:r>
              <a:rPr lang="en-US" sz="1400" dirty="0" smtClean="0">
                <a:latin typeface="Verdana" pitchFamily="34" charset="0"/>
                <a:ea typeface="ヒラギノ角ゴ Pro W3"/>
                <a:cs typeface="ヒラギノ角ゴ Pro W3"/>
              </a:rPr>
              <a:t>We also need to </a:t>
            </a:r>
            <a:r>
              <a:rPr lang="en-US" sz="1400" b="1" dirty="0" smtClean="0">
                <a:latin typeface="Verdana" pitchFamily="34" charset="0"/>
                <a:ea typeface="ヒラギノ角ゴ Pro W3"/>
                <a:cs typeface="ヒラギノ角ゴ Pro W3"/>
              </a:rPr>
              <a:t>persuade people to take precautions </a:t>
            </a:r>
            <a:r>
              <a:rPr lang="en-US" sz="1400" dirty="0" smtClean="0">
                <a:latin typeface="Verdana" pitchFamily="34" charset="0"/>
                <a:ea typeface="ヒラギノ角ゴ Pro W3"/>
                <a:cs typeface="ヒラギノ角ゴ Pro W3"/>
              </a:rPr>
              <a:t>if things are dangerous. </a:t>
            </a:r>
          </a:p>
          <a:p>
            <a:pPr algn="just" eaLnBrk="1" hangingPunct="1">
              <a:lnSpc>
                <a:spcPct val="150000"/>
              </a:lnSpc>
            </a:pPr>
            <a:r>
              <a:rPr lang="en-US" sz="1400" dirty="0" smtClean="0">
                <a:latin typeface="Verdana" pitchFamily="34" charset="0"/>
                <a:ea typeface="ヒラギノ角ゴ Pro W3"/>
                <a:cs typeface="ヒラギノ角ゴ Pro W3"/>
              </a:rPr>
              <a:t>I am quite happy that a </a:t>
            </a:r>
            <a:r>
              <a:rPr lang="en-US" sz="1400" b="1" dirty="0" smtClean="0">
                <a:latin typeface="Verdana" pitchFamily="34" charset="0"/>
                <a:ea typeface="ヒラギノ角ゴ Pro W3"/>
                <a:cs typeface="ヒラギノ角ゴ Pro W3"/>
              </a:rPr>
              <a:t>software system persuaded me to save my work </a:t>
            </a:r>
            <a:r>
              <a:rPr lang="en-US" sz="1400" dirty="0" smtClean="0">
                <a:latin typeface="Verdana" pitchFamily="34" charset="0"/>
                <a:ea typeface="ヒラギノ角ゴ Pro W3"/>
                <a:cs typeface="ヒラギノ角ゴ Pro W3"/>
              </a:rPr>
              <a:t>before the system crashes (on the other hand why did the system not just save it for me?). </a:t>
            </a:r>
          </a:p>
          <a:p>
            <a:pPr algn="just" eaLnBrk="1" hangingPunct="1">
              <a:lnSpc>
                <a:spcPct val="150000"/>
              </a:lnSpc>
            </a:pPr>
            <a:r>
              <a:rPr lang="en-US" sz="1400" b="1" dirty="0" smtClean="0">
                <a:latin typeface="Verdana" pitchFamily="34" charset="0"/>
                <a:ea typeface="ヒラギノ角ゴ Pro W3"/>
                <a:cs typeface="ヒラギノ角ゴ Pro W3"/>
              </a:rPr>
              <a:t>Persuasion</a:t>
            </a:r>
            <a:r>
              <a:rPr lang="en-US" sz="1400" dirty="0" smtClean="0">
                <a:latin typeface="Verdana" pitchFamily="34" charset="0"/>
                <a:ea typeface="ヒラギノ角ゴ Pro W3"/>
                <a:cs typeface="ヒラギノ角ゴ Pro W3"/>
              </a:rPr>
              <a:t> is ‘a non-coercive </a:t>
            </a:r>
            <a:r>
              <a:rPr lang="en-US" sz="1400" dirty="0" smtClean="0">
                <a:solidFill>
                  <a:srgbClr val="00B050"/>
                </a:solidFill>
                <a:latin typeface="Verdana" pitchFamily="34" charset="0"/>
                <a:ea typeface="ヒラギノ角ゴ Pro W3"/>
                <a:cs typeface="ヒラギノ角ゴ Pro W3"/>
              </a:rPr>
              <a:t>(not forcefully)</a:t>
            </a:r>
            <a:r>
              <a:rPr lang="en-US" sz="1400" dirty="0" smtClean="0">
                <a:latin typeface="Verdana" pitchFamily="34" charset="0"/>
                <a:ea typeface="ヒラギノ角ゴ Pro W3"/>
                <a:cs typeface="ヒラギノ角ゴ Pro W3"/>
              </a:rPr>
              <a:t> attempt to change attitudes or behaviors of people’ (Fogg, Cuellar and Danielson, 2008). </a:t>
            </a:r>
          </a:p>
          <a:p>
            <a:pPr algn="just" eaLnBrk="1" hangingPunct="1">
              <a:lnSpc>
                <a:spcPct val="150000"/>
              </a:lnSpc>
            </a:pPr>
            <a:r>
              <a:rPr lang="en-US" sz="1400" dirty="0" smtClean="0">
                <a:latin typeface="Verdana" pitchFamily="34" charset="0"/>
                <a:ea typeface="ヒラギノ角ゴ Pro W3"/>
                <a:cs typeface="ヒラギノ角ゴ Pro W3"/>
              </a:rPr>
              <a:t>However, if this is </a:t>
            </a:r>
            <a:r>
              <a:rPr lang="en-US" sz="1400" b="1" dirty="0" smtClean="0">
                <a:latin typeface="Verdana" pitchFamily="34" charset="0"/>
                <a:ea typeface="ヒラギノ角ゴ Pro W3"/>
                <a:cs typeface="ヒラギノ角ゴ Pro W3"/>
              </a:rPr>
              <a:t>persuading me to buy something that I cannot afford</a:t>
            </a:r>
            <a:r>
              <a:rPr lang="en-US" sz="1400" dirty="0" smtClean="0">
                <a:latin typeface="Verdana" pitchFamily="34" charset="0"/>
                <a:ea typeface="ヒラギノ角ゴ Pro W3"/>
                <a:cs typeface="ヒラギノ角ゴ Pro W3"/>
              </a:rPr>
              <a:t>, then it is not good at all, whether it is non-coercive or not. </a:t>
            </a:r>
          </a:p>
          <a:p>
            <a:pPr algn="just" eaLnBrk="1" hangingPunct="1">
              <a:lnSpc>
                <a:spcPct val="150000"/>
              </a:lnSpc>
            </a:pPr>
            <a:r>
              <a:rPr lang="en-US" sz="1400" dirty="0" smtClean="0">
                <a:latin typeface="Verdana" pitchFamily="34" charset="0"/>
                <a:ea typeface="ヒラギノ角ゴ Pro W3"/>
                <a:cs typeface="ヒラギノ角ゴ Pro W3"/>
              </a:rPr>
              <a:t>This is an </a:t>
            </a:r>
            <a:r>
              <a:rPr lang="en-US" sz="1400" b="1" dirty="0" smtClean="0">
                <a:latin typeface="Verdana" pitchFamily="34" charset="0"/>
                <a:ea typeface="ヒラギノ角ゴ Pro W3"/>
                <a:cs typeface="ヒラギノ角ゴ Pro W3"/>
              </a:rPr>
              <a:t>area</a:t>
            </a:r>
            <a:r>
              <a:rPr lang="en-US" sz="1400" dirty="0" smtClean="0">
                <a:latin typeface="Verdana" pitchFamily="34" charset="0"/>
                <a:ea typeface="ヒラギノ角ゴ Pro W3"/>
                <a:cs typeface="ヒラギノ角ゴ Pro W3"/>
              </a:rPr>
              <a:t> </a:t>
            </a:r>
            <a:r>
              <a:rPr lang="en-US" sz="1400" b="1" dirty="0" smtClean="0">
                <a:latin typeface="Verdana" pitchFamily="34" charset="0"/>
                <a:ea typeface="ヒラギノ角ゴ Pro W3"/>
                <a:cs typeface="ヒラギノ角ゴ Pro W3"/>
              </a:rPr>
              <a:t>of HCI where ethics and values must be taken seriously</a:t>
            </a:r>
            <a:r>
              <a:rPr lang="en-US" sz="1400" dirty="0" smtClean="0">
                <a:latin typeface="Verdana" pitchFamily="34" charset="0"/>
                <a:ea typeface="ヒラギノ角ゴ Pro W3"/>
                <a:cs typeface="ヒラギノ角ゴ Pro W3"/>
              </a:rPr>
              <a:t>.</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p:cNvSpPr>
            <a:spLocks noGrp="1"/>
          </p:cNvSpPr>
          <p:nvPr>
            <p:ph type="title"/>
          </p:nvPr>
        </p:nvSpPr>
        <p:spPr>
          <a:xfrm>
            <a:off x="457200" y="274638"/>
            <a:ext cx="8229600" cy="994122"/>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Environment</a:t>
            </a:r>
          </a:p>
        </p:txBody>
      </p:sp>
      <p:sp>
        <p:nvSpPr>
          <p:cNvPr id="43010" name="Text Placeholder 2"/>
          <p:cNvSpPr>
            <a:spLocks noGrp="1"/>
          </p:cNvSpPr>
          <p:nvPr>
            <p:ph type="body" idx="1"/>
          </p:nvPr>
        </p:nvSpPr>
        <p:spPr>
          <a:xfrm>
            <a:off x="484609" y="1268760"/>
            <a:ext cx="8119839" cy="4525963"/>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In another scenario, we were looking at </a:t>
            </a:r>
            <a:r>
              <a:rPr lang="en-US" sz="1500" b="1" dirty="0" smtClean="0">
                <a:latin typeface="Verdana" pitchFamily="34" charset="0"/>
                <a:ea typeface="ヒラギノ角ゴ Pro W3"/>
                <a:cs typeface="ヒラギノ角ゴ Pro W3"/>
              </a:rPr>
              <a:t>environmental influence on the interaction</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b="1" dirty="0" smtClean="0">
                <a:latin typeface="Verdana" pitchFamily="34" charset="0"/>
                <a:ea typeface="ヒラギノ角ゴ Pro W3"/>
                <a:cs typeface="ヒラギノ角ゴ Pro W3"/>
              </a:rPr>
              <a:t>Small displays </a:t>
            </a:r>
            <a:r>
              <a:rPr lang="en-US" sz="1500" dirty="0" smtClean="0">
                <a:latin typeface="Verdana" pitchFamily="34" charset="0"/>
                <a:ea typeface="ヒラギノ角ゴ Pro W3"/>
                <a:cs typeface="ヒラギノ角ゴ Pro W3"/>
              </a:rPr>
              <a:t>(e.g. digital </a:t>
            </a:r>
            <a:r>
              <a:rPr lang="en-US" sz="1500" dirty="0" err="1" smtClean="0">
                <a:latin typeface="Verdana" pitchFamily="34" charset="0"/>
                <a:ea typeface="ヒラギノ角ゴ Pro W3"/>
                <a:cs typeface="ヒラギノ角ゴ Pro W3"/>
              </a:rPr>
              <a:t>photoframes</a:t>
            </a:r>
            <a:r>
              <a:rPr lang="en-US" sz="1500" dirty="0" smtClean="0">
                <a:latin typeface="Verdana" pitchFamily="34" charset="0"/>
                <a:ea typeface="ヒラギノ角ゴ Pro W3"/>
                <a:cs typeface="ヒラギノ角ゴ Pro W3"/>
              </a:rPr>
              <a:t>) have a more </a:t>
            </a:r>
            <a:r>
              <a:rPr lang="en-US" sz="1500" b="1" dirty="0" smtClean="0">
                <a:latin typeface="Verdana" pitchFamily="34" charset="0"/>
                <a:ea typeface="ヒラギノ角ゴ Pro W3"/>
                <a:cs typeface="ヒラギノ角ゴ Pro W3"/>
              </a:rPr>
              <a:t>limited touch </a:t>
            </a:r>
            <a:r>
              <a:rPr lang="en-US" sz="1500" dirty="0" smtClean="0">
                <a:latin typeface="Verdana" pitchFamily="34" charset="0"/>
                <a:ea typeface="ヒラギノ角ゴ Pro W3"/>
                <a:cs typeface="ヒラギノ角ゴ Pro W3"/>
              </a:rPr>
              <a:t>capability than a larger display </a:t>
            </a:r>
          </a:p>
          <a:p>
            <a:pPr algn="just" eaLnBrk="1" hangingPunct="1">
              <a:lnSpc>
                <a:spcPct val="150000"/>
              </a:lnSpc>
            </a:pPr>
            <a:r>
              <a:rPr lang="en-US" sz="1500" dirty="0" smtClean="0">
                <a:latin typeface="Verdana" pitchFamily="34" charset="0"/>
                <a:ea typeface="ヒラギノ角ゴ Pro W3"/>
                <a:cs typeface="ヒラギノ角ゴ Pro W3"/>
              </a:rPr>
              <a:t>Using a display that is simply too far from the person to be touched. </a:t>
            </a:r>
          </a:p>
          <a:p>
            <a:pPr algn="just" eaLnBrk="1" hangingPunct="1">
              <a:lnSpc>
                <a:spcPct val="150000"/>
              </a:lnSpc>
            </a:pPr>
            <a:r>
              <a:rPr lang="en-US" sz="1500" dirty="0" smtClean="0">
                <a:latin typeface="Verdana" pitchFamily="34" charset="0"/>
                <a:ea typeface="ヒラギノ角ゴ Pro W3"/>
                <a:cs typeface="ヒラギノ角ゴ Pro W3"/>
              </a:rPr>
              <a:t>This in many ways most fairly reflect the current living room environment. </a:t>
            </a:r>
          </a:p>
          <a:p>
            <a:pPr algn="just" eaLnBrk="1" hangingPunct="1">
              <a:lnSpc>
                <a:spcPct val="150000"/>
              </a:lnSpc>
            </a:pPr>
            <a:r>
              <a:rPr lang="en-US" sz="1500" dirty="0" smtClean="0">
                <a:latin typeface="Verdana" pitchFamily="34" charset="0"/>
                <a:ea typeface="ヒラギノ角ゴ Pro W3"/>
                <a:cs typeface="ヒラギノ角ゴ Pro W3"/>
              </a:rPr>
              <a:t>In such a situation, </a:t>
            </a:r>
            <a:r>
              <a:rPr lang="en-US" sz="1500" b="1" dirty="0" smtClean="0">
                <a:latin typeface="Verdana" pitchFamily="34" charset="0"/>
                <a:ea typeface="ヒラギノ角ゴ Pro W3"/>
                <a:cs typeface="ヒラギノ角ゴ Pro W3"/>
              </a:rPr>
              <a:t>physical gesture becomes an appropriate option</a:t>
            </a:r>
            <a:r>
              <a:rPr lang="en-US" sz="1500" dirty="0" smtClean="0">
                <a:latin typeface="Verdana" pitchFamily="34" charset="0"/>
                <a:ea typeface="ヒラギノ角ゴ Pro W3"/>
                <a:cs typeface="ヒラギノ角ゴ Pro W3"/>
              </a:rPr>
              <a:t>, either by using ones hands or by wielding an object, such as is used in the </a:t>
            </a:r>
            <a:r>
              <a:rPr lang="en-US" sz="1500" b="1" dirty="0" smtClean="0">
                <a:latin typeface="Verdana" pitchFamily="34" charset="0"/>
                <a:ea typeface="ヒラギノ角ゴ Pro W3"/>
                <a:cs typeface="ヒラギノ角ゴ Pro W3"/>
              </a:rPr>
              <a:t>Nintendo Wii </a:t>
            </a:r>
            <a:r>
              <a:rPr lang="en-US" sz="1500" dirty="0" smtClean="0">
                <a:latin typeface="Verdana" pitchFamily="34" charset="0"/>
                <a:ea typeface="ヒラギノ角ゴ Pro W3"/>
                <a:cs typeface="ヒラギノ角ゴ Pro W3"/>
              </a:rPr>
              <a:t>games console. </a:t>
            </a:r>
          </a:p>
          <a:p>
            <a:pPr algn="just" eaLnBrk="1" hangingPunct="1">
              <a:lnSpc>
                <a:spcPct val="150000"/>
              </a:lnSpc>
            </a:pPr>
            <a:r>
              <a:rPr lang="en-US" sz="1500" dirty="0" smtClean="0">
                <a:latin typeface="Verdana" pitchFamily="34" charset="0"/>
                <a:ea typeface="ヒラギノ角ゴ Pro W3"/>
                <a:cs typeface="ヒラギノ角ゴ Pro W3"/>
              </a:rPr>
              <a:t>This </a:t>
            </a:r>
            <a:r>
              <a:rPr lang="en-US" sz="1500" b="1" dirty="0" smtClean="0">
                <a:latin typeface="Verdana" pitchFamily="34" charset="0"/>
                <a:ea typeface="ヒラギノ角ゴ Pro W3"/>
                <a:cs typeface="ヒラギノ角ゴ Pro W3"/>
              </a:rPr>
              <a:t>allows for parameters such as speed, direction and shape of movement.</a:t>
            </a:r>
            <a:r>
              <a:rPr lang="en-US" sz="1500" dirty="0" smtClean="0">
                <a:latin typeface="Verdana" pitchFamily="34" charset="0"/>
                <a:ea typeface="ヒラギノ角ゴ Pro W3"/>
                <a:cs typeface="ヒラギノ角ゴ Pro W3"/>
              </a:rPr>
              <a:t> </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a:bodyPr>
          <a:lstStyle/>
          <a:p>
            <a:pPr eaLnBrk="1" hangingPunct="1">
              <a:lnSpc>
                <a:spcPct val="120000"/>
              </a:lnSpc>
            </a:pPr>
            <a:r>
              <a:rPr lang="en-US" sz="1500" b="1" dirty="0" smtClean="0">
                <a:solidFill>
                  <a:srgbClr val="0070C0"/>
                </a:solidFill>
                <a:latin typeface="Verdana" pitchFamily="34" charset="0"/>
                <a:ea typeface="ヒラギノ角ゴ Pro W3"/>
                <a:cs typeface="ヒラギノ角ゴ Pro W3"/>
              </a:rPr>
              <a:t>Using Scenarios throughout design</a:t>
            </a:r>
          </a:p>
        </p:txBody>
      </p:sp>
      <p:sp>
        <p:nvSpPr>
          <p:cNvPr id="3" name="Text Placeholder 2"/>
          <p:cNvSpPr>
            <a:spLocks noGrp="1"/>
          </p:cNvSpPr>
          <p:nvPr>
            <p:ph type="body" idx="1"/>
          </p:nvPr>
        </p:nvSpPr>
        <p:spPr>
          <a:xfrm>
            <a:off x="446906" y="1107058"/>
            <a:ext cx="8229600" cy="4986238"/>
          </a:xfrm>
        </p:spPr>
        <p:txBody>
          <a:bodyPr>
            <a:normAutofit lnSpcReduction="10000"/>
          </a:bodyPr>
          <a:lstStyle/>
          <a:p>
            <a:pPr algn="just" eaLnBrk="1" hangingPunct="1">
              <a:lnSpc>
                <a:spcPct val="150000"/>
              </a:lnSpc>
            </a:pPr>
            <a:r>
              <a:rPr lang="en-US" sz="1500" b="1" dirty="0" smtClean="0">
                <a:latin typeface="Verdana" pitchFamily="34" charset="0"/>
                <a:ea typeface="ヒラギノ角ゴ Pro W3"/>
                <a:cs typeface="ヒラギノ角ゴ Pro W3"/>
              </a:rPr>
              <a:t>Scenarios</a:t>
            </a:r>
            <a:r>
              <a:rPr lang="en-US" sz="1500" dirty="0" smtClean="0">
                <a:latin typeface="Verdana" pitchFamily="34" charset="0"/>
                <a:ea typeface="ヒラギノ角ゴ Pro W3"/>
                <a:cs typeface="ヒラギノ角ゴ Pro W3"/>
              </a:rPr>
              <a:t> (and their associated personas) are a core technique for interactive systems design. </a:t>
            </a:r>
          </a:p>
          <a:p>
            <a:pPr algn="just" eaLnBrk="1" hangingPunct="1">
              <a:lnSpc>
                <a:spcPct val="150000"/>
              </a:lnSpc>
            </a:pPr>
            <a:r>
              <a:rPr lang="en-US" sz="1500" b="1" dirty="0" smtClean="0">
                <a:latin typeface="Verdana" pitchFamily="34" charset="0"/>
                <a:ea typeface="ヒラギノ角ゴ Pro W3"/>
                <a:cs typeface="ヒラギノ角ゴ Pro W3"/>
              </a:rPr>
              <a:t>Scenarios useful in </a:t>
            </a:r>
            <a:r>
              <a:rPr lang="en-US" sz="1500" dirty="0" smtClean="0">
                <a:latin typeface="Verdana" pitchFamily="34" charset="0"/>
                <a:ea typeface="ヒラギノ角ゴ Pro W3"/>
                <a:cs typeface="ヒラギノ角ゴ Pro W3"/>
              </a:rPr>
              <a:t>understanding, envisioning, evaluation, and both conceptual and physical design: the four key stages of interactive system design </a:t>
            </a:r>
          </a:p>
          <a:p>
            <a:pPr algn="just" eaLnBrk="1" hangingPunct="1">
              <a:lnSpc>
                <a:spcPct val="150000"/>
              </a:lnSpc>
            </a:pPr>
            <a:r>
              <a:rPr lang="en-US" sz="1500" dirty="0" smtClean="0">
                <a:latin typeface="Verdana" pitchFamily="34" charset="0"/>
                <a:ea typeface="ヒラギノ角ゴ Pro W3"/>
                <a:cs typeface="ヒラギノ角ゴ Pro W3"/>
              </a:rPr>
              <a:t>We distinguish </a:t>
            </a:r>
            <a:r>
              <a:rPr lang="en-US" sz="1500" b="1" dirty="0" smtClean="0">
                <a:latin typeface="Verdana" pitchFamily="34" charset="0"/>
                <a:ea typeface="ヒラギノ角ゴ Pro W3"/>
                <a:cs typeface="ヒラギノ角ゴ Pro W3"/>
              </a:rPr>
              <a:t>four different types of scenario</a:t>
            </a:r>
            <a:r>
              <a:rPr lang="en-US" sz="1500" dirty="0" smtClean="0">
                <a:latin typeface="Verdana" pitchFamily="34" charset="0"/>
                <a:ea typeface="ヒラギノ角ゴ Pro W3"/>
                <a:cs typeface="ヒラギノ角ゴ Pro W3"/>
              </a:rPr>
              <a:t>: stories, conceptual scenarios, concrete scenarios and use cases. </a:t>
            </a:r>
          </a:p>
          <a:p>
            <a:pPr algn="just" eaLnBrk="1" hangingPunct="1">
              <a:lnSpc>
                <a:spcPct val="150000"/>
              </a:lnSpc>
            </a:pPr>
            <a:r>
              <a:rPr lang="en-US" sz="1500" b="1" dirty="0" smtClean="0">
                <a:solidFill>
                  <a:srgbClr val="0070C0"/>
                </a:solidFill>
                <a:latin typeface="Verdana" pitchFamily="34" charset="0"/>
                <a:ea typeface="ヒラギノ角ゴ Pro W3"/>
                <a:cs typeface="ヒラギノ角ゴ Pro W3"/>
              </a:rPr>
              <a:t>Stories</a:t>
            </a:r>
            <a:r>
              <a:rPr lang="en-US" sz="1500" dirty="0" smtClean="0">
                <a:latin typeface="Verdana" pitchFamily="34" charset="0"/>
                <a:ea typeface="ヒラギノ角ゴ Pro W3"/>
                <a:cs typeface="ヒラギノ角ゴ Pro W3"/>
              </a:rPr>
              <a:t> are the real-world experiences of people. </a:t>
            </a:r>
          </a:p>
          <a:p>
            <a:pPr algn="just" eaLnBrk="1" hangingPunct="1">
              <a:lnSpc>
                <a:spcPct val="150000"/>
              </a:lnSpc>
            </a:pPr>
            <a:r>
              <a:rPr lang="en-US" sz="1500" b="1" dirty="0" smtClean="0">
                <a:solidFill>
                  <a:srgbClr val="0070C0"/>
                </a:solidFill>
                <a:latin typeface="Verdana" pitchFamily="34" charset="0"/>
                <a:ea typeface="ヒラギノ角ゴ Pro W3"/>
                <a:cs typeface="ヒラギノ角ゴ Pro W3"/>
              </a:rPr>
              <a:t>Conceptual scenarios </a:t>
            </a:r>
            <a:r>
              <a:rPr lang="en-US" sz="1500" dirty="0" smtClean="0">
                <a:latin typeface="Verdana" pitchFamily="34" charset="0"/>
                <a:ea typeface="ヒラギノ角ゴ Pro W3"/>
                <a:cs typeface="ヒラギノ角ゴ Pro W3"/>
              </a:rPr>
              <a:t>are more abstract descriptions in which some details have been stripped away. </a:t>
            </a:r>
          </a:p>
          <a:p>
            <a:pPr algn="just" eaLnBrk="1" hangingPunct="1">
              <a:lnSpc>
                <a:spcPct val="150000"/>
              </a:lnSpc>
            </a:pPr>
            <a:r>
              <a:rPr lang="en-US" sz="1500" b="1" dirty="0" smtClean="0">
                <a:solidFill>
                  <a:srgbClr val="0070C0"/>
                </a:solidFill>
                <a:latin typeface="Verdana" pitchFamily="34" charset="0"/>
                <a:ea typeface="ヒラギノ角ゴ Pro W3"/>
                <a:cs typeface="ヒラギノ角ゴ Pro W3"/>
              </a:rPr>
              <a:t>Concrete scenarios </a:t>
            </a:r>
            <a:r>
              <a:rPr lang="en-US" sz="1500" dirty="0" smtClean="0">
                <a:latin typeface="Verdana" pitchFamily="34" charset="0"/>
                <a:ea typeface="ヒラギノ角ゴ Pro W3"/>
                <a:cs typeface="ヒラギノ角ゴ Pro W3"/>
              </a:rPr>
              <a:t>are generated from abstract scenarios by adding specific design decisions and technologies and once completed these can be represented as use cases. </a:t>
            </a:r>
          </a:p>
          <a:p>
            <a:pPr algn="just" eaLnBrk="1" hangingPunct="1">
              <a:lnSpc>
                <a:spcPct val="150000"/>
              </a:lnSpc>
            </a:pPr>
            <a:r>
              <a:rPr lang="en-US" sz="1500" b="1" dirty="0" smtClean="0">
                <a:solidFill>
                  <a:srgbClr val="0070C0"/>
                </a:solidFill>
                <a:latin typeface="Verdana" pitchFamily="34" charset="0"/>
                <a:ea typeface="ヒラギノ角ゴ Pro W3"/>
                <a:cs typeface="ヒラギノ角ゴ Pro W3"/>
              </a:rPr>
              <a:t>Use cases </a:t>
            </a:r>
            <a:r>
              <a:rPr lang="en-US" sz="1500" dirty="0" smtClean="0">
                <a:latin typeface="Verdana" pitchFamily="34" charset="0"/>
                <a:ea typeface="ヒラギノ角ゴ Pro W3"/>
                <a:cs typeface="ヒラギノ角ゴ Pro W3"/>
              </a:rPr>
              <a:t>are formal descriptions that can be given to programmers.</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p:cNvSpPr>
            <a:spLocks noGrp="1"/>
          </p:cNvSpPr>
          <p:nvPr>
            <p:ph type="title"/>
          </p:nvPr>
        </p:nvSpPr>
        <p:spPr>
          <a:xfrm>
            <a:off x="457200" y="274638"/>
            <a:ext cx="8229600" cy="634082"/>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Scenarios at different stages</a:t>
            </a:r>
          </a:p>
        </p:txBody>
      </p:sp>
      <p:sp>
        <p:nvSpPr>
          <p:cNvPr id="3" name="Text Placeholder 2"/>
          <p:cNvSpPr>
            <a:spLocks noGrp="1"/>
          </p:cNvSpPr>
          <p:nvPr>
            <p:ph type="body" idx="1"/>
          </p:nvPr>
        </p:nvSpPr>
        <p:spPr>
          <a:xfrm>
            <a:off x="457200" y="908720"/>
            <a:ext cx="7972400" cy="5328592"/>
          </a:xfrm>
        </p:spPr>
        <p:txBody>
          <a:bodyPr>
            <a:normAutofit/>
          </a:bodyPr>
          <a:lstStyle/>
          <a:p>
            <a:pPr algn="just" eaLnBrk="1" hangingPunct="1">
              <a:lnSpc>
                <a:spcPct val="150000"/>
              </a:lnSpc>
            </a:pPr>
            <a:r>
              <a:rPr lang="en-US" sz="1500" dirty="0" smtClean="0">
                <a:latin typeface="Verdana" pitchFamily="34" charset="0"/>
                <a:ea typeface="ヒラギノ角ゴ Pro W3"/>
                <a:cs typeface="ヒラギノ角ゴ Pro W3"/>
              </a:rPr>
              <a:t>At different stages of the design process, </a:t>
            </a:r>
            <a:r>
              <a:rPr lang="en-US" sz="1500" b="1" dirty="0" smtClean="0">
                <a:latin typeface="Verdana" pitchFamily="34" charset="0"/>
                <a:ea typeface="ヒラギノ角ゴ Pro W3"/>
                <a:cs typeface="ヒラギノ角ゴ Pro W3"/>
              </a:rPr>
              <a:t>scenarios are helpful in </a:t>
            </a:r>
            <a:r>
              <a:rPr lang="en-US" sz="1500" dirty="0" smtClean="0">
                <a:latin typeface="Verdana" pitchFamily="34" charset="0"/>
                <a:ea typeface="ヒラギノ角ゴ Pro W3"/>
                <a:cs typeface="ヒラギノ角ゴ Pro W3"/>
              </a:rPr>
              <a:t>understanding current practice and any problems or difficulties that people may be having, in generating and testing ideas, in documenting and communicating ideas to others and in evaluating designs. </a:t>
            </a:r>
          </a:p>
          <a:p>
            <a:pPr algn="just" eaLnBrk="1" hangingPunct="1">
              <a:lnSpc>
                <a:spcPct val="150000"/>
              </a:lnSpc>
            </a:pPr>
            <a:r>
              <a:rPr lang="en-US" sz="1500" dirty="0" smtClean="0">
                <a:latin typeface="Verdana" pitchFamily="34" charset="0"/>
                <a:ea typeface="ヒラギノ角ゴ Pro W3"/>
                <a:cs typeface="ヒラギノ角ゴ Pro W3"/>
              </a:rPr>
              <a:t>Many </a:t>
            </a:r>
            <a:r>
              <a:rPr lang="en-US" sz="1500" b="1" dirty="0" smtClean="0">
                <a:latin typeface="Verdana" pitchFamily="34" charset="0"/>
                <a:ea typeface="ヒラギノ角ゴ Pro W3"/>
                <a:cs typeface="ヒラギノ角ゴ Pro W3"/>
              </a:rPr>
              <a:t>stories will be represented by a few conceptual scenarios</a:t>
            </a:r>
            <a:r>
              <a:rPr lang="en-US" sz="1500" dirty="0" smtClean="0">
                <a:latin typeface="Verdana" pitchFamily="34" charset="0"/>
                <a:ea typeface="ヒラギノ角ゴ Pro W3"/>
                <a:cs typeface="ヒラギノ角ゴ Pro W3"/>
              </a:rPr>
              <a:t>. However, each </a:t>
            </a:r>
            <a:r>
              <a:rPr lang="en-US" sz="1500" b="1" dirty="0" smtClean="0">
                <a:latin typeface="Verdana" pitchFamily="34" charset="0"/>
                <a:ea typeface="ヒラギノ角ゴ Pro W3"/>
                <a:cs typeface="ヒラギノ角ゴ Pro W3"/>
              </a:rPr>
              <a:t>conceptual scenario may generate many concrete scenarios</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b="1" dirty="0" smtClean="0">
                <a:latin typeface="Verdana" pitchFamily="34" charset="0"/>
                <a:ea typeface="ヒラギノ角ゴ Pro W3"/>
                <a:cs typeface="ヒラギノ角ゴ Pro W3"/>
              </a:rPr>
              <a:t>Several concrete scenarios </a:t>
            </a:r>
            <a:r>
              <a:rPr lang="en-US" sz="1500" dirty="0" smtClean="0">
                <a:latin typeface="Verdana" pitchFamily="34" charset="0"/>
                <a:ea typeface="ヒラギノ角ゴ Pro W3"/>
                <a:cs typeface="ヒラギノ角ゴ Pro W3"/>
              </a:rPr>
              <a:t>will be represented by a </a:t>
            </a:r>
            <a:r>
              <a:rPr lang="en-US" sz="1500" b="1" dirty="0" smtClean="0">
                <a:latin typeface="Verdana" pitchFamily="34" charset="0"/>
                <a:ea typeface="ヒラギノ角ゴ Pro W3"/>
                <a:cs typeface="ヒラギノ角ゴ Pro W3"/>
              </a:rPr>
              <a:t>single use case</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Designers abstract from the details of stories to arrive at conceptual scenarios. </a:t>
            </a:r>
          </a:p>
          <a:p>
            <a:pPr algn="just" eaLnBrk="1" hangingPunct="1">
              <a:lnSpc>
                <a:spcPct val="150000"/>
              </a:lnSpc>
            </a:pPr>
            <a:r>
              <a:rPr lang="en-US" sz="1500" dirty="0" smtClean="0">
                <a:latin typeface="Verdana" pitchFamily="34" charset="0"/>
                <a:ea typeface="ヒラギノ角ゴ Pro W3"/>
                <a:cs typeface="ヒラギノ角ゴ Pro W3"/>
              </a:rPr>
              <a:t>They </a:t>
            </a:r>
            <a:r>
              <a:rPr lang="en-US" sz="1500" b="1" dirty="0" smtClean="0">
                <a:latin typeface="Verdana" pitchFamily="34" charset="0"/>
                <a:ea typeface="ヒラギノ角ゴ Pro W3"/>
                <a:cs typeface="ヒラギノ角ゴ Pro W3"/>
              </a:rPr>
              <a:t>specify design constraints on conceptual scenarios </a:t>
            </a:r>
            <a:r>
              <a:rPr lang="en-US" sz="1500" dirty="0" smtClean="0">
                <a:latin typeface="Verdana" pitchFamily="34" charset="0"/>
                <a:ea typeface="ヒラギノ角ゴ Pro W3"/>
                <a:cs typeface="ヒラギノ角ゴ Pro W3"/>
              </a:rPr>
              <a:t>to arrive at concrete scenarios. </a:t>
            </a:r>
          </a:p>
          <a:p>
            <a:pPr algn="just" eaLnBrk="1" hangingPunct="1">
              <a:lnSpc>
                <a:spcPct val="150000"/>
              </a:lnSpc>
            </a:pPr>
            <a:r>
              <a:rPr lang="en-US" sz="1500" dirty="0" smtClean="0">
                <a:latin typeface="Verdana" pitchFamily="34" charset="0"/>
                <a:ea typeface="ヒラギノ角ゴ Pro W3"/>
                <a:cs typeface="ヒラギノ角ゴ Pro W3"/>
              </a:rPr>
              <a:t>Finally they </a:t>
            </a:r>
            <a:r>
              <a:rPr lang="en-US" sz="1500" b="1" dirty="0" smtClean="0">
                <a:latin typeface="Verdana" pitchFamily="34" charset="0"/>
                <a:ea typeface="ヒラギノ角ゴ Pro W3"/>
                <a:cs typeface="ヒラギノ角ゴ Pro W3"/>
              </a:rPr>
              <a:t>formalize the design ideas as use cases</a:t>
            </a:r>
            <a:r>
              <a:rPr lang="en-US" sz="1500" dirty="0" smtClean="0">
                <a:latin typeface="Verdana" pitchFamily="34" charset="0"/>
                <a:ea typeface="ヒラギノ角ゴ Pro W3"/>
                <a:cs typeface="ヒラギノ角ゴ Pro W3"/>
              </a:rPr>
              <a:t>. </a:t>
            </a:r>
            <a:endParaRPr lang="en-US" sz="1500" dirty="0" smtClean="0">
              <a:solidFill>
                <a:srgbClr val="00B050"/>
              </a:solidFill>
              <a:latin typeface="Verdana" pitchFamily="34" charset="0"/>
              <a:ea typeface="ヒラギノ角ゴ Pro W3"/>
              <a:cs typeface="ヒラギノ角ゴ Pro W3"/>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p:txBody>
          <a:bodyPr/>
          <a:lstStyle/>
          <a:p>
            <a:pPr eaLnBrk="1" hangingPunct="1">
              <a:lnSpc>
                <a:spcPct val="120000"/>
              </a:lnSpc>
            </a:pPr>
            <a:r>
              <a:rPr lang="en-US" sz="1500" b="1" smtClean="0">
                <a:latin typeface="Verdana" pitchFamily="34" charset="0"/>
                <a:ea typeface="ヒラギノ角ゴ Pro W3"/>
                <a:cs typeface="ヒラギノ角ゴ Pro W3"/>
              </a:rPr>
              <a:t>Stories</a:t>
            </a:r>
          </a:p>
        </p:txBody>
      </p:sp>
      <p:sp>
        <p:nvSpPr>
          <p:cNvPr id="3" name="Text Placeholder 2"/>
          <p:cNvSpPr>
            <a:spLocks noGrp="1"/>
          </p:cNvSpPr>
          <p:nvPr>
            <p:ph type="body" idx="1"/>
          </p:nvPr>
        </p:nvSpPr>
        <p:spPr>
          <a:xfrm>
            <a:off x="457200" y="1340768"/>
            <a:ext cx="8229600" cy="4525963"/>
          </a:xfrm>
        </p:spPr>
        <p:txBody>
          <a:bodyPr>
            <a:normAutofit/>
          </a:bodyPr>
          <a:lstStyle/>
          <a:p>
            <a:pPr algn="just" eaLnBrk="1" hangingPunct="1">
              <a:lnSpc>
                <a:spcPct val="150000"/>
              </a:lnSpc>
            </a:pPr>
            <a:r>
              <a:rPr lang="en-US" sz="1500" b="1" dirty="0" smtClean="0">
                <a:latin typeface="Verdana" pitchFamily="34" charset="0"/>
                <a:ea typeface="ヒラギノ角ゴ Pro W3"/>
                <a:cs typeface="ヒラギノ角ゴ Pro W3"/>
              </a:rPr>
              <a:t>Stories</a:t>
            </a:r>
            <a:r>
              <a:rPr lang="en-US" sz="1500" dirty="0" smtClean="0">
                <a:latin typeface="Verdana" pitchFamily="34" charset="0"/>
                <a:ea typeface="ヒラギノ角ゴ Pro W3"/>
                <a:cs typeface="ヒラギノ角ゴ Pro W3"/>
              </a:rPr>
              <a:t> are the real-world experiences, ideas, anecdotes and knowledge of people. </a:t>
            </a:r>
          </a:p>
          <a:p>
            <a:pPr algn="just" eaLnBrk="1" hangingPunct="1">
              <a:lnSpc>
                <a:spcPct val="150000"/>
              </a:lnSpc>
            </a:pPr>
            <a:r>
              <a:rPr lang="en-US" sz="1500" dirty="0" smtClean="0">
                <a:latin typeface="Verdana" pitchFamily="34" charset="0"/>
                <a:ea typeface="ヒラギノ角ゴ Pro W3"/>
                <a:cs typeface="ヒラギノ角ゴ Pro W3"/>
              </a:rPr>
              <a:t>These may be </a:t>
            </a:r>
            <a:r>
              <a:rPr lang="en-US" sz="1500" b="1" dirty="0" smtClean="0">
                <a:latin typeface="Verdana" pitchFamily="34" charset="0"/>
                <a:ea typeface="ヒラギノ角ゴ Pro W3"/>
                <a:cs typeface="ヒラギノ角ゴ Pro W3"/>
              </a:rPr>
              <a:t>captured in any form </a:t>
            </a:r>
            <a:r>
              <a:rPr lang="en-US" sz="1500" dirty="0" smtClean="0">
                <a:latin typeface="Verdana" pitchFamily="34" charset="0"/>
                <a:ea typeface="ヒラギノ角ゴ Pro W3"/>
                <a:cs typeface="ヒラギノ角ゴ Pro W3"/>
              </a:rPr>
              <a:t>and comprise small snippets of </a:t>
            </a:r>
            <a:r>
              <a:rPr lang="en-US" sz="1500" b="1" dirty="0" smtClean="0">
                <a:latin typeface="Verdana" pitchFamily="34" charset="0"/>
                <a:ea typeface="ヒラギノ角ゴ Pro W3"/>
                <a:cs typeface="ヒラギノ角ゴ Pro W3"/>
              </a:rPr>
              <a:t>activities and the contexts</a:t>
            </a:r>
            <a:r>
              <a:rPr lang="en-US" sz="1500" dirty="0" smtClean="0">
                <a:latin typeface="Verdana" pitchFamily="34" charset="0"/>
                <a:ea typeface="ヒラギノ角ゴ Pro W3"/>
                <a:cs typeface="ヒラギノ角ゴ Pro W3"/>
              </a:rPr>
              <a:t> in which they occur. </a:t>
            </a:r>
          </a:p>
          <a:p>
            <a:pPr algn="just" eaLnBrk="1" hangingPunct="1">
              <a:lnSpc>
                <a:spcPct val="150000"/>
              </a:lnSpc>
            </a:pPr>
            <a:r>
              <a:rPr lang="en-US" sz="1500" dirty="0" smtClean="0">
                <a:latin typeface="Verdana" pitchFamily="34" charset="0"/>
                <a:ea typeface="ヒラギノ角ゴ Pro W3"/>
                <a:cs typeface="ヒラギノ角ゴ Pro W3"/>
              </a:rPr>
              <a:t>This could </a:t>
            </a:r>
            <a:r>
              <a:rPr lang="en-US" sz="1500" b="1" dirty="0" smtClean="0">
                <a:latin typeface="Verdana" pitchFamily="34" charset="0"/>
                <a:ea typeface="ヒラギノ角ゴ Pro W3"/>
                <a:cs typeface="ヒラギノ角ゴ Pro W3"/>
              </a:rPr>
              <a:t>include</a:t>
            </a:r>
            <a:r>
              <a:rPr lang="en-US" sz="1500" dirty="0" smtClean="0">
                <a:latin typeface="Verdana" pitchFamily="34" charset="0"/>
                <a:ea typeface="ヒラギノ角ゴ Pro W3"/>
                <a:cs typeface="ヒラギノ角ゴ Pro W3"/>
              </a:rPr>
              <a:t> videos of people engaged in an activity, diary entries, photographs, documents, the results of observations and interviews and so on. </a:t>
            </a:r>
          </a:p>
          <a:p>
            <a:pPr algn="just" eaLnBrk="1" hangingPunct="1">
              <a:lnSpc>
                <a:spcPct val="150000"/>
              </a:lnSpc>
            </a:pPr>
            <a:r>
              <a:rPr lang="en-US" sz="1500" dirty="0" smtClean="0">
                <a:latin typeface="Verdana" pitchFamily="34" charset="0"/>
                <a:ea typeface="ヒラギノ角ゴ Pro W3"/>
                <a:cs typeface="ヒラギノ角ゴ Pro W3"/>
              </a:rPr>
              <a:t>People’s stories are rich in context. </a:t>
            </a:r>
          </a:p>
          <a:p>
            <a:pPr algn="just" eaLnBrk="1" hangingPunct="1">
              <a:lnSpc>
                <a:spcPct val="150000"/>
              </a:lnSpc>
            </a:pPr>
            <a:r>
              <a:rPr lang="en-US" sz="1500" b="1" dirty="0" smtClean="0">
                <a:latin typeface="Verdana" pitchFamily="34" charset="0"/>
                <a:ea typeface="ヒラギノ角ゴ Pro W3"/>
                <a:cs typeface="ヒラギノ角ゴ Pro W3"/>
              </a:rPr>
              <a:t>Stories</a:t>
            </a:r>
            <a:r>
              <a:rPr lang="en-US" sz="1500" dirty="0" smtClean="0">
                <a:latin typeface="Verdana" pitchFamily="34" charset="0"/>
                <a:ea typeface="ヒラギノ角ゴ Pro W3"/>
                <a:cs typeface="ヒラギノ角ゴ Pro W3"/>
              </a:rPr>
              <a:t> also capture many seemingly trivial (unimportant) details that are usually left out if people are asked to provide more formal representations of what they do.</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p:cNvSpPr>
            <a:spLocks noGrp="1"/>
          </p:cNvSpPr>
          <p:nvPr>
            <p:ph type="title"/>
          </p:nvPr>
        </p:nvSpPr>
        <p:spPr/>
        <p:txBody>
          <a:bodyPr/>
          <a:lstStyle/>
          <a:p>
            <a:pPr eaLnBrk="1" hangingPunct="1">
              <a:lnSpc>
                <a:spcPct val="120000"/>
              </a:lnSpc>
            </a:pPr>
            <a:r>
              <a:rPr lang="en-US" sz="1500" b="1" smtClean="0">
                <a:latin typeface="Verdana" pitchFamily="34" charset="0"/>
                <a:ea typeface="ヒラギノ角ゴ Pro W3"/>
                <a:cs typeface="ヒラギノ角ゴ Pro W3"/>
              </a:rPr>
              <a:t>Story: Example</a:t>
            </a:r>
          </a:p>
        </p:txBody>
      </p:sp>
      <p:sp>
        <p:nvSpPr>
          <p:cNvPr id="3" name="Text Placeholder 2"/>
          <p:cNvSpPr>
            <a:spLocks noGrp="1"/>
          </p:cNvSpPr>
          <p:nvPr>
            <p:ph type="body" idx="1"/>
          </p:nvPr>
        </p:nvSpPr>
        <p:spPr>
          <a:xfrm>
            <a:off x="457200" y="1417638"/>
            <a:ext cx="8003232" cy="4525963"/>
          </a:xfrm>
        </p:spPr>
        <p:txBody>
          <a:bodyPr>
            <a:normAutofit/>
          </a:bodyPr>
          <a:lstStyle/>
          <a:p>
            <a:pPr algn="just" eaLnBrk="1" hangingPunct="1">
              <a:lnSpc>
                <a:spcPct val="150000"/>
              </a:lnSpc>
            </a:pPr>
            <a:r>
              <a:rPr lang="en-US" sz="1500" i="1" dirty="0" smtClean="0">
                <a:latin typeface="Verdana" pitchFamily="34" charset="0"/>
                <a:ea typeface="ヒラギノ角ゴ Pro W3"/>
                <a:cs typeface="ヒラギノ角ゴ Pro W3"/>
              </a:rPr>
              <a:t>I needed to make an appointment for Kirsty, my little one. It wasn’t urgent – she had been having a lot of bad ear-ache every time she had a cold – but I did want to see </a:t>
            </a:r>
            <a:r>
              <a:rPr lang="en-US" sz="1500" i="1" dirty="0" err="1" smtClean="0">
                <a:latin typeface="Verdana" pitchFamily="34" charset="0"/>
                <a:ea typeface="ヒラギノ角ゴ Pro W3"/>
                <a:cs typeface="ヒラギノ角ゴ Pro W3"/>
              </a:rPr>
              <a:t>Dr</a:t>
            </a:r>
            <a:r>
              <a:rPr lang="en-US" sz="1500" i="1" dirty="0" smtClean="0">
                <a:latin typeface="Verdana" pitchFamily="34" charset="0"/>
                <a:ea typeface="ヒラギノ角ゴ Pro W3"/>
                <a:cs typeface="ヒラギノ角ゴ Pro W3"/>
              </a:rPr>
              <a:t> Fox since she’s so good with the children. And of course ideally it had to be when Kirsty was out of school and I could take time off work. I rang the surgery and the receptionist told me that the next appointment for </a:t>
            </a:r>
            <a:r>
              <a:rPr lang="en-US" sz="1500" i="1" dirty="0" err="1" smtClean="0">
                <a:latin typeface="Verdana" pitchFamily="34" charset="0"/>
                <a:ea typeface="ヒラギノ角ゴ Pro W3"/>
                <a:cs typeface="ヒラギノ角ゴ Pro W3"/>
              </a:rPr>
              <a:t>Dr</a:t>
            </a:r>
            <a:r>
              <a:rPr lang="en-US" sz="1500" i="1" dirty="0" smtClean="0">
                <a:latin typeface="Verdana" pitchFamily="34" charset="0"/>
                <a:ea typeface="ヒラギノ角ゴ Pro W3"/>
                <a:cs typeface="ヒラギノ角ゴ Pro W3"/>
              </a:rPr>
              <a:t> Fox was the next Tuesday afternoon. That was no good since Tuesday is one of my really busy days so I asked when the next one was. The receptionist said Thursday morning. That meant making Kirsty late for school but I agreed because they sounded very busy – the other phone kept ringing in the background – and I was in a hurry myself. It was difficult to suggest a better time without knowing which appointments were still free.</a:t>
            </a:r>
            <a:endParaRPr lang="en-US" sz="1500" dirty="0" smtClean="0">
              <a:latin typeface="Verdana"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p:cNvSpPr>
            <a:spLocks noGrp="1"/>
          </p:cNvSpPr>
          <p:nvPr>
            <p:ph type="title"/>
          </p:nvPr>
        </p:nvSpPr>
        <p:spPr/>
        <p:txBody>
          <a:bodyPr/>
          <a:lstStyle/>
          <a:p>
            <a:pPr eaLnBrk="1" hangingPunct="1">
              <a:lnSpc>
                <a:spcPct val="120000"/>
              </a:lnSpc>
            </a:pPr>
            <a:r>
              <a:rPr lang="en-US" sz="1500" b="1" smtClean="0">
                <a:latin typeface="Verdana" pitchFamily="34" charset="0"/>
                <a:ea typeface="ヒラギノ角ゴ Pro W3"/>
                <a:cs typeface="ヒラギノ角ゴ Pro W3"/>
              </a:rPr>
              <a:t>Conceptual scenarios</a:t>
            </a:r>
          </a:p>
        </p:txBody>
      </p:sp>
      <p:sp>
        <p:nvSpPr>
          <p:cNvPr id="3" name="Text Placeholder 2"/>
          <p:cNvSpPr>
            <a:spLocks noGrp="1"/>
          </p:cNvSpPr>
          <p:nvPr>
            <p:ph type="body" idx="1"/>
          </p:nvPr>
        </p:nvSpPr>
        <p:spPr>
          <a:xfrm>
            <a:off x="457200" y="1403350"/>
            <a:ext cx="8229600" cy="4525963"/>
          </a:xfrm>
        </p:spPr>
        <p:txBody>
          <a:bodyPr>
            <a:normAutofit/>
          </a:bodyPr>
          <a:lstStyle/>
          <a:p>
            <a:pPr algn="just" eaLnBrk="1" hangingPunct="1">
              <a:lnSpc>
                <a:spcPct val="150000"/>
              </a:lnSpc>
            </a:pPr>
            <a:r>
              <a:rPr lang="en-US" sz="1500" dirty="0" smtClean="0">
                <a:latin typeface="Verdana" pitchFamily="34" charset="0"/>
                <a:ea typeface="ヒラギノ角ゴ Pro W3"/>
                <a:cs typeface="ヒラギノ角ゴ Pro W3"/>
              </a:rPr>
              <a:t>Conceptual scenarios are </a:t>
            </a:r>
            <a:r>
              <a:rPr lang="en-US" sz="1500" b="1" dirty="0" smtClean="0">
                <a:latin typeface="Verdana" pitchFamily="34" charset="0"/>
                <a:ea typeface="ヒラギノ角ゴ Pro W3"/>
                <a:cs typeface="ヒラギノ角ゴ Pro W3"/>
              </a:rPr>
              <a:t>more abstract than stories</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Much of the context is stripped away during the process of abstraction and similar stories are combined together. </a:t>
            </a:r>
          </a:p>
          <a:p>
            <a:pPr algn="just" eaLnBrk="1" hangingPunct="1">
              <a:lnSpc>
                <a:spcPct val="150000"/>
              </a:lnSpc>
            </a:pPr>
            <a:r>
              <a:rPr lang="en-US" sz="1500" b="1" dirty="0" smtClean="0">
                <a:latin typeface="Verdana" pitchFamily="34" charset="0"/>
                <a:ea typeface="ヒラギノ角ゴ Pro W3"/>
                <a:cs typeface="ヒラギノ角ゴ Pro W3"/>
              </a:rPr>
              <a:t>Conceptual scenarios are particularly useful for generating design ideas and for understanding the requirements of the system.</a:t>
            </a:r>
          </a:p>
          <a:p>
            <a:pPr algn="just" eaLnBrk="1" hangingPunct="1">
              <a:lnSpc>
                <a:spcPct val="150000"/>
              </a:lnSpc>
            </a:pPr>
            <a:r>
              <a:rPr lang="en-US" sz="1500" dirty="0" smtClean="0">
                <a:latin typeface="Verdana" pitchFamily="34" charset="0"/>
                <a:ea typeface="ヒラギノ角ゴ Pro W3"/>
                <a:cs typeface="ヒラギノ角ゴ Pro W3"/>
              </a:rPr>
              <a:t>Once the designer has </a:t>
            </a:r>
            <a:r>
              <a:rPr lang="en-US" sz="1500" b="1" dirty="0" smtClean="0">
                <a:latin typeface="Verdana" pitchFamily="34" charset="0"/>
                <a:ea typeface="ヒラギノ角ゴ Pro W3"/>
                <a:cs typeface="ヒラギノ角ゴ Pro W3"/>
              </a:rPr>
              <a:t>accumulated a collection of stories</a:t>
            </a:r>
            <a:r>
              <a:rPr lang="en-US" sz="1500" dirty="0" smtClean="0">
                <a:latin typeface="Verdana" pitchFamily="34" charset="0"/>
                <a:ea typeface="ヒラギノ角ゴ Pro W3"/>
                <a:cs typeface="ヒラギノ角ゴ Pro W3"/>
              </a:rPr>
              <a:t>, </a:t>
            </a:r>
            <a:r>
              <a:rPr lang="en-US" sz="1500" b="1" dirty="0" smtClean="0">
                <a:latin typeface="Verdana" pitchFamily="34" charset="0"/>
                <a:ea typeface="ヒラギノ角ゴ Pro W3"/>
                <a:cs typeface="ヒラギノ角ゴ Pro W3"/>
              </a:rPr>
              <a:t>common elements will start to emerge</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In this case, a number of stories, such as in previous slide, result in the conceptual scenario below describing some </a:t>
            </a:r>
            <a:r>
              <a:rPr lang="en-US" sz="1500" b="1" dirty="0" smtClean="0">
                <a:latin typeface="Verdana" pitchFamily="34" charset="0"/>
                <a:ea typeface="ヒラギノ角ゴ Pro W3"/>
                <a:cs typeface="ヒラギノ角ゴ Pro W3"/>
              </a:rPr>
              <a:t>requirements for a computerized appointments system</a:t>
            </a:r>
            <a:r>
              <a:rPr lang="en-US" sz="1500" dirty="0" smtClean="0">
                <a:latin typeface="Verdana" pitchFamily="34" charset="0"/>
                <a:ea typeface="ヒラギノ角ゴ Pro W3"/>
                <a:cs typeface="ヒラギノ角ゴ Pro W3"/>
              </a:rPr>
              <a:t>.</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p:cNvSpPr>
            <a:spLocks noGrp="1"/>
          </p:cNvSpPr>
          <p:nvPr>
            <p:ph type="title"/>
          </p:nvPr>
        </p:nvSpPr>
        <p:spPr>
          <a:xfrm>
            <a:off x="457200" y="274638"/>
            <a:ext cx="8229600" cy="490066"/>
          </a:xfrm>
        </p:spPr>
        <p:txBody>
          <a:bodyPr/>
          <a:lstStyle/>
          <a:p>
            <a:pPr eaLnBrk="1" hangingPunct="1">
              <a:lnSpc>
                <a:spcPct val="120000"/>
              </a:lnSpc>
            </a:pPr>
            <a:r>
              <a:rPr lang="en-US" sz="1500" b="1" smtClean="0">
                <a:latin typeface="Verdana" pitchFamily="34" charset="0"/>
                <a:ea typeface="ヒラギノ角ゴ Pro W3"/>
                <a:cs typeface="ヒラギノ角ゴ Pro W3"/>
              </a:rPr>
              <a:t>Concrete scenarios</a:t>
            </a:r>
          </a:p>
        </p:txBody>
      </p:sp>
      <p:sp>
        <p:nvSpPr>
          <p:cNvPr id="3" name="Text Placeholder 2"/>
          <p:cNvSpPr>
            <a:spLocks noGrp="1"/>
          </p:cNvSpPr>
          <p:nvPr>
            <p:ph type="body" idx="1"/>
          </p:nvPr>
        </p:nvSpPr>
        <p:spPr>
          <a:xfrm>
            <a:off x="179512" y="788168"/>
            <a:ext cx="8541568" cy="5521151"/>
          </a:xfrm>
        </p:spPr>
        <p:txBody>
          <a:bodyPr>
            <a:normAutofit/>
          </a:bodyPr>
          <a:lstStyle/>
          <a:p>
            <a:pPr algn="just" eaLnBrk="1" hangingPunct="1">
              <a:lnSpc>
                <a:spcPct val="120000"/>
              </a:lnSpc>
            </a:pPr>
            <a:r>
              <a:rPr lang="en-US" sz="1500" b="1" dirty="0" smtClean="0">
                <a:latin typeface="Verdana" pitchFamily="34" charset="0"/>
                <a:ea typeface="ヒラギノ角ゴ Pro W3"/>
                <a:cs typeface="ヒラギノ角ゴ Pro W3"/>
              </a:rPr>
              <a:t>Each conceptual scenario may generate lots of concrete scenarios. </a:t>
            </a:r>
          </a:p>
          <a:p>
            <a:pPr algn="just" eaLnBrk="1" hangingPunct="1">
              <a:lnSpc>
                <a:spcPct val="120000"/>
              </a:lnSpc>
            </a:pPr>
            <a:r>
              <a:rPr lang="en-US" sz="1500" dirty="0" smtClean="0">
                <a:latin typeface="Verdana" pitchFamily="34" charset="0"/>
                <a:ea typeface="ヒラギノ角ゴ Pro W3"/>
                <a:cs typeface="ヒラギノ角ゴ Pro W3"/>
              </a:rPr>
              <a:t>When designers are working on a particular problem or issue, they will often identify some feature that applies only under certain circumstances. </a:t>
            </a:r>
          </a:p>
          <a:p>
            <a:pPr algn="just" eaLnBrk="1" hangingPunct="1">
              <a:lnSpc>
                <a:spcPct val="120000"/>
              </a:lnSpc>
            </a:pPr>
            <a:r>
              <a:rPr lang="en-US" sz="1500" dirty="0" smtClean="0">
                <a:latin typeface="Verdana" pitchFamily="34" charset="0"/>
                <a:ea typeface="ヒラギノ角ゴ Pro W3"/>
                <a:cs typeface="ヒラギノ角ゴ Pro W3"/>
              </a:rPr>
              <a:t>At this point, they may develop a more specific elaboration of the scenario and link it to the original. </a:t>
            </a:r>
          </a:p>
          <a:p>
            <a:pPr algn="just" eaLnBrk="1" hangingPunct="1">
              <a:lnSpc>
                <a:spcPct val="120000"/>
              </a:lnSpc>
            </a:pPr>
            <a:r>
              <a:rPr lang="en-US" sz="1500" dirty="0" smtClean="0">
                <a:latin typeface="Verdana" pitchFamily="34" charset="0"/>
                <a:ea typeface="ヒラギノ角ゴ Pro W3"/>
                <a:cs typeface="ヒラギノ角ゴ Pro W3"/>
              </a:rPr>
              <a:t>Thus one reasonably abstract scenario may spawn several more concrete elaborations which are useful for exploring particular issues. </a:t>
            </a:r>
          </a:p>
          <a:p>
            <a:pPr algn="just" eaLnBrk="1" hangingPunct="1">
              <a:lnSpc>
                <a:spcPct val="120000"/>
              </a:lnSpc>
            </a:pPr>
            <a:r>
              <a:rPr lang="en-US" sz="1500" dirty="0" smtClean="0">
                <a:latin typeface="Verdana" pitchFamily="34" charset="0"/>
                <a:ea typeface="ヒラギノ角ゴ Pro W3"/>
                <a:cs typeface="ヒラギノ角ゴ Pro W3"/>
              </a:rPr>
              <a:t>Notes can be added to scenarios that draw attention to possible design features and problems.</a:t>
            </a:r>
          </a:p>
          <a:p>
            <a:pPr algn="just" eaLnBrk="1" hangingPunct="1">
              <a:lnSpc>
                <a:spcPct val="120000"/>
              </a:lnSpc>
            </a:pPr>
            <a:r>
              <a:rPr lang="en-US" sz="1500" b="1" dirty="0" smtClean="0">
                <a:latin typeface="Verdana" pitchFamily="34" charset="0"/>
                <a:ea typeface="ヒラギノ角ゴ Pro W3"/>
                <a:cs typeface="ヒラギノ角ゴ Pro W3"/>
              </a:rPr>
              <a:t>Concrete scenarios also begin to dictate a particular interface design and a particular allocation of functions between people and devices. </a:t>
            </a:r>
          </a:p>
          <a:p>
            <a:pPr algn="just" eaLnBrk="1" hangingPunct="1">
              <a:lnSpc>
                <a:spcPct val="120000"/>
              </a:lnSpc>
            </a:pPr>
            <a:r>
              <a:rPr lang="en-US" sz="1500" b="1" dirty="0" smtClean="0">
                <a:latin typeface="Verdana" pitchFamily="34" charset="0"/>
                <a:ea typeface="ヒラギノ角ゴ Pro W3"/>
                <a:cs typeface="ヒラギノ角ゴ Pro W3"/>
              </a:rPr>
              <a:t>Concrete scenarios are particularly useful for prototyping and envisioning design ideas and for evaluation because they are more prescriptive about some aspects of the technology. </a:t>
            </a:r>
          </a:p>
          <a:p>
            <a:pPr algn="just" eaLnBrk="1" hangingPunct="1">
              <a:lnSpc>
                <a:spcPct val="120000"/>
              </a:lnSpc>
            </a:pPr>
            <a:r>
              <a:rPr lang="en-US" sz="1500" dirty="0" smtClean="0">
                <a:latin typeface="Verdana" pitchFamily="34" charset="0"/>
                <a:ea typeface="ヒラギノ角ゴ Pro W3"/>
                <a:cs typeface="ヒラギノ角ゴ Pro W3"/>
              </a:rPr>
              <a:t>However, there is </a:t>
            </a:r>
            <a:r>
              <a:rPr lang="en-US" sz="1500" b="1" dirty="0" smtClean="0">
                <a:latin typeface="Verdana" pitchFamily="34" charset="0"/>
                <a:ea typeface="ヒラギノ角ゴ Pro W3"/>
                <a:cs typeface="ヒラギノ角ゴ Pro W3"/>
              </a:rPr>
              <a:t>not a clean break between conceptual and concrete scenarios</a:t>
            </a:r>
            <a:r>
              <a:rPr lang="en-US" sz="1500" dirty="0" smtClean="0">
                <a:latin typeface="Verdana" pitchFamily="34" charset="0"/>
                <a:ea typeface="ヒラギノ角ゴ Pro W3"/>
                <a:cs typeface="ヒラギノ角ゴ Pro W3"/>
              </a:rPr>
              <a:t>. </a:t>
            </a:r>
          </a:p>
          <a:p>
            <a:pPr algn="just" eaLnBrk="1" hangingPunct="1">
              <a:lnSpc>
                <a:spcPct val="120000"/>
              </a:lnSpc>
            </a:pPr>
            <a:r>
              <a:rPr lang="en-US" sz="1500" dirty="0" smtClean="0">
                <a:latin typeface="Verdana" pitchFamily="34" charset="0"/>
                <a:ea typeface="ヒラギノ角ゴ Pro W3"/>
                <a:cs typeface="ヒラギノ角ゴ Pro W3"/>
              </a:rPr>
              <a:t>The </a:t>
            </a:r>
            <a:r>
              <a:rPr lang="en-US" sz="1500" b="1" dirty="0" smtClean="0">
                <a:latin typeface="Verdana" pitchFamily="34" charset="0"/>
                <a:ea typeface="ヒラギノ角ゴ Pro W3"/>
                <a:cs typeface="ヒラギノ角ゴ Pro W3"/>
              </a:rPr>
              <a:t>more specific the scenario is about some aspects, the more concrete </a:t>
            </a:r>
            <a:r>
              <a:rPr lang="en-US" sz="1500" dirty="0" smtClean="0">
                <a:latin typeface="Verdana" pitchFamily="34" charset="0"/>
                <a:ea typeface="ヒラギノ角ゴ Pro W3"/>
                <a:cs typeface="ヒラギノ角ゴ Pro W3"/>
              </a:rPr>
              <a:t>it is.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p:cNvSpPr>
          <p:nvPr>
            <p:ph type="title"/>
          </p:nvPr>
        </p:nvSpPr>
        <p:spPr>
          <a:xfrm>
            <a:off x="457200" y="274638"/>
            <a:ext cx="8229600" cy="634082"/>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Concrete scenarios: Example</a:t>
            </a:r>
          </a:p>
        </p:txBody>
      </p:sp>
      <p:sp>
        <p:nvSpPr>
          <p:cNvPr id="3" name="Text Placeholder 2"/>
          <p:cNvSpPr>
            <a:spLocks noGrp="1"/>
          </p:cNvSpPr>
          <p:nvPr>
            <p:ph type="body" idx="1"/>
          </p:nvPr>
        </p:nvSpPr>
        <p:spPr>
          <a:xfrm>
            <a:off x="457200" y="908720"/>
            <a:ext cx="8229600" cy="5184576"/>
          </a:xfrm>
        </p:spPr>
        <p:txBody>
          <a:bodyPr>
            <a:normAutofit lnSpcReduction="10000"/>
          </a:bodyPr>
          <a:lstStyle/>
          <a:p>
            <a:pPr eaLnBrk="1" hangingPunct="1">
              <a:lnSpc>
                <a:spcPct val="120000"/>
              </a:lnSpc>
            </a:pPr>
            <a:r>
              <a:rPr lang="en-US" sz="1500" dirty="0" smtClean="0">
                <a:latin typeface="Verdana" pitchFamily="34" charset="0"/>
                <a:ea typeface="ヒラギノ角ゴ Pro W3"/>
                <a:cs typeface="ヒラギノ角ゴ Pro W3"/>
              </a:rPr>
              <a:t>In the example below, decisions have now been taken concerning drop-down menus, the fact that the next two weeks’ details are to be shown, and so on. However, the notes following the scenario show that there are many design decisions still to be taken.</a:t>
            </a:r>
          </a:p>
          <a:p>
            <a:pPr eaLnBrk="1" hangingPunct="1">
              <a:lnSpc>
                <a:spcPct val="120000"/>
              </a:lnSpc>
            </a:pPr>
            <a:r>
              <a:rPr lang="en-US" sz="1500" b="1" i="1" dirty="0" smtClean="0">
                <a:latin typeface="Verdana" pitchFamily="34" charset="0"/>
                <a:ea typeface="ヒラギノ角ゴ Pro W3"/>
                <a:cs typeface="ヒラギノ角ゴ Pro W3"/>
              </a:rPr>
              <a:t>Booking an appointment/01</a:t>
            </a:r>
          </a:p>
          <a:p>
            <a:pPr eaLnBrk="1" hangingPunct="1">
              <a:lnSpc>
                <a:spcPct val="120000"/>
              </a:lnSpc>
            </a:pPr>
            <a:r>
              <a:rPr lang="en-US" sz="1500" i="1" dirty="0" smtClean="0">
                <a:latin typeface="Verdana" pitchFamily="34" charset="0"/>
                <a:ea typeface="ヒラギノ角ゴ Pro W3"/>
                <a:cs typeface="ヒラギノ角ゴ Pro W3"/>
              </a:rPr>
              <a:t>Andy </a:t>
            </a:r>
            <a:r>
              <a:rPr lang="en-US" sz="1500" i="1" dirty="0" err="1" smtClean="0">
                <a:latin typeface="Verdana" pitchFamily="34" charset="0"/>
                <a:ea typeface="ヒラギノ角ゴ Pro W3"/>
                <a:cs typeface="ヒラギノ角ゴ Pro W3"/>
              </a:rPr>
              <a:t>Dalreach</a:t>
            </a:r>
            <a:r>
              <a:rPr lang="en-US" sz="1500" i="1" dirty="0" smtClean="0">
                <a:latin typeface="Verdana" pitchFamily="34" charset="0"/>
                <a:ea typeface="ヒラギノ角ゴ Pro W3"/>
                <a:cs typeface="ヒラギノ角ゴ Pro W3"/>
              </a:rPr>
              <a:t> needs a doctor’s appointment for his young daughter Kirsty in the next week or so. The appointment needs to be outside school-time and Andy’s core working hours, and ideally with </a:t>
            </a:r>
            <a:r>
              <a:rPr lang="en-US" sz="1500" i="1" dirty="0" err="1" smtClean="0">
                <a:latin typeface="Verdana" pitchFamily="34" charset="0"/>
                <a:ea typeface="ヒラギノ角ゴ Pro W3"/>
                <a:cs typeface="ヒラギノ角ゴ Pro W3"/>
              </a:rPr>
              <a:t>Dr</a:t>
            </a:r>
            <a:r>
              <a:rPr lang="en-US" sz="1500" i="1" dirty="0" smtClean="0">
                <a:latin typeface="Verdana" pitchFamily="34" charset="0"/>
                <a:ea typeface="ヒラギノ角ゴ Pro W3"/>
                <a:cs typeface="ヒラギノ角ゴ Pro W3"/>
              </a:rPr>
              <a:t> Fox, who is the children’s specialist. Andy uses a PC and the Internet at work, so has no difficulty in running up the appointments booking system. He logs in [1] and from a series of drop-down boxes, chooses to have free times for </a:t>
            </a:r>
            <a:r>
              <a:rPr lang="en-US" sz="1500" i="1" dirty="0" err="1" smtClean="0">
                <a:latin typeface="Verdana" pitchFamily="34" charset="0"/>
                <a:ea typeface="ヒラギノ角ゴ Pro W3"/>
                <a:cs typeface="ヒラギノ角ゴ Pro W3"/>
              </a:rPr>
              <a:t>Dr</a:t>
            </a:r>
            <a:r>
              <a:rPr lang="en-US" sz="1500" i="1" dirty="0" smtClean="0">
                <a:latin typeface="Verdana" pitchFamily="34" charset="0"/>
                <a:ea typeface="ヒラギノ角ゴ Pro W3"/>
                <a:cs typeface="ヒラギノ角ゴ Pro W3"/>
              </a:rPr>
              <a:t> Fox [2] displayed for the next two weeks  [the scenario would continue to describe how Andy books the appointment and receives confirmation]</a:t>
            </a:r>
          </a:p>
          <a:p>
            <a:pPr eaLnBrk="1" hangingPunct="1">
              <a:lnSpc>
                <a:spcPct val="120000"/>
              </a:lnSpc>
            </a:pPr>
            <a:r>
              <a:rPr lang="en-US" sz="1500" b="1" i="1" dirty="0" smtClean="0">
                <a:latin typeface="Verdana" pitchFamily="34" charset="0"/>
                <a:ea typeface="ヒラギノ角ゴ Pro W3"/>
                <a:cs typeface="ヒラギノ角ゴ Pro W3"/>
              </a:rPr>
              <a:t>Notes to booking an appointment/01</a:t>
            </a:r>
          </a:p>
          <a:p>
            <a:pPr eaLnBrk="1" hangingPunct="1">
              <a:lnSpc>
                <a:spcPct val="120000"/>
              </a:lnSpc>
            </a:pPr>
            <a:r>
              <a:rPr lang="en-US" sz="1500" i="1" dirty="0" smtClean="0">
                <a:latin typeface="Verdana" pitchFamily="34" charset="0"/>
                <a:ea typeface="ヒラギノ角ゴ Pro W3"/>
                <a:cs typeface="ヒラギノ角ゴ Pro W3"/>
              </a:rPr>
              <a:t>1.	Is logging in necessary? Probably, to discourage fake access to the system, but check with the surgery.</a:t>
            </a:r>
          </a:p>
          <a:p>
            <a:pPr eaLnBrk="1" hangingPunct="1">
              <a:lnSpc>
                <a:spcPct val="120000"/>
              </a:lnSpc>
            </a:pPr>
            <a:r>
              <a:rPr lang="en-US" sz="1500" i="1" dirty="0" smtClean="0">
                <a:latin typeface="Verdana" pitchFamily="34" charset="0"/>
                <a:ea typeface="ヒラギノ角ゴ Pro W3"/>
                <a:cs typeface="ヒラギノ角ゴ Pro W3"/>
              </a:rPr>
              <a:t>2.	Free times can be organized by doctor, by time of day, or by next available time. Drop-down boxes will save screen space but may present problems for less experienced users or those with poor eyesight.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p:cNvSpPr>
            <a:spLocks noGrp="1"/>
          </p:cNvSpPr>
          <p:nvPr>
            <p:ph type="title"/>
          </p:nvPr>
        </p:nvSpPr>
        <p:spPr>
          <a:xfrm>
            <a:off x="457200" y="274638"/>
            <a:ext cx="8229600" cy="994122"/>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Use cases</a:t>
            </a:r>
          </a:p>
        </p:txBody>
      </p:sp>
      <p:sp>
        <p:nvSpPr>
          <p:cNvPr id="3" name="Text Placeholder 2"/>
          <p:cNvSpPr>
            <a:spLocks noGrp="1"/>
          </p:cNvSpPr>
          <p:nvPr>
            <p:ph type="body" idx="1"/>
          </p:nvPr>
        </p:nvSpPr>
        <p:spPr>
          <a:xfrm>
            <a:off x="457200" y="1124744"/>
            <a:ext cx="8229600" cy="5112568"/>
          </a:xfrm>
        </p:spPr>
        <p:txBody>
          <a:bodyPr>
            <a:normAutofit lnSpcReduction="10000"/>
          </a:bodyPr>
          <a:lstStyle/>
          <a:p>
            <a:pPr algn="just" eaLnBrk="1" hangingPunct="1">
              <a:lnSpc>
                <a:spcPct val="150000"/>
              </a:lnSpc>
            </a:pPr>
            <a:r>
              <a:rPr lang="en-US" sz="1500" dirty="0" smtClean="0">
                <a:latin typeface="Verdana" pitchFamily="34" charset="0"/>
                <a:ea typeface="ヒラギノ角ゴ Pro W3"/>
                <a:cs typeface="ヒラギノ角ゴ Pro W3"/>
              </a:rPr>
              <a:t>A </a:t>
            </a:r>
            <a:r>
              <a:rPr lang="en-US" sz="1500" b="1" dirty="0" smtClean="0">
                <a:latin typeface="Verdana" pitchFamily="34" charset="0"/>
                <a:ea typeface="ヒラギノ角ゴ Pro W3"/>
                <a:cs typeface="ヒラギノ角ゴ Pro W3"/>
              </a:rPr>
              <a:t>use case describes the interaction between people (or other ‘actors’) and devices.</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It is a case of </a:t>
            </a:r>
            <a:r>
              <a:rPr lang="en-US" sz="1500" b="1" dirty="0" smtClean="0">
                <a:latin typeface="Verdana" pitchFamily="34" charset="0"/>
                <a:ea typeface="ヒラギノ角ゴ Pro W3"/>
                <a:cs typeface="ヒラギノ角ゴ Pro W3"/>
              </a:rPr>
              <a:t>how the system is used </a:t>
            </a:r>
            <a:r>
              <a:rPr lang="en-US" sz="1500" dirty="0" smtClean="0">
                <a:latin typeface="Verdana" pitchFamily="34" charset="0"/>
                <a:ea typeface="ヒラギノ角ゴ Pro W3"/>
                <a:cs typeface="ヒラギノ角ゴ Pro W3"/>
              </a:rPr>
              <a:t>and hence needs to describe </a:t>
            </a:r>
            <a:r>
              <a:rPr lang="en-US" sz="1500" b="1" dirty="0" smtClean="0">
                <a:latin typeface="Verdana" pitchFamily="34" charset="0"/>
                <a:ea typeface="ヒラギノ角ゴ Pro W3"/>
                <a:cs typeface="ヒラギノ角ゴ Pro W3"/>
              </a:rPr>
              <a:t>what people do and what the system does</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Each use case covers many slight variations in circumstances – many concrete scenarios</a:t>
            </a:r>
          </a:p>
          <a:p>
            <a:pPr algn="just" eaLnBrk="1" hangingPunct="1">
              <a:lnSpc>
                <a:spcPct val="150000"/>
              </a:lnSpc>
            </a:pPr>
            <a:r>
              <a:rPr lang="en-US" sz="1500" dirty="0" smtClean="0">
                <a:latin typeface="Verdana" pitchFamily="34" charset="0"/>
                <a:ea typeface="ヒラギノ角ゴ Pro W3"/>
                <a:cs typeface="ヒラギノ角ゴ Pro W3"/>
              </a:rPr>
              <a:t>Before use cases can be specified, tasks and functions have to be allocated to humans or to the device. </a:t>
            </a:r>
          </a:p>
          <a:p>
            <a:pPr algn="just" eaLnBrk="1" hangingPunct="1">
              <a:lnSpc>
                <a:spcPct val="150000"/>
              </a:lnSpc>
            </a:pPr>
            <a:r>
              <a:rPr lang="en-US" sz="1500" dirty="0" smtClean="0">
                <a:latin typeface="Verdana" pitchFamily="34" charset="0"/>
                <a:ea typeface="ヒラギノ角ゴ Pro W3"/>
                <a:cs typeface="ヒラギノ角ゴ Pro W3"/>
              </a:rPr>
              <a:t>The specification of use cases both informs and is informed by the task/function allocation process.</a:t>
            </a:r>
          </a:p>
          <a:p>
            <a:pPr algn="just" eaLnBrk="1" hangingPunct="1">
              <a:lnSpc>
                <a:spcPct val="150000"/>
              </a:lnSpc>
            </a:pPr>
            <a:r>
              <a:rPr lang="en-US" sz="1500" dirty="0" smtClean="0">
                <a:latin typeface="Verdana" pitchFamily="34" charset="0"/>
                <a:ea typeface="ヒラギノ角ゴ Pro W3"/>
                <a:cs typeface="ヒラギノ角ゴ Pro W3"/>
              </a:rPr>
              <a:t>A </a:t>
            </a:r>
            <a:r>
              <a:rPr lang="en-US" sz="1500" b="1" dirty="0" smtClean="0">
                <a:latin typeface="Verdana" pitchFamily="34" charset="0"/>
                <a:ea typeface="ヒラギノ角ゴ Pro W3"/>
                <a:cs typeface="ヒラギノ角ゴ Pro W3"/>
              </a:rPr>
              <a:t>set of use cases can be produced which specify the complete functionality of the system and the interactions that will occur. </a:t>
            </a:r>
          </a:p>
          <a:p>
            <a:pPr algn="just" eaLnBrk="1" hangingPunct="1">
              <a:lnSpc>
                <a:spcPct val="150000"/>
              </a:lnSpc>
            </a:pPr>
            <a:r>
              <a:rPr lang="en-US" sz="1500" dirty="0" smtClean="0">
                <a:latin typeface="Verdana" pitchFamily="34" charset="0"/>
                <a:ea typeface="ヒラギノ角ゴ Pro W3"/>
                <a:cs typeface="ヒラギノ角ゴ Pro W3"/>
              </a:rPr>
              <a:t>There are a number of </a:t>
            </a:r>
            <a:r>
              <a:rPr lang="en-US" sz="1500" b="1" dirty="0" smtClean="0">
                <a:latin typeface="Verdana" pitchFamily="34" charset="0"/>
                <a:ea typeface="ヒラギノ角ゴ Pro W3"/>
                <a:cs typeface="ヒラギノ角ゴ Pro W3"/>
              </a:rPr>
              <a:t>different ways of representing use cases – from very abstract diagrams to detailed ‘pseudo code</a:t>
            </a:r>
            <a:r>
              <a:rPr lang="en-US" sz="1500" dirty="0" smtClean="0">
                <a:latin typeface="Verdana" pitchFamily="34" charset="0"/>
                <a:ea typeface="ヒラギノ角ゴ Pro W3"/>
                <a:cs typeface="ヒラギノ角ゴ Pro W3"/>
              </a:rPr>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hangingPunct="1">
              <a:lnSpc>
                <a:spcPct val="120000"/>
              </a:lnSpc>
            </a:pPr>
            <a:r>
              <a:rPr lang="en-US" sz="1500" b="1" dirty="0" smtClean="0">
                <a:solidFill>
                  <a:srgbClr val="0070C0"/>
                </a:solidFill>
                <a:latin typeface="Verdana" pitchFamily="34" charset="0"/>
                <a:ea typeface="ヒラギノ角ゴ Pro W3"/>
                <a:cs typeface="ヒラギノ角ゴ Pro W3"/>
              </a:rPr>
              <a:t>A scenario-based design method</a:t>
            </a:r>
          </a:p>
        </p:txBody>
      </p:sp>
      <p:sp>
        <p:nvSpPr>
          <p:cNvPr id="3" name="Text Placeholder 2"/>
          <p:cNvSpPr>
            <a:spLocks noGrp="1"/>
          </p:cNvSpPr>
          <p:nvPr>
            <p:ph type="body" idx="1"/>
          </p:nvPr>
        </p:nvSpPr>
        <p:spPr>
          <a:xfrm>
            <a:off x="661268" y="1403350"/>
            <a:ext cx="8003232" cy="4525963"/>
          </a:xfrm>
        </p:spPr>
        <p:txBody>
          <a:bodyPr>
            <a:normAutofit/>
          </a:bodyPr>
          <a:lstStyle/>
          <a:p>
            <a:pPr eaLnBrk="1" hangingPunct="1">
              <a:lnSpc>
                <a:spcPct val="150000"/>
              </a:lnSpc>
            </a:pPr>
            <a:r>
              <a:rPr lang="en-US" sz="1500" dirty="0" smtClean="0">
                <a:latin typeface="Verdana" pitchFamily="34" charset="0"/>
                <a:ea typeface="ヒラギノ角ゴ Pro W3"/>
                <a:cs typeface="ヒラギノ角ゴ Pro W3"/>
              </a:rPr>
              <a:t>The </a:t>
            </a:r>
            <a:r>
              <a:rPr lang="en-US" sz="1500" b="1" dirty="0" smtClean="0">
                <a:latin typeface="Verdana" pitchFamily="34" charset="0"/>
                <a:ea typeface="ヒラギノ角ゴ Pro W3"/>
                <a:cs typeface="ヒラギノ角ゴ Pro W3"/>
              </a:rPr>
              <a:t>use of the different types of scenarios throughout design can be formalized into a scenario-based design method. </a:t>
            </a:r>
          </a:p>
          <a:p>
            <a:pPr eaLnBrk="1" hangingPunct="1">
              <a:lnSpc>
                <a:spcPct val="150000"/>
              </a:lnSpc>
            </a:pPr>
            <a:r>
              <a:rPr lang="en-US" sz="1500" dirty="0" smtClean="0">
                <a:latin typeface="Verdana" pitchFamily="34" charset="0"/>
                <a:ea typeface="ヒラギノ角ゴ Pro W3"/>
                <a:cs typeface="ヒラギノ角ゴ Pro W3"/>
              </a:rPr>
              <a:t>Besides the four different types of scenario, </a:t>
            </a:r>
            <a:r>
              <a:rPr lang="en-US" sz="1500" b="1" dirty="0" smtClean="0">
                <a:latin typeface="Verdana" pitchFamily="34" charset="0"/>
                <a:ea typeface="ヒラギノ角ゴ Pro W3"/>
                <a:cs typeface="ヒラギノ角ゴ Pro W3"/>
              </a:rPr>
              <a:t>four other artefacts are produced during the design process: </a:t>
            </a:r>
          </a:p>
          <a:p>
            <a:pPr lvl="1" eaLnBrk="1" hangingPunct="1">
              <a:lnSpc>
                <a:spcPct val="150000"/>
              </a:lnSpc>
              <a:buFont typeface="Wingdings" panose="05000000000000000000" pitchFamily="2" charset="2"/>
              <a:buChar char="§"/>
            </a:pPr>
            <a:r>
              <a:rPr lang="en-US" sz="1500" b="1" dirty="0" smtClean="0">
                <a:solidFill>
                  <a:srgbClr val="0070C0"/>
                </a:solidFill>
                <a:latin typeface="Verdana" pitchFamily="34" charset="0"/>
                <a:ea typeface="ヒラギノ角ゴ Pro W3"/>
                <a:cs typeface="ヒラギノ角ゴ Pro W3"/>
              </a:rPr>
              <a:t>Requirements/problems, </a:t>
            </a:r>
          </a:p>
          <a:p>
            <a:pPr lvl="1" eaLnBrk="1" hangingPunct="1">
              <a:lnSpc>
                <a:spcPct val="150000"/>
              </a:lnSpc>
              <a:buFont typeface="Wingdings" panose="05000000000000000000" pitchFamily="2" charset="2"/>
              <a:buChar char="§"/>
            </a:pPr>
            <a:r>
              <a:rPr lang="en-US" sz="1500" b="1" dirty="0">
                <a:solidFill>
                  <a:srgbClr val="0070C0"/>
                </a:solidFill>
                <a:latin typeface="Verdana" pitchFamily="34" charset="0"/>
                <a:ea typeface="ヒラギノ角ゴ Pro W3"/>
                <a:cs typeface="ヒラギノ角ゴ Pro W3"/>
              </a:rPr>
              <a:t>S</a:t>
            </a:r>
            <a:r>
              <a:rPr lang="en-US" sz="1500" b="1" dirty="0" smtClean="0">
                <a:solidFill>
                  <a:srgbClr val="0070C0"/>
                </a:solidFill>
                <a:latin typeface="Verdana" pitchFamily="34" charset="0"/>
                <a:ea typeface="ヒラギノ角ゴ Pro W3"/>
                <a:cs typeface="ヒラギノ角ゴ Pro W3"/>
              </a:rPr>
              <a:t>cenario corpus, </a:t>
            </a:r>
          </a:p>
          <a:p>
            <a:pPr lvl="1" eaLnBrk="1" hangingPunct="1">
              <a:lnSpc>
                <a:spcPct val="150000"/>
              </a:lnSpc>
              <a:buFont typeface="Wingdings" panose="05000000000000000000" pitchFamily="2" charset="2"/>
              <a:buChar char="§"/>
            </a:pPr>
            <a:r>
              <a:rPr lang="en-US" sz="1500" b="1" dirty="0" smtClean="0">
                <a:solidFill>
                  <a:srgbClr val="0070C0"/>
                </a:solidFill>
                <a:latin typeface="Verdana" pitchFamily="34" charset="0"/>
                <a:ea typeface="ヒラギノ角ゴ Pro W3"/>
                <a:cs typeface="ヒラギノ角ゴ Pro W3"/>
              </a:rPr>
              <a:t>Conceptual model </a:t>
            </a:r>
          </a:p>
          <a:p>
            <a:pPr lvl="1" eaLnBrk="1" hangingPunct="1">
              <a:lnSpc>
                <a:spcPct val="150000"/>
              </a:lnSpc>
              <a:buFont typeface="Wingdings" panose="05000000000000000000" pitchFamily="2" charset="2"/>
              <a:buChar char="§"/>
            </a:pPr>
            <a:r>
              <a:rPr lang="en-US" sz="1500" b="1" dirty="0">
                <a:solidFill>
                  <a:srgbClr val="0070C0"/>
                </a:solidFill>
                <a:latin typeface="Verdana" pitchFamily="34" charset="0"/>
                <a:ea typeface="ヒラギノ角ゴ Pro W3"/>
                <a:cs typeface="ヒラギノ角ゴ Pro W3"/>
              </a:rPr>
              <a:t>D</a:t>
            </a:r>
            <a:r>
              <a:rPr lang="en-US" sz="1500" b="1" dirty="0" smtClean="0">
                <a:solidFill>
                  <a:srgbClr val="0070C0"/>
                </a:solidFill>
                <a:latin typeface="Verdana" pitchFamily="34" charset="0"/>
                <a:ea typeface="ヒラギノ角ゴ Pro W3"/>
                <a:cs typeface="ヒラギノ角ゴ Pro W3"/>
              </a:rPr>
              <a:t>esign language</a:t>
            </a:r>
          </a:p>
          <a:p>
            <a:pPr lvl="2" eaLnBrk="1" hangingPunct="1">
              <a:lnSpc>
                <a:spcPct val="150000"/>
              </a:lnSpc>
              <a:buFont typeface="Wingdings" panose="05000000000000000000" pitchFamily="2" charset="2"/>
              <a:buChar char="§"/>
            </a:pPr>
            <a:r>
              <a:rPr lang="en-US" sz="1500" b="1" dirty="0">
                <a:solidFill>
                  <a:srgbClr val="0070C0"/>
                </a:solidFill>
                <a:latin typeface="Verdana" pitchFamily="34" charset="0"/>
                <a:ea typeface="ヒラギノ角ゴ Pro W3"/>
                <a:cs typeface="ヒラギノ角ゴ Pro W3"/>
              </a:rPr>
              <a:t>Documenting Scenarios</a:t>
            </a:r>
          </a:p>
          <a:p>
            <a:pPr eaLnBrk="1" hangingPunct="1">
              <a:lnSpc>
                <a:spcPct val="150000"/>
              </a:lnSpc>
            </a:pPr>
            <a:r>
              <a:rPr lang="en-US" sz="1500" dirty="0" smtClean="0">
                <a:latin typeface="Verdana" pitchFamily="34" charset="0"/>
                <a:ea typeface="ヒラギノ角ゴ Pro W3"/>
                <a:cs typeface="ヒラギノ角ゴ Pro W3"/>
              </a:rPr>
              <a:t>The specification of a system is the combination of all the different products produced during the development process.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p:cNvSpPr>
            <a:spLocks noGrp="1"/>
          </p:cNvSpPr>
          <p:nvPr>
            <p:ph type="title"/>
          </p:nvPr>
        </p:nvSpPr>
        <p:spPr>
          <a:xfrm>
            <a:off x="457200" y="476672"/>
            <a:ext cx="8229600" cy="648072"/>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Scenarios through design</a:t>
            </a:r>
          </a:p>
        </p:txBody>
      </p:sp>
      <p:sp>
        <p:nvSpPr>
          <p:cNvPr id="55298" name="Text Placeholder 2"/>
          <p:cNvSpPr>
            <a:spLocks noGrp="1"/>
          </p:cNvSpPr>
          <p:nvPr>
            <p:ph type="body" idx="1"/>
          </p:nvPr>
        </p:nvSpPr>
        <p:spPr>
          <a:xfrm>
            <a:off x="457200" y="1268760"/>
            <a:ext cx="8229600" cy="4525963"/>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An important thing to notice is the relationship between specifying design constraints and the use of scenarios. </a:t>
            </a:r>
          </a:p>
          <a:p>
            <a:pPr algn="just" eaLnBrk="1" hangingPunct="1">
              <a:lnSpc>
                <a:spcPct val="150000"/>
              </a:lnSpc>
            </a:pPr>
            <a:r>
              <a:rPr lang="en-US" sz="1500" dirty="0" smtClean="0">
                <a:latin typeface="Verdana" pitchFamily="34" charset="0"/>
                <a:ea typeface="ヒラギノ角ゴ Pro W3"/>
                <a:cs typeface="ヒラギノ角ゴ Pro W3"/>
              </a:rPr>
              <a:t>For </a:t>
            </a:r>
            <a:r>
              <a:rPr lang="en-US" sz="1500" b="1" dirty="0" smtClean="0">
                <a:latin typeface="Verdana" pitchFamily="34" charset="0"/>
                <a:ea typeface="ヒラギノ角ゴ Pro W3"/>
                <a:cs typeface="ヒラギノ角ゴ Pro W3"/>
              </a:rPr>
              <a:t>envisionment and most evaluation, the scenarios have to be made more concrete.  </a:t>
            </a:r>
            <a:r>
              <a:rPr lang="en-US" sz="1500" dirty="0" smtClean="0">
                <a:latin typeface="Verdana" pitchFamily="34" charset="0"/>
                <a:ea typeface="ヒラギノ角ゴ Pro W3"/>
                <a:cs typeface="ヒラギノ角ゴ Pro W3"/>
              </a:rPr>
              <a:t>This means </a:t>
            </a:r>
            <a:r>
              <a:rPr lang="en-US" sz="1500" b="1" dirty="0" smtClean="0">
                <a:latin typeface="Verdana" pitchFamily="34" charset="0"/>
                <a:ea typeface="ヒラギノ角ゴ Pro W3"/>
                <a:cs typeface="ヒラギノ角ゴ Pro W3"/>
              </a:rPr>
              <a:t>imposing design constraints. </a:t>
            </a:r>
          </a:p>
          <a:p>
            <a:pPr algn="just" eaLnBrk="1" hangingPunct="1">
              <a:lnSpc>
                <a:spcPct val="150000"/>
              </a:lnSpc>
            </a:pPr>
            <a:r>
              <a:rPr lang="en-US" sz="1500" dirty="0" smtClean="0">
                <a:latin typeface="Verdana" pitchFamily="34" charset="0"/>
                <a:ea typeface="ヒラギノ角ゴ Pro W3"/>
                <a:cs typeface="ヒラギノ角ゴ Pro W3"/>
              </a:rPr>
              <a:t>However, this </a:t>
            </a:r>
            <a:r>
              <a:rPr lang="en-US" sz="1500" b="1" dirty="0" smtClean="0">
                <a:latin typeface="Verdana" pitchFamily="34" charset="0"/>
                <a:ea typeface="ヒラギノ角ゴ Pro W3"/>
                <a:cs typeface="ヒラギノ角ゴ Pro W3"/>
              </a:rPr>
              <a:t>does not mean that the designer needs to design a new physical, concrete scenario each time</a:t>
            </a:r>
            <a:r>
              <a:rPr lang="en-US" sz="1500" dirty="0" smtClean="0">
                <a:latin typeface="Verdana" pitchFamily="34" charset="0"/>
                <a:ea typeface="ヒラギノ角ゴ Pro W3"/>
                <a:cs typeface="ヒラギノ角ゴ Pro W3"/>
              </a:rPr>
              <a:t> he or she wants to envision a possible design. </a:t>
            </a:r>
          </a:p>
          <a:p>
            <a:pPr algn="just" eaLnBrk="1" hangingPunct="1">
              <a:lnSpc>
                <a:spcPct val="150000"/>
              </a:lnSpc>
            </a:pPr>
            <a:r>
              <a:rPr lang="en-US" sz="1500" b="1" dirty="0" smtClean="0">
                <a:latin typeface="Verdana" pitchFamily="34" charset="0"/>
                <a:ea typeface="ヒラギノ角ゴ Pro W3"/>
                <a:cs typeface="ヒラギノ角ゴ Pro W3"/>
              </a:rPr>
              <a:t>It may be that designers imagine a scenario with particular design constraints imposed and this helps them evaluate the design</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b="1" dirty="0" smtClean="0">
                <a:latin typeface="Verdana" pitchFamily="34" charset="0"/>
                <a:ea typeface="ヒラギノ角ゴ Pro W3"/>
                <a:cs typeface="ヒラギノ角ゴ Pro W3"/>
              </a:rPr>
              <a:t>This sort of ‘what if?’ generation and evaluation of concrete scenarios is a common and key aspect of design</a:t>
            </a:r>
            <a:r>
              <a:rPr lang="en-US" sz="1500" dirty="0" smtClean="0">
                <a:latin typeface="Verdana" pitchFamily="34" charset="0"/>
                <a:ea typeface="ヒラギノ角ゴ Pro W3"/>
                <a:cs typeface="ヒラギノ角ゴ Pro W3"/>
              </a:rPr>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p:cNvSpPr>
            <a:spLocks noGrp="1"/>
          </p:cNvSpPr>
          <p:nvPr>
            <p:ph type="title"/>
          </p:nvPr>
        </p:nvSpPr>
        <p:spPr/>
        <p:txBody>
          <a:bodyPr/>
          <a:lstStyle/>
          <a:p>
            <a:pPr eaLnBrk="1" hangingPunct="1">
              <a:lnSpc>
                <a:spcPct val="120000"/>
              </a:lnSpc>
            </a:pPr>
            <a:r>
              <a:rPr lang="en-US" sz="1500" b="1" smtClean="0">
                <a:latin typeface="Verdana" pitchFamily="34" charset="0"/>
                <a:ea typeface="ヒラギノ角ゴ Pro W3"/>
                <a:cs typeface="ヒラギノ角ゴ Pro W3"/>
              </a:rPr>
              <a:t>Requirements and problems</a:t>
            </a:r>
          </a:p>
        </p:txBody>
      </p:sp>
      <p:sp>
        <p:nvSpPr>
          <p:cNvPr id="56322" name="Text Placeholder 2"/>
          <p:cNvSpPr>
            <a:spLocks noGrp="1"/>
          </p:cNvSpPr>
          <p:nvPr>
            <p:ph type="body" idx="1"/>
          </p:nvPr>
        </p:nvSpPr>
        <p:spPr>
          <a:xfrm>
            <a:off x="460623" y="1417638"/>
            <a:ext cx="8229600" cy="4525963"/>
          </a:xfrm>
        </p:spPr>
        <p:txBody>
          <a:bodyPr/>
          <a:lstStyle/>
          <a:p>
            <a:pPr algn="just" eaLnBrk="1" hangingPunct="1">
              <a:lnSpc>
                <a:spcPct val="150000"/>
              </a:lnSpc>
            </a:pPr>
            <a:r>
              <a:rPr lang="en-US" sz="1500" b="1" dirty="0" smtClean="0">
                <a:latin typeface="Verdana" pitchFamily="34" charset="0"/>
                <a:ea typeface="ヒラギノ角ゴ Pro W3"/>
                <a:cs typeface="ヒラギノ角ゴ Pro W3"/>
              </a:rPr>
              <a:t>In the gathering of people’s stories and during the analysis and abstraction process, various issues and difficulties will come to light. </a:t>
            </a:r>
          </a:p>
          <a:p>
            <a:pPr algn="just" eaLnBrk="1" hangingPunct="1">
              <a:lnSpc>
                <a:spcPct val="150000"/>
              </a:lnSpc>
            </a:pPr>
            <a:r>
              <a:rPr lang="en-US" sz="1500" b="1" dirty="0" smtClean="0">
                <a:latin typeface="Verdana" pitchFamily="34" charset="0"/>
                <a:ea typeface="ヒラギノ角ゴ Pro W3"/>
                <a:cs typeface="ヒラギノ角ゴ Pro W3"/>
              </a:rPr>
              <a:t>These help the analyst/designer to establish a list of requirements – qualities or functions that any new product or system should have. </a:t>
            </a:r>
          </a:p>
          <a:p>
            <a:pPr algn="just" eaLnBrk="1" hangingPunct="1">
              <a:lnSpc>
                <a:spcPct val="150000"/>
              </a:lnSpc>
            </a:pPr>
            <a:r>
              <a:rPr lang="en-US" sz="1500" dirty="0" smtClean="0">
                <a:latin typeface="Verdana" pitchFamily="34" charset="0"/>
                <a:ea typeface="ヒラギノ角ゴ Pro W3"/>
                <a:cs typeface="ヒラギノ角ゴ Pro W3"/>
              </a:rPr>
              <a:t>For example, in the HIC example, the device has to be used by the elderly and short-sighted. </a:t>
            </a:r>
          </a:p>
          <a:p>
            <a:pPr algn="just" eaLnBrk="1" hangingPunct="1">
              <a:lnSpc>
                <a:spcPct val="150000"/>
              </a:lnSpc>
            </a:pPr>
            <a:r>
              <a:rPr lang="en-US" sz="1500" dirty="0" smtClean="0">
                <a:latin typeface="Verdana" pitchFamily="34" charset="0"/>
                <a:ea typeface="ヒラギノ角ゴ Pro W3"/>
                <a:cs typeface="ヒラギノ角ゴ Pro W3"/>
              </a:rPr>
              <a:t>Another requirement was that it should look good in a living room and should not look or behave like a personal computer running Microsoft Windows.</a:t>
            </a:r>
          </a:p>
          <a:p>
            <a:pPr algn="just" eaLnBrk="1" hangingPunct="1">
              <a:lnSpc>
                <a:spcPct val="150000"/>
              </a:lnSpc>
            </a:pPr>
            <a:r>
              <a:rPr lang="en-US" sz="1500" dirty="0" smtClean="0">
                <a:latin typeface="Verdana" pitchFamily="34" charset="0"/>
                <a:ea typeface="ヒラギノ角ゴ Pro W3"/>
                <a:cs typeface="ヒラギノ角ゴ Pro W3"/>
              </a:rPr>
              <a:t>The </a:t>
            </a:r>
            <a:r>
              <a:rPr lang="en-US" sz="1500" b="1" dirty="0" smtClean="0">
                <a:latin typeface="Verdana" pitchFamily="34" charset="0"/>
                <a:ea typeface="ヒラギノ角ゴ Pro W3"/>
                <a:cs typeface="ヒラギノ角ゴ Pro W3"/>
              </a:rPr>
              <a:t>format of the requirements and problems is a prioritized list of issues, or a more formalized format.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p:cNvSpPr>
            <a:spLocks noGrp="1"/>
          </p:cNvSpPr>
          <p:nvPr>
            <p:ph type="title"/>
          </p:nvPr>
        </p:nvSpPr>
        <p:spPr/>
        <p:txBody>
          <a:bodyPr/>
          <a:lstStyle/>
          <a:p>
            <a:pPr eaLnBrk="1" hangingPunct="1">
              <a:lnSpc>
                <a:spcPct val="120000"/>
              </a:lnSpc>
            </a:pPr>
            <a:r>
              <a:rPr lang="en-US" sz="1500" b="1" dirty="0" smtClean="0">
                <a:latin typeface="Verdana" pitchFamily="34" charset="0"/>
                <a:ea typeface="ヒラギノ角ゴ Pro W3"/>
                <a:cs typeface="ヒラギノ角ゴ Pro W3"/>
              </a:rPr>
              <a:t>Scenario corpus</a:t>
            </a:r>
          </a:p>
        </p:txBody>
      </p:sp>
      <p:sp>
        <p:nvSpPr>
          <p:cNvPr id="3" name="Text Placeholder 2"/>
          <p:cNvSpPr>
            <a:spLocks noGrp="1"/>
          </p:cNvSpPr>
          <p:nvPr>
            <p:ph type="body" idx="1"/>
          </p:nvPr>
        </p:nvSpPr>
        <p:spPr>
          <a:xfrm>
            <a:off x="433759" y="1268760"/>
            <a:ext cx="8229600" cy="4680520"/>
          </a:xfrm>
        </p:spPr>
        <p:txBody>
          <a:bodyPr>
            <a:normAutofit/>
          </a:bodyPr>
          <a:lstStyle/>
          <a:p>
            <a:pPr algn="just" eaLnBrk="1" hangingPunct="1">
              <a:lnSpc>
                <a:spcPct val="150000"/>
              </a:lnSpc>
            </a:pPr>
            <a:r>
              <a:rPr lang="en-US" sz="1500" dirty="0" smtClean="0">
                <a:latin typeface="Verdana" pitchFamily="34" charset="0"/>
                <a:ea typeface="ヒラギノ角ゴ Pro W3"/>
                <a:cs typeface="ヒラギノ角ゴ Pro W3"/>
              </a:rPr>
              <a:t>In our approach we seek to develop a representative and carefully thought-through </a:t>
            </a:r>
            <a:r>
              <a:rPr lang="en-US" sz="1500" b="1" dirty="0" smtClean="0">
                <a:latin typeface="Verdana" pitchFamily="34" charset="0"/>
                <a:ea typeface="ヒラギノ角ゴ Pro W3"/>
                <a:cs typeface="ヒラギノ角ゴ Pro W3"/>
              </a:rPr>
              <a:t>set, or corpus</a:t>
            </a:r>
            <a:r>
              <a:rPr lang="en-US" sz="1500" dirty="0" smtClean="0">
                <a:latin typeface="Verdana" pitchFamily="34" charset="0"/>
                <a:ea typeface="ヒラギノ角ゴ Pro W3"/>
                <a:cs typeface="ヒラギノ角ゴ Pro W3"/>
              </a:rPr>
              <a:t>, of scenarios. </a:t>
            </a:r>
          </a:p>
          <a:p>
            <a:pPr algn="just" eaLnBrk="1" hangingPunct="1">
              <a:lnSpc>
                <a:spcPct val="150000"/>
              </a:lnSpc>
            </a:pPr>
            <a:r>
              <a:rPr lang="en-US" sz="1500" dirty="0" smtClean="0">
                <a:latin typeface="Verdana" pitchFamily="34" charset="0"/>
                <a:ea typeface="ヒラギノ角ゴ Pro W3"/>
                <a:cs typeface="ヒラギノ角ゴ Pro W3"/>
              </a:rPr>
              <a:t>Having undertaken some analysis activities designers will have </a:t>
            </a:r>
            <a:r>
              <a:rPr lang="en-US" sz="1500" b="1" dirty="0" smtClean="0">
                <a:latin typeface="Verdana" pitchFamily="34" charset="0"/>
                <a:ea typeface="ヒラギノ角ゴ Pro W3"/>
                <a:cs typeface="ヒラギノ角ゴ Pro W3"/>
              </a:rPr>
              <a:t>gathered a wide range of user stories. </a:t>
            </a:r>
          </a:p>
          <a:p>
            <a:pPr algn="just" eaLnBrk="1" hangingPunct="1">
              <a:lnSpc>
                <a:spcPct val="150000"/>
              </a:lnSpc>
            </a:pPr>
            <a:r>
              <a:rPr lang="en-US" sz="1500" b="1" dirty="0" smtClean="0">
                <a:latin typeface="Verdana" pitchFamily="34" charset="0"/>
                <a:ea typeface="ヒラギノ角ゴ Pro W3"/>
                <a:cs typeface="ヒラギノ角ゴ Pro W3"/>
              </a:rPr>
              <a:t>Some of these will be very general </a:t>
            </a:r>
            <a:r>
              <a:rPr lang="en-US" sz="1500" b="1" dirty="0">
                <a:latin typeface="Verdana" pitchFamily="34" charset="0"/>
                <a:ea typeface="ヒラギノ角ゴ Pro W3"/>
                <a:cs typeface="ヒラギノ角ゴ Pro W3"/>
              </a:rPr>
              <a:t>&amp;</a:t>
            </a:r>
            <a:r>
              <a:rPr lang="en-US" sz="1500" b="1" dirty="0" smtClean="0">
                <a:latin typeface="Verdana" pitchFamily="34" charset="0"/>
                <a:ea typeface="ヒラギノ角ゴ Pro W3"/>
                <a:cs typeface="ヒラギノ角ゴ Pro W3"/>
              </a:rPr>
              <a:t> some will be quite specific</a:t>
            </a:r>
            <a:r>
              <a:rPr lang="en-US" sz="1500" dirty="0" smtClean="0">
                <a:latin typeface="Verdana" pitchFamily="34" charset="0"/>
                <a:ea typeface="ヒラギノ角ゴ Pro W3"/>
                <a:cs typeface="ヒラギノ角ゴ Pro W3"/>
              </a:rPr>
              <a:t>. Some will be </a:t>
            </a:r>
            <a:r>
              <a:rPr lang="en-US" sz="1500" b="1" dirty="0" smtClean="0">
                <a:latin typeface="Verdana" pitchFamily="34" charset="0"/>
                <a:ea typeface="ヒラギノ角ゴ Pro W3"/>
                <a:cs typeface="ヒラギノ角ゴ Pro W3"/>
              </a:rPr>
              <a:t>fairly simple, straightforward tasks; others will be more vague</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It is </a:t>
            </a:r>
            <a:r>
              <a:rPr lang="en-US" sz="1500" b="1" dirty="0" smtClean="0">
                <a:latin typeface="Verdana" pitchFamily="34" charset="0"/>
                <a:ea typeface="ヒラギノ角ゴ Pro W3"/>
                <a:cs typeface="ヒラギノ角ゴ Pro W3"/>
              </a:rPr>
              <a:t>important at some point for the designer to pull these disparate experiences together in order to get a high-level, abstract view of the main activities that the product is to support. </a:t>
            </a:r>
          </a:p>
          <a:p>
            <a:pPr algn="just" eaLnBrk="1" hangingPunct="1">
              <a:lnSpc>
                <a:spcPct val="150000"/>
              </a:lnSpc>
            </a:pPr>
            <a:r>
              <a:rPr lang="en-US" sz="1500" dirty="0" smtClean="0">
                <a:latin typeface="Verdana" pitchFamily="34" charset="0"/>
                <a:ea typeface="ヒラギノ角ゴ Pro W3"/>
                <a:cs typeface="ヒラギノ角ゴ Pro W3"/>
              </a:rPr>
              <a:t>These conceptual scenarios will often still be grounded in a real example; the trick is to find an example that shares characteristics with a number of other activities.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p:cNvSpPr>
            <a:spLocks noGrp="1"/>
          </p:cNvSpPr>
          <p:nvPr>
            <p:ph type="title"/>
          </p:nvPr>
        </p:nvSpPr>
        <p:spPr>
          <a:xfrm>
            <a:off x="457200" y="274638"/>
            <a:ext cx="8229600" cy="490066"/>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Domain characteristics</a:t>
            </a:r>
          </a:p>
        </p:txBody>
      </p:sp>
      <p:sp>
        <p:nvSpPr>
          <p:cNvPr id="3" name="Text Placeholder 2"/>
          <p:cNvSpPr>
            <a:spLocks noGrp="1"/>
          </p:cNvSpPr>
          <p:nvPr>
            <p:ph type="body" idx="1"/>
          </p:nvPr>
        </p:nvSpPr>
        <p:spPr>
          <a:xfrm>
            <a:off x="457200" y="836712"/>
            <a:ext cx="8229600" cy="5544616"/>
          </a:xfrm>
        </p:spPr>
        <p:txBody>
          <a:bodyPr>
            <a:noAutofit/>
          </a:bodyPr>
          <a:lstStyle/>
          <a:p>
            <a:pPr algn="just" eaLnBrk="1" hangingPunct="1">
              <a:lnSpc>
                <a:spcPct val="150000"/>
              </a:lnSpc>
            </a:pPr>
            <a:r>
              <a:rPr lang="en-US" sz="1400" dirty="0" smtClean="0">
                <a:latin typeface="Verdana" pitchFamily="34" charset="0"/>
                <a:ea typeface="ヒラギノ角ゴ Pro W3"/>
                <a:cs typeface="ヒラギノ角ゴ Pro W3"/>
              </a:rPr>
              <a:t>The reasoning for </a:t>
            </a:r>
            <a:r>
              <a:rPr lang="en-US" sz="1400" b="1" dirty="0" smtClean="0">
                <a:latin typeface="Verdana" pitchFamily="34" charset="0"/>
                <a:ea typeface="ヒラギノ角ゴ Pro W3"/>
                <a:cs typeface="ヒラギノ角ゴ Pro W3"/>
              </a:rPr>
              <a:t>development of a corpus of scenarios is to uncover the ‘dimensions’ of the design situation </a:t>
            </a:r>
            <a:r>
              <a:rPr lang="en-US" sz="1400" dirty="0" smtClean="0">
                <a:latin typeface="Verdana" pitchFamily="34" charset="0"/>
                <a:ea typeface="ヒラギノ角ゴ Pro W3"/>
                <a:cs typeface="ヒラギノ角ゴ Pro W3"/>
              </a:rPr>
              <a:t>and </a:t>
            </a:r>
            <a:r>
              <a:rPr lang="en-US" sz="1400" b="1" dirty="0" smtClean="0">
                <a:latin typeface="Verdana" pitchFamily="34" charset="0"/>
                <a:ea typeface="ヒラギノ角ゴ Pro W3"/>
                <a:cs typeface="ヒラギノ角ゴ Pro W3"/>
              </a:rPr>
              <a:t>to demonstrate different aspects of those dimensions</a:t>
            </a:r>
            <a:r>
              <a:rPr lang="en-US" sz="1400" dirty="0" smtClean="0">
                <a:latin typeface="Verdana" pitchFamily="34" charset="0"/>
                <a:ea typeface="ヒラギノ角ゴ Pro W3"/>
                <a:cs typeface="ヒラギノ角ゴ Pro W3"/>
              </a:rPr>
              <a:t>. </a:t>
            </a:r>
          </a:p>
          <a:p>
            <a:pPr algn="just" eaLnBrk="1" hangingPunct="1">
              <a:lnSpc>
                <a:spcPct val="150000"/>
              </a:lnSpc>
            </a:pPr>
            <a:r>
              <a:rPr lang="en-US" sz="1400" b="1" dirty="0" smtClean="0">
                <a:latin typeface="Verdana" pitchFamily="34" charset="0"/>
                <a:ea typeface="ヒラギノ角ゴ Pro W3"/>
                <a:cs typeface="ヒラギノ角ゴ Pro W3"/>
              </a:rPr>
              <a:t>Dimensions include </a:t>
            </a:r>
            <a:r>
              <a:rPr lang="en-US" sz="1400" dirty="0" smtClean="0">
                <a:latin typeface="Verdana" pitchFamily="34" charset="0"/>
                <a:ea typeface="ヒラギノ角ゴ Pro W3"/>
                <a:cs typeface="ヒラギノ角ゴ Pro W3"/>
              </a:rPr>
              <a:t>characteristics of the various domains within which the product will operate (e.g. large and small domains, volatile or static domains, etc.), </a:t>
            </a:r>
          </a:p>
          <a:p>
            <a:pPr algn="just" eaLnBrk="1" hangingPunct="1">
              <a:lnSpc>
                <a:spcPct val="150000"/>
              </a:lnSpc>
            </a:pPr>
            <a:r>
              <a:rPr lang="en-US" sz="1400" dirty="0" smtClean="0">
                <a:latin typeface="Verdana" pitchFamily="34" charset="0"/>
                <a:ea typeface="ヒラギノ角ゴ Pro W3"/>
                <a:cs typeface="ヒラギノ角ゴ Pro W3"/>
              </a:rPr>
              <a:t>the </a:t>
            </a:r>
            <a:r>
              <a:rPr lang="en-US" sz="1400" b="1" dirty="0" smtClean="0">
                <a:latin typeface="Verdana" pitchFamily="34" charset="0"/>
                <a:ea typeface="ヒラギノ角ゴ Pro W3"/>
                <a:cs typeface="ヒラギノ角ゴ Pro W3"/>
              </a:rPr>
              <a:t>various media and data types that need to be accommodated and </a:t>
            </a:r>
            <a:r>
              <a:rPr lang="en-US" sz="1400" dirty="0" smtClean="0">
                <a:latin typeface="Verdana" pitchFamily="34" charset="0"/>
                <a:ea typeface="ヒラギノ角ゴ Pro W3"/>
                <a:cs typeface="ヒラギノ角ゴ Pro W3"/>
              </a:rPr>
              <a:t>the </a:t>
            </a:r>
            <a:r>
              <a:rPr lang="en-US" sz="1400" b="1" dirty="0" smtClean="0">
                <a:latin typeface="Verdana" pitchFamily="34" charset="0"/>
                <a:ea typeface="ヒラギノ角ゴ Pro W3"/>
                <a:cs typeface="ヒラギノ角ゴ Pro W3"/>
              </a:rPr>
              <a:t>characteristics of the people who will be using the system</a:t>
            </a:r>
            <a:r>
              <a:rPr lang="en-US" sz="1400" dirty="0" smtClean="0">
                <a:latin typeface="Verdana" pitchFamily="34" charset="0"/>
                <a:ea typeface="ヒラギノ角ゴ Pro W3"/>
                <a:cs typeface="ヒラギノ角ゴ Pro W3"/>
              </a:rPr>
              <a:t>. </a:t>
            </a:r>
          </a:p>
          <a:p>
            <a:pPr algn="just" eaLnBrk="1" hangingPunct="1">
              <a:lnSpc>
                <a:spcPct val="150000"/>
              </a:lnSpc>
            </a:pPr>
            <a:r>
              <a:rPr lang="en-US" sz="1400" dirty="0" smtClean="0">
                <a:latin typeface="Verdana" pitchFamily="34" charset="0"/>
                <a:ea typeface="ヒラギノ角ゴ Pro W3"/>
                <a:cs typeface="ヒラギノ角ゴ Pro W3"/>
              </a:rPr>
              <a:t>The </a:t>
            </a:r>
            <a:r>
              <a:rPr lang="en-US" sz="1400" b="1" dirty="0" smtClean="0">
                <a:latin typeface="Verdana" pitchFamily="34" charset="0"/>
                <a:ea typeface="ヒラギノ角ゴ Pro W3"/>
                <a:cs typeface="ヒラギノ角ゴ Pro W3"/>
              </a:rPr>
              <a:t>corpus of scenarios needs to cover all the main functions</a:t>
            </a:r>
            <a:r>
              <a:rPr lang="en-US" sz="1400" dirty="0" smtClean="0">
                <a:latin typeface="Verdana" pitchFamily="34" charset="0"/>
                <a:ea typeface="ヒラギノ角ゴ Pro W3"/>
                <a:cs typeface="ヒラギノ角ゴ Pro W3"/>
              </a:rPr>
              <a:t> of the system and the </a:t>
            </a:r>
            <a:r>
              <a:rPr lang="en-US" sz="1400" b="1" dirty="0" smtClean="0">
                <a:latin typeface="Verdana" pitchFamily="34" charset="0"/>
                <a:ea typeface="ヒラギノ角ゴ Pro W3"/>
                <a:cs typeface="ヒラギノ角ゴ Pro W3"/>
              </a:rPr>
              <a:t>events that trigger the functions</a:t>
            </a:r>
            <a:r>
              <a:rPr lang="en-US" sz="1400" dirty="0" smtClean="0">
                <a:latin typeface="Verdana" pitchFamily="34" charset="0"/>
                <a:ea typeface="ヒラギノ角ゴ Pro W3"/>
                <a:cs typeface="ヒラギノ角ゴ Pro W3"/>
              </a:rPr>
              <a:t>. </a:t>
            </a:r>
          </a:p>
          <a:p>
            <a:pPr algn="just" eaLnBrk="1" hangingPunct="1">
              <a:lnSpc>
                <a:spcPct val="150000"/>
              </a:lnSpc>
            </a:pPr>
            <a:r>
              <a:rPr lang="en-US" sz="1400" dirty="0" smtClean="0">
                <a:latin typeface="Verdana" pitchFamily="34" charset="0"/>
                <a:ea typeface="ヒラギノ角ゴ Pro W3"/>
                <a:cs typeface="ヒラギノ角ゴ Pro W3"/>
              </a:rPr>
              <a:t>Different types of interaction need to be present along with any key usability issues. </a:t>
            </a:r>
          </a:p>
          <a:p>
            <a:pPr algn="just" eaLnBrk="1" hangingPunct="1">
              <a:lnSpc>
                <a:spcPct val="150000"/>
              </a:lnSpc>
            </a:pPr>
            <a:r>
              <a:rPr lang="en-US" sz="1400" dirty="0" smtClean="0">
                <a:latin typeface="Verdana" pitchFamily="34" charset="0"/>
                <a:ea typeface="ヒラギノ角ゴ Pro W3"/>
                <a:cs typeface="ヒラギノ角ゴ Pro W3"/>
              </a:rPr>
              <a:t>The </a:t>
            </a:r>
            <a:r>
              <a:rPr lang="en-US" sz="1400" b="1" dirty="0" smtClean="0">
                <a:latin typeface="Verdana" pitchFamily="34" charset="0"/>
                <a:ea typeface="ヒラギノ角ゴ Pro W3"/>
                <a:cs typeface="ヒラギノ角ゴ Pro W3"/>
              </a:rPr>
              <a:t>dimensions include different types of content </a:t>
            </a:r>
            <a:r>
              <a:rPr lang="en-US" sz="1400" dirty="0" smtClean="0">
                <a:latin typeface="Verdana" pitchFamily="34" charset="0"/>
                <a:ea typeface="ヒラギノ角ゴ Pro W3"/>
                <a:cs typeface="ヒラギノ角ゴ Pro W3"/>
              </a:rPr>
              <a:t>and </a:t>
            </a:r>
            <a:r>
              <a:rPr lang="en-US" sz="1400" b="1" dirty="0" smtClean="0">
                <a:latin typeface="Verdana" pitchFamily="34" charset="0"/>
                <a:ea typeface="ヒラギノ角ゴ Pro W3"/>
                <a:cs typeface="ヒラギノ角ゴ Pro W3"/>
              </a:rPr>
              <a:t>how that can be structured, issues of style and aesthetics</a:t>
            </a:r>
            <a:r>
              <a:rPr lang="en-US" sz="1400" dirty="0" smtClean="0">
                <a:latin typeface="Verdana" pitchFamily="34" charset="0"/>
                <a:ea typeface="ヒラギノ角ゴ Pro W3"/>
                <a:cs typeface="ヒラギノ角ゴ Pro W3"/>
              </a:rPr>
              <a:t>.</a:t>
            </a:r>
          </a:p>
          <a:p>
            <a:pPr algn="just" eaLnBrk="1" hangingPunct="1">
              <a:lnSpc>
                <a:spcPct val="150000"/>
              </a:lnSpc>
            </a:pPr>
            <a:r>
              <a:rPr lang="en-US" sz="1400" dirty="0" smtClean="0">
                <a:latin typeface="Verdana" pitchFamily="34" charset="0"/>
                <a:ea typeface="ヒラギノ角ゴ Pro W3"/>
                <a:cs typeface="ヒラギノ角ゴ Pro W3"/>
              </a:rPr>
              <a:t>The aim is to specify the scenarios at a level of abstraction that captures an appropriate level of generality that will be useful across the range of characteristics that is demonstrated within a domain.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p:cNvSpPr>
            <a:spLocks noGrp="1"/>
          </p:cNvSpPr>
          <p:nvPr>
            <p:ph type="title"/>
          </p:nvPr>
        </p:nvSpPr>
        <p:spPr>
          <a:xfrm>
            <a:off x="457200" y="202630"/>
            <a:ext cx="8229600" cy="562074"/>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Conceptual model</a:t>
            </a:r>
          </a:p>
        </p:txBody>
      </p:sp>
      <p:sp>
        <p:nvSpPr>
          <p:cNvPr id="3" name="Text Placeholder 2"/>
          <p:cNvSpPr>
            <a:spLocks noGrp="1"/>
          </p:cNvSpPr>
          <p:nvPr>
            <p:ph type="body" idx="1"/>
          </p:nvPr>
        </p:nvSpPr>
        <p:spPr>
          <a:xfrm>
            <a:off x="323528" y="692696"/>
            <a:ext cx="8547869" cy="5472608"/>
          </a:xfrm>
        </p:spPr>
        <p:txBody>
          <a:bodyPr>
            <a:normAutofit/>
          </a:bodyPr>
          <a:lstStyle/>
          <a:p>
            <a:pPr algn="just" eaLnBrk="1" hangingPunct="1">
              <a:lnSpc>
                <a:spcPct val="150000"/>
              </a:lnSpc>
            </a:pPr>
            <a:r>
              <a:rPr lang="en-US" sz="1500" dirty="0" smtClean="0">
                <a:latin typeface="Verdana" pitchFamily="34" charset="0"/>
                <a:ea typeface="ヒラギノ角ゴ Pro W3"/>
                <a:cs typeface="ヒラギノ角ゴ Pro W3"/>
              </a:rPr>
              <a:t>An </a:t>
            </a:r>
            <a:r>
              <a:rPr lang="en-US" sz="1500" b="1" dirty="0" smtClean="0">
                <a:solidFill>
                  <a:srgbClr val="0070C0"/>
                </a:solidFill>
                <a:latin typeface="Verdana" pitchFamily="34" charset="0"/>
                <a:ea typeface="ヒラギノ角ゴ Pro W3"/>
                <a:cs typeface="ヒラギノ角ゴ Pro W3"/>
              </a:rPr>
              <a:t>object or data model </a:t>
            </a:r>
            <a:r>
              <a:rPr lang="en-US" sz="1500" dirty="0" smtClean="0">
                <a:latin typeface="Verdana" pitchFamily="34" charset="0"/>
                <a:ea typeface="ヒラギノ角ゴ Pro W3"/>
                <a:cs typeface="ヒラギノ角ゴ Pro W3"/>
              </a:rPr>
              <a:t>results from the process of conceptual modeling, including developing the scenarios and undertaking an object/action analysis of the scenario corpus. </a:t>
            </a:r>
          </a:p>
          <a:p>
            <a:pPr algn="just" eaLnBrk="1" hangingPunct="1">
              <a:lnSpc>
                <a:spcPct val="150000"/>
              </a:lnSpc>
            </a:pPr>
            <a:r>
              <a:rPr lang="en-US" sz="1500" dirty="0" smtClean="0">
                <a:latin typeface="Verdana" pitchFamily="34" charset="0"/>
                <a:ea typeface="ヒラギノ角ゴ Pro W3"/>
                <a:cs typeface="ヒラギノ角ゴ Pro W3"/>
              </a:rPr>
              <a:t>The </a:t>
            </a:r>
            <a:r>
              <a:rPr lang="en-US" sz="1500" b="1" dirty="0" smtClean="0">
                <a:latin typeface="Verdana" pitchFamily="34" charset="0"/>
                <a:ea typeface="ヒラギノ角ゴ Pro W3"/>
                <a:cs typeface="ヒラギノ角ゴ Pro W3"/>
              </a:rPr>
              <a:t>conceptual model shows the main objects in the system, their attributes and the relationships that exist between them</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b="1" dirty="0" smtClean="0">
                <a:latin typeface="Verdana" pitchFamily="34" charset="0"/>
                <a:ea typeface="ヒラギノ角ゴ Pro W3"/>
                <a:cs typeface="ヒラギノ角ゴ Pro W3"/>
              </a:rPr>
              <a:t>Conceptual modeling </a:t>
            </a:r>
            <a:r>
              <a:rPr lang="en-US" sz="1500" dirty="0" smtClean="0">
                <a:latin typeface="Verdana" pitchFamily="34" charset="0"/>
                <a:ea typeface="ヒラギノ角ゴ Pro W3"/>
                <a:cs typeface="ヒラギノ角ゴ Pro W3"/>
              </a:rPr>
              <a:t>is a very important part of interactive systems design that is </a:t>
            </a:r>
            <a:r>
              <a:rPr lang="en-US" sz="1500" b="1" dirty="0" smtClean="0">
                <a:latin typeface="Verdana" pitchFamily="34" charset="0"/>
                <a:ea typeface="ヒラギノ角ゴ Pro W3"/>
                <a:cs typeface="ヒラギノ角ゴ Pro W3"/>
              </a:rPr>
              <a:t>often overlooked</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Having a </a:t>
            </a:r>
            <a:r>
              <a:rPr lang="en-US" sz="1500" b="1" dirty="0" smtClean="0">
                <a:latin typeface="Verdana" pitchFamily="34" charset="0"/>
                <a:ea typeface="ヒラギノ角ゴ Pro W3"/>
                <a:cs typeface="ヒラギノ角ゴ Pro W3"/>
              </a:rPr>
              <a:t>clear, well-designed conceptual model will make it easier to design </a:t>
            </a:r>
            <a:r>
              <a:rPr lang="en-US" sz="1500" dirty="0" smtClean="0">
                <a:latin typeface="Verdana" pitchFamily="34" charset="0"/>
                <a:ea typeface="ヒラギノ角ゴ Pro W3"/>
                <a:cs typeface="ヒラギノ角ゴ Pro W3"/>
              </a:rPr>
              <a:t>so that </a:t>
            </a:r>
            <a:r>
              <a:rPr lang="en-US" sz="1500" b="1" dirty="0" smtClean="0">
                <a:latin typeface="Verdana" pitchFamily="34" charset="0"/>
                <a:ea typeface="ヒラギノ角ゴ Pro W3"/>
                <a:cs typeface="ヒラギノ角ゴ Pro W3"/>
              </a:rPr>
              <a:t>people can develop a good, accurate mental model of the system</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The </a:t>
            </a:r>
            <a:r>
              <a:rPr lang="en-US" sz="1500" b="1" dirty="0" smtClean="0">
                <a:latin typeface="Verdana" pitchFamily="34" charset="0"/>
                <a:ea typeface="ヒラギノ角ゴ Pro W3"/>
                <a:cs typeface="ヒラギノ角ゴ Pro W3"/>
              </a:rPr>
              <a:t>conceptual model will also form the basis of the information architecture of a system</a:t>
            </a:r>
            <a:r>
              <a:rPr lang="en-US" sz="1500" dirty="0" smtClean="0">
                <a:latin typeface="Verdana" pitchFamily="34" charset="0"/>
                <a:ea typeface="ヒラギノ角ゴ Pro W3"/>
                <a:cs typeface="ヒラギノ角ゴ Pro W3"/>
              </a:rPr>
              <a:t> and for any metaphor that is used in the design. </a:t>
            </a:r>
          </a:p>
          <a:p>
            <a:pPr algn="just" eaLnBrk="1" hangingPunct="1">
              <a:lnSpc>
                <a:spcPct val="150000"/>
              </a:lnSpc>
            </a:pPr>
            <a:r>
              <a:rPr lang="en-US" sz="1500" dirty="0" smtClean="0">
                <a:latin typeface="Verdana" pitchFamily="34" charset="0"/>
                <a:ea typeface="ヒラギノ角ゴ Pro W3"/>
                <a:cs typeface="ヒラギノ角ゴ Pro W3"/>
              </a:rPr>
              <a:t>Two famous conceptual models are the concept of the spreadsheet and the various objects such as printers, folders, documents, etc. that make up the ‘desktop’ metaphor of the Windows and Mac OS operating systems.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p:cNvSpPr>
            <a:spLocks noGrp="1"/>
          </p:cNvSpPr>
          <p:nvPr>
            <p:ph type="title"/>
          </p:nvPr>
        </p:nvSpPr>
        <p:spPr>
          <a:xfrm>
            <a:off x="457200" y="274638"/>
            <a:ext cx="8229600" cy="850106"/>
          </a:xfrm>
        </p:spPr>
        <p:txBody>
          <a:bodyPr/>
          <a:lstStyle/>
          <a:p>
            <a:pPr eaLnBrk="1" hangingPunct="1">
              <a:lnSpc>
                <a:spcPct val="120000"/>
              </a:lnSpc>
            </a:pPr>
            <a:r>
              <a:rPr lang="en-US" sz="1800" b="1" dirty="0" smtClean="0">
                <a:latin typeface="Verdana" pitchFamily="34" charset="0"/>
                <a:ea typeface="ヒラギノ角ゴ Pro W3"/>
                <a:cs typeface="ヒラギノ角ゴ Pro W3"/>
              </a:rPr>
              <a:t>Design language</a:t>
            </a:r>
          </a:p>
        </p:txBody>
      </p:sp>
      <p:sp>
        <p:nvSpPr>
          <p:cNvPr id="3" name="Text Placeholder 2"/>
          <p:cNvSpPr>
            <a:spLocks noGrp="1"/>
          </p:cNvSpPr>
          <p:nvPr>
            <p:ph type="body" idx="1"/>
          </p:nvPr>
        </p:nvSpPr>
        <p:spPr>
          <a:xfrm>
            <a:off x="457200" y="1279301"/>
            <a:ext cx="8229600" cy="4525963"/>
          </a:xfrm>
        </p:spPr>
        <p:txBody>
          <a:bodyPr>
            <a:normAutofit/>
          </a:bodyPr>
          <a:lstStyle/>
          <a:p>
            <a:pPr algn="just" eaLnBrk="1" hangingPunct="1">
              <a:lnSpc>
                <a:spcPct val="150000"/>
              </a:lnSpc>
            </a:pPr>
            <a:r>
              <a:rPr lang="en-US" sz="1500" dirty="0" smtClean="0">
                <a:latin typeface="Verdana" pitchFamily="34" charset="0"/>
                <a:ea typeface="ヒラギノ角ゴ Pro W3"/>
                <a:cs typeface="ヒラギノ角ゴ Pro W3"/>
              </a:rPr>
              <a:t>The design language produced consists of a </a:t>
            </a:r>
            <a:r>
              <a:rPr lang="en-US" sz="1500" b="1" dirty="0" smtClean="0">
                <a:latin typeface="Verdana" pitchFamily="34" charset="0"/>
                <a:ea typeface="ヒラギノ角ゴ Pro W3"/>
                <a:cs typeface="ヒラギノ角ゴ Pro W3"/>
              </a:rPr>
              <a:t>set of standard patterns of interaction</a:t>
            </a:r>
            <a:r>
              <a:rPr lang="en-US" sz="1500" dirty="0" smtClean="0">
                <a:latin typeface="Verdana" pitchFamily="34" charset="0"/>
                <a:ea typeface="ヒラギノ角ゴ Pro W3"/>
                <a:cs typeface="ヒラギノ角ゴ Pro W3"/>
              </a:rPr>
              <a:t> and </a:t>
            </a:r>
            <a:r>
              <a:rPr lang="en-US" sz="1500" b="1" dirty="0" smtClean="0">
                <a:latin typeface="Verdana" pitchFamily="34" charset="0"/>
                <a:ea typeface="ヒラギノ角ゴ Pro W3"/>
                <a:cs typeface="ヒラギノ角ゴ Pro W3"/>
              </a:rPr>
              <a:t>all the physical attributes of a design – the </a:t>
            </a:r>
            <a:r>
              <a:rPr lang="en-US" sz="1500" b="1" dirty="0" err="1" smtClean="0">
                <a:latin typeface="Verdana" pitchFamily="34" charset="0"/>
                <a:ea typeface="ヒラギノ角ゴ Pro W3"/>
                <a:cs typeface="ヒラギノ角ゴ Pro W3"/>
              </a:rPr>
              <a:t>colours</a:t>
            </a:r>
            <a:r>
              <a:rPr lang="en-US" sz="1500" b="1" dirty="0" smtClean="0">
                <a:latin typeface="Verdana" pitchFamily="34" charset="0"/>
                <a:ea typeface="ヒラギノ角ゴ Pro W3"/>
                <a:cs typeface="ヒラギノ角ゴ Pro W3"/>
              </a:rPr>
              <a:t>, shapes, icons and so on</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These are </a:t>
            </a:r>
            <a:r>
              <a:rPr lang="en-US" sz="1500" b="1" dirty="0" smtClean="0">
                <a:latin typeface="Verdana" pitchFamily="34" charset="0"/>
                <a:ea typeface="ヒラギノ角ゴ Pro W3"/>
                <a:cs typeface="ヒラギノ角ゴ Pro W3"/>
              </a:rPr>
              <a:t>brought together with the conceptual actions and objects </a:t>
            </a:r>
            <a:r>
              <a:rPr lang="en-US" sz="1500" dirty="0" smtClean="0">
                <a:latin typeface="Verdana" pitchFamily="34" charset="0"/>
                <a:ea typeface="ヒラギノ角ゴ Pro W3"/>
                <a:cs typeface="ヒラギノ角ゴ Pro W3"/>
              </a:rPr>
              <a:t>and the </a:t>
            </a:r>
            <a:r>
              <a:rPr lang="en-US" sz="1500" b="1" dirty="0" smtClean="0">
                <a:latin typeface="Verdana" pitchFamily="34" charset="0"/>
                <a:ea typeface="ヒラギノ角ゴ Pro W3"/>
                <a:cs typeface="ヒラギノ角ゴ Pro W3"/>
              </a:rPr>
              <a:t>‘look and feel’ of the design is completed</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b="1" dirty="0" smtClean="0">
                <a:latin typeface="Verdana" pitchFamily="34" charset="0"/>
                <a:ea typeface="ヒラギノ角ゴ Pro W3"/>
                <a:cs typeface="ヒラギノ角ゴ Pro W3"/>
              </a:rPr>
              <a:t>A ‘design language’ defines </a:t>
            </a:r>
            <a:r>
              <a:rPr lang="en-US" sz="1500" dirty="0" smtClean="0">
                <a:latin typeface="Verdana" pitchFamily="34" charset="0"/>
                <a:ea typeface="ヒラギノ角ゴ Pro W3"/>
                <a:cs typeface="ヒラギノ角ゴ Pro W3"/>
              </a:rPr>
              <a:t>the key elements of the design (such as the use of color, style and types of buttons, sliders and other widgets, etc.) and some principles and rules for putting them together. </a:t>
            </a:r>
          </a:p>
          <a:p>
            <a:pPr algn="just" eaLnBrk="1" hangingPunct="1">
              <a:lnSpc>
                <a:spcPct val="150000"/>
              </a:lnSpc>
            </a:pPr>
            <a:r>
              <a:rPr lang="en-US" sz="1500" b="1" dirty="0" smtClean="0">
                <a:latin typeface="Verdana" pitchFamily="34" charset="0"/>
                <a:ea typeface="ヒラギノ角ゴ Pro W3"/>
                <a:cs typeface="ヒラギノ角ゴ Pro W3"/>
              </a:rPr>
              <a:t>A consistent design language means that users need learn only a limited number of design elements and then they can cope with a large variety of different situations</a:t>
            </a:r>
            <a:r>
              <a:rPr lang="en-US" sz="1500" dirty="0" smtClean="0">
                <a:latin typeface="Verdana" pitchFamily="34" charset="0"/>
                <a:ea typeface="ヒラギノ角ゴ Pro W3"/>
                <a:cs typeface="ヒラギノ角ゴ Pro W3"/>
              </a:rPr>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p:cNvSpPr>
            <a:spLocks noGrp="1"/>
          </p:cNvSpPr>
          <p:nvPr>
            <p:ph type="title"/>
          </p:nvPr>
        </p:nvSpPr>
        <p:spPr>
          <a:xfrm>
            <a:off x="457200" y="188640"/>
            <a:ext cx="8229600" cy="346050"/>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Documenting scenarios</a:t>
            </a:r>
          </a:p>
        </p:txBody>
      </p:sp>
      <p:sp>
        <p:nvSpPr>
          <p:cNvPr id="3" name="Text Placeholder 2"/>
          <p:cNvSpPr>
            <a:spLocks noGrp="1"/>
          </p:cNvSpPr>
          <p:nvPr>
            <p:ph type="body" idx="1"/>
          </p:nvPr>
        </p:nvSpPr>
        <p:spPr>
          <a:xfrm>
            <a:off x="107504" y="692696"/>
            <a:ext cx="8928992" cy="5616624"/>
          </a:xfrm>
        </p:spPr>
        <p:txBody>
          <a:bodyPr>
            <a:noAutofit/>
          </a:bodyPr>
          <a:lstStyle/>
          <a:p>
            <a:pPr algn="just" eaLnBrk="1" hangingPunct="1">
              <a:lnSpc>
                <a:spcPct val="160000"/>
              </a:lnSpc>
            </a:pPr>
            <a:r>
              <a:rPr lang="en-US" sz="1400" b="1" dirty="0" smtClean="0">
                <a:latin typeface="Verdana" pitchFamily="34" charset="0"/>
                <a:ea typeface="ヒラギノ角ゴ Pro W3"/>
                <a:cs typeface="ヒラギノ角ゴ Pro W3"/>
              </a:rPr>
              <a:t>Scenarios can become messy</a:t>
            </a:r>
            <a:r>
              <a:rPr lang="en-US" sz="1400" dirty="0">
                <a:latin typeface="Verdana" pitchFamily="34" charset="0"/>
                <a:ea typeface="ヒラギノ角ゴ Pro W3"/>
                <a:cs typeface="ヒラギノ角ゴ Pro W3"/>
              </a:rPr>
              <a:t>.</a:t>
            </a:r>
            <a:r>
              <a:rPr lang="en-US" sz="1400" dirty="0" smtClean="0">
                <a:latin typeface="Verdana" pitchFamily="34" charset="0"/>
                <a:ea typeface="ヒラギノ角ゴ Pro W3"/>
                <a:cs typeface="ヒラギノ角ゴ Pro W3"/>
              </a:rPr>
              <a:t> in order to control the scenarios, structure is needed. </a:t>
            </a:r>
          </a:p>
          <a:p>
            <a:pPr algn="just" eaLnBrk="1" hangingPunct="1">
              <a:lnSpc>
                <a:spcPct val="160000"/>
              </a:lnSpc>
            </a:pPr>
            <a:r>
              <a:rPr lang="en-US" sz="1400" dirty="0" smtClean="0">
                <a:latin typeface="Verdana" pitchFamily="34" charset="0"/>
                <a:ea typeface="ヒラギノ角ゴ Pro W3"/>
                <a:cs typeface="ヒラギノ角ゴ Pro W3"/>
              </a:rPr>
              <a:t>We </a:t>
            </a:r>
            <a:r>
              <a:rPr lang="en-US" sz="1400" b="1" dirty="0" smtClean="0">
                <a:latin typeface="Verdana" pitchFamily="34" charset="0"/>
                <a:ea typeface="ヒラギノ角ゴ Pro W3"/>
                <a:cs typeface="ヒラギノ角ゴ Pro W3"/>
              </a:rPr>
              <a:t>use the PACT framework (people, activities, contexts, technologies) to critique scenarios and to encourage designers to get a good description of the scenario</a:t>
            </a:r>
            <a:r>
              <a:rPr lang="en-US" sz="1400" dirty="0" smtClean="0">
                <a:latin typeface="Verdana" pitchFamily="34" charset="0"/>
                <a:ea typeface="ヒラギノ角ゴ Pro W3"/>
                <a:cs typeface="ヒラギノ角ゴ Pro W3"/>
              </a:rPr>
              <a:t>. </a:t>
            </a:r>
          </a:p>
          <a:p>
            <a:pPr algn="just" eaLnBrk="1" hangingPunct="1">
              <a:lnSpc>
                <a:spcPct val="160000"/>
              </a:lnSpc>
            </a:pPr>
            <a:r>
              <a:rPr lang="en-US" sz="1400" dirty="0" smtClean="0">
                <a:latin typeface="Verdana" pitchFamily="34" charset="0"/>
                <a:ea typeface="ヒラギノ角ゴ Pro W3"/>
                <a:cs typeface="ヒラギノ角ゴ Pro W3"/>
              </a:rPr>
              <a:t>For </a:t>
            </a:r>
            <a:r>
              <a:rPr lang="en-US" sz="1400" b="1" dirty="0" smtClean="0">
                <a:latin typeface="Verdana" pitchFamily="34" charset="0"/>
                <a:ea typeface="ヒラギノ角ゴ Pro W3"/>
                <a:cs typeface="ヒラギノ角ゴ Pro W3"/>
              </a:rPr>
              <a:t>each scenario</a:t>
            </a:r>
            <a:r>
              <a:rPr lang="en-US" sz="1400" dirty="0" smtClean="0">
                <a:latin typeface="Verdana" pitchFamily="34" charset="0"/>
                <a:ea typeface="ヒラギノ角ゴ Pro W3"/>
                <a:cs typeface="ヒラギノ角ゴ Pro W3"/>
              </a:rPr>
              <a:t>, </a:t>
            </a:r>
            <a:r>
              <a:rPr lang="en-US" sz="1400" b="1" dirty="0" smtClean="0">
                <a:latin typeface="Verdana" pitchFamily="34" charset="0"/>
                <a:ea typeface="ヒラギノ角ゴ Pro W3"/>
                <a:cs typeface="ヒラギノ角ゴ Pro W3"/>
              </a:rPr>
              <a:t>the designer lists different people </a:t>
            </a:r>
            <a:r>
              <a:rPr lang="en-US" sz="1400" dirty="0" smtClean="0">
                <a:latin typeface="Verdana" pitchFamily="34" charset="0"/>
                <a:ea typeface="ヒラギノ角ゴ Pro W3"/>
                <a:cs typeface="ヒラギノ角ゴ Pro W3"/>
              </a:rPr>
              <a:t>who are involved, the </a:t>
            </a:r>
            <a:r>
              <a:rPr lang="en-US" sz="1400" b="1" dirty="0" smtClean="0">
                <a:latin typeface="Verdana" pitchFamily="34" charset="0"/>
                <a:ea typeface="ヒラギノ角ゴ Pro W3"/>
                <a:cs typeface="ヒラギノ角ゴ Pro W3"/>
              </a:rPr>
              <a:t>activities</a:t>
            </a:r>
            <a:r>
              <a:rPr lang="en-US" sz="1400" dirty="0" smtClean="0">
                <a:latin typeface="Verdana" pitchFamily="34" charset="0"/>
                <a:ea typeface="ヒラギノ角ゴ Pro W3"/>
                <a:cs typeface="ヒラギノ角ゴ Pro W3"/>
              </a:rPr>
              <a:t> they are undertaking, </a:t>
            </a:r>
            <a:r>
              <a:rPr lang="en-US" sz="1400" b="1" dirty="0" smtClean="0">
                <a:latin typeface="Verdana" pitchFamily="34" charset="0"/>
                <a:ea typeface="ヒラギノ角ゴ Pro W3"/>
                <a:cs typeface="ヒラギノ角ゴ Pro W3"/>
              </a:rPr>
              <a:t>contexts </a:t>
            </a:r>
            <a:r>
              <a:rPr lang="en-US" sz="1400" dirty="0" smtClean="0">
                <a:latin typeface="Verdana" pitchFamily="34" charset="0"/>
                <a:ea typeface="ヒラギノ角ゴ Pro W3"/>
                <a:cs typeface="ヒラギノ角ゴ Pro W3"/>
              </a:rPr>
              <a:t>of those activities &amp; the </a:t>
            </a:r>
            <a:r>
              <a:rPr lang="en-US" sz="1400" b="1" dirty="0" smtClean="0">
                <a:latin typeface="Verdana" pitchFamily="34" charset="0"/>
                <a:ea typeface="ヒラギノ角ゴ Pro W3"/>
                <a:cs typeface="ヒラギノ角ゴ Pro W3"/>
              </a:rPr>
              <a:t>technologies </a:t>
            </a:r>
            <a:r>
              <a:rPr lang="en-US" sz="1400" dirty="0" smtClean="0">
                <a:latin typeface="Verdana" pitchFamily="34" charset="0"/>
                <a:ea typeface="ヒラギノ角ゴ Pro W3"/>
                <a:cs typeface="ヒラギノ角ゴ Pro W3"/>
              </a:rPr>
              <a:t>that are being used. </a:t>
            </a:r>
          </a:p>
          <a:p>
            <a:pPr algn="just" eaLnBrk="1" hangingPunct="1">
              <a:lnSpc>
                <a:spcPct val="160000"/>
              </a:lnSpc>
            </a:pPr>
            <a:r>
              <a:rPr lang="en-US" sz="1400" dirty="0" smtClean="0">
                <a:latin typeface="Verdana" pitchFamily="34" charset="0"/>
                <a:ea typeface="ヒラギノ角ゴ Pro W3"/>
                <a:cs typeface="ヒラギノ角ゴ Pro W3"/>
              </a:rPr>
              <a:t>We </a:t>
            </a:r>
            <a:r>
              <a:rPr lang="en-US" sz="1400" b="1" dirty="0" smtClean="0">
                <a:latin typeface="Verdana" pitchFamily="34" charset="0"/>
                <a:ea typeface="ヒラギノ角ゴ Pro W3"/>
                <a:cs typeface="ヒラギノ角ゴ Pro W3"/>
              </a:rPr>
              <a:t>also structure scenario descriptions. Each scenario should be given an introduction</a:t>
            </a:r>
            <a:r>
              <a:rPr lang="en-US" sz="1400" dirty="0" smtClean="0">
                <a:latin typeface="Verdana" pitchFamily="34" charset="0"/>
                <a:ea typeface="ヒラギノ角ゴ Pro W3"/>
                <a:cs typeface="ヒラギノ角ゴ Pro W3"/>
              </a:rPr>
              <a:t>.  The history and authorship can be recorded, along with a description of how the scenario generalizes (across which domains) and the rationale for the scenario. </a:t>
            </a:r>
          </a:p>
          <a:p>
            <a:pPr algn="just" eaLnBrk="1" hangingPunct="1">
              <a:lnSpc>
                <a:spcPct val="160000"/>
              </a:lnSpc>
            </a:pPr>
            <a:r>
              <a:rPr lang="en-US" sz="1400" b="1" dirty="0" smtClean="0">
                <a:latin typeface="Verdana" pitchFamily="34" charset="0"/>
                <a:ea typeface="ヒラギノ角ゴ Pro W3"/>
                <a:cs typeface="ヒラギノ角ゴ Pro W3"/>
              </a:rPr>
              <a:t>Each paragraph of each scenario should be numbered for ease of reference and endnotes </a:t>
            </a:r>
            <a:r>
              <a:rPr lang="en-US" sz="1400" dirty="0" smtClean="0">
                <a:latin typeface="Verdana" pitchFamily="34" charset="0"/>
                <a:ea typeface="ヒラギノ角ゴ Pro W3"/>
                <a:cs typeface="ヒラギノ角ゴ Pro W3"/>
              </a:rPr>
              <a:t>included where particular design issues are raised. </a:t>
            </a:r>
          </a:p>
          <a:p>
            <a:pPr algn="just" eaLnBrk="1" hangingPunct="1">
              <a:lnSpc>
                <a:spcPct val="160000"/>
              </a:lnSpc>
            </a:pPr>
            <a:r>
              <a:rPr lang="en-US" sz="1400" b="1" dirty="0" smtClean="0">
                <a:latin typeface="Verdana" pitchFamily="34" charset="0"/>
                <a:ea typeface="ヒラギノ角ゴ Pro W3"/>
                <a:cs typeface="ヒラギノ角ゴ Pro W3"/>
              </a:rPr>
              <a:t>Endnotes </a:t>
            </a:r>
            <a:r>
              <a:rPr lang="en-US" sz="1400" dirty="0" smtClean="0">
                <a:latin typeface="Verdana" pitchFamily="34" charset="0"/>
                <a:ea typeface="ヒラギノ角ゴ Pro W3"/>
                <a:cs typeface="ヒラギノ角ゴ Pro W3"/>
              </a:rPr>
              <a:t>are particularly useful in documenting issues raised during the development of the scenario. They are a way of capturing the claims being made about the scenarios </a:t>
            </a:r>
          </a:p>
          <a:p>
            <a:pPr algn="just" eaLnBrk="1" hangingPunct="1">
              <a:lnSpc>
                <a:spcPct val="160000"/>
              </a:lnSpc>
            </a:pPr>
            <a:r>
              <a:rPr lang="en-US" sz="1400" b="1" dirty="0" smtClean="0">
                <a:latin typeface="Verdana" pitchFamily="34" charset="0"/>
                <a:ea typeface="ヒラギノ角ゴ Pro W3"/>
                <a:cs typeface="ヒラギノ角ゴ Pro W3"/>
              </a:rPr>
              <a:t>Examples of relevant data and media should be collected.</a:t>
            </a:r>
          </a:p>
          <a:p>
            <a:pPr marL="0" indent="0" algn="just" eaLnBrk="1" hangingPunct="1">
              <a:lnSpc>
                <a:spcPct val="160000"/>
              </a:lnSpc>
              <a:buNone/>
            </a:pPr>
            <a:r>
              <a:rPr lang="en-US" sz="1400" b="1" dirty="0" smtClean="0">
                <a:solidFill>
                  <a:srgbClr val="00B050"/>
                </a:solidFill>
                <a:latin typeface="Verdana" pitchFamily="34" charset="0"/>
                <a:ea typeface="ヒラギノ角ゴ Pro W3"/>
                <a:cs typeface="ヒラギノ角ゴ Pro W3"/>
              </a:rPr>
              <a:t>(EndNote </a:t>
            </a:r>
            <a:r>
              <a:rPr lang="en-US" sz="1400" b="1" dirty="0">
                <a:solidFill>
                  <a:srgbClr val="00B050"/>
                </a:solidFill>
                <a:latin typeface="Verdana" pitchFamily="34" charset="0"/>
                <a:ea typeface="ヒラギノ角ゴ Pro W3"/>
                <a:cs typeface="ヒラギノ角ゴ Pro W3"/>
              </a:rPr>
              <a:t>is a commercial reference management software package, used to manage bibliographies and references when writing essays, reports and articles</a:t>
            </a:r>
            <a:r>
              <a:rPr lang="en-US" sz="1400" b="1" dirty="0" smtClean="0">
                <a:solidFill>
                  <a:srgbClr val="00B050"/>
                </a:solidFill>
                <a:latin typeface="Verdana" pitchFamily="34" charset="0"/>
                <a:ea typeface="ヒラギノ角ゴ Pro W3"/>
                <a:cs typeface="ヒラギノ角ゴ Pro W3"/>
              </a:rPr>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p:cNvSpPr>
            <a:spLocks noGrp="1"/>
          </p:cNvSpPr>
          <p:nvPr>
            <p:ph type="title"/>
          </p:nvPr>
        </p:nvSpPr>
        <p:spPr>
          <a:xfrm>
            <a:off x="457200" y="274638"/>
            <a:ext cx="8229600" cy="706090"/>
          </a:xfrm>
        </p:spPr>
        <p:txBody>
          <a:bodyPr/>
          <a:lstStyle/>
          <a:p>
            <a:pPr eaLnBrk="1" hangingPunct="1">
              <a:lnSpc>
                <a:spcPct val="120000"/>
              </a:lnSpc>
            </a:pPr>
            <a:r>
              <a:rPr lang="en-US" sz="1500" b="1" dirty="0" smtClean="0">
                <a:latin typeface="Verdana" pitchFamily="34" charset="0"/>
                <a:ea typeface="ヒラギノ角ゴ Pro W3"/>
                <a:cs typeface="ヒラギノ角ゴ Pro W3"/>
              </a:rPr>
              <a:t>Gathering data</a:t>
            </a:r>
          </a:p>
        </p:txBody>
      </p:sp>
      <p:sp>
        <p:nvSpPr>
          <p:cNvPr id="3" name="Text Placeholder 2"/>
          <p:cNvSpPr>
            <a:spLocks noGrp="1"/>
          </p:cNvSpPr>
          <p:nvPr>
            <p:ph type="body" idx="1"/>
          </p:nvPr>
        </p:nvSpPr>
        <p:spPr>
          <a:xfrm>
            <a:off x="179512" y="1052736"/>
            <a:ext cx="8507288" cy="5328592"/>
          </a:xfrm>
        </p:spPr>
        <p:txBody>
          <a:bodyPr>
            <a:noAutofit/>
          </a:bodyPr>
          <a:lstStyle/>
          <a:p>
            <a:pPr algn="just" eaLnBrk="1" hangingPunct="1">
              <a:lnSpc>
                <a:spcPct val="150000"/>
              </a:lnSpc>
            </a:pPr>
            <a:r>
              <a:rPr lang="en-US" sz="1400" dirty="0" smtClean="0">
                <a:latin typeface="Verdana" pitchFamily="34" charset="0"/>
                <a:ea typeface="ヒラギノ角ゴ Pro W3"/>
                <a:cs typeface="ヒラギノ角ゴ Pro W3"/>
              </a:rPr>
              <a:t>When working in a large design team, it is useful to accompany scenarios by real data. </a:t>
            </a:r>
          </a:p>
          <a:p>
            <a:pPr algn="just" eaLnBrk="1" hangingPunct="1">
              <a:lnSpc>
                <a:spcPct val="150000"/>
              </a:lnSpc>
            </a:pPr>
            <a:r>
              <a:rPr lang="en-US" sz="1400" dirty="0" smtClean="0">
                <a:latin typeface="Verdana" pitchFamily="34" charset="0"/>
                <a:ea typeface="ヒラギノ角ゴ Pro W3"/>
                <a:cs typeface="ヒラギノ角ゴ Pro W3"/>
              </a:rPr>
              <a:t>This means that </a:t>
            </a:r>
            <a:r>
              <a:rPr lang="en-US" sz="1400" b="1" dirty="0" smtClean="0">
                <a:latin typeface="Verdana" pitchFamily="34" charset="0"/>
                <a:ea typeface="ヒラギノ角ゴ Pro W3"/>
                <a:cs typeface="ヒラギノ角ゴ Pro W3"/>
              </a:rPr>
              <a:t>different team members can share concrete examples </a:t>
            </a:r>
            <a:r>
              <a:rPr lang="en-US" sz="1400" dirty="0" smtClean="0">
                <a:latin typeface="Verdana" pitchFamily="34" charset="0"/>
                <a:ea typeface="ヒラギノ角ゴ Pro W3"/>
                <a:cs typeface="ヒラギノ角ゴ Pro W3"/>
              </a:rPr>
              <a:t>and use these as </a:t>
            </a:r>
            <a:r>
              <a:rPr lang="en-US" sz="1400" b="1" dirty="0" smtClean="0">
                <a:latin typeface="Verdana" pitchFamily="34" charset="0"/>
                <a:ea typeface="ヒラギノ角ゴ Pro W3"/>
                <a:cs typeface="ヒラギノ角ゴ Pro W3"/>
              </a:rPr>
              <a:t>a focus of discussion</a:t>
            </a:r>
            <a:r>
              <a:rPr lang="en-US" sz="1400" dirty="0" smtClean="0">
                <a:latin typeface="Verdana" pitchFamily="34" charset="0"/>
                <a:ea typeface="ヒラギノ角ゴ Pro W3"/>
                <a:cs typeface="ヒラギノ角ゴ Pro W3"/>
              </a:rPr>
              <a:t>. </a:t>
            </a:r>
          </a:p>
          <a:p>
            <a:pPr algn="just" eaLnBrk="1" hangingPunct="1">
              <a:lnSpc>
                <a:spcPct val="150000"/>
              </a:lnSpc>
            </a:pPr>
            <a:r>
              <a:rPr lang="en-US" sz="1400" b="1" dirty="0" smtClean="0">
                <a:latin typeface="Verdana" pitchFamily="34" charset="0"/>
                <a:ea typeface="ヒラギノ角ゴ Pro W3"/>
                <a:cs typeface="ヒラギノ角ゴ Pro W3"/>
              </a:rPr>
              <a:t>Another key feature of writing scenarios is to think hard about the assumptions </a:t>
            </a:r>
            <a:r>
              <a:rPr lang="en-US" sz="1400" dirty="0" smtClean="0">
                <a:latin typeface="Verdana" pitchFamily="34" charset="0"/>
                <a:ea typeface="ヒラギノ角ゴ Pro W3"/>
                <a:cs typeface="ヒラギノ角ゴ Pro W3"/>
              </a:rPr>
              <a:t>that are being made: to make assumptions explicit or deliberately avoid making things explicit in order to provoke debate. </a:t>
            </a:r>
          </a:p>
          <a:p>
            <a:pPr algn="just" eaLnBrk="1" hangingPunct="1">
              <a:lnSpc>
                <a:spcPct val="150000"/>
              </a:lnSpc>
            </a:pPr>
            <a:r>
              <a:rPr lang="en-US" sz="1400" dirty="0" smtClean="0">
                <a:latin typeface="Verdana" pitchFamily="34" charset="0"/>
                <a:ea typeface="ヒラギノ角ゴ Pro W3"/>
                <a:cs typeface="ヒラギノ角ゴ Pro W3"/>
              </a:rPr>
              <a:t>In particular </a:t>
            </a:r>
            <a:r>
              <a:rPr lang="en-US" sz="1400" b="1" dirty="0" smtClean="0">
                <a:latin typeface="Verdana" pitchFamily="34" charset="0"/>
                <a:ea typeface="ヒラギノ角ゴ Pro W3"/>
                <a:cs typeface="ヒラギノ角ゴ Pro W3"/>
              </a:rPr>
              <a:t>the use of personas can help to focus on specific issues</a:t>
            </a:r>
            <a:r>
              <a:rPr lang="en-US" sz="1400" dirty="0" smtClean="0">
                <a:latin typeface="Verdana" pitchFamily="34" charset="0"/>
                <a:ea typeface="ヒラギノ角ゴ Pro W3"/>
                <a:cs typeface="ヒラギノ角ゴ Pro W3"/>
              </a:rPr>
              <a:t>. </a:t>
            </a:r>
          </a:p>
          <a:p>
            <a:pPr algn="just" eaLnBrk="1" hangingPunct="1">
              <a:lnSpc>
                <a:spcPct val="150000"/>
              </a:lnSpc>
            </a:pPr>
            <a:r>
              <a:rPr lang="en-US" sz="1400" dirty="0" smtClean="0">
                <a:latin typeface="Verdana" pitchFamily="34" charset="0"/>
                <a:ea typeface="ヒラギノ角ゴ Pro W3"/>
                <a:cs typeface="ヒラギノ角ゴ Pro W3"/>
              </a:rPr>
              <a:t>For example, an elderly woman with arthritis might be one of the personas, thus foregrounding issues of access and the physically impaired interacting with technology.</a:t>
            </a:r>
          </a:p>
          <a:p>
            <a:pPr algn="just" eaLnBrk="1" hangingPunct="1">
              <a:lnSpc>
                <a:spcPct val="150000"/>
              </a:lnSpc>
            </a:pPr>
            <a:r>
              <a:rPr lang="en-US" sz="1400" dirty="0" smtClean="0">
                <a:latin typeface="Verdana" pitchFamily="34" charset="0"/>
                <a:ea typeface="ヒラギノ角ゴ Pro W3"/>
                <a:cs typeface="ヒラギノ角ゴ Pro W3"/>
              </a:rPr>
              <a:t>Finally with these </a:t>
            </a:r>
            <a:r>
              <a:rPr lang="en-US" sz="1400" b="1" dirty="0" smtClean="0">
                <a:latin typeface="Verdana" pitchFamily="34" charset="0"/>
                <a:ea typeface="ヒラギノ角ゴ Pro W3"/>
                <a:cs typeface="ヒラギノ角ゴ Pro W3"/>
              </a:rPr>
              <a:t>scenarios it is important to provide a very rich context</a:t>
            </a:r>
            <a:r>
              <a:rPr lang="en-US" sz="1400" dirty="0" smtClean="0">
                <a:latin typeface="Verdana" pitchFamily="34" charset="0"/>
                <a:ea typeface="ヒラギノ角ゴ Pro W3"/>
                <a:cs typeface="ヒラギノ角ゴ Pro W3"/>
              </a:rPr>
              <a:t>. </a:t>
            </a:r>
          </a:p>
          <a:p>
            <a:pPr algn="just" eaLnBrk="1" hangingPunct="1">
              <a:lnSpc>
                <a:spcPct val="150000"/>
              </a:lnSpc>
            </a:pPr>
            <a:r>
              <a:rPr lang="en-US" sz="1400" dirty="0" smtClean="0">
                <a:latin typeface="Verdana" pitchFamily="34" charset="0"/>
                <a:ea typeface="ヒラギノ角ゴ Pro W3"/>
                <a:cs typeface="ヒラギノ角ゴ Pro W3"/>
              </a:rPr>
              <a:t>The </a:t>
            </a:r>
            <a:r>
              <a:rPr lang="en-US" sz="1400" b="1" dirty="0" smtClean="0">
                <a:latin typeface="Verdana" pitchFamily="34" charset="0"/>
                <a:ea typeface="ヒラギノ角ゴ Pro W3"/>
                <a:cs typeface="ヒラギノ角ゴ Pro W3"/>
              </a:rPr>
              <a:t>guiding principles for scenario writing are people, activities, contexts and technologies</a:t>
            </a:r>
            <a:r>
              <a:rPr lang="en-US" sz="1400" dirty="0" smtClean="0">
                <a:latin typeface="Verdana" pitchFamily="34" charset="0"/>
                <a:ea typeface="ヒラギノ角ゴ Pro W3"/>
                <a:cs typeface="ヒラギノ角ゴ Pro W3"/>
              </a:rPr>
              <a:t>. </a:t>
            </a:r>
          </a:p>
          <a:p>
            <a:pPr algn="just" eaLnBrk="1" hangingPunct="1">
              <a:lnSpc>
                <a:spcPct val="150000"/>
              </a:lnSpc>
            </a:pPr>
            <a:r>
              <a:rPr lang="en-US" sz="1400" dirty="0" smtClean="0">
                <a:latin typeface="Verdana" pitchFamily="34" charset="0"/>
                <a:ea typeface="ヒラギノ角ゴ Pro W3"/>
                <a:cs typeface="ヒラギノ角ゴ Pro W3"/>
              </a:rPr>
              <a:t>The following example is grounded in a concrete example and in a specific context, this is still quite conceptual in that it is used to generate ideas and designs.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9737</TotalTime>
  <Words>5996</Words>
  <Application>Microsoft Office PowerPoint</Application>
  <PresentationFormat>On-screen Show (4:3)</PresentationFormat>
  <Paragraphs>292</Paragraphs>
  <Slides>42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ヒラギノ角ゴ Pro W3</vt:lpstr>
      <vt:lpstr>Arial</vt:lpstr>
      <vt:lpstr>Calibri</vt:lpstr>
      <vt:lpstr>Verdana</vt:lpstr>
      <vt:lpstr>Wingdings</vt:lpstr>
      <vt:lpstr>Office Theme</vt:lpstr>
      <vt:lpstr>The Process of Human-Centred Interactive Systems Design (UX design) Developing personas</vt:lpstr>
      <vt:lpstr>Introduction</vt:lpstr>
      <vt:lpstr>1  Understanding</vt:lpstr>
      <vt:lpstr>Requirements</vt:lpstr>
      <vt:lpstr>Defining Requirements</vt:lpstr>
      <vt:lpstr>Stakeholders</vt:lpstr>
      <vt:lpstr>2  Design Conceptual Design</vt:lpstr>
      <vt:lpstr>Techniques to help with conceptual design. </vt:lpstr>
      <vt:lpstr>Rich Pictures</vt:lpstr>
      <vt:lpstr>Physical design</vt:lpstr>
      <vt:lpstr>Operational Design</vt:lpstr>
      <vt:lpstr>Representational design </vt:lpstr>
      <vt:lpstr>Interaction design </vt:lpstr>
      <vt:lpstr>3  Envisionment</vt:lpstr>
      <vt:lpstr>4  Evaluation</vt:lpstr>
      <vt:lpstr>Implementation</vt:lpstr>
      <vt:lpstr>Agile development</vt:lpstr>
      <vt:lpstr>Developing Personas and Scenarios</vt:lpstr>
      <vt:lpstr>Personas</vt:lpstr>
      <vt:lpstr>Using Personas</vt:lpstr>
      <vt:lpstr>Scenarios</vt:lpstr>
      <vt:lpstr>Five key problems of design (from Carroll)</vt:lpstr>
      <vt:lpstr>Motivations</vt:lpstr>
      <vt:lpstr>Captology</vt:lpstr>
      <vt:lpstr>Environment</vt:lpstr>
      <vt:lpstr>Using Scenarios throughout design</vt:lpstr>
      <vt:lpstr>Scenarios at different stages</vt:lpstr>
      <vt:lpstr>Stories</vt:lpstr>
      <vt:lpstr>Story: Example</vt:lpstr>
      <vt:lpstr>Conceptual scenarios</vt:lpstr>
      <vt:lpstr>Concrete scenarios</vt:lpstr>
      <vt:lpstr>Concrete scenarios: Example</vt:lpstr>
      <vt:lpstr>Use cases</vt:lpstr>
      <vt:lpstr>A scenario-based design method</vt:lpstr>
      <vt:lpstr>Scenarios through design</vt:lpstr>
      <vt:lpstr>Requirements and problems</vt:lpstr>
      <vt:lpstr>Scenario corpus</vt:lpstr>
      <vt:lpstr>Domain characteristics</vt:lpstr>
      <vt:lpstr>Conceptual model</vt:lpstr>
      <vt:lpstr>Design language</vt:lpstr>
      <vt:lpstr>Documenting scenarios</vt:lpstr>
      <vt:lpstr>Gathering data</vt:lpstr>
    </vt:vector>
  </TitlesOfParts>
  <Company>Napier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process of human-centred interactive systems design</dc:title>
  <dc:creator>david benyon</dc:creator>
  <cp:lastModifiedBy>SANA</cp:lastModifiedBy>
  <cp:revision>321</cp:revision>
  <dcterms:created xsi:type="dcterms:W3CDTF">2010-01-26T10:30:02Z</dcterms:created>
  <dcterms:modified xsi:type="dcterms:W3CDTF">2025-02-27T08:00:02Z</dcterms:modified>
</cp:coreProperties>
</file>