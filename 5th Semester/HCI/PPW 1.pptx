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sldIdLst>
    <p:sldId id="256" r:id="rId2"/>
    <p:sldId id="259" r:id="rId3"/>
    <p:sldId id="260" r:id="rId4"/>
    <p:sldId id="261" r:id="rId5"/>
    <p:sldId id="262" r:id="rId6"/>
    <p:sldId id="263" r:id="rId7"/>
    <p:sldId id="266" r:id="rId8"/>
    <p:sldId id="268" r:id="rId9"/>
    <p:sldId id="269" r:id="rId10"/>
    <p:sldId id="311" r:id="rId11"/>
    <p:sldId id="270" r:id="rId12"/>
    <p:sldId id="271" r:id="rId13"/>
    <p:sldId id="272" r:id="rId14"/>
    <p:sldId id="273" r:id="rId15"/>
    <p:sldId id="274" r:id="rId16"/>
    <p:sldId id="275" r:id="rId17"/>
    <p:sldId id="276" r:id="rId18"/>
    <p:sldId id="277" r:id="rId19"/>
    <p:sldId id="279" r:id="rId20"/>
    <p:sldId id="291" r:id="rId21"/>
    <p:sldId id="295" r:id="rId22"/>
    <p:sldId id="296" r:id="rId23"/>
    <p:sldId id="298" r:id="rId24"/>
    <p:sldId id="297" r:id="rId25"/>
    <p:sldId id="300" r:id="rId26"/>
    <p:sldId id="301" r:id="rId27"/>
    <p:sldId id="302" r:id="rId28"/>
    <p:sldId id="303" r:id="rId29"/>
    <p:sldId id="304" r:id="rId30"/>
    <p:sldId id="305" r:id="rId31"/>
    <p:sldId id="306" r:id="rId32"/>
    <p:sldId id="307" r:id="rId33"/>
    <p:sldId id="308" r:id="rId34"/>
    <p:sldId id="309" r:id="rId35"/>
    <p:sldId id="310" r:id="rId3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86425" autoAdjust="0"/>
  </p:normalViewPr>
  <p:slideViewPr>
    <p:cSldViewPr snapToObjects="1">
      <p:cViewPr varScale="1">
        <p:scale>
          <a:sx n="73" d="100"/>
          <a:sy n="73" d="100"/>
        </p:scale>
        <p:origin x="1248" y="72"/>
      </p:cViewPr>
      <p:guideLst>
        <p:guide orient="horz" pos="2160"/>
        <p:guide pos="2880"/>
      </p:guideLst>
    </p:cSldViewPr>
  </p:slideViewPr>
  <p:outlineViewPr>
    <p:cViewPr>
      <p:scale>
        <a:sx n="33" d="100"/>
        <a:sy n="33" d="100"/>
      </p:scale>
      <p:origin x="0" y="2621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4"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defTabSz="914400">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p>
        </p:txBody>
      </p:sp>
      <p:sp>
        <p:nvSpPr>
          <p:cNvPr id="2" name="Title 1"/>
          <p:cNvSpPr>
            <a:spLocks noGrp="1"/>
          </p:cNvSpPr>
          <p:nvPr>
            <p:ph type="title"/>
          </p:nvPr>
        </p:nvSpPr>
        <p:spPr>
          <a:xfrm>
            <a:off x="457200" y="274638"/>
            <a:ext cx="8229600" cy="1143000"/>
          </a:xfrm>
          <a:prstGeom prst="rect">
            <a:avLst/>
          </a:prstGeom>
        </p:spPr>
        <p:txBody>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Footer Placeholder 4"/>
          <p:cNvSpPr>
            <a:spLocks noGrp="1"/>
          </p:cNvSpPr>
          <p:nvPr>
            <p:ph type="ftr" sz="quarter" idx="10"/>
          </p:nvPr>
        </p:nvSpPr>
        <p:spPr>
          <a:xfrm>
            <a:off x="3348038" y="5229225"/>
            <a:ext cx="2895600" cy="365125"/>
          </a:xfrm>
        </p:spPr>
        <p:txBody>
          <a:bodyPr/>
          <a:lstStyle>
            <a:lvl1pPr fontAlgn="auto">
              <a:spcBef>
                <a:spcPts val="0"/>
              </a:spcBef>
              <a:spcAft>
                <a:spcPts val="0"/>
              </a:spcAft>
              <a:defRPr>
                <a:latin typeface="+mn-lt"/>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3"/>
          <p:cNvSpPr>
            <a:spLocks noGrp="1"/>
          </p:cNvSpPr>
          <p:nvPr>
            <p:ph type="dt" sz="half" idx="2"/>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10394F06-9ECF-4031-8853-AF4B1E481EB3}" type="datetimeFigureOut">
              <a:rPr lang="en-US"/>
              <a:pPr>
                <a:defRPr/>
              </a:pPr>
              <a:t>2/12/2025</a:t>
            </a:fld>
            <a:endParaRPr lang="en-US"/>
          </a:p>
        </p:txBody>
      </p:sp>
      <p:sp>
        <p:nvSpPr>
          <p:cNvPr id="4" name="Footer Placeholder 4"/>
          <p:cNvSpPr>
            <a:spLocks noGrp="1"/>
          </p:cNvSpPr>
          <p:nvPr>
            <p:ph type="ftr" sz="quarter" idx="3"/>
          </p:nvPr>
        </p:nvSpPr>
        <p:spPr>
          <a:xfrm>
            <a:off x="3124200" y="6356350"/>
            <a:ext cx="2895600" cy="365125"/>
          </a:xfrm>
          <a:prstGeom prst="rect">
            <a:avLst/>
          </a:prstGeom>
        </p:spPr>
        <p:txBody>
          <a:bodyPr/>
          <a:lstStyle>
            <a:lvl1pPr fontAlgn="auto">
              <a:spcBef>
                <a:spcPts val="0"/>
              </a:spcBef>
              <a:spcAft>
                <a:spcPts val="0"/>
              </a:spcAft>
              <a:defRPr>
                <a:latin typeface="+mn-lt"/>
              </a:defRPr>
            </a:lvl1pPr>
          </a:lstStyle>
          <a:p>
            <a:pPr>
              <a:defRPr/>
            </a:pPr>
            <a:endParaRPr lang="en-US"/>
          </a:p>
        </p:txBody>
      </p:sp>
      <p:sp>
        <p:nvSpPr>
          <p:cNvPr id="5" name="Slide Number Placeholder 5"/>
          <p:cNvSpPr>
            <a:spLocks noGrp="1"/>
          </p:cNvSpPr>
          <p:nvPr>
            <p:ph type="sldNum" sz="quarter" idx="4"/>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pPr>
              <a:defRPr/>
            </a:pPr>
            <a:fld id="{571F3225-93A6-490F-902E-2814F3BB4D2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57200" rtl="0" eaLnBrk="0" fontAlgn="base" hangingPunct="0">
        <a:spcBef>
          <a:spcPct val="0"/>
        </a:spcBef>
        <a:spcAft>
          <a:spcPct val="0"/>
        </a:spcAft>
        <a:defRPr sz="4400" kern="1200">
          <a:solidFill>
            <a:schemeClr val="tx1"/>
          </a:solidFill>
          <a:latin typeface="Arial" charset="0"/>
          <a:ea typeface="+mj-ea"/>
          <a:cs typeface="+mj-cs"/>
        </a:defRPr>
      </a:lvl1pPr>
      <a:lvl2pPr algn="ctr" defTabSz="457200" rtl="0" eaLnBrk="0" fontAlgn="base" hangingPunct="0">
        <a:spcBef>
          <a:spcPct val="0"/>
        </a:spcBef>
        <a:spcAft>
          <a:spcPct val="0"/>
        </a:spcAft>
        <a:defRPr sz="4400">
          <a:solidFill>
            <a:schemeClr val="tx1"/>
          </a:solidFill>
          <a:latin typeface="Arial" charset="0"/>
        </a:defRPr>
      </a:lvl2pPr>
      <a:lvl3pPr algn="ctr" defTabSz="457200" rtl="0" eaLnBrk="0" fontAlgn="base" hangingPunct="0">
        <a:spcBef>
          <a:spcPct val="0"/>
        </a:spcBef>
        <a:spcAft>
          <a:spcPct val="0"/>
        </a:spcAft>
        <a:defRPr sz="4400">
          <a:solidFill>
            <a:schemeClr val="tx1"/>
          </a:solidFill>
          <a:latin typeface="Arial" charset="0"/>
        </a:defRPr>
      </a:lvl3pPr>
      <a:lvl4pPr algn="ctr" defTabSz="457200" rtl="0" eaLnBrk="0" fontAlgn="base" hangingPunct="0">
        <a:spcBef>
          <a:spcPct val="0"/>
        </a:spcBef>
        <a:spcAft>
          <a:spcPct val="0"/>
        </a:spcAft>
        <a:defRPr sz="4400">
          <a:solidFill>
            <a:schemeClr val="tx1"/>
          </a:solidFill>
          <a:latin typeface="Arial" charset="0"/>
        </a:defRPr>
      </a:lvl4pPr>
      <a:lvl5pPr algn="ctr" defTabSz="457200" rtl="0" eaLnBrk="0" fontAlgn="base" hangingPunct="0">
        <a:spcBef>
          <a:spcPct val="0"/>
        </a:spcBef>
        <a:spcAft>
          <a:spcPct val="0"/>
        </a:spcAft>
        <a:defRPr sz="4400">
          <a:solidFill>
            <a:schemeClr val="tx1"/>
          </a:solidFill>
          <a:latin typeface="Arial"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le 3"/>
          <p:cNvSpPr>
            <a:spLocks noGrp="1"/>
          </p:cNvSpPr>
          <p:nvPr>
            <p:ph type="ctrTitle" idx="4294967295"/>
          </p:nvPr>
        </p:nvSpPr>
        <p:spPr bwMode="auto">
          <a:xfrm>
            <a:off x="685800" y="2130425"/>
            <a:ext cx="7772400" cy="1470025"/>
          </a:xfrm>
          <a:prstGeom prst="rect">
            <a:avLst/>
          </a:prstGeom>
          <a:noFill/>
          <a:ln>
            <a:miter lim="800000"/>
            <a:headEnd/>
            <a:tailEnd/>
          </a:ln>
        </p:spPr>
        <p:txBody>
          <a:bodyPr/>
          <a:lstStyle/>
          <a:p>
            <a:pPr eaLnBrk="1" hangingPunct="1">
              <a:lnSpc>
                <a:spcPct val="200000"/>
              </a:lnSpc>
            </a:pPr>
            <a:r>
              <a:rPr lang="en-US" sz="2000" dirty="0" smtClean="0">
                <a:latin typeface="Verdana" pitchFamily="34" charset="0"/>
                <a:ea typeface="ヒラギノ角ゴ Pro W3"/>
                <a:cs typeface="ヒラギノ角ゴ Pro W3"/>
              </a:rPr>
              <a:t>Designing Interactive Systems:</a:t>
            </a:r>
            <a:br>
              <a:rPr lang="en-US" sz="2000" dirty="0" smtClean="0">
                <a:latin typeface="Verdana" pitchFamily="34" charset="0"/>
                <a:ea typeface="ヒラギノ角ゴ Pro W3"/>
                <a:cs typeface="ヒラギノ角ゴ Pro W3"/>
              </a:rPr>
            </a:br>
            <a:r>
              <a:rPr lang="en-US" sz="2000" dirty="0" smtClean="0">
                <a:latin typeface="Verdana" pitchFamily="34" charset="0"/>
                <a:ea typeface="ヒラギノ角ゴ Pro W3"/>
                <a:cs typeface="ヒラギノ角ゴ Pro W3"/>
              </a:rPr>
              <a:t> A Fusion of Skills</a:t>
            </a:r>
            <a:endParaRPr lang="en-US" sz="2000" dirty="0" smtClean="0">
              <a:latin typeface="Verdan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bwMode="auto">
          <a:xfrm>
            <a:off x="457200" y="692696"/>
            <a:ext cx="8229600" cy="57606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600" b="1" dirty="0" smtClean="0">
                <a:latin typeface="Verdana" pitchFamily="34" charset="0"/>
                <a:ea typeface="ヒラギノ角ゴ Pro W3"/>
                <a:cs typeface="ヒラギノ角ゴ Pro W3"/>
              </a:rPr>
              <a:t>The variety of interactive systems</a:t>
            </a:r>
          </a:p>
        </p:txBody>
      </p:sp>
      <p:sp>
        <p:nvSpPr>
          <p:cNvPr id="6146" name="Text Placeholder 2"/>
          <p:cNvSpPr>
            <a:spLocks noGrp="1"/>
          </p:cNvSpPr>
          <p:nvPr>
            <p:ph type="body" idx="1"/>
          </p:nvPr>
        </p:nvSpPr>
        <p:spPr bwMode="auto">
          <a:xfrm>
            <a:off x="457200" y="1484784"/>
            <a:ext cx="8147248" cy="4061047"/>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20000"/>
              </a:lnSpc>
            </a:pPr>
            <a:r>
              <a:rPr lang="en-US" sz="1600" dirty="0" smtClean="0">
                <a:latin typeface="Verdana" pitchFamily="34" charset="0"/>
                <a:cs typeface="Times New Roman" pitchFamily="18" charset="0"/>
              </a:rPr>
              <a:t>Designing interactive systems is concerned with many different types of product. </a:t>
            </a:r>
          </a:p>
          <a:p>
            <a:pPr algn="just" eaLnBrk="1" hangingPunct="1">
              <a:lnSpc>
                <a:spcPct val="120000"/>
              </a:lnSpc>
            </a:pPr>
            <a:r>
              <a:rPr lang="en-US" sz="1600" dirty="0" smtClean="0">
                <a:latin typeface="Verdana" pitchFamily="34" charset="0"/>
                <a:cs typeface="Times New Roman" pitchFamily="18" charset="0"/>
              </a:rPr>
              <a:t>It is about </a:t>
            </a:r>
            <a:r>
              <a:rPr lang="en-US" sz="1600" b="1" dirty="0" smtClean="0">
                <a:latin typeface="Verdana" pitchFamily="34" charset="0"/>
                <a:cs typeface="Times New Roman" pitchFamily="18" charset="0"/>
              </a:rPr>
              <a:t>designing software </a:t>
            </a:r>
            <a:r>
              <a:rPr lang="en-US" sz="1600" dirty="0" smtClean="0">
                <a:latin typeface="Verdana" pitchFamily="34" charset="0"/>
                <a:cs typeface="Times New Roman" pitchFamily="18" charset="0"/>
              </a:rPr>
              <a:t>systems that will run on a computer at work. </a:t>
            </a:r>
          </a:p>
          <a:p>
            <a:pPr algn="just" eaLnBrk="1" hangingPunct="1">
              <a:lnSpc>
                <a:spcPct val="120000"/>
              </a:lnSpc>
            </a:pPr>
            <a:r>
              <a:rPr lang="en-US" sz="1600" dirty="0" smtClean="0">
                <a:latin typeface="Verdana" pitchFamily="34" charset="0"/>
                <a:cs typeface="Times New Roman" pitchFamily="18" charset="0"/>
              </a:rPr>
              <a:t>It is about </a:t>
            </a:r>
            <a:r>
              <a:rPr lang="en-US" sz="1600" b="1" dirty="0" smtClean="0">
                <a:latin typeface="Verdana" pitchFamily="34" charset="0"/>
                <a:cs typeface="Times New Roman" pitchFamily="18" charset="0"/>
              </a:rPr>
              <a:t>designing </a:t>
            </a:r>
            <a:r>
              <a:rPr lang="en-US" sz="1600" dirty="0" smtClean="0">
                <a:latin typeface="Verdana" pitchFamily="34" charset="0"/>
                <a:cs typeface="Times New Roman" pitchFamily="18" charset="0"/>
              </a:rPr>
              <a:t>websites, games, interactive products such as MP3 players, digital cameras and applications for personal digital assistants (PDAs). </a:t>
            </a:r>
          </a:p>
          <a:p>
            <a:pPr algn="just" eaLnBrk="1" hangingPunct="1">
              <a:lnSpc>
                <a:spcPct val="120000"/>
              </a:lnSpc>
            </a:pPr>
            <a:r>
              <a:rPr lang="en-US" sz="1600" dirty="0" smtClean="0">
                <a:latin typeface="Verdana" pitchFamily="34" charset="0"/>
                <a:cs typeface="Times New Roman" pitchFamily="18" charset="0"/>
              </a:rPr>
              <a:t>It is about </a:t>
            </a:r>
            <a:r>
              <a:rPr lang="en-US" sz="1600" b="1" dirty="0" smtClean="0">
                <a:latin typeface="Verdana" pitchFamily="34" charset="0"/>
                <a:cs typeface="Times New Roman" pitchFamily="18" charset="0"/>
              </a:rPr>
              <a:t>designing whole environments</a:t>
            </a:r>
            <a:r>
              <a:rPr lang="en-US" sz="1600" dirty="0" smtClean="0">
                <a:latin typeface="Verdana" pitchFamily="34" charset="0"/>
                <a:cs typeface="Times New Roman" pitchFamily="18" charset="0"/>
              </a:rPr>
              <a:t> in which phones, PDAs, laptop computers, digital projectors and other devices communicate with one another and through which people interact with one another. </a:t>
            </a:r>
          </a:p>
          <a:p>
            <a:pPr algn="just" eaLnBrk="1" hangingPunct="1">
              <a:lnSpc>
                <a:spcPct val="120000"/>
              </a:lnSpc>
            </a:pPr>
            <a:r>
              <a:rPr lang="en-US" sz="1600" dirty="0" smtClean="0">
                <a:latin typeface="Verdana" pitchFamily="34" charset="0"/>
                <a:cs typeface="Times New Roman" pitchFamily="18" charset="0"/>
              </a:rPr>
              <a:t>It is about designing interactive </a:t>
            </a:r>
            <a:r>
              <a:rPr lang="en-US" sz="1600" b="1" dirty="0" smtClean="0">
                <a:solidFill>
                  <a:srgbClr val="FF0000"/>
                </a:solidFill>
                <a:latin typeface="Verdana" pitchFamily="34" charset="0"/>
                <a:cs typeface="Times New Roman" pitchFamily="18" charset="0"/>
              </a:rPr>
              <a:t>systems, products and services </a:t>
            </a:r>
            <a:r>
              <a:rPr lang="en-US" sz="1600" dirty="0" smtClean="0">
                <a:latin typeface="Verdana" pitchFamily="34" charset="0"/>
                <a:cs typeface="Times New Roman" pitchFamily="18" charset="0"/>
              </a:rPr>
              <a:t>for the home, for work or to support communities.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idx="4294967295"/>
          </p:nvPr>
        </p:nvSpPr>
        <p:spPr bwMode="auto">
          <a:xfrm>
            <a:off x="457200" y="764704"/>
            <a:ext cx="8229600" cy="634082"/>
          </a:xfrm>
          <a:prstGeom prst="rect">
            <a:avLst/>
          </a:prstGeom>
          <a:noFill/>
          <a:ln>
            <a:miter lim="800000"/>
            <a:headEnd/>
            <a:tailEnd/>
          </a:ln>
        </p:spPr>
        <p:txBody>
          <a:bodyPr/>
          <a:lstStyle/>
          <a:p>
            <a:pPr eaLnBrk="1" hangingPunct="1">
              <a:lnSpc>
                <a:spcPct val="120000"/>
              </a:lnSpc>
            </a:pPr>
            <a:r>
              <a:rPr lang="en-US" sz="1500" dirty="0" smtClean="0">
                <a:latin typeface="Verdana" pitchFamily="34" charset="0"/>
                <a:ea typeface="ヒラギノ角ゴ Pro W3"/>
                <a:cs typeface="ヒラギノ角ゴ Pro W3"/>
              </a:rPr>
              <a:t>Example 1: iPhone</a:t>
            </a:r>
          </a:p>
        </p:txBody>
      </p:sp>
      <p:pic>
        <p:nvPicPr>
          <p:cNvPr id="7170" name="Picture 4"/>
          <p:cNvPicPr>
            <a:picLocks noChangeAspect="1"/>
          </p:cNvPicPr>
          <p:nvPr/>
        </p:nvPicPr>
        <p:blipFill>
          <a:blip r:embed="rId2"/>
          <a:srcRect/>
          <a:stretch>
            <a:fillRect/>
          </a:stretch>
        </p:blipFill>
        <p:spPr bwMode="auto">
          <a:xfrm>
            <a:off x="3079750" y="1479550"/>
            <a:ext cx="2984500" cy="3898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p:cNvSpPr>
            <a:spLocks noGrp="1"/>
          </p:cNvSpPr>
          <p:nvPr>
            <p:ph type="title"/>
          </p:nvPr>
        </p:nvSpPr>
        <p:spPr bwMode="auto">
          <a:xfrm>
            <a:off x="395536" y="447663"/>
            <a:ext cx="8229600" cy="63408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iPhone</a:t>
            </a:r>
            <a:r>
              <a:rPr lang="en-US" sz="1500" dirty="0" smtClean="0">
                <a:latin typeface="Verdana" pitchFamily="34" charset="0"/>
                <a:ea typeface="ヒラギノ角ゴ Pro W3"/>
                <a:cs typeface="ヒラギノ角ゴ Pro W3"/>
              </a:rPr>
              <a:t> </a:t>
            </a:r>
          </a:p>
        </p:txBody>
      </p:sp>
      <p:sp>
        <p:nvSpPr>
          <p:cNvPr id="8194" name="Text Placeholder 2"/>
          <p:cNvSpPr>
            <a:spLocks noGrp="1"/>
          </p:cNvSpPr>
          <p:nvPr>
            <p:ph type="body" idx="1"/>
          </p:nvPr>
        </p:nvSpPr>
        <p:spPr bwMode="auto">
          <a:xfrm>
            <a:off x="457200" y="1124744"/>
            <a:ext cx="8229600" cy="504056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600" dirty="0" smtClean="0">
                <a:latin typeface="Verdana" pitchFamily="34" charset="0"/>
                <a:cs typeface="Times New Roman" pitchFamily="18" charset="0"/>
              </a:rPr>
              <a:t>The iPhone also included </a:t>
            </a:r>
            <a:r>
              <a:rPr lang="en-US" sz="1600" b="1" dirty="0" smtClean="0">
                <a:latin typeface="Verdana" pitchFamily="34" charset="0"/>
                <a:cs typeface="Times New Roman" pitchFamily="18" charset="0"/>
              </a:rPr>
              <a:t>sensors</a:t>
            </a:r>
            <a:r>
              <a:rPr lang="en-US" sz="1600" dirty="0" smtClean="0">
                <a:latin typeface="Verdana" pitchFamily="34" charset="0"/>
                <a:cs typeface="Times New Roman" pitchFamily="18" charset="0"/>
              </a:rPr>
              <a:t> that could register how the phone was being held and whether it was vertical, horizontal or sloping. </a:t>
            </a:r>
          </a:p>
          <a:p>
            <a:pPr algn="just" eaLnBrk="1" hangingPunct="1">
              <a:lnSpc>
                <a:spcPct val="150000"/>
              </a:lnSpc>
            </a:pPr>
            <a:r>
              <a:rPr lang="en-US" sz="1600" dirty="0" smtClean="0">
                <a:latin typeface="Verdana" pitchFamily="34" charset="0"/>
                <a:cs typeface="Times New Roman" pitchFamily="18" charset="0"/>
              </a:rPr>
              <a:t>This allows for other novel interaction methods. For example the display would </a:t>
            </a:r>
            <a:r>
              <a:rPr lang="en-US" sz="1600" b="1" dirty="0" smtClean="0">
                <a:latin typeface="Verdana" pitchFamily="34" charset="0"/>
                <a:cs typeface="Times New Roman" pitchFamily="18" charset="0"/>
              </a:rPr>
              <a:t>automatically adjust </a:t>
            </a:r>
            <a:r>
              <a:rPr lang="en-US" sz="1600" dirty="0" smtClean="0">
                <a:latin typeface="Verdana" pitchFamily="34" charset="0"/>
                <a:cs typeface="Times New Roman" pitchFamily="18" charset="0"/>
              </a:rPr>
              <a:t>from portrait style to landscape. </a:t>
            </a:r>
          </a:p>
          <a:p>
            <a:pPr algn="just" eaLnBrk="1" hangingPunct="1">
              <a:lnSpc>
                <a:spcPct val="150000"/>
              </a:lnSpc>
            </a:pPr>
            <a:r>
              <a:rPr lang="en-US" sz="1600" dirty="0" smtClean="0">
                <a:latin typeface="Verdana" pitchFamily="34" charset="0"/>
                <a:cs typeface="Times New Roman" pitchFamily="18" charset="0"/>
              </a:rPr>
              <a:t>In 2008 the ‘app store’ was launched turning the iPhone into an </a:t>
            </a:r>
            <a:r>
              <a:rPr lang="en-US" sz="1600" b="1" dirty="0" smtClean="0">
                <a:latin typeface="Verdana" pitchFamily="34" charset="0"/>
                <a:cs typeface="Times New Roman" pitchFamily="18" charset="0"/>
              </a:rPr>
              <a:t>open platform for developers </a:t>
            </a:r>
            <a:r>
              <a:rPr lang="en-US" sz="1600" dirty="0" smtClean="0">
                <a:latin typeface="Verdana" pitchFamily="34" charset="0"/>
                <a:cs typeface="Times New Roman" pitchFamily="18" charset="0"/>
              </a:rPr>
              <a:t>to design and produce their own software. </a:t>
            </a:r>
          </a:p>
          <a:p>
            <a:pPr algn="just" eaLnBrk="1" hangingPunct="1">
              <a:lnSpc>
                <a:spcPct val="150000"/>
              </a:lnSpc>
            </a:pPr>
            <a:r>
              <a:rPr lang="en-US" sz="1600" dirty="0" smtClean="0">
                <a:latin typeface="Verdana" pitchFamily="34" charset="0"/>
                <a:cs typeface="Times New Roman" pitchFamily="18" charset="0"/>
              </a:rPr>
              <a:t>Combined with the </a:t>
            </a:r>
            <a:r>
              <a:rPr lang="en-US" sz="1600" b="1" dirty="0" smtClean="0">
                <a:latin typeface="Verdana" pitchFamily="34" charset="0"/>
                <a:cs typeface="Times New Roman" pitchFamily="18" charset="0"/>
              </a:rPr>
              <a:t>iTunes</a:t>
            </a:r>
            <a:r>
              <a:rPr lang="en-US" sz="1600" dirty="0" smtClean="0">
                <a:latin typeface="Verdana" pitchFamily="34" charset="0"/>
                <a:cs typeface="Times New Roman" pitchFamily="18" charset="0"/>
              </a:rPr>
              <a:t> delivery service, this turned the iPhone into a versatile, multimedia device with literally thousands of applications from sophisticated games to trivial pieces of entertainment to useful information applications.</a:t>
            </a:r>
          </a:p>
          <a:p>
            <a:pPr algn="just" eaLnBrk="1" hangingPunct="1">
              <a:lnSpc>
                <a:spcPct val="150000"/>
              </a:lnSpc>
            </a:pPr>
            <a:r>
              <a:rPr lang="en-US" sz="1600" dirty="0" smtClean="0">
                <a:latin typeface="Verdana" pitchFamily="34" charset="0"/>
                <a:cs typeface="Times New Roman" pitchFamily="18" charset="0"/>
              </a:rPr>
              <a:t>This created new experiences and new services for a new set of customers.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idx="4294967295"/>
          </p:nvPr>
        </p:nvSpPr>
        <p:spPr bwMode="auto">
          <a:xfrm>
            <a:off x="457200" y="846138"/>
            <a:ext cx="8229600" cy="638646"/>
          </a:xfrm>
          <a:prstGeom prst="rect">
            <a:avLst/>
          </a:prstGeom>
          <a:noFill/>
          <a:ln>
            <a:miter lim="800000"/>
            <a:headEnd/>
            <a:tailEnd/>
          </a:ln>
        </p:spPr>
        <p:txBody>
          <a:bodyPr/>
          <a:lstStyle/>
          <a:p>
            <a:pPr eaLnBrk="1" hangingPunct="1">
              <a:lnSpc>
                <a:spcPct val="120000"/>
              </a:lnSpc>
            </a:pPr>
            <a:r>
              <a:rPr lang="en-US" sz="1500" dirty="0" smtClean="0">
                <a:latin typeface="Verdana" pitchFamily="34" charset="0"/>
                <a:ea typeface="ヒラギノ角ゴ Pro W3"/>
                <a:cs typeface="ヒラギノ角ゴ Pro W3"/>
              </a:rPr>
              <a:t>Example 2: Wii</a:t>
            </a:r>
          </a:p>
        </p:txBody>
      </p:sp>
      <p:pic>
        <p:nvPicPr>
          <p:cNvPr id="9218" name="Picture 4"/>
          <p:cNvPicPr>
            <a:picLocks noChangeAspect="1"/>
          </p:cNvPicPr>
          <p:nvPr/>
        </p:nvPicPr>
        <p:blipFill rotWithShape="1">
          <a:blip r:embed="rId2"/>
          <a:srcRect l="8221" t="3281" r="9416" b="5405"/>
          <a:stretch/>
        </p:blipFill>
        <p:spPr bwMode="auto">
          <a:xfrm>
            <a:off x="2051720" y="1844823"/>
            <a:ext cx="5400600" cy="33655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bwMode="auto">
          <a:xfrm>
            <a:off x="374848" y="490662"/>
            <a:ext cx="8229600" cy="63408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Example 3: Second Life</a:t>
            </a:r>
          </a:p>
        </p:txBody>
      </p:sp>
      <p:sp>
        <p:nvSpPr>
          <p:cNvPr id="10242" name="Text Placeholder 2"/>
          <p:cNvSpPr>
            <a:spLocks noGrp="1"/>
          </p:cNvSpPr>
          <p:nvPr>
            <p:ph type="body" idx="1"/>
          </p:nvPr>
        </p:nvSpPr>
        <p:spPr bwMode="auto">
          <a:xfrm>
            <a:off x="457200" y="1168152"/>
            <a:ext cx="8229600" cy="2044824"/>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20000"/>
              </a:lnSpc>
            </a:pPr>
            <a:r>
              <a:rPr lang="en-US" sz="1600" dirty="0" smtClean="0">
                <a:latin typeface="Verdana" pitchFamily="34" charset="0"/>
                <a:cs typeface="Times New Roman" pitchFamily="18" charset="0"/>
              </a:rPr>
              <a:t>Second Life is a huge </a:t>
            </a:r>
            <a:r>
              <a:rPr lang="en-US" sz="1600" b="1" dirty="0" smtClean="0">
                <a:latin typeface="Verdana" pitchFamily="34" charset="0"/>
                <a:cs typeface="Times New Roman" pitchFamily="18" charset="0"/>
              </a:rPr>
              <a:t>on-line community </a:t>
            </a:r>
            <a:r>
              <a:rPr lang="en-US" sz="1600" dirty="0" smtClean="0">
                <a:latin typeface="Verdana" pitchFamily="34" charset="0"/>
                <a:cs typeface="Times New Roman" pitchFamily="18" charset="0"/>
              </a:rPr>
              <a:t>populated by animated virtual people (called avatars).</a:t>
            </a:r>
          </a:p>
          <a:p>
            <a:pPr algn="just" eaLnBrk="1" hangingPunct="1">
              <a:lnSpc>
                <a:spcPct val="120000"/>
              </a:lnSpc>
            </a:pPr>
            <a:r>
              <a:rPr lang="en-US" sz="1600" dirty="0" smtClean="0">
                <a:latin typeface="Verdana" pitchFamily="34" charset="0"/>
                <a:cs typeface="Times New Roman" pitchFamily="18" charset="0"/>
              </a:rPr>
              <a:t>It consists of thousands of simulated buildings, parks, seaside’s, factories, universities and everything else one could find in the real world (and much else besides). </a:t>
            </a:r>
          </a:p>
          <a:p>
            <a:pPr algn="just" eaLnBrk="1" hangingPunct="1">
              <a:lnSpc>
                <a:spcPct val="120000"/>
              </a:lnSpc>
            </a:pPr>
            <a:r>
              <a:rPr lang="en-US" sz="1600" dirty="0" smtClean="0">
                <a:latin typeface="Verdana" pitchFamily="34" charset="0"/>
                <a:cs typeface="Times New Roman" pitchFamily="18" charset="0"/>
              </a:rPr>
              <a:t>People </a:t>
            </a:r>
            <a:r>
              <a:rPr lang="en-US" sz="1600" b="1" dirty="0" smtClean="0">
                <a:latin typeface="Verdana" pitchFamily="34" charset="0"/>
                <a:cs typeface="Times New Roman" pitchFamily="18" charset="0"/>
              </a:rPr>
              <a:t>create avatars to represent</a:t>
            </a:r>
            <a:r>
              <a:rPr lang="en-US" sz="1600" dirty="0" smtClean="0">
                <a:latin typeface="Verdana" pitchFamily="34" charset="0"/>
                <a:cs typeface="Times New Roman" pitchFamily="18" charset="0"/>
              </a:rPr>
              <a:t> themselves in this virtual world. </a:t>
            </a:r>
          </a:p>
          <a:p>
            <a:pPr algn="just" eaLnBrk="1" hangingPunct="1">
              <a:lnSpc>
                <a:spcPct val="120000"/>
              </a:lnSpc>
              <a:buFont typeface="Arial" charset="0"/>
              <a:buNone/>
            </a:pPr>
            <a:endParaRPr lang="en-US" sz="1600" dirty="0" smtClean="0">
              <a:latin typeface="Verdana" pitchFamily="34" charset="0"/>
              <a:cs typeface="Times New Roman" pitchFamily="18" charset="0"/>
            </a:endParaRPr>
          </a:p>
        </p:txBody>
      </p:sp>
      <p:pic>
        <p:nvPicPr>
          <p:cNvPr id="10243" name="Picture 3"/>
          <p:cNvPicPr>
            <a:picLocks noChangeAspect="1"/>
          </p:cNvPicPr>
          <p:nvPr/>
        </p:nvPicPr>
        <p:blipFill rotWithShape="1">
          <a:blip r:embed="rId2"/>
          <a:srcRect l="11963" t="2778" r="14340" b="5559"/>
          <a:stretch/>
        </p:blipFill>
        <p:spPr bwMode="auto">
          <a:xfrm>
            <a:off x="1835696" y="3284984"/>
            <a:ext cx="5112568" cy="27212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p:cNvSpPr>
            <a:spLocks noGrp="1"/>
          </p:cNvSpPr>
          <p:nvPr>
            <p:ph type="title"/>
          </p:nvPr>
        </p:nvSpPr>
        <p:spPr bwMode="auto">
          <a:xfrm>
            <a:off x="457200" y="555675"/>
            <a:ext cx="8229600" cy="56207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Summary</a:t>
            </a:r>
          </a:p>
        </p:txBody>
      </p:sp>
      <p:sp>
        <p:nvSpPr>
          <p:cNvPr id="11266" name="Text Placeholder 2"/>
          <p:cNvSpPr>
            <a:spLocks noGrp="1"/>
          </p:cNvSpPr>
          <p:nvPr>
            <p:ph type="body" idx="1"/>
          </p:nvPr>
        </p:nvSpPr>
        <p:spPr bwMode="auto">
          <a:xfrm>
            <a:off x="457200" y="1424169"/>
            <a:ext cx="8229600"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These examples of interactive systems capture many of the features that the interactive systems designer has to work with. </a:t>
            </a:r>
          </a:p>
          <a:p>
            <a:pPr algn="just" eaLnBrk="1" hangingPunct="1">
              <a:lnSpc>
                <a:spcPct val="150000"/>
              </a:lnSpc>
            </a:pPr>
            <a:r>
              <a:rPr lang="en-US" sz="1500" dirty="0" smtClean="0">
                <a:latin typeface="Verdana" pitchFamily="34" charset="0"/>
                <a:cs typeface="Times New Roman" pitchFamily="18" charset="0"/>
              </a:rPr>
              <a:t>The designer of interactive systems needs to understand the possibilities that there are for new forms of interaction, </a:t>
            </a:r>
          </a:p>
          <a:p>
            <a:pPr lvl="1" algn="just" eaLnBrk="1" hangingPunct="1">
              <a:lnSpc>
                <a:spcPct val="150000"/>
              </a:lnSpc>
            </a:pPr>
            <a:r>
              <a:rPr lang="en-US" sz="1500" dirty="0" smtClean="0">
                <a:latin typeface="Verdana" pitchFamily="34" charset="0"/>
                <a:cs typeface="Times New Roman" pitchFamily="18" charset="0"/>
              </a:rPr>
              <a:t>with fixed devices, </a:t>
            </a:r>
          </a:p>
          <a:p>
            <a:pPr lvl="1" algn="just" eaLnBrk="1" hangingPunct="1">
              <a:lnSpc>
                <a:spcPct val="150000"/>
              </a:lnSpc>
            </a:pPr>
            <a:r>
              <a:rPr lang="en-US" sz="1500" dirty="0" smtClean="0">
                <a:latin typeface="Verdana" pitchFamily="34" charset="0"/>
                <a:cs typeface="Times New Roman" pitchFamily="18" charset="0"/>
              </a:rPr>
              <a:t>mobiles, </a:t>
            </a:r>
          </a:p>
          <a:p>
            <a:pPr lvl="1" algn="just" eaLnBrk="1" hangingPunct="1">
              <a:lnSpc>
                <a:spcPct val="150000"/>
              </a:lnSpc>
            </a:pPr>
            <a:r>
              <a:rPr lang="en-US" sz="1500" dirty="0" smtClean="0">
                <a:latin typeface="Verdana" pitchFamily="34" charset="0"/>
                <a:cs typeface="Times New Roman" pitchFamily="18" charset="0"/>
              </a:rPr>
              <a:t>for people on their own </a:t>
            </a:r>
          </a:p>
          <a:p>
            <a:pPr lvl="1" algn="just" eaLnBrk="1" hangingPunct="1">
              <a:lnSpc>
                <a:spcPct val="150000"/>
              </a:lnSpc>
            </a:pPr>
            <a:r>
              <a:rPr lang="en-US" sz="1500" dirty="0" smtClean="0">
                <a:latin typeface="Verdana" pitchFamily="34" charset="0"/>
                <a:cs typeface="Times New Roman" pitchFamily="18" charset="0"/>
              </a:rPr>
              <a:t>or for connecting people to each other through text messages or through animation and video. </a:t>
            </a:r>
          </a:p>
          <a:p>
            <a:pPr algn="just" eaLnBrk="1" hangingPunct="1">
              <a:lnSpc>
                <a:spcPct val="150000"/>
              </a:lnSpc>
            </a:pPr>
            <a:r>
              <a:rPr lang="en-US" sz="1500" dirty="0" smtClean="0">
                <a:latin typeface="Verdana" pitchFamily="34" charset="0"/>
                <a:cs typeface="Times New Roman" pitchFamily="18" charset="0"/>
              </a:rPr>
              <a:t>It is a fascinating are to work in.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p:cNvSpPr>
            <a:spLocks noGrp="1"/>
          </p:cNvSpPr>
          <p:nvPr>
            <p:ph type="title"/>
          </p:nvPr>
        </p:nvSpPr>
        <p:spPr bwMode="auto">
          <a:xfrm>
            <a:off x="457200" y="846138"/>
            <a:ext cx="8229600" cy="56663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2000" b="1" dirty="0" smtClean="0">
                <a:latin typeface="Verdana" pitchFamily="34" charset="0"/>
                <a:ea typeface="ヒラギノ角ゴ Pro W3"/>
                <a:cs typeface="ヒラギノ角ゴ Pro W3"/>
              </a:rPr>
              <a:t>The key concerns of the designer of interactive systems </a:t>
            </a:r>
          </a:p>
        </p:txBody>
      </p:sp>
      <p:sp>
        <p:nvSpPr>
          <p:cNvPr id="12290" name="Text Placeholder 2"/>
          <p:cNvSpPr>
            <a:spLocks noGrp="1"/>
          </p:cNvSpPr>
          <p:nvPr>
            <p:ph type="body" idx="1"/>
          </p:nvPr>
        </p:nvSpPr>
        <p:spPr bwMode="auto">
          <a:xfrm>
            <a:off x="536966" y="1619794"/>
            <a:ext cx="8070068" cy="418547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Design – what is design and how should you do it?</a:t>
            </a:r>
          </a:p>
          <a:p>
            <a:pPr algn="just" eaLnBrk="1" hangingPunct="1">
              <a:lnSpc>
                <a:spcPct val="200000"/>
              </a:lnSpc>
            </a:pPr>
            <a:r>
              <a:rPr lang="en-US" sz="1500" dirty="0" smtClean="0">
                <a:latin typeface="Verdana" pitchFamily="34" charset="0"/>
                <a:cs typeface="Times New Roman" pitchFamily="18" charset="0"/>
              </a:rPr>
              <a:t>Technologies – the interactive systems, products, devices and components themselves</a:t>
            </a:r>
          </a:p>
          <a:p>
            <a:pPr algn="just" eaLnBrk="1" hangingPunct="1">
              <a:lnSpc>
                <a:spcPct val="200000"/>
              </a:lnSpc>
            </a:pPr>
            <a:r>
              <a:rPr lang="en-US" sz="1500" dirty="0" smtClean="0">
                <a:latin typeface="Verdana" pitchFamily="34" charset="0"/>
                <a:cs typeface="Times New Roman" pitchFamily="18" charset="0"/>
              </a:rPr>
              <a:t>People – who will use the systems and whose lives we would like to make better through our designs</a:t>
            </a:r>
          </a:p>
          <a:p>
            <a:pPr algn="just" eaLnBrk="1" hangingPunct="1">
              <a:lnSpc>
                <a:spcPct val="200000"/>
              </a:lnSpc>
            </a:pPr>
            <a:r>
              <a:rPr lang="en-US" sz="1500" dirty="0" smtClean="0">
                <a:latin typeface="Verdana" pitchFamily="34" charset="0"/>
                <a:cs typeface="Times New Roman" pitchFamily="18" charset="0"/>
              </a:rPr>
              <a:t>Activities and contexts – what people want to do and the contexts within which those activities take place.</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bwMode="auto">
          <a:xfrm>
            <a:off x="395536" y="774130"/>
            <a:ext cx="8229600" cy="49463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Design</a:t>
            </a:r>
          </a:p>
        </p:txBody>
      </p:sp>
      <p:sp>
        <p:nvSpPr>
          <p:cNvPr id="13314" name="Text Placeholder 2"/>
          <p:cNvSpPr>
            <a:spLocks noGrp="1"/>
          </p:cNvSpPr>
          <p:nvPr>
            <p:ph type="body" idx="1"/>
          </p:nvPr>
        </p:nvSpPr>
        <p:spPr bwMode="auto">
          <a:xfrm>
            <a:off x="539552" y="1484784"/>
            <a:ext cx="7941568" cy="4061047"/>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b="1" dirty="0" smtClean="0">
                <a:latin typeface="Verdana" pitchFamily="34" charset="0"/>
                <a:cs typeface="Times New Roman" pitchFamily="18" charset="0"/>
              </a:rPr>
              <a:t>‘What is design? </a:t>
            </a:r>
            <a:r>
              <a:rPr lang="en-US" sz="1500" dirty="0" smtClean="0">
                <a:latin typeface="Verdana" pitchFamily="34" charset="0"/>
                <a:cs typeface="Times New Roman" pitchFamily="18" charset="0"/>
              </a:rPr>
              <a:t>It’s where you stand with a foot in two worlds – the world of technology and the world of people and human purposes – and you try to bring the two together’. Mitch </a:t>
            </a:r>
            <a:r>
              <a:rPr lang="en-US" sz="1500" dirty="0" err="1" smtClean="0">
                <a:latin typeface="Verdana" pitchFamily="34" charset="0"/>
                <a:cs typeface="Times New Roman" pitchFamily="18" charset="0"/>
              </a:rPr>
              <a:t>Kapor</a:t>
            </a:r>
            <a:r>
              <a:rPr lang="en-US" sz="1500" dirty="0" smtClean="0">
                <a:latin typeface="Verdana" pitchFamily="34" charset="0"/>
                <a:cs typeface="Times New Roman" pitchFamily="18" charset="0"/>
              </a:rPr>
              <a:t> in </a:t>
            </a:r>
            <a:r>
              <a:rPr lang="en-US" sz="1500" dirty="0" err="1" smtClean="0">
                <a:latin typeface="Verdana" pitchFamily="34" charset="0"/>
                <a:cs typeface="Times New Roman" pitchFamily="18" charset="0"/>
              </a:rPr>
              <a:t>Winograd</a:t>
            </a:r>
            <a:r>
              <a:rPr lang="en-US" sz="1500" dirty="0" smtClean="0">
                <a:latin typeface="Verdana" pitchFamily="34" charset="0"/>
                <a:cs typeface="Times New Roman" pitchFamily="18" charset="0"/>
              </a:rPr>
              <a:t> (1996), p. 1</a:t>
            </a:r>
          </a:p>
          <a:p>
            <a:pPr marL="0" indent="0" algn="just" eaLnBrk="1" hangingPunct="1">
              <a:lnSpc>
                <a:spcPct val="200000"/>
              </a:lnSpc>
              <a:buNone/>
            </a:pPr>
            <a:endParaRPr lang="en-US" sz="1500" dirty="0" smtClean="0">
              <a:latin typeface="Verdana" pitchFamily="34" charset="0"/>
              <a:cs typeface="Times New Roman" pitchFamily="18" charset="0"/>
            </a:endParaRPr>
          </a:p>
          <a:p>
            <a:pPr algn="just" eaLnBrk="1" hangingPunct="1">
              <a:lnSpc>
                <a:spcPct val="200000"/>
              </a:lnSpc>
            </a:pPr>
            <a:r>
              <a:rPr lang="en-US" sz="1500" dirty="0" smtClean="0">
                <a:latin typeface="Verdana" pitchFamily="34" charset="0"/>
                <a:cs typeface="Times New Roman" pitchFamily="18" charset="0"/>
              </a:rPr>
              <a:t>The </a:t>
            </a:r>
            <a:r>
              <a:rPr lang="en-US" sz="1500" b="1" dirty="0" smtClean="0">
                <a:solidFill>
                  <a:schemeClr val="accent1"/>
                </a:solidFill>
                <a:latin typeface="Verdana" pitchFamily="34" charset="0"/>
                <a:cs typeface="Times New Roman" pitchFamily="18" charset="0"/>
              </a:rPr>
              <a:t>term ‘design’ refers</a:t>
            </a:r>
            <a:r>
              <a:rPr lang="en-US" sz="1500" dirty="0" smtClean="0">
                <a:solidFill>
                  <a:schemeClr val="accent1"/>
                </a:solidFill>
                <a:latin typeface="Verdana" pitchFamily="34" charset="0"/>
                <a:cs typeface="Times New Roman" pitchFamily="18" charset="0"/>
              </a:rPr>
              <a:t> </a:t>
            </a:r>
            <a:r>
              <a:rPr lang="en-US" sz="1500" b="1" dirty="0" smtClean="0">
                <a:solidFill>
                  <a:schemeClr val="accent1"/>
                </a:solidFill>
                <a:latin typeface="Verdana" pitchFamily="34" charset="0"/>
                <a:cs typeface="Times New Roman" pitchFamily="18" charset="0"/>
              </a:rPr>
              <a:t>both to the creative process of specifying something new and to the representations that are produced during the process.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bwMode="auto">
          <a:xfrm>
            <a:off x="374848" y="620688"/>
            <a:ext cx="8229600" cy="57606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rPr>
              <a:t>More on Design</a:t>
            </a:r>
          </a:p>
        </p:txBody>
      </p:sp>
      <p:sp>
        <p:nvSpPr>
          <p:cNvPr id="14338" name="Text Placeholder 2"/>
          <p:cNvSpPr>
            <a:spLocks noGrp="1"/>
          </p:cNvSpPr>
          <p:nvPr>
            <p:ph type="body" idx="1"/>
          </p:nvPr>
        </p:nvSpPr>
        <p:spPr bwMode="auto">
          <a:xfrm>
            <a:off x="457200" y="1268760"/>
            <a:ext cx="8229600"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So, for example, to </a:t>
            </a:r>
            <a:r>
              <a:rPr lang="en-US" sz="1500" b="1" dirty="0" smtClean="0">
                <a:latin typeface="Verdana" pitchFamily="34" charset="0"/>
                <a:cs typeface="Times New Roman" pitchFamily="18" charset="0"/>
              </a:rPr>
              <a:t>design a website </a:t>
            </a:r>
            <a:r>
              <a:rPr lang="en-US" sz="1500" dirty="0" smtClean="0">
                <a:latin typeface="Verdana" pitchFamily="34" charset="0"/>
                <a:cs typeface="Times New Roman" pitchFamily="18" charset="0"/>
              </a:rPr>
              <a:t>a designer will produce and evaluate various designs such as a design of the page layout, a design of the </a:t>
            </a:r>
            <a:r>
              <a:rPr lang="en-US" sz="1500" dirty="0" err="1" smtClean="0">
                <a:latin typeface="Verdana" pitchFamily="34" charset="0"/>
                <a:cs typeface="Times New Roman" pitchFamily="18" charset="0"/>
              </a:rPr>
              <a:t>colour</a:t>
            </a:r>
            <a:r>
              <a:rPr lang="en-US" sz="1500" dirty="0" smtClean="0">
                <a:latin typeface="Verdana" pitchFamily="34" charset="0"/>
                <a:cs typeface="Times New Roman" pitchFamily="18" charset="0"/>
              </a:rPr>
              <a:t> scheme, a design for the graphics and a design of the overall structure. </a:t>
            </a:r>
          </a:p>
          <a:p>
            <a:pPr algn="just" eaLnBrk="1" hangingPunct="1">
              <a:lnSpc>
                <a:spcPct val="200000"/>
              </a:lnSpc>
            </a:pPr>
            <a:r>
              <a:rPr lang="en-US" sz="1500" dirty="0" smtClean="0">
                <a:latin typeface="Verdana" pitchFamily="34" charset="0"/>
                <a:cs typeface="Times New Roman" pitchFamily="18" charset="0"/>
              </a:rPr>
              <a:t>In a different field of design, an </a:t>
            </a:r>
            <a:r>
              <a:rPr lang="en-US" sz="1500" b="1" dirty="0" smtClean="0">
                <a:latin typeface="Verdana" pitchFamily="34" charset="0"/>
                <a:cs typeface="Times New Roman" pitchFamily="18" charset="0"/>
              </a:rPr>
              <a:t>architect produces </a:t>
            </a:r>
            <a:r>
              <a:rPr lang="en-US" sz="1500" dirty="0" smtClean="0">
                <a:latin typeface="Verdana" pitchFamily="34" charset="0"/>
                <a:cs typeface="Times New Roman" pitchFamily="18" charset="0"/>
              </a:rPr>
              <a:t>sketches and outlines and discusses these with the client before formalizing a design in the form of a blueprint.</a:t>
            </a:r>
          </a:p>
          <a:p>
            <a:pPr algn="just" eaLnBrk="1" hangingPunct="1">
              <a:lnSpc>
                <a:spcPct val="200000"/>
              </a:lnSpc>
            </a:pPr>
            <a:r>
              <a:rPr lang="en-US" sz="1500" b="1" dirty="0" smtClean="0">
                <a:latin typeface="Verdana" pitchFamily="34" charset="0"/>
                <a:cs typeface="Times New Roman" pitchFamily="18" charset="0"/>
              </a:rPr>
              <a:t>Design is rarely a straightforward process and typically involves much iteration and exploration of both requirements (what the system is meant to do and the qualities it should have) and design solutions.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bwMode="auto">
          <a:xfrm>
            <a:off x="445111" y="404664"/>
            <a:ext cx="8229600" cy="57606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 Definition of Design</a:t>
            </a:r>
          </a:p>
        </p:txBody>
      </p:sp>
      <p:sp>
        <p:nvSpPr>
          <p:cNvPr id="15362" name="Text Placeholder 2"/>
          <p:cNvSpPr>
            <a:spLocks noGrp="1"/>
          </p:cNvSpPr>
          <p:nvPr>
            <p:ph type="body" idx="1"/>
          </p:nvPr>
        </p:nvSpPr>
        <p:spPr bwMode="auto">
          <a:xfrm>
            <a:off x="457200" y="1052736"/>
            <a:ext cx="8229600" cy="5256584"/>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400" dirty="0" smtClean="0">
                <a:latin typeface="Verdana" pitchFamily="34" charset="0"/>
                <a:cs typeface="Times New Roman" pitchFamily="18" charset="0"/>
              </a:rPr>
              <a:t>There are many definitions of ‘design’. </a:t>
            </a:r>
          </a:p>
          <a:p>
            <a:pPr algn="just" eaLnBrk="1" hangingPunct="1">
              <a:lnSpc>
                <a:spcPct val="150000"/>
              </a:lnSpc>
            </a:pPr>
            <a:r>
              <a:rPr lang="en-US" sz="1400" dirty="0" smtClean="0">
                <a:latin typeface="Verdana" pitchFamily="34" charset="0"/>
                <a:cs typeface="Times New Roman" pitchFamily="18" charset="0"/>
              </a:rPr>
              <a:t>Most </a:t>
            </a:r>
            <a:r>
              <a:rPr lang="en-US" sz="1400" b="1" dirty="0" smtClean="0">
                <a:latin typeface="Verdana" pitchFamily="34" charset="0"/>
                <a:cs typeface="Times New Roman" pitchFamily="18" charset="0"/>
              </a:rPr>
              <a:t>definitions recognize that </a:t>
            </a:r>
            <a:r>
              <a:rPr lang="en-US" sz="1400" i="1" dirty="0" smtClean="0">
                <a:latin typeface="Verdana" pitchFamily="34" charset="0"/>
                <a:cs typeface="Times New Roman" pitchFamily="18" charset="0"/>
              </a:rPr>
              <a:t>both problem and solution need to evolve during the design process; rarely can you completely specify something before some design work has been done.</a:t>
            </a:r>
          </a:p>
          <a:p>
            <a:pPr algn="just" eaLnBrk="1" hangingPunct="1">
              <a:lnSpc>
                <a:spcPct val="150000"/>
              </a:lnSpc>
            </a:pPr>
            <a:r>
              <a:rPr lang="en-US" sz="1400" dirty="0" smtClean="0">
                <a:latin typeface="Verdana" pitchFamily="34" charset="0"/>
                <a:cs typeface="Times New Roman" pitchFamily="18" charset="0"/>
              </a:rPr>
              <a:t>At one end of a spectrum is </a:t>
            </a:r>
            <a:r>
              <a:rPr lang="en-US" sz="1400" b="1" dirty="0" smtClean="0">
                <a:latin typeface="Verdana" pitchFamily="34" charset="0"/>
                <a:cs typeface="Times New Roman" pitchFamily="18" charset="0"/>
              </a:rPr>
              <a:t>engineering design </a:t>
            </a:r>
            <a:r>
              <a:rPr lang="en-US" sz="1400" dirty="0" smtClean="0">
                <a:latin typeface="Verdana" pitchFamily="34" charset="0"/>
                <a:cs typeface="Times New Roman" pitchFamily="18" charset="0"/>
              </a:rPr>
              <a:t>(such as the design of a bridge, a car or a building) where scientific principles and technical specifications are employed to produce formal models before construction starts.</a:t>
            </a:r>
          </a:p>
          <a:p>
            <a:pPr algn="just" eaLnBrk="1" hangingPunct="1">
              <a:lnSpc>
                <a:spcPct val="150000"/>
              </a:lnSpc>
            </a:pPr>
            <a:r>
              <a:rPr lang="en-US" sz="1400" dirty="0" smtClean="0">
                <a:latin typeface="Verdana" pitchFamily="34" charset="0"/>
                <a:cs typeface="Times New Roman" pitchFamily="18" charset="0"/>
              </a:rPr>
              <a:t>At the other end of this spectrum is </a:t>
            </a:r>
            <a:r>
              <a:rPr lang="en-US" sz="1400" b="1" dirty="0" smtClean="0">
                <a:latin typeface="Verdana" pitchFamily="34" charset="0"/>
                <a:cs typeface="Times New Roman" pitchFamily="18" charset="0"/>
              </a:rPr>
              <a:t>creative or artistic design </a:t>
            </a:r>
            <a:r>
              <a:rPr lang="en-US" sz="1400" dirty="0" smtClean="0">
                <a:latin typeface="Verdana" pitchFamily="34" charset="0"/>
                <a:cs typeface="Times New Roman" pitchFamily="18" charset="0"/>
              </a:rPr>
              <a:t>where innovation, imagination and conceptual ideas are the key ingredients.</a:t>
            </a:r>
          </a:p>
          <a:p>
            <a:pPr algn="just" eaLnBrk="1" hangingPunct="1">
              <a:lnSpc>
                <a:spcPct val="150000"/>
              </a:lnSpc>
            </a:pPr>
            <a:r>
              <a:rPr lang="en-US" sz="1400" dirty="0" smtClean="0">
                <a:latin typeface="Verdana" pitchFamily="34" charset="0"/>
                <a:cs typeface="Times New Roman" pitchFamily="18" charset="0"/>
              </a:rPr>
              <a:t>Somewhere in the middle lies ‘</a:t>
            </a:r>
            <a:r>
              <a:rPr lang="en-US" sz="1400" b="1" dirty="0" smtClean="0">
                <a:latin typeface="Verdana" pitchFamily="34" charset="0"/>
                <a:cs typeface="Times New Roman" pitchFamily="18" charset="0"/>
              </a:rPr>
              <a:t>design as craft</a:t>
            </a:r>
            <a:r>
              <a:rPr lang="en-US" sz="1400" dirty="0" smtClean="0">
                <a:latin typeface="Verdana" pitchFamily="34" charset="0"/>
                <a:cs typeface="Times New Roman" pitchFamily="18" charset="0"/>
              </a:rPr>
              <a:t>’ that draws upon both engineering and creative approaches.</a:t>
            </a:r>
          </a:p>
          <a:p>
            <a:pPr algn="just" eaLnBrk="1" hangingPunct="1">
              <a:lnSpc>
                <a:spcPct val="150000"/>
              </a:lnSpc>
            </a:pPr>
            <a:r>
              <a:rPr lang="en-US" sz="1400" dirty="0" smtClean="0">
                <a:latin typeface="Verdana" pitchFamily="34" charset="0"/>
                <a:cs typeface="Times New Roman" pitchFamily="18" charset="0"/>
              </a:rPr>
              <a:t>A </a:t>
            </a:r>
            <a:r>
              <a:rPr lang="en-US" sz="1400" b="1" dirty="0">
                <a:latin typeface="Verdana" pitchFamily="34" charset="0"/>
                <a:cs typeface="Times New Roman" pitchFamily="18" charset="0"/>
              </a:rPr>
              <a:t>fashion designer </a:t>
            </a:r>
            <a:r>
              <a:rPr lang="en-US" sz="1400" dirty="0">
                <a:latin typeface="Verdana" pitchFamily="34" charset="0"/>
                <a:cs typeface="Times New Roman" pitchFamily="18" charset="0"/>
              </a:rPr>
              <a:t>needs to know </a:t>
            </a:r>
            <a:r>
              <a:rPr lang="en-US" sz="1400" dirty="0" smtClean="0">
                <a:latin typeface="Verdana" pitchFamily="34" charset="0"/>
                <a:cs typeface="Times New Roman" pitchFamily="18" charset="0"/>
              </a:rPr>
              <a:t>about people </a:t>
            </a:r>
            <a:r>
              <a:rPr lang="en-US" sz="1400" dirty="0">
                <a:latin typeface="Verdana" pitchFamily="34" charset="0"/>
                <a:cs typeface="Times New Roman" pitchFamily="18" charset="0"/>
              </a:rPr>
              <a:t>and fabrics, an interior designer also needs to know about paints, lighting </a:t>
            </a:r>
            <a:r>
              <a:rPr lang="en-US" sz="1400" dirty="0" smtClean="0">
                <a:latin typeface="Verdana" pitchFamily="34" charset="0"/>
                <a:cs typeface="Times New Roman" pitchFamily="18" charset="0"/>
              </a:rPr>
              <a:t>and so </a:t>
            </a:r>
            <a:r>
              <a:rPr lang="en-US" sz="1400" dirty="0">
                <a:latin typeface="Verdana" pitchFamily="34" charset="0"/>
                <a:cs typeface="Times New Roman" pitchFamily="18" charset="0"/>
              </a:rPr>
              <a:t>on, and a </a:t>
            </a:r>
            <a:r>
              <a:rPr lang="en-US" sz="1400" dirty="0" smtClean="0">
                <a:latin typeface="Verdana" pitchFamily="34" charset="0"/>
                <a:cs typeface="Times New Roman" pitchFamily="18" charset="0"/>
              </a:rPr>
              <a:t>jewelry designer needs </a:t>
            </a:r>
            <a:r>
              <a:rPr lang="en-US" sz="1400" dirty="0">
                <a:latin typeface="Verdana" pitchFamily="34" charset="0"/>
                <a:cs typeface="Times New Roman" pitchFamily="18" charset="0"/>
              </a:rPr>
              <a:t>to know about precious stones and the </a:t>
            </a:r>
            <a:r>
              <a:rPr lang="en-US" sz="1400" dirty="0" smtClean="0">
                <a:latin typeface="Verdana" pitchFamily="34" charset="0"/>
                <a:cs typeface="Times New Roman" pitchFamily="18" charset="0"/>
              </a:rPr>
              <a:t>properties of </a:t>
            </a:r>
            <a:r>
              <a:rPr lang="en-US" sz="1400" dirty="0">
                <a:latin typeface="Verdana" pitchFamily="34" charset="0"/>
                <a:cs typeface="Times New Roman" pitchFamily="18" charset="0"/>
              </a:rPr>
              <a:t>metals such as gold and silver. </a:t>
            </a:r>
            <a:endParaRPr lang="en-US" sz="14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bwMode="auto">
          <a:xfrm>
            <a:off x="376753" y="562372"/>
            <a:ext cx="8229600" cy="566936"/>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Types of Design</a:t>
            </a:r>
          </a:p>
        </p:txBody>
      </p:sp>
      <p:sp>
        <p:nvSpPr>
          <p:cNvPr id="16386" name="Text Placeholder 2"/>
          <p:cNvSpPr>
            <a:spLocks noGrp="1"/>
          </p:cNvSpPr>
          <p:nvPr>
            <p:ph type="body" idx="1"/>
          </p:nvPr>
        </p:nvSpPr>
        <p:spPr bwMode="auto">
          <a:xfrm>
            <a:off x="457200" y="1196752"/>
            <a:ext cx="8149153"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The famous design commentator Donald </a:t>
            </a:r>
            <a:r>
              <a:rPr lang="en-US" sz="1500" dirty="0" err="1" smtClean="0">
                <a:latin typeface="Verdana" pitchFamily="34" charset="0"/>
                <a:cs typeface="Times New Roman" pitchFamily="18" charset="0"/>
              </a:rPr>
              <a:t>Schön</a:t>
            </a:r>
            <a:r>
              <a:rPr lang="en-US" sz="1500" dirty="0" smtClean="0">
                <a:latin typeface="Verdana" pitchFamily="34" charset="0"/>
                <a:cs typeface="Times New Roman" pitchFamily="18" charset="0"/>
              </a:rPr>
              <a:t> has described design as a ‘conversation with materials’, by which he means that in any type of design, designers must understand the nature of the materials that they are working with. </a:t>
            </a:r>
          </a:p>
          <a:p>
            <a:pPr algn="just" eaLnBrk="1" hangingPunct="1">
              <a:lnSpc>
                <a:spcPct val="200000"/>
              </a:lnSpc>
            </a:pPr>
            <a:r>
              <a:rPr lang="en-US" sz="1500" dirty="0" smtClean="0">
                <a:latin typeface="Verdana" pitchFamily="34" charset="0"/>
                <a:cs typeface="Times New Roman" pitchFamily="18" charset="0"/>
              </a:rPr>
              <a:t>Design works with and shapes a medium; in our case this medium </a:t>
            </a:r>
            <a:r>
              <a:rPr lang="en-US" sz="1500" b="1" dirty="0" smtClean="0">
                <a:latin typeface="Verdana" pitchFamily="34" charset="0"/>
                <a:cs typeface="Times New Roman" pitchFamily="18" charset="0"/>
              </a:rPr>
              <a:t>consists of interactive systems and </a:t>
            </a:r>
            <a:r>
              <a:rPr lang="en-US" sz="1500" b="1" dirty="0">
                <a:latin typeface="Verdana" pitchFamily="34" charset="0"/>
                <a:cs typeface="Times New Roman" pitchFamily="18" charset="0"/>
              </a:rPr>
              <a:t>services and the physical spaces </a:t>
            </a:r>
            <a:r>
              <a:rPr lang="en-US" sz="1500" dirty="0">
                <a:latin typeface="Verdana" pitchFamily="34" charset="0"/>
                <a:cs typeface="Times New Roman" pitchFamily="18" charset="0"/>
              </a:rPr>
              <a:t>in </a:t>
            </a:r>
            <a:r>
              <a:rPr lang="en-US" sz="1500" dirty="0" smtClean="0">
                <a:latin typeface="Verdana" pitchFamily="34" charset="0"/>
                <a:cs typeface="Times New Roman" pitchFamily="18" charset="0"/>
              </a:rPr>
              <a:t>which the </a:t>
            </a:r>
            <a:r>
              <a:rPr lang="en-US" sz="1500" dirty="0">
                <a:latin typeface="Verdana" pitchFamily="34" charset="0"/>
                <a:cs typeface="Times New Roman" pitchFamily="18" charset="0"/>
              </a:rPr>
              <a:t>interactions take place.</a:t>
            </a:r>
            <a:endParaRPr lang="en-US" sz="1500" dirty="0" smtClean="0">
              <a:latin typeface="Verdana" pitchFamily="34" charset="0"/>
              <a:cs typeface="Times New Roman" pitchFamily="18" charset="0"/>
            </a:endParaRPr>
          </a:p>
          <a:p>
            <a:pPr algn="just" eaLnBrk="1" hangingPunct="1">
              <a:lnSpc>
                <a:spcPct val="200000"/>
              </a:lnSpc>
            </a:pPr>
            <a:r>
              <a:rPr lang="en-US" sz="1500" dirty="0" smtClean="0">
                <a:latin typeface="Verdana" pitchFamily="34" charset="0"/>
                <a:cs typeface="Times New Roman" pitchFamily="18" charset="0"/>
              </a:rPr>
              <a:t>Others emphasize that </a:t>
            </a:r>
            <a:r>
              <a:rPr lang="en-US" sz="1500" b="1" dirty="0" smtClean="0">
                <a:latin typeface="Verdana" pitchFamily="34" charset="0"/>
                <a:cs typeface="Times New Roman" pitchFamily="18" charset="0"/>
              </a:rPr>
              <a:t>design is a conscious, social activity</a:t>
            </a:r>
            <a:r>
              <a:rPr lang="en-US" sz="1500" dirty="0" smtClean="0">
                <a:latin typeface="Verdana" pitchFamily="34" charset="0"/>
                <a:cs typeface="Times New Roman" pitchFamily="18" charset="0"/>
              </a:rPr>
              <a:t> and much design is often undertaken in a design team.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bwMode="auto">
          <a:xfrm>
            <a:off x="374848" y="306633"/>
            <a:ext cx="8229600" cy="37951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People and technologies</a:t>
            </a:r>
          </a:p>
        </p:txBody>
      </p:sp>
      <p:sp>
        <p:nvSpPr>
          <p:cNvPr id="17410" name="Text Placeholder 2"/>
          <p:cNvSpPr>
            <a:spLocks noGrp="1"/>
          </p:cNvSpPr>
          <p:nvPr>
            <p:ph type="body" idx="1"/>
          </p:nvPr>
        </p:nvSpPr>
        <p:spPr bwMode="auto">
          <a:xfrm>
            <a:off x="374848" y="908720"/>
            <a:ext cx="8229600" cy="5544616"/>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b="1" i="1" dirty="0" smtClean="0">
                <a:latin typeface="Verdana" pitchFamily="34" charset="0"/>
                <a:cs typeface="Times New Roman" pitchFamily="18" charset="0"/>
              </a:rPr>
              <a:t>Interactive system </a:t>
            </a:r>
            <a:r>
              <a:rPr lang="en-US" sz="1500" i="1" dirty="0" smtClean="0">
                <a:latin typeface="Verdana" pitchFamily="34" charset="0"/>
                <a:cs typeface="Times New Roman" pitchFamily="18" charset="0"/>
              </a:rPr>
              <a:t>is the term we use to describe the technologies that interactive system designers work with. </a:t>
            </a:r>
          </a:p>
          <a:p>
            <a:pPr algn="just" eaLnBrk="1" hangingPunct="1">
              <a:lnSpc>
                <a:spcPct val="150000"/>
              </a:lnSpc>
            </a:pPr>
            <a:r>
              <a:rPr lang="en-US" sz="1500" dirty="0" smtClean="0">
                <a:latin typeface="Verdana" pitchFamily="34" charset="0"/>
                <a:cs typeface="Times New Roman" pitchFamily="18" charset="0"/>
              </a:rPr>
              <a:t>This term is </a:t>
            </a:r>
            <a:r>
              <a:rPr lang="en-US" sz="1500" b="1" dirty="0" smtClean="0">
                <a:latin typeface="Verdana" pitchFamily="34" charset="0"/>
                <a:cs typeface="Times New Roman" pitchFamily="18" charset="0"/>
              </a:rPr>
              <a:t>intended to cover </a:t>
            </a:r>
            <a:r>
              <a:rPr lang="en-US" sz="1500" dirty="0" smtClean="0">
                <a:latin typeface="Verdana" pitchFamily="34" charset="0"/>
                <a:cs typeface="Times New Roman" pitchFamily="18" charset="0"/>
              </a:rPr>
              <a:t>components, devices, products and software systems that are primarily concerned with processing information. </a:t>
            </a:r>
          </a:p>
          <a:p>
            <a:pPr algn="just" eaLnBrk="1" hangingPunct="1">
              <a:lnSpc>
                <a:spcPct val="150000"/>
              </a:lnSpc>
            </a:pPr>
            <a:r>
              <a:rPr lang="en-US" sz="1500" dirty="0" smtClean="0">
                <a:latin typeface="Verdana" pitchFamily="34" charset="0"/>
                <a:cs typeface="Times New Roman" pitchFamily="18" charset="0"/>
              </a:rPr>
              <a:t>Interactive systems are things that </a:t>
            </a:r>
            <a:r>
              <a:rPr lang="en-US" sz="1500" b="1" dirty="0" smtClean="0">
                <a:latin typeface="Verdana" pitchFamily="34" charset="0"/>
                <a:cs typeface="Times New Roman" pitchFamily="18" charset="0"/>
              </a:rPr>
              <a:t>deal with </a:t>
            </a:r>
            <a:r>
              <a:rPr lang="en-US" sz="1500" dirty="0" smtClean="0">
                <a:latin typeface="Verdana" pitchFamily="34" charset="0"/>
                <a:cs typeface="Times New Roman" pitchFamily="18" charset="0"/>
              </a:rPr>
              <a:t>the transmission, display, storage or transformation of information that people can perceive. </a:t>
            </a:r>
          </a:p>
          <a:p>
            <a:pPr algn="just" eaLnBrk="1" hangingPunct="1">
              <a:lnSpc>
                <a:spcPct val="150000"/>
              </a:lnSpc>
            </a:pPr>
            <a:r>
              <a:rPr lang="en-US" sz="1500" dirty="0" smtClean="0">
                <a:latin typeface="Verdana" pitchFamily="34" charset="0"/>
                <a:cs typeface="Times New Roman" pitchFamily="18" charset="0"/>
              </a:rPr>
              <a:t>They are </a:t>
            </a:r>
            <a:r>
              <a:rPr lang="en-US" sz="1500" b="1" dirty="0" smtClean="0">
                <a:latin typeface="Verdana" pitchFamily="34" charset="0"/>
                <a:cs typeface="Times New Roman" pitchFamily="18" charset="0"/>
              </a:rPr>
              <a:t>devices and system</a:t>
            </a:r>
            <a:r>
              <a:rPr lang="en-US" sz="1500" dirty="0" smtClean="0">
                <a:latin typeface="Verdana" pitchFamily="34" charset="0"/>
                <a:cs typeface="Times New Roman" pitchFamily="18" charset="0"/>
              </a:rPr>
              <a:t>s that respond dynamically to people’s actions.</a:t>
            </a:r>
          </a:p>
          <a:p>
            <a:pPr algn="just" eaLnBrk="1" hangingPunct="1">
              <a:lnSpc>
                <a:spcPct val="150000"/>
              </a:lnSpc>
            </a:pPr>
            <a:r>
              <a:rPr lang="en-US" sz="1500" dirty="0" smtClean="0">
                <a:latin typeface="Verdana" pitchFamily="34" charset="0"/>
                <a:cs typeface="Times New Roman" pitchFamily="18" charset="0"/>
              </a:rPr>
              <a:t>This definition is </a:t>
            </a:r>
            <a:r>
              <a:rPr lang="en-US" sz="1500" b="1" dirty="0" smtClean="0">
                <a:latin typeface="Verdana" pitchFamily="34" charset="0"/>
                <a:cs typeface="Times New Roman" pitchFamily="18" charset="0"/>
              </a:rPr>
              <a:t>intended to exclude</a:t>
            </a:r>
            <a:r>
              <a:rPr lang="en-US" sz="1500" dirty="0" smtClean="0">
                <a:latin typeface="Verdana" pitchFamily="34" charset="0"/>
                <a:cs typeface="Times New Roman" pitchFamily="18" charset="0"/>
              </a:rPr>
              <a:t> things such as tables, chairs and doors (since they do not process information) but to </a:t>
            </a:r>
            <a:r>
              <a:rPr lang="en-US" sz="1500" b="1" dirty="0" smtClean="0">
                <a:latin typeface="Verdana" pitchFamily="34" charset="0"/>
                <a:cs typeface="Times New Roman" pitchFamily="18" charset="0"/>
              </a:rPr>
              <a:t>include things such as</a:t>
            </a:r>
          </a:p>
          <a:p>
            <a:pPr lvl="1"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M</a:t>
            </a:r>
            <a:r>
              <a:rPr lang="en-US" sz="1500" dirty="0" smtClean="0">
                <a:latin typeface="Verdana" pitchFamily="34" charset="0"/>
                <a:cs typeface="Times New Roman" pitchFamily="18" charset="0"/>
              </a:rPr>
              <a:t>obile phones (transmit, store and transform information),</a:t>
            </a:r>
          </a:p>
          <a:p>
            <a:pPr lvl="1"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W</a:t>
            </a:r>
            <a:r>
              <a:rPr lang="en-US" sz="1500" dirty="0" smtClean="0">
                <a:latin typeface="Verdana" pitchFamily="34" charset="0"/>
                <a:cs typeface="Times New Roman" pitchFamily="18" charset="0"/>
              </a:rPr>
              <a:t>ebsites (store </a:t>
            </a:r>
            <a:r>
              <a:rPr lang="en-US" sz="1500" dirty="0">
                <a:latin typeface="Verdana" pitchFamily="34" charset="0"/>
                <a:cs typeface="Times New Roman" pitchFamily="18" charset="0"/>
              </a:rPr>
              <a:t>&amp;</a:t>
            </a:r>
            <a:r>
              <a:rPr lang="en-US" sz="1500" dirty="0" smtClean="0">
                <a:latin typeface="Verdana" pitchFamily="34" charset="0"/>
                <a:cs typeface="Times New Roman" pitchFamily="18" charset="0"/>
              </a:rPr>
              <a:t> display information &amp; respond to people’s actions),</a:t>
            </a:r>
          </a:p>
          <a:p>
            <a:pPr lvl="1"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C</a:t>
            </a:r>
            <a:r>
              <a:rPr lang="en-US" sz="1500" dirty="0" smtClean="0">
                <a:latin typeface="Verdana" pitchFamily="34" charset="0"/>
                <a:cs typeface="Times New Roman" pitchFamily="18" charset="0"/>
              </a:rPr>
              <a:t>omputer game controllers.</a:t>
            </a:r>
          </a:p>
          <a:p>
            <a:pPr algn="just" eaLnBrk="1" hangingPunct="1">
              <a:lnSpc>
                <a:spcPct val="150000"/>
              </a:lnSpc>
            </a:pPr>
            <a:r>
              <a:rPr lang="en-US" sz="1500" dirty="0" smtClean="0">
                <a:latin typeface="Verdana" pitchFamily="34" charset="0"/>
                <a:cs typeface="Times New Roman" pitchFamily="18" charset="0"/>
              </a:rPr>
              <a:t>Increasingly, interactive components are being included in all manner of other products (such as clothes, buildings and cameras).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bwMode="auto">
          <a:xfrm>
            <a:off x="323528" y="548680"/>
            <a:ext cx="8229600" cy="504056"/>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People and Technologies</a:t>
            </a:r>
          </a:p>
        </p:txBody>
      </p:sp>
      <p:sp>
        <p:nvSpPr>
          <p:cNvPr id="18434" name="Text Placeholder 2"/>
          <p:cNvSpPr>
            <a:spLocks noGrp="1"/>
          </p:cNvSpPr>
          <p:nvPr>
            <p:ph type="body" idx="1"/>
          </p:nvPr>
        </p:nvSpPr>
        <p:spPr bwMode="auto">
          <a:xfrm>
            <a:off x="539552" y="1124744"/>
            <a:ext cx="8095928" cy="100325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fundamental challenge</a:t>
            </a:r>
            <a:r>
              <a:rPr lang="en-US" sz="1500" dirty="0" smtClean="0">
                <a:latin typeface="Verdana" pitchFamily="34" charset="0"/>
                <a:cs typeface="Times New Roman" pitchFamily="18" charset="0"/>
              </a:rPr>
              <a:t> for interactive systems designers is to deal with the fact that people and interactive systems are different.</a:t>
            </a:r>
          </a:p>
        </p:txBody>
      </p:sp>
      <p:pic>
        <p:nvPicPr>
          <p:cNvPr id="18435" name="Picture 3"/>
          <p:cNvPicPr>
            <a:picLocks noChangeAspect="1"/>
          </p:cNvPicPr>
          <p:nvPr/>
        </p:nvPicPr>
        <p:blipFill rotWithShape="1">
          <a:blip r:embed="rId2"/>
          <a:srcRect r="870"/>
          <a:stretch/>
        </p:blipFill>
        <p:spPr bwMode="auto">
          <a:xfrm>
            <a:off x="1403648" y="2132856"/>
            <a:ext cx="6361473" cy="37361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bwMode="auto">
          <a:xfrm>
            <a:off x="323528" y="169168"/>
            <a:ext cx="8229600" cy="52352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The interface</a:t>
            </a:r>
          </a:p>
        </p:txBody>
      </p:sp>
      <p:sp>
        <p:nvSpPr>
          <p:cNvPr id="19458" name="Text Placeholder 2"/>
          <p:cNvSpPr>
            <a:spLocks noGrp="1"/>
          </p:cNvSpPr>
          <p:nvPr>
            <p:ph type="body" idx="1"/>
          </p:nvPr>
        </p:nvSpPr>
        <p:spPr bwMode="auto">
          <a:xfrm>
            <a:off x="395536" y="784298"/>
            <a:ext cx="8291264" cy="523699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450" dirty="0" smtClean="0">
                <a:latin typeface="Verdana" pitchFamily="34" charset="0"/>
                <a:cs typeface="Times New Roman" pitchFamily="18" charset="0"/>
              </a:rPr>
              <a:t>The </a:t>
            </a:r>
            <a:r>
              <a:rPr lang="en-US" sz="1450" b="1" dirty="0" smtClean="0">
                <a:latin typeface="Verdana" pitchFamily="34" charset="0"/>
                <a:cs typeface="Times New Roman" pitchFamily="18" charset="0"/>
              </a:rPr>
              <a:t>interface</a:t>
            </a:r>
            <a:r>
              <a:rPr lang="en-US" sz="1450" dirty="0" smtClean="0">
                <a:latin typeface="Verdana" pitchFamily="34" charset="0"/>
                <a:cs typeface="Times New Roman" pitchFamily="18" charset="0"/>
              </a:rPr>
              <a:t> to an interactive system is all those</a:t>
            </a:r>
            <a:r>
              <a:rPr lang="en-US" sz="1450" b="1" dirty="0" smtClean="0">
                <a:latin typeface="Verdana" pitchFamily="34" charset="0"/>
                <a:cs typeface="Times New Roman" pitchFamily="18" charset="0"/>
              </a:rPr>
              <a:t> parts </a:t>
            </a:r>
            <a:r>
              <a:rPr lang="en-US" sz="1450" dirty="0" smtClean="0">
                <a:latin typeface="Verdana" pitchFamily="34" charset="0"/>
                <a:cs typeface="Times New Roman" pitchFamily="18" charset="0"/>
              </a:rPr>
              <a:t>of the system with which </a:t>
            </a:r>
            <a:r>
              <a:rPr lang="en-US" sz="1450" dirty="0" smtClean="0">
                <a:solidFill>
                  <a:schemeClr val="accent1"/>
                </a:solidFill>
                <a:latin typeface="Verdana" pitchFamily="34" charset="0"/>
                <a:cs typeface="Times New Roman" pitchFamily="18" charset="0"/>
              </a:rPr>
              <a:t>people come into contact with; </a:t>
            </a:r>
            <a:r>
              <a:rPr lang="en-US" sz="1450" b="1" dirty="0" smtClean="0">
                <a:solidFill>
                  <a:schemeClr val="accent1"/>
                </a:solidFill>
                <a:latin typeface="Verdana" pitchFamily="34" charset="0"/>
                <a:cs typeface="Times New Roman" pitchFamily="18" charset="0"/>
              </a:rPr>
              <a:t>physically, perceptually and conceptually</a:t>
            </a:r>
            <a:r>
              <a:rPr lang="en-US" sz="1450" dirty="0" smtClean="0">
                <a:latin typeface="Verdana" pitchFamily="34" charset="0"/>
                <a:cs typeface="Times New Roman" pitchFamily="18" charset="0"/>
              </a:rPr>
              <a:t>.</a:t>
            </a:r>
          </a:p>
          <a:p>
            <a:pPr lvl="1" algn="just" eaLnBrk="1" hangingPunct="1">
              <a:lnSpc>
                <a:spcPct val="150000"/>
              </a:lnSpc>
            </a:pPr>
            <a:r>
              <a:rPr lang="en-US" sz="1450" b="1" dirty="0" smtClean="0">
                <a:latin typeface="Verdana" pitchFamily="34" charset="0"/>
                <a:cs typeface="Times New Roman" pitchFamily="18" charset="0"/>
              </a:rPr>
              <a:t>Physically</a:t>
            </a:r>
            <a:r>
              <a:rPr lang="en-US" sz="1450" dirty="0" smtClean="0">
                <a:latin typeface="Verdana" pitchFamily="34" charset="0"/>
                <a:cs typeface="Times New Roman" pitchFamily="18" charset="0"/>
              </a:rPr>
              <a:t> we might interact with a device by pressing buttons or moving levers and the interactive device might respond by providing feedback through the pressure of the button or lever.</a:t>
            </a:r>
          </a:p>
          <a:p>
            <a:pPr lvl="1" algn="just" eaLnBrk="1" hangingPunct="1">
              <a:lnSpc>
                <a:spcPct val="150000"/>
              </a:lnSpc>
            </a:pPr>
            <a:r>
              <a:rPr lang="en-US" sz="1450" b="1" dirty="0" smtClean="0">
                <a:latin typeface="Verdana" pitchFamily="34" charset="0"/>
                <a:cs typeface="Times New Roman" pitchFamily="18" charset="0"/>
              </a:rPr>
              <a:t>Perceptually</a:t>
            </a:r>
            <a:r>
              <a:rPr lang="en-US" sz="1450" dirty="0" smtClean="0">
                <a:latin typeface="Verdana" pitchFamily="34" charset="0"/>
                <a:cs typeface="Times New Roman" pitchFamily="18" charset="0"/>
              </a:rPr>
              <a:t> the device displays things on a screen which we can see, or makes noises which we can hear.</a:t>
            </a:r>
          </a:p>
          <a:p>
            <a:pPr lvl="1" algn="just" eaLnBrk="1" hangingPunct="1">
              <a:lnSpc>
                <a:spcPct val="150000"/>
              </a:lnSpc>
            </a:pPr>
            <a:r>
              <a:rPr lang="en-US" sz="1450" b="1" dirty="0" smtClean="0">
                <a:latin typeface="Verdana" pitchFamily="34" charset="0"/>
                <a:cs typeface="Times New Roman" pitchFamily="18" charset="0"/>
              </a:rPr>
              <a:t>Conceptually</a:t>
            </a:r>
            <a:r>
              <a:rPr lang="en-US" sz="1450" dirty="0" smtClean="0">
                <a:latin typeface="Verdana" pitchFamily="34" charset="0"/>
                <a:cs typeface="Times New Roman" pitchFamily="18" charset="0"/>
              </a:rPr>
              <a:t> we interact with a device by trying to work out what it does and what we should be doing. The device provides messages and other displays which are designed to help us do this.</a:t>
            </a:r>
          </a:p>
          <a:p>
            <a:pPr algn="just" eaLnBrk="1" hangingPunct="1">
              <a:lnSpc>
                <a:spcPct val="150000"/>
              </a:lnSpc>
            </a:pPr>
            <a:r>
              <a:rPr lang="en-US" sz="1450" dirty="0" smtClean="0">
                <a:latin typeface="Verdana" pitchFamily="34" charset="0"/>
                <a:cs typeface="Times New Roman" pitchFamily="18" charset="0"/>
              </a:rPr>
              <a:t>The interface </a:t>
            </a:r>
            <a:r>
              <a:rPr lang="en-US" sz="1450" b="1" dirty="0" smtClean="0">
                <a:latin typeface="Verdana" pitchFamily="34" charset="0"/>
                <a:cs typeface="Times New Roman" pitchFamily="18" charset="0"/>
              </a:rPr>
              <a:t>needs to provide </a:t>
            </a:r>
            <a:r>
              <a:rPr lang="en-US" sz="1450" dirty="0" smtClean="0">
                <a:latin typeface="Verdana" pitchFamily="34" charset="0"/>
                <a:cs typeface="Times New Roman" pitchFamily="18" charset="0"/>
              </a:rPr>
              <a:t>some mechanisms so that people can provide instructions and enter data into the system: ‘input’. </a:t>
            </a:r>
          </a:p>
          <a:p>
            <a:pPr algn="just" eaLnBrk="1" hangingPunct="1">
              <a:lnSpc>
                <a:spcPct val="150000"/>
              </a:lnSpc>
            </a:pPr>
            <a:r>
              <a:rPr lang="en-US" sz="1450" dirty="0" smtClean="0">
                <a:latin typeface="Verdana" pitchFamily="34" charset="0"/>
                <a:cs typeface="Times New Roman" pitchFamily="18" charset="0"/>
              </a:rPr>
              <a:t>It also </a:t>
            </a:r>
            <a:r>
              <a:rPr lang="en-US" sz="1450" b="1" dirty="0" smtClean="0">
                <a:latin typeface="Verdana" pitchFamily="34" charset="0"/>
                <a:cs typeface="Times New Roman" pitchFamily="18" charset="0"/>
              </a:rPr>
              <a:t>needs to provide </a:t>
            </a:r>
            <a:r>
              <a:rPr lang="en-US" sz="1450" dirty="0" smtClean="0">
                <a:latin typeface="Verdana" pitchFamily="34" charset="0"/>
                <a:cs typeface="Times New Roman" pitchFamily="18" charset="0"/>
              </a:rPr>
              <a:t>some mechanism for the system to tell people what is happening by providing </a:t>
            </a:r>
            <a:r>
              <a:rPr lang="en-US" sz="1450" b="1" dirty="0" smtClean="0">
                <a:latin typeface="Verdana" pitchFamily="34" charset="0"/>
                <a:cs typeface="Times New Roman" pitchFamily="18" charset="0"/>
              </a:rPr>
              <a:t>feedback </a:t>
            </a:r>
            <a:r>
              <a:rPr lang="en-US" sz="1450" b="1" dirty="0">
                <a:latin typeface="Verdana" pitchFamily="34" charset="0"/>
                <a:cs typeface="Times New Roman" pitchFamily="18" charset="0"/>
              </a:rPr>
              <a:t>&amp;</a:t>
            </a:r>
            <a:r>
              <a:rPr lang="en-US" sz="1450" b="1" dirty="0" smtClean="0">
                <a:latin typeface="Verdana" pitchFamily="34" charset="0"/>
                <a:cs typeface="Times New Roman" pitchFamily="18" charset="0"/>
              </a:rPr>
              <a:t> mechanisms </a:t>
            </a:r>
            <a:r>
              <a:rPr lang="en-US" sz="1450" dirty="0" smtClean="0">
                <a:latin typeface="Verdana" pitchFamily="34" charset="0"/>
                <a:cs typeface="Times New Roman" pitchFamily="18" charset="0"/>
              </a:rPr>
              <a:t>to display the content: ‘output’. </a:t>
            </a:r>
          </a:p>
          <a:p>
            <a:pPr algn="just" eaLnBrk="1" hangingPunct="1">
              <a:lnSpc>
                <a:spcPct val="150000"/>
              </a:lnSpc>
            </a:pPr>
            <a:r>
              <a:rPr lang="en-US" sz="1450" dirty="0" smtClean="0">
                <a:latin typeface="Verdana" pitchFamily="34" charset="0"/>
                <a:cs typeface="Times New Roman" pitchFamily="18" charset="0"/>
              </a:rPr>
              <a:t>This </a:t>
            </a:r>
            <a:r>
              <a:rPr lang="en-US" sz="1450" b="1" dirty="0" smtClean="0">
                <a:latin typeface="Verdana" pitchFamily="34" charset="0"/>
                <a:cs typeface="Times New Roman" pitchFamily="18" charset="0"/>
              </a:rPr>
              <a:t>content </a:t>
            </a:r>
            <a:r>
              <a:rPr lang="en-US" sz="1450" dirty="0" smtClean="0">
                <a:latin typeface="Verdana" pitchFamily="34" charset="0"/>
                <a:cs typeface="Times New Roman" pitchFamily="18" charset="0"/>
              </a:rPr>
              <a:t>might be in the </a:t>
            </a:r>
            <a:r>
              <a:rPr lang="en-US" sz="1450" b="1" dirty="0" smtClean="0">
                <a:latin typeface="Verdana" pitchFamily="34" charset="0"/>
                <a:cs typeface="Times New Roman" pitchFamily="18" charset="0"/>
              </a:rPr>
              <a:t>form of </a:t>
            </a:r>
            <a:r>
              <a:rPr lang="en-US" sz="1450" dirty="0" smtClean="0">
                <a:latin typeface="Verdana" pitchFamily="34" charset="0"/>
                <a:cs typeface="Times New Roman" pitchFamily="18" charset="0"/>
              </a:rPr>
              <a:t>information, picture, movie, animation etc</a:t>
            </a:r>
            <a:r>
              <a:rPr lang="en-US" sz="1450" dirty="0">
                <a:latin typeface="Verdana" pitchFamily="34" charset="0"/>
                <a:cs typeface="Times New Roman" pitchFamily="18" charset="0"/>
              </a:rPr>
              <a:t>.</a:t>
            </a:r>
            <a:endParaRPr lang="en-US" sz="145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bwMode="auto">
          <a:xfrm>
            <a:off x="323528" y="798293"/>
            <a:ext cx="8229600" cy="57606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The bigger picture</a:t>
            </a:r>
          </a:p>
        </p:txBody>
      </p:sp>
      <p:sp>
        <p:nvSpPr>
          <p:cNvPr id="20482" name="Text Placeholder 2"/>
          <p:cNvSpPr>
            <a:spLocks noGrp="1"/>
          </p:cNvSpPr>
          <p:nvPr>
            <p:ph type="body" idx="1"/>
          </p:nvPr>
        </p:nvSpPr>
        <p:spPr bwMode="auto">
          <a:xfrm>
            <a:off x="587259" y="1593671"/>
            <a:ext cx="7931224" cy="326896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Designing interactive systems is not just a question of designing interfaces, however the whole </a:t>
            </a:r>
            <a:r>
              <a:rPr lang="en-US" sz="1500" b="1" dirty="0" smtClean="0">
                <a:latin typeface="Verdana" pitchFamily="34" charset="0"/>
                <a:cs typeface="Times New Roman" pitchFamily="18" charset="0"/>
              </a:rPr>
              <a:t>human–computer interaction needs </a:t>
            </a:r>
            <a:r>
              <a:rPr lang="en-US" sz="1500" dirty="0" smtClean="0">
                <a:latin typeface="Verdana" pitchFamily="34" charset="0"/>
                <a:cs typeface="Times New Roman" pitchFamily="18" charset="0"/>
              </a:rPr>
              <a:t>to be considered, as does the human–human interaction that is often enabled through the systems. </a:t>
            </a:r>
          </a:p>
          <a:p>
            <a:pPr algn="just" eaLnBrk="1" hangingPunct="1">
              <a:lnSpc>
                <a:spcPct val="150000"/>
              </a:lnSpc>
            </a:pPr>
            <a:r>
              <a:rPr lang="en-US" sz="1500" dirty="0" smtClean="0">
                <a:latin typeface="Verdana" pitchFamily="34" charset="0"/>
                <a:cs typeface="Times New Roman" pitchFamily="18" charset="0"/>
              </a:rPr>
              <a:t>Increasingly, </a:t>
            </a:r>
            <a:r>
              <a:rPr lang="en-US" sz="1500" b="1" dirty="0" smtClean="0">
                <a:latin typeface="Verdana" pitchFamily="34" charset="0"/>
                <a:cs typeface="Times New Roman" pitchFamily="18" charset="0"/>
              </a:rPr>
              <a:t>interactive systems consist of</a:t>
            </a:r>
            <a:r>
              <a:rPr lang="en-US" sz="1500" dirty="0" smtClean="0">
                <a:latin typeface="Verdana" pitchFamily="34" charset="0"/>
                <a:cs typeface="Times New Roman" pitchFamily="18" charset="0"/>
              </a:rPr>
              <a:t> many interconnected devices, some worn by people, some embedded in the fabric of buildings, some carried.</a:t>
            </a:r>
          </a:p>
          <a:p>
            <a:pPr algn="just" eaLnBrk="1" hangingPunct="1">
              <a:lnSpc>
                <a:spcPct val="150000"/>
              </a:lnSpc>
            </a:pPr>
            <a:r>
              <a:rPr lang="en-US" sz="1500" dirty="0" smtClean="0">
                <a:latin typeface="Verdana" pitchFamily="34" charset="0"/>
                <a:cs typeface="Times New Roman" pitchFamily="18" charset="0"/>
              </a:rPr>
              <a:t> Interactive systems </a:t>
            </a:r>
            <a:r>
              <a:rPr lang="en-US" sz="1500" b="1" dirty="0" smtClean="0">
                <a:latin typeface="Verdana" pitchFamily="34" charset="0"/>
                <a:cs typeface="Times New Roman" pitchFamily="18" charset="0"/>
              </a:rPr>
              <a:t>designers are concerned </a:t>
            </a:r>
            <a:r>
              <a:rPr lang="en-US" sz="1500" dirty="0" smtClean="0">
                <a:latin typeface="Verdana" pitchFamily="34" charset="0"/>
                <a:cs typeface="Times New Roman" pitchFamily="18" charset="0"/>
              </a:rPr>
              <a:t>with connecting people through devices and systems; they need to consider the whole environment they are creating.</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bwMode="auto">
          <a:xfrm>
            <a:off x="439066" y="692696"/>
            <a:ext cx="8229600" cy="49463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Being human-centered</a:t>
            </a:r>
          </a:p>
        </p:txBody>
      </p:sp>
      <p:sp>
        <p:nvSpPr>
          <p:cNvPr id="21506" name="Text Placeholder 2"/>
          <p:cNvSpPr>
            <a:spLocks noGrp="1"/>
          </p:cNvSpPr>
          <p:nvPr>
            <p:ph type="body" idx="1"/>
          </p:nvPr>
        </p:nvSpPr>
        <p:spPr bwMode="auto">
          <a:xfrm>
            <a:off x="683568" y="1484784"/>
            <a:ext cx="7848872" cy="3773016"/>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Interactive systems design is ultimately about creating interactive experiences for people. </a:t>
            </a:r>
          </a:p>
          <a:p>
            <a:pPr algn="just" eaLnBrk="1" hangingPunct="1">
              <a:lnSpc>
                <a:spcPct val="150000"/>
              </a:lnSpc>
            </a:pPr>
            <a:r>
              <a:rPr lang="en-US" sz="1500" dirty="0" smtClean="0">
                <a:latin typeface="Verdana" pitchFamily="34" charset="0"/>
                <a:cs typeface="Times New Roman" pitchFamily="18" charset="0"/>
              </a:rPr>
              <a:t>Being human-centered is about </a:t>
            </a:r>
            <a:r>
              <a:rPr lang="en-US" sz="1500" b="1" dirty="0" smtClean="0">
                <a:latin typeface="Verdana" pitchFamily="34" charset="0"/>
                <a:cs typeface="Times New Roman" pitchFamily="18" charset="0"/>
              </a:rPr>
              <a:t>putting people first</a:t>
            </a:r>
            <a:r>
              <a:rPr lang="en-US" sz="1500" dirty="0" smtClean="0">
                <a:latin typeface="Verdana" pitchFamily="34" charset="0"/>
                <a:cs typeface="Times New Roman" pitchFamily="18" charset="0"/>
              </a:rPr>
              <a:t>; it is about designing interactive systems to support people and for people to enjoy. </a:t>
            </a:r>
          </a:p>
          <a:p>
            <a:pPr algn="just" eaLnBrk="1" hangingPunct="1">
              <a:lnSpc>
                <a:spcPct val="150000"/>
              </a:lnSpc>
            </a:pPr>
            <a:r>
              <a:rPr lang="en-US" sz="1500" dirty="0" smtClean="0">
                <a:latin typeface="Verdana" pitchFamily="34" charset="0"/>
                <a:cs typeface="Times New Roman" pitchFamily="18" charset="0"/>
              </a:rPr>
              <a:t>Being human-centered is about </a:t>
            </a:r>
            <a:r>
              <a:rPr lang="en-US" sz="1500" b="1" dirty="0" smtClean="0">
                <a:latin typeface="Verdana" pitchFamily="34" charset="0"/>
                <a:cs typeface="Times New Roman" pitchFamily="18" charset="0"/>
              </a:rPr>
              <a:t>thinking about</a:t>
            </a:r>
            <a:r>
              <a:rPr lang="en-US" sz="1500" dirty="0" smtClean="0">
                <a:latin typeface="Verdana" pitchFamily="34" charset="0"/>
                <a:cs typeface="Times New Roman" pitchFamily="18" charset="0"/>
              </a:rPr>
              <a:t> what people want to do rather than what the technology can do</a:t>
            </a:r>
          </a:p>
          <a:p>
            <a:pPr algn="just" eaLnBrk="1" hangingPunct="1">
              <a:lnSpc>
                <a:spcPct val="150000"/>
              </a:lnSpc>
            </a:pPr>
            <a:r>
              <a:rPr lang="en-US" sz="1500" b="1" dirty="0" smtClean="0">
                <a:latin typeface="Verdana" pitchFamily="34" charset="0"/>
                <a:cs typeface="Times New Roman" pitchFamily="18" charset="0"/>
              </a:rPr>
              <a:t>Designing</a:t>
            </a:r>
            <a:r>
              <a:rPr lang="en-US" sz="1500" dirty="0" smtClean="0">
                <a:latin typeface="Verdana" pitchFamily="34" charset="0"/>
                <a:cs typeface="Times New Roman" pitchFamily="18" charset="0"/>
              </a:rPr>
              <a:t> </a:t>
            </a:r>
            <a:r>
              <a:rPr lang="en-US" sz="1500" b="1" dirty="0" smtClean="0">
                <a:latin typeface="Verdana" pitchFamily="34" charset="0"/>
                <a:cs typeface="Times New Roman" pitchFamily="18" charset="0"/>
              </a:rPr>
              <a:t>new ways </a:t>
            </a:r>
            <a:r>
              <a:rPr lang="en-US" sz="1500" dirty="0" smtClean="0">
                <a:latin typeface="Verdana" pitchFamily="34" charset="0"/>
                <a:cs typeface="Times New Roman" pitchFamily="18" charset="0"/>
              </a:rPr>
              <a:t>to connect people with people,</a:t>
            </a:r>
          </a:p>
          <a:p>
            <a:pPr algn="just" eaLnBrk="1" hangingPunct="1">
              <a:lnSpc>
                <a:spcPct val="150000"/>
              </a:lnSpc>
            </a:pPr>
            <a:r>
              <a:rPr lang="en-US" sz="1500" b="1" dirty="0" smtClean="0">
                <a:latin typeface="Verdana" pitchFamily="34" charset="0"/>
                <a:cs typeface="Times New Roman" pitchFamily="18" charset="0"/>
              </a:rPr>
              <a:t>Involving</a:t>
            </a:r>
            <a:r>
              <a:rPr lang="en-US" sz="1500" dirty="0" smtClean="0">
                <a:latin typeface="Verdana" pitchFamily="34" charset="0"/>
                <a:cs typeface="Times New Roman" pitchFamily="18" charset="0"/>
              </a:rPr>
              <a:t> people in the design process,</a:t>
            </a:r>
          </a:p>
          <a:p>
            <a:pPr algn="just" eaLnBrk="1" hangingPunct="1">
              <a:lnSpc>
                <a:spcPct val="150000"/>
              </a:lnSpc>
            </a:pPr>
            <a:r>
              <a:rPr lang="en-US" sz="1500" dirty="0" smtClean="0">
                <a:latin typeface="Verdana" pitchFamily="34" charset="0"/>
                <a:cs typeface="Times New Roman" pitchFamily="18" charset="0"/>
              </a:rPr>
              <a:t>Designing for diversity/variety.</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bwMode="auto">
          <a:xfrm>
            <a:off x="395536" y="510134"/>
            <a:ext cx="8229600" cy="41805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HCI</a:t>
            </a:r>
          </a:p>
        </p:txBody>
      </p:sp>
      <p:sp>
        <p:nvSpPr>
          <p:cNvPr id="22530" name="Text Placeholder 2"/>
          <p:cNvSpPr>
            <a:spLocks noGrp="1"/>
          </p:cNvSpPr>
          <p:nvPr>
            <p:ph type="body" idx="1"/>
          </p:nvPr>
        </p:nvSpPr>
        <p:spPr bwMode="auto">
          <a:xfrm>
            <a:off x="457200" y="1124744"/>
            <a:ext cx="8229600" cy="4968552"/>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20000"/>
              </a:lnSpc>
            </a:pPr>
            <a:r>
              <a:rPr lang="en-US" sz="1500" dirty="0" smtClean="0">
                <a:latin typeface="Verdana" pitchFamily="34" charset="0"/>
                <a:cs typeface="Times New Roman" pitchFamily="18" charset="0"/>
              </a:rPr>
              <a:t>The primary discipline contributing to being human-centered in design is human–computer interaction (HCI). </a:t>
            </a:r>
          </a:p>
          <a:p>
            <a:pPr algn="just" eaLnBrk="1" hangingPunct="1">
              <a:lnSpc>
                <a:spcPct val="120000"/>
              </a:lnSpc>
            </a:pPr>
            <a:r>
              <a:rPr lang="en-US" sz="1500" dirty="0" smtClean="0">
                <a:latin typeface="Verdana" pitchFamily="34" charset="0"/>
                <a:cs typeface="Times New Roman" pitchFamily="18" charset="0"/>
              </a:rPr>
              <a:t>HCI arose during the early 1980s, evolving into a subject </a:t>
            </a:r>
            <a:r>
              <a:rPr lang="en-US" sz="1500" b="1" dirty="0" smtClean="0">
                <a:latin typeface="Verdana" pitchFamily="34" charset="0"/>
                <a:cs typeface="Times New Roman" pitchFamily="18" charset="0"/>
              </a:rPr>
              <a:t>‘concerned with </a:t>
            </a:r>
            <a:r>
              <a:rPr lang="en-US" sz="1500" dirty="0" smtClean="0">
                <a:latin typeface="Verdana" pitchFamily="34" charset="0"/>
                <a:cs typeface="Times New Roman" pitchFamily="18" charset="0"/>
              </a:rPr>
              <a:t>the design, evaluation, and implementation of interactive computing systems for human use and with the study of major phenomena surrounding them’ (ACM SIGCHI, 1992, p. 6).</a:t>
            </a:r>
          </a:p>
          <a:p>
            <a:pPr algn="just" eaLnBrk="1" hangingPunct="1">
              <a:lnSpc>
                <a:spcPct val="120000"/>
              </a:lnSpc>
            </a:pPr>
            <a:r>
              <a:rPr lang="en-US" sz="1500" dirty="0" smtClean="0">
                <a:latin typeface="Verdana" pitchFamily="34" charset="0"/>
                <a:cs typeface="Times New Roman" pitchFamily="18" charset="0"/>
              </a:rPr>
              <a:t>HCI drew on cognitive psychology for its theoretical base and on software engineering for its design approach. </a:t>
            </a:r>
          </a:p>
          <a:p>
            <a:pPr algn="just" eaLnBrk="1" hangingPunct="1">
              <a:lnSpc>
                <a:spcPct val="120000"/>
              </a:lnSpc>
            </a:pPr>
            <a:r>
              <a:rPr lang="en-US" sz="1500" dirty="0" smtClean="0">
                <a:latin typeface="Verdana" pitchFamily="34" charset="0"/>
                <a:cs typeface="Times New Roman" pitchFamily="18" charset="0"/>
              </a:rPr>
              <a:t>During the 1990s the closely related area of computer supported cooperative work (CSCW) focused on technology support for cooperative activities and brought with it another theoretical base that included sociology and anthropological methods. </a:t>
            </a:r>
            <a:r>
              <a:rPr lang="en-US" sz="1200" dirty="0">
                <a:solidFill>
                  <a:srgbClr val="00B050"/>
                </a:solidFill>
                <a:latin typeface="Verdana" pitchFamily="34" charset="0"/>
                <a:cs typeface="Times New Roman" pitchFamily="18" charset="0"/>
              </a:rPr>
              <a:t>(</a:t>
            </a:r>
            <a:r>
              <a:rPr lang="en-US" sz="1200" dirty="0" smtClean="0">
                <a:solidFill>
                  <a:srgbClr val="00B050"/>
                </a:solidFill>
                <a:latin typeface="Verdana" pitchFamily="34" charset="0"/>
                <a:cs typeface="Times New Roman" pitchFamily="18" charset="0"/>
              </a:rPr>
              <a:t>anthropology: study of origin and development of human society and culture)</a:t>
            </a:r>
          </a:p>
          <a:p>
            <a:pPr algn="just" eaLnBrk="1" hangingPunct="1">
              <a:lnSpc>
                <a:spcPct val="120000"/>
              </a:lnSpc>
            </a:pPr>
            <a:r>
              <a:rPr lang="en-US" sz="1500" dirty="0" smtClean="0">
                <a:latin typeface="Verdana" pitchFamily="34" charset="0"/>
                <a:cs typeface="Times New Roman" pitchFamily="18" charset="0"/>
              </a:rPr>
              <a:t>At the same time designers in many different fields found they had to deal with interactive products and components, and in 1989 the first computer-related design course was established at the Royal College of Art in London…. The beginning of interaction design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bwMode="auto">
          <a:xfrm>
            <a:off x="400852" y="764704"/>
            <a:ext cx="8229600" cy="64807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Being digital</a:t>
            </a:r>
          </a:p>
        </p:txBody>
      </p:sp>
      <p:sp>
        <p:nvSpPr>
          <p:cNvPr id="23554" name="Text Placeholder 2"/>
          <p:cNvSpPr>
            <a:spLocks noGrp="1"/>
          </p:cNvSpPr>
          <p:nvPr>
            <p:ph type="body" idx="1"/>
          </p:nvPr>
        </p:nvSpPr>
        <p:spPr bwMode="auto">
          <a:xfrm>
            <a:off x="683568" y="1556792"/>
            <a:ext cx="7776864" cy="3917031"/>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In 1995 Nicholas Negroponte, head of the Massachusetts Institute of Technology’s ‘Media Lab’, wrote a book called </a:t>
            </a:r>
            <a:r>
              <a:rPr lang="en-US" sz="1500" i="1" dirty="0" smtClean="0">
                <a:latin typeface="Verdana" pitchFamily="34" charset="0"/>
                <a:cs typeface="Times New Roman" pitchFamily="18" charset="0"/>
              </a:rPr>
              <a:t>Being Digital in which he explored the significance of an era in which we change atoms for bits. </a:t>
            </a:r>
          </a:p>
          <a:p>
            <a:pPr algn="just" eaLnBrk="1" hangingPunct="1">
              <a:lnSpc>
                <a:spcPct val="200000"/>
              </a:lnSpc>
            </a:pPr>
            <a:r>
              <a:rPr lang="en-US" sz="1500" dirty="0" smtClean="0">
                <a:latin typeface="Verdana" pitchFamily="34" charset="0"/>
                <a:cs typeface="Times New Roman" pitchFamily="18" charset="0"/>
              </a:rPr>
              <a:t>We live in a digital age, when all manner of devices represent things using binary digits (bits). </a:t>
            </a:r>
          </a:p>
          <a:p>
            <a:pPr algn="just" eaLnBrk="1" hangingPunct="1">
              <a:lnSpc>
                <a:spcPct val="200000"/>
              </a:lnSpc>
            </a:pPr>
            <a:r>
              <a:rPr lang="en-US" sz="1500" b="1" dirty="0" smtClean="0">
                <a:latin typeface="Verdana" pitchFamily="34" charset="0"/>
                <a:cs typeface="Times New Roman" pitchFamily="18" charset="0"/>
              </a:rPr>
              <a:t>The significance of being digital is that bits are transformable, transmittable and storable using digital technologies.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bwMode="auto">
          <a:xfrm>
            <a:off x="302840" y="476672"/>
            <a:ext cx="8229600" cy="504056"/>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Where are we heading?</a:t>
            </a:r>
          </a:p>
        </p:txBody>
      </p:sp>
      <p:sp>
        <p:nvSpPr>
          <p:cNvPr id="26626" name="Text Placeholder 2"/>
          <p:cNvSpPr>
            <a:spLocks noGrp="1"/>
          </p:cNvSpPr>
          <p:nvPr>
            <p:ph type="body" idx="1"/>
          </p:nvPr>
        </p:nvSpPr>
        <p:spPr bwMode="auto">
          <a:xfrm>
            <a:off x="457200" y="1268760"/>
            <a:ext cx="6211606" cy="4813995"/>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It is a brave person who makes any </a:t>
            </a:r>
            <a:r>
              <a:rPr lang="en-US" sz="1500" b="1" dirty="0" smtClean="0">
                <a:latin typeface="Verdana" pitchFamily="34" charset="0"/>
                <a:cs typeface="Times New Roman" pitchFamily="18" charset="0"/>
              </a:rPr>
              <a:t>strong prediction </a:t>
            </a:r>
            <a:r>
              <a:rPr lang="en-US" sz="1500" dirty="0" smtClean="0">
                <a:latin typeface="Verdana" pitchFamily="34" charset="0"/>
                <a:cs typeface="Times New Roman" pitchFamily="18" charset="0"/>
              </a:rPr>
              <a:t>about where new technologies are headed as there are so many confounding factors</a:t>
            </a:r>
          </a:p>
          <a:p>
            <a:pPr algn="just" eaLnBrk="1" hangingPunct="1">
              <a:lnSpc>
                <a:spcPct val="150000"/>
              </a:lnSpc>
            </a:pPr>
            <a:r>
              <a:rPr lang="en-US" sz="1500" dirty="0" smtClean="0">
                <a:latin typeface="Verdana" pitchFamily="34" charset="0"/>
                <a:cs typeface="Times New Roman" pitchFamily="18" charset="0"/>
              </a:rPr>
              <a:t>It is never just a technology that wins, but </a:t>
            </a:r>
            <a:r>
              <a:rPr lang="en-US" sz="1500" b="1" dirty="0" smtClean="0">
                <a:latin typeface="Verdana" pitchFamily="34" charset="0"/>
                <a:cs typeface="Times New Roman" pitchFamily="18" charset="0"/>
              </a:rPr>
              <a:t>technology linked with a good business</a:t>
            </a:r>
            <a:r>
              <a:rPr lang="en-US" sz="1500" dirty="0" smtClean="0">
                <a:latin typeface="Verdana" pitchFamily="34" charset="0"/>
                <a:cs typeface="Times New Roman" pitchFamily="18" charset="0"/>
              </a:rPr>
              <a:t> model linked with timing.  </a:t>
            </a:r>
          </a:p>
          <a:p>
            <a:pPr algn="just" eaLnBrk="1" hangingPunct="1">
              <a:lnSpc>
                <a:spcPct val="150000"/>
              </a:lnSpc>
            </a:pPr>
            <a:r>
              <a:rPr lang="en-US" sz="1500" dirty="0" smtClean="0">
                <a:latin typeface="Verdana" pitchFamily="34" charset="0"/>
                <a:cs typeface="Times New Roman" pitchFamily="18" charset="0"/>
              </a:rPr>
              <a:t>Don Norman delivers an interesting insight into both the past and future of technologies in his book </a:t>
            </a:r>
            <a:r>
              <a:rPr lang="en-US" sz="1500" i="1" dirty="0" smtClean="0">
                <a:latin typeface="Verdana" pitchFamily="34" charset="0"/>
                <a:cs typeface="Times New Roman" pitchFamily="18" charset="0"/>
              </a:rPr>
              <a:t>The Invisible Computer (1999). </a:t>
            </a:r>
          </a:p>
          <a:p>
            <a:pPr algn="just" eaLnBrk="1" hangingPunct="1">
              <a:lnSpc>
                <a:spcPct val="150000"/>
              </a:lnSpc>
            </a:pPr>
            <a:r>
              <a:rPr lang="en-US" sz="1500" dirty="0" smtClean="0">
                <a:latin typeface="Verdana" pitchFamily="34" charset="0"/>
                <a:cs typeface="Times New Roman" pitchFamily="18" charset="0"/>
              </a:rPr>
              <a:t>Discussing such things as why VHF video format succeeded over Betamax and why Edison’s phonograph was not as successful as Emile Berliner’s, he takes us forward to something he calls ‘information appliances’.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7164" y="2204864"/>
            <a:ext cx="2166688" cy="230425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bwMode="auto">
          <a:xfrm>
            <a:off x="179512" y="692696"/>
            <a:ext cx="8229600"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Here we are</a:t>
            </a:r>
          </a:p>
        </p:txBody>
      </p:sp>
      <p:sp>
        <p:nvSpPr>
          <p:cNvPr id="30722" name="Text Placeholder 2"/>
          <p:cNvSpPr>
            <a:spLocks noGrp="1"/>
          </p:cNvSpPr>
          <p:nvPr>
            <p:ph type="body" idx="1"/>
          </p:nvPr>
        </p:nvSpPr>
        <p:spPr bwMode="auto">
          <a:xfrm>
            <a:off x="611560" y="1401701"/>
            <a:ext cx="7951912"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What we </a:t>
            </a:r>
            <a:r>
              <a:rPr lang="en-US" sz="1500" b="1" dirty="0" smtClean="0">
                <a:latin typeface="Verdana" pitchFamily="34" charset="0"/>
                <a:cs typeface="Times New Roman" pitchFamily="18" charset="0"/>
              </a:rPr>
              <a:t>do know </a:t>
            </a:r>
            <a:r>
              <a:rPr lang="en-US" sz="1500" dirty="0" smtClean="0">
                <a:latin typeface="Verdana" pitchFamily="34" charset="0"/>
                <a:cs typeface="Times New Roman" pitchFamily="18" charset="0"/>
              </a:rPr>
              <a:t>is that new products, business models, services and a range of other features will rapidly come into the world and the interactive systems designer has to be ready to cope. </a:t>
            </a:r>
          </a:p>
          <a:p>
            <a:pPr algn="just" eaLnBrk="1" hangingPunct="1">
              <a:lnSpc>
                <a:spcPct val="150000"/>
              </a:lnSpc>
            </a:pPr>
            <a:r>
              <a:rPr lang="en-US" sz="1500" dirty="0" smtClean="0">
                <a:latin typeface="Verdana" pitchFamily="34" charset="0"/>
                <a:cs typeface="Times New Roman" pitchFamily="18" charset="0"/>
              </a:rPr>
              <a:t>Whether information appliances is just one of many directions that the future takes, we will have to see. </a:t>
            </a:r>
          </a:p>
          <a:p>
            <a:pPr algn="just" eaLnBrk="1" hangingPunct="1">
              <a:lnSpc>
                <a:spcPct val="150000"/>
              </a:lnSpc>
            </a:pPr>
            <a:r>
              <a:rPr lang="en-US" sz="1500" dirty="0" smtClean="0">
                <a:latin typeface="Verdana" pitchFamily="34" charset="0"/>
                <a:cs typeface="Times New Roman" pitchFamily="18" charset="0"/>
              </a:rPr>
              <a:t>In </a:t>
            </a:r>
            <a:r>
              <a:rPr lang="en-US" sz="1500" b="1" dirty="0" smtClean="0">
                <a:latin typeface="Verdana" pitchFamily="34" charset="0"/>
                <a:cs typeface="Times New Roman" pitchFamily="18" charset="0"/>
              </a:rPr>
              <a:t>Microsoft’s vision of HCI </a:t>
            </a:r>
            <a:r>
              <a:rPr lang="en-US" sz="1500" dirty="0" smtClean="0">
                <a:latin typeface="Verdana" pitchFamily="34" charset="0"/>
                <a:cs typeface="Times New Roman" pitchFamily="18" charset="0"/>
              </a:rPr>
              <a:t>in 2020 (Microsoft, 2008) they argue ‘HCI needs to move forward from concerns about the production and processing of information toward the design and evaluation of systems that enable human values to be achieved’ (p. 77).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bwMode="auto">
          <a:xfrm>
            <a:off x="323528" y="332656"/>
            <a:ext cx="8229600" cy="41805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800" b="1" dirty="0" smtClean="0">
                <a:latin typeface="Verdana" pitchFamily="34" charset="0"/>
                <a:ea typeface="ヒラギノ角ゴ Pro W3"/>
                <a:cs typeface="ヒラギノ角ゴ Pro W3"/>
              </a:rPr>
              <a:t>What interactive system designers do (tasks of UX designer)</a:t>
            </a:r>
          </a:p>
        </p:txBody>
      </p:sp>
      <p:sp>
        <p:nvSpPr>
          <p:cNvPr id="31746" name="Text Placeholder 2"/>
          <p:cNvSpPr>
            <a:spLocks noGrp="1"/>
          </p:cNvSpPr>
          <p:nvPr>
            <p:ph type="body" idx="1"/>
          </p:nvPr>
        </p:nvSpPr>
        <p:spPr bwMode="auto">
          <a:xfrm>
            <a:off x="179512" y="908720"/>
            <a:ext cx="8568952" cy="5400600"/>
          </a:xfrm>
          <a:noFill/>
          <a:ln>
            <a:miter lim="800000"/>
            <a:headEnd/>
            <a:tailEnd/>
          </a:ln>
        </p:spPr>
        <p:txBody>
          <a:bodyPr vert="horz" wrap="square" lIns="91440" tIns="45720" rIns="91440" bIns="45720" numCol="1" anchor="t" anchorCtr="0" compatLnSpc="1">
            <a:prstTxWarp prst="textNoShape">
              <a:avLst/>
            </a:prstTxWarp>
          </a:bodyPr>
          <a:lstStyle/>
          <a:p>
            <a:pPr marL="457200" lvl="1" indent="0" algn="just" eaLnBrk="1" hangingPunct="1">
              <a:lnSpc>
                <a:spcPct val="200000"/>
              </a:lnSpc>
              <a:buNone/>
            </a:pPr>
            <a:r>
              <a:rPr lang="en-US" sz="1500" dirty="0" smtClean="0">
                <a:latin typeface="Verdana" pitchFamily="34" charset="0"/>
                <a:cs typeface="Times New Roman" pitchFamily="18" charset="0"/>
              </a:rPr>
              <a:t>Designers of interactive systems </a:t>
            </a:r>
            <a:r>
              <a:rPr lang="en-US" sz="1500" b="1" dirty="0" smtClean="0">
                <a:latin typeface="Verdana" pitchFamily="34" charset="0"/>
                <a:cs typeface="Times New Roman" pitchFamily="18" charset="0"/>
              </a:rPr>
              <a:t>need a variety of skills </a:t>
            </a:r>
            <a:r>
              <a:rPr lang="en-US" sz="1500" dirty="0" smtClean="0">
                <a:latin typeface="Verdana" pitchFamily="34" charset="0"/>
                <a:cs typeface="Times New Roman" pitchFamily="18" charset="0"/>
              </a:rPr>
              <a:t>and </a:t>
            </a:r>
            <a:r>
              <a:rPr lang="en-US" sz="1500" b="1" dirty="0" smtClean="0">
                <a:latin typeface="Verdana" pitchFamily="34" charset="0"/>
                <a:cs typeface="Times New Roman" pitchFamily="18" charset="0"/>
              </a:rPr>
              <a:t>need to understand </a:t>
            </a:r>
            <a:r>
              <a:rPr lang="en-US" sz="1500" dirty="0" smtClean="0">
                <a:latin typeface="Verdana" pitchFamily="34" charset="0"/>
                <a:cs typeface="Times New Roman" pitchFamily="18" charset="0"/>
              </a:rPr>
              <a:t>a variety of disciplines if they are to be able to do their jobs well. They need the mixture of skills that allows them to be able to:</a:t>
            </a:r>
          </a:p>
          <a:p>
            <a:pPr lvl="1" algn="just" eaLnBrk="1" hangingPunct="1">
              <a:lnSpc>
                <a:spcPct val="200000"/>
              </a:lnSpc>
            </a:pPr>
            <a:r>
              <a:rPr lang="en-US" sz="1500" b="1" dirty="0" smtClean="0">
                <a:latin typeface="Verdana" pitchFamily="34" charset="0"/>
                <a:cs typeface="Times New Roman" pitchFamily="18" charset="0"/>
              </a:rPr>
              <a:t>study and understand </a:t>
            </a:r>
            <a:r>
              <a:rPr lang="en-US" sz="1500" dirty="0" smtClean="0">
                <a:latin typeface="Verdana" pitchFamily="34" charset="0"/>
                <a:cs typeface="Times New Roman" pitchFamily="18" charset="0"/>
              </a:rPr>
              <a:t>the activities and aspirations of people and the contexts within which some technology might prove useful and hence generate requirements for technologies</a:t>
            </a:r>
          </a:p>
          <a:p>
            <a:pPr lvl="1" algn="just" eaLnBrk="1" hangingPunct="1">
              <a:lnSpc>
                <a:spcPct val="200000"/>
              </a:lnSpc>
            </a:pPr>
            <a:r>
              <a:rPr lang="en-US" sz="1500" b="1" dirty="0" smtClean="0">
                <a:latin typeface="Verdana" pitchFamily="34" charset="0"/>
                <a:cs typeface="Times New Roman" pitchFamily="18" charset="0"/>
              </a:rPr>
              <a:t>know the possibilities </a:t>
            </a:r>
            <a:r>
              <a:rPr lang="en-US" sz="1500" dirty="0" smtClean="0">
                <a:latin typeface="Verdana" pitchFamily="34" charset="0"/>
                <a:cs typeface="Times New Roman" pitchFamily="18" charset="0"/>
              </a:rPr>
              <a:t>offered by technologies</a:t>
            </a:r>
          </a:p>
          <a:p>
            <a:pPr lvl="1" algn="just" eaLnBrk="1" hangingPunct="1">
              <a:lnSpc>
                <a:spcPct val="200000"/>
              </a:lnSpc>
            </a:pPr>
            <a:r>
              <a:rPr lang="en-US" sz="1500" b="1" dirty="0" smtClean="0">
                <a:latin typeface="Verdana" pitchFamily="34" charset="0"/>
                <a:cs typeface="Times New Roman" pitchFamily="18" charset="0"/>
              </a:rPr>
              <a:t>research &amp; design technological solutions </a:t>
            </a:r>
            <a:r>
              <a:rPr lang="en-US" sz="1500" dirty="0" smtClean="0">
                <a:latin typeface="Verdana" pitchFamily="34" charset="0"/>
                <a:cs typeface="Times New Roman" pitchFamily="18" charset="0"/>
              </a:rPr>
              <a:t>that fit in with people, the activities they want to undertake &amp; the contexts in which those activities occur</a:t>
            </a:r>
          </a:p>
          <a:p>
            <a:pPr lvl="1" algn="just" eaLnBrk="1" hangingPunct="1">
              <a:lnSpc>
                <a:spcPct val="200000"/>
              </a:lnSpc>
            </a:pPr>
            <a:r>
              <a:rPr lang="en-US" sz="1500" b="1" dirty="0" smtClean="0">
                <a:latin typeface="Verdana" pitchFamily="34" charset="0"/>
                <a:cs typeface="Times New Roman" pitchFamily="18" charset="0"/>
              </a:rPr>
              <a:t>evaluate </a:t>
            </a:r>
            <a:r>
              <a:rPr lang="en-US" sz="1500" dirty="0" smtClean="0">
                <a:latin typeface="Verdana" pitchFamily="34" charset="0"/>
                <a:cs typeface="Times New Roman" pitchFamily="18" charset="0"/>
              </a:rPr>
              <a:t>alternative designs &amp; iterate (do more research and more design) until a solution is arrived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bwMode="auto">
          <a:xfrm>
            <a:off x="323528" y="274638"/>
            <a:ext cx="8229600" cy="490066"/>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The skills of the interactive systems designer</a:t>
            </a:r>
            <a:endParaRPr lang="en-US" sz="1500" b="1" dirty="0" smtClean="0">
              <a:latin typeface="Verdana" pitchFamily="34" charset="0"/>
            </a:endParaRPr>
          </a:p>
        </p:txBody>
      </p:sp>
      <p:sp>
        <p:nvSpPr>
          <p:cNvPr id="32770" name="Text Placeholder 2"/>
          <p:cNvSpPr>
            <a:spLocks noGrp="1"/>
          </p:cNvSpPr>
          <p:nvPr>
            <p:ph type="body" idx="1"/>
          </p:nvPr>
        </p:nvSpPr>
        <p:spPr bwMode="auto">
          <a:xfrm>
            <a:off x="179512" y="836712"/>
            <a:ext cx="8496944" cy="5472608"/>
          </a:xfrm>
          <a:noFill/>
          <a:ln>
            <a:miter lim="800000"/>
            <a:headEnd/>
            <a:tailEnd/>
          </a:ln>
        </p:spPr>
        <p:txBody>
          <a:bodyPr vert="horz" wrap="square" lIns="91440" tIns="45720" rIns="91440" bIns="45720" numCol="1" anchor="t" anchorCtr="0" compatLnSpc="1">
            <a:prstTxWarp prst="textNoShape">
              <a:avLst/>
            </a:prstTxWarp>
          </a:bodyPr>
          <a:lstStyle/>
          <a:p>
            <a:pPr lvl="1" algn="just" eaLnBrk="1" hangingPunct="1">
              <a:lnSpc>
                <a:spcPct val="150000"/>
              </a:lnSpc>
            </a:pPr>
            <a:r>
              <a:rPr lang="en-US" sz="1500" dirty="0" smtClean="0">
                <a:latin typeface="Verdana" pitchFamily="34" charset="0"/>
                <a:cs typeface="Times New Roman" pitchFamily="18" charset="0"/>
              </a:rPr>
              <a:t>it is often the case that no </a:t>
            </a:r>
            <a:r>
              <a:rPr lang="en-US" sz="1500" b="1" dirty="0" smtClean="0">
                <a:latin typeface="Verdana" pitchFamily="34" charset="0"/>
                <a:cs typeface="Times New Roman" pitchFamily="18" charset="0"/>
              </a:rPr>
              <a:t>single person possesses all the skills needed </a:t>
            </a:r>
            <a:r>
              <a:rPr lang="en-US" sz="1500" dirty="0" smtClean="0">
                <a:latin typeface="Verdana" pitchFamily="34" charset="0"/>
                <a:cs typeface="Times New Roman" pitchFamily="18" charset="0"/>
              </a:rPr>
              <a:t>for some design activity, which is why the design of interactive systems is often an affair for a </a:t>
            </a:r>
            <a:r>
              <a:rPr lang="en-US" sz="1500" b="1" dirty="0" smtClean="0">
                <a:latin typeface="Verdana" pitchFamily="34" charset="0"/>
                <a:cs typeface="Times New Roman" pitchFamily="18" charset="0"/>
              </a:rPr>
              <a:t>design team</a:t>
            </a:r>
            <a:r>
              <a:rPr lang="en-US" sz="1500" dirty="0" smtClean="0">
                <a:latin typeface="Verdana" pitchFamily="34" charset="0"/>
                <a:cs typeface="Times New Roman" pitchFamily="18" charset="0"/>
              </a:rPr>
              <a:t>.</a:t>
            </a:r>
          </a:p>
          <a:p>
            <a:pPr lvl="1" algn="just" eaLnBrk="1" hangingPunct="1">
              <a:lnSpc>
                <a:spcPct val="150000"/>
              </a:lnSpc>
            </a:pPr>
            <a:r>
              <a:rPr lang="en-US" sz="1500" dirty="0" smtClean="0">
                <a:latin typeface="Verdana" pitchFamily="34" charset="0"/>
                <a:cs typeface="Times New Roman" pitchFamily="18" charset="0"/>
              </a:rPr>
              <a:t>An interactive systems designer may be involved in a </a:t>
            </a:r>
            <a:r>
              <a:rPr lang="en-US" sz="1500" b="1" dirty="0" smtClean="0">
                <a:latin typeface="Verdana" pitchFamily="34" charset="0"/>
                <a:cs typeface="Times New Roman" pitchFamily="18" charset="0"/>
              </a:rPr>
              <a:t>community information system project</a:t>
            </a:r>
            <a:r>
              <a:rPr lang="en-US" sz="1500" dirty="0" smtClean="0">
                <a:latin typeface="Verdana" pitchFamily="34" charset="0"/>
                <a:cs typeface="Times New Roman" pitchFamily="18" charset="0"/>
              </a:rPr>
              <a:t> on one occasion</a:t>
            </a:r>
            <a:r>
              <a:rPr lang="en-US" sz="1500" dirty="0">
                <a:latin typeface="Verdana" pitchFamily="34" charset="0"/>
                <a:cs typeface="Times New Roman" pitchFamily="18" charset="0"/>
              </a:rPr>
              <a:t>, designing an app, a website and some promotional </a:t>
            </a:r>
            <a:r>
              <a:rPr lang="en-US" sz="1500" dirty="0" smtClean="0">
                <a:latin typeface="Verdana" pitchFamily="34" charset="0"/>
                <a:cs typeface="Times New Roman" pitchFamily="18" charset="0"/>
              </a:rPr>
              <a:t>materials, a </a:t>
            </a:r>
            <a:r>
              <a:rPr lang="en-US" sz="1500" b="1" dirty="0" smtClean="0">
                <a:latin typeface="Verdana" pitchFamily="34" charset="0"/>
                <a:cs typeface="Times New Roman" pitchFamily="18" charset="0"/>
              </a:rPr>
              <a:t>kiosk</a:t>
            </a:r>
            <a:r>
              <a:rPr lang="en-US" sz="1500" dirty="0" smtClean="0">
                <a:latin typeface="Verdana" pitchFamily="34" charset="0"/>
                <a:cs typeface="Times New Roman" pitchFamily="18" charset="0"/>
              </a:rPr>
              <a:t> for processing photographs, a </a:t>
            </a:r>
            <a:r>
              <a:rPr lang="en-US" sz="1500" b="1" dirty="0" smtClean="0">
                <a:latin typeface="Verdana" pitchFamily="34" charset="0"/>
                <a:cs typeface="Times New Roman" pitchFamily="18" charset="0"/>
              </a:rPr>
              <a:t>database</a:t>
            </a:r>
            <a:r>
              <a:rPr lang="en-US" sz="1500" dirty="0" smtClean="0">
                <a:latin typeface="Verdana" pitchFamily="34" charset="0"/>
                <a:cs typeface="Times New Roman" pitchFamily="18" charset="0"/>
              </a:rPr>
              <a:t> to support a firm of estate agents, and a children’s educational game. Designers of interactive systems </a:t>
            </a:r>
            <a:r>
              <a:rPr lang="en-US" sz="1500" b="1" dirty="0" smtClean="0">
                <a:latin typeface="Verdana" pitchFamily="34" charset="0"/>
                <a:cs typeface="Times New Roman" pitchFamily="18" charset="0"/>
              </a:rPr>
              <a:t>cannot be expert in all these fields</a:t>
            </a:r>
            <a:r>
              <a:rPr lang="en-US" sz="1500" dirty="0" smtClean="0">
                <a:latin typeface="Verdana" pitchFamily="34" charset="0"/>
                <a:cs typeface="Times New Roman" pitchFamily="18" charset="0"/>
              </a:rPr>
              <a:t>, of course</a:t>
            </a:r>
          </a:p>
          <a:p>
            <a:pPr lvl="1" algn="just" eaLnBrk="1" hangingPunct="1">
              <a:lnSpc>
                <a:spcPct val="150000"/>
              </a:lnSpc>
            </a:pPr>
            <a:r>
              <a:rPr lang="en-US" sz="1500" dirty="0" smtClean="0">
                <a:latin typeface="Verdana" pitchFamily="34" charset="0"/>
                <a:cs typeface="Times New Roman" pitchFamily="18" charset="0"/>
              </a:rPr>
              <a:t>but they must be aware enough to be able to take techniques from different areas, or access research in different disciplines when appropriate.</a:t>
            </a:r>
          </a:p>
          <a:p>
            <a:pPr marL="457200" lvl="1" indent="0" algn="just" eaLnBrk="1" hangingPunct="1">
              <a:lnSpc>
                <a:spcPct val="150000"/>
              </a:lnSpc>
              <a:buNone/>
            </a:pPr>
            <a:endParaRPr lang="en-US" sz="1500" dirty="0" smtClean="0">
              <a:latin typeface="Verdana" pitchFamily="34" charset="0"/>
              <a:cs typeface="Times New Roman" pitchFamily="18" charset="0"/>
            </a:endParaRPr>
          </a:p>
          <a:p>
            <a:pPr marL="457200" lvl="1" indent="0" algn="just" eaLnBrk="1" hangingPunct="1">
              <a:lnSpc>
                <a:spcPct val="150000"/>
              </a:lnSpc>
              <a:buNone/>
            </a:pPr>
            <a:r>
              <a:rPr lang="en-US" sz="1500" dirty="0" smtClean="0">
                <a:latin typeface="Verdana" pitchFamily="34" charset="0"/>
                <a:cs typeface="Times New Roman" pitchFamily="18" charset="0"/>
              </a:rPr>
              <a:t>We </a:t>
            </a:r>
            <a:r>
              <a:rPr lang="en-US" sz="1500" b="1" dirty="0" smtClean="0">
                <a:latin typeface="Verdana" pitchFamily="34" charset="0"/>
                <a:cs typeface="Times New Roman" pitchFamily="18" charset="0"/>
              </a:rPr>
              <a:t>group the subjects </a:t>
            </a:r>
            <a:r>
              <a:rPr lang="en-US" sz="1500" dirty="0" smtClean="0">
                <a:latin typeface="Verdana" pitchFamily="34" charset="0"/>
                <a:cs typeface="Times New Roman" pitchFamily="18" charset="0"/>
              </a:rPr>
              <a:t>that contribute to the design of interactive systems under the headings of knowledge of </a:t>
            </a:r>
            <a:r>
              <a:rPr lang="en-US" sz="1500" b="1" dirty="0" smtClean="0">
                <a:latin typeface="Verdana" pitchFamily="34" charset="0"/>
                <a:cs typeface="Times New Roman" pitchFamily="18" charset="0"/>
              </a:rPr>
              <a:t>People, Technologies, Activities &amp; contexts, </a:t>
            </a:r>
            <a:r>
              <a:rPr lang="en-US" sz="1500" dirty="0" smtClean="0">
                <a:latin typeface="Verdana" pitchFamily="34" charset="0"/>
                <a:cs typeface="Times New Roman" pitchFamily="18" charset="0"/>
              </a:rPr>
              <a:t>and</a:t>
            </a:r>
            <a:r>
              <a:rPr lang="en-US" sz="1500" b="1" dirty="0" smtClean="0">
                <a:latin typeface="Verdana" pitchFamily="34" charset="0"/>
                <a:cs typeface="Times New Roman" pitchFamily="18" charset="0"/>
              </a:rPr>
              <a:t> Design.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bwMode="auto">
          <a:xfrm>
            <a:off x="457200" y="188640"/>
            <a:ext cx="8229600" cy="41805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People</a:t>
            </a:r>
          </a:p>
        </p:txBody>
      </p:sp>
      <p:sp>
        <p:nvSpPr>
          <p:cNvPr id="33794" name="Text Placeholder 2"/>
          <p:cNvSpPr>
            <a:spLocks noGrp="1"/>
          </p:cNvSpPr>
          <p:nvPr>
            <p:ph type="body" idx="1"/>
          </p:nvPr>
        </p:nvSpPr>
        <p:spPr bwMode="auto">
          <a:xfrm>
            <a:off x="179512" y="692696"/>
            <a:ext cx="8784976" cy="5472608"/>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400" dirty="0" smtClean="0">
                <a:latin typeface="Verdana" pitchFamily="34" charset="0"/>
                <a:cs typeface="Times New Roman" pitchFamily="18" charset="0"/>
              </a:rPr>
              <a:t>People are social beings, so it is important that the approaches and techniques adopted in the social sciences are used to understand people and technologies. </a:t>
            </a:r>
          </a:p>
          <a:p>
            <a:pPr algn="just" eaLnBrk="1" hangingPunct="1">
              <a:lnSpc>
                <a:spcPct val="150000"/>
              </a:lnSpc>
            </a:pPr>
            <a:r>
              <a:rPr lang="en-US" sz="1400" b="1" dirty="0" smtClean="0">
                <a:latin typeface="Verdana" pitchFamily="34" charset="0"/>
                <a:cs typeface="Times New Roman" pitchFamily="18" charset="0"/>
              </a:rPr>
              <a:t>Sociology</a:t>
            </a:r>
            <a:r>
              <a:rPr lang="en-US" sz="1400" dirty="0" smtClean="0">
                <a:latin typeface="Verdana" pitchFamily="34" charset="0"/>
                <a:cs typeface="Times New Roman" pitchFamily="18" charset="0"/>
              </a:rPr>
              <a:t> is the study of the relationships between people in society, the social, political </a:t>
            </a:r>
            <a:r>
              <a:rPr lang="en-US" sz="1400" dirty="0">
                <a:latin typeface="Verdana" pitchFamily="34" charset="0"/>
                <a:cs typeface="Times New Roman" pitchFamily="18" charset="0"/>
              </a:rPr>
              <a:t>&amp;</a:t>
            </a:r>
            <a:r>
              <a:rPr lang="en-US" sz="1400" dirty="0" smtClean="0">
                <a:latin typeface="Verdana" pitchFamily="34" charset="0"/>
                <a:cs typeface="Times New Roman" pitchFamily="18" charset="0"/>
              </a:rPr>
              <a:t> other groups that they participate in, </a:t>
            </a:r>
            <a:r>
              <a:rPr lang="en-US" sz="1400" dirty="0">
                <a:latin typeface="Verdana" pitchFamily="34" charset="0"/>
                <a:cs typeface="Times New Roman" pitchFamily="18" charset="0"/>
              </a:rPr>
              <a:t>&amp;</a:t>
            </a:r>
            <a:r>
              <a:rPr lang="en-US" sz="1400" dirty="0" smtClean="0">
                <a:latin typeface="Verdana" pitchFamily="34" charset="0"/>
                <a:cs typeface="Times New Roman" pitchFamily="18" charset="0"/>
              </a:rPr>
              <a:t> the settings in which such relationships take place. </a:t>
            </a:r>
          </a:p>
          <a:p>
            <a:pPr algn="just" eaLnBrk="1" hangingPunct="1">
              <a:lnSpc>
                <a:spcPct val="150000"/>
              </a:lnSpc>
            </a:pPr>
            <a:r>
              <a:rPr lang="en-US" sz="1400" b="1" dirty="0" smtClean="0">
                <a:latin typeface="Verdana" pitchFamily="34" charset="0"/>
                <a:cs typeface="Times New Roman" pitchFamily="18" charset="0"/>
              </a:rPr>
              <a:t>Anthropology</a:t>
            </a:r>
            <a:r>
              <a:rPr lang="en-US" sz="1400" dirty="0" smtClean="0">
                <a:latin typeface="Verdana" pitchFamily="34" charset="0"/>
                <a:cs typeface="Times New Roman" pitchFamily="18" charset="0"/>
              </a:rPr>
              <a:t> is similar but focuses also on the study of culture, biology and language and on how these have evolved and changed over time. </a:t>
            </a:r>
          </a:p>
          <a:p>
            <a:pPr algn="just" eaLnBrk="1" hangingPunct="1">
              <a:lnSpc>
                <a:spcPct val="150000"/>
              </a:lnSpc>
            </a:pPr>
            <a:r>
              <a:rPr lang="en-US" sz="1400" dirty="0" smtClean="0">
                <a:latin typeface="Verdana" pitchFamily="34" charset="0"/>
                <a:cs typeface="Times New Roman" pitchFamily="18" charset="0"/>
              </a:rPr>
              <a:t>Both use techniques such as interviews and observation to arrive at their conclusions.</a:t>
            </a:r>
          </a:p>
          <a:p>
            <a:pPr algn="just" eaLnBrk="1" hangingPunct="1">
              <a:lnSpc>
                <a:spcPct val="150000"/>
              </a:lnSpc>
            </a:pPr>
            <a:r>
              <a:rPr lang="en-US" sz="1400" dirty="0">
                <a:latin typeface="Verdana" pitchFamily="34" charset="0"/>
                <a:cs typeface="Times New Roman" pitchFamily="18" charset="0"/>
              </a:rPr>
              <a:t>Also related is </a:t>
            </a:r>
            <a:r>
              <a:rPr lang="en-US" sz="1400" b="1" dirty="0">
                <a:latin typeface="Verdana" pitchFamily="34" charset="0"/>
                <a:cs typeface="Times New Roman" pitchFamily="18" charset="0"/>
              </a:rPr>
              <a:t>cultural studies</a:t>
            </a:r>
            <a:r>
              <a:rPr lang="en-US" sz="1400" dirty="0">
                <a:latin typeface="Verdana" pitchFamily="34" charset="0"/>
                <a:cs typeface="Times New Roman" pitchFamily="18" charset="0"/>
              </a:rPr>
              <a:t>, which looks at people and their relationship with cultural issues such as identity, but also much more simple cultural activities such as shopping, playing computer games or watching TV.</a:t>
            </a:r>
          </a:p>
          <a:p>
            <a:pPr algn="just" eaLnBrk="1" hangingPunct="1">
              <a:lnSpc>
                <a:spcPct val="150000"/>
              </a:lnSpc>
            </a:pPr>
            <a:r>
              <a:rPr lang="en-US" sz="1400" b="1" dirty="0">
                <a:latin typeface="Verdana" pitchFamily="34" charset="0"/>
                <a:cs typeface="Times New Roman" pitchFamily="18" charset="0"/>
              </a:rPr>
              <a:t>Psychology </a:t>
            </a:r>
            <a:r>
              <a:rPr lang="en-US" sz="1400" dirty="0">
                <a:latin typeface="Verdana" pitchFamily="34" charset="0"/>
                <a:cs typeface="Times New Roman" pitchFamily="18" charset="0"/>
              </a:rPr>
              <a:t>is the study of how people think, feel and </a:t>
            </a:r>
            <a:r>
              <a:rPr lang="en-US" sz="1400" dirty="0" smtClean="0">
                <a:latin typeface="Verdana" pitchFamily="34" charset="0"/>
                <a:cs typeface="Times New Roman" pitchFamily="18" charset="0"/>
              </a:rPr>
              <a:t>act. In </a:t>
            </a:r>
            <a:r>
              <a:rPr lang="en-US" sz="1400" dirty="0">
                <a:latin typeface="Verdana" pitchFamily="34" charset="0"/>
                <a:cs typeface="Times New Roman" pitchFamily="18" charset="0"/>
              </a:rPr>
              <a:t>particular, </a:t>
            </a:r>
            <a:r>
              <a:rPr lang="en-US" sz="1400" b="1" dirty="0">
                <a:latin typeface="Verdana" pitchFamily="34" charset="0"/>
                <a:cs typeface="Times New Roman" pitchFamily="18" charset="0"/>
              </a:rPr>
              <a:t>cognitive psychology </a:t>
            </a:r>
            <a:r>
              <a:rPr lang="en-US" sz="1400" dirty="0">
                <a:latin typeface="Verdana" pitchFamily="34" charset="0"/>
                <a:cs typeface="Times New Roman" pitchFamily="18" charset="0"/>
              </a:rPr>
              <a:t>seeks to understand and describe how the brain functions, how language works and how we solve problems. </a:t>
            </a:r>
          </a:p>
          <a:p>
            <a:pPr algn="just" eaLnBrk="1" hangingPunct="1">
              <a:lnSpc>
                <a:spcPct val="150000"/>
              </a:lnSpc>
            </a:pPr>
            <a:r>
              <a:rPr lang="en-US" sz="1400" b="1" dirty="0">
                <a:latin typeface="Verdana" pitchFamily="34" charset="0"/>
                <a:cs typeface="Times New Roman" pitchFamily="18" charset="0"/>
              </a:rPr>
              <a:t>Ergonomics</a:t>
            </a:r>
            <a:r>
              <a:rPr lang="en-US" sz="1400" dirty="0">
                <a:latin typeface="Verdana" pitchFamily="34" charset="0"/>
                <a:cs typeface="Times New Roman" pitchFamily="18" charset="0"/>
              </a:rPr>
              <a:t> is the study of the fit between people and machines. </a:t>
            </a:r>
          </a:p>
          <a:p>
            <a:pPr algn="just" eaLnBrk="1" hangingPunct="1">
              <a:lnSpc>
                <a:spcPct val="150000"/>
              </a:lnSpc>
            </a:pPr>
            <a:r>
              <a:rPr lang="en-US" sz="1400" dirty="0">
                <a:latin typeface="Verdana" pitchFamily="34" charset="0"/>
                <a:cs typeface="Times New Roman" pitchFamily="18" charset="0"/>
              </a:rPr>
              <a:t>In designing interactive systems, the </a:t>
            </a:r>
            <a:r>
              <a:rPr lang="en-US" sz="1400" b="1" dirty="0">
                <a:latin typeface="Verdana" pitchFamily="34" charset="0"/>
                <a:cs typeface="Times New Roman" pitchFamily="18" charset="0"/>
              </a:rPr>
              <a:t>designer will borrow much from each of these disciplines</a:t>
            </a:r>
            <a:r>
              <a:rPr lang="en-US" sz="1400" dirty="0">
                <a:latin typeface="Verdana" pitchFamily="34" charset="0"/>
                <a:cs typeface="Times New Roman" pitchFamily="18" charset="0"/>
              </a:rPr>
              <a:t>, including methods to help understand and design for people</a:t>
            </a:r>
            <a:r>
              <a:rPr lang="en-US" sz="1400" dirty="0" smtClean="0">
                <a:latin typeface="Verdana" pitchFamily="34" charset="0"/>
                <a:cs typeface="Times New Roman" pitchFamily="18" charset="0"/>
              </a:rPr>
              <a:t>.</a:t>
            </a:r>
            <a:endParaRPr lang="en-US" sz="1400" dirty="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bwMode="auto">
          <a:xfrm>
            <a:off x="323528" y="620688"/>
            <a:ext cx="8229600" cy="556029"/>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Technologies</a:t>
            </a:r>
          </a:p>
        </p:txBody>
      </p:sp>
      <p:sp>
        <p:nvSpPr>
          <p:cNvPr id="35842" name="Text Placeholder 2"/>
          <p:cNvSpPr>
            <a:spLocks noGrp="1"/>
          </p:cNvSpPr>
          <p:nvPr>
            <p:ph type="body" idx="1"/>
          </p:nvPr>
        </p:nvSpPr>
        <p:spPr bwMode="auto">
          <a:xfrm>
            <a:off x="457200" y="1268760"/>
            <a:ext cx="8229600" cy="4968552"/>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20000"/>
              </a:lnSpc>
            </a:pPr>
            <a:r>
              <a:rPr lang="en-US" sz="1500" dirty="0" smtClean="0">
                <a:latin typeface="Verdana" pitchFamily="34" charset="0"/>
                <a:cs typeface="Times New Roman" pitchFamily="18" charset="0"/>
              </a:rPr>
              <a:t>The technologies that interactive systems designers need to know about include </a:t>
            </a:r>
            <a:r>
              <a:rPr lang="en-US" sz="1500" b="1" dirty="0" smtClean="0">
                <a:latin typeface="Verdana" pitchFamily="34" charset="0"/>
                <a:cs typeface="Times New Roman" pitchFamily="18" charset="0"/>
              </a:rPr>
              <a:t>both software and hardware. </a:t>
            </a:r>
          </a:p>
          <a:p>
            <a:pPr algn="just" eaLnBrk="1" hangingPunct="1">
              <a:lnSpc>
                <a:spcPct val="120000"/>
              </a:lnSpc>
            </a:pPr>
            <a:r>
              <a:rPr lang="en-US" sz="1500" b="1" dirty="0" smtClean="0">
                <a:latin typeface="Verdana" pitchFamily="34" charset="0"/>
                <a:cs typeface="Times New Roman" pitchFamily="18" charset="0"/>
              </a:rPr>
              <a:t>Software engineering </a:t>
            </a:r>
            <a:r>
              <a:rPr lang="en-US" sz="1500" dirty="0" smtClean="0">
                <a:latin typeface="Verdana" pitchFamily="34" charset="0"/>
                <a:cs typeface="Times New Roman" pitchFamily="18" charset="0"/>
              </a:rPr>
              <a:t>has developed methods for specifying and implementing </a:t>
            </a:r>
            <a:r>
              <a:rPr lang="en-US" sz="1500" b="1" dirty="0" smtClean="0">
                <a:latin typeface="Verdana" pitchFamily="34" charset="0"/>
                <a:cs typeface="Times New Roman" pitchFamily="18" charset="0"/>
              </a:rPr>
              <a:t>computer programs</a:t>
            </a:r>
            <a:r>
              <a:rPr lang="en-US" sz="1500" dirty="0" smtClean="0">
                <a:latin typeface="Verdana" pitchFamily="34" charset="0"/>
                <a:cs typeface="Times New Roman" pitchFamily="18" charset="0"/>
              </a:rPr>
              <a:t>. </a:t>
            </a:r>
          </a:p>
          <a:p>
            <a:pPr algn="just" eaLnBrk="1" hangingPunct="1">
              <a:lnSpc>
                <a:spcPct val="120000"/>
              </a:lnSpc>
            </a:pPr>
            <a:r>
              <a:rPr lang="en-US" sz="1500" dirty="0" smtClean="0">
                <a:latin typeface="Verdana" pitchFamily="34" charset="0"/>
                <a:cs typeface="Times New Roman" pitchFamily="18" charset="0"/>
              </a:rPr>
              <a:t>Programming languages are used to issue instructions to any programmable device such as a phone, computer, robot dog or, soon, earrings, shirts and chairs. </a:t>
            </a:r>
          </a:p>
          <a:p>
            <a:pPr algn="just" eaLnBrk="1" hangingPunct="1">
              <a:lnSpc>
                <a:spcPct val="120000"/>
              </a:lnSpc>
            </a:pPr>
            <a:endParaRPr lang="en-US" sz="1500" dirty="0" smtClean="0">
              <a:latin typeface="Verdana" pitchFamily="34" charset="0"/>
              <a:cs typeface="Times New Roman" pitchFamily="18" charset="0"/>
            </a:endParaRPr>
          </a:p>
          <a:p>
            <a:pPr algn="just" eaLnBrk="1" hangingPunct="1">
              <a:lnSpc>
                <a:spcPct val="120000"/>
              </a:lnSpc>
            </a:pPr>
            <a:r>
              <a:rPr lang="en-US" sz="1500" dirty="0" smtClean="0">
                <a:latin typeface="Verdana" pitchFamily="34" charset="0"/>
                <a:cs typeface="Times New Roman" pitchFamily="18" charset="0"/>
              </a:rPr>
              <a:t>Designers need to be </a:t>
            </a:r>
            <a:r>
              <a:rPr lang="en-US" sz="1500" b="1" dirty="0" smtClean="0">
                <a:latin typeface="Verdana" pitchFamily="34" charset="0"/>
                <a:cs typeface="Times New Roman" pitchFamily="18" charset="0"/>
              </a:rPr>
              <a:t>aware of hardware for sensing different types of data </a:t>
            </a:r>
            <a:r>
              <a:rPr lang="en-US" sz="1500" dirty="0" smtClean="0">
                <a:latin typeface="Verdana" pitchFamily="34" charset="0"/>
                <a:cs typeface="Times New Roman" pitchFamily="18" charset="0"/>
              </a:rPr>
              <a:t>(sensors) and for </a:t>
            </a:r>
            <a:r>
              <a:rPr lang="en-US" sz="1500" b="1" dirty="0" smtClean="0">
                <a:latin typeface="Verdana" pitchFamily="34" charset="0"/>
                <a:cs typeface="Times New Roman" pitchFamily="18" charset="0"/>
              </a:rPr>
              <a:t>bringing about some change</a:t>
            </a:r>
            <a:r>
              <a:rPr lang="en-US" sz="1500" dirty="0" smtClean="0">
                <a:latin typeface="Verdana" pitchFamily="34" charset="0"/>
                <a:cs typeface="Times New Roman" pitchFamily="18" charset="0"/>
              </a:rPr>
              <a:t> (actuators, or effectors). </a:t>
            </a:r>
          </a:p>
          <a:p>
            <a:pPr algn="just" eaLnBrk="1" hangingPunct="1">
              <a:lnSpc>
                <a:spcPct val="120000"/>
              </a:lnSpc>
            </a:pPr>
            <a:r>
              <a:rPr lang="en-US" sz="1500" dirty="0" smtClean="0">
                <a:latin typeface="Verdana" pitchFamily="34" charset="0"/>
                <a:cs typeface="Times New Roman" pitchFamily="18" charset="0"/>
              </a:rPr>
              <a:t>There are many different components available that produce many different effects and here </a:t>
            </a:r>
            <a:r>
              <a:rPr lang="en-US" sz="1500" b="1" dirty="0" smtClean="0">
                <a:latin typeface="Verdana" pitchFamily="34" charset="0"/>
                <a:cs typeface="Times New Roman" pitchFamily="18" charset="0"/>
              </a:rPr>
              <a:t>designers will draw upon engineering knowledge, principles and methods. </a:t>
            </a:r>
          </a:p>
          <a:p>
            <a:pPr algn="just" eaLnBrk="1" hangingPunct="1">
              <a:lnSpc>
                <a:spcPct val="120000"/>
              </a:lnSpc>
            </a:pPr>
            <a:r>
              <a:rPr lang="en-US" sz="1500" dirty="0" smtClean="0">
                <a:latin typeface="Verdana" pitchFamily="34" charset="0"/>
                <a:cs typeface="Times New Roman" pitchFamily="18" charset="0"/>
              </a:rPr>
              <a:t>Communication between devices uses </a:t>
            </a:r>
            <a:r>
              <a:rPr lang="en-US" sz="1500" b="1" dirty="0" smtClean="0">
                <a:latin typeface="Verdana" pitchFamily="34" charset="0"/>
                <a:cs typeface="Times New Roman" pitchFamily="18" charset="0"/>
              </a:rPr>
              <a:t>various communication ‘protocols’. </a:t>
            </a:r>
          </a:p>
          <a:p>
            <a:pPr algn="just" eaLnBrk="1" hangingPunct="1">
              <a:lnSpc>
                <a:spcPct val="120000"/>
              </a:lnSpc>
            </a:pPr>
            <a:r>
              <a:rPr lang="en-US" sz="1500" dirty="0" smtClean="0">
                <a:latin typeface="Verdana" pitchFamily="34" charset="0"/>
                <a:cs typeface="Times New Roman" pitchFamily="18" charset="0"/>
              </a:rPr>
              <a:t>Designers need to know </a:t>
            </a:r>
            <a:r>
              <a:rPr lang="en-US" sz="1500" b="1" dirty="0" smtClean="0">
                <a:latin typeface="Verdana" pitchFamily="34" charset="0"/>
                <a:cs typeface="Times New Roman" pitchFamily="18" charset="0"/>
              </a:rPr>
              <a:t>how different devices can communicate.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bwMode="auto">
          <a:xfrm>
            <a:off x="458823" y="443846"/>
            <a:ext cx="8229600" cy="542967"/>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Activities and contexts</a:t>
            </a:r>
          </a:p>
        </p:txBody>
      </p:sp>
      <p:sp>
        <p:nvSpPr>
          <p:cNvPr id="36866" name="Text Placeholder 2"/>
          <p:cNvSpPr>
            <a:spLocks noGrp="1"/>
          </p:cNvSpPr>
          <p:nvPr>
            <p:ph type="body" idx="1"/>
          </p:nvPr>
        </p:nvSpPr>
        <p:spPr bwMode="auto">
          <a:xfrm>
            <a:off x="457200" y="1063277"/>
            <a:ext cx="8229600" cy="5174035"/>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Interaction will usually </a:t>
            </a:r>
            <a:r>
              <a:rPr lang="en-US" sz="1500" b="1" dirty="0" smtClean="0">
                <a:latin typeface="Verdana" pitchFamily="34" charset="0"/>
                <a:cs typeface="Times New Roman" pitchFamily="18" charset="0"/>
              </a:rPr>
              <a:t>take place in the context of some ‘community of practice’. </a:t>
            </a:r>
            <a:r>
              <a:rPr lang="en-US" sz="1500" dirty="0" smtClean="0">
                <a:latin typeface="Verdana" pitchFamily="34" charset="0"/>
                <a:cs typeface="Times New Roman" pitchFamily="18" charset="0"/>
              </a:rPr>
              <a:t>This term is used to </a:t>
            </a:r>
            <a:r>
              <a:rPr lang="en-US" sz="1500" b="1" dirty="0" smtClean="0">
                <a:latin typeface="Verdana" pitchFamily="34" charset="0"/>
                <a:cs typeface="Times New Roman" pitchFamily="18" charset="0"/>
              </a:rPr>
              <a:t>denote groups of people </a:t>
            </a:r>
            <a:r>
              <a:rPr lang="en-US" sz="1500" dirty="0" smtClean="0">
                <a:latin typeface="Verdana" pitchFamily="34" charset="0"/>
                <a:cs typeface="Times New Roman" pitchFamily="18" charset="0"/>
              </a:rPr>
              <a:t>who have shared interests and values and engage in similar activities. </a:t>
            </a:r>
          </a:p>
          <a:p>
            <a:pPr algn="just" eaLnBrk="1" hangingPunct="1">
              <a:lnSpc>
                <a:spcPct val="150000"/>
              </a:lnSpc>
            </a:pPr>
            <a:r>
              <a:rPr lang="en-US" sz="1500" dirty="0" smtClean="0">
                <a:latin typeface="Verdana" pitchFamily="34" charset="0"/>
                <a:cs typeface="Times New Roman" pitchFamily="18" charset="0"/>
              </a:rPr>
              <a:t>In business communities and organizations information systems methods have developed over the years to ensure information systems are developed that are effective and meet the needs of people who work there. </a:t>
            </a:r>
          </a:p>
          <a:p>
            <a:pPr algn="just" eaLnBrk="1" hangingPunct="1">
              <a:lnSpc>
                <a:spcPct val="150000"/>
              </a:lnSpc>
            </a:pPr>
            <a:r>
              <a:rPr lang="en-US" sz="1500" dirty="0" smtClean="0">
                <a:latin typeface="Verdana" pitchFamily="34" charset="0"/>
                <a:cs typeface="Times New Roman" pitchFamily="18" charset="0"/>
              </a:rPr>
              <a:t>In particular, soft systems theory (</a:t>
            </a:r>
            <a:r>
              <a:rPr lang="en-US" sz="1500" dirty="0" err="1" smtClean="0">
                <a:latin typeface="Verdana" pitchFamily="34" charset="0"/>
                <a:cs typeface="Times New Roman" pitchFamily="18" charset="0"/>
              </a:rPr>
              <a:t>Checkland</a:t>
            </a:r>
            <a:r>
              <a:rPr lang="en-US" sz="1500" dirty="0" smtClean="0">
                <a:latin typeface="Verdana" pitchFamily="34" charset="0"/>
                <a:cs typeface="Times New Roman" pitchFamily="18" charset="0"/>
              </a:rPr>
              <a:t> and Scholes, 1999) provides a very useful framework for focusing on the design of interactive systems. </a:t>
            </a:r>
          </a:p>
          <a:p>
            <a:pPr algn="just" eaLnBrk="1" hangingPunct="1">
              <a:lnSpc>
                <a:spcPct val="150000"/>
              </a:lnSpc>
            </a:pPr>
            <a:r>
              <a:rPr lang="en-US" sz="1500" b="1" dirty="0" smtClean="0">
                <a:latin typeface="Verdana" pitchFamily="34" charset="0"/>
                <a:cs typeface="Times New Roman" pitchFamily="18" charset="0"/>
              </a:rPr>
              <a:t>Social and organizational psychology are needed </a:t>
            </a:r>
            <a:r>
              <a:rPr lang="en-US" sz="1500" dirty="0" smtClean="0">
                <a:latin typeface="Verdana" pitchFamily="34" charset="0"/>
                <a:cs typeface="Times New Roman" pitchFamily="18" charset="0"/>
              </a:rPr>
              <a:t>to look at the effects of technological change on organizations, and recently </a:t>
            </a:r>
            <a:r>
              <a:rPr lang="en-US" sz="1500" b="1" dirty="0" smtClean="0">
                <a:latin typeface="Verdana" pitchFamily="34" charset="0"/>
                <a:cs typeface="Times New Roman" pitchFamily="18" charset="0"/>
              </a:rPr>
              <a:t>knowledge management and social computing </a:t>
            </a:r>
            <a:r>
              <a:rPr lang="en-US" sz="1500" dirty="0" smtClean="0">
                <a:latin typeface="Verdana" pitchFamily="34" charset="0"/>
                <a:cs typeface="Times New Roman" pitchFamily="18" charset="0"/>
              </a:rPr>
              <a:t>have become important areas. </a:t>
            </a:r>
          </a:p>
          <a:p>
            <a:pPr algn="just" eaLnBrk="1" hangingPunct="1">
              <a:lnSpc>
                <a:spcPct val="150000"/>
              </a:lnSpc>
            </a:pPr>
            <a:r>
              <a:rPr lang="en-US" sz="1500" dirty="0" smtClean="0">
                <a:latin typeface="Verdana" pitchFamily="34" charset="0"/>
                <a:cs typeface="Times New Roman" pitchFamily="18" charset="0"/>
              </a:rPr>
              <a:t>Finally, </a:t>
            </a:r>
            <a:r>
              <a:rPr lang="en-US" sz="1500" b="1" dirty="0" smtClean="0">
                <a:latin typeface="Verdana" pitchFamily="34" charset="0"/>
                <a:cs typeface="Times New Roman" pitchFamily="18" charset="0"/>
              </a:rPr>
              <a:t>new technologies offer new opportunities </a:t>
            </a:r>
            <a:r>
              <a:rPr lang="en-US" sz="1500" dirty="0" smtClean="0">
                <a:latin typeface="Verdana" pitchFamily="34" charset="0"/>
                <a:cs typeface="Times New Roman" pitchFamily="18" charset="0"/>
              </a:rPr>
              <a:t>as business and interactive systems designers find they are sometimes creating whole new ways of working with their designs.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bwMode="auto">
          <a:xfrm>
            <a:off x="323528" y="620688"/>
            <a:ext cx="8229600" cy="64807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Design</a:t>
            </a:r>
          </a:p>
        </p:txBody>
      </p:sp>
      <p:sp>
        <p:nvSpPr>
          <p:cNvPr id="37890" name="Text Placeholder 2"/>
          <p:cNvSpPr>
            <a:spLocks noGrp="1"/>
          </p:cNvSpPr>
          <p:nvPr>
            <p:ph type="body" idx="1"/>
          </p:nvPr>
        </p:nvSpPr>
        <p:spPr bwMode="auto">
          <a:xfrm>
            <a:off x="724744" y="1406245"/>
            <a:ext cx="7828384" cy="425500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b="1" dirty="0" smtClean="0">
                <a:latin typeface="Verdana" pitchFamily="34" charset="0"/>
                <a:cs typeface="Times New Roman" pitchFamily="18" charset="0"/>
              </a:rPr>
              <a:t>Principles and practices of design </a:t>
            </a:r>
            <a:r>
              <a:rPr lang="en-US" sz="1500" dirty="0" smtClean="0">
                <a:latin typeface="Verdana" pitchFamily="34" charset="0"/>
                <a:cs typeface="Times New Roman" pitchFamily="18" charset="0"/>
              </a:rPr>
              <a:t>from all manner of design disciplines are used in designing interactive systems.</a:t>
            </a:r>
          </a:p>
          <a:p>
            <a:pPr algn="just" eaLnBrk="1" hangingPunct="1">
              <a:lnSpc>
                <a:spcPct val="150000"/>
              </a:lnSpc>
            </a:pPr>
            <a:r>
              <a:rPr lang="en-US" sz="1500" b="1" dirty="0" smtClean="0">
                <a:latin typeface="Verdana" pitchFamily="34" charset="0"/>
                <a:cs typeface="Times New Roman" pitchFamily="18" charset="0"/>
              </a:rPr>
              <a:t>Ideas and philosophy </a:t>
            </a:r>
            <a:r>
              <a:rPr lang="en-US" sz="1500" dirty="0" smtClean="0">
                <a:latin typeface="Verdana" pitchFamily="34" charset="0"/>
                <a:cs typeface="Times New Roman" pitchFamily="18" charset="0"/>
              </a:rPr>
              <a:t>from architecture, garden design, interior design, fashion and jewelry design all crop up in various ways and different forms. </a:t>
            </a:r>
          </a:p>
          <a:p>
            <a:pPr algn="just" eaLnBrk="1" hangingPunct="1">
              <a:lnSpc>
                <a:spcPct val="150000"/>
              </a:lnSpc>
            </a:pPr>
            <a:r>
              <a:rPr lang="en-US" sz="1500" dirty="0" smtClean="0">
                <a:latin typeface="Verdana" pitchFamily="34" charset="0"/>
                <a:cs typeface="Times New Roman" pitchFamily="18" charset="0"/>
              </a:rPr>
              <a:t>It is not easy to simply pick up ideas from design disciplines, as much design knowledge is specific to a genre. </a:t>
            </a:r>
          </a:p>
          <a:p>
            <a:pPr algn="just" eaLnBrk="1" hangingPunct="1">
              <a:lnSpc>
                <a:spcPct val="150000"/>
              </a:lnSpc>
            </a:pPr>
            <a:r>
              <a:rPr lang="en-US" sz="1500" b="1" dirty="0" smtClean="0">
                <a:latin typeface="Verdana" pitchFamily="34" charset="0"/>
                <a:cs typeface="Times New Roman" pitchFamily="18" charset="0"/>
              </a:rPr>
              <a:t>Designers need to know </a:t>
            </a:r>
            <a:r>
              <a:rPr lang="en-US" sz="1500" dirty="0" smtClean="0">
                <a:latin typeface="Verdana" pitchFamily="34" charset="0"/>
                <a:cs typeface="Times New Roman" pitchFamily="18" charset="0"/>
              </a:rPr>
              <a:t>the materials they work with and it is likely that more specialist design disciplines will emerge.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bwMode="auto">
          <a:xfrm>
            <a:off x="451480" y="481385"/>
            <a:ext cx="8229600" cy="56663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Design Disciplines</a:t>
            </a:r>
          </a:p>
        </p:txBody>
      </p:sp>
      <p:sp>
        <p:nvSpPr>
          <p:cNvPr id="38914" name="Text Placeholder 2"/>
          <p:cNvSpPr>
            <a:spLocks noGrp="1"/>
          </p:cNvSpPr>
          <p:nvPr>
            <p:ph type="body" idx="1"/>
          </p:nvPr>
        </p:nvSpPr>
        <p:spPr bwMode="auto">
          <a:xfrm>
            <a:off x="457200" y="1279301"/>
            <a:ext cx="8229600"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One such discipline is product design, which is itself changing as it takes on board the nature of interactivity. </a:t>
            </a:r>
          </a:p>
          <a:p>
            <a:pPr algn="just" eaLnBrk="1" hangingPunct="1">
              <a:lnSpc>
                <a:spcPct val="200000"/>
              </a:lnSpc>
            </a:pPr>
            <a:r>
              <a:rPr lang="en-US" sz="1500" b="1" dirty="0" smtClean="0">
                <a:latin typeface="Verdana" pitchFamily="34" charset="0"/>
                <a:cs typeface="Times New Roman" pitchFamily="18" charset="0"/>
              </a:rPr>
              <a:t>Product design</a:t>
            </a:r>
            <a:r>
              <a:rPr lang="en-US" sz="1500" dirty="0" smtClean="0">
                <a:latin typeface="Verdana" pitchFamily="34" charset="0"/>
                <a:cs typeface="Times New Roman" pitchFamily="18" charset="0"/>
              </a:rPr>
              <a:t> is an important contributing discipline to the </a:t>
            </a:r>
            <a:r>
              <a:rPr lang="en-US" sz="1500" b="1" dirty="0" smtClean="0">
                <a:latin typeface="Verdana" pitchFamily="34" charset="0"/>
                <a:cs typeface="Times New Roman" pitchFamily="18" charset="0"/>
              </a:rPr>
              <a:t>skills of the designer of interactive systems</a:t>
            </a:r>
            <a:r>
              <a:rPr lang="en-US" sz="1500" dirty="0" smtClean="0">
                <a:latin typeface="Verdana" pitchFamily="34" charset="0"/>
                <a:cs typeface="Times New Roman" pitchFamily="18" charset="0"/>
              </a:rPr>
              <a:t>. </a:t>
            </a:r>
            <a:r>
              <a:rPr lang="en-US" sz="1500" dirty="0" smtClean="0">
                <a:solidFill>
                  <a:srgbClr val="00B050"/>
                </a:solidFill>
                <a:latin typeface="Verdana" pitchFamily="34" charset="0"/>
                <a:cs typeface="Times New Roman" pitchFamily="18" charset="0"/>
              </a:rPr>
              <a:t>(Designer’s skill)</a:t>
            </a:r>
          </a:p>
          <a:p>
            <a:pPr algn="just" eaLnBrk="1" hangingPunct="1">
              <a:lnSpc>
                <a:spcPct val="200000"/>
              </a:lnSpc>
            </a:pPr>
            <a:r>
              <a:rPr lang="en-US" sz="1500" b="1" dirty="0" smtClean="0">
                <a:latin typeface="Verdana" pitchFamily="34" charset="0"/>
                <a:cs typeface="Times New Roman" pitchFamily="18" charset="0"/>
              </a:rPr>
              <a:t>Graphic design </a:t>
            </a:r>
            <a:r>
              <a:rPr lang="en-US" sz="1500" b="1" dirty="0">
                <a:latin typeface="Verdana" pitchFamily="34" charset="0"/>
                <a:cs typeface="Times New Roman" pitchFamily="18" charset="0"/>
              </a:rPr>
              <a:t>&amp;</a:t>
            </a:r>
            <a:r>
              <a:rPr lang="en-US" sz="1500" b="1" dirty="0" smtClean="0">
                <a:latin typeface="Verdana" pitchFamily="34" charset="0"/>
                <a:cs typeface="Times New Roman" pitchFamily="18" charset="0"/>
              </a:rPr>
              <a:t> information design </a:t>
            </a:r>
            <a:r>
              <a:rPr lang="en-US" sz="1500" dirty="0" smtClean="0">
                <a:latin typeface="Verdana" pitchFamily="34" charset="0"/>
                <a:cs typeface="Times New Roman" pitchFamily="18" charset="0"/>
              </a:rPr>
              <a:t>are mainly important for issues of </a:t>
            </a:r>
            <a:r>
              <a:rPr lang="en-US" sz="1500" b="1" dirty="0" smtClean="0">
                <a:latin typeface="Verdana" pitchFamily="34" charset="0"/>
                <a:cs typeface="Times New Roman" pitchFamily="18" charset="0"/>
              </a:rPr>
              <a:t>information layout and the understandability and aesthetic</a:t>
            </a:r>
            <a:r>
              <a:rPr lang="en-US" sz="1500" dirty="0" smtClean="0">
                <a:latin typeface="Verdana" pitchFamily="34" charset="0"/>
                <a:cs typeface="Times New Roman" pitchFamily="18" charset="0"/>
              </a:rPr>
              <a:t> experience of products. </a:t>
            </a:r>
          </a:p>
          <a:p>
            <a:pPr algn="just" eaLnBrk="1" hangingPunct="1">
              <a:lnSpc>
                <a:spcPct val="200000"/>
              </a:lnSpc>
            </a:pPr>
            <a:r>
              <a:rPr lang="en-US" sz="1500" b="1" dirty="0" smtClean="0">
                <a:latin typeface="Verdana" pitchFamily="34" charset="0"/>
                <a:cs typeface="Times New Roman" pitchFamily="18" charset="0"/>
              </a:rPr>
              <a:t>Human–computer interaction </a:t>
            </a:r>
            <a:r>
              <a:rPr lang="en-US" sz="1500" dirty="0" smtClean="0">
                <a:latin typeface="Verdana" pitchFamily="34" charset="0"/>
                <a:cs typeface="Times New Roman" pitchFamily="18" charset="0"/>
              </a:rPr>
              <a:t>has itself evolved many techniques to ensure that </a:t>
            </a:r>
            <a:r>
              <a:rPr lang="en-US" sz="1500" b="1" dirty="0" smtClean="0">
                <a:latin typeface="Verdana" pitchFamily="34" charset="0"/>
                <a:cs typeface="Times New Roman" pitchFamily="18" charset="0"/>
              </a:rPr>
              <a:t>designs are people-focused</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bwMode="auto">
          <a:xfrm>
            <a:off x="251520" y="562819"/>
            <a:ext cx="8229600" cy="56663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Why being human-</a:t>
            </a:r>
            <a:r>
              <a:rPr lang="en-US" sz="1500" b="1" dirty="0" err="1" smtClean="0">
                <a:latin typeface="Verdana" pitchFamily="34" charset="0"/>
                <a:ea typeface="ヒラギノ角ゴ Pro W3"/>
                <a:cs typeface="ヒラギノ角ゴ Pro W3"/>
              </a:rPr>
              <a:t>centred</a:t>
            </a:r>
            <a:r>
              <a:rPr lang="en-US" sz="1500" b="1" dirty="0" smtClean="0">
                <a:latin typeface="Verdana" pitchFamily="34" charset="0"/>
                <a:ea typeface="ヒラギノ角ゴ Pro W3"/>
                <a:cs typeface="ヒラギノ角ゴ Pro W3"/>
              </a:rPr>
              <a:t> is important</a:t>
            </a:r>
          </a:p>
        </p:txBody>
      </p:sp>
      <p:sp>
        <p:nvSpPr>
          <p:cNvPr id="39938" name="Text Placeholder 2"/>
          <p:cNvSpPr>
            <a:spLocks noGrp="1"/>
          </p:cNvSpPr>
          <p:nvPr>
            <p:ph type="body" idx="1"/>
          </p:nvPr>
        </p:nvSpPr>
        <p:spPr bwMode="auto">
          <a:xfrm>
            <a:off x="457200" y="1419260"/>
            <a:ext cx="8023920"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Being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in design is expensive. </a:t>
            </a:r>
          </a:p>
          <a:p>
            <a:pPr algn="just" eaLnBrk="1" hangingPunct="1">
              <a:lnSpc>
                <a:spcPct val="200000"/>
              </a:lnSpc>
            </a:pPr>
            <a:r>
              <a:rPr lang="en-US" sz="1500" dirty="0" smtClean="0">
                <a:latin typeface="Verdana" pitchFamily="34" charset="0"/>
                <a:cs typeface="Times New Roman" pitchFamily="18" charset="0"/>
              </a:rPr>
              <a:t>It </a:t>
            </a:r>
            <a:r>
              <a:rPr lang="en-US" sz="1500" b="1" dirty="0" smtClean="0">
                <a:latin typeface="Verdana" pitchFamily="34" charset="0"/>
                <a:cs typeface="Times New Roman" pitchFamily="18" charset="0"/>
              </a:rPr>
              <a:t>involves observing </a:t>
            </a:r>
            <a:r>
              <a:rPr lang="en-US" sz="1500" dirty="0" smtClean="0">
                <a:latin typeface="Verdana" pitchFamily="34" charset="0"/>
                <a:cs typeface="Times New Roman" pitchFamily="18" charset="0"/>
              </a:rPr>
              <a:t>people, </a:t>
            </a:r>
            <a:r>
              <a:rPr lang="en-US" sz="1500" b="1" dirty="0" smtClean="0">
                <a:latin typeface="Verdana" pitchFamily="34" charset="0"/>
                <a:cs typeface="Times New Roman" pitchFamily="18" charset="0"/>
              </a:rPr>
              <a:t>talking</a:t>
            </a:r>
            <a:r>
              <a:rPr lang="en-US" sz="1500" dirty="0" smtClean="0">
                <a:latin typeface="Verdana" pitchFamily="34" charset="0"/>
                <a:cs typeface="Times New Roman" pitchFamily="18" charset="0"/>
              </a:rPr>
              <a:t> to people and </a:t>
            </a:r>
            <a:r>
              <a:rPr lang="en-US" sz="1500" b="1" dirty="0" smtClean="0">
                <a:latin typeface="Verdana" pitchFamily="34" charset="0"/>
                <a:cs typeface="Times New Roman" pitchFamily="18" charset="0"/>
              </a:rPr>
              <a:t>trying ideas </a:t>
            </a:r>
            <a:r>
              <a:rPr lang="en-US" sz="1500" dirty="0" smtClean="0">
                <a:latin typeface="Verdana" pitchFamily="34" charset="0"/>
                <a:cs typeface="Times New Roman" pitchFamily="18" charset="0"/>
              </a:rPr>
              <a:t>out with people, and all this </a:t>
            </a:r>
            <a:r>
              <a:rPr lang="en-US" sz="1500" b="1" dirty="0" smtClean="0">
                <a:latin typeface="Verdana" pitchFamily="34" charset="0"/>
                <a:cs typeface="Times New Roman" pitchFamily="18" charset="0"/>
              </a:rPr>
              <a:t>takes time</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Being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is an </a:t>
            </a:r>
            <a:r>
              <a:rPr lang="en-US" sz="1500" b="1" dirty="0" smtClean="0">
                <a:latin typeface="Verdana" pitchFamily="34" charset="0"/>
                <a:cs typeface="Times New Roman" pitchFamily="18" charset="0"/>
              </a:rPr>
              <a:t>additional cost to any project</a:t>
            </a:r>
            <a:r>
              <a:rPr lang="en-US" sz="1500" dirty="0" smtClean="0">
                <a:latin typeface="Verdana" pitchFamily="34" charset="0"/>
                <a:cs typeface="Times New Roman" pitchFamily="18" charset="0"/>
              </a:rPr>
              <a:t>, so businesses rightly ask whether taking so much time to talk to people, produce prototype designs and so on is worthwhile. The answer is a fundamental ‘yes’. </a:t>
            </a:r>
          </a:p>
          <a:p>
            <a:pPr algn="just" eaLnBrk="1" hangingPunct="1">
              <a:lnSpc>
                <a:spcPct val="200000"/>
              </a:lnSpc>
            </a:pPr>
            <a:r>
              <a:rPr lang="en-US" sz="1500" dirty="0" smtClean="0">
                <a:latin typeface="Verdana" pitchFamily="34" charset="0"/>
                <a:cs typeface="Times New Roman" pitchFamily="18" charset="0"/>
              </a:rPr>
              <a:t>Taking a </a:t>
            </a:r>
            <a:r>
              <a:rPr lang="en-US" sz="1500" b="1" dirty="0" smtClean="0">
                <a:latin typeface="Verdana" pitchFamily="34" charset="0"/>
                <a:cs typeface="Times New Roman" pitchFamily="18" charset="0"/>
              </a:rPr>
              <a:t>human-</a:t>
            </a:r>
            <a:r>
              <a:rPr lang="en-US" sz="1500" b="1" dirty="0" err="1" smtClean="0">
                <a:latin typeface="Verdana" pitchFamily="34" charset="0"/>
                <a:cs typeface="Times New Roman" pitchFamily="18" charset="0"/>
              </a:rPr>
              <a:t>centred</a:t>
            </a:r>
            <a:r>
              <a:rPr lang="en-US" sz="1500" b="1" dirty="0" smtClean="0">
                <a:latin typeface="Verdana" pitchFamily="34" charset="0"/>
                <a:cs typeface="Times New Roman" pitchFamily="18" charset="0"/>
              </a:rPr>
              <a:t> approach </a:t>
            </a:r>
            <a:r>
              <a:rPr lang="en-US" sz="1500" dirty="0" smtClean="0">
                <a:latin typeface="Verdana" pitchFamily="34" charset="0"/>
                <a:cs typeface="Times New Roman" pitchFamily="18" charset="0"/>
              </a:rPr>
              <a:t>to the design of interactive systems is </a:t>
            </a:r>
            <a:r>
              <a:rPr lang="en-US" sz="1500" b="1" dirty="0" smtClean="0">
                <a:latin typeface="Verdana" pitchFamily="34" charset="0"/>
                <a:cs typeface="Times New Roman" pitchFamily="18" charset="0"/>
              </a:rPr>
              <a:t>advantageous for a number of reasons</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bwMode="auto">
          <a:xfrm>
            <a:off x="395536" y="332656"/>
            <a:ext cx="8229600" cy="57606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b="1" dirty="0" smtClean="0">
                <a:latin typeface="Verdana" pitchFamily="34" charset="0"/>
                <a:ea typeface="ヒラギノ角ゴ Pro W3"/>
                <a:cs typeface="ヒラギノ角ゴ Pro W3"/>
              </a:rPr>
              <a:t>Return on Investment</a:t>
            </a:r>
          </a:p>
        </p:txBody>
      </p:sp>
      <p:sp>
        <p:nvSpPr>
          <p:cNvPr id="40962" name="Text Placeholder 2"/>
          <p:cNvSpPr>
            <a:spLocks noGrp="1"/>
          </p:cNvSpPr>
          <p:nvPr>
            <p:ph type="body" idx="1"/>
          </p:nvPr>
        </p:nvSpPr>
        <p:spPr bwMode="auto">
          <a:xfrm>
            <a:off x="457200" y="908720"/>
            <a:ext cx="8229600" cy="5256584"/>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William, Bias and Mayhew (2008) provide details of a number of case studies looking at the costs of taking a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approach to interactive systems design and at the benefits that arise. </a:t>
            </a:r>
          </a:p>
          <a:p>
            <a:pPr algn="just" eaLnBrk="1" hangingPunct="1">
              <a:lnSpc>
                <a:spcPct val="150000"/>
              </a:lnSpc>
            </a:pPr>
            <a:r>
              <a:rPr lang="en-US" sz="1500" b="1" dirty="0" smtClean="0">
                <a:latin typeface="Verdana" pitchFamily="34" charset="0"/>
                <a:cs typeface="Times New Roman" pitchFamily="18" charset="0"/>
              </a:rPr>
              <a:t>Paying attention to: </a:t>
            </a:r>
            <a:r>
              <a:rPr lang="en-US" sz="1500" dirty="0" smtClean="0">
                <a:latin typeface="Verdana" pitchFamily="34" charset="0"/>
                <a:cs typeface="Times New Roman" pitchFamily="18" charset="0"/>
              </a:rPr>
              <a:t>the needs of people, to the usability of the product, results in reduced calls to customer help lines, fewer training materials, increased throughput, increased sales and so on.</a:t>
            </a:r>
          </a:p>
          <a:p>
            <a:pPr algn="just" eaLnBrk="1" hangingPunct="1">
              <a:lnSpc>
                <a:spcPct val="150000"/>
              </a:lnSpc>
            </a:pPr>
            <a:r>
              <a:rPr lang="en-US" sz="1500" b="1" dirty="0" smtClean="0">
                <a:latin typeface="Verdana" pitchFamily="34" charset="0"/>
                <a:cs typeface="Times New Roman" pitchFamily="18" charset="0"/>
              </a:rPr>
              <a:t>Involving people </a:t>
            </a:r>
            <a:r>
              <a:rPr lang="en-US" sz="1500" dirty="0" smtClean="0">
                <a:latin typeface="Verdana" pitchFamily="34" charset="0"/>
                <a:cs typeface="Times New Roman" pitchFamily="18" charset="0"/>
              </a:rPr>
              <a:t>closely in the design of their systems will help to ensure acceptability. </a:t>
            </a:r>
          </a:p>
          <a:p>
            <a:pPr algn="just" eaLnBrk="1" hangingPunct="1">
              <a:lnSpc>
                <a:spcPct val="150000"/>
              </a:lnSpc>
            </a:pPr>
            <a:r>
              <a:rPr lang="en-US" sz="1500" dirty="0" smtClean="0">
                <a:latin typeface="Verdana" pitchFamily="34" charset="0"/>
                <a:cs typeface="Times New Roman" pitchFamily="18" charset="0"/>
              </a:rPr>
              <a:t>Systems will be </a:t>
            </a:r>
            <a:r>
              <a:rPr lang="en-US" sz="1500" b="1" dirty="0" smtClean="0">
                <a:latin typeface="Verdana" pitchFamily="34" charset="0"/>
                <a:cs typeface="Times New Roman" pitchFamily="18" charset="0"/>
              </a:rPr>
              <a:t>more effective if they are designed from a human-</a:t>
            </a:r>
            <a:r>
              <a:rPr lang="en-US" sz="1500" b="1"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perspective and people will be more productive. </a:t>
            </a:r>
          </a:p>
          <a:p>
            <a:pPr algn="just" eaLnBrk="1" hangingPunct="1">
              <a:lnSpc>
                <a:spcPct val="150000"/>
              </a:lnSpc>
            </a:pPr>
            <a:r>
              <a:rPr lang="en-US" sz="1500" dirty="0" smtClean="0">
                <a:latin typeface="Verdana" pitchFamily="34" charset="0"/>
                <a:cs typeface="Times New Roman" pitchFamily="18" charset="0"/>
              </a:rPr>
              <a:t>Jared Spool and his company User Interface Engineering have a number of reports demonstrating the </a:t>
            </a:r>
            <a:r>
              <a:rPr lang="en-US" sz="1500" b="1" dirty="0" smtClean="0">
                <a:latin typeface="Verdana" pitchFamily="34" charset="0"/>
                <a:cs typeface="Times New Roman" pitchFamily="18" charset="0"/>
              </a:rPr>
              <a:t>importance of good design </a:t>
            </a:r>
            <a:r>
              <a:rPr lang="en-US" sz="1500" dirty="0" smtClean="0">
                <a:latin typeface="Verdana" pitchFamily="34" charset="0"/>
                <a:cs typeface="Times New Roman" pitchFamily="18" charset="0"/>
              </a:rPr>
              <a:t>to e-commerce and claim that sales can be increased by 225 percent by turning ‘browsers’ into ‘buyers’  (</a:t>
            </a:r>
            <a:r>
              <a:rPr lang="en-US" sz="1300" b="1" dirty="0" smtClean="0">
                <a:latin typeface="Verdana" pitchFamily="34" charset="0"/>
                <a:cs typeface="Times New Roman" pitchFamily="18" charset="0"/>
              </a:rPr>
              <a:t>from searching to buy product</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bwMode="auto">
          <a:xfrm>
            <a:off x="323528" y="457518"/>
            <a:ext cx="8229600" cy="59521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Safety</a:t>
            </a:r>
          </a:p>
        </p:txBody>
      </p:sp>
      <p:sp>
        <p:nvSpPr>
          <p:cNvPr id="41986" name="Text Placeholder 2"/>
          <p:cNvSpPr>
            <a:spLocks noGrp="1"/>
          </p:cNvSpPr>
          <p:nvPr>
            <p:ph type="body" idx="1"/>
          </p:nvPr>
        </p:nvSpPr>
        <p:spPr bwMode="auto">
          <a:xfrm>
            <a:off x="457200" y="1052736"/>
            <a:ext cx="8229600" cy="5040560"/>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In the early 1980s there was an </a:t>
            </a:r>
            <a:r>
              <a:rPr lang="en-US" sz="1500" b="1" dirty="0" smtClean="0">
                <a:latin typeface="Verdana" pitchFamily="34" charset="0"/>
                <a:cs typeface="Times New Roman" pitchFamily="18" charset="0"/>
              </a:rPr>
              <a:t>accident at a nuclear power plant </a:t>
            </a:r>
            <a:r>
              <a:rPr lang="en-US" sz="1500" dirty="0" smtClean="0">
                <a:latin typeface="Verdana" pitchFamily="34" charset="0"/>
                <a:cs typeface="Times New Roman" pitchFamily="18" charset="0"/>
              </a:rPr>
              <a:t>in the USA at Three Mile Island that almost resulted in a ‘meltdown’. </a:t>
            </a:r>
          </a:p>
          <a:p>
            <a:pPr algn="just" eaLnBrk="1" hangingPunct="1">
              <a:lnSpc>
                <a:spcPct val="150000"/>
              </a:lnSpc>
            </a:pPr>
            <a:r>
              <a:rPr lang="en-US" sz="1500" dirty="0" smtClean="0">
                <a:latin typeface="Verdana" pitchFamily="34" charset="0"/>
                <a:cs typeface="Times New Roman" pitchFamily="18" charset="0"/>
              </a:rPr>
              <a:t>Reportedly one of the problems was that the control panel indicated that a valve was closed when it was in fact open, and another indicator was covered by a tag attached to another control</a:t>
            </a:r>
          </a:p>
          <a:p>
            <a:pPr algn="just" eaLnBrk="1" hangingPunct="1">
              <a:lnSpc>
                <a:spcPct val="150000"/>
              </a:lnSpc>
            </a:pPr>
            <a:r>
              <a:rPr lang="en-US" sz="1500" dirty="0" smtClean="0">
                <a:latin typeface="Verdana" pitchFamily="34" charset="0"/>
                <a:cs typeface="Times New Roman" pitchFamily="18" charset="0"/>
              </a:rPr>
              <a:t>Two fundamental design errors – one technical and one organizational – that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design techniques would help to avoid. </a:t>
            </a:r>
          </a:p>
          <a:p>
            <a:pPr algn="just" eaLnBrk="1" hangingPunct="1">
              <a:lnSpc>
                <a:spcPct val="150000"/>
              </a:lnSpc>
            </a:pPr>
            <a:r>
              <a:rPr lang="en-US" sz="1500" dirty="0" smtClean="0">
                <a:latin typeface="Verdana" pitchFamily="34" charset="0"/>
                <a:cs typeface="Times New Roman" pitchFamily="18" charset="0"/>
              </a:rPr>
              <a:t>Other classic horror tales include a number of </a:t>
            </a:r>
            <a:r>
              <a:rPr lang="en-US" sz="1500" b="1" dirty="0" smtClean="0">
                <a:latin typeface="Verdana" pitchFamily="34" charset="0"/>
                <a:cs typeface="Times New Roman" pitchFamily="18" charset="0"/>
              </a:rPr>
              <a:t>plane and train disasters </a:t>
            </a:r>
            <a:r>
              <a:rPr lang="en-US" sz="1500" dirty="0" smtClean="0">
                <a:latin typeface="Verdana" pitchFamily="34" charset="0"/>
                <a:cs typeface="Times New Roman" pitchFamily="18" charset="0"/>
              </a:rPr>
              <a:t>that have been attributed to faulty displays or to operators not understanding or interpreting displays correctly. </a:t>
            </a:r>
          </a:p>
          <a:p>
            <a:pPr algn="just" eaLnBrk="1" hangingPunct="1">
              <a:lnSpc>
                <a:spcPct val="150000"/>
              </a:lnSpc>
            </a:pPr>
            <a:r>
              <a:rPr lang="en-US" sz="1500" b="1" dirty="0" smtClean="0">
                <a:latin typeface="Verdana" pitchFamily="34" charset="0"/>
                <a:cs typeface="Times New Roman" pitchFamily="18" charset="0"/>
              </a:rPr>
              <a:t>Systems have to be designed for people and for contexts. </a:t>
            </a:r>
          </a:p>
          <a:p>
            <a:pPr algn="just" eaLnBrk="1" hangingPunct="1">
              <a:lnSpc>
                <a:spcPct val="150000"/>
              </a:lnSpc>
            </a:pPr>
            <a:r>
              <a:rPr lang="en-US" sz="1500" b="1" dirty="0" smtClean="0">
                <a:latin typeface="Verdana" pitchFamily="34" charset="0"/>
                <a:cs typeface="Times New Roman" pitchFamily="18" charset="0"/>
              </a:rPr>
              <a:t>It is no good claiming ‘human error’ if the design was so bad in the first place that an accident was waiting to happen.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bwMode="auto">
          <a:xfrm>
            <a:off x="374848" y="404664"/>
            <a:ext cx="8229600" cy="595218"/>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Ethics 1</a:t>
            </a:r>
          </a:p>
        </p:txBody>
      </p:sp>
      <p:sp>
        <p:nvSpPr>
          <p:cNvPr id="43010" name="Text Placeholder 2"/>
          <p:cNvSpPr>
            <a:spLocks noGrp="1"/>
          </p:cNvSpPr>
          <p:nvPr>
            <p:ph type="body" idx="1"/>
          </p:nvPr>
        </p:nvSpPr>
        <p:spPr bwMode="auto">
          <a:xfrm>
            <a:off x="416052" y="991269"/>
            <a:ext cx="8311896" cy="5174035"/>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Being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also ensures that designers are truthful and open in their design practice.</a:t>
            </a:r>
          </a:p>
          <a:p>
            <a:pPr algn="just" eaLnBrk="1" hangingPunct="1">
              <a:lnSpc>
                <a:spcPct val="150000"/>
              </a:lnSpc>
            </a:pPr>
            <a:r>
              <a:rPr lang="en-US" sz="1500" dirty="0" smtClean="0">
                <a:latin typeface="Verdana" pitchFamily="34" charset="0"/>
                <a:cs typeface="Times New Roman" pitchFamily="18" charset="0"/>
              </a:rPr>
              <a:t>Now that it is so </a:t>
            </a:r>
            <a:r>
              <a:rPr lang="en-US" sz="1500" b="1" dirty="0" smtClean="0">
                <a:latin typeface="Verdana" pitchFamily="34" charset="0"/>
                <a:cs typeface="Times New Roman" pitchFamily="18" charset="0"/>
              </a:rPr>
              <a:t>easy to collect data </a:t>
            </a:r>
            <a:r>
              <a:rPr lang="en-US" sz="1500" dirty="0" smtClean="0">
                <a:latin typeface="Verdana" pitchFamily="34" charset="0"/>
                <a:cs typeface="Times New Roman" pitchFamily="18" charset="0"/>
              </a:rPr>
              <a:t>and to </a:t>
            </a:r>
            <a:r>
              <a:rPr lang="en-US" sz="1500" b="1" dirty="0" smtClean="0">
                <a:latin typeface="Verdana" pitchFamily="34" charset="0"/>
                <a:cs typeface="Times New Roman" pitchFamily="18" charset="0"/>
              </a:rPr>
              <a:t>use that data for </a:t>
            </a:r>
            <a:r>
              <a:rPr lang="en-US" sz="1500" dirty="0" smtClean="0">
                <a:latin typeface="Verdana" pitchFamily="34" charset="0"/>
                <a:cs typeface="Times New Roman" pitchFamily="18" charset="0"/>
              </a:rPr>
              <a:t>purposes other than what it was intended for, designers need to be ever more watchful. </a:t>
            </a:r>
          </a:p>
          <a:p>
            <a:pPr algn="just" eaLnBrk="1" hangingPunct="1">
              <a:lnSpc>
                <a:spcPct val="150000"/>
              </a:lnSpc>
            </a:pPr>
            <a:r>
              <a:rPr lang="en-US" sz="1500" dirty="0" smtClean="0">
                <a:latin typeface="Verdana" pitchFamily="34" charset="0"/>
                <a:cs typeface="Times New Roman" pitchFamily="18" charset="0"/>
              </a:rPr>
              <a:t>As systems are increasingly </a:t>
            </a:r>
            <a:r>
              <a:rPr lang="en-US" sz="1500" b="1" dirty="0" smtClean="0">
                <a:latin typeface="Verdana" pitchFamily="34" charset="0"/>
                <a:cs typeface="Times New Roman" pitchFamily="18" charset="0"/>
              </a:rPr>
              <a:t>able to connect </a:t>
            </a:r>
            <a:r>
              <a:rPr lang="en-US" sz="1500" dirty="0" smtClean="0">
                <a:latin typeface="Verdana" pitchFamily="34" charset="0"/>
                <a:cs typeface="Times New Roman" pitchFamily="18" charset="0"/>
              </a:rPr>
              <a:t>autonomously (independently) with one another and </a:t>
            </a:r>
            <a:r>
              <a:rPr lang="en-US" sz="1500" b="1" dirty="0" smtClean="0">
                <a:latin typeface="Verdana" pitchFamily="34" charset="0"/>
                <a:cs typeface="Times New Roman" pitchFamily="18" charset="0"/>
              </a:rPr>
              <a:t>share data</a:t>
            </a:r>
            <a:r>
              <a:rPr lang="en-US" sz="1500" dirty="0" smtClean="0">
                <a:latin typeface="Verdana" pitchFamily="34" charset="0"/>
                <a:cs typeface="Times New Roman" pitchFamily="18" charset="0"/>
              </a:rPr>
              <a:t>, it is vital that people </a:t>
            </a:r>
            <a:r>
              <a:rPr lang="en-US" sz="1500" b="1" dirty="0" smtClean="0">
                <a:latin typeface="Verdana" pitchFamily="34" charset="0"/>
                <a:cs typeface="Times New Roman" pitchFamily="18" charset="0"/>
              </a:rPr>
              <a:t>know where the data (</a:t>
            </a:r>
            <a:r>
              <a:rPr lang="en-US" sz="1500" dirty="0" smtClean="0">
                <a:latin typeface="Verdana" pitchFamily="34" charset="0"/>
                <a:cs typeface="Times New Roman" pitchFamily="18" charset="0"/>
              </a:rPr>
              <a:t>that they give) is going and how it might be used.</a:t>
            </a:r>
          </a:p>
          <a:p>
            <a:pPr algn="just" eaLnBrk="1" hangingPunct="1">
              <a:lnSpc>
                <a:spcPct val="150000"/>
              </a:lnSpc>
            </a:pPr>
            <a:r>
              <a:rPr lang="en-US" sz="1500" dirty="0" smtClean="0">
                <a:latin typeface="Verdana" pitchFamily="34" charset="0"/>
                <a:cs typeface="Times New Roman" pitchFamily="18" charset="0"/>
              </a:rPr>
              <a:t>People need to </a:t>
            </a:r>
            <a:r>
              <a:rPr lang="en-US" sz="1500" b="1" dirty="0" smtClean="0">
                <a:latin typeface="Verdana" pitchFamily="34" charset="0"/>
                <a:cs typeface="Times New Roman" pitchFamily="18" charset="0"/>
              </a:rPr>
              <a:t>trust systems </a:t>
            </a:r>
            <a:r>
              <a:rPr lang="en-US" sz="1500" dirty="0" smtClean="0">
                <a:latin typeface="Verdana" pitchFamily="34" charset="0"/>
                <a:cs typeface="Times New Roman" pitchFamily="18" charset="0"/>
              </a:rPr>
              <a:t>and be in a position to </a:t>
            </a:r>
            <a:r>
              <a:rPr lang="en-US" sz="1500" b="1" dirty="0" smtClean="0">
                <a:latin typeface="Verdana" pitchFamily="34" charset="0"/>
                <a:cs typeface="Times New Roman" pitchFamily="18" charset="0"/>
              </a:rPr>
              <a:t>make choices about privacy</a:t>
            </a:r>
            <a:r>
              <a:rPr lang="en-US" sz="1500" dirty="0" smtClean="0">
                <a:latin typeface="Verdana" pitchFamily="34" charset="0"/>
                <a:cs typeface="Times New Roman" pitchFamily="18" charset="0"/>
              </a:rPr>
              <a:t> and how they are </a:t>
            </a:r>
            <a:r>
              <a:rPr lang="en-US" sz="1500" b="1" dirty="0" smtClean="0">
                <a:latin typeface="Verdana" pitchFamily="34" charset="0"/>
                <a:cs typeface="Times New Roman" pitchFamily="18" charset="0"/>
              </a:rPr>
              <a:t>represented.</a:t>
            </a: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issue of intellectual property </a:t>
            </a:r>
            <a:r>
              <a:rPr lang="en-US" sz="1500" dirty="0" smtClean="0">
                <a:latin typeface="Verdana" pitchFamily="34" charset="0"/>
                <a:cs typeface="Times New Roman" pitchFamily="18" charset="0"/>
              </a:rPr>
              <a:t>is another important aspect of ethical design; it is very easy to take an image from a website and use it without giving proper acknowledgement for its source. </a:t>
            </a:r>
          </a:p>
          <a:p>
            <a:pPr algn="just" eaLnBrk="1" hangingPunct="1">
              <a:lnSpc>
                <a:spcPct val="150000"/>
              </a:lnSpc>
            </a:pPr>
            <a:r>
              <a:rPr lang="en-US" sz="1500" dirty="0" smtClean="0">
                <a:latin typeface="Verdana" pitchFamily="34" charset="0"/>
                <a:cs typeface="Times New Roman" pitchFamily="18" charset="0"/>
              </a:rPr>
              <a:t>There are many issues associated with </a:t>
            </a:r>
            <a:r>
              <a:rPr lang="en-US" sz="1500" b="1" dirty="0" smtClean="0">
                <a:latin typeface="Verdana" pitchFamily="34" charset="0"/>
                <a:cs typeface="Times New Roman" pitchFamily="18" charset="0"/>
              </a:rPr>
              <a:t>plagiarism or other dishonest </a:t>
            </a:r>
            <a:r>
              <a:rPr lang="en-US" sz="1500" dirty="0" smtClean="0">
                <a:latin typeface="Verdana" pitchFamily="34" charset="0"/>
                <a:cs typeface="Times New Roman" pitchFamily="18" charset="0"/>
              </a:rPr>
              <a:t>uses of written materials.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bwMode="auto">
          <a:xfrm>
            <a:off x="457200" y="418654"/>
            <a:ext cx="8229600" cy="56207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Ethics 2</a:t>
            </a:r>
          </a:p>
        </p:txBody>
      </p:sp>
      <p:sp>
        <p:nvSpPr>
          <p:cNvPr id="44034" name="Text Placeholder 2"/>
          <p:cNvSpPr>
            <a:spLocks noGrp="1"/>
          </p:cNvSpPr>
          <p:nvPr>
            <p:ph type="body" idx="1"/>
          </p:nvPr>
        </p:nvSpPr>
        <p:spPr bwMode="auto">
          <a:xfrm>
            <a:off x="457200" y="980728"/>
            <a:ext cx="8229600" cy="5328592"/>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b="1" dirty="0" smtClean="0">
                <a:latin typeface="Verdana" pitchFamily="34" charset="0"/>
                <a:cs typeface="Times New Roman" pitchFamily="18" charset="0"/>
              </a:rPr>
              <a:t>Privacy, security, control and honesty </a:t>
            </a:r>
            <a:r>
              <a:rPr lang="en-US" sz="1500" dirty="0" smtClean="0">
                <a:latin typeface="Verdana" pitchFamily="34" charset="0"/>
                <a:cs typeface="Times New Roman" pitchFamily="18" charset="0"/>
              </a:rPr>
              <a:t>are all significant features of the interactive systems designer’s life. </a:t>
            </a:r>
          </a:p>
          <a:p>
            <a:pPr algn="just" eaLnBrk="1" hangingPunct="1">
              <a:lnSpc>
                <a:spcPct val="150000"/>
              </a:lnSpc>
            </a:pPr>
            <a:r>
              <a:rPr lang="en-US" sz="1500" b="1" dirty="0" smtClean="0">
                <a:latin typeface="Verdana" pitchFamily="34" charset="0"/>
                <a:cs typeface="Times New Roman" pitchFamily="18" charset="0"/>
              </a:rPr>
              <a:t>Equality and attention to access </a:t>
            </a:r>
            <a:r>
              <a:rPr lang="en-US" sz="1500" dirty="0" smtClean="0">
                <a:latin typeface="Verdana" pitchFamily="34" charset="0"/>
                <a:cs typeface="Times New Roman" pitchFamily="18" charset="0"/>
              </a:rPr>
              <a:t>are two of the ‘political’ issues that designers must address.</a:t>
            </a:r>
          </a:p>
          <a:p>
            <a:pPr algn="just" eaLnBrk="1" hangingPunct="1">
              <a:lnSpc>
                <a:spcPct val="150000"/>
              </a:lnSpc>
            </a:pPr>
            <a:r>
              <a:rPr lang="en-US" sz="1500" dirty="0" smtClean="0">
                <a:latin typeface="Verdana" pitchFamily="34" charset="0"/>
                <a:cs typeface="Times New Roman" pitchFamily="18" charset="0"/>
              </a:rPr>
              <a:t>As technology changes, so do traditional views and approaches to big moral and ethical questions. </a:t>
            </a:r>
          </a:p>
          <a:p>
            <a:pPr algn="just" eaLnBrk="1" hangingPunct="1">
              <a:lnSpc>
                <a:spcPct val="150000"/>
              </a:lnSpc>
            </a:pPr>
            <a:r>
              <a:rPr lang="en-US" sz="1500" dirty="0" smtClean="0">
                <a:latin typeface="Verdana" pitchFamily="34" charset="0"/>
                <a:cs typeface="Times New Roman" pitchFamily="18" charset="0"/>
              </a:rPr>
              <a:t>There are standards and legal requirements that need to be met by designs. </a:t>
            </a:r>
          </a:p>
          <a:p>
            <a:pPr algn="just" eaLnBrk="1" hangingPunct="1">
              <a:lnSpc>
                <a:spcPct val="150000"/>
              </a:lnSpc>
            </a:pPr>
            <a:r>
              <a:rPr lang="en-US" sz="1500" dirty="0" smtClean="0">
                <a:latin typeface="Verdana" pitchFamily="34" charset="0"/>
                <a:cs typeface="Times New Roman" pitchFamily="18" charset="0"/>
              </a:rPr>
              <a:t>Fundamentally, </a:t>
            </a:r>
            <a:r>
              <a:rPr lang="en-US" sz="1500" b="1" dirty="0" smtClean="0">
                <a:latin typeface="Verdana" pitchFamily="34" charset="0"/>
                <a:cs typeface="Times New Roman" pitchFamily="18" charset="0"/>
              </a:rPr>
              <a:t>ethical design is needed </a:t>
            </a:r>
            <a:r>
              <a:rPr lang="en-US" sz="1500" dirty="0" smtClean="0">
                <a:latin typeface="Verdana" pitchFamily="34" charset="0"/>
                <a:cs typeface="Times New Roman" pitchFamily="18" charset="0"/>
              </a:rPr>
              <a:t>because the systems that are produced </a:t>
            </a:r>
            <a:r>
              <a:rPr lang="en-US" sz="1500" b="1" dirty="0" smtClean="0">
                <a:latin typeface="Verdana" pitchFamily="34" charset="0"/>
                <a:cs typeface="Times New Roman" pitchFamily="18" charset="0"/>
              </a:rPr>
              <a:t>should be easy and enjoyable to use</a:t>
            </a:r>
            <a:r>
              <a:rPr lang="en-US" sz="1500" dirty="0" smtClean="0">
                <a:latin typeface="Verdana" pitchFamily="34" charset="0"/>
                <a:cs typeface="Times New Roman" pitchFamily="18" charset="0"/>
              </a:rPr>
              <a:t>, as they </a:t>
            </a:r>
            <a:r>
              <a:rPr lang="en-US" sz="1500" b="1" dirty="0" smtClean="0">
                <a:latin typeface="Verdana" pitchFamily="34" charset="0"/>
                <a:cs typeface="Times New Roman" pitchFamily="18" charset="0"/>
              </a:rPr>
              <a:t>affect the quality of people’s lives. </a:t>
            </a:r>
          </a:p>
          <a:p>
            <a:pPr algn="just" eaLnBrk="1" hangingPunct="1">
              <a:lnSpc>
                <a:spcPct val="150000"/>
              </a:lnSpc>
            </a:pPr>
            <a:r>
              <a:rPr lang="en-US" sz="1500" dirty="0" smtClean="0">
                <a:latin typeface="Verdana" pitchFamily="34" charset="0"/>
                <a:cs typeface="Times New Roman" pitchFamily="18" charset="0"/>
              </a:rPr>
              <a:t>Designers have </a:t>
            </a:r>
            <a:r>
              <a:rPr lang="en-US" sz="1500" b="1" dirty="0" smtClean="0">
                <a:latin typeface="Verdana" pitchFamily="34" charset="0"/>
                <a:cs typeface="Times New Roman" pitchFamily="18" charset="0"/>
              </a:rPr>
              <a:t>power over other people </a:t>
            </a:r>
            <a:r>
              <a:rPr lang="en-US" sz="1500" dirty="0" smtClean="0">
                <a:latin typeface="Verdana" pitchFamily="34" charset="0"/>
                <a:cs typeface="Times New Roman" pitchFamily="18" charset="0"/>
              </a:rPr>
              <a:t>and </a:t>
            </a:r>
            <a:r>
              <a:rPr lang="en-US" sz="1500" b="1" dirty="0" smtClean="0">
                <a:latin typeface="Verdana" pitchFamily="34" charset="0"/>
                <a:cs typeface="Times New Roman" pitchFamily="18" charset="0"/>
              </a:rPr>
              <a:t>must exercise that power </a:t>
            </a:r>
            <a:r>
              <a:rPr lang="en-US" sz="1500" dirty="0" smtClean="0">
                <a:latin typeface="Verdana" pitchFamily="34" charset="0"/>
                <a:cs typeface="Times New Roman" pitchFamily="18" charset="0"/>
              </a:rPr>
              <a:t>in an ethical fashion. </a:t>
            </a:r>
          </a:p>
          <a:p>
            <a:pPr algn="just" eaLnBrk="1" hangingPunct="1">
              <a:lnSpc>
                <a:spcPct val="150000"/>
              </a:lnSpc>
            </a:pPr>
            <a:r>
              <a:rPr lang="en-US" sz="1500" dirty="0" smtClean="0">
                <a:latin typeface="Verdana" pitchFamily="34" charset="0"/>
                <a:cs typeface="Times New Roman" pitchFamily="18" charset="0"/>
              </a:rPr>
              <a:t>The </a:t>
            </a:r>
            <a:r>
              <a:rPr lang="en-US" sz="1500" b="1" dirty="0">
                <a:latin typeface="Verdana" pitchFamily="34" charset="0"/>
                <a:cs typeface="Times New Roman" pitchFamily="18" charset="0"/>
              </a:rPr>
              <a:t>ACM (Association of Computing </a:t>
            </a:r>
            <a:r>
              <a:rPr lang="en-US" sz="1500" b="1" dirty="0" smtClean="0">
                <a:latin typeface="Verdana" pitchFamily="34" charset="0"/>
                <a:cs typeface="Times New Roman" pitchFamily="18" charset="0"/>
              </a:rPr>
              <a:t>Machinery) </a:t>
            </a:r>
            <a:r>
              <a:rPr lang="en-US" sz="1500" dirty="0" smtClean="0">
                <a:latin typeface="Verdana" pitchFamily="34" charset="0"/>
                <a:cs typeface="Times New Roman" pitchFamily="18" charset="0"/>
              </a:rPr>
              <a:t>code of ethics gives good advice on ethical design.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bwMode="auto">
          <a:xfrm>
            <a:off x="302840" y="562670"/>
            <a:ext cx="8229600" cy="562074"/>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Sustainability</a:t>
            </a:r>
          </a:p>
        </p:txBody>
      </p:sp>
      <p:sp>
        <p:nvSpPr>
          <p:cNvPr id="45058" name="Text Placeholder 2"/>
          <p:cNvSpPr>
            <a:spLocks noGrp="1"/>
          </p:cNvSpPr>
          <p:nvPr>
            <p:ph type="body" idx="1"/>
          </p:nvPr>
        </p:nvSpPr>
        <p:spPr bwMode="auto">
          <a:xfrm>
            <a:off x="457200" y="1279301"/>
            <a:ext cx="8229600" cy="4525963"/>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200000"/>
              </a:lnSpc>
            </a:pPr>
            <a:r>
              <a:rPr lang="en-US" sz="1500" dirty="0" smtClean="0">
                <a:latin typeface="Verdana" pitchFamily="34" charset="0"/>
                <a:cs typeface="Times New Roman" pitchFamily="18" charset="0"/>
              </a:rPr>
              <a:t>Interactive systems have a </a:t>
            </a:r>
            <a:r>
              <a:rPr lang="en-US" sz="1500" b="1" dirty="0" smtClean="0">
                <a:latin typeface="Verdana" pitchFamily="34" charset="0"/>
                <a:cs typeface="Times New Roman" pitchFamily="18" charset="0"/>
              </a:rPr>
              <a:t>big impact on the world</a:t>
            </a:r>
            <a:r>
              <a:rPr lang="en-US" sz="1500" dirty="0" smtClean="0">
                <a:latin typeface="Verdana" pitchFamily="34" charset="0"/>
                <a:cs typeface="Times New Roman" pitchFamily="18" charset="0"/>
              </a:rPr>
              <a:t>, and designers should approach interaction design from the perspective of what is </a:t>
            </a:r>
            <a:r>
              <a:rPr lang="en-US" sz="1500" b="1" dirty="0" smtClean="0">
                <a:latin typeface="Verdana" pitchFamily="34" charset="0"/>
                <a:cs typeface="Times New Roman" pitchFamily="18" charset="0"/>
              </a:rPr>
              <a:t>sustainable. </a:t>
            </a:r>
          </a:p>
          <a:p>
            <a:pPr algn="just" eaLnBrk="1" hangingPunct="1">
              <a:lnSpc>
                <a:spcPct val="200000"/>
              </a:lnSpc>
            </a:pPr>
            <a:r>
              <a:rPr lang="en-US" sz="1500" dirty="0" smtClean="0">
                <a:latin typeface="Verdana" pitchFamily="34" charset="0"/>
                <a:cs typeface="Times New Roman" pitchFamily="18" charset="0"/>
              </a:rPr>
              <a:t>Millions of mobile phones and other devices are thrown away each year and they contain </a:t>
            </a:r>
            <a:r>
              <a:rPr lang="en-US" sz="1500" b="1" dirty="0" smtClean="0">
                <a:latin typeface="Verdana" pitchFamily="34" charset="0"/>
                <a:cs typeface="Times New Roman" pitchFamily="18" charset="0"/>
              </a:rPr>
              <a:t>metals that are potentially dangerous </a:t>
            </a:r>
            <a:r>
              <a:rPr lang="en-US" sz="1500" dirty="0" smtClean="0">
                <a:latin typeface="Verdana" pitchFamily="34" charset="0"/>
                <a:cs typeface="Times New Roman" pitchFamily="18" charset="0"/>
              </a:rPr>
              <a:t>to the environment. </a:t>
            </a:r>
          </a:p>
          <a:p>
            <a:pPr algn="just" eaLnBrk="1" hangingPunct="1">
              <a:lnSpc>
                <a:spcPct val="200000"/>
              </a:lnSpc>
            </a:pPr>
            <a:r>
              <a:rPr lang="en-US" sz="1500" dirty="0" smtClean="0">
                <a:latin typeface="Verdana" pitchFamily="34" charset="0"/>
                <a:cs typeface="Times New Roman" pitchFamily="18" charset="0"/>
              </a:rPr>
              <a:t>Large displays and projectors gobble up power. </a:t>
            </a:r>
          </a:p>
          <a:p>
            <a:pPr algn="just" eaLnBrk="1" hangingPunct="1">
              <a:lnSpc>
                <a:spcPct val="200000"/>
              </a:lnSpc>
            </a:pPr>
            <a:r>
              <a:rPr lang="en-US" sz="1500" b="1" dirty="0" smtClean="0">
                <a:latin typeface="Verdana" pitchFamily="34" charset="0"/>
                <a:cs typeface="Times New Roman" pitchFamily="18" charset="0"/>
              </a:rPr>
              <a:t>Cultures get swamped (bog) </a:t>
            </a:r>
            <a:r>
              <a:rPr lang="en-US" sz="1500" dirty="0" smtClean="0">
                <a:latin typeface="Verdana" pitchFamily="34" charset="0"/>
                <a:cs typeface="Times New Roman" pitchFamily="18" charset="0"/>
              </a:rPr>
              <a:t>by the views and values of the dominant suppliers of hardware and software and local languages die out when all information is in English, Chinese or Hindi. </a:t>
            </a:r>
          </a:p>
          <a:p>
            <a:pPr algn="just" eaLnBrk="1" hangingPunct="1">
              <a:lnSpc>
                <a:spcPct val="200000"/>
              </a:lnSpc>
            </a:pPr>
            <a:r>
              <a:rPr lang="en-US" sz="1500" dirty="0" smtClean="0">
                <a:latin typeface="Verdana" pitchFamily="34" charset="0"/>
                <a:cs typeface="Times New Roman" pitchFamily="18" charset="0"/>
              </a:rPr>
              <a:t>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design </a:t>
            </a:r>
            <a:r>
              <a:rPr lang="en-US" sz="1500" b="1" dirty="0" smtClean="0">
                <a:latin typeface="Verdana" pitchFamily="34" charset="0"/>
                <a:cs typeface="Times New Roman" pitchFamily="18" charset="0"/>
              </a:rPr>
              <a:t>needs to recognize </a:t>
            </a:r>
            <a:r>
              <a:rPr lang="en-US" sz="1500" dirty="0" smtClean="0">
                <a:latin typeface="Verdana" pitchFamily="34" charset="0"/>
                <a:cs typeface="Times New Roman" pitchFamily="18" charset="0"/>
              </a:rPr>
              <a:t>diversity and design to enhance human values.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bwMode="auto">
          <a:xfrm>
            <a:off x="323528" y="314145"/>
            <a:ext cx="8229600" cy="490066"/>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pPr>
            <a:r>
              <a:rPr lang="en-US" sz="1500" dirty="0" smtClean="0">
                <a:latin typeface="Verdana" pitchFamily="34" charset="0"/>
                <a:ea typeface="ヒラギノ角ゴ Pro W3"/>
                <a:cs typeface="ヒラギノ角ゴ Pro W3"/>
              </a:rPr>
              <a:t>Summary </a:t>
            </a:r>
          </a:p>
        </p:txBody>
      </p:sp>
      <p:sp>
        <p:nvSpPr>
          <p:cNvPr id="46082" name="Text Placeholder 2"/>
          <p:cNvSpPr>
            <a:spLocks noGrp="1"/>
          </p:cNvSpPr>
          <p:nvPr>
            <p:ph type="body" idx="1"/>
          </p:nvPr>
        </p:nvSpPr>
        <p:spPr bwMode="auto">
          <a:xfrm>
            <a:off x="457200" y="980728"/>
            <a:ext cx="8229600" cy="5256584"/>
          </a:xfrm>
          <a:noFill/>
          <a:ln>
            <a:miter lim="800000"/>
            <a:headEnd/>
            <a:tailEnd/>
          </a:ln>
        </p:spPr>
        <p:txBody>
          <a:bodyPr vert="horz" wrap="square" lIns="91440" tIns="45720" rIns="91440" bIns="45720" numCol="1" anchor="t" anchorCtr="0" compatLnSpc="1">
            <a:prstTxWarp prst="textNoShape">
              <a:avLst/>
            </a:prstTxWarp>
          </a:bodyPr>
          <a:lstStyle/>
          <a:p>
            <a:pPr algn="just" eaLnBrk="1" hangingPunct="1">
              <a:lnSpc>
                <a:spcPct val="150000"/>
              </a:lnSpc>
            </a:pPr>
            <a:r>
              <a:rPr lang="en-US" sz="1500" dirty="0" smtClean="0">
                <a:latin typeface="Verdana" pitchFamily="34" charset="0"/>
                <a:cs typeface="Times New Roman" pitchFamily="18" charset="0"/>
              </a:rPr>
              <a:t>Designing interactive systems is a </a:t>
            </a:r>
            <a:r>
              <a:rPr lang="en-US" sz="1500" b="1" dirty="0" smtClean="0">
                <a:latin typeface="Verdana" pitchFamily="34" charset="0"/>
                <a:cs typeface="Times New Roman" pitchFamily="18" charset="0"/>
              </a:rPr>
              <a:t>challenging and fascinating discipline </a:t>
            </a:r>
            <a:r>
              <a:rPr lang="en-US" sz="1500" dirty="0" smtClean="0">
                <a:latin typeface="Verdana" pitchFamily="34" charset="0"/>
                <a:cs typeface="Times New Roman" pitchFamily="18" charset="0"/>
              </a:rPr>
              <a:t>because it draws upon and affects so many features of people’s lives. </a:t>
            </a:r>
          </a:p>
          <a:p>
            <a:pPr algn="just" eaLnBrk="1" hangingPunct="1">
              <a:lnSpc>
                <a:spcPct val="150000"/>
              </a:lnSpc>
            </a:pPr>
            <a:r>
              <a:rPr lang="en-US" sz="1500" dirty="0" smtClean="0">
                <a:latin typeface="Verdana" pitchFamily="34" charset="0"/>
                <a:cs typeface="Times New Roman" pitchFamily="18" charset="0"/>
              </a:rPr>
              <a:t>There is a </a:t>
            </a:r>
            <a:r>
              <a:rPr lang="en-US" sz="1500" b="1" dirty="0" smtClean="0">
                <a:latin typeface="Verdana" pitchFamily="34" charset="0"/>
                <a:cs typeface="Times New Roman" pitchFamily="18" charset="0"/>
              </a:rPr>
              <a:t>huge variety of interactive systems and products</a:t>
            </a:r>
            <a:r>
              <a:rPr lang="en-US" sz="1500" dirty="0" smtClean="0">
                <a:latin typeface="Verdana" pitchFamily="34" charset="0"/>
                <a:cs typeface="Times New Roman" pitchFamily="18" charset="0"/>
              </a:rPr>
              <a:t>, from business applications of computers to websites to dedicated information appliances to whole information spaces. </a:t>
            </a:r>
          </a:p>
          <a:p>
            <a:pPr algn="just" eaLnBrk="1" hangingPunct="1">
              <a:lnSpc>
                <a:spcPct val="150000"/>
              </a:lnSpc>
            </a:pPr>
            <a:r>
              <a:rPr lang="en-US" sz="1500" dirty="0" smtClean="0">
                <a:latin typeface="Verdana" pitchFamily="34" charset="0"/>
                <a:cs typeface="Times New Roman" pitchFamily="18" charset="0"/>
              </a:rPr>
              <a:t>Designing interactive systems is </a:t>
            </a:r>
            <a:r>
              <a:rPr lang="en-US" sz="1500" b="1" dirty="0" smtClean="0">
                <a:latin typeface="Verdana" pitchFamily="34" charset="0"/>
                <a:cs typeface="Times New Roman" pitchFamily="18" charset="0"/>
              </a:rPr>
              <a:t>concerned with designing for people </a:t>
            </a:r>
            <a:r>
              <a:rPr lang="en-US" sz="1500" dirty="0" smtClean="0">
                <a:latin typeface="Verdana" pitchFamily="34" charset="0"/>
                <a:cs typeface="Times New Roman" pitchFamily="18" charset="0"/>
              </a:rPr>
              <a:t>using technologies to undertake activities in contexts. </a:t>
            </a:r>
          </a:p>
          <a:p>
            <a:pPr algn="just" eaLnBrk="1" hangingPunct="1">
              <a:lnSpc>
                <a:spcPct val="150000"/>
              </a:lnSpc>
            </a:pPr>
            <a:r>
              <a:rPr lang="en-US" sz="1500" dirty="0" smtClean="0">
                <a:latin typeface="Verdana" pitchFamily="34" charset="0"/>
                <a:cs typeface="Times New Roman" pitchFamily="18" charset="0"/>
              </a:rPr>
              <a:t>Designing interactive </a:t>
            </a:r>
            <a:r>
              <a:rPr lang="en-US" sz="1500" b="1" dirty="0" smtClean="0">
                <a:latin typeface="Verdana" pitchFamily="34" charset="0"/>
                <a:cs typeface="Times New Roman" pitchFamily="18" charset="0"/>
              </a:rPr>
              <a:t>systems needs to be human-</a:t>
            </a:r>
            <a:r>
              <a:rPr lang="en-US" sz="1500" b="1" dirty="0" err="1" smtClean="0">
                <a:latin typeface="Verdana" pitchFamily="34" charset="0"/>
                <a:cs typeface="Times New Roman" pitchFamily="18" charset="0"/>
              </a:rPr>
              <a:t>centred</a:t>
            </a:r>
            <a:r>
              <a:rPr lang="en-US" sz="1500" b="1" dirty="0" smtClean="0">
                <a:latin typeface="Verdana" pitchFamily="34" charset="0"/>
                <a:cs typeface="Times New Roman" pitchFamily="18" charset="0"/>
              </a:rPr>
              <a:t>.</a:t>
            </a:r>
          </a:p>
          <a:p>
            <a:pPr lvl="1" algn="just" eaLnBrk="1" hangingPunct="1">
              <a:lnSpc>
                <a:spcPct val="150000"/>
              </a:lnSpc>
            </a:pPr>
            <a:r>
              <a:rPr lang="en-US" sz="1500" dirty="0" smtClean="0">
                <a:latin typeface="Verdana" pitchFamily="34" charset="0"/>
                <a:cs typeface="Times New Roman" pitchFamily="18" charset="0"/>
              </a:rPr>
              <a:t>It draws upon many different subject areas, including both engineering design and artistic design.</a:t>
            </a:r>
          </a:p>
          <a:p>
            <a:pPr lvl="1" algn="just" eaLnBrk="1" hangingPunct="1">
              <a:lnSpc>
                <a:spcPct val="150000"/>
              </a:lnSpc>
            </a:pPr>
            <a:r>
              <a:rPr lang="en-US" sz="1500" dirty="0" smtClean="0">
                <a:latin typeface="Verdana" pitchFamily="34" charset="0"/>
                <a:cs typeface="Times New Roman" pitchFamily="18" charset="0"/>
              </a:rPr>
              <a:t>It is needed because we live in a digital age when bits are easily transformed and transmitted.</a:t>
            </a:r>
          </a:p>
          <a:p>
            <a:pPr lvl="1" algn="just" eaLnBrk="1" hangingPunct="1">
              <a:lnSpc>
                <a:spcPct val="150000"/>
              </a:lnSpc>
            </a:pPr>
            <a:r>
              <a:rPr lang="en-US" sz="1500" dirty="0" smtClean="0">
                <a:latin typeface="Verdana" pitchFamily="34" charset="0"/>
                <a:cs typeface="Times New Roman" pitchFamily="18" charset="0"/>
              </a:rPr>
              <a:t>It is necessary if we are to have safe, effective and ethical and sustainable design.</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4460</TotalTime>
  <Words>3801</Words>
  <Application>Microsoft Office PowerPoint</Application>
  <PresentationFormat>On-screen Show (4:3)</PresentationFormat>
  <Paragraphs>194</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ヒラギノ角ゴ Pro W3</vt:lpstr>
      <vt:lpstr>Arial</vt:lpstr>
      <vt:lpstr>Calibri</vt:lpstr>
      <vt:lpstr>Times New Roman</vt:lpstr>
      <vt:lpstr>Verdana</vt:lpstr>
      <vt:lpstr>Office Theme</vt:lpstr>
      <vt:lpstr>Designing Interactive Systems:  A Fusion of Skills</vt:lpstr>
      <vt:lpstr>The variety of interactive systems</vt:lpstr>
      <vt:lpstr>Example 1: iPhone</vt:lpstr>
      <vt:lpstr>iPhone </vt:lpstr>
      <vt:lpstr>Example 2: Wii</vt:lpstr>
      <vt:lpstr>Example 3: Second Life</vt:lpstr>
      <vt:lpstr>Summary</vt:lpstr>
      <vt:lpstr>The key concerns of the designer of interactive systems </vt:lpstr>
      <vt:lpstr>Design</vt:lpstr>
      <vt:lpstr>More on Design</vt:lpstr>
      <vt:lpstr> Definition of Design</vt:lpstr>
      <vt:lpstr>Types of Design</vt:lpstr>
      <vt:lpstr>People and technologies</vt:lpstr>
      <vt:lpstr>People and Technologies</vt:lpstr>
      <vt:lpstr>The interface</vt:lpstr>
      <vt:lpstr>The bigger picture</vt:lpstr>
      <vt:lpstr>Being human-centered</vt:lpstr>
      <vt:lpstr>HCI</vt:lpstr>
      <vt:lpstr>Being digital</vt:lpstr>
      <vt:lpstr>Where are we heading?</vt:lpstr>
      <vt:lpstr>Here we are</vt:lpstr>
      <vt:lpstr>What interactive system designers do (tasks of UX designer)</vt:lpstr>
      <vt:lpstr>The skills of the interactive systems designer</vt:lpstr>
      <vt:lpstr>People</vt:lpstr>
      <vt:lpstr>Technologies</vt:lpstr>
      <vt:lpstr>Activities and contexts</vt:lpstr>
      <vt:lpstr>Design</vt:lpstr>
      <vt:lpstr>Design Disciplines</vt:lpstr>
      <vt:lpstr>Why being human-centred is important</vt:lpstr>
      <vt:lpstr>Return on Investment</vt:lpstr>
      <vt:lpstr>Safety</vt:lpstr>
      <vt:lpstr>Ethics 1</vt:lpstr>
      <vt:lpstr>Ethics 2</vt:lpstr>
      <vt:lpstr>Sustainability</vt:lpstr>
      <vt:lpstr>Summary </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interactive systems: A fusion of skills</dc:title>
  <dc:creator>david benyon</dc:creator>
  <cp:lastModifiedBy>SANA</cp:lastModifiedBy>
  <cp:revision>196</cp:revision>
  <dcterms:created xsi:type="dcterms:W3CDTF">2010-01-19T11:59:06Z</dcterms:created>
  <dcterms:modified xsi:type="dcterms:W3CDTF">2025-02-13T06:44:19Z</dcterms:modified>
</cp:coreProperties>
</file>