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313" r:id="rId4"/>
    <p:sldId id="258" r:id="rId5"/>
    <p:sldId id="259" r:id="rId6"/>
    <p:sldId id="260" r:id="rId7"/>
    <p:sldId id="261" r:id="rId8"/>
    <p:sldId id="293" r:id="rId9"/>
    <p:sldId id="264" r:id="rId10"/>
    <p:sldId id="265" r:id="rId11"/>
    <p:sldId id="266" r:id="rId12"/>
    <p:sldId id="315" r:id="rId13"/>
    <p:sldId id="268" r:id="rId14"/>
    <p:sldId id="273" r:id="rId15"/>
    <p:sldId id="274" r:id="rId16"/>
    <p:sldId id="278" r:id="rId17"/>
    <p:sldId id="279" r:id="rId18"/>
    <p:sldId id="314" r:id="rId19"/>
    <p:sldId id="280" r:id="rId20"/>
    <p:sldId id="281" r:id="rId21"/>
    <p:sldId id="282" r:id="rId22"/>
    <p:sldId id="283" r:id="rId23"/>
    <p:sldId id="289" r:id="rId24"/>
    <p:sldId id="291" r:id="rId25"/>
    <p:sldId id="302" r:id="rId2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35" autoAdjust="0"/>
    <p:restoredTop sz="94343" autoAdjust="0"/>
  </p:normalViewPr>
  <p:slideViewPr>
    <p:cSldViewPr snapToObjects="1">
      <p:cViewPr varScale="1">
        <p:scale>
          <a:sx n="69" d="100"/>
          <a:sy n="69" d="100"/>
        </p:scale>
        <p:origin x="1206" y="66"/>
      </p:cViewPr>
      <p:guideLst>
        <p:guide orient="horz" pos="2160"/>
        <p:guide pos="2880"/>
      </p:guideLst>
    </p:cSldViewPr>
  </p:slideViewPr>
  <p:outlineViewPr>
    <p:cViewPr>
      <p:scale>
        <a:sx n="33" d="100"/>
        <a:sy n="33" d="100"/>
      </p:scale>
      <p:origin x="0" y="5461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0DE3BE-B17F-4BA1-9BF1-A4D78B4948B8}" type="datetimeFigureOut">
              <a:rPr lang="en-US" smtClean="0"/>
              <a:t>4/30/2025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6DC2C-911B-4A97-A23B-9FD7361712AE}" type="slidenum">
              <a:rPr lang="en-US" smtClean="0"/>
              <a:t>‹#›</a:t>
            </a:fld>
            <a:endParaRPr lang="en-US"/>
          </a:p>
        </p:txBody>
      </p:sp>
    </p:spTree>
    <p:extLst>
      <p:ext uri="{BB962C8B-B14F-4D97-AF65-F5344CB8AC3E}">
        <p14:creationId xmlns:p14="http://schemas.microsoft.com/office/powerpoint/2010/main" val="363640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B050"/>
                </a:solidFill>
              </a:rPr>
              <a:t>Heuristic evaluation therefore is valuable as </a:t>
            </a:r>
            <a:r>
              <a:rPr lang="en-US" sz="1200" i="1" dirty="0" smtClean="0">
                <a:solidFill>
                  <a:srgbClr val="00B050"/>
                </a:solidFill>
              </a:rPr>
              <a:t>formative </a:t>
            </a:r>
            <a:r>
              <a:rPr lang="en-US" sz="1200" dirty="0" smtClean="0">
                <a:solidFill>
                  <a:srgbClr val="00B050"/>
                </a:solidFill>
              </a:rPr>
              <a:t>evaluation, to help the designer improve the interaction at an early stage. It should not be used as a </a:t>
            </a:r>
            <a:r>
              <a:rPr lang="en-US" sz="1200" i="1" dirty="0" smtClean="0">
                <a:solidFill>
                  <a:srgbClr val="00B050"/>
                </a:solidFill>
              </a:rPr>
              <a:t>summative </a:t>
            </a:r>
            <a:r>
              <a:rPr lang="en-US" sz="1200" dirty="0" smtClean="0">
                <a:solidFill>
                  <a:srgbClr val="00B050"/>
                </a:solidFill>
              </a:rPr>
              <a:t>assessment, to make claims about the usability and other characteristics of a finished product.</a:t>
            </a:r>
            <a:endParaRPr lang="en-US" sz="1200" dirty="0" smtClean="0">
              <a:solidFill>
                <a:srgbClr val="00B050"/>
              </a:solidFill>
              <a:latin typeface="Verdana" pitchFamily="34" charset="0"/>
              <a:cs typeface="Times New Roman" pitchFamily="18" charset="0"/>
            </a:endParaRPr>
          </a:p>
        </p:txBody>
      </p:sp>
      <p:sp>
        <p:nvSpPr>
          <p:cNvPr id="4" name="Slide Number Placeholder 3"/>
          <p:cNvSpPr>
            <a:spLocks noGrp="1"/>
          </p:cNvSpPr>
          <p:nvPr>
            <p:ph type="sldNum" sz="quarter" idx="10"/>
          </p:nvPr>
        </p:nvSpPr>
        <p:spPr/>
        <p:txBody>
          <a:bodyPr/>
          <a:lstStyle/>
          <a:p>
            <a:fld id="{3C76DC2C-911B-4A97-A23B-9FD7361712AE}" type="slidenum">
              <a:rPr lang="en-US" smtClean="0"/>
              <a:t>11</a:t>
            </a:fld>
            <a:endParaRPr lang="en-US"/>
          </a:p>
        </p:txBody>
      </p:sp>
    </p:spTree>
    <p:extLst>
      <p:ext uri="{BB962C8B-B14F-4D97-AF65-F5344CB8AC3E}">
        <p14:creationId xmlns:p14="http://schemas.microsoft.com/office/powerpoint/2010/main" val="3015755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solidFill>
                  <a:srgbClr val="00B050"/>
                </a:solidFill>
              </a:rPr>
              <a:t>Heuristic evaluation therefore is valuable as </a:t>
            </a:r>
            <a:r>
              <a:rPr lang="en-US" sz="1200" i="1" dirty="0" smtClean="0">
                <a:solidFill>
                  <a:srgbClr val="00B050"/>
                </a:solidFill>
              </a:rPr>
              <a:t>formative </a:t>
            </a:r>
            <a:r>
              <a:rPr lang="en-US" sz="1200" dirty="0" smtClean="0">
                <a:solidFill>
                  <a:srgbClr val="00B050"/>
                </a:solidFill>
              </a:rPr>
              <a:t>evaluation, to help the designer improve the interaction at an early stage. It should not be used as a </a:t>
            </a:r>
            <a:r>
              <a:rPr lang="en-US" sz="1200" i="1" dirty="0" smtClean="0">
                <a:solidFill>
                  <a:srgbClr val="00B050"/>
                </a:solidFill>
              </a:rPr>
              <a:t>summative </a:t>
            </a:r>
            <a:r>
              <a:rPr lang="en-US" sz="1200" dirty="0" smtClean="0">
                <a:solidFill>
                  <a:srgbClr val="00B050"/>
                </a:solidFill>
              </a:rPr>
              <a:t>assessment, to make claims about the usability and other characteristics of a finished product.</a:t>
            </a:r>
            <a:endParaRPr lang="en-US" sz="1200" dirty="0" smtClean="0">
              <a:solidFill>
                <a:srgbClr val="00B050"/>
              </a:solidFill>
              <a:latin typeface="Verdana" pitchFamily="34" charset="0"/>
              <a:cs typeface="Times New Roman" pitchFamily="18" charset="0"/>
            </a:endParaRPr>
          </a:p>
        </p:txBody>
      </p:sp>
      <p:sp>
        <p:nvSpPr>
          <p:cNvPr id="4" name="Slide Number Placeholder 3"/>
          <p:cNvSpPr>
            <a:spLocks noGrp="1"/>
          </p:cNvSpPr>
          <p:nvPr>
            <p:ph type="sldNum" sz="quarter" idx="10"/>
          </p:nvPr>
        </p:nvSpPr>
        <p:spPr/>
        <p:txBody>
          <a:bodyPr/>
          <a:lstStyle/>
          <a:p>
            <a:fld id="{3C76DC2C-911B-4A97-A23B-9FD7361712AE}" type="slidenum">
              <a:rPr lang="en-US" smtClean="0"/>
              <a:t>12</a:t>
            </a:fld>
            <a:endParaRPr lang="en-US"/>
          </a:p>
        </p:txBody>
      </p:sp>
    </p:spTree>
    <p:extLst>
      <p:ext uri="{BB962C8B-B14F-4D97-AF65-F5344CB8AC3E}">
        <p14:creationId xmlns:p14="http://schemas.microsoft.com/office/powerpoint/2010/main" val="1603912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6DC2C-911B-4A97-A23B-9FD7361712AE}" type="slidenum">
              <a:rPr lang="en-US" smtClean="0"/>
              <a:t>17</a:t>
            </a:fld>
            <a:endParaRPr lang="en-US"/>
          </a:p>
        </p:txBody>
      </p:sp>
    </p:spTree>
    <p:extLst>
      <p:ext uri="{BB962C8B-B14F-4D97-AF65-F5344CB8AC3E}">
        <p14:creationId xmlns:p14="http://schemas.microsoft.com/office/powerpoint/2010/main" val="2671479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76DC2C-911B-4A97-A23B-9FD7361712AE}" type="slidenum">
              <a:rPr lang="en-US" smtClean="0"/>
              <a:t>18</a:t>
            </a:fld>
            <a:endParaRPr lang="en-US"/>
          </a:p>
        </p:txBody>
      </p:sp>
    </p:spTree>
    <p:extLst>
      <p:ext uri="{BB962C8B-B14F-4D97-AF65-F5344CB8AC3E}">
        <p14:creationId xmlns:p14="http://schemas.microsoft.com/office/powerpoint/2010/main" val="724138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A2E6DCB-1969-438B-BE22-0290E6E575E7}"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1FCB41-A03B-46BC-A0E1-937260F76A8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A86E9E8-BA1D-44E8-B7A6-0AF29BAAC104}"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E6B73E1-4690-4238-B345-0C4F521C3AA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2E3F0A95-E385-4260-AD28-2458324470FC}"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B73477F-934D-4150-A3F2-DC587DD0C32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44051B5-A3B1-4E68-9845-9801005AC2A7}" type="datetimeFigureOut">
              <a:rPr lang="en-US"/>
              <a:pPr>
                <a:defRPr/>
              </a:pPr>
              <a:t>4/30/2025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F6E6CA0-D1E4-417B-9CB0-58EA0792F2A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B20932A3-4074-4F49-8193-585FDF52680B}" type="datetimeFigureOut">
              <a:rPr lang="en-US"/>
              <a:pPr>
                <a:defRPr/>
              </a:pPr>
              <a:t>4/30/2025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84B8881-67CE-4288-9267-F50E966335A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52C10D7-4500-4AEA-BD6D-D8152C9A327F}" type="datetimeFigureOut">
              <a:rPr lang="en-US"/>
              <a:pPr>
                <a:defRPr/>
              </a:pPr>
              <a:t>4/30/2025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AB7E6D6-8BE1-4EE9-A4D3-CFF52EBB95D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D3DA73D-7B0C-4617-AD41-88765D736001}" type="datetimeFigureOut">
              <a:rPr lang="en-US"/>
              <a:pPr>
                <a:defRPr/>
              </a:pPr>
              <a:t>4/30/2025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B256C89-FB61-4E6E-873A-91415F506C6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05538EC-DB00-47D0-AC3E-62BF27550E94}" type="datetimeFigureOut">
              <a:rPr lang="en-US"/>
              <a:pPr>
                <a:defRPr/>
              </a:pPr>
              <a:t>4/30/2025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36D6F77-51CC-4C8D-9F2D-8EA16D01747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34C8AAB-6109-4A70-B2BD-4CA3E30C3E64}" type="datetimeFigureOut">
              <a:rPr lang="en-US"/>
              <a:pPr>
                <a:defRPr/>
              </a:pPr>
              <a:t>4/30/2025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DEAB808-F13B-4E4D-A379-247C59E8777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2490664-8386-4900-BC01-C3E19B3A4071}"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D262245-2CB3-4502-B876-9B803E2EB78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55E108B-936A-449F-B1F8-B55CD1E42CDF}"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6CAFDCF-891A-4667-9A28-E132B99EDEC1}"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33E717C-A581-4825-9AF3-96BAFDEB0A6C}" type="datetimeFigureOut">
              <a:rPr lang="en-US"/>
              <a:pPr>
                <a:defRPr/>
              </a:pPr>
              <a:t>4/30/2025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0D0404E-B4E0-4E2B-A0A8-1A5D84A6CDD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2450D6A-0D3C-4143-9112-6474B0234B7A}" type="datetimeFigureOut">
              <a:rPr lang="en-US"/>
              <a:pPr>
                <a:defRPr/>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05EE6EB-573E-4043-893D-AB24F897D64D}"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683568" y="1196752"/>
            <a:ext cx="7772400" cy="4032448"/>
          </a:xfrm>
        </p:spPr>
        <p:txBody>
          <a:bodyPr/>
          <a:lstStyle/>
          <a:p>
            <a:pPr eaLnBrk="1" hangingPunct="1">
              <a:lnSpc>
                <a:spcPct val="150000"/>
              </a:lnSpc>
            </a:pPr>
            <a:r>
              <a:rPr lang="en-US" sz="2200" b="1" dirty="0" smtClean="0">
                <a:latin typeface="Verdana" pitchFamily="34" charset="0"/>
                <a:cs typeface="Times New Roman" pitchFamily="18" charset="0"/>
              </a:rPr>
              <a:t>Evaluation</a:t>
            </a:r>
            <a:br>
              <a:rPr lang="en-US" sz="2200" b="1" dirty="0" smtClean="0">
                <a:latin typeface="Verdana" pitchFamily="34" charset="0"/>
                <a:cs typeface="Times New Roman" pitchFamily="18" charset="0"/>
              </a:rPr>
            </a:br>
            <a:r>
              <a:rPr lang="en-US" sz="2000" dirty="0" smtClean="0">
                <a:latin typeface="Verdana" pitchFamily="34" charset="0"/>
                <a:cs typeface="Times New Roman" pitchFamily="18" charset="0"/>
              </a:rPr>
              <a:t/>
            </a:r>
            <a:br>
              <a:rPr lang="en-US" sz="2000" dirty="0" smtClean="0">
                <a:latin typeface="Verdana" pitchFamily="34" charset="0"/>
                <a:cs typeface="Times New Roman" pitchFamily="18" charset="0"/>
              </a:rPr>
            </a:br>
            <a:r>
              <a:rPr lang="en-US" sz="2000" dirty="0" smtClean="0">
                <a:latin typeface="Verdana" pitchFamily="34" charset="0"/>
                <a:cs typeface="Times New Roman" pitchFamily="18" charset="0"/>
              </a:rPr>
              <a:t>Introduction To Evaluation</a:t>
            </a:r>
            <a:br>
              <a:rPr lang="en-US" sz="2000" dirty="0" smtClean="0">
                <a:latin typeface="Verdana" pitchFamily="34" charset="0"/>
                <a:cs typeface="Times New Roman" pitchFamily="18" charset="0"/>
              </a:rPr>
            </a:br>
            <a:r>
              <a:rPr lang="en-US" sz="2000" dirty="0" smtClean="0">
                <a:latin typeface="Verdana" pitchFamily="34" charset="0"/>
                <a:cs typeface="Times New Roman" pitchFamily="18" charset="0"/>
              </a:rPr>
              <a:t>Data Analytics</a:t>
            </a:r>
            <a:br>
              <a:rPr lang="en-US" sz="2000" dirty="0" smtClean="0">
                <a:latin typeface="Verdana" pitchFamily="34" charset="0"/>
                <a:cs typeface="Times New Roman" pitchFamily="18" charset="0"/>
              </a:rPr>
            </a:br>
            <a:r>
              <a:rPr lang="en-US" sz="2000" dirty="0" smtClean="0">
                <a:latin typeface="Verdana" pitchFamily="34" charset="0"/>
                <a:cs typeface="Times New Roman" pitchFamily="18" charset="0"/>
              </a:rPr>
              <a:t>Expert Evaluation</a:t>
            </a:r>
            <a:br>
              <a:rPr lang="en-US" sz="2000" dirty="0" smtClean="0">
                <a:latin typeface="Verdana" pitchFamily="34" charset="0"/>
                <a:cs typeface="Times New Roman" pitchFamily="18" charset="0"/>
              </a:rPr>
            </a:br>
            <a:r>
              <a:rPr lang="en-US" sz="2000" dirty="0" smtClean="0">
                <a:latin typeface="Verdana" pitchFamily="34" charset="0"/>
                <a:cs typeface="Times New Roman" pitchFamily="18" charset="0"/>
              </a:rPr>
              <a:t>Participant-based Evaluation</a:t>
            </a:r>
            <a:br>
              <a:rPr lang="en-US" sz="2000" dirty="0" smtClean="0">
                <a:latin typeface="Verdana" pitchFamily="34" charset="0"/>
                <a:cs typeface="Times New Roman" pitchFamily="18" charset="0"/>
              </a:rPr>
            </a:br>
            <a:r>
              <a:rPr lang="en-US" sz="2000" dirty="0" err="1">
                <a:latin typeface="Verdana" pitchFamily="34" charset="0"/>
                <a:cs typeface="Times New Roman" pitchFamily="18" charset="0"/>
              </a:rPr>
              <a:t>Evaluation</a:t>
            </a:r>
            <a:r>
              <a:rPr lang="en-US" sz="2000" dirty="0">
                <a:latin typeface="Verdana" pitchFamily="34" charset="0"/>
                <a:cs typeface="Times New Roman" pitchFamily="18" charset="0"/>
              </a:rPr>
              <a:t> in Practice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457200" y="490662"/>
            <a:ext cx="8229600" cy="490066"/>
          </a:xfrm>
        </p:spPr>
        <p:txBody>
          <a:bodyPr/>
          <a:lstStyle/>
          <a:p>
            <a:pPr eaLnBrk="1" hangingPunct="1">
              <a:lnSpc>
                <a:spcPct val="120000"/>
              </a:lnSpc>
            </a:pPr>
            <a:r>
              <a:rPr lang="en-US" sz="1500" b="1" dirty="0" smtClean="0">
                <a:latin typeface="Verdana" pitchFamily="34" charset="0"/>
                <a:cs typeface="Times New Roman" pitchFamily="18" charset="0"/>
              </a:rPr>
              <a:t>Evaluation</a:t>
            </a:r>
          </a:p>
        </p:txBody>
      </p:sp>
      <p:sp>
        <p:nvSpPr>
          <p:cNvPr id="15362" name="Text Placeholder 2"/>
          <p:cNvSpPr>
            <a:spLocks noGrp="1"/>
          </p:cNvSpPr>
          <p:nvPr>
            <p:ph type="body" idx="1"/>
          </p:nvPr>
        </p:nvSpPr>
        <p:spPr>
          <a:xfrm>
            <a:off x="78080" y="1468282"/>
            <a:ext cx="5286008" cy="4408990"/>
          </a:xfrm>
        </p:spPr>
        <p:txBody>
          <a:bodyPr/>
          <a:lstStyle/>
          <a:p>
            <a:pPr algn="just" eaLnBrk="1" hangingPunct="1">
              <a:lnSpc>
                <a:spcPct val="120000"/>
              </a:lnSpc>
            </a:pPr>
            <a:r>
              <a:rPr lang="en-US" sz="1500" dirty="0" smtClean="0">
                <a:latin typeface="Verdana" pitchFamily="34" charset="0"/>
                <a:cs typeface="Times New Roman" pitchFamily="18" charset="0"/>
              </a:rPr>
              <a:t>Evaluation is the </a:t>
            </a:r>
            <a:r>
              <a:rPr lang="en-US" sz="1500" b="1" dirty="0" smtClean="0">
                <a:latin typeface="Verdana" pitchFamily="34" charset="0"/>
                <a:cs typeface="Times New Roman" pitchFamily="18" charset="0"/>
              </a:rPr>
              <a:t>fourth main process </a:t>
            </a:r>
            <a:r>
              <a:rPr lang="en-US" sz="1500" dirty="0" smtClean="0">
                <a:latin typeface="Verdana" pitchFamily="34" charset="0"/>
                <a:cs typeface="Times New Roman" pitchFamily="18" charset="0"/>
              </a:rPr>
              <a:t>of interactive systems design. </a:t>
            </a:r>
          </a:p>
          <a:p>
            <a:pPr algn="just" eaLnBrk="1" hangingPunct="1">
              <a:lnSpc>
                <a:spcPct val="120000"/>
              </a:lnSpc>
            </a:pPr>
            <a:r>
              <a:rPr lang="en-US" sz="1500" dirty="0" smtClean="0">
                <a:latin typeface="Verdana" pitchFamily="34" charset="0"/>
                <a:cs typeface="Times New Roman" pitchFamily="18" charset="0"/>
              </a:rPr>
              <a:t>By evaluation we mean </a:t>
            </a:r>
            <a:r>
              <a:rPr lang="en-US" sz="1500" b="1" dirty="0" smtClean="0">
                <a:latin typeface="Verdana" pitchFamily="34" charset="0"/>
                <a:cs typeface="Times New Roman" pitchFamily="18" charset="0"/>
              </a:rPr>
              <a:t>reviewing, trying out or testing</a:t>
            </a:r>
            <a:r>
              <a:rPr lang="en-US" sz="1500" dirty="0" smtClean="0">
                <a:latin typeface="Verdana" pitchFamily="34" charset="0"/>
                <a:cs typeface="Times New Roman" pitchFamily="18" charset="0"/>
              </a:rPr>
              <a:t> a design idea, a piece of software, a product or a service to discover </a:t>
            </a:r>
            <a:r>
              <a:rPr lang="en-US" sz="1500" b="1" dirty="0" smtClean="0">
                <a:latin typeface="Verdana" pitchFamily="34" charset="0"/>
                <a:cs typeface="Times New Roman" pitchFamily="18" charset="0"/>
              </a:rPr>
              <a:t>whether it meets some criteria. </a:t>
            </a:r>
          </a:p>
          <a:p>
            <a:pPr algn="just" eaLnBrk="1" hangingPunct="1">
              <a:lnSpc>
                <a:spcPct val="120000"/>
              </a:lnSpc>
            </a:pPr>
            <a:r>
              <a:rPr lang="en-US" sz="1500" dirty="0" smtClean="0">
                <a:latin typeface="Verdana" pitchFamily="34" charset="0"/>
                <a:cs typeface="Times New Roman" pitchFamily="18" charset="0"/>
              </a:rPr>
              <a:t>These criteria will often be summed up by the guidelines for good design, namely that the system is learnable, effective and accommodating. </a:t>
            </a:r>
          </a:p>
          <a:p>
            <a:pPr algn="just" eaLnBrk="1" hangingPunct="1">
              <a:lnSpc>
                <a:spcPct val="120000"/>
              </a:lnSpc>
            </a:pPr>
            <a:r>
              <a:rPr lang="en-US" sz="1500" dirty="0" smtClean="0">
                <a:latin typeface="Verdana" pitchFamily="34" charset="0"/>
                <a:cs typeface="Times New Roman" pitchFamily="18" charset="0"/>
              </a:rPr>
              <a:t>The designer is concerned not just with surface features such as the meaningfulness of icons, but also with whether the system is fit for its purpose, enjoyable, engaging and so 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0112" y="1988840"/>
            <a:ext cx="3416042" cy="324036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904" y="980728"/>
            <a:ext cx="7859216" cy="4896544"/>
          </a:xfrm>
        </p:spPr>
        <p:txBody>
          <a:bodyPr/>
          <a:lstStyle/>
          <a:p>
            <a:pPr marL="0" indent="0" algn="just">
              <a:buNone/>
            </a:pPr>
            <a:r>
              <a:rPr lang="en-US" sz="2000" b="1" dirty="0" smtClean="0"/>
              <a:t>Testing</a:t>
            </a:r>
            <a:r>
              <a:rPr lang="en-US" sz="2000" dirty="0" smtClean="0"/>
              <a:t> </a:t>
            </a:r>
            <a:r>
              <a:rPr lang="en-US" sz="2000" dirty="0"/>
              <a:t>is the process of measuring someone's knowledge or skills, while </a:t>
            </a:r>
            <a:r>
              <a:rPr lang="en-US" sz="2000" b="1" dirty="0"/>
              <a:t>evaluation</a:t>
            </a:r>
            <a:r>
              <a:rPr lang="en-US" sz="2000" dirty="0"/>
              <a:t> is the process of making judgments based on evidence and </a:t>
            </a:r>
            <a:r>
              <a:rPr lang="en-US" sz="2000" dirty="0" smtClean="0"/>
              <a:t>criteria.</a:t>
            </a:r>
          </a:p>
          <a:p>
            <a:pPr marL="0" indent="0" algn="just">
              <a:buNone/>
            </a:pPr>
            <a:endParaRPr lang="en-US" sz="2000" dirty="0"/>
          </a:p>
          <a:p>
            <a:pPr algn="just"/>
            <a:r>
              <a:rPr lang="en-US" sz="2000" b="1" dirty="0"/>
              <a:t>Testing</a:t>
            </a:r>
            <a:endParaRPr lang="en-US" sz="2000" dirty="0"/>
          </a:p>
          <a:p>
            <a:pPr marL="0" indent="0" algn="just">
              <a:buNone/>
            </a:pPr>
            <a:r>
              <a:rPr lang="en-US" sz="2000" dirty="0"/>
              <a:t>Involves administering exams or quizzes to evaluate a student's knowledge and skills. Testing measures the level of knowledge or skill that has been reached</a:t>
            </a:r>
            <a:r>
              <a:rPr lang="en-US" sz="2000" dirty="0" smtClean="0"/>
              <a:t>.</a:t>
            </a:r>
          </a:p>
          <a:p>
            <a:pPr marL="0" indent="0" algn="just">
              <a:buNone/>
            </a:pPr>
            <a:endParaRPr lang="en-US" sz="2000" dirty="0"/>
          </a:p>
          <a:p>
            <a:pPr algn="just"/>
            <a:r>
              <a:rPr lang="en-US" sz="2000" b="1" dirty="0"/>
              <a:t>Evaluation</a:t>
            </a:r>
            <a:endParaRPr lang="en-US" sz="2000" dirty="0"/>
          </a:p>
          <a:p>
            <a:pPr marL="0" indent="0" algn="just">
              <a:buNone/>
            </a:pPr>
            <a:r>
              <a:rPr lang="en-US" sz="2000" dirty="0"/>
              <a:t>Involves using tools like tests, observations, checklists, and performance-based assessments to understand learning progress and ensure teaching objectives are met. Evaluation is the process of making judgments based on criteria and </a:t>
            </a:r>
            <a:r>
              <a:rPr lang="en-US" sz="2000" dirty="0" smtClean="0"/>
              <a:t>evidence.</a:t>
            </a:r>
            <a:endParaRPr lang="en-US" sz="2000" dirty="0"/>
          </a:p>
        </p:txBody>
      </p:sp>
    </p:spTree>
    <p:extLst>
      <p:ext uri="{BB962C8B-B14F-4D97-AF65-F5344CB8AC3E}">
        <p14:creationId xmlns:p14="http://schemas.microsoft.com/office/powerpoint/2010/main" val="1289366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457200" y="274638"/>
            <a:ext cx="8229600" cy="850106"/>
          </a:xfrm>
        </p:spPr>
        <p:txBody>
          <a:bodyPr/>
          <a:lstStyle/>
          <a:p>
            <a:pPr eaLnBrk="1" hangingPunct="1">
              <a:lnSpc>
                <a:spcPct val="120000"/>
              </a:lnSpc>
            </a:pPr>
            <a:r>
              <a:rPr lang="en-US" sz="1500" b="1" dirty="0" smtClean="0">
                <a:latin typeface="Verdana" pitchFamily="34" charset="0"/>
                <a:cs typeface="Times New Roman" pitchFamily="18" charset="0"/>
              </a:rPr>
              <a:t>Introduction</a:t>
            </a:r>
          </a:p>
        </p:txBody>
      </p:sp>
      <p:sp>
        <p:nvSpPr>
          <p:cNvPr id="16386" name="Text Placeholder 2"/>
          <p:cNvSpPr>
            <a:spLocks noGrp="1"/>
          </p:cNvSpPr>
          <p:nvPr>
            <p:ph type="body" idx="1"/>
          </p:nvPr>
        </p:nvSpPr>
        <p:spPr>
          <a:xfrm>
            <a:off x="719572" y="1135476"/>
            <a:ext cx="7704856" cy="4525963"/>
          </a:xfrm>
        </p:spPr>
        <p:txBody>
          <a:bodyPr/>
          <a:lstStyle/>
          <a:p>
            <a:pPr algn="just" eaLnBrk="1" hangingPunct="1">
              <a:lnSpc>
                <a:spcPct val="150000"/>
              </a:lnSpc>
            </a:pPr>
            <a:r>
              <a:rPr lang="en-US" sz="1600" dirty="0" smtClean="0">
                <a:latin typeface="Verdana" pitchFamily="34" charset="0"/>
                <a:cs typeface="Times New Roman" pitchFamily="18" charset="0"/>
              </a:rPr>
              <a:t>Evaluation of different types of system, or evaluation in different contexts may offer particular challenges. For example</a:t>
            </a:r>
          </a:p>
          <a:p>
            <a:pPr lvl="1" algn="just" eaLnBrk="1" hangingPunct="1">
              <a:lnSpc>
                <a:spcPct val="150000"/>
              </a:lnSpc>
            </a:pPr>
            <a:r>
              <a:rPr lang="en-US" sz="1600" dirty="0" smtClean="0">
                <a:latin typeface="Verdana" pitchFamily="34" charset="0"/>
                <a:cs typeface="Times New Roman" pitchFamily="18" charset="0"/>
              </a:rPr>
              <a:t>evaluating mobile devices, or services delivered by a mobile device </a:t>
            </a:r>
          </a:p>
          <a:p>
            <a:pPr algn="just" eaLnBrk="1" hangingPunct="1">
              <a:lnSpc>
                <a:spcPct val="150000"/>
              </a:lnSpc>
            </a:pPr>
            <a:r>
              <a:rPr lang="en-US" sz="1600" dirty="0" smtClean="0">
                <a:latin typeface="Verdana" pitchFamily="34" charset="0"/>
                <a:cs typeface="Times New Roman" pitchFamily="18" charset="0"/>
              </a:rPr>
              <a:t>Evaluation is </a:t>
            </a:r>
            <a:r>
              <a:rPr lang="en-US" sz="1600" b="1" dirty="0" smtClean="0">
                <a:latin typeface="Verdana" pitchFamily="34" charset="0"/>
                <a:cs typeface="Times New Roman" pitchFamily="18" charset="0"/>
              </a:rPr>
              <a:t>closely tied to the other key activities of interactive systems design, understanding, design and </a:t>
            </a:r>
            <a:r>
              <a:rPr lang="en-US" sz="1600" b="1" dirty="0" err="1" smtClean="0">
                <a:latin typeface="Verdana" pitchFamily="34" charset="0"/>
                <a:cs typeface="Times New Roman" pitchFamily="18" charset="0"/>
              </a:rPr>
              <a:t>envisionment</a:t>
            </a:r>
            <a:r>
              <a:rPr lang="en-US" sz="1600" b="1" dirty="0" smtClean="0">
                <a:latin typeface="Verdana" pitchFamily="34" charset="0"/>
                <a:cs typeface="Times New Roman" pitchFamily="18" charset="0"/>
              </a:rPr>
              <a:t>. </a:t>
            </a:r>
          </a:p>
          <a:p>
            <a:pPr algn="just" eaLnBrk="1" hangingPunct="1">
              <a:lnSpc>
                <a:spcPct val="150000"/>
              </a:lnSpc>
            </a:pPr>
            <a:r>
              <a:rPr lang="en-US" sz="1600" dirty="0" smtClean="0">
                <a:latin typeface="Verdana" pitchFamily="34" charset="0"/>
                <a:cs typeface="Times New Roman" pitchFamily="18" charset="0"/>
              </a:rPr>
              <a:t>You will only be able to evaluate features that are </a:t>
            </a:r>
            <a:r>
              <a:rPr lang="en-US" sz="1600" b="1" dirty="0" smtClean="0">
                <a:latin typeface="Verdana" pitchFamily="34" charset="0"/>
                <a:cs typeface="Times New Roman" pitchFamily="18" charset="0"/>
              </a:rPr>
              <a:t>represented in a form appropriate </a:t>
            </a:r>
            <a:r>
              <a:rPr lang="en-US" sz="1600" dirty="0" smtClean="0">
                <a:latin typeface="Verdana" pitchFamily="34" charset="0"/>
                <a:cs typeface="Times New Roman" pitchFamily="18" charset="0"/>
              </a:rPr>
              <a:t>for the type of evaluation. </a:t>
            </a:r>
          </a:p>
          <a:p>
            <a:pPr algn="just" eaLnBrk="1" hangingPunct="1">
              <a:lnSpc>
                <a:spcPct val="150000"/>
              </a:lnSpc>
            </a:pPr>
            <a:r>
              <a:rPr lang="en-US" sz="1600" dirty="0" smtClean="0">
                <a:latin typeface="Verdana" pitchFamily="34" charset="0"/>
                <a:cs typeface="Times New Roman" pitchFamily="18" charset="0"/>
              </a:rPr>
              <a:t>There are also issues concerning </a:t>
            </a:r>
            <a:r>
              <a:rPr lang="en-US" sz="1600" b="1" dirty="0" smtClean="0">
                <a:latin typeface="Verdana" pitchFamily="34" charset="0"/>
                <a:cs typeface="Times New Roman" pitchFamily="18" charset="0"/>
              </a:rPr>
              <a:t>who</a:t>
            </a:r>
            <a:r>
              <a:rPr lang="en-US" sz="1600" dirty="0" smtClean="0">
                <a:latin typeface="Verdana" pitchFamily="34" charset="0"/>
                <a:cs typeface="Times New Roman" pitchFamily="18" charset="0"/>
              </a:rPr>
              <a:t> is involved in the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lnSpc>
                <a:spcPct val="120000"/>
              </a:lnSpc>
            </a:pPr>
            <a:r>
              <a:rPr lang="en-US" sz="1500" dirty="0" smtClean="0">
                <a:latin typeface="Verdana" pitchFamily="34" charset="0"/>
                <a:cs typeface="Times New Roman" pitchFamily="18" charset="0"/>
              </a:rPr>
              <a:t>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design </a:t>
            </a:r>
          </a:p>
        </p:txBody>
      </p:sp>
      <p:sp>
        <p:nvSpPr>
          <p:cNvPr id="17410" name="Text Placeholder 2"/>
          <p:cNvSpPr>
            <a:spLocks noGrp="1"/>
          </p:cNvSpPr>
          <p:nvPr>
            <p:ph type="body" idx="1"/>
          </p:nvPr>
        </p:nvSpPr>
        <p:spPr>
          <a:xfrm>
            <a:off x="462314" y="1268760"/>
            <a:ext cx="8229600" cy="4752528"/>
          </a:xfrm>
        </p:spPr>
        <p:txBody>
          <a:bodyPr/>
          <a:lstStyle/>
          <a:p>
            <a:pPr algn="just" eaLnBrk="1" hangingPunct="1">
              <a:lnSpc>
                <a:spcPct val="150000"/>
              </a:lnSpc>
            </a:pPr>
            <a:r>
              <a:rPr lang="en-US" sz="1500" dirty="0" smtClean="0">
                <a:latin typeface="Verdana" pitchFamily="34" charset="0"/>
                <a:cs typeface="Times New Roman" pitchFamily="18" charset="0"/>
              </a:rPr>
              <a:t>In our human-</a:t>
            </a:r>
            <a:r>
              <a:rPr lang="en-US" sz="1500" dirty="0" err="1" smtClean="0">
                <a:latin typeface="Verdana" pitchFamily="34" charset="0"/>
                <a:cs typeface="Times New Roman" pitchFamily="18" charset="0"/>
              </a:rPr>
              <a:t>centred</a:t>
            </a:r>
            <a:r>
              <a:rPr lang="en-US" sz="1500" dirty="0" smtClean="0">
                <a:latin typeface="Verdana" pitchFamily="34" charset="0"/>
                <a:cs typeface="Times New Roman" pitchFamily="18" charset="0"/>
              </a:rPr>
              <a:t> approach to design, we evaluate designs right from the </a:t>
            </a:r>
            <a:r>
              <a:rPr lang="en-US" sz="1500" b="1" dirty="0" smtClean="0">
                <a:latin typeface="Verdana" pitchFamily="34" charset="0"/>
                <a:cs typeface="Times New Roman" pitchFamily="18" charset="0"/>
              </a:rPr>
              <a:t>earliest idea</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For example, in the case very early ideas for the HIC were </a:t>
            </a:r>
            <a:r>
              <a:rPr lang="en-US" sz="1500" b="1" dirty="0" smtClean="0">
                <a:latin typeface="Verdana" pitchFamily="34" charset="0"/>
                <a:cs typeface="Times New Roman" pitchFamily="18" charset="0"/>
              </a:rPr>
              <a:t>mocked-up</a:t>
            </a:r>
            <a:r>
              <a:rPr lang="en-US" sz="1500" dirty="0" smtClean="0">
                <a:latin typeface="Verdana" pitchFamily="34" charset="0"/>
                <a:cs typeface="Times New Roman" pitchFamily="18" charset="0"/>
              </a:rPr>
              <a:t> and reviewed, to be followed later by more realistic </a:t>
            </a:r>
            <a:r>
              <a:rPr lang="en-US" sz="1500" b="1" dirty="0" smtClean="0">
                <a:latin typeface="Verdana" pitchFamily="34" charset="0"/>
                <a:cs typeface="Times New Roman" pitchFamily="18" charset="0"/>
              </a:rPr>
              <a:t>prototyping</a:t>
            </a:r>
            <a:r>
              <a:rPr lang="en-US" sz="1500" dirty="0" smtClean="0">
                <a:latin typeface="Verdana" pitchFamily="34" charset="0"/>
                <a:cs typeface="Times New Roman" pitchFamily="18" charset="0"/>
              </a:rPr>
              <a:t> and testing of a partially finished system and finally by evaluation of the near-complete device in its intended home setting. </a:t>
            </a:r>
          </a:p>
          <a:p>
            <a:pPr marL="0" indent="0" algn="just" eaLnBrk="1" hangingPunct="1">
              <a:lnSpc>
                <a:spcPct val="150000"/>
              </a:lnSpc>
              <a:buNone/>
            </a:pPr>
            <a:r>
              <a:rPr lang="en-US" sz="1500" dirty="0" smtClean="0">
                <a:latin typeface="Verdana" pitchFamily="34" charset="0"/>
                <a:cs typeface="Times New Roman" pitchFamily="18" charset="0"/>
              </a:rPr>
              <a:t>There are </a:t>
            </a:r>
            <a:r>
              <a:rPr lang="en-US" sz="1500" b="1" dirty="0" smtClean="0">
                <a:solidFill>
                  <a:schemeClr val="tx2"/>
                </a:solidFill>
                <a:latin typeface="Verdana" pitchFamily="34" charset="0"/>
                <a:cs typeface="Times New Roman" pitchFamily="18" charset="0"/>
              </a:rPr>
              <a:t>three main types of evaluation</a:t>
            </a:r>
          </a:p>
          <a:p>
            <a:pPr algn="just" eaLnBrk="1" hangingPunct="1">
              <a:lnSpc>
                <a:spcPct val="150000"/>
              </a:lnSpc>
            </a:pPr>
            <a:r>
              <a:rPr lang="en-US" sz="1500" dirty="0" smtClean="0">
                <a:latin typeface="Verdana" pitchFamily="34" charset="0"/>
                <a:cs typeface="Times New Roman" pitchFamily="18" charset="0"/>
              </a:rPr>
              <a:t>One involves a usability expert, or an interaction designer, reviewing some form of envisioned version of a design; </a:t>
            </a:r>
            <a:r>
              <a:rPr lang="en-US" sz="1500" b="1" dirty="0" smtClean="0">
                <a:latin typeface="Verdana" pitchFamily="34" charset="0"/>
                <a:cs typeface="Times New Roman" pitchFamily="18" charset="0"/>
              </a:rPr>
              <a:t>expert-based methods</a:t>
            </a:r>
            <a:r>
              <a:rPr lang="en-US" sz="1500" dirty="0" smtClean="0">
                <a:latin typeface="Verdana" pitchFamily="34" charset="0"/>
                <a:cs typeface="Times New Roman" pitchFamily="18" charset="0"/>
              </a:rPr>
              <a:t>. </a:t>
            </a:r>
          </a:p>
          <a:p>
            <a:pPr algn="just" eaLnBrk="1" hangingPunct="1">
              <a:lnSpc>
                <a:spcPct val="150000"/>
              </a:lnSpc>
            </a:pPr>
            <a:r>
              <a:rPr lang="en-US" sz="1500" dirty="0" smtClean="0">
                <a:latin typeface="Verdana" pitchFamily="34" charset="0"/>
                <a:cs typeface="Times New Roman" pitchFamily="18" charset="0"/>
              </a:rPr>
              <a:t>The other involves recruiting people to use an envisioned version of a system; </a:t>
            </a:r>
            <a:r>
              <a:rPr lang="en-US" sz="1500" b="1" dirty="0" smtClean="0">
                <a:latin typeface="Verdana" pitchFamily="34" charset="0"/>
                <a:cs typeface="Times New Roman" pitchFamily="18" charset="0"/>
              </a:rPr>
              <a:t>participant methods</a:t>
            </a:r>
            <a:r>
              <a:rPr lang="en-US" sz="1500" dirty="0" smtClean="0">
                <a:latin typeface="Verdana" pitchFamily="34" charset="0"/>
                <a:cs typeface="Times New Roman" pitchFamily="18" charset="0"/>
              </a:rPr>
              <a:t>. </a:t>
            </a:r>
          </a:p>
          <a:p>
            <a:pPr algn="just" eaLnBrk="1" hangingPunct="1">
              <a:lnSpc>
                <a:spcPct val="150000"/>
              </a:lnSpc>
            </a:pPr>
            <a:r>
              <a:rPr lang="en-US" sz="1500" dirty="0">
                <a:latin typeface="Verdana" pitchFamily="34" charset="0"/>
                <a:cs typeface="Times New Roman" pitchFamily="18" charset="0"/>
              </a:rPr>
              <a:t>A third </a:t>
            </a:r>
            <a:r>
              <a:rPr lang="en-US" sz="1500" dirty="0" smtClean="0">
                <a:latin typeface="Verdana" pitchFamily="34" charset="0"/>
                <a:cs typeface="Times New Roman" pitchFamily="18" charset="0"/>
              </a:rPr>
              <a:t>method is </a:t>
            </a:r>
            <a:r>
              <a:rPr lang="en-US" sz="1500" dirty="0">
                <a:latin typeface="Verdana" pitchFamily="34" charset="0"/>
                <a:cs typeface="Times New Roman" pitchFamily="18" charset="0"/>
              </a:rPr>
              <a:t>to gather data on system performance once the system or service is deployed. </a:t>
            </a:r>
            <a:r>
              <a:rPr lang="en-US" sz="1500" dirty="0" smtClean="0">
                <a:latin typeface="Verdana" pitchFamily="34" charset="0"/>
                <a:cs typeface="Times New Roman" pitchFamily="18" charset="0"/>
              </a:rPr>
              <a:t>These methods </a:t>
            </a:r>
            <a:r>
              <a:rPr lang="en-US" sz="1500" dirty="0">
                <a:latin typeface="Verdana" pitchFamily="34" charset="0"/>
                <a:cs typeface="Times New Roman" pitchFamily="18" charset="0"/>
              </a:rPr>
              <a:t>are known </a:t>
            </a:r>
            <a:r>
              <a:rPr lang="en-US" sz="1500" b="1" dirty="0">
                <a:latin typeface="Verdana" pitchFamily="34" charset="0"/>
                <a:cs typeface="Times New Roman" pitchFamily="18" charset="0"/>
              </a:rPr>
              <a:t>as data </a:t>
            </a:r>
            <a:r>
              <a:rPr lang="en-US" sz="1500" b="1" dirty="0" smtClean="0">
                <a:latin typeface="Verdana" pitchFamily="34" charset="0"/>
                <a:cs typeface="Times New Roman" pitchFamily="18" charset="0"/>
              </a:rPr>
              <a:t>analytics</a:t>
            </a:r>
            <a:r>
              <a:rPr lang="en-US" sz="1500" dirty="0" smtClean="0">
                <a:latin typeface="Verdana" pitchFamily="34" charset="0"/>
                <a:cs typeface="Times New Roman" pitchFamily="18" charset="0"/>
              </a:rPr>
              <a:t>.</a:t>
            </a:r>
            <a:endParaRPr lang="en-US" sz="1500" dirty="0">
              <a:latin typeface="Verdana" pitchFamily="34"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pPr eaLnBrk="1" hangingPunct="1">
              <a:lnSpc>
                <a:spcPct val="120000"/>
              </a:lnSpc>
            </a:pPr>
            <a:r>
              <a:rPr lang="en-US" sz="1500" dirty="0" smtClean="0">
                <a:latin typeface="Verdana" pitchFamily="34" charset="0"/>
                <a:cs typeface="Times New Roman" pitchFamily="18" charset="0"/>
              </a:rPr>
              <a:t>Participants</a:t>
            </a:r>
          </a:p>
        </p:txBody>
      </p:sp>
      <p:sp>
        <p:nvSpPr>
          <p:cNvPr id="18434" name="Text Placeholder 2"/>
          <p:cNvSpPr>
            <a:spLocks noGrp="1"/>
          </p:cNvSpPr>
          <p:nvPr>
            <p:ph type="body" idx="1"/>
          </p:nvPr>
        </p:nvSpPr>
        <p:spPr>
          <a:xfrm>
            <a:off x="611560" y="1417638"/>
            <a:ext cx="7920880" cy="4525963"/>
          </a:xfrm>
        </p:spPr>
        <p:txBody>
          <a:bodyPr/>
          <a:lstStyle/>
          <a:p>
            <a:pPr algn="just" eaLnBrk="1" hangingPunct="1">
              <a:lnSpc>
                <a:spcPct val="150000"/>
              </a:lnSpc>
            </a:pPr>
            <a:r>
              <a:rPr lang="en-US" sz="1500" b="1" dirty="0" smtClean="0">
                <a:latin typeface="Verdana" pitchFamily="34" charset="0"/>
                <a:cs typeface="Times New Roman" pitchFamily="18" charset="0"/>
              </a:rPr>
              <a:t>Where possible these people should be representative of the people who the system is aimed at (sometimes called ‘end-users’).  </a:t>
            </a:r>
            <a:r>
              <a:rPr lang="en-US" sz="1500" dirty="0" smtClean="0">
                <a:solidFill>
                  <a:srgbClr val="00B050"/>
                </a:solidFill>
                <a:latin typeface="Verdana" pitchFamily="34" charset="0"/>
                <a:cs typeface="Times New Roman" pitchFamily="18" charset="0"/>
              </a:rPr>
              <a:t>(act as end user)</a:t>
            </a:r>
          </a:p>
          <a:p>
            <a:pPr marL="0" indent="0" algn="just" eaLnBrk="1" hangingPunct="1">
              <a:lnSpc>
                <a:spcPct val="150000"/>
              </a:lnSpc>
              <a:buNone/>
            </a:pPr>
            <a:endParaRPr lang="en-US" sz="1500" dirty="0" smtClean="0">
              <a:latin typeface="Verdana" pitchFamily="34" charset="0"/>
              <a:cs typeface="Times New Roman" pitchFamily="18" charset="0"/>
            </a:endParaRPr>
          </a:p>
          <a:p>
            <a:pPr algn="just" eaLnBrk="1" hangingPunct="1">
              <a:lnSpc>
                <a:spcPct val="150000"/>
              </a:lnSpc>
            </a:pPr>
            <a:r>
              <a:rPr lang="en-US" sz="1500" dirty="0" smtClean="0">
                <a:latin typeface="Verdana" pitchFamily="34" charset="0"/>
                <a:cs typeface="Times New Roman" pitchFamily="18" charset="0"/>
              </a:rPr>
              <a:t>Alternatively. the </a:t>
            </a:r>
            <a:r>
              <a:rPr lang="en-US" sz="1500" b="1" dirty="0" smtClean="0">
                <a:latin typeface="Verdana" pitchFamily="34" charset="0"/>
                <a:cs typeface="Times New Roman" pitchFamily="18" charset="0"/>
              </a:rPr>
              <a:t>participants may be other people (perhaps other designers, students or whoever happens to be around), who are invited to play the part of the people who will use the system.</a:t>
            </a:r>
          </a:p>
          <a:p>
            <a:pPr marL="0" indent="0" algn="just" eaLnBrk="1" hangingPunct="1">
              <a:lnSpc>
                <a:spcPct val="150000"/>
              </a:lnSpc>
              <a:buNone/>
            </a:pPr>
            <a:endParaRPr lang="en-US" sz="1500" b="1" dirty="0" smtClean="0">
              <a:latin typeface="Verdana" pitchFamily="34" charset="0"/>
              <a:cs typeface="Times New Roman" pitchFamily="18" charset="0"/>
            </a:endParaRP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characteristics of the target population can be captured through personas.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199" y="476672"/>
            <a:ext cx="8229600" cy="634082"/>
          </a:xfrm>
        </p:spPr>
        <p:txBody>
          <a:bodyPr/>
          <a:lstStyle/>
          <a:p>
            <a:pPr eaLnBrk="1" hangingPunct="1">
              <a:lnSpc>
                <a:spcPct val="120000"/>
              </a:lnSpc>
            </a:pPr>
            <a:r>
              <a:rPr lang="en-US" sz="1500" dirty="0" smtClean="0">
                <a:latin typeface="Verdana" pitchFamily="34" charset="0"/>
                <a:cs typeface="Times New Roman" pitchFamily="18" charset="0"/>
              </a:rPr>
              <a:t>Evaluation throughout design </a:t>
            </a:r>
          </a:p>
        </p:txBody>
      </p:sp>
      <p:sp>
        <p:nvSpPr>
          <p:cNvPr id="19458" name="Text Placeholder 2"/>
          <p:cNvSpPr>
            <a:spLocks noGrp="1"/>
          </p:cNvSpPr>
          <p:nvPr>
            <p:ph type="body" idx="1"/>
          </p:nvPr>
        </p:nvSpPr>
        <p:spPr>
          <a:xfrm>
            <a:off x="575765" y="1340768"/>
            <a:ext cx="7992469" cy="4608512"/>
          </a:xfrm>
        </p:spPr>
        <p:txBody>
          <a:bodyPr/>
          <a:lstStyle/>
          <a:p>
            <a:pPr algn="just" eaLnBrk="1" hangingPunct="1">
              <a:lnSpc>
                <a:spcPct val="150000"/>
              </a:lnSpc>
            </a:pPr>
            <a:r>
              <a:rPr lang="en-US" sz="1500" dirty="0" smtClean="0">
                <a:latin typeface="Verdana" pitchFamily="34" charset="0"/>
                <a:cs typeface="Times New Roman" pitchFamily="18" charset="0"/>
              </a:rPr>
              <a:t>At </a:t>
            </a:r>
            <a:r>
              <a:rPr lang="en-US" sz="1500" b="1" dirty="0" smtClean="0">
                <a:latin typeface="Verdana" pitchFamily="34" charset="0"/>
                <a:cs typeface="Times New Roman" pitchFamily="18" charset="0"/>
              </a:rPr>
              <a:t>different stages, different methods </a:t>
            </a:r>
            <a:r>
              <a:rPr lang="en-US" sz="1500" dirty="0" smtClean="0">
                <a:latin typeface="Verdana" pitchFamily="34" charset="0"/>
                <a:cs typeface="Times New Roman" pitchFamily="18" charset="0"/>
              </a:rPr>
              <a:t>will be more or less effective. </a:t>
            </a:r>
          </a:p>
          <a:p>
            <a:pPr algn="just" eaLnBrk="1" hangingPunct="1">
              <a:lnSpc>
                <a:spcPct val="150000"/>
              </a:lnSpc>
            </a:pPr>
            <a:r>
              <a:rPr lang="en-US" sz="1500" dirty="0" smtClean="0">
                <a:latin typeface="Verdana" pitchFamily="34" charset="0"/>
                <a:cs typeface="Times New Roman" pitchFamily="18" charset="0"/>
              </a:rPr>
              <a:t>Here </a:t>
            </a:r>
            <a:r>
              <a:rPr lang="en-US" sz="1500" b="1" dirty="0" smtClean="0">
                <a:latin typeface="Verdana" pitchFamily="34" charset="0"/>
                <a:cs typeface="Times New Roman" pitchFamily="18" charset="0"/>
              </a:rPr>
              <a:t>quick paper prototypes can help</a:t>
            </a:r>
            <a:r>
              <a:rPr lang="en-US" sz="1500" dirty="0" smtClean="0">
                <a:latin typeface="Verdana" pitchFamily="34" charset="0"/>
                <a:cs typeface="Times New Roman" pitchFamily="18" charset="0"/>
              </a:rPr>
              <a:t>, </a:t>
            </a:r>
            <a:r>
              <a:rPr lang="en-US" sz="1500" b="1" dirty="0" smtClean="0">
                <a:latin typeface="Verdana" pitchFamily="34" charset="0"/>
                <a:cs typeface="Times New Roman" pitchFamily="18" charset="0"/>
              </a:rPr>
              <a:t>or even software </a:t>
            </a:r>
            <a:r>
              <a:rPr lang="en-US" sz="1500" dirty="0" smtClean="0">
                <a:latin typeface="Verdana" pitchFamily="34" charset="0"/>
                <a:cs typeface="Times New Roman" pitchFamily="18" charset="0"/>
              </a:rPr>
              <a:t>if this can be produced rapidly. </a:t>
            </a:r>
          </a:p>
          <a:p>
            <a:pPr algn="just" eaLnBrk="1" hangingPunct="1">
              <a:lnSpc>
                <a:spcPct val="150000"/>
              </a:lnSpc>
            </a:pPr>
            <a:r>
              <a:rPr lang="en-US" sz="1500" b="1" dirty="0" smtClean="0">
                <a:latin typeface="Verdana" pitchFamily="34" charset="0"/>
                <a:cs typeface="Times New Roman" pitchFamily="18" charset="0"/>
              </a:rPr>
              <a:t>Evaluations of competitor products or previous versions </a:t>
            </a:r>
            <a:r>
              <a:rPr lang="en-US" sz="1500" dirty="0" smtClean="0">
                <a:latin typeface="Verdana" pitchFamily="34" charset="0"/>
                <a:cs typeface="Times New Roman" pitchFamily="18" charset="0"/>
              </a:rPr>
              <a:t>of technology can also feed into the design process at this stage.</a:t>
            </a:r>
          </a:p>
          <a:p>
            <a:pPr algn="just" eaLnBrk="1" hangingPunct="1">
              <a:lnSpc>
                <a:spcPct val="150000"/>
              </a:lnSpc>
            </a:pPr>
            <a:r>
              <a:rPr lang="en-US" sz="1500" dirty="0" smtClean="0">
                <a:latin typeface="Verdana" pitchFamily="34" charset="0"/>
                <a:cs typeface="Times New Roman" pitchFamily="18" charset="0"/>
              </a:rPr>
              <a:t>Deciding between different design options</a:t>
            </a:r>
          </a:p>
          <a:p>
            <a:pPr algn="just" eaLnBrk="1" hangingPunct="1">
              <a:lnSpc>
                <a:spcPct val="150000"/>
              </a:lnSpc>
            </a:pPr>
            <a:r>
              <a:rPr lang="en-US" sz="1500" b="1" dirty="0" smtClean="0">
                <a:latin typeface="Verdana" pitchFamily="34" charset="0"/>
                <a:cs typeface="Times New Roman" pitchFamily="18" charset="0"/>
              </a:rPr>
              <a:t>During development, designers have to decide between options,</a:t>
            </a:r>
            <a:r>
              <a:rPr lang="en-US" sz="1500" dirty="0" smtClean="0">
                <a:latin typeface="Verdana" pitchFamily="34" charset="0"/>
                <a:cs typeface="Times New Roman" pitchFamily="18" charset="0"/>
              </a:rPr>
              <a:t> for example between voice input or touchscreen interaction for a shared electronic household wall-planner or between different sequences for order processing functions.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46856" y="476672"/>
            <a:ext cx="8229600" cy="504056"/>
          </a:xfrm>
        </p:spPr>
        <p:txBody>
          <a:bodyPr/>
          <a:lstStyle/>
          <a:p>
            <a:pPr eaLnBrk="1" hangingPunct="1">
              <a:lnSpc>
                <a:spcPct val="120000"/>
              </a:lnSpc>
            </a:pPr>
            <a:r>
              <a:rPr lang="en-US" sz="1500" dirty="0" smtClean="0">
                <a:latin typeface="Verdana" pitchFamily="34" charset="0"/>
                <a:cs typeface="Times New Roman" pitchFamily="18" charset="0"/>
              </a:rPr>
              <a:t>Checking for usability problems</a:t>
            </a:r>
            <a:br>
              <a:rPr lang="en-US" sz="1500" dirty="0" smtClean="0">
                <a:latin typeface="Verdana" pitchFamily="34" charset="0"/>
                <a:cs typeface="Times New Roman" pitchFamily="18" charset="0"/>
              </a:rPr>
            </a:br>
            <a:endParaRPr lang="en-US" sz="1500" dirty="0" smtClean="0">
              <a:latin typeface="Verdana" pitchFamily="34" charset="0"/>
            </a:endParaRPr>
          </a:p>
        </p:txBody>
      </p:sp>
      <p:sp>
        <p:nvSpPr>
          <p:cNvPr id="20482" name="Text Placeholder 2"/>
          <p:cNvSpPr>
            <a:spLocks noGrp="1"/>
          </p:cNvSpPr>
          <p:nvPr>
            <p:ph type="body" idx="1"/>
          </p:nvPr>
        </p:nvSpPr>
        <p:spPr>
          <a:xfrm>
            <a:off x="606388" y="980728"/>
            <a:ext cx="7931224" cy="5256584"/>
          </a:xfrm>
        </p:spPr>
        <p:txBody>
          <a:bodyPr/>
          <a:lstStyle/>
          <a:p>
            <a:pPr algn="just" eaLnBrk="1" hangingPunct="1">
              <a:lnSpc>
                <a:spcPct val="150000"/>
              </a:lnSpc>
            </a:pPr>
            <a:r>
              <a:rPr lang="en-US" sz="1600" b="1" dirty="0" smtClean="0">
                <a:latin typeface="Verdana" pitchFamily="34" charset="0"/>
                <a:cs typeface="Times New Roman" pitchFamily="18" charset="0"/>
              </a:rPr>
              <a:t>Testing will identify potential problems</a:t>
            </a:r>
            <a:r>
              <a:rPr lang="en-US" sz="1600" dirty="0" smtClean="0">
                <a:latin typeface="Verdana" pitchFamily="34" charset="0"/>
                <a:cs typeface="Times New Roman" pitchFamily="18" charset="0"/>
              </a:rPr>
              <a:t> once a stable version of the technology is available. </a:t>
            </a:r>
          </a:p>
          <a:p>
            <a:pPr algn="just" eaLnBrk="1" hangingPunct="1">
              <a:lnSpc>
                <a:spcPct val="150000"/>
              </a:lnSpc>
            </a:pPr>
            <a:r>
              <a:rPr lang="en-US" sz="1600" dirty="0" smtClean="0">
                <a:latin typeface="Verdana" pitchFamily="34" charset="0"/>
                <a:cs typeface="Times New Roman" pitchFamily="18" charset="0"/>
              </a:rPr>
              <a:t>This needs to respond when a participant activates a function, but it does not require the whole system be fully operational (a horizontal prototype). </a:t>
            </a:r>
          </a:p>
          <a:p>
            <a:pPr algn="just" eaLnBrk="1" hangingPunct="1">
              <a:lnSpc>
                <a:spcPct val="150000"/>
              </a:lnSpc>
            </a:pPr>
            <a:r>
              <a:rPr lang="en-US" sz="1600" dirty="0" smtClean="0">
                <a:latin typeface="Verdana" pitchFamily="34" charset="0"/>
                <a:cs typeface="Times New Roman" pitchFamily="18" charset="0"/>
              </a:rPr>
              <a:t>Alternatively, the system may be completely functional, but only in some parts (a vertical prototype).</a:t>
            </a:r>
          </a:p>
          <a:p>
            <a:pPr algn="just" eaLnBrk="1" hangingPunct="1">
              <a:lnSpc>
                <a:spcPct val="150000"/>
              </a:lnSpc>
            </a:pPr>
            <a:r>
              <a:rPr lang="en-US" sz="1600" dirty="0" smtClean="0">
                <a:latin typeface="Verdana" pitchFamily="34" charset="0"/>
                <a:cs typeface="Times New Roman" pitchFamily="18" charset="0"/>
              </a:rPr>
              <a:t>This </a:t>
            </a:r>
            <a:r>
              <a:rPr lang="en-US" sz="1600" dirty="0">
                <a:latin typeface="Verdana" pitchFamily="34" charset="0"/>
                <a:cs typeface="Times New Roman" pitchFamily="18" charset="0"/>
              </a:rPr>
              <a:t>is sometimes termed formative evaluation because the results help to form – </a:t>
            </a:r>
            <a:r>
              <a:rPr lang="en-US" sz="1600" dirty="0" smtClean="0">
                <a:latin typeface="Verdana" pitchFamily="34" charset="0"/>
                <a:cs typeface="Times New Roman" pitchFamily="18" charset="0"/>
              </a:rPr>
              <a:t>or shape </a:t>
            </a:r>
            <a:r>
              <a:rPr lang="en-US" sz="1600" dirty="0">
                <a:latin typeface="Verdana" pitchFamily="34" charset="0"/>
                <a:cs typeface="Times New Roman" pitchFamily="18" charset="0"/>
              </a:rPr>
              <a:t>– the design</a:t>
            </a:r>
            <a:r>
              <a:rPr lang="en-US" sz="1600" dirty="0" smtClean="0">
                <a:latin typeface="Verdana" pitchFamily="34" charset="0"/>
                <a:cs typeface="Times New Roman" pitchFamily="18" charset="0"/>
              </a:rPr>
              <a:t>.</a:t>
            </a:r>
          </a:p>
          <a:p>
            <a:pPr algn="just" eaLnBrk="1" hangingPunct="1">
              <a:lnSpc>
                <a:spcPct val="150000"/>
              </a:lnSpc>
            </a:pPr>
            <a:r>
              <a:rPr lang="en-US" sz="1600" dirty="0" smtClean="0">
                <a:latin typeface="Verdana" pitchFamily="34" charset="0"/>
                <a:cs typeface="Times New Roman" pitchFamily="18" charset="0"/>
              </a:rPr>
              <a:t>By </a:t>
            </a:r>
            <a:r>
              <a:rPr lang="en-US" sz="1600" dirty="0">
                <a:latin typeface="Verdana" pitchFamily="34" charset="0"/>
                <a:cs typeface="Times New Roman" pitchFamily="18" charset="0"/>
              </a:rPr>
              <a:t>contrast, summative evaluation is undertaken when a product or service is </a:t>
            </a:r>
            <a:r>
              <a:rPr lang="en-US" sz="1600" dirty="0" smtClean="0">
                <a:latin typeface="Verdana" pitchFamily="34" charset="0"/>
                <a:cs typeface="Times New Roman" pitchFamily="18" charset="0"/>
              </a:rPr>
              <a:t>complete and </a:t>
            </a:r>
            <a:r>
              <a:rPr lang="en-US" sz="1600" dirty="0">
                <a:latin typeface="Verdana" pitchFamily="34" charset="0"/>
                <a:cs typeface="Times New Roman" pitchFamily="18" charset="0"/>
              </a:rPr>
              <a:t>designers want to demonstrate that the design meets some performance criteria.</a:t>
            </a:r>
            <a:endParaRPr lang="en-US" sz="1600" dirty="0" smtClean="0">
              <a:latin typeface="Verdana" pitchFamily="34" charset="0"/>
              <a:cs typeface="Times New Roman" pitchFamily="18" charset="0"/>
            </a:endParaRPr>
          </a:p>
          <a:p>
            <a:pPr eaLnBrk="1" hangingPunct="1">
              <a:lnSpc>
                <a:spcPct val="120000"/>
              </a:lnSpc>
            </a:pPr>
            <a:endParaRPr lang="en-US" sz="1500" dirty="0" smtClean="0">
              <a:latin typeface="Verdana"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lnSpc>
                <a:spcPct val="120000"/>
              </a:lnSpc>
            </a:pPr>
            <a:r>
              <a:rPr lang="en-US" sz="1500" dirty="0" smtClean="0">
                <a:latin typeface="Verdana" pitchFamily="34" charset="0"/>
                <a:cs typeface="Times New Roman" pitchFamily="18" charset="0"/>
              </a:rPr>
              <a:t>Participatory design</a:t>
            </a:r>
          </a:p>
        </p:txBody>
      </p:sp>
      <p:sp>
        <p:nvSpPr>
          <p:cNvPr id="23554" name="Text Placeholder 2"/>
          <p:cNvSpPr>
            <a:spLocks noGrp="1"/>
          </p:cNvSpPr>
          <p:nvPr>
            <p:ph type="body" idx="1"/>
          </p:nvPr>
        </p:nvSpPr>
        <p:spPr>
          <a:xfrm>
            <a:off x="765537" y="1556793"/>
            <a:ext cx="7612926" cy="3312368"/>
          </a:xfrm>
        </p:spPr>
        <p:txBody>
          <a:bodyPr/>
          <a:lstStyle/>
          <a:p>
            <a:pPr algn="just" eaLnBrk="1" hangingPunct="1">
              <a:lnSpc>
                <a:spcPct val="200000"/>
              </a:lnSpc>
            </a:pPr>
            <a:r>
              <a:rPr lang="en-US" sz="1500" dirty="0" smtClean="0">
                <a:latin typeface="Verdana" pitchFamily="34" charset="0"/>
                <a:cs typeface="Times New Roman" pitchFamily="18" charset="0"/>
              </a:rPr>
              <a:t>Evaluation as a means of </a:t>
            </a:r>
            <a:r>
              <a:rPr lang="en-US" sz="1500" b="1" dirty="0" smtClean="0">
                <a:latin typeface="Verdana" pitchFamily="34" charset="0"/>
                <a:cs typeface="Times New Roman" pitchFamily="18" charset="0"/>
              </a:rPr>
              <a:t>involving people in the design process.</a:t>
            </a:r>
          </a:p>
          <a:p>
            <a:pPr algn="just" eaLnBrk="1" hangingPunct="1">
              <a:lnSpc>
                <a:spcPct val="200000"/>
              </a:lnSpc>
            </a:pPr>
            <a:r>
              <a:rPr lang="en-US" sz="1500" dirty="0" smtClean="0">
                <a:latin typeface="Verdana" pitchFamily="34" charset="0"/>
                <a:cs typeface="Times New Roman" pitchFamily="18" charset="0"/>
              </a:rPr>
              <a:t>In participatory design approach, stakeholders help designers set the goals for the evaluation work. </a:t>
            </a:r>
          </a:p>
          <a:p>
            <a:pPr algn="just" eaLnBrk="1" hangingPunct="1">
              <a:lnSpc>
                <a:spcPct val="200000"/>
              </a:lnSpc>
            </a:pPr>
            <a:r>
              <a:rPr lang="en-US" sz="1500" dirty="0" smtClean="0">
                <a:latin typeface="Verdana" pitchFamily="34" charset="0"/>
                <a:cs typeface="Times New Roman" pitchFamily="18" charset="0"/>
              </a:rPr>
              <a:t>Involving stakeholders has great benefits in terms of eventual uptake and use of the technology.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lnSpc>
                <a:spcPct val="120000"/>
              </a:lnSpc>
            </a:pPr>
            <a:r>
              <a:rPr lang="en-US" sz="3000" b="1" dirty="0" smtClean="0">
                <a:solidFill>
                  <a:srgbClr val="0070C0"/>
                </a:solidFill>
                <a:latin typeface="Verdana" pitchFamily="34" charset="0"/>
                <a:cs typeface="Times New Roman" pitchFamily="18" charset="0"/>
              </a:rPr>
              <a:t>Expert evaluation</a:t>
            </a:r>
          </a:p>
        </p:txBody>
      </p:sp>
      <p:sp>
        <p:nvSpPr>
          <p:cNvPr id="24578" name="Text Placeholder 2"/>
          <p:cNvSpPr>
            <a:spLocks noGrp="1"/>
          </p:cNvSpPr>
          <p:nvPr>
            <p:ph type="body" idx="1"/>
          </p:nvPr>
        </p:nvSpPr>
        <p:spPr>
          <a:xfrm>
            <a:off x="446856" y="1417638"/>
            <a:ext cx="8229600" cy="4747666"/>
          </a:xfrm>
        </p:spPr>
        <p:txBody>
          <a:bodyPr/>
          <a:lstStyle/>
          <a:p>
            <a:pPr algn="just" eaLnBrk="1" hangingPunct="1">
              <a:lnSpc>
                <a:spcPct val="150000"/>
              </a:lnSpc>
            </a:pPr>
            <a:r>
              <a:rPr lang="en-US" sz="1600" dirty="0" smtClean="0">
                <a:latin typeface="Verdana" pitchFamily="34" charset="0"/>
                <a:cs typeface="Times New Roman" pitchFamily="18" charset="0"/>
              </a:rPr>
              <a:t>A simple, relatively quick and effective method of evaluation is to get an interaction design, or usability, </a:t>
            </a:r>
            <a:r>
              <a:rPr lang="en-US" sz="1600" b="1" dirty="0" smtClean="0">
                <a:latin typeface="Verdana" pitchFamily="34" charset="0"/>
                <a:cs typeface="Times New Roman" pitchFamily="18" charset="0"/>
              </a:rPr>
              <a:t>expert to look at the system </a:t>
            </a:r>
            <a:r>
              <a:rPr lang="en-US" sz="1600" dirty="0" smtClean="0">
                <a:latin typeface="Verdana" pitchFamily="34" charset="0"/>
                <a:cs typeface="Times New Roman" pitchFamily="18" charset="0"/>
              </a:rPr>
              <a:t>and try using it. </a:t>
            </a:r>
          </a:p>
          <a:p>
            <a:pPr algn="just" eaLnBrk="1" hangingPunct="1">
              <a:lnSpc>
                <a:spcPct val="150000"/>
              </a:lnSpc>
            </a:pPr>
            <a:r>
              <a:rPr lang="en-US" sz="1600" dirty="0" smtClean="0">
                <a:latin typeface="Verdana" pitchFamily="34" charset="0"/>
                <a:cs typeface="Times New Roman" pitchFamily="18" charset="0"/>
              </a:rPr>
              <a:t>This is no substitute for getting real people to use your design, but </a:t>
            </a:r>
            <a:r>
              <a:rPr lang="en-US" sz="1600" b="1" dirty="0" smtClean="0">
                <a:latin typeface="Verdana" pitchFamily="34" charset="0"/>
                <a:cs typeface="Times New Roman" pitchFamily="18" charset="0"/>
              </a:rPr>
              <a:t>expert evaluation is effective</a:t>
            </a:r>
            <a:r>
              <a:rPr lang="en-US" sz="1600" dirty="0" smtClean="0">
                <a:latin typeface="Verdana" pitchFamily="34" charset="0"/>
                <a:cs typeface="Times New Roman" pitchFamily="18" charset="0"/>
              </a:rPr>
              <a:t> </a:t>
            </a:r>
            <a:r>
              <a:rPr lang="en-US" sz="1600" b="1" dirty="0" smtClean="0">
                <a:latin typeface="Verdana" pitchFamily="34" charset="0"/>
                <a:cs typeface="Times New Roman" pitchFamily="18" charset="0"/>
              </a:rPr>
              <a:t>particularly early in the design process</a:t>
            </a:r>
            <a:r>
              <a:rPr lang="en-US" sz="1600" dirty="0" smtClean="0">
                <a:latin typeface="Verdana" pitchFamily="34" charset="0"/>
                <a:cs typeface="Times New Roman" pitchFamily="18" charset="0"/>
              </a:rPr>
              <a:t>.</a:t>
            </a:r>
          </a:p>
          <a:p>
            <a:pPr algn="just" eaLnBrk="1" hangingPunct="1">
              <a:lnSpc>
                <a:spcPct val="150000"/>
              </a:lnSpc>
            </a:pPr>
            <a:r>
              <a:rPr lang="en-US" sz="1600" dirty="0" smtClean="0">
                <a:latin typeface="Verdana" pitchFamily="34" charset="0"/>
                <a:cs typeface="Times New Roman" pitchFamily="18" charset="0"/>
              </a:rPr>
              <a:t>Experts will pick up common problems based on their experience, and will </a:t>
            </a:r>
            <a:r>
              <a:rPr lang="en-US" sz="1600" b="1" dirty="0" smtClean="0">
                <a:latin typeface="Verdana" pitchFamily="34" charset="0"/>
                <a:cs typeface="Times New Roman" pitchFamily="18" charset="0"/>
              </a:rPr>
              <a:t>identify factors </a:t>
            </a:r>
            <a:r>
              <a:rPr lang="en-US" sz="1600" dirty="0" smtClean="0">
                <a:latin typeface="Verdana" pitchFamily="34" charset="0"/>
                <a:cs typeface="Times New Roman" pitchFamily="18" charset="0"/>
              </a:rPr>
              <a:t>that might otherwise interfere with an evaluation by non-experts.</a:t>
            </a:r>
          </a:p>
          <a:p>
            <a:pPr algn="just" eaLnBrk="1" hangingPunct="1">
              <a:lnSpc>
                <a:spcPct val="150000"/>
              </a:lnSpc>
            </a:pPr>
            <a:r>
              <a:rPr lang="en-US" sz="1600" dirty="0" smtClean="0">
                <a:latin typeface="Verdana" pitchFamily="34" charset="0"/>
                <a:cs typeface="Times New Roman" pitchFamily="18" charset="0"/>
              </a:rPr>
              <a:t>However, </a:t>
            </a:r>
            <a:r>
              <a:rPr lang="en-US" sz="1600" b="1" dirty="0" smtClean="0">
                <a:latin typeface="Verdana" pitchFamily="34" charset="0"/>
                <a:cs typeface="Times New Roman" pitchFamily="18" charset="0"/>
              </a:rPr>
              <a:t>to help the experts structure their evaluation, it is useful to adopt a particular approach</a:t>
            </a:r>
            <a:r>
              <a:rPr lang="en-US" sz="1600" dirty="0" smtClean="0">
                <a:latin typeface="Verdana" pitchFamily="34" charset="0"/>
                <a:cs typeface="Times New Roman" pitchFamily="18" charset="0"/>
              </a:rPr>
              <a:t>. </a:t>
            </a:r>
            <a:r>
              <a:rPr lang="en-US" sz="1600" dirty="0" smtClean="0">
                <a:solidFill>
                  <a:srgbClr val="00B050"/>
                </a:solidFill>
                <a:latin typeface="Verdana" pitchFamily="34" charset="0"/>
                <a:cs typeface="Times New Roman" pitchFamily="18" charset="0"/>
              </a:rPr>
              <a:t>(method)</a:t>
            </a:r>
          </a:p>
          <a:p>
            <a:pPr algn="just" eaLnBrk="1" hangingPunct="1">
              <a:lnSpc>
                <a:spcPct val="150000"/>
              </a:lnSpc>
            </a:pPr>
            <a:r>
              <a:rPr lang="en-US" sz="1600" dirty="0" smtClean="0">
                <a:latin typeface="Verdana" pitchFamily="34" charset="0"/>
                <a:cs typeface="Times New Roman" pitchFamily="18" charset="0"/>
              </a:rPr>
              <a:t>This will help to focus the expert’s critique on the most relevant aspects for the purpose.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274638"/>
            <a:ext cx="8229600" cy="778098"/>
          </a:xfrm>
        </p:spPr>
        <p:txBody>
          <a:bodyPr/>
          <a:lstStyle/>
          <a:p>
            <a:pPr eaLnBrk="1" hangingPunct="1">
              <a:lnSpc>
                <a:spcPct val="120000"/>
              </a:lnSpc>
            </a:pPr>
            <a:r>
              <a:rPr lang="en-US" sz="1800" b="1" dirty="0" smtClean="0">
                <a:solidFill>
                  <a:srgbClr val="0070C0"/>
                </a:solidFill>
                <a:latin typeface="Verdana" pitchFamily="34" charset="0"/>
                <a:cs typeface="Times New Roman" pitchFamily="18" charset="0"/>
              </a:rPr>
              <a:t>Heuristic Evaluation</a:t>
            </a:r>
          </a:p>
        </p:txBody>
      </p:sp>
      <p:sp>
        <p:nvSpPr>
          <p:cNvPr id="25602" name="Text Placeholder 2"/>
          <p:cNvSpPr>
            <a:spLocks noGrp="1"/>
          </p:cNvSpPr>
          <p:nvPr>
            <p:ph type="body" idx="1"/>
          </p:nvPr>
        </p:nvSpPr>
        <p:spPr>
          <a:xfrm>
            <a:off x="457200" y="1052736"/>
            <a:ext cx="8229600" cy="5112568"/>
          </a:xfrm>
        </p:spPr>
        <p:txBody>
          <a:bodyPr/>
          <a:lstStyle/>
          <a:p>
            <a:pPr algn="just" eaLnBrk="1" hangingPunct="1">
              <a:lnSpc>
                <a:spcPct val="200000"/>
              </a:lnSpc>
            </a:pPr>
            <a:r>
              <a:rPr lang="en-US" sz="1500" dirty="0" smtClean="0">
                <a:latin typeface="Verdana" pitchFamily="34" charset="0"/>
                <a:cs typeface="Times New Roman" pitchFamily="18" charset="0"/>
              </a:rPr>
              <a:t>Heuristic evaluation refers to a number of methods in which a person trained in HCI and interaction design examines a proposed design it </a:t>
            </a:r>
            <a:r>
              <a:rPr lang="en-US" sz="1500" b="1" dirty="0" smtClean="0">
                <a:latin typeface="Verdana" pitchFamily="34" charset="0"/>
                <a:cs typeface="Times New Roman" pitchFamily="18" charset="0"/>
              </a:rPr>
              <a:t>measures up against a list of principles, guidelines</a:t>
            </a:r>
            <a:r>
              <a:rPr lang="en-US" sz="1500" dirty="0" smtClean="0">
                <a:latin typeface="Verdana" pitchFamily="34" charset="0"/>
                <a:cs typeface="Times New Roman" pitchFamily="18" charset="0"/>
              </a:rPr>
              <a:t> or ‘heuristics’ for good design. </a:t>
            </a:r>
          </a:p>
          <a:p>
            <a:pPr algn="just" eaLnBrk="1" hangingPunct="1">
              <a:lnSpc>
                <a:spcPct val="200000"/>
              </a:lnSpc>
            </a:pPr>
            <a:r>
              <a:rPr lang="en-US" sz="1500" dirty="0">
                <a:latin typeface="Verdana" pitchFamily="34" charset="0"/>
                <a:cs typeface="Times New Roman" pitchFamily="18" charset="0"/>
              </a:rPr>
              <a:t>Heuristic evaluation is a </a:t>
            </a:r>
            <a:r>
              <a:rPr lang="en-US" sz="1500" b="1" dirty="0">
                <a:latin typeface="Verdana" pitchFamily="34" charset="0"/>
                <a:cs typeface="Times New Roman" pitchFamily="18" charset="0"/>
              </a:rPr>
              <a:t>usability inspection method </a:t>
            </a:r>
            <a:r>
              <a:rPr lang="en-US" sz="1500" dirty="0">
                <a:latin typeface="Verdana" pitchFamily="34" charset="0"/>
                <a:cs typeface="Times New Roman" pitchFamily="18" charset="0"/>
              </a:rPr>
              <a:t>where experts assess a user interface (UI) by </a:t>
            </a:r>
            <a:r>
              <a:rPr lang="en-US" sz="1500" b="1" dirty="0">
                <a:latin typeface="Verdana" pitchFamily="34" charset="0"/>
                <a:cs typeface="Times New Roman" pitchFamily="18" charset="0"/>
              </a:rPr>
              <a:t>comparing it against a set of established usability principles, known as heuristics</a:t>
            </a:r>
            <a:r>
              <a:rPr lang="en-US" sz="1500" dirty="0">
                <a:latin typeface="Verdana" pitchFamily="34" charset="0"/>
                <a:cs typeface="Times New Roman" pitchFamily="18" charset="0"/>
              </a:rPr>
              <a:t>. It's a </a:t>
            </a:r>
            <a:r>
              <a:rPr lang="en-US" sz="1500" b="1" dirty="0">
                <a:latin typeface="Verdana" pitchFamily="34" charset="0"/>
                <a:cs typeface="Times New Roman" pitchFamily="18" charset="0"/>
              </a:rPr>
              <a:t>quick and cost-effective</a:t>
            </a:r>
            <a:r>
              <a:rPr lang="en-US" sz="1500" dirty="0">
                <a:latin typeface="Verdana" pitchFamily="34" charset="0"/>
                <a:cs typeface="Times New Roman" pitchFamily="18" charset="0"/>
              </a:rPr>
              <a:t> way to </a:t>
            </a:r>
            <a:r>
              <a:rPr lang="en-US" sz="1500" b="1" dirty="0">
                <a:latin typeface="Verdana" pitchFamily="34" charset="0"/>
                <a:cs typeface="Times New Roman" pitchFamily="18" charset="0"/>
              </a:rPr>
              <a:t>identify potential usability problems </a:t>
            </a:r>
            <a:r>
              <a:rPr lang="en-US" sz="1500" dirty="0">
                <a:latin typeface="Verdana" pitchFamily="34" charset="0"/>
                <a:cs typeface="Times New Roman" pitchFamily="18" charset="0"/>
              </a:rPr>
              <a:t>before user testing or product launch. </a:t>
            </a:r>
            <a:endParaRPr lang="en-US" sz="1500" dirty="0" smtClean="0">
              <a:latin typeface="Verdana" pitchFamily="34" charset="0"/>
              <a:cs typeface="Times New Roman" pitchFamily="18" charset="0"/>
            </a:endParaRPr>
          </a:p>
          <a:p>
            <a:pPr algn="just" eaLnBrk="1" hangingPunct="1">
              <a:lnSpc>
                <a:spcPct val="200000"/>
              </a:lnSpc>
            </a:pPr>
            <a:r>
              <a:rPr lang="en-US" sz="1500" dirty="0" smtClean="0">
                <a:latin typeface="Verdana" pitchFamily="34" charset="0"/>
                <a:cs typeface="Times New Roman" pitchFamily="18" charset="0"/>
              </a:rPr>
              <a:t>This </a:t>
            </a:r>
            <a:r>
              <a:rPr lang="en-US" sz="1500" dirty="0" smtClean="0">
                <a:latin typeface="Verdana" pitchFamily="34" charset="0"/>
                <a:cs typeface="Times New Roman" pitchFamily="18" charset="0"/>
              </a:rPr>
              <a:t>review may be a quick discussion over the shoulder of a colleague, or may be a formal, carefully documented process.  </a:t>
            </a:r>
          </a:p>
          <a:p>
            <a:pPr algn="just" eaLnBrk="1" hangingPunct="1">
              <a:lnSpc>
                <a:spcPct val="200000"/>
              </a:lnSpc>
            </a:pPr>
            <a:r>
              <a:rPr lang="en-US" sz="1500" dirty="0" smtClean="0">
                <a:latin typeface="Verdana" pitchFamily="34" charset="0"/>
                <a:cs typeface="Times New Roman" pitchFamily="18" charset="0"/>
              </a:rPr>
              <a:t>There are </a:t>
            </a:r>
            <a:r>
              <a:rPr lang="en-US" sz="1500" b="1" dirty="0" smtClean="0">
                <a:latin typeface="Verdana" pitchFamily="34" charset="0"/>
                <a:cs typeface="Times New Roman" pitchFamily="18" charset="0"/>
              </a:rPr>
              <a:t>many sets of heuristics </a:t>
            </a:r>
            <a:r>
              <a:rPr lang="en-US" sz="1500" dirty="0" smtClean="0">
                <a:latin typeface="Verdana" pitchFamily="34" charset="0"/>
                <a:cs typeface="Times New Roman" pitchFamily="18" charset="0"/>
              </a:rPr>
              <a:t>to choose from, both </a:t>
            </a:r>
            <a:r>
              <a:rPr lang="en-US" sz="1500" b="1" dirty="0" smtClean="0">
                <a:latin typeface="Verdana" pitchFamily="34" charset="0"/>
                <a:cs typeface="Times New Roman" pitchFamily="18" charset="0"/>
              </a:rPr>
              <a:t>general purpose </a:t>
            </a:r>
            <a:r>
              <a:rPr lang="en-US" sz="1500" dirty="0" smtClean="0">
                <a:latin typeface="Verdana" pitchFamily="34" charset="0"/>
                <a:cs typeface="Times New Roman" pitchFamily="18" charset="0"/>
              </a:rPr>
              <a:t>and those </a:t>
            </a:r>
            <a:r>
              <a:rPr lang="en-US" sz="1500" b="1" dirty="0" smtClean="0">
                <a:latin typeface="Verdana" pitchFamily="34" charset="0"/>
                <a:cs typeface="Times New Roman" pitchFamily="18" charset="0"/>
              </a:rPr>
              <a:t>relating to particular application domains</a:t>
            </a:r>
            <a:r>
              <a:rPr lang="en-US" sz="1500" dirty="0" smtClean="0">
                <a:latin typeface="Verdana" pitchFamily="34" charset="0"/>
                <a:cs typeface="Times New Roman" pitchFamily="18" charset="0"/>
              </a:rPr>
              <a:t>.</a:t>
            </a:r>
          </a:p>
          <a:p>
            <a:pPr marL="0" indent="0" algn="just" eaLnBrk="1" hangingPunct="1">
              <a:lnSpc>
                <a:spcPct val="200000"/>
              </a:lnSpc>
              <a:buNone/>
            </a:pPr>
            <a:endParaRPr lang="en-US" sz="15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274638"/>
            <a:ext cx="8229600" cy="778098"/>
          </a:xfrm>
        </p:spPr>
        <p:txBody>
          <a:bodyPr/>
          <a:lstStyle/>
          <a:p>
            <a:pPr eaLnBrk="1" hangingPunct="1">
              <a:lnSpc>
                <a:spcPct val="120000"/>
              </a:lnSpc>
            </a:pPr>
            <a:r>
              <a:rPr lang="en-US" sz="1500" b="1" dirty="0" smtClean="0">
                <a:solidFill>
                  <a:srgbClr val="0070C0"/>
                </a:solidFill>
                <a:latin typeface="Verdana" pitchFamily="34" charset="0"/>
                <a:cs typeface="Times New Roman" pitchFamily="18" charset="0"/>
              </a:rPr>
              <a:t>Heuristic Evaluation</a:t>
            </a:r>
          </a:p>
        </p:txBody>
      </p:sp>
      <p:sp>
        <p:nvSpPr>
          <p:cNvPr id="25602" name="Text Placeholder 2"/>
          <p:cNvSpPr>
            <a:spLocks noGrp="1"/>
          </p:cNvSpPr>
          <p:nvPr>
            <p:ph type="body" idx="1"/>
          </p:nvPr>
        </p:nvSpPr>
        <p:spPr>
          <a:xfrm>
            <a:off x="470698" y="1085706"/>
            <a:ext cx="8229600" cy="5112568"/>
          </a:xfrm>
        </p:spPr>
        <p:txBody>
          <a:bodyPr/>
          <a:lstStyle/>
          <a:p>
            <a:pPr eaLnBrk="1" hangingPunct="1">
              <a:lnSpc>
                <a:spcPct val="200000"/>
              </a:lnSpc>
            </a:pPr>
            <a:r>
              <a:rPr lang="en-US" sz="1500" dirty="0">
                <a:latin typeface="Verdana" pitchFamily="34" charset="0"/>
                <a:cs typeface="Times New Roman" pitchFamily="18" charset="0"/>
              </a:rPr>
              <a:t>HE was first introduced by Nielsen and </a:t>
            </a:r>
            <a:r>
              <a:rPr lang="en-US" sz="1500" dirty="0" err="1">
                <a:latin typeface="Verdana" pitchFamily="34" charset="0"/>
                <a:cs typeface="Times New Roman" pitchFamily="18" charset="0"/>
              </a:rPr>
              <a:t>Molich</a:t>
            </a:r>
            <a:r>
              <a:rPr lang="en-US" sz="1500" dirty="0">
                <a:latin typeface="Verdana" pitchFamily="34" charset="0"/>
                <a:cs typeface="Times New Roman" pitchFamily="18" charset="0"/>
              </a:rPr>
              <a:t> and then revised by Nielsen.</a:t>
            </a:r>
            <a:endParaRPr lang="en-US" sz="1500" dirty="0" smtClean="0">
              <a:latin typeface="Verdana" pitchFamily="34" charset="0"/>
              <a:cs typeface="Times New Roman" pitchFamily="18" charset="0"/>
            </a:endParaRPr>
          </a:p>
          <a:p>
            <a:pPr eaLnBrk="1" hangingPunct="1">
              <a:lnSpc>
                <a:spcPct val="200000"/>
              </a:lnSpc>
            </a:pPr>
            <a:r>
              <a:rPr lang="en-US" sz="1500" dirty="0" smtClean="0">
                <a:latin typeface="Verdana" pitchFamily="34" charset="0"/>
                <a:cs typeface="Times New Roman" pitchFamily="18" charset="0"/>
              </a:rPr>
              <a:t>Here is a brief list of the design principles – or heuristics – that we propose</a:t>
            </a:r>
          </a:p>
          <a:p>
            <a:pPr lvl="1" eaLnBrk="1" hangingPunct="1">
              <a:lnSpc>
                <a:spcPct val="200000"/>
              </a:lnSpc>
              <a:buFont typeface="Arial" charset="0"/>
              <a:buNone/>
            </a:pPr>
            <a:r>
              <a:rPr lang="en-US" sz="1600" dirty="0" smtClean="0">
                <a:latin typeface="Verdana" pitchFamily="34" charset="0"/>
                <a:cs typeface="Times New Roman" pitchFamily="18" charset="0"/>
              </a:rPr>
              <a:t>1.	Visibility				7.	Feedback</a:t>
            </a:r>
          </a:p>
          <a:p>
            <a:pPr lvl="1" eaLnBrk="1" hangingPunct="1">
              <a:lnSpc>
                <a:spcPct val="200000"/>
              </a:lnSpc>
              <a:buFont typeface="Arial" charset="0"/>
              <a:buNone/>
            </a:pPr>
            <a:r>
              <a:rPr lang="en-US" sz="1600" dirty="0" smtClean="0">
                <a:latin typeface="Verdana" pitchFamily="34" charset="0"/>
                <a:cs typeface="Times New Roman" pitchFamily="18" charset="0"/>
              </a:rPr>
              <a:t>2.	Consistency			8.	Recovery</a:t>
            </a:r>
          </a:p>
          <a:p>
            <a:pPr lvl="1" eaLnBrk="1" hangingPunct="1">
              <a:lnSpc>
                <a:spcPct val="200000"/>
              </a:lnSpc>
              <a:buFont typeface="Arial" charset="0"/>
              <a:buNone/>
            </a:pPr>
            <a:r>
              <a:rPr lang="en-US" sz="1600" dirty="0" smtClean="0">
                <a:latin typeface="Verdana" pitchFamily="34" charset="0"/>
                <a:cs typeface="Times New Roman" pitchFamily="18" charset="0"/>
              </a:rPr>
              <a:t>3.	Familiarity				9.	Constraints</a:t>
            </a:r>
          </a:p>
          <a:p>
            <a:pPr lvl="1" eaLnBrk="1" hangingPunct="1">
              <a:lnSpc>
                <a:spcPct val="200000"/>
              </a:lnSpc>
              <a:buFont typeface="Arial" charset="0"/>
              <a:buNone/>
            </a:pPr>
            <a:r>
              <a:rPr lang="en-US" sz="1600" dirty="0" smtClean="0">
                <a:latin typeface="Verdana" pitchFamily="34" charset="0"/>
                <a:cs typeface="Times New Roman" pitchFamily="18" charset="0"/>
              </a:rPr>
              <a:t>4.	Affordance			10.	Flexibility</a:t>
            </a:r>
          </a:p>
          <a:p>
            <a:pPr lvl="1" eaLnBrk="1" hangingPunct="1">
              <a:lnSpc>
                <a:spcPct val="200000"/>
              </a:lnSpc>
              <a:buFont typeface="Arial" charset="0"/>
              <a:buNone/>
            </a:pPr>
            <a:r>
              <a:rPr lang="en-US" sz="1600" dirty="0" smtClean="0">
                <a:latin typeface="Verdana" pitchFamily="34" charset="0"/>
                <a:cs typeface="Times New Roman" pitchFamily="18" charset="0"/>
              </a:rPr>
              <a:t>5.	Navigation			11.	Style</a:t>
            </a:r>
          </a:p>
          <a:p>
            <a:pPr lvl="1" eaLnBrk="1" hangingPunct="1">
              <a:lnSpc>
                <a:spcPct val="200000"/>
              </a:lnSpc>
              <a:buFont typeface="Arial" charset="0"/>
              <a:buNone/>
            </a:pPr>
            <a:r>
              <a:rPr lang="en-US" sz="1600" dirty="0" smtClean="0">
                <a:latin typeface="Verdana" pitchFamily="34" charset="0"/>
                <a:cs typeface="Times New Roman" pitchFamily="18" charset="0"/>
              </a:rPr>
              <a:t>6.	Control				12.	Conviviality</a:t>
            </a:r>
          </a:p>
        </p:txBody>
      </p:sp>
    </p:spTree>
    <p:extLst>
      <p:ext uri="{BB962C8B-B14F-4D97-AF65-F5344CB8AC3E}">
        <p14:creationId xmlns:p14="http://schemas.microsoft.com/office/powerpoint/2010/main" val="41335765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cs typeface="Times New Roman" pitchFamily="18" charset="0"/>
              </a:rPr>
              <a:t>Discount Usability Engineering</a:t>
            </a:r>
          </a:p>
        </p:txBody>
      </p:sp>
      <p:sp>
        <p:nvSpPr>
          <p:cNvPr id="27650" name="Text Placeholder 2"/>
          <p:cNvSpPr>
            <a:spLocks noGrp="1"/>
          </p:cNvSpPr>
          <p:nvPr>
            <p:ph type="body" idx="1"/>
          </p:nvPr>
        </p:nvSpPr>
        <p:spPr>
          <a:xfrm>
            <a:off x="457200" y="1124744"/>
            <a:ext cx="8229600" cy="4857403"/>
          </a:xfrm>
        </p:spPr>
        <p:txBody>
          <a:bodyPr/>
          <a:lstStyle/>
          <a:p>
            <a:pPr algn="just" eaLnBrk="1" hangingPunct="1">
              <a:lnSpc>
                <a:spcPct val="150000"/>
              </a:lnSpc>
            </a:pPr>
            <a:r>
              <a:rPr lang="en-US" sz="1500" dirty="0" smtClean="0">
                <a:latin typeface="Verdana" pitchFamily="34" charset="0"/>
                <a:cs typeface="Times New Roman" pitchFamily="18" charset="0"/>
              </a:rPr>
              <a:t>The list of design principles, in last slide, can be summarized by the three over-arching usability principles of </a:t>
            </a:r>
          </a:p>
          <a:p>
            <a:pPr lvl="1" algn="just" eaLnBrk="1" hangingPunct="1">
              <a:lnSpc>
                <a:spcPct val="150000"/>
              </a:lnSpc>
            </a:pPr>
            <a:r>
              <a:rPr lang="en-US" sz="1500" b="1" dirty="0" smtClean="0">
                <a:latin typeface="Verdana" pitchFamily="34" charset="0"/>
                <a:cs typeface="Times New Roman" pitchFamily="18" charset="0"/>
              </a:rPr>
              <a:t>learnability </a:t>
            </a:r>
            <a:r>
              <a:rPr lang="en-US" sz="1500" dirty="0" smtClean="0">
                <a:latin typeface="Verdana" pitchFamily="34" charset="0"/>
                <a:cs typeface="Times New Roman" pitchFamily="18" charset="0"/>
              </a:rPr>
              <a:t>(principles 1 – 4), </a:t>
            </a:r>
          </a:p>
          <a:p>
            <a:pPr lvl="1" algn="just" eaLnBrk="1" hangingPunct="1">
              <a:lnSpc>
                <a:spcPct val="150000"/>
              </a:lnSpc>
            </a:pPr>
            <a:r>
              <a:rPr lang="en-US" sz="1500" b="1" dirty="0" smtClean="0">
                <a:latin typeface="Verdana" pitchFamily="34" charset="0"/>
                <a:cs typeface="Times New Roman" pitchFamily="18" charset="0"/>
              </a:rPr>
              <a:t>effectiveness </a:t>
            </a:r>
            <a:r>
              <a:rPr lang="en-US" sz="1500" dirty="0" smtClean="0">
                <a:latin typeface="Verdana" pitchFamily="34" charset="0"/>
                <a:cs typeface="Times New Roman" pitchFamily="18" charset="0"/>
              </a:rPr>
              <a:t>(principles 5 – 9) </a:t>
            </a:r>
          </a:p>
          <a:p>
            <a:pPr lvl="1" algn="just" eaLnBrk="1" hangingPunct="1">
              <a:lnSpc>
                <a:spcPct val="150000"/>
              </a:lnSpc>
            </a:pPr>
            <a:r>
              <a:rPr lang="en-US" sz="1500" b="1" dirty="0" smtClean="0">
                <a:latin typeface="Verdana" pitchFamily="34" charset="0"/>
                <a:cs typeface="Times New Roman" pitchFamily="18" charset="0"/>
              </a:rPr>
              <a:t>accommodation </a:t>
            </a:r>
            <a:r>
              <a:rPr lang="en-US" sz="1500" dirty="0" smtClean="0">
                <a:latin typeface="Verdana" pitchFamily="34" charset="0"/>
                <a:cs typeface="Times New Roman" pitchFamily="18" charset="0"/>
              </a:rPr>
              <a:t>(principles 10 – 12). </a:t>
            </a:r>
          </a:p>
          <a:p>
            <a:pPr algn="just" eaLnBrk="1" hangingPunct="1">
              <a:lnSpc>
                <a:spcPct val="150000"/>
              </a:lnSpc>
            </a:pPr>
            <a:r>
              <a:rPr lang="en-US" sz="1500" dirty="0" smtClean="0">
                <a:latin typeface="Verdana" pitchFamily="34" charset="0"/>
                <a:cs typeface="Times New Roman" pitchFamily="18" charset="0"/>
              </a:rPr>
              <a:t>If </a:t>
            </a:r>
            <a:r>
              <a:rPr lang="en-US" sz="1500" b="1" dirty="0" smtClean="0">
                <a:latin typeface="Verdana" pitchFamily="34" charset="0"/>
                <a:cs typeface="Times New Roman" pitchFamily="18" charset="0"/>
              </a:rPr>
              <a:t>time is very short</a:t>
            </a:r>
            <a:r>
              <a:rPr lang="en-US" sz="1500" dirty="0" smtClean="0">
                <a:latin typeface="Verdana" pitchFamily="34" charset="0"/>
                <a:cs typeface="Times New Roman" pitchFamily="18" charset="0"/>
              </a:rPr>
              <a:t>, a quick review of the design against this triad can produce reasonably useful results. </a:t>
            </a:r>
          </a:p>
          <a:p>
            <a:pPr algn="just" eaLnBrk="1" hangingPunct="1">
              <a:lnSpc>
                <a:spcPct val="150000"/>
              </a:lnSpc>
            </a:pPr>
            <a:r>
              <a:rPr lang="en-US" sz="1500" dirty="0" smtClean="0">
                <a:latin typeface="Verdana" pitchFamily="34" charset="0"/>
                <a:cs typeface="Times New Roman" pitchFamily="18" charset="0"/>
              </a:rPr>
              <a:t>This approach to evaluation was pioneered by </a:t>
            </a:r>
            <a:r>
              <a:rPr lang="en-US" sz="1500" b="1" dirty="0" err="1" smtClean="0">
                <a:latin typeface="Verdana" pitchFamily="34" charset="0"/>
                <a:cs typeface="Times New Roman" pitchFamily="18" charset="0"/>
              </a:rPr>
              <a:t>Jakob</a:t>
            </a:r>
            <a:r>
              <a:rPr lang="en-US" sz="1500" b="1" dirty="0" smtClean="0">
                <a:latin typeface="Verdana" pitchFamily="34" charset="0"/>
                <a:cs typeface="Times New Roman" pitchFamily="18" charset="0"/>
              </a:rPr>
              <a:t> Nielsen (1993) </a:t>
            </a:r>
            <a:r>
              <a:rPr lang="en-US" sz="1500" dirty="0" smtClean="0">
                <a:latin typeface="Verdana" pitchFamily="34" charset="0"/>
                <a:cs typeface="Times New Roman" pitchFamily="18" charset="0"/>
              </a:rPr>
              <a:t>and enthusiastically followed by many time-pressured evaluation practitioners. </a:t>
            </a:r>
          </a:p>
          <a:p>
            <a:pPr algn="just" eaLnBrk="1" hangingPunct="1">
              <a:lnSpc>
                <a:spcPct val="150000"/>
              </a:lnSpc>
            </a:pPr>
            <a:r>
              <a:rPr lang="en-US" sz="1500" dirty="0" smtClean="0">
                <a:latin typeface="Verdana" pitchFamily="34" charset="0"/>
                <a:cs typeface="Times New Roman" pitchFamily="18" charset="0"/>
              </a:rPr>
              <a:t>It is now used for any </a:t>
            </a:r>
            <a:r>
              <a:rPr lang="en-US" sz="1500" b="1" dirty="0" smtClean="0">
                <a:latin typeface="Verdana" pitchFamily="34" charset="0"/>
                <a:cs typeface="Times New Roman" pitchFamily="18" charset="0"/>
              </a:rPr>
              <a:t>‘quick and dirty’ approach </a:t>
            </a:r>
            <a:r>
              <a:rPr lang="en-US" sz="1500" dirty="0" smtClean="0">
                <a:latin typeface="Verdana" pitchFamily="34" charset="0"/>
                <a:cs typeface="Times New Roman" pitchFamily="18" charset="0"/>
              </a:rPr>
              <a:t>to evaluation where the aim is to get useful, informed (informal) feedback as soon as possible.</a:t>
            </a:r>
          </a:p>
          <a:p>
            <a:pPr algn="just" eaLnBrk="1" hangingPunct="1">
              <a:lnSpc>
                <a:spcPct val="150000"/>
              </a:lnSpc>
            </a:pPr>
            <a:r>
              <a:rPr lang="en-US" sz="1500" dirty="0" smtClean="0">
                <a:latin typeface="Verdana" pitchFamily="34" charset="0"/>
                <a:cs typeface="Times New Roman" pitchFamily="18" charset="0"/>
              </a:rPr>
              <a:t>Once again a number of usability </a:t>
            </a:r>
            <a:r>
              <a:rPr lang="en-US" sz="1500" b="1" dirty="0" smtClean="0">
                <a:latin typeface="Verdana" pitchFamily="34" charset="0"/>
                <a:cs typeface="Times New Roman" pitchFamily="18" charset="0"/>
              </a:rPr>
              <a:t>experts ‘walk through’ </a:t>
            </a:r>
            <a:r>
              <a:rPr lang="en-US" sz="1500" dirty="0" smtClean="0">
                <a:latin typeface="Verdana" pitchFamily="34" charset="0"/>
                <a:cs typeface="Times New Roman" pitchFamily="18" charset="0"/>
              </a:rPr>
              <a:t>concrete scenarios, preferably accompanied by personas, and inspect the design for difficulties.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57200" y="116632"/>
            <a:ext cx="8229600" cy="562074"/>
          </a:xfrm>
        </p:spPr>
        <p:txBody>
          <a:bodyPr/>
          <a:lstStyle/>
          <a:p>
            <a:pPr eaLnBrk="1" hangingPunct="1">
              <a:lnSpc>
                <a:spcPct val="120000"/>
              </a:lnSpc>
            </a:pPr>
            <a:r>
              <a:rPr lang="en-US" sz="1500" dirty="0" smtClean="0">
                <a:latin typeface="Verdana" pitchFamily="34" charset="0"/>
                <a:cs typeface="Times New Roman" pitchFamily="18" charset="0"/>
              </a:rPr>
              <a:t>Cognitive Walkthrough</a:t>
            </a:r>
          </a:p>
        </p:txBody>
      </p:sp>
      <p:sp>
        <p:nvSpPr>
          <p:cNvPr id="33794" name="Text Placeholder 2"/>
          <p:cNvSpPr>
            <a:spLocks noGrp="1"/>
          </p:cNvSpPr>
          <p:nvPr>
            <p:ph type="body" idx="1"/>
          </p:nvPr>
        </p:nvSpPr>
        <p:spPr>
          <a:xfrm>
            <a:off x="456844" y="836712"/>
            <a:ext cx="8229600" cy="5472608"/>
          </a:xfrm>
        </p:spPr>
        <p:txBody>
          <a:bodyPr/>
          <a:lstStyle/>
          <a:p>
            <a:pPr algn="just" eaLnBrk="1" hangingPunct="1">
              <a:lnSpc>
                <a:spcPct val="150000"/>
              </a:lnSpc>
            </a:pPr>
            <a:r>
              <a:rPr lang="en-US" sz="1500" b="1" dirty="0" smtClean="0">
                <a:latin typeface="Verdana" pitchFamily="34" charset="0"/>
                <a:cs typeface="Times New Roman" pitchFamily="18" charset="0"/>
              </a:rPr>
              <a:t>Cognitive walkthrough is a </a:t>
            </a:r>
            <a:r>
              <a:rPr lang="en-US" sz="1500" b="1" dirty="0" smtClean="0">
                <a:solidFill>
                  <a:srgbClr val="FF0000"/>
                </a:solidFill>
                <a:latin typeface="Verdana" pitchFamily="34" charset="0"/>
                <a:cs typeface="Times New Roman" pitchFamily="18" charset="0"/>
              </a:rPr>
              <a:t>rigorous paper-based technique</a:t>
            </a:r>
            <a:r>
              <a:rPr lang="en-US" sz="1500" b="1" dirty="0" smtClean="0">
                <a:latin typeface="Verdana" pitchFamily="34" charset="0"/>
                <a:cs typeface="Times New Roman" pitchFamily="18" charset="0"/>
              </a:rPr>
              <a:t> for checking through the detailed design and logic of steps in an interaction. </a:t>
            </a:r>
          </a:p>
          <a:p>
            <a:pPr algn="just" eaLnBrk="1" hangingPunct="1">
              <a:lnSpc>
                <a:spcPct val="150000"/>
              </a:lnSpc>
            </a:pPr>
            <a:r>
              <a:rPr lang="en-US" sz="1500" dirty="0" smtClean="0">
                <a:latin typeface="Verdana" pitchFamily="34" charset="0"/>
                <a:cs typeface="Times New Roman" pitchFamily="18" charset="0"/>
              </a:rPr>
              <a:t>It is derived from the human information processor view of cognition and </a:t>
            </a:r>
            <a:r>
              <a:rPr lang="en-US" sz="1500" b="1" dirty="0" smtClean="0">
                <a:latin typeface="Verdana" pitchFamily="34" charset="0"/>
                <a:cs typeface="Times New Roman" pitchFamily="18" charset="0"/>
              </a:rPr>
              <a:t>closely related to task analysis </a:t>
            </a:r>
          </a:p>
          <a:p>
            <a:pPr algn="just" eaLnBrk="1" hangingPunct="1">
              <a:lnSpc>
                <a:spcPct val="150000"/>
              </a:lnSpc>
            </a:pPr>
            <a:r>
              <a:rPr lang="en-US" sz="1500" dirty="0" smtClean="0">
                <a:latin typeface="Verdana" pitchFamily="34" charset="0"/>
                <a:cs typeface="Times New Roman" pitchFamily="18" charset="0"/>
              </a:rPr>
              <a:t>Originally developed by Lewis </a:t>
            </a:r>
            <a:r>
              <a:rPr lang="en-US" sz="1500" i="1" dirty="0" smtClean="0">
                <a:latin typeface="Verdana" pitchFamily="34" charset="0"/>
                <a:cs typeface="Times New Roman" pitchFamily="18" charset="0"/>
              </a:rPr>
              <a:t>et al. (1990</a:t>
            </a:r>
            <a:r>
              <a:rPr lang="en-US" sz="1500" dirty="0" smtClean="0">
                <a:latin typeface="Verdana" pitchFamily="34" charset="0"/>
                <a:cs typeface="Times New Roman" pitchFamily="18" charset="0"/>
              </a:rPr>
              <a:t>) for applications where people browse and explore information, it has been extended to interactive systems in general (Wharton et al.,1994).</a:t>
            </a:r>
          </a:p>
          <a:p>
            <a:pPr algn="just" eaLnBrk="1" hangingPunct="1">
              <a:lnSpc>
                <a:spcPct val="150000"/>
              </a:lnSpc>
            </a:pPr>
            <a:r>
              <a:rPr lang="en-US" sz="1500" b="1" dirty="0" smtClean="0">
                <a:latin typeface="Verdana" pitchFamily="34" charset="0"/>
                <a:cs typeface="Times New Roman" pitchFamily="18" charset="0"/>
              </a:rPr>
              <a:t>An </a:t>
            </a:r>
            <a:r>
              <a:rPr lang="en-US" sz="1500" b="1" dirty="0">
                <a:latin typeface="Verdana" pitchFamily="34" charset="0"/>
                <a:cs typeface="Times New Roman" pitchFamily="18" charset="0"/>
              </a:rPr>
              <a:t>understanding of the people </a:t>
            </a:r>
            <a:r>
              <a:rPr lang="en-US" sz="1500" dirty="0">
                <a:latin typeface="Verdana" pitchFamily="34" charset="0"/>
                <a:cs typeface="Times New Roman" pitchFamily="18" charset="0"/>
              </a:rPr>
              <a:t>who are expected to use the system</a:t>
            </a:r>
          </a:p>
          <a:p>
            <a:pPr algn="just" eaLnBrk="1" hangingPunct="1">
              <a:lnSpc>
                <a:spcPct val="150000"/>
              </a:lnSpc>
            </a:pPr>
            <a:r>
              <a:rPr lang="en-US" sz="1500" b="1" dirty="0">
                <a:latin typeface="Verdana" pitchFamily="34" charset="0"/>
                <a:cs typeface="Times New Roman" pitchFamily="18" charset="0"/>
              </a:rPr>
              <a:t>A set of concrete scenarios</a:t>
            </a:r>
            <a:r>
              <a:rPr lang="en-US" sz="1500" dirty="0">
                <a:latin typeface="Verdana" pitchFamily="34" charset="0"/>
                <a:cs typeface="Times New Roman" pitchFamily="18" charset="0"/>
              </a:rPr>
              <a:t> representing both (a) very common and (b) uncommon but critical sequences of </a:t>
            </a:r>
            <a:r>
              <a:rPr lang="en-US" sz="1500" dirty="0" smtClean="0">
                <a:latin typeface="Verdana" pitchFamily="34" charset="0"/>
                <a:cs typeface="Times New Roman" pitchFamily="18" charset="0"/>
              </a:rPr>
              <a:t>activities</a:t>
            </a:r>
          </a:p>
          <a:p>
            <a:pPr algn="just" eaLnBrk="1" hangingPunct="1">
              <a:lnSpc>
                <a:spcPct val="150000"/>
              </a:lnSpc>
            </a:pPr>
            <a:r>
              <a:rPr lang="en-US" sz="1500" dirty="0">
                <a:latin typeface="Verdana" pitchFamily="34" charset="0"/>
                <a:cs typeface="Times New Roman" pitchFamily="18" charset="0"/>
              </a:rPr>
              <a:t>A </a:t>
            </a:r>
            <a:r>
              <a:rPr lang="en-US" sz="1500" b="1" dirty="0">
                <a:latin typeface="Verdana" pitchFamily="34" charset="0"/>
                <a:cs typeface="Times New Roman" pitchFamily="18" charset="0"/>
              </a:rPr>
              <a:t>complete description of the interface to the system </a:t>
            </a:r>
            <a:r>
              <a:rPr lang="en-US" sz="1500" dirty="0">
                <a:latin typeface="Verdana" pitchFamily="34" charset="0"/>
                <a:cs typeface="Times New Roman" pitchFamily="18" charset="0"/>
              </a:rPr>
              <a:t>– this should comprise both a representation of how the interface is presented, e.g. screen designs, and the correct sequence of actions for achieving the scenario tasks, usually as a hierarchical task analysis (HTA</a:t>
            </a:r>
            <a:r>
              <a:rPr lang="en-US" sz="1500" dirty="0" smtClean="0">
                <a:latin typeface="Verdana" pitchFamily="34" charset="0"/>
                <a:cs typeface="Times New Roman" pitchFamily="18" charset="0"/>
              </a:rPr>
              <a:t>).</a:t>
            </a:r>
            <a:endParaRPr lang="en-US" sz="1500" dirty="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pPr eaLnBrk="1" hangingPunct="1">
              <a:lnSpc>
                <a:spcPct val="120000"/>
              </a:lnSpc>
            </a:pPr>
            <a:r>
              <a:rPr lang="en-US" sz="1500" smtClean="0">
                <a:latin typeface="Verdana" pitchFamily="34" charset="0"/>
                <a:cs typeface="Times New Roman" pitchFamily="18" charset="0"/>
              </a:rPr>
              <a:t>Cognitive Walkthrough </a:t>
            </a:r>
          </a:p>
        </p:txBody>
      </p:sp>
      <p:sp>
        <p:nvSpPr>
          <p:cNvPr id="34818" name="Text Placeholder 2"/>
          <p:cNvSpPr>
            <a:spLocks noGrp="1"/>
          </p:cNvSpPr>
          <p:nvPr>
            <p:ph type="body" idx="1"/>
          </p:nvPr>
        </p:nvSpPr>
        <p:spPr>
          <a:xfrm>
            <a:off x="457200" y="1410711"/>
            <a:ext cx="8075240" cy="4525963"/>
          </a:xfrm>
        </p:spPr>
        <p:txBody>
          <a:bodyPr/>
          <a:lstStyle/>
          <a:p>
            <a:pPr algn="just" eaLnBrk="1" hangingPunct="1">
              <a:lnSpc>
                <a:spcPct val="200000"/>
              </a:lnSpc>
            </a:pPr>
            <a:r>
              <a:rPr lang="en-US" sz="1500" dirty="0" smtClean="0">
                <a:latin typeface="Verdana" pitchFamily="34" charset="0"/>
                <a:cs typeface="Times New Roman" pitchFamily="18" charset="0"/>
              </a:rPr>
              <a:t>The analyst asks the following four questions for each individual step in the interaction;</a:t>
            </a:r>
          </a:p>
          <a:p>
            <a:pPr lvl="1" algn="just" eaLnBrk="1" hangingPunct="1">
              <a:lnSpc>
                <a:spcPct val="200000"/>
              </a:lnSpc>
            </a:pPr>
            <a:r>
              <a:rPr lang="en-US" sz="1500" dirty="0" smtClean="0">
                <a:latin typeface="Verdana" pitchFamily="34" charset="0"/>
                <a:cs typeface="Times New Roman" pitchFamily="18" charset="0"/>
              </a:rPr>
              <a:t>Will the people using the system try to achieve the right effect?</a:t>
            </a:r>
          </a:p>
          <a:p>
            <a:pPr lvl="1" algn="just" eaLnBrk="1" hangingPunct="1">
              <a:lnSpc>
                <a:spcPct val="200000"/>
              </a:lnSpc>
            </a:pPr>
            <a:r>
              <a:rPr lang="en-US" sz="1500" dirty="0" smtClean="0">
                <a:latin typeface="Verdana" pitchFamily="34" charset="0"/>
                <a:cs typeface="Times New Roman" pitchFamily="18" charset="0"/>
              </a:rPr>
              <a:t>Will they notice that the correct action is available?</a:t>
            </a:r>
          </a:p>
          <a:p>
            <a:pPr lvl="1" algn="just" eaLnBrk="1" hangingPunct="1">
              <a:lnSpc>
                <a:spcPct val="200000"/>
              </a:lnSpc>
            </a:pPr>
            <a:r>
              <a:rPr lang="en-US" sz="1500" dirty="0" smtClean="0">
                <a:latin typeface="Verdana" pitchFamily="34" charset="0"/>
                <a:cs typeface="Times New Roman" pitchFamily="18" charset="0"/>
              </a:rPr>
              <a:t>Will they associate the correct action with the effect that they are trying to achieve?</a:t>
            </a:r>
          </a:p>
          <a:p>
            <a:pPr lvl="1" algn="just" eaLnBrk="1" hangingPunct="1">
              <a:lnSpc>
                <a:spcPct val="200000"/>
              </a:lnSpc>
            </a:pPr>
            <a:r>
              <a:rPr lang="en-US" sz="1500" dirty="0" smtClean="0">
                <a:latin typeface="Verdana" pitchFamily="34" charset="0"/>
                <a:cs typeface="Times New Roman" pitchFamily="18" charset="0"/>
              </a:rPr>
              <a:t>If the correct action is performed, will people see that progress is being made towards the goal of their activity?</a:t>
            </a:r>
            <a:endParaRPr lang="en-US" sz="1500" baseline="-25000" dirty="0" smtClean="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pPr eaLnBrk="1" hangingPunct="1">
              <a:lnSpc>
                <a:spcPct val="120000"/>
              </a:lnSpc>
            </a:pPr>
            <a:r>
              <a:rPr lang="en-US" sz="3000" b="1" dirty="0">
                <a:solidFill>
                  <a:srgbClr val="0070C0"/>
                </a:solidFill>
                <a:latin typeface="Verdana" pitchFamily="34" charset="0"/>
                <a:cs typeface="Times New Roman" pitchFamily="18" charset="0"/>
              </a:rPr>
              <a:t>Participant-based evaluation</a:t>
            </a:r>
          </a:p>
        </p:txBody>
      </p:sp>
      <p:sp>
        <p:nvSpPr>
          <p:cNvPr id="38914" name="Text Placeholder 2"/>
          <p:cNvSpPr>
            <a:spLocks noGrp="1"/>
          </p:cNvSpPr>
          <p:nvPr>
            <p:ph type="body" idx="1"/>
          </p:nvPr>
        </p:nvSpPr>
        <p:spPr>
          <a:xfrm>
            <a:off x="678396" y="1340768"/>
            <a:ext cx="7787208" cy="4525963"/>
          </a:xfrm>
        </p:spPr>
        <p:txBody>
          <a:bodyPr/>
          <a:lstStyle/>
          <a:p>
            <a:pPr algn="just" eaLnBrk="1" hangingPunct="1">
              <a:lnSpc>
                <a:spcPct val="200000"/>
              </a:lnSpc>
            </a:pPr>
            <a:r>
              <a:rPr lang="en-US" sz="1500" dirty="0" smtClean="0">
                <a:latin typeface="Verdana" pitchFamily="34" charset="0"/>
                <a:cs typeface="Times New Roman" pitchFamily="18" charset="0"/>
              </a:rPr>
              <a:t>Whereas expert, heuristic evaluations can be carried out by designers on their own, there can be no substitute for </a:t>
            </a:r>
            <a:r>
              <a:rPr lang="en-US" sz="1500" b="1" dirty="0" smtClean="0">
                <a:latin typeface="Verdana" pitchFamily="34" charset="0"/>
                <a:cs typeface="Times New Roman" pitchFamily="18" charset="0"/>
              </a:rPr>
              <a:t>involving some real people in the evaluation. </a:t>
            </a:r>
          </a:p>
          <a:p>
            <a:pPr algn="just" eaLnBrk="1" hangingPunct="1">
              <a:lnSpc>
                <a:spcPct val="200000"/>
              </a:lnSpc>
            </a:pPr>
            <a:r>
              <a:rPr lang="en-US" sz="1500" dirty="0" smtClean="0">
                <a:latin typeface="Verdana" pitchFamily="34" charset="0"/>
                <a:cs typeface="Times New Roman" pitchFamily="18" charset="0"/>
              </a:rPr>
              <a:t>Participant evaluation aims to do exactly that. </a:t>
            </a:r>
          </a:p>
          <a:p>
            <a:pPr algn="just" eaLnBrk="1" hangingPunct="1">
              <a:lnSpc>
                <a:spcPct val="200000"/>
              </a:lnSpc>
            </a:pPr>
            <a:r>
              <a:rPr lang="en-US" sz="1500" dirty="0" smtClean="0">
                <a:latin typeface="Verdana" pitchFamily="34" charset="0"/>
                <a:cs typeface="Times New Roman" pitchFamily="18" charset="0"/>
              </a:rPr>
              <a:t>There are many ways to involve people that involve various </a:t>
            </a:r>
            <a:r>
              <a:rPr lang="en-US" sz="1500" b="1" dirty="0" smtClean="0">
                <a:latin typeface="Verdana" pitchFamily="34" charset="0"/>
                <a:cs typeface="Times New Roman" pitchFamily="18" charset="0"/>
              </a:rPr>
              <a:t>degrees of cooperation. </a:t>
            </a:r>
          </a:p>
          <a:p>
            <a:pPr algn="just" eaLnBrk="1" hangingPunct="1">
              <a:lnSpc>
                <a:spcPct val="200000"/>
              </a:lnSpc>
            </a:pPr>
            <a:r>
              <a:rPr lang="en-US" sz="1500" dirty="0" smtClean="0">
                <a:latin typeface="Verdana" pitchFamily="34" charset="0"/>
                <a:cs typeface="Times New Roman" pitchFamily="18" charset="0"/>
              </a:rPr>
              <a:t>The methods range from designers sitting with participants as they work through a system to leaving people alone with the technology and observing what they do through a 2-way mirror.</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lnSpc>
                <a:spcPct val="120000"/>
              </a:lnSpc>
            </a:pPr>
            <a:r>
              <a:rPr lang="en-US" sz="1600" b="1" dirty="0" smtClean="0">
                <a:latin typeface="Verdana" pitchFamily="34" charset="0"/>
                <a:cs typeface="Times New Roman" pitchFamily="18" charset="0"/>
              </a:rPr>
              <a:t>Cooperative Evaluation</a:t>
            </a:r>
          </a:p>
        </p:txBody>
      </p:sp>
      <p:sp>
        <p:nvSpPr>
          <p:cNvPr id="39938" name="Text Placeholder 2"/>
          <p:cNvSpPr>
            <a:spLocks noGrp="1"/>
          </p:cNvSpPr>
          <p:nvPr>
            <p:ph type="body" idx="1"/>
          </p:nvPr>
        </p:nvSpPr>
        <p:spPr>
          <a:xfrm>
            <a:off x="716986" y="1449821"/>
            <a:ext cx="7599430" cy="4525963"/>
          </a:xfrm>
        </p:spPr>
        <p:txBody>
          <a:bodyPr/>
          <a:lstStyle/>
          <a:p>
            <a:pPr algn="just" eaLnBrk="1" hangingPunct="1">
              <a:lnSpc>
                <a:spcPct val="200000"/>
              </a:lnSpc>
            </a:pPr>
            <a:r>
              <a:rPr lang="en-US" sz="1500" dirty="0" smtClean="0">
                <a:latin typeface="Verdana" pitchFamily="34" charset="0"/>
                <a:cs typeface="Times New Roman" pitchFamily="18" charset="0"/>
              </a:rPr>
              <a:t>a means of </a:t>
            </a:r>
            <a:r>
              <a:rPr lang="en-US" sz="1500" b="1" dirty="0" smtClean="0">
                <a:latin typeface="Verdana" pitchFamily="34" charset="0"/>
                <a:cs typeface="Times New Roman" pitchFamily="18" charset="0"/>
              </a:rPr>
              <a:t>maximizing the data gathered from a simple testing session</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The technique is ‘cooperative’ because participants are not passive subjects but </a:t>
            </a:r>
            <a:r>
              <a:rPr lang="en-US" sz="1500" b="1" dirty="0" smtClean="0">
                <a:latin typeface="Verdana" pitchFamily="34" charset="0"/>
                <a:cs typeface="Times New Roman" pitchFamily="18" charset="0"/>
              </a:rPr>
              <a:t>work as co-evaluators</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It has proved a </a:t>
            </a:r>
            <a:r>
              <a:rPr lang="en-US" sz="1500" b="1" dirty="0" smtClean="0">
                <a:latin typeface="Verdana" pitchFamily="34" charset="0"/>
                <a:cs typeface="Times New Roman" pitchFamily="18" charset="0"/>
              </a:rPr>
              <a:t>reliable but economical technique</a:t>
            </a:r>
            <a:r>
              <a:rPr lang="en-US" sz="1500" dirty="0" smtClean="0">
                <a:latin typeface="Verdana" pitchFamily="34" charset="0"/>
                <a:cs typeface="Times New Roman" pitchFamily="18" charset="0"/>
              </a:rPr>
              <a:t> in diverse applications.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274638"/>
            <a:ext cx="8229600" cy="778098"/>
          </a:xfrm>
        </p:spPr>
        <p:txBody>
          <a:bodyPr/>
          <a:lstStyle/>
          <a:p>
            <a:pPr eaLnBrk="1" hangingPunct="1">
              <a:lnSpc>
                <a:spcPct val="120000"/>
              </a:lnSpc>
            </a:pPr>
            <a:r>
              <a:rPr lang="en-US" sz="1600" b="1" dirty="0" smtClean="0">
                <a:latin typeface="Verdana" pitchFamily="34" charset="0"/>
                <a:cs typeface="Times New Roman" pitchFamily="18" charset="0"/>
              </a:rPr>
              <a:t>Cooperative Evaluation</a:t>
            </a:r>
          </a:p>
        </p:txBody>
      </p:sp>
      <p:sp>
        <p:nvSpPr>
          <p:cNvPr id="39938" name="Text Placeholder 2"/>
          <p:cNvSpPr>
            <a:spLocks noGrp="1"/>
          </p:cNvSpPr>
          <p:nvPr>
            <p:ph type="body" idx="1"/>
          </p:nvPr>
        </p:nvSpPr>
        <p:spPr>
          <a:xfrm>
            <a:off x="457200" y="1052736"/>
            <a:ext cx="8229600" cy="5256584"/>
          </a:xfrm>
        </p:spPr>
        <p:txBody>
          <a:bodyPr/>
          <a:lstStyle/>
          <a:p>
            <a:pPr marL="0" indent="0" algn="just" eaLnBrk="1" hangingPunct="1">
              <a:lnSpc>
                <a:spcPct val="150000"/>
              </a:lnSpc>
              <a:buNone/>
            </a:pPr>
            <a:r>
              <a:rPr lang="en-US" sz="1500" b="1" dirty="0" smtClean="0">
                <a:latin typeface="Verdana" pitchFamily="34" charset="0"/>
                <a:cs typeface="Times New Roman" pitchFamily="18" charset="0"/>
              </a:rPr>
              <a:t>Guidelines </a:t>
            </a:r>
            <a:r>
              <a:rPr lang="en-US" sz="1500" dirty="0">
                <a:latin typeface="Verdana" pitchFamily="34" charset="0"/>
                <a:cs typeface="Times New Roman" pitchFamily="18" charset="0"/>
              </a:rPr>
              <a:t>to conduct it</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Using </a:t>
            </a:r>
            <a:r>
              <a:rPr lang="en-US" sz="1500" dirty="0">
                <a:latin typeface="Verdana" pitchFamily="34" charset="0"/>
                <a:cs typeface="Times New Roman" pitchFamily="18" charset="0"/>
              </a:rPr>
              <a:t>the scenarios prepared earlier, write a draft list of tasks</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Try </a:t>
            </a:r>
            <a:r>
              <a:rPr lang="en-US" sz="1500" dirty="0">
                <a:latin typeface="Verdana" pitchFamily="34" charset="0"/>
                <a:cs typeface="Times New Roman" pitchFamily="18" charset="0"/>
              </a:rPr>
              <a:t>out the tasks and estimate how long they will take a participant to </a:t>
            </a:r>
            <a:r>
              <a:rPr lang="en-US" sz="1500" dirty="0" smtClean="0">
                <a:latin typeface="Verdana" pitchFamily="34" charset="0"/>
                <a:cs typeface="Times New Roman" pitchFamily="18" charset="0"/>
              </a:rPr>
              <a:t>complete</a:t>
            </a:r>
          </a:p>
          <a:p>
            <a:pPr algn="just" eaLnBrk="1" hangingPunct="1">
              <a:lnSpc>
                <a:spcPct val="150000"/>
              </a:lnSpc>
              <a:buFont typeface="+mj-lt"/>
              <a:buAutoNum type="arabicParenR"/>
            </a:pPr>
            <a:r>
              <a:rPr lang="en-US" sz="1500" dirty="0">
                <a:latin typeface="Verdana" pitchFamily="34" charset="0"/>
                <a:cs typeface="Times New Roman" pitchFamily="18" charset="0"/>
              </a:rPr>
              <a:t>Prepare a task sheet for the </a:t>
            </a:r>
            <a:r>
              <a:rPr lang="en-US" sz="1500" dirty="0" smtClean="0">
                <a:latin typeface="Verdana" pitchFamily="34" charset="0"/>
                <a:cs typeface="Times New Roman" pitchFamily="18" charset="0"/>
              </a:rPr>
              <a:t>participants</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Get ready for the test </a:t>
            </a:r>
            <a:r>
              <a:rPr lang="en-US" sz="1500" dirty="0" smtClean="0">
                <a:latin typeface="Verdana" pitchFamily="34" charset="0"/>
                <a:cs typeface="Times New Roman" pitchFamily="18" charset="0"/>
              </a:rPr>
              <a:t>session</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Tell the participants that it is the system that is under test, not them; explain the and introduce the </a:t>
            </a:r>
            <a:r>
              <a:rPr lang="en-US" sz="1500" dirty="0" smtClean="0">
                <a:latin typeface="Verdana" pitchFamily="34" charset="0"/>
                <a:cs typeface="Times New Roman" pitchFamily="18" charset="0"/>
              </a:rPr>
              <a:t>tasks</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Participants start the tasks. Have them give you running commentary on what they are doing, why they are doing it and difficulties or uncertainties they </a:t>
            </a:r>
            <a:r>
              <a:rPr lang="en-US" sz="1500" dirty="0" smtClean="0">
                <a:latin typeface="Verdana" pitchFamily="34" charset="0"/>
                <a:cs typeface="Times New Roman" pitchFamily="18" charset="0"/>
              </a:rPr>
              <a:t>encounter</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Encourage participants to keep </a:t>
            </a:r>
            <a:r>
              <a:rPr lang="en-US" sz="1500" dirty="0" smtClean="0">
                <a:latin typeface="Verdana" pitchFamily="34" charset="0"/>
                <a:cs typeface="Times New Roman" pitchFamily="18" charset="0"/>
              </a:rPr>
              <a:t>talking</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When the participants have finished, interview them, thank </a:t>
            </a:r>
            <a:r>
              <a:rPr lang="en-US" sz="1500" dirty="0" smtClean="0">
                <a:latin typeface="Verdana" pitchFamily="34" charset="0"/>
                <a:cs typeface="Times New Roman" pitchFamily="18" charset="0"/>
              </a:rPr>
              <a:t>them</a:t>
            </a:r>
            <a:endParaRPr lang="en-US" sz="1500" dirty="0">
              <a:latin typeface="Verdana" pitchFamily="34" charset="0"/>
              <a:cs typeface="Times New Roman" pitchFamily="18" charset="0"/>
            </a:endParaRPr>
          </a:p>
          <a:p>
            <a:pPr algn="just" eaLnBrk="1" hangingPunct="1">
              <a:lnSpc>
                <a:spcPct val="150000"/>
              </a:lnSpc>
              <a:buFont typeface="+mj-lt"/>
              <a:buAutoNum type="arabicParenR"/>
            </a:pPr>
            <a:r>
              <a:rPr lang="en-US" sz="1500" dirty="0">
                <a:latin typeface="Verdana" pitchFamily="34" charset="0"/>
                <a:cs typeface="Times New Roman" pitchFamily="18" charset="0"/>
              </a:rPr>
              <a:t>Write up your notes as soon as possible and incorporate into a usability report</a:t>
            </a:r>
            <a:endParaRPr lang="en-US" sz="1500" dirty="0" smtClean="0">
              <a:latin typeface="Verdana" pitchFamily="34" charset="0"/>
              <a:cs typeface="Times New Roman" pitchFamily="18" charset="0"/>
            </a:endParaRPr>
          </a:p>
        </p:txBody>
      </p:sp>
    </p:spTree>
    <p:extLst>
      <p:ext uri="{BB962C8B-B14F-4D97-AF65-F5344CB8AC3E}">
        <p14:creationId xmlns:p14="http://schemas.microsoft.com/office/powerpoint/2010/main" val="26381532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pPr eaLnBrk="1" hangingPunct="1">
              <a:lnSpc>
                <a:spcPct val="120000"/>
              </a:lnSpc>
            </a:pPr>
            <a:r>
              <a:rPr lang="en-US" sz="1500" dirty="0" smtClean="0">
                <a:latin typeface="Verdana" pitchFamily="34" charset="0"/>
                <a:cs typeface="Times New Roman" pitchFamily="18" charset="0"/>
              </a:rPr>
              <a:t>Participation and heuristics</a:t>
            </a:r>
          </a:p>
        </p:txBody>
      </p:sp>
      <p:sp>
        <p:nvSpPr>
          <p:cNvPr id="40962" name="Text Placeholder 2"/>
          <p:cNvSpPr>
            <a:spLocks noGrp="1"/>
          </p:cNvSpPr>
          <p:nvPr>
            <p:ph type="body" idx="1"/>
          </p:nvPr>
        </p:nvSpPr>
        <p:spPr>
          <a:xfrm>
            <a:off x="566014" y="1340768"/>
            <a:ext cx="8011972" cy="4525963"/>
          </a:xfrm>
        </p:spPr>
        <p:txBody>
          <a:bodyPr/>
          <a:lstStyle/>
          <a:p>
            <a:pPr algn="just" eaLnBrk="1" hangingPunct="1">
              <a:lnSpc>
                <a:spcPct val="200000"/>
              </a:lnSpc>
            </a:pPr>
            <a:r>
              <a:rPr lang="en-US" sz="1500" dirty="0" smtClean="0">
                <a:latin typeface="Verdana" pitchFamily="34" charset="0"/>
                <a:cs typeface="Times New Roman" pitchFamily="18" charset="0"/>
              </a:rPr>
              <a:t>The developers of participatory heuristic evaluation (Muller </a:t>
            </a:r>
            <a:r>
              <a:rPr lang="en-US" sz="1500" i="1" dirty="0" smtClean="0">
                <a:latin typeface="Verdana" pitchFamily="34" charset="0"/>
                <a:cs typeface="Times New Roman" pitchFamily="18" charset="0"/>
              </a:rPr>
              <a:t>et al., 1998) claim that </a:t>
            </a:r>
            <a:r>
              <a:rPr lang="en-US" sz="1500" b="1" i="1" dirty="0" smtClean="0">
                <a:latin typeface="Verdana" pitchFamily="34" charset="0"/>
                <a:cs typeface="Times New Roman" pitchFamily="18" charset="0"/>
              </a:rPr>
              <a:t>it extends the power of heuristic evaluation without adding greatly to the effort required. </a:t>
            </a:r>
          </a:p>
          <a:p>
            <a:pPr algn="just" eaLnBrk="1" hangingPunct="1">
              <a:lnSpc>
                <a:spcPct val="200000"/>
              </a:lnSpc>
            </a:pPr>
            <a:r>
              <a:rPr lang="en-US" sz="1500" dirty="0" smtClean="0">
                <a:latin typeface="Verdana" pitchFamily="34" charset="0"/>
                <a:cs typeface="Times New Roman" pitchFamily="18" charset="0"/>
              </a:rPr>
              <a:t>An expanded list of heuristics is provided, based on those of Nielsen and Mack (1994) – but of course </a:t>
            </a:r>
            <a:r>
              <a:rPr lang="en-US" sz="1500" b="1" dirty="0" smtClean="0">
                <a:latin typeface="Verdana" pitchFamily="34" charset="0"/>
                <a:cs typeface="Times New Roman" pitchFamily="18" charset="0"/>
              </a:rPr>
              <a:t>you could use any heuristics</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The procedure for the use of participatory heuristic evaluation is just as for the expert </a:t>
            </a:r>
            <a:r>
              <a:rPr lang="en-US" sz="1500" dirty="0">
                <a:latin typeface="Verdana" pitchFamily="34" charset="0"/>
                <a:cs typeface="Times New Roman" pitchFamily="18" charset="0"/>
              </a:rPr>
              <a:t>version </a:t>
            </a:r>
            <a:r>
              <a:rPr lang="en-US" sz="1500" b="1" dirty="0">
                <a:latin typeface="Verdana" pitchFamily="34" charset="0"/>
                <a:cs typeface="Times New Roman" pitchFamily="18" charset="0"/>
              </a:rPr>
              <a:t>(Conduct as expert </a:t>
            </a:r>
            <a:r>
              <a:rPr lang="en-US" sz="1500" b="1" dirty="0" smtClean="0">
                <a:latin typeface="Verdana" pitchFamily="34" charset="0"/>
                <a:cs typeface="Times New Roman" pitchFamily="18" charset="0"/>
              </a:rPr>
              <a:t>evaluation)</a:t>
            </a:r>
            <a:r>
              <a:rPr lang="en-US" sz="1500" dirty="0" smtClean="0">
                <a:latin typeface="Verdana" pitchFamily="34" charset="0"/>
                <a:cs typeface="Times New Roman" pitchFamily="18" charset="0"/>
              </a:rPr>
              <a:t>,</a:t>
            </a:r>
          </a:p>
          <a:p>
            <a:pPr algn="just" eaLnBrk="1" hangingPunct="1">
              <a:lnSpc>
                <a:spcPct val="200000"/>
              </a:lnSpc>
            </a:pPr>
            <a:r>
              <a:rPr lang="en-US" sz="1500" dirty="0" smtClean="0">
                <a:latin typeface="Verdana" pitchFamily="34" charset="0"/>
                <a:cs typeface="Times New Roman" pitchFamily="18" charset="0"/>
              </a:rPr>
              <a:t>but the </a:t>
            </a:r>
            <a:r>
              <a:rPr lang="en-US" sz="1500" b="1" dirty="0" smtClean="0">
                <a:latin typeface="Verdana" pitchFamily="34" charset="0"/>
                <a:cs typeface="Times New Roman" pitchFamily="18" charset="0"/>
              </a:rPr>
              <a:t>participants are involved as ‘work-domain experts’</a:t>
            </a:r>
            <a:r>
              <a:rPr lang="en-US" sz="1500" dirty="0" smtClean="0">
                <a:latin typeface="Verdana" pitchFamily="34" charset="0"/>
                <a:cs typeface="Times New Roman" pitchFamily="18" charset="0"/>
              </a:rPr>
              <a:t> alongside usability experts and </a:t>
            </a:r>
            <a:r>
              <a:rPr lang="en-US" sz="1500" b="1" dirty="0" smtClean="0">
                <a:latin typeface="Verdana" pitchFamily="34" charset="0"/>
                <a:cs typeface="Times New Roman" pitchFamily="18" charset="0"/>
              </a:rPr>
              <a:t>they</a:t>
            </a:r>
            <a:r>
              <a:rPr lang="en-US" sz="1500" dirty="0" smtClean="0">
                <a:latin typeface="Verdana" pitchFamily="34" charset="0"/>
                <a:cs typeface="Times New Roman" pitchFamily="18" charset="0"/>
              </a:rPr>
              <a:t> </a:t>
            </a:r>
            <a:r>
              <a:rPr lang="en-US" sz="1500" b="1" dirty="0" smtClean="0">
                <a:latin typeface="Verdana" pitchFamily="34" charset="0"/>
                <a:cs typeface="Times New Roman" pitchFamily="18" charset="0"/>
              </a:rPr>
              <a:t>must </a:t>
            </a:r>
            <a:r>
              <a:rPr lang="en-US" sz="1500" b="1" dirty="0">
                <a:latin typeface="Verdana" pitchFamily="34" charset="0"/>
                <a:cs typeface="Times New Roman" pitchFamily="18" charset="0"/>
              </a:rPr>
              <a:t>be briefed about what is required.</a:t>
            </a:r>
          </a:p>
          <a:p>
            <a:pPr algn="just" eaLnBrk="1" hangingPunct="1">
              <a:lnSpc>
                <a:spcPct val="200000"/>
              </a:lnSpc>
            </a:pPr>
            <a:endParaRPr lang="en-US" sz="1500" dirty="0">
              <a:latin typeface="Verdana" pitchFamily="34"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518864" y="188640"/>
            <a:ext cx="8229600" cy="346050"/>
          </a:xfrm>
        </p:spPr>
        <p:txBody>
          <a:bodyPr/>
          <a:lstStyle/>
          <a:p>
            <a:pPr eaLnBrk="1" hangingPunct="1">
              <a:lnSpc>
                <a:spcPct val="120000"/>
              </a:lnSpc>
            </a:pPr>
            <a:r>
              <a:rPr lang="en-US" sz="1500" dirty="0" smtClean="0">
                <a:latin typeface="Verdana" pitchFamily="34" charset="0"/>
                <a:cs typeface="Times New Roman" pitchFamily="18" charset="0"/>
              </a:rPr>
              <a:t>Co-discovery</a:t>
            </a:r>
          </a:p>
        </p:txBody>
      </p:sp>
      <p:sp>
        <p:nvSpPr>
          <p:cNvPr id="41986" name="Text Placeholder 2"/>
          <p:cNvSpPr>
            <a:spLocks noGrp="1"/>
          </p:cNvSpPr>
          <p:nvPr>
            <p:ph type="body" idx="1"/>
          </p:nvPr>
        </p:nvSpPr>
        <p:spPr>
          <a:xfrm>
            <a:off x="360040" y="692696"/>
            <a:ext cx="8316416" cy="5760640"/>
          </a:xfrm>
        </p:spPr>
        <p:txBody>
          <a:bodyPr/>
          <a:lstStyle/>
          <a:p>
            <a:pPr algn="just" eaLnBrk="1" hangingPunct="1">
              <a:lnSpc>
                <a:spcPct val="150000"/>
              </a:lnSpc>
            </a:pPr>
            <a:r>
              <a:rPr lang="en-US" sz="1500" dirty="0" smtClean="0">
                <a:latin typeface="Verdana" pitchFamily="34" charset="0"/>
                <a:cs typeface="Times New Roman" pitchFamily="18" charset="0"/>
              </a:rPr>
              <a:t>Co-discovery is a </a:t>
            </a:r>
            <a:r>
              <a:rPr lang="en-US" sz="1500" b="1" dirty="0" smtClean="0">
                <a:latin typeface="Verdana" pitchFamily="34" charset="0"/>
                <a:cs typeface="Times New Roman" pitchFamily="18" charset="0"/>
              </a:rPr>
              <a:t>naturalistic, informal technique </a:t>
            </a:r>
            <a:r>
              <a:rPr lang="en-US" sz="1500" dirty="0" smtClean="0">
                <a:latin typeface="Verdana" pitchFamily="34" charset="0"/>
                <a:cs typeface="Times New Roman" pitchFamily="18" charset="0"/>
              </a:rPr>
              <a:t>that is particularly good for capturing first impressions. </a:t>
            </a:r>
          </a:p>
          <a:p>
            <a:pPr algn="just" eaLnBrk="1" hangingPunct="1">
              <a:lnSpc>
                <a:spcPct val="150000"/>
              </a:lnSpc>
            </a:pPr>
            <a:r>
              <a:rPr lang="en-US" sz="1500" dirty="0" smtClean="0">
                <a:latin typeface="Verdana" pitchFamily="34" charset="0"/>
                <a:cs typeface="Times New Roman" pitchFamily="18" charset="0"/>
              </a:rPr>
              <a:t>It is </a:t>
            </a:r>
            <a:r>
              <a:rPr lang="en-US" sz="1500" b="1" dirty="0" smtClean="0">
                <a:latin typeface="Verdana" pitchFamily="34" charset="0"/>
                <a:cs typeface="Times New Roman" pitchFamily="18" charset="0"/>
              </a:rPr>
              <a:t>best used in the later stages of design</a:t>
            </a:r>
            <a:r>
              <a:rPr lang="en-US" sz="1500" dirty="0" smtClean="0">
                <a:latin typeface="Verdana" pitchFamily="34" charset="0"/>
                <a:cs typeface="Times New Roman" pitchFamily="18" charset="0"/>
              </a:rPr>
              <a:t>.</a:t>
            </a:r>
          </a:p>
          <a:p>
            <a:pPr algn="just" eaLnBrk="1" hangingPunct="1">
              <a:lnSpc>
                <a:spcPct val="150000"/>
              </a:lnSpc>
            </a:pPr>
            <a:r>
              <a:rPr lang="en-US" sz="1500" dirty="0" smtClean="0">
                <a:latin typeface="Verdana" pitchFamily="34" charset="0"/>
                <a:cs typeface="Times New Roman" pitchFamily="18" charset="0"/>
              </a:rPr>
              <a:t>The standard approach of </a:t>
            </a:r>
            <a:r>
              <a:rPr lang="en-US" sz="1500" b="1" dirty="0" smtClean="0">
                <a:latin typeface="Verdana" pitchFamily="34" charset="0"/>
                <a:cs typeface="Times New Roman" pitchFamily="18" charset="0"/>
              </a:rPr>
              <a:t>watching individual people interacting with the technology</a:t>
            </a:r>
            <a:r>
              <a:rPr lang="en-US" sz="1500" dirty="0" smtClean="0">
                <a:latin typeface="Verdana" pitchFamily="34" charset="0"/>
                <a:cs typeface="Times New Roman" pitchFamily="18" charset="0"/>
              </a:rPr>
              <a:t>, and possibly </a:t>
            </a:r>
            <a:r>
              <a:rPr lang="en-US" sz="1500" dirty="0" smtClean="0">
                <a:solidFill>
                  <a:srgbClr val="FF0000"/>
                </a:solidFill>
                <a:latin typeface="Verdana" pitchFamily="34" charset="0"/>
                <a:cs typeface="Times New Roman" pitchFamily="18" charset="0"/>
              </a:rPr>
              <a:t>‘thinking aloud’ </a:t>
            </a:r>
            <a:r>
              <a:rPr lang="en-US" sz="1500" dirty="0" smtClean="0">
                <a:latin typeface="Verdana" pitchFamily="34" charset="0"/>
                <a:cs typeface="Times New Roman" pitchFamily="18" charset="0"/>
              </a:rPr>
              <a:t>as they do so, </a:t>
            </a:r>
            <a:r>
              <a:rPr lang="en-US" sz="1500" b="1" dirty="0" smtClean="0">
                <a:latin typeface="Verdana" pitchFamily="34" charset="0"/>
                <a:cs typeface="Times New Roman" pitchFamily="18" charset="0"/>
              </a:rPr>
              <a:t>can be varied by having participants explore new technology in pairs. </a:t>
            </a:r>
          </a:p>
          <a:p>
            <a:pPr algn="just" eaLnBrk="1" hangingPunct="1">
              <a:lnSpc>
                <a:spcPct val="150000"/>
              </a:lnSpc>
            </a:pPr>
            <a:r>
              <a:rPr lang="en-US" sz="1500" dirty="0" smtClean="0">
                <a:latin typeface="Verdana" pitchFamily="34" charset="0"/>
                <a:cs typeface="Times New Roman" pitchFamily="18" charset="0"/>
              </a:rPr>
              <a:t>For example, a series of pairs of people could be given a prototype of a new digital camera and asked to experiment with its features by taking pictures of each other and objects in the room.  </a:t>
            </a:r>
          </a:p>
          <a:p>
            <a:pPr algn="just" eaLnBrk="1" hangingPunct="1">
              <a:lnSpc>
                <a:spcPct val="150000"/>
              </a:lnSpc>
            </a:pPr>
            <a:r>
              <a:rPr lang="en-US" sz="1500" dirty="0" smtClean="0">
                <a:latin typeface="Verdana" pitchFamily="34" charset="0"/>
                <a:cs typeface="Times New Roman" pitchFamily="18" charset="0"/>
              </a:rPr>
              <a:t>It is a </a:t>
            </a:r>
            <a:r>
              <a:rPr lang="en-US" sz="1500" b="1" dirty="0" smtClean="0">
                <a:latin typeface="Verdana" pitchFamily="34" charset="0"/>
                <a:cs typeface="Times New Roman" pitchFamily="18" charset="0"/>
              </a:rPr>
              <a:t>good idea to use people who know each other quite well</a:t>
            </a:r>
            <a:r>
              <a:rPr lang="en-US" sz="1500" dirty="0" smtClean="0">
                <a:latin typeface="Verdana" pitchFamily="34" charset="0"/>
                <a:cs typeface="Times New Roman" pitchFamily="18" charset="0"/>
              </a:rPr>
              <a:t>. As with most other techniques, it also</a:t>
            </a:r>
            <a:r>
              <a:rPr lang="en-US" sz="1500" b="1" dirty="0" smtClean="0">
                <a:latin typeface="Verdana" pitchFamily="34" charset="0"/>
                <a:cs typeface="Times New Roman" pitchFamily="18" charset="0"/>
              </a:rPr>
              <a:t> helps to set participants some realistic tasks to tryout</a:t>
            </a:r>
            <a:r>
              <a:rPr lang="en-US" sz="1500" dirty="0" smtClean="0">
                <a:latin typeface="Verdana" pitchFamily="34" charset="0"/>
                <a:cs typeface="Times New Roman" pitchFamily="18" charset="0"/>
              </a:rPr>
              <a:t>.</a:t>
            </a:r>
          </a:p>
          <a:p>
            <a:pPr algn="just" eaLnBrk="1" hangingPunct="1">
              <a:lnSpc>
                <a:spcPct val="150000"/>
              </a:lnSpc>
            </a:pPr>
            <a:r>
              <a:rPr lang="en-US" sz="1500" dirty="0" smtClean="0">
                <a:latin typeface="Verdana" pitchFamily="34" charset="0"/>
                <a:cs typeface="Times New Roman" pitchFamily="18" charset="0"/>
              </a:rPr>
              <a:t>Depending on the data to be collected, the </a:t>
            </a:r>
            <a:r>
              <a:rPr lang="en-US" sz="1500" b="1" dirty="0" smtClean="0">
                <a:latin typeface="Verdana" pitchFamily="34" charset="0"/>
                <a:cs typeface="Times New Roman" pitchFamily="18" charset="0"/>
              </a:rPr>
              <a:t>evaluator can take an active part in the session </a:t>
            </a:r>
            <a:r>
              <a:rPr lang="en-US" sz="1500" dirty="0" smtClean="0">
                <a:latin typeface="Verdana" pitchFamily="34" charset="0"/>
                <a:cs typeface="Times New Roman" pitchFamily="18" charset="0"/>
              </a:rPr>
              <a:t>by asking questions or suggesting activities, or </a:t>
            </a:r>
            <a:r>
              <a:rPr lang="en-US" sz="1500" b="1" dirty="0" smtClean="0">
                <a:latin typeface="Verdana" pitchFamily="34" charset="0"/>
                <a:cs typeface="Times New Roman" pitchFamily="18" charset="0"/>
              </a:rPr>
              <a:t>simply monitor </a:t>
            </a:r>
            <a:r>
              <a:rPr lang="en-US" sz="1500" dirty="0" smtClean="0">
                <a:latin typeface="Verdana" pitchFamily="34" charset="0"/>
                <a:cs typeface="Times New Roman" pitchFamily="18" charset="0"/>
              </a:rPr>
              <a:t>the interaction either live or using a video-recording.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457200" y="274638"/>
            <a:ext cx="8229600" cy="778098"/>
          </a:xfrm>
        </p:spPr>
        <p:txBody>
          <a:bodyPr/>
          <a:lstStyle/>
          <a:p>
            <a:pPr eaLnBrk="1" hangingPunct="1">
              <a:lnSpc>
                <a:spcPct val="120000"/>
              </a:lnSpc>
            </a:pPr>
            <a:r>
              <a:rPr lang="en-US" sz="1500" dirty="0" smtClean="0">
                <a:latin typeface="Verdana" pitchFamily="34" charset="0"/>
                <a:cs typeface="Times New Roman" pitchFamily="18" charset="0"/>
              </a:rPr>
              <a:t>Co-discovery  &gt;  Living Labs</a:t>
            </a:r>
          </a:p>
        </p:txBody>
      </p:sp>
      <p:sp>
        <p:nvSpPr>
          <p:cNvPr id="43010" name="Text Placeholder 2"/>
          <p:cNvSpPr>
            <a:spLocks noGrp="1"/>
          </p:cNvSpPr>
          <p:nvPr>
            <p:ph type="body" idx="1"/>
          </p:nvPr>
        </p:nvSpPr>
        <p:spPr>
          <a:xfrm>
            <a:off x="457200" y="1196752"/>
            <a:ext cx="8229600" cy="4896544"/>
          </a:xfrm>
        </p:spPr>
        <p:txBody>
          <a:bodyPr/>
          <a:lstStyle/>
          <a:p>
            <a:pPr algn="just" eaLnBrk="1" hangingPunct="1">
              <a:lnSpc>
                <a:spcPct val="150000"/>
              </a:lnSpc>
            </a:pPr>
            <a:r>
              <a:rPr lang="en-US" sz="1500" dirty="0" smtClean="0">
                <a:latin typeface="Verdana" pitchFamily="34" charset="0"/>
                <a:cs typeface="Times New Roman" pitchFamily="18" charset="0"/>
              </a:rPr>
              <a:t>Living Labs is a European approach to evaluation that </a:t>
            </a:r>
            <a:r>
              <a:rPr lang="en-US" sz="1500" b="1" dirty="0" smtClean="0">
                <a:latin typeface="Verdana" pitchFamily="34" charset="0"/>
                <a:cs typeface="Times New Roman" pitchFamily="18" charset="0"/>
              </a:rPr>
              <a:t>aims to engage as many people as possible in exploring new technologies. </a:t>
            </a:r>
          </a:p>
          <a:p>
            <a:pPr algn="just" eaLnBrk="1" hangingPunct="1">
              <a:lnSpc>
                <a:spcPct val="150000"/>
              </a:lnSpc>
            </a:pPr>
            <a:r>
              <a:rPr lang="en-US" sz="1500" dirty="0" smtClean="0">
                <a:latin typeface="Verdana" pitchFamily="34" charset="0"/>
                <a:cs typeface="Times New Roman" pitchFamily="18" charset="0"/>
              </a:rPr>
              <a:t>There are a number of </a:t>
            </a:r>
            <a:r>
              <a:rPr lang="en-US" sz="1500" b="1" dirty="0" smtClean="0">
                <a:latin typeface="Verdana" pitchFamily="34" charset="0"/>
                <a:cs typeface="Times New Roman" pitchFamily="18" charset="0"/>
              </a:rPr>
              <a:t>different structures for Living Labs</a:t>
            </a:r>
            <a:r>
              <a:rPr lang="en-US" sz="1500" dirty="0" smtClean="0">
                <a:latin typeface="Verdana" pitchFamily="34" charset="0"/>
                <a:cs typeface="Times New Roman" pitchFamily="18" charset="0"/>
              </a:rPr>
              <a:t>. </a:t>
            </a:r>
          </a:p>
          <a:p>
            <a:pPr algn="just" eaLnBrk="1" hangingPunct="1">
              <a:lnSpc>
                <a:spcPct val="150000"/>
              </a:lnSpc>
            </a:pPr>
            <a:r>
              <a:rPr lang="en-US" sz="1500" b="1" dirty="0" smtClean="0">
                <a:latin typeface="Verdana" pitchFamily="34" charset="0"/>
                <a:cs typeface="Times New Roman" pitchFamily="18" charset="0"/>
              </a:rPr>
              <a:t>For example Nokia </a:t>
            </a:r>
            <a:r>
              <a:rPr lang="en-US" sz="1500" dirty="0" smtClean="0">
                <a:latin typeface="Verdana" pitchFamily="34" charset="0"/>
                <a:cs typeface="Times New Roman" pitchFamily="18" charset="0"/>
              </a:rPr>
              <a:t>has teamed up with academics and other manufacturers of mobile devices to hand out hundreds of early prototype systems to students to see how they use them. </a:t>
            </a:r>
          </a:p>
          <a:p>
            <a:pPr algn="just" eaLnBrk="1" hangingPunct="1">
              <a:lnSpc>
                <a:spcPct val="150000"/>
              </a:lnSpc>
            </a:pPr>
            <a:r>
              <a:rPr lang="en-US" sz="1500" dirty="0" smtClean="0">
                <a:latin typeface="Verdana" pitchFamily="34" charset="0"/>
                <a:cs typeface="Times New Roman" pitchFamily="18" charset="0"/>
              </a:rPr>
              <a:t>Other labs work with </a:t>
            </a:r>
            <a:r>
              <a:rPr lang="en-US" sz="1500" b="1" dirty="0" smtClean="0">
                <a:latin typeface="Verdana" pitchFamily="34" charset="0"/>
                <a:cs typeface="Times New Roman" pitchFamily="18" charset="0"/>
              </a:rPr>
              <a:t>elderly people </a:t>
            </a:r>
            <a:r>
              <a:rPr lang="en-US" sz="1500" dirty="0" smtClean="0">
                <a:latin typeface="Verdana" pitchFamily="34" charset="0"/>
                <a:cs typeface="Times New Roman" pitchFamily="18" charset="0"/>
              </a:rPr>
              <a:t>in their homes to explore new types of home technologies. </a:t>
            </a:r>
          </a:p>
          <a:p>
            <a:pPr algn="just" eaLnBrk="1" hangingPunct="1">
              <a:lnSpc>
                <a:spcPct val="150000"/>
              </a:lnSpc>
            </a:pPr>
            <a:r>
              <a:rPr lang="en-US" sz="1500" dirty="0" smtClean="0">
                <a:latin typeface="Verdana" pitchFamily="34" charset="0"/>
                <a:cs typeface="Times New Roman" pitchFamily="18" charset="0"/>
              </a:rPr>
              <a:t>Others work with </a:t>
            </a:r>
            <a:r>
              <a:rPr lang="en-US" sz="1500" b="1" dirty="0" smtClean="0">
                <a:latin typeface="Verdana" pitchFamily="34" charset="0"/>
                <a:cs typeface="Times New Roman" pitchFamily="18" charset="0"/>
              </a:rPr>
              <a:t>travelers and migrant </a:t>
            </a:r>
            <a:r>
              <a:rPr lang="en-US" sz="1500" dirty="0" smtClean="0">
                <a:latin typeface="Verdana" pitchFamily="34" charset="0"/>
                <a:cs typeface="Times New Roman" pitchFamily="18" charset="0"/>
              </a:rPr>
              <a:t>workers to uncover what new technologies can do for them.</a:t>
            </a:r>
          </a:p>
          <a:p>
            <a:pPr algn="just" eaLnBrk="1" hangingPunct="1">
              <a:lnSpc>
                <a:spcPct val="150000"/>
              </a:lnSpc>
            </a:pPr>
            <a:r>
              <a:rPr lang="en-US" sz="1500" dirty="0" smtClean="0">
                <a:latin typeface="Verdana" pitchFamily="34" charset="0"/>
                <a:cs typeface="Times New Roman" pitchFamily="18" charset="0"/>
              </a:rPr>
              <a:t>The </a:t>
            </a:r>
            <a:r>
              <a:rPr lang="en-US" sz="1500" b="1" dirty="0" smtClean="0">
                <a:latin typeface="Verdana" pitchFamily="34" charset="0"/>
                <a:cs typeface="Times New Roman" pitchFamily="18" charset="0"/>
              </a:rPr>
              <a:t>key idea behind Living Labs is that people are both willing and able to contribute to designing new technologies and new services and it makes sense for companies to work with them</a:t>
            </a:r>
            <a:r>
              <a:rPr lang="en-US" sz="1500" dirty="0" smtClean="0">
                <a:latin typeface="Verdana" pitchFamily="34" charset="0"/>
                <a:cs typeface="Times New Roman" pitchFamily="18" charset="0"/>
              </a:rPr>
              <a: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a:xfrm>
            <a:off x="457200" y="274638"/>
            <a:ext cx="8229600" cy="850106"/>
          </a:xfrm>
        </p:spPr>
        <p:txBody>
          <a:bodyPr/>
          <a:lstStyle/>
          <a:p>
            <a:pPr eaLnBrk="1" hangingPunct="1">
              <a:lnSpc>
                <a:spcPct val="120000"/>
              </a:lnSpc>
            </a:pPr>
            <a:r>
              <a:rPr lang="en-US" sz="1500" dirty="0" smtClean="0">
                <a:latin typeface="Verdana" pitchFamily="34" charset="0"/>
                <a:cs typeface="Times New Roman" pitchFamily="18" charset="0"/>
              </a:rPr>
              <a:t>Controlled experiments</a:t>
            </a:r>
          </a:p>
        </p:txBody>
      </p:sp>
      <p:sp>
        <p:nvSpPr>
          <p:cNvPr id="44034" name="Text Placeholder 2"/>
          <p:cNvSpPr>
            <a:spLocks noGrp="1"/>
          </p:cNvSpPr>
          <p:nvPr>
            <p:ph type="body" idx="1"/>
          </p:nvPr>
        </p:nvSpPr>
        <p:spPr>
          <a:xfrm>
            <a:off x="833353" y="1185423"/>
            <a:ext cx="7477294" cy="4525963"/>
          </a:xfrm>
        </p:spPr>
        <p:txBody>
          <a:bodyPr/>
          <a:lstStyle/>
          <a:p>
            <a:pPr algn="just" eaLnBrk="1" hangingPunct="1">
              <a:lnSpc>
                <a:spcPct val="200000"/>
              </a:lnSpc>
            </a:pPr>
            <a:r>
              <a:rPr lang="en-US" sz="1600" dirty="0" smtClean="0">
                <a:latin typeface="Verdana" pitchFamily="34" charset="0"/>
                <a:cs typeface="Times New Roman" pitchFamily="18" charset="0"/>
              </a:rPr>
              <a:t>Another way of undertaking participant evaluation is to set up a controlled experiment. </a:t>
            </a:r>
          </a:p>
          <a:p>
            <a:pPr algn="just" eaLnBrk="1" hangingPunct="1">
              <a:lnSpc>
                <a:spcPct val="200000"/>
              </a:lnSpc>
            </a:pPr>
            <a:r>
              <a:rPr lang="en-US" sz="1600" dirty="0" smtClean="0">
                <a:latin typeface="Verdana" pitchFamily="34" charset="0"/>
                <a:cs typeface="Times New Roman" pitchFamily="18" charset="0"/>
              </a:rPr>
              <a:t>Controlled experiments are appropriate </a:t>
            </a:r>
            <a:r>
              <a:rPr lang="en-US" sz="1600" b="1" dirty="0" smtClean="0">
                <a:latin typeface="Verdana" pitchFamily="34" charset="0"/>
                <a:cs typeface="Times New Roman" pitchFamily="18" charset="0"/>
              </a:rPr>
              <a:t>where the designer is interested in particular features of a design</a:t>
            </a:r>
            <a:r>
              <a:rPr lang="en-US" sz="1600" dirty="0" smtClean="0">
                <a:latin typeface="Verdana" pitchFamily="34" charset="0"/>
                <a:cs typeface="Times New Roman" pitchFamily="18" charset="0"/>
              </a:rPr>
              <a:t>, perhaps </a:t>
            </a:r>
            <a:r>
              <a:rPr lang="en-US" sz="1600" b="1" dirty="0" smtClean="0">
                <a:solidFill>
                  <a:srgbClr val="FF0000"/>
                </a:solidFill>
                <a:latin typeface="Verdana" pitchFamily="34" charset="0"/>
                <a:cs typeface="Times New Roman" pitchFamily="18" charset="0"/>
              </a:rPr>
              <a:t>comparing one design to another</a:t>
            </a:r>
            <a:r>
              <a:rPr lang="en-US" sz="1600" b="1" dirty="0" smtClean="0">
                <a:latin typeface="Verdana" pitchFamily="34" charset="0"/>
                <a:cs typeface="Times New Roman" pitchFamily="18" charset="0"/>
              </a:rPr>
              <a:t> </a:t>
            </a:r>
            <a:r>
              <a:rPr lang="en-US" sz="1600" dirty="0" smtClean="0">
                <a:latin typeface="Verdana" pitchFamily="34" charset="0"/>
                <a:cs typeface="Times New Roman" pitchFamily="18" charset="0"/>
              </a:rPr>
              <a:t>to see which is better. </a:t>
            </a:r>
          </a:p>
          <a:p>
            <a:pPr algn="just" eaLnBrk="1" hangingPunct="1">
              <a:lnSpc>
                <a:spcPct val="200000"/>
              </a:lnSpc>
            </a:pPr>
            <a:r>
              <a:rPr lang="en-US" sz="1600" dirty="0" smtClean="0">
                <a:latin typeface="Verdana" pitchFamily="34" charset="0"/>
                <a:cs typeface="Times New Roman" pitchFamily="18" charset="0"/>
              </a:rPr>
              <a:t>In order to do this with any certainty the experiment needs to be carefully designed and run</a:t>
            </a:r>
            <a:r>
              <a:rPr lang="en-US" sz="1600" dirty="0">
                <a:latin typeface="Verdana" pitchFamily="34" charset="0"/>
                <a:cs typeface="Times New Roman" pitchFamily="18" charset="0"/>
              </a:rPr>
              <a:t>. </a:t>
            </a:r>
            <a:r>
              <a:rPr lang="en-US" sz="1600" b="1" dirty="0">
                <a:latin typeface="Verdana" pitchFamily="34" charset="0"/>
                <a:cs typeface="Times New Roman" pitchFamily="18" charset="0"/>
              </a:rPr>
              <a:t>(Level of </a:t>
            </a:r>
            <a:r>
              <a:rPr lang="en-US" sz="1600" b="1" dirty="0" smtClean="0">
                <a:latin typeface="Verdana" pitchFamily="34" charset="0"/>
                <a:cs typeface="Times New Roman" pitchFamily="18" charset="0"/>
              </a:rPr>
              <a:t>certainty)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457200" y="274638"/>
            <a:ext cx="8229600" cy="850106"/>
          </a:xfrm>
        </p:spPr>
        <p:txBody>
          <a:bodyPr/>
          <a:lstStyle/>
          <a:p>
            <a:pPr eaLnBrk="1" hangingPunct="1">
              <a:lnSpc>
                <a:spcPct val="120000"/>
              </a:lnSpc>
            </a:pPr>
            <a:r>
              <a:rPr lang="en-US" sz="1500" b="1" dirty="0" smtClean="0">
                <a:latin typeface="Verdana" pitchFamily="34" charset="0"/>
                <a:cs typeface="Times New Roman" pitchFamily="18" charset="0"/>
              </a:rPr>
              <a:t>Evaluation in Practice</a:t>
            </a:r>
          </a:p>
        </p:txBody>
      </p:sp>
      <p:sp>
        <p:nvSpPr>
          <p:cNvPr id="50178" name="Text Placeholder 2"/>
          <p:cNvSpPr>
            <a:spLocks noGrp="1"/>
          </p:cNvSpPr>
          <p:nvPr>
            <p:ph type="body" idx="1"/>
          </p:nvPr>
        </p:nvSpPr>
        <p:spPr>
          <a:xfrm>
            <a:off x="457200" y="1052736"/>
            <a:ext cx="8003232" cy="5112568"/>
          </a:xfrm>
        </p:spPr>
        <p:txBody>
          <a:bodyPr/>
          <a:lstStyle/>
          <a:p>
            <a:pPr algn="just" eaLnBrk="1" hangingPunct="1">
              <a:lnSpc>
                <a:spcPct val="200000"/>
              </a:lnSpc>
            </a:pPr>
            <a:r>
              <a:rPr lang="en-US" sz="1600" dirty="0" smtClean="0">
                <a:latin typeface="Verdana" pitchFamily="34" charset="0"/>
                <a:cs typeface="Times New Roman" pitchFamily="18" charset="0"/>
              </a:rPr>
              <a:t>A survey of 103 experienced practitioners of human-</a:t>
            </a:r>
            <a:r>
              <a:rPr lang="en-US" sz="1600" dirty="0" err="1" smtClean="0">
                <a:latin typeface="Verdana" pitchFamily="34" charset="0"/>
                <a:cs typeface="Times New Roman" pitchFamily="18" charset="0"/>
              </a:rPr>
              <a:t>centred</a:t>
            </a:r>
            <a:r>
              <a:rPr lang="en-US" sz="1600" dirty="0" smtClean="0">
                <a:latin typeface="Verdana" pitchFamily="34" charset="0"/>
                <a:cs typeface="Times New Roman" pitchFamily="18" charset="0"/>
              </a:rPr>
              <a:t> design conducted in </a:t>
            </a:r>
            <a:r>
              <a:rPr lang="en-US" sz="1600" b="1" dirty="0" smtClean="0">
                <a:latin typeface="Verdana" pitchFamily="34" charset="0"/>
                <a:cs typeface="Times New Roman" pitchFamily="18" charset="0"/>
              </a:rPr>
              <a:t>2000</a:t>
            </a:r>
            <a:r>
              <a:rPr lang="en-US" sz="1600" dirty="0" smtClean="0">
                <a:latin typeface="Verdana" pitchFamily="34" charset="0"/>
                <a:cs typeface="Times New Roman" pitchFamily="18" charset="0"/>
              </a:rPr>
              <a:t> (</a:t>
            </a:r>
            <a:r>
              <a:rPr lang="en-US" sz="1600" dirty="0" err="1" smtClean="0">
                <a:latin typeface="Verdana" pitchFamily="34" charset="0"/>
                <a:cs typeface="Times New Roman" pitchFamily="18" charset="0"/>
              </a:rPr>
              <a:t>Vredenburg</a:t>
            </a:r>
            <a:r>
              <a:rPr lang="en-US" sz="1600" dirty="0" smtClean="0">
                <a:latin typeface="Verdana" pitchFamily="34" charset="0"/>
                <a:cs typeface="Times New Roman" pitchFamily="18" charset="0"/>
              </a:rPr>
              <a:t> </a:t>
            </a:r>
            <a:r>
              <a:rPr lang="en-US" sz="1600" i="1" dirty="0" smtClean="0">
                <a:latin typeface="Verdana" pitchFamily="34" charset="0"/>
                <a:cs typeface="Times New Roman" pitchFamily="18" charset="0"/>
              </a:rPr>
              <a:t>et al., 2002) indicates that around 40 percent of those surveyed conducted ‘usability evaluation’, around 30 percent used ‘informal expert review’ and around 15 percent used ‘formal heuristic </a:t>
            </a:r>
          </a:p>
          <a:p>
            <a:pPr marL="2171700" lvl="5" indent="0" algn="just">
              <a:lnSpc>
                <a:spcPct val="200000"/>
              </a:lnSpc>
              <a:buNone/>
            </a:pPr>
            <a:r>
              <a:rPr lang="en-US" sz="1400" i="1" dirty="0" smtClean="0">
                <a:latin typeface="Verdana" pitchFamily="34" charset="0"/>
                <a:cs typeface="Times New Roman" pitchFamily="18" charset="0"/>
              </a:rPr>
              <a:t> 40</a:t>
            </a:r>
            <a:r>
              <a:rPr lang="en-US" sz="1400" i="1" dirty="0">
                <a:latin typeface="Verdana" pitchFamily="34" charset="0"/>
                <a:cs typeface="Times New Roman" pitchFamily="18" charset="0"/>
              </a:rPr>
              <a:t>% -usability evaluation</a:t>
            </a:r>
          </a:p>
          <a:p>
            <a:pPr marL="2171700" lvl="5" indent="0" algn="just">
              <a:lnSpc>
                <a:spcPct val="200000"/>
              </a:lnSpc>
              <a:buNone/>
            </a:pPr>
            <a:r>
              <a:rPr lang="en-US" sz="1400" i="1" dirty="0" smtClean="0">
                <a:latin typeface="Verdana" pitchFamily="34" charset="0"/>
                <a:cs typeface="Times New Roman" pitchFamily="18" charset="0"/>
              </a:rPr>
              <a:t> 30</a:t>
            </a:r>
            <a:r>
              <a:rPr lang="en-US" sz="1400" i="1" dirty="0">
                <a:latin typeface="Verdana" pitchFamily="34" charset="0"/>
                <a:cs typeface="Times New Roman" pitchFamily="18" charset="0"/>
              </a:rPr>
              <a:t>% -informal expert review</a:t>
            </a:r>
          </a:p>
          <a:p>
            <a:pPr marL="2171700" lvl="5" indent="0" algn="just">
              <a:lnSpc>
                <a:spcPct val="200000"/>
              </a:lnSpc>
              <a:buNone/>
            </a:pPr>
            <a:r>
              <a:rPr lang="en-US" sz="1400" i="1" dirty="0" smtClean="0">
                <a:latin typeface="Verdana" pitchFamily="34" charset="0"/>
                <a:cs typeface="Times New Roman" pitchFamily="18" charset="0"/>
              </a:rPr>
              <a:t> 15</a:t>
            </a:r>
            <a:r>
              <a:rPr lang="en-US" sz="1400" i="1" dirty="0">
                <a:latin typeface="Verdana" pitchFamily="34" charset="0"/>
                <a:cs typeface="Times New Roman" pitchFamily="18" charset="0"/>
              </a:rPr>
              <a:t>% -formal heuristic evaluation</a:t>
            </a:r>
            <a:endParaRPr lang="en-US" sz="1400" i="1" dirty="0" smtClean="0">
              <a:latin typeface="Verdana" pitchFamily="34" charset="0"/>
              <a:cs typeface="Times New Roman" pitchFamily="18" charset="0"/>
            </a:endParaRPr>
          </a:p>
          <a:p>
            <a:pPr algn="just" eaLnBrk="1" hangingPunct="1">
              <a:lnSpc>
                <a:spcPct val="200000"/>
              </a:lnSpc>
            </a:pPr>
            <a:r>
              <a:rPr lang="en-US" sz="1600" dirty="0" smtClean="0">
                <a:latin typeface="Verdana" pitchFamily="34" charset="0"/>
                <a:cs typeface="Times New Roman" pitchFamily="18" charset="0"/>
              </a:rPr>
              <a:t>Clearly the community remains in need of methods that are both light on resources and productive of useful results.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a:xfrm>
            <a:off x="428779" y="404664"/>
            <a:ext cx="8229600" cy="490066"/>
          </a:xfrm>
        </p:spPr>
        <p:txBody>
          <a:bodyPr/>
          <a:lstStyle/>
          <a:p>
            <a:pPr eaLnBrk="1" hangingPunct="1">
              <a:lnSpc>
                <a:spcPct val="120000"/>
              </a:lnSpc>
            </a:pPr>
            <a:r>
              <a:rPr lang="en-US" sz="2000" b="1" dirty="0" smtClean="0">
                <a:solidFill>
                  <a:srgbClr val="0070C0"/>
                </a:solidFill>
                <a:latin typeface="Verdana" pitchFamily="34" charset="0"/>
                <a:cs typeface="Times New Roman" pitchFamily="18" charset="0"/>
              </a:rPr>
              <a:t>Main </a:t>
            </a:r>
            <a:r>
              <a:rPr lang="en-US" sz="2000" b="1" dirty="0" smtClean="0">
                <a:solidFill>
                  <a:srgbClr val="0070C0"/>
                </a:solidFill>
                <a:latin typeface="Verdana" pitchFamily="34" charset="0"/>
                <a:cs typeface="Times New Roman" pitchFamily="18" charset="0"/>
              </a:rPr>
              <a:t>Steps For Simple But Effective Evaluation Project </a:t>
            </a:r>
            <a:endParaRPr lang="en-US" sz="2000" b="1" dirty="0" smtClean="0">
              <a:solidFill>
                <a:srgbClr val="0070C0"/>
              </a:solidFill>
              <a:latin typeface="Verdana" pitchFamily="34" charset="0"/>
              <a:cs typeface="Times New Roman" pitchFamily="18" charset="0"/>
            </a:endParaRPr>
          </a:p>
        </p:txBody>
      </p:sp>
      <p:sp>
        <p:nvSpPr>
          <p:cNvPr id="51202" name="Text Placeholder 2"/>
          <p:cNvSpPr>
            <a:spLocks noGrp="1"/>
          </p:cNvSpPr>
          <p:nvPr>
            <p:ph type="body" idx="1"/>
          </p:nvPr>
        </p:nvSpPr>
        <p:spPr>
          <a:xfrm>
            <a:off x="491926" y="1196752"/>
            <a:ext cx="8103305" cy="4968552"/>
          </a:xfrm>
        </p:spPr>
        <p:txBody>
          <a:bodyPr/>
          <a:lstStyle/>
          <a:p>
            <a:pPr marL="0" indent="0" algn="just" eaLnBrk="1" hangingPunct="1">
              <a:lnSpc>
                <a:spcPct val="150000"/>
              </a:lnSpc>
              <a:buNone/>
            </a:pPr>
            <a:r>
              <a:rPr lang="en-US" sz="1500" dirty="0" smtClean="0">
                <a:latin typeface="Verdana" pitchFamily="34" charset="0"/>
                <a:cs typeface="Times New Roman" pitchFamily="18" charset="0"/>
              </a:rPr>
              <a:t>Main steps </a:t>
            </a:r>
            <a:r>
              <a:rPr lang="en-US" sz="1500" dirty="0">
                <a:latin typeface="Verdana" pitchFamily="34" charset="0"/>
                <a:cs typeface="Times New Roman" pitchFamily="18" charset="0"/>
              </a:rPr>
              <a:t>in </a:t>
            </a:r>
            <a:r>
              <a:rPr lang="en-US" sz="1500" b="1" dirty="0">
                <a:latin typeface="Verdana" pitchFamily="34" charset="0"/>
                <a:cs typeface="Times New Roman" pitchFamily="18" charset="0"/>
              </a:rPr>
              <a:t>undertaking a simple but effective evaluation project </a:t>
            </a:r>
            <a:r>
              <a:rPr lang="en-US" sz="1500" dirty="0">
                <a:latin typeface="Verdana" pitchFamily="34" charset="0"/>
                <a:cs typeface="Times New Roman" pitchFamily="18" charset="0"/>
              </a:rPr>
              <a:t>are:</a:t>
            </a:r>
            <a:endParaRPr lang="en-US" sz="1500" dirty="0" smtClean="0">
              <a:latin typeface="Verdana" pitchFamily="34" charset="0"/>
              <a:cs typeface="Times New Roman" pitchFamily="18" charset="0"/>
            </a:endParaRPr>
          </a:p>
          <a:p>
            <a:pPr algn="just" eaLnBrk="1" hangingPunct="1">
              <a:lnSpc>
                <a:spcPct val="150000"/>
              </a:lnSpc>
              <a:buFont typeface="+mj-lt"/>
              <a:buAutoNum type="arabicParenR"/>
            </a:pPr>
            <a:r>
              <a:rPr lang="en-US" sz="1500" dirty="0" smtClean="0">
                <a:latin typeface="Verdana" pitchFamily="34" charset="0"/>
                <a:cs typeface="Times New Roman" pitchFamily="18" charset="0"/>
              </a:rPr>
              <a:t>Establish the aims of the evaluation, the intended participants in the valuation, the context of use and the state of the technology; obtain or construct scenarios illustrating how the application will be used</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Select evaluation methods. These should be a combination of expert-based methods review and participant methods</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Carry out expert review</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Plan participant testing; use the results of the expert review to help focus this</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Recruit people and organize testing venue and equipment</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Carry out the evaluation</a:t>
            </a:r>
          </a:p>
          <a:p>
            <a:pPr algn="just" eaLnBrk="1" hangingPunct="1">
              <a:lnSpc>
                <a:spcPct val="150000"/>
              </a:lnSpc>
              <a:buFont typeface="+mj-lt"/>
              <a:buAutoNum type="arabicParenR"/>
            </a:pPr>
            <a:r>
              <a:rPr lang="en-US" sz="1500" dirty="0" smtClean="0">
                <a:latin typeface="Verdana" pitchFamily="34" charset="0"/>
                <a:cs typeface="Times New Roman" pitchFamily="18" charset="0"/>
              </a:rPr>
              <a:t>Analyze results, document and report back to designers.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lnSpc>
                <a:spcPct val="120000"/>
              </a:lnSpc>
            </a:pPr>
            <a:r>
              <a:rPr lang="en-US" sz="1800" b="1" dirty="0" smtClean="0">
                <a:solidFill>
                  <a:srgbClr val="0070C0"/>
                </a:solidFill>
                <a:latin typeface="Verdana" pitchFamily="34" charset="0"/>
                <a:cs typeface="Times New Roman" pitchFamily="18" charset="0"/>
              </a:rPr>
              <a:t>Reporting usability evaluation results to the design team</a:t>
            </a:r>
          </a:p>
        </p:txBody>
      </p:sp>
      <p:sp>
        <p:nvSpPr>
          <p:cNvPr id="60418" name="Text Placeholder 2"/>
          <p:cNvSpPr>
            <a:spLocks noGrp="1"/>
          </p:cNvSpPr>
          <p:nvPr>
            <p:ph type="body" idx="1"/>
          </p:nvPr>
        </p:nvSpPr>
        <p:spPr>
          <a:xfrm>
            <a:off x="843000" y="1417638"/>
            <a:ext cx="7458000" cy="4525963"/>
          </a:xfrm>
        </p:spPr>
        <p:txBody>
          <a:bodyPr/>
          <a:lstStyle/>
          <a:p>
            <a:pPr algn="just" eaLnBrk="1" hangingPunct="1">
              <a:lnSpc>
                <a:spcPct val="200000"/>
              </a:lnSpc>
            </a:pPr>
            <a:r>
              <a:rPr lang="en-US" sz="1500" dirty="0" smtClean="0">
                <a:latin typeface="Verdana" pitchFamily="34" charset="0"/>
                <a:cs typeface="Times New Roman" pitchFamily="18" charset="0"/>
              </a:rPr>
              <a:t>Even if you are both designer and evaluator, you need an </a:t>
            </a:r>
            <a:r>
              <a:rPr lang="en-US" sz="1500" b="1" dirty="0" smtClean="0">
                <a:latin typeface="Verdana" pitchFamily="34" charset="0"/>
                <a:cs typeface="Times New Roman" pitchFamily="18" charset="0"/>
              </a:rPr>
              <a:t>organized list of findings</a:t>
            </a:r>
            <a:r>
              <a:rPr lang="en-US" sz="1500" dirty="0" smtClean="0">
                <a:latin typeface="Verdana" pitchFamily="34" charset="0"/>
                <a:cs typeface="Times New Roman" pitchFamily="18" charset="0"/>
              </a:rPr>
              <a:t> so that you can </a:t>
            </a:r>
            <a:r>
              <a:rPr lang="en-US" sz="1500" b="1" dirty="0" smtClean="0">
                <a:latin typeface="Verdana" pitchFamily="34" charset="0"/>
                <a:cs typeface="Times New Roman" pitchFamily="18" charset="0"/>
              </a:rPr>
              <a:t>prioritize redesign work</a:t>
            </a:r>
            <a:r>
              <a:rPr lang="en-US" sz="1500" dirty="0" smtClean="0">
                <a:latin typeface="Verdana" pitchFamily="34" charset="0"/>
                <a:cs typeface="Times New Roman" pitchFamily="18" charset="0"/>
              </a:rPr>
              <a:t>. </a:t>
            </a:r>
          </a:p>
          <a:p>
            <a:pPr algn="just" eaLnBrk="1" hangingPunct="1">
              <a:lnSpc>
                <a:spcPct val="200000"/>
              </a:lnSpc>
            </a:pPr>
            <a:r>
              <a:rPr lang="en-US" sz="1500" dirty="0" smtClean="0">
                <a:latin typeface="Verdana" pitchFamily="34" charset="0"/>
                <a:cs typeface="Times New Roman" pitchFamily="18" charset="0"/>
              </a:rPr>
              <a:t>If you are reporting back to a design/development team, it is crucial that they can </a:t>
            </a:r>
            <a:r>
              <a:rPr lang="en-US" sz="1500" b="1" dirty="0" smtClean="0">
                <a:latin typeface="Verdana" pitchFamily="34" charset="0"/>
                <a:cs typeface="Times New Roman" pitchFamily="18" charset="0"/>
              </a:rPr>
              <a:t>see immediately what the problem is</a:t>
            </a:r>
            <a:r>
              <a:rPr lang="en-US" sz="1500" dirty="0" smtClean="0">
                <a:latin typeface="Verdana" pitchFamily="34" charset="0"/>
                <a:cs typeface="Times New Roman" pitchFamily="18" charset="0"/>
              </a:rPr>
              <a:t>, </a:t>
            </a:r>
            <a:r>
              <a:rPr lang="en-US" sz="1500" b="1" dirty="0" smtClean="0">
                <a:latin typeface="Verdana" pitchFamily="34" charset="0"/>
                <a:cs typeface="Times New Roman" pitchFamily="18" charset="0"/>
              </a:rPr>
              <a:t>how significant its consequences </a:t>
            </a:r>
            <a:r>
              <a:rPr lang="en-US" sz="1500" dirty="0" smtClean="0">
                <a:latin typeface="Verdana" pitchFamily="34" charset="0"/>
                <a:cs typeface="Times New Roman" pitchFamily="18" charset="0"/>
              </a:rPr>
              <a:t>are, and </a:t>
            </a:r>
            <a:r>
              <a:rPr lang="en-US" sz="1500" b="1" dirty="0" smtClean="0">
                <a:latin typeface="Verdana" pitchFamily="34" charset="0"/>
                <a:cs typeface="Times New Roman" pitchFamily="18" charset="0"/>
              </a:rPr>
              <a:t>ideally what needs to be done to fix it</a:t>
            </a:r>
            <a:r>
              <a:rPr lang="en-US" sz="1500" dirty="0" smtClean="0">
                <a:latin typeface="Verdana" pitchFamily="34" charset="0"/>
                <a:cs typeface="Times New Roman" pitchFamily="18" charset="0"/>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2688</TotalTime>
  <Words>2608</Words>
  <Application>Microsoft Office PowerPoint</Application>
  <PresentationFormat>On-screen Show (4:3)</PresentationFormat>
  <Paragraphs>157</Paragraphs>
  <Slides>25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Verdana</vt:lpstr>
      <vt:lpstr>Office Theme</vt:lpstr>
      <vt:lpstr>Evaluation  Introduction To Evaluation Data Analytics Expert Evaluation Participant-based Evaluation Evaluation in Practice</vt:lpstr>
      <vt:lpstr>Evaluation</vt:lpstr>
      <vt:lpstr>PowerPoint Presentation</vt:lpstr>
      <vt:lpstr>Introduction</vt:lpstr>
      <vt:lpstr>Human-centred design </vt:lpstr>
      <vt:lpstr>Participants</vt:lpstr>
      <vt:lpstr>Evaluation throughout design </vt:lpstr>
      <vt:lpstr>Checking for usability problems </vt:lpstr>
      <vt:lpstr>Participatory design</vt:lpstr>
      <vt:lpstr>Expert evaluation</vt:lpstr>
      <vt:lpstr>Heuristic Evaluation</vt:lpstr>
      <vt:lpstr>Heuristic Evaluation</vt:lpstr>
      <vt:lpstr>Discount Usability Engineering</vt:lpstr>
      <vt:lpstr>Cognitive Walkthrough</vt:lpstr>
      <vt:lpstr>Cognitive Walkthrough </vt:lpstr>
      <vt:lpstr>Participant-based evaluation</vt:lpstr>
      <vt:lpstr>Cooperative Evaluation</vt:lpstr>
      <vt:lpstr>Cooperative Evaluation</vt:lpstr>
      <vt:lpstr>Participation and heuristics</vt:lpstr>
      <vt:lpstr>Co-discovery</vt:lpstr>
      <vt:lpstr>Co-discovery  &gt;  Living Labs</vt:lpstr>
      <vt:lpstr>Controlled experiments</vt:lpstr>
      <vt:lpstr>Evaluation in Practice</vt:lpstr>
      <vt:lpstr>Main Steps For Simple But Effective Evaluation Project </vt:lpstr>
      <vt:lpstr>Reporting usability evaluation results to the design team</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dc:title>
  <dc:creator>david benyon</dc:creator>
  <cp:lastModifiedBy>SANA</cp:lastModifiedBy>
  <cp:revision>248</cp:revision>
  <dcterms:created xsi:type="dcterms:W3CDTF">2010-05-27T08:17:22Z</dcterms:created>
  <dcterms:modified xsi:type="dcterms:W3CDTF">2025-04-30T15:59:42Z</dcterms:modified>
</cp:coreProperties>
</file>