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9" r:id="rId3"/>
    <p:sldId id="260" r:id="rId4"/>
    <p:sldId id="261" r:id="rId5"/>
    <p:sldId id="262" r:id="rId6"/>
    <p:sldId id="264" r:id="rId7"/>
    <p:sldId id="265" r:id="rId8"/>
    <p:sldId id="266" r:id="rId9"/>
    <p:sldId id="267" r:id="rId10"/>
    <p:sldId id="268" r:id="rId11"/>
    <p:sldId id="269" r:id="rId12"/>
    <p:sldId id="271" r:id="rId13"/>
    <p:sldId id="272" r:id="rId14"/>
    <p:sldId id="275" r:id="rId15"/>
    <p:sldId id="276" r:id="rId16"/>
    <p:sldId id="277" r:id="rId17"/>
    <p:sldId id="279" r:id="rId18"/>
    <p:sldId id="280" r:id="rId19"/>
    <p:sldId id="281" r:id="rId20"/>
    <p:sldId id="282" r:id="rId21"/>
    <p:sldId id="283" r:id="rId22"/>
    <p:sldId id="284" r:id="rId23"/>
    <p:sldId id="285" r:id="rId24"/>
    <p:sldId id="287" r:id="rId25"/>
    <p:sldId id="288" r:id="rId26"/>
    <p:sldId id="289" r:id="rId27"/>
    <p:sldId id="290" r:id="rId28"/>
    <p:sldId id="291" r:id="rId29"/>
    <p:sldId id="292" r:id="rId30"/>
    <p:sldId id="294" r:id="rId31"/>
    <p:sldId id="297" r:id="rId32"/>
    <p:sldId id="304" r:id="rId33"/>
    <p:sldId id="305" r:id="rId34"/>
    <p:sldId id="306" r:id="rId35"/>
    <p:sldId id="307" r:id="rId36"/>
    <p:sldId id="308" r:id="rId37"/>
    <p:sldId id="309" r:id="rId38"/>
    <p:sldId id="311" r:id="rId39"/>
    <p:sldId id="312" r:id="rId4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09" autoAdjust="0"/>
    <p:restoredTop sz="94343" autoAdjust="0"/>
  </p:normalViewPr>
  <p:slideViewPr>
    <p:cSldViewPr snapToObjects="1">
      <p:cViewPr varScale="1">
        <p:scale>
          <a:sx n="69" d="100"/>
          <a:sy n="69" d="100"/>
        </p:scale>
        <p:origin x="894" y="66"/>
      </p:cViewPr>
      <p:guideLst>
        <p:guide orient="horz" pos="2160"/>
        <p:guide pos="2880"/>
      </p:guideLst>
    </p:cSldViewPr>
  </p:slideViewPr>
  <p:outlineViewPr>
    <p:cViewPr>
      <p:scale>
        <a:sx n="33" d="100"/>
        <a:sy n="33" d="100"/>
      </p:scale>
      <p:origin x="0" y="7007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84966B-0B2F-460D-AE62-5D0E9457AF26}" type="datetimeFigureOut">
              <a:rPr lang="en-US" smtClean="0"/>
              <a:t>3/12/2025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39B8E-7713-4A51-BD3F-58D6EFF075B8}" type="slidenum">
              <a:rPr lang="en-US" smtClean="0"/>
              <a:t>‹#›</a:t>
            </a:fld>
            <a:endParaRPr lang="en-US"/>
          </a:p>
        </p:txBody>
      </p:sp>
    </p:spTree>
    <p:extLst>
      <p:ext uri="{BB962C8B-B14F-4D97-AF65-F5344CB8AC3E}">
        <p14:creationId xmlns:p14="http://schemas.microsoft.com/office/powerpoint/2010/main" val="47729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Verdana" pitchFamily="34" charset="0"/>
                <a:cs typeface="Times New Roman" pitchFamily="18" charset="0"/>
              </a:rPr>
              <a:t>Flexibility of navigation can be enabled by providing alternatives for people; different routes though the site and having a variety of links. Having a site map will afford people getting oriented. </a:t>
            </a:r>
          </a:p>
          <a:p>
            <a:endParaRPr lang="en-US" b="1" dirty="0"/>
          </a:p>
        </p:txBody>
      </p:sp>
      <p:sp>
        <p:nvSpPr>
          <p:cNvPr id="4" name="Slide Number Placeholder 3"/>
          <p:cNvSpPr>
            <a:spLocks noGrp="1"/>
          </p:cNvSpPr>
          <p:nvPr>
            <p:ph type="sldNum" sz="quarter" idx="10"/>
          </p:nvPr>
        </p:nvSpPr>
        <p:spPr/>
        <p:txBody>
          <a:bodyPr/>
          <a:lstStyle/>
          <a:p>
            <a:fld id="{54539B8E-7713-4A51-BD3F-58D6EFF075B8}" type="slidenum">
              <a:rPr lang="en-US" smtClean="0"/>
              <a:t>38</a:t>
            </a:fld>
            <a:endParaRPr lang="en-US"/>
          </a:p>
        </p:txBody>
      </p:sp>
    </p:spTree>
    <p:extLst>
      <p:ext uri="{BB962C8B-B14F-4D97-AF65-F5344CB8AC3E}">
        <p14:creationId xmlns:p14="http://schemas.microsoft.com/office/powerpoint/2010/main" val="4246019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1A90A1B-B6FA-41F2-A7C9-C8CF9DF3088A}" type="datetimeFigureOut">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DA5106-A451-4924-B616-A381A808289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5F1F98C-A59A-40C6-95CB-B86026EF4063}" type="datetimeFigureOut">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CCD7B13-D2E5-4B77-B620-F146584CD65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C043D05B-5A51-4A58-917C-2417292322CE}" type="datetimeFigureOut">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AE7E5E0-EB5C-44DB-944A-971083AB4B1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EED727BB-C474-478A-893A-EB02F209FD32}" type="datetimeFigureOut">
              <a:rPr lang="en-US"/>
              <a:pPr>
                <a:defRPr/>
              </a:pPr>
              <a:t>3/12/2025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3F5DFA8-9709-47B6-9D7C-FB3E84E4E6A0}"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39B27316-ADFA-4DE0-BC50-7DFED147E384}" type="datetimeFigureOut">
              <a:rPr lang="en-US"/>
              <a:pPr>
                <a:defRPr/>
              </a:pPr>
              <a:t>3/12/2025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5CC0A02-CA7E-409D-8992-69978F7944E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2C715E3-9F48-4620-8525-3904573A580B}" type="datetimeFigureOut">
              <a:rPr lang="en-US"/>
              <a:pPr>
                <a:defRPr/>
              </a:pPr>
              <a:t>3/12/2025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9A2BED6-08A9-434E-BC44-B31E11B0BF3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36C1068-B783-443B-835A-E7AC92B35BA7}" type="datetimeFigureOut">
              <a:rPr lang="en-US"/>
              <a:pPr>
                <a:defRPr/>
              </a:pPr>
              <a:t>3/12/2025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490DE57-A588-41CD-9FE5-EA544EB259C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EE803DD-1AA6-4A15-BD17-168220153ABC}" type="datetimeFigureOut">
              <a:rPr lang="en-US"/>
              <a:pPr>
                <a:defRPr/>
              </a:pPr>
              <a:t>3/12/2025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6AB616B-08C6-4BAF-8B33-58E5EE2A5EE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BD128D6-407F-4FD1-A3ED-0A642CCD53AB}" type="datetimeFigureOut">
              <a:rPr lang="en-US"/>
              <a:pPr>
                <a:defRPr/>
              </a:pPr>
              <a:t>3/12/2025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D13EB1-1F72-4C25-BC3F-6681FEADBB8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BBF29F9-0AAD-46E3-976F-A63E6697229E}" type="datetimeFigureOut">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3EBF16D-7807-4353-B1F7-73307CD1E32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424D2DB-DDFD-44CD-B228-8629E821C184}" type="datetimeFigureOut">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430F847-94AE-434E-9645-858A1259DFA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Placeholder 2"/>
          <p:cNvSpPr>
            <a:spLocks noGrp="1"/>
          </p:cNvSpPr>
          <p:nvPr>
            <p:ph type="body"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F8DA82C-14E3-42A4-915B-9C67DD73C8C9}" type="datetimeFigureOut">
              <a:rPr lang="en-US"/>
              <a:pPr>
                <a:defRPr/>
              </a:pPr>
              <a:t>3/12/2025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A0BE862-9F7C-4FA3-831C-E7A6E8D7844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86954E90-DF73-497A-BDD6-C4A386106373}" type="datetimeFigureOut">
              <a:rPr lang="en-US"/>
              <a:pPr>
                <a:defRPr/>
              </a:pPr>
              <a:t>3/12/2025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1CD86500-A56B-4DD7-969D-8EC451081FF9}" type="slidenum">
              <a:rPr lang="en-US"/>
              <a:pPr>
                <a:defRPr/>
              </a:pPr>
              <a:t>‹#›</a:t>
            </a:fld>
            <a:endParaRPr lang="en-US"/>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endParaRPr lang="en-GB"/>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p:txBody>
          <a:bodyPr/>
          <a:lstStyle/>
          <a:p>
            <a:pPr eaLnBrk="1" hangingPunct="1">
              <a:lnSpc>
                <a:spcPct val="120000"/>
              </a:lnSpc>
            </a:pPr>
            <a:r>
              <a:rPr lang="en-US" sz="2400" b="1" dirty="0" smtClean="0">
                <a:latin typeface="Verdana" pitchFamily="34" charset="0"/>
                <a:ea typeface="ヒラギノ角ゴ Pro W3"/>
                <a:cs typeface="ヒラギノ角ゴ Pro W3"/>
              </a:rPr>
              <a:t>Usability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pPr eaLnBrk="1" hangingPunct="1">
              <a:lnSpc>
                <a:spcPct val="120000"/>
              </a:lnSpc>
            </a:pPr>
            <a:r>
              <a:rPr lang="en-US" sz="1500" b="1" dirty="0" smtClean="0">
                <a:latin typeface="Verdana" pitchFamily="34" charset="0"/>
                <a:ea typeface="ヒラギノ角ゴ Pro W3"/>
                <a:cs typeface="ヒラギノ角ゴ Pro W3"/>
              </a:rPr>
              <a:t>Good design</a:t>
            </a:r>
          </a:p>
        </p:txBody>
      </p:sp>
      <p:sp>
        <p:nvSpPr>
          <p:cNvPr id="16386" name="Text Placeholder 2"/>
          <p:cNvSpPr>
            <a:spLocks noGrp="1"/>
          </p:cNvSpPr>
          <p:nvPr>
            <p:ph type="body" idx="1"/>
          </p:nvPr>
        </p:nvSpPr>
        <p:spPr>
          <a:xfrm>
            <a:off x="457200" y="1340768"/>
            <a:ext cx="8229600" cy="4525963"/>
          </a:xfrm>
        </p:spPr>
        <p:txBody>
          <a:bodyPr/>
          <a:lstStyle/>
          <a:p>
            <a:pPr algn="just" eaLnBrk="1" hangingPunct="1">
              <a:lnSpc>
                <a:spcPct val="150000"/>
              </a:lnSpc>
            </a:pPr>
            <a:r>
              <a:rPr lang="en-US" sz="1600" dirty="0" smtClean="0">
                <a:latin typeface="Verdana" pitchFamily="34" charset="0"/>
                <a:cs typeface="Times New Roman" pitchFamily="18" charset="0"/>
              </a:rPr>
              <a:t>Good design cannot be summed up in a simple way and nor can the activities of the interactive systems designer, particularly one who takes a human-</a:t>
            </a:r>
            <a:r>
              <a:rPr lang="en-US" sz="1600" dirty="0" err="1" smtClean="0">
                <a:latin typeface="Verdana" pitchFamily="34" charset="0"/>
                <a:cs typeface="Times New Roman" pitchFamily="18" charset="0"/>
              </a:rPr>
              <a:t>centred</a:t>
            </a:r>
            <a:r>
              <a:rPr lang="en-US" sz="1600" dirty="0" smtClean="0">
                <a:latin typeface="Verdana" pitchFamily="34" charset="0"/>
                <a:cs typeface="Times New Roman" pitchFamily="18" charset="0"/>
              </a:rPr>
              <a:t> approach to design. </a:t>
            </a:r>
          </a:p>
          <a:p>
            <a:pPr algn="just" eaLnBrk="1" hangingPunct="1">
              <a:lnSpc>
                <a:spcPct val="150000"/>
              </a:lnSpc>
            </a:pPr>
            <a:r>
              <a:rPr lang="en-US" sz="1600" dirty="0" smtClean="0">
                <a:latin typeface="Verdana" pitchFamily="34" charset="0"/>
                <a:cs typeface="Times New Roman" pitchFamily="18" charset="0"/>
              </a:rPr>
              <a:t>One view might say ‘The interactive systems designer aims to produce systems and products that are </a:t>
            </a:r>
            <a:r>
              <a:rPr lang="en-US" sz="1600" b="1" dirty="0" smtClean="0">
                <a:latin typeface="Verdana" pitchFamily="34" charset="0"/>
                <a:cs typeface="Times New Roman" pitchFamily="18" charset="0"/>
              </a:rPr>
              <a:t>accessible, usable, socially and economically acceptable </a:t>
            </a:r>
            <a:r>
              <a:rPr lang="en-US" sz="1600" dirty="0" smtClean="0">
                <a:latin typeface="Verdana" pitchFamily="34" charset="0"/>
                <a:cs typeface="Times New Roman" pitchFamily="18" charset="0"/>
              </a:rPr>
              <a:t>’. </a:t>
            </a:r>
          </a:p>
          <a:p>
            <a:pPr algn="just" eaLnBrk="1" hangingPunct="1">
              <a:lnSpc>
                <a:spcPct val="150000"/>
              </a:lnSpc>
            </a:pPr>
            <a:r>
              <a:rPr lang="en-US" sz="1600" dirty="0" smtClean="0">
                <a:latin typeface="Verdana" pitchFamily="34" charset="0"/>
                <a:cs typeface="Times New Roman" pitchFamily="18" charset="0"/>
              </a:rPr>
              <a:t>Another view might say ‘The interactive systems designer aims to produce systems that are </a:t>
            </a:r>
            <a:r>
              <a:rPr lang="en-US" sz="1600" b="1" dirty="0" smtClean="0">
                <a:latin typeface="Verdana" pitchFamily="34" charset="0"/>
                <a:cs typeface="Times New Roman" pitchFamily="18" charset="0"/>
              </a:rPr>
              <a:t>learnable, effective and accommodating</a:t>
            </a:r>
            <a:r>
              <a:rPr lang="en-US" sz="1600" dirty="0" smtClean="0">
                <a:latin typeface="Verdana" pitchFamily="34" charset="0"/>
                <a:cs typeface="Times New Roman" pitchFamily="18" charset="0"/>
              </a:rPr>
              <a:t>’. </a:t>
            </a:r>
          </a:p>
          <a:p>
            <a:pPr algn="just" eaLnBrk="1" hangingPunct="1">
              <a:lnSpc>
                <a:spcPct val="150000"/>
              </a:lnSpc>
            </a:pPr>
            <a:r>
              <a:rPr lang="en-US" sz="1600" dirty="0" smtClean="0">
                <a:latin typeface="Verdana" pitchFamily="34" charset="0"/>
                <a:cs typeface="Times New Roman" pitchFamily="18" charset="0"/>
              </a:rPr>
              <a:t>A third view could be ‘The </a:t>
            </a:r>
            <a:r>
              <a:rPr lang="en-US" sz="1600" b="1" dirty="0" smtClean="0">
                <a:latin typeface="Verdana" pitchFamily="34" charset="0"/>
                <a:cs typeface="Times New Roman" pitchFamily="18" charset="0"/>
              </a:rPr>
              <a:t>aim</a:t>
            </a:r>
            <a:r>
              <a:rPr lang="en-US" sz="1600" dirty="0" smtClean="0">
                <a:latin typeface="Verdana" pitchFamily="34" charset="0"/>
                <a:cs typeface="Times New Roman" pitchFamily="18" charset="0"/>
              </a:rPr>
              <a:t> of the interactive systems </a:t>
            </a:r>
            <a:r>
              <a:rPr lang="en-US" sz="1600" b="1" dirty="0" smtClean="0">
                <a:latin typeface="Verdana" pitchFamily="34" charset="0"/>
                <a:cs typeface="Times New Roman" pitchFamily="18" charset="0"/>
              </a:rPr>
              <a:t>designer is to balance the PACT elements with respect to a domain</a:t>
            </a:r>
            <a:r>
              <a:rPr lang="en-US" sz="1600" dirty="0" smtClean="0">
                <a:latin typeface="Verdana" pitchFamily="34" charset="0"/>
                <a:cs typeface="Times New Roman" pitchFamily="18" charset="0"/>
              </a:rPr>
              <a:t>’. </a:t>
            </a:r>
          </a:p>
          <a:p>
            <a:pPr algn="just" eaLnBrk="1" hangingPunct="1">
              <a:lnSpc>
                <a:spcPct val="150000"/>
              </a:lnSpc>
            </a:pPr>
            <a:r>
              <a:rPr lang="en-US" sz="1600" dirty="0" smtClean="0">
                <a:latin typeface="Verdana" pitchFamily="34" charset="0"/>
                <a:cs typeface="Times New Roman" pitchFamily="18" charset="0"/>
              </a:rPr>
              <a:t>All of these views are valid.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lnSpc>
                <a:spcPct val="120000"/>
              </a:lnSpc>
            </a:pPr>
            <a:r>
              <a:rPr lang="en-US" sz="1800" b="1" dirty="0" smtClean="0">
                <a:latin typeface="Verdana" pitchFamily="34" charset="0"/>
                <a:ea typeface="ヒラギノ角ゴ Pro W3"/>
                <a:cs typeface="ヒラギノ角ゴ Pro W3"/>
              </a:rPr>
              <a:t>Three main things</a:t>
            </a:r>
          </a:p>
        </p:txBody>
      </p:sp>
      <p:sp>
        <p:nvSpPr>
          <p:cNvPr id="17410" name="Text Placeholder 2"/>
          <p:cNvSpPr>
            <a:spLocks noGrp="1"/>
          </p:cNvSpPr>
          <p:nvPr>
            <p:ph type="body" idx="1"/>
          </p:nvPr>
        </p:nvSpPr>
        <p:spPr>
          <a:xfrm>
            <a:off x="611560" y="1351309"/>
            <a:ext cx="8075240" cy="4741987"/>
          </a:xfrm>
        </p:spPr>
        <p:txBody>
          <a:bodyPr/>
          <a:lstStyle/>
          <a:p>
            <a:pPr algn="just" eaLnBrk="1" hangingPunct="1">
              <a:lnSpc>
                <a:spcPct val="150000"/>
              </a:lnSpc>
            </a:pPr>
            <a:r>
              <a:rPr lang="en-US" sz="1600" b="1" u="sng" dirty="0" smtClean="0">
                <a:latin typeface="Verdana" pitchFamily="34" charset="0"/>
                <a:cs typeface="Times New Roman" pitchFamily="18" charset="0"/>
              </a:rPr>
              <a:t>Accessibility</a:t>
            </a:r>
            <a:r>
              <a:rPr lang="en-US" sz="1600" dirty="0" smtClean="0">
                <a:latin typeface="Verdana" pitchFamily="34" charset="0"/>
                <a:cs typeface="Times New Roman" pitchFamily="18" charset="0"/>
              </a:rPr>
              <a:t> concerns removing the barriers that would (otherwise) exclude some people from using the system at all. </a:t>
            </a:r>
          </a:p>
          <a:p>
            <a:pPr marL="0" indent="0" algn="just" eaLnBrk="1" hangingPunct="1">
              <a:lnSpc>
                <a:spcPct val="150000"/>
              </a:lnSpc>
              <a:buNone/>
            </a:pPr>
            <a:endParaRPr lang="en-US" sz="1600" dirty="0" smtClean="0">
              <a:latin typeface="Verdana" pitchFamily="34" charset="0"/>
              <a:cs typeface="Times New Roman" pitchFamily="18" charset="0"/>
            </a:endParaRPr>
          </a:p>
          <a:p>
            <a:pPr algn="just" eaLnBrk="1" hangingPunct="1">
              <a:lnSpc>
                <a:spcPct val="150000"/>
              </a:lnSpc>
            </a:pPr>
            <a:r>
              <a:rPr lang="en-US" sz="1600" b="1" u="sng" dirty="0" smtClean="0">
                <a:latin typeface="Verdana" pitchFamily="34" charset="0"/>
                <a:cs typeface="Times New Roman" pitchFamily="18" charset="0"/>
              </a:rPr>
              <a:t>Usability</a:t>
            </a:r>
            <a:r>
              <a:rPr lang="en-US" sz="1600" dirty="0" smtClean="0">
                <a:latin typeface="Verdana" pitchFamily="34" charset="0"/>
                <a:cs typeface="Times New Roman" pitchFamily="18" charset="0"/>
              </a:rPr>
              <a:t> refers to the </a:t>
            </a:r>
            <a:r>
              <a:rPr lang="en-US" sz="1600" b="1" dirty="0" smtClean="0">
                <a:latin typeface="Verdana" pitchFamily="34" charset="0"/>
                <a:cs typeface="Times New Roman" pitchFamily="18" charset="0"/>
              </a:rPr>
              <a:t>quality of the interaction </a:t>
            </a:r>
            <a:r>
              <a:rPr lang="en-US" sz="1600" dirty="0" smtClean="0">
                <a:latin typeface="Verdana" pitchFamily="34" charset="0"/>
                <a:cs typeface="Times New Roman" pitchFamily="18" charset="0"/>
              </a:rPr>
              <a:t>in terms of parameters such as time taken to perform tasks, number of errors made and the time to become a competent user. </a:t>
            </a:r>
          </a:p>
          <a:p>
            <a:pPr algn="just" eaLnBrk="1" hangingPunct="1">
              <a:lnSpc>
                <a:spcPct val="150000"/>
              </a:lnSpc>
            </a:pPr>
            <a:endParaRPr lang="en-US" sz="1600" dirty="0" smtClean="0">
              <a:latin typeface="Verdana" pitchFamily="34" charset="0"/>
              <a:cs typeface="Times New Roman" pitchFamily="18" charset="0"/>
            </a:endParaRPr>
          </a:p>
          <a:p>
            <a:pPr algn="just" eaLnBrk="1" hangingPunct="1">
              <a:lnSpc>
                <a:spcPct val="150000"/>
              </a:lnSpc>
            </a:pPr>
            <a:r>
              <a:rPr lang="en-US" sz="1600" b="1" u="sng" dirty="0" smtClean="0">
                <a:latin typeface="Verdana" pitchFamily="34" charset="0"/>
                <a:cs typeface="Times New Roman" pitchFamily="18" charset="0"/>
              </a:rPr>
              <a:t>Acceptability</a:t>
            </a:r>
            <a:r>
              <a:rPr lang="en-US" sz="1600" dirty="0" smtClean="0">
                <a:latin typeface="Verdana" pitchFamily="34" charset="0"/>
                <a:cs typeface="Times New Roman" pitchFamily="18" charset="0"/>
              </a:rPr>
              <a:t> refers to fitness for purpose in the context of use. It also covers personal preferences that contribute to users ‘taking to’ an artifact, or not.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457200" y="274638"/>
            <a:ext cx="8229600" cy="490066"/>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Accessibility</a:t>
            </a:r>
          </a:p>
        </p:txBody>
      </p:sp>
      <p:sp>
        <p:nvSpPr>
          <p:cNvPr id="18434" name="Text Placeholder 2"/>
          <p:cNvSpPr>
            <a:spLocks noGrp="1"/>
          </p:cNvSpPr>
          <p:nvPr>
            <p:ph type="body" idx="1"/>
          </p:nvPr>
        </p:nvSpPr>
        <p:spPr>
          <a:xfrm>
            <a:off x="323528" y="980728"/>
            <a:ext cx="8363272" cy="4968552"/>
          </a:xfrm>
        </p:spPr>
        <p:txBody>
          <a:bodyPr/>
          <a:lstStyle/>
          <a:p>
            <a:pPr algn="just" eaLnBrk="1" hangingPunct="1">
              <a:lnSpc>
                <a:spcPct val="150000"/>
              </a:lnSpc>
            </a:pPr>
            <a:r>
              <a:rPr lang="en-US" sz="1500" dirty="0" smtClean="0">
                <a:latin typeface="Verdana" pitchFamily="34" charset="0"/>
                <a:cs typeface="Times New Roman" pitchFamily="18" charset="0"/>
              </a:rPr>
              <a:t>Access to physical spaces for </a:t>
            </a:r>
            <a:r>
              <a:rPr lang="en-US" sz="1500" b="1" dirty="0" smtClean="0">
                <a:latin typeface="Verdana" pitchFamily="34" charset="0"/>
                <a:cs typeface="Times New Roman" pitchFamily="18" charset="0"/>
              </a:rPr>
              <a:t>people with disabilities </a:t>
            </a:r>
            <a:r>
              <a:rPr lang="en-US" sz="1500" dirty="0" smtClean="0">
                <a:latin typeface="Verdana" pitchFamily="34" charset="0"/>
                <a:cs typeface="Times New Roman" pitchFamily="18" charset="0"/>
              </a:rPr>
              <a:t>has long been an important legal and ethical requirement and this is now becoming increasingly so for information spaces. </a:t>
            </a:r>
          </a:p>
          <a:p>
            <a:pPr algn="just"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United Nations and the </a:t>
            </a:r>
            <a:r>
              <a:rPr lang="en-US" sz="1500" b="1" dirty="0" smtClean="0">
                <a:solidFill>
                  <a:schemeClr val="tx2">
                    <a:lumMod val="60000"/>
                    <a:lumOff val="40000"/>
                  </a:schemeClr>
                </a:solidFill>
                <a:latin typeface="Verdana" pitchFamily="34" charset="0"/>
                <a:cs typeface="Times New Roman" pitchFamily="18" charset="0"/>
              </a:rPr>
              <a:t>World Wide Web Consortium (W3C)</a:t>
            </a:r>
            <a:r>
              <a:rPr lang="en-US" sz="1500" b="1" dirty="0" smtClean="0">
                <a:latin typeface="Verdana" pitchFamily="34" charset="0"/>
                <a:cs typeface="Times New Roman" pitchFamily="18" charset="0"/>
              </a:rPr>
              <a:t> have declarations and guidelines </a:t>
            </a:r>
            <a:r>
              <a:rPr lang="en-US" sz="1500" dirty="0" smtClean="0">
                <a:latin typeface="Verdana" pitchFamily="34" charset="0"/>
                <a:cs typeface="Times New Roman" pitchFamily="18" charset="0"/>
              </a:rPr>
              <a:t>on ensuring that everyone can get access to information that is delivered through software technologies</a:t>
            </a:r>
          </a:p>
          <a:p>
            <a:pPr algn="just" eaLnBrk="1" hangingPunct="1">
              <a:lnSpc>
                <a:spcPct val="150000"/>
              </a:lnSpc>
            </a:pPr>
            <a:r>
              <a:rPr lang="en-US" sz="1500" dirty="0" smtClean="0">
                <a:latin typeface="Verdana" pitchFamily="34" charset="0"/>
                <a:cs typeface="Times New Roman" pitchFamily="18" charset="0"/>
              </a:rPr>
              <a:t>With an increasingly wide range of computer users and technologies, designers need to focus on the demands their </a:t>
            </a:r>
            <a:r>
              <a:rPr lang="en-US" sz="1500" b="1" dirty="0" smtClean="0">
                <a:latin typeface="Verdana" pitchFamily="34" charset="0"/>
                <a:cs typeface="Times New Roman" pitchFamily="18" charset="0"/>
              </a:rPr>
              <a:t>designs make on people’s abilities</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Designers have to </a:t>
            </a:r>
            <a:r>
              <a:rPr lang="en-US" sz="1500" b="1" dirty="0" smtClean="0">
                <a:latin typeface="Verdana" pitchFamily="34" charset="0"/>
                <a:cs typeface="Times New Roman" pitchFamily="18" charset="0"/>
              </a:rPr>
              <a:t>design for the elderly and for children</a:t>
            </a:r>
            <a:r>
              <a:rPr lang="en-US" sz="1500" dirty="0" smtClean="0">
                <a:latin typeface="Verdana" pitchFamily="34" charset="0"/>
                <a:cs typeface="Times New Roman" pitchFamily="18" charset="0"/>
              </a:rPr>
              <a:t>. </a:t>
            </a:r>
          </a:p>
          <a:p>
            <a:pPr algn="just" eaLnBrk="1" hangingPunct="1">
              <a:lnSpc>
                <a:spcPct val="150000"/>
              </a:lnSpc>
            </a:pPr>
            <a:r>
              <a:rPr lang="en-US" sz="1500" b="1" dirty="0" smtClean="0">
                <a:latin typeface="Verdana" pitchFamily="34" charset="0"/>
                <a:cs typeface="Times New Roman" pitchFamily="18" charset="0"/>
              </a:rPr>
              <a:t>Newell (1995) points out </a:t>
            </a:r>
            <a:r>
              <a:rPr lang="en-US" sz="1500" dirty="0" smtClean="0">
                <a:latin typeface="Verdana" pitchFamily="34" charset="0"/>
                <a:cs typeface="Times New Roman" pitchFamily="18" charset="0"/>
              </a:rPr>
              <a:t>that the sort of issues that face an ordinary person in an extraordinary environment (such as under stress, time pressures, etc.) are often similar to the issues that face a person with disabilities in an ordinary environment.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274638"/>
            <a:ext cx="8229600" cy="346050"/>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Exclusions</a:t>
            </a:r>
          </a:p>
        </p:txBody>
      </p:sp>
      <p:sp>
        <p:nvSpPr>
          <p:cNvPr id="19458" name="Text Placeholder 2"/>
          <p:cNvSpPr>
            <a:spLocks noGrp="1"/>
          </p:cNvSpPr>
          <p:nvPr>
            <p:ph type="body" idx="1"/>
          </p:nvPr>
        </p:nvSpPr>
        <p:spPr>
          <a:xfrm>
            <a:off x="251520" y="764704"/>
            <a:ext cx="8640960" cy="5544616"/>
          </a:xfrm>
        </p:spPr>
        <p:txBody>
          <a:bodyPr/>
          <a:lstStyle/>
          <a:p>
            <a:pPr marL="0" indent="0" algn="just" eaLnBrk="1" hangingPunct="1">
              <a:lnSpc>
                <a:spcPct val="150000"/>
              </a:lnSpc>
              <a:buNone/>
            </a:pPr>
            <a:r>
              <a:rPr lang="en-US" sz="1500" dirty="0" smtClean="0">
                <a:latin typeface="Verdana" pitchFamily="34" charset="0"/>
                <a:cs typeface="Times New Roman" pitchFamily="18" charset="0"/>
              </a:rPr>
              <a:t>People will be </a:t>
            </a:r>
            <a:r>
              <a:rPr lang="en-US" sz="1500" b="1" dirty="0" smtClean="0">
                <a:latin typeface="Verdana" pitchFamily="34" charset="0"/>
                <a:cs typeface="Times New Roman" pitchFamily="18" charset="0"/>
              </a:rPr>
              <a:t>excluded from accessing interactive systems </a:t>
            </a:r>
            <a:r>
              <a:rPr lang="en-US" sz="1500" dirty="0" smtClean="0">
                <a:latin typeface="Verdana" pitchFamily="34" charset="0"/>
                <a:cs typeface="Times New Roman" pitchFamily="18" charset="0"/>
              </a:rPr>
              <a:t>for any below reasons:</a:t>
            </a:r>
          </a:p>
          <a:p>
            <a:pPr algn="just" eaLnBrk="1" hangingPunct="1">
              <a:lnSpc>
                <a:spcPct val="150000"/>
              </a:lnSpc>
            </a:pPr>
            <a:r>
              <a:rPr lang="en-US" sz="1500" b="1" dirty="0" smtClean="0">
                <a:latin typeface="Verdana" pitchFamily="34" charset="0"/>
                <a:cs typeface="Times New Roman" pitchFamily="18" charset="0"/>
              </a:rPr>
              <a:t>Physically</a:t>
            </a:r>
            <a:r>
              <a:rPr lang="en-US" sz="1500" dirty="0" smtClean="0">
                <a:latin typeface="Verdana" pitchFamily="34" charset="0"/>
                <a:cs typeface="Times New Roman" pitchFamily="18" charset="0"/>
              </a:rPr>
              <a:t> people can be excluded because of inappropriate siting of equipment or through input and output devices making excessive demands on their abilities. For example, an ATM may be positioned too high for a person in a wheelchair to reach, a mouse may be too big for a child’s hand or a mobile phone may be too fiddly for someone with arthritis to use.</a:t>
            </a:r>
          </a:p>
          <a:p>
            <a:pPr algn="just" eaLnBrk="1" hangingPunct="1">
              <a:lnSpc>
                <a:spcPct val="150000"/>
              </a:lnSpc>
            </a:pPr>
            <a:r>
              <a:rPr lang="en-US" sz="1500" b="1" dirty="0" smtClean="0">
                <a:latin typeface="Verdana" pitchFamily="34" charset="0"/>
                <a:cs typeface="Times New Roman" pitchFamily="18" charset="0"/>
              </a:rPr>
              <a:t>Conceptually</a:t>
            </a:r>
            <a:r>
              <a:rPr lang="en-US" sz="1500" dirty="0" smtClean="0">
                <a:latin typeface="Verdana" pitchFamily="34" charset="0"/>
                <a:cs typeface="Times New Roman" pitchFamily="18" charset="0"/>
              </a:rPr>
              <a:t> people may be excluded because they cannot understand complicated instructions or ambiguous commands or they cannot form a clear mental model of system</a:t>
            </a:r>
          </a:p>
          <a:p>
            <a:pPr algn="just" eaLnBrk="1" hangingPunct="1">
              <a:lnSpc>
                <a:spcPct val="150000"/>
              </a:lnSpc>
            </a:pPr>
            <a:r>
              <a:rPr lang="en-US" sz="1500" b="1" dirty="0" smtClean="0">
                <a:latin typeface="Verdana" pitchFamily="34" charset="0"/>
                <a:cs typeface="Times New Roman" pitchFamily="18" charset="0"/>
              </a:rPr>
              <a:t>Economically</a:t>
            </a:r>
            <a:r>
              <a:rPr lang="en-US" sz="1500" dirty="0" smtClean="0">
                <a:latin typeface="Verdana" pitchFamily="34" charset="0"/>
                <a:cs typeface="Times New Roman" pitchFamily="18" charset="0"/>
              </a:rPr>
              <a:t> people are excluded if they cannot afford some essential technology.</a:t>
            </a:r>
          </a:p>
          <a:p>
            <a:pPr algn="just" eaLnBrk="1" hangingPunct="1">
              <a:lnSpc>
                <a:spcPct val="150000"/>
              </a:lnSpc>
            </a:pPr>
            <a:r>
              <a:rPr lang="en-US" sz="1500" b="1" dirty="0" smtClean="0">
                <a:latin typeface="Verdana" pitchFamily="34" charset="0"/>
                <a:cs typeface="Times New Roman" pitchFamily="18" charset="0"/>
              </a:rPr>
              <a:t>Cultural</a:t>
            </a:r>
            <a:r>
              <a:rPr lang="en-US" sz="1500" dirty="0" smtClean="0">
                <a:latin typeface="Verdana" pitchFamily="34" charset="0"/>
                <a:cs typeface="Times New Roman" pitchFamily="18" charset="0"/>
              </a:rPr>
              <a:t> exclusion results from designers making inappropriate assumptions about how people work and organize their lives. </a:t>
            </a:r>
          </a:p>
          <a:p>
            <a:pPr algn="just" eaLnBrk="1" hangingPunct="1">
              <a:lnSpc>
                <a:spcPct val="150000"/>
              </a:lnSpc>
            </a:pPr>
            <a:r>
              <a:rPr lang="en-US" sz="1500" b="1" dirty="0" smtClean="0">
                <a:latin typeface="Verdana" pitchFamily="34" charset="0"/>
                <a:cs typeface="Times New Roman" pitchFamily="18" charset="0"/>
              </a:rPr>
              <a:t>Social</a:t>
            </a:r>
            <a:r>
              <a:rPr lang="en-US" sz="1500" dirty="0" smtClean="0">
                <a:latin typeface="Verdana" pitchFamily="34" charset="0"/>
                <a:cs typeface="Times New Roman" pitchFamily="18" charset="0"/>
              </a:rPr>
              <a:t> exclusion can occur if equipment is unavailable at an appropriate time and place or if people are not members of a particular social group and cannot understand particular social mores or messages.</a:t>
            </a:r>
            <a:endParaRPr lang="en-US" sz="15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28992" y="274638"/>
            <a:ext cx="8229600" cy="99412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Overcoming barriers </a:t>
            </a:r>
          </a:p>
        </p:txBody>
      </p:sp>
      <p:sp>
        <p:nvSpPr>
          <p:cNvPr id="20482" name="Text Placeholder 2"/>
          <p:cNvSpPr>
            <a:spLocks noGrp="1"/>
          </p:cNvSpPr>
          <p:nvPr>
            <p:ph type="body" idx="1"/>
          </p:nvPr>
        </p:nvSpPr>
        <p:spPr>
          <a:xfrm>
            <a:off x="564076" y="1221338"/>
            <a:ext cx="7959432" cy="4525963"/>
          </a:xfrm>
        </p:spPr>
        <p:txBody>
          <a:bodyPr/>
          <a:lstStyle/>
          <a:p>
            <a:pPr algn="just" eaLnBrk="1" hangingPunct="1">
              <a:lnSpc>
                <a:spcPct val="150000"/>
              </a:lnSpc>
            </a:pPr>
            <a:r>
              <a:rPr lang="en-US" sz="1600" dirty="0" smtClean="0">
                <a:latin typeface="Verdana" pitchFamily="34" charset="0"/>
                <a:ea typeface="ヒラギノ角ゴ Pro W3"/>
                <a:cs typeface="ヒラギノ角ゴ Pro W3"/>
              </a:rPr>
              <a:t>Overcoming these barriers to access is a key design consideration. </a:t>
            </a:r>
          </a:p>
          <a:p>
            <a:pPr algn="just" eaLnBrk="1" hangingPunct="1">
              <a:lnSpc>
                <a:spcPct val="150000"/>
              </a:lnSpc>
            </a:pPr>
            <a:r>
              <a:rPr lang="en-US" sz="1600" b="1" dirty="0" smtClean="0">
                <a:latin typeface="Verdana" pitchFamily="34" charset="0"/>
                <a:ea typeface="ヒラギノ角ゴ Pro W3"/>
                <a:cs typeface="ヒラギノ角ゴ Pro W3"/>
              </a:rPr>
              <a:t>Two main approaches to designing for accessibility are ‘design for all’ and inclusive design</a:t>
            </a:r>
            <a:r>
              <a:rPr lang="en-US" sz="1600" dirty="0" smtClean="0">
                <a:latin typeface="Verdana" pitchFamily="34" charset="0"/>
                <a:ea typeface="ヒラギノ角ゴ Pro W3"/>
                <a:cs typeface="ヒラギノ角ゴ Pro W3"/>
              </a:rPr>
              <a:t>. </a:t>
            </a:r>
          </a:p>
          <a:p>
            <a:pPr algn="just" eaLnBrk="1" hangingPunct="1">
              <a:lnSpc>
                <a:spcPct val="150000"/>
              </a:lnSpc>
            </a:pPr>
            <a:r>
              <a:rPr lang="en-US" sz="1600" dirty="0" smtClean="0">
                <a:latin typeface="Verdana" pitchFamily="34" charset="0"/>
                <a:ea typeface="ヒラギノ角ゴ Pro W3"/>
                <a:cs typeface="ヒラギノ角ゴ Pro W3"/>
              </a:rPr>
              <a:t>Design for all (also </a:t>
            </a:r>
            <a:r>
              <a:rPr lang="en-US" sz="1600" b="1" dirty="0" smtClean="0">
                <a:latin typeface="Verdana" pitchFamily="34" charset="0"/>
                <a:ea typeface="ヒラギノ角ゴ Pro W3"/>
                <a:cs typeface="ヒラギノ角ゴ Pro W3"/>
              </a:rPr>
              <a:t>known as universal design) </a:t>
            </a:r>
            <a:r>
              <a:rPr lang="en-US" sz="1600" dirty="0" smtClean="0">
                <a:latin typeface="Verdana" pitchFamily="34" charset="0"/>
                <a:ea typeface="ヒラギノ角ゴ Pro W3"/>
                <a:cs typeface="ヒラギノ角ゴ Pro W3"/>
              </a:rPr>
              <a:t>goes beyond the design of interactive systems and applies to all design activities.</a:t>
            </a:r>
          </a:p>
          <a:p>
            <a:pPr algn="just" eaLnBrk="1" hangingPunct="1">
              <a:lnSpc>
                <a:spcPct val="150000"/>
              </a:lnSpc>
            </a:pPr>
            <a:r>
              <a:rPr lang="en-US" sz="1600" dirty="0" smtClean="0">
                <a:latin typeface="Verdana" pitchFamily="34" charset="0"/>
                <a:ea typeface="ヒラギノ角ゴ Pro W3"/>
                <a:cs typeface="ヒラギノ角ゴ Pro W3"/>
              </a:rPr>
              <a:t> It is grounded in a certain philosophical approach to </a:t>
            </a:r>
            <a:r>
              <a:rPr lang="en-US" sz="1600" b="1" dirty="0" smtClean="0">
                <a:latin typeface="Verdana" pitchFamily="34" charset="0"/>
                <a:ea typeface="ヒラギノ角ゴ Pro W3"/>
                <a:cs typeface="ヒラギノ角ゴ Pro W3"/>
              </a:rPr>
              <a:t>design encapsulated by an international design community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57200" y="274638"/>
            <a:ext cx="8229600" cy="562074"/>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Inclusive design </a:t>
            </a:r>
          </a:p>
        </p:txBody>
      </p:sp>
      <p:sp>
        <p:nvSpPr>
          <p:cNvPr id="21506" name="Text Placeholder 2"/>
          <p:cNvSpPr>
            <a:spLocks noGrp="1"/>
          </p:cNvSpPr>
          <p:nvPr>
            <p:ph type="body" idx="1"/>
          </p:nvPr>
        </p:nvSpPr>
        <p:spPr>
          <a:xfrm>
            <a:off x="72008" y="980728"/>
            <a:ext cx="9036496" cy="5544616"/>
          </a:xfrm>
        </p:spPr>
        <p:txBody>
          <a:bodyPr/>
          <a:lstStyle/>
          <a:p>
            <a:pPr eaLnBrk="1" hangingPunct="1">
              <a:lnSpc>
                <a:spcPct val="150000"/>
              </a:lnSpc>
            </a:pPr>
            <a:r>
              <a:rPr lang="en-US" sz="1500" dirty="0" smtClean="0">
                <a:latin typeface="Verdana" pitchFamily="34" charset="0"/>
                <a:cs typeface="Times New Roman" pitchFamily="18" charset="0"/>
              </a:rPr>
              <a:t>Varying ability is not a special condition of the few but a common characteristic of being human and we change physically and intellectually throughout our lives.</a:t>
            </a:r>
          </a:p>
          <a:p>
            <a:pPr eaLnBrk="1" hangingPunct="1">
              <a:lnSpc>
                <a:spcPct val="150000"/>
              </a:lnSpc>
            </a:pPr>
            <a:r>
              <a:rPr lang="en-US" sz="1500" dirty="0" smtClean="0">
                <a:latin typeface="Verdana" pitchFamily="34" charset="0"/>
                <a:cs typeface="Times New Roman" pitchFamily="18" charset="0"/>
              </a:rPr>
              <a:t>If a </a:t>
            </a:r>
            <a:r>
              <a:rPr lang="en-US" sz="1500" b="1" dirty="0" smtClean="0">
                <a:latin typeface="Verdana" pitchFamily="34" charset="0"/>
                <a:cs typeface="Times New Roman" pitchFamily="18" charset="0"/>
              </a:rPr>
              <a:t>design works well for people with disabilities, it works better for everyone.</a:t>
            </a:r>
          </a:p>
          <a:p>
            <a:pPr eaLnBrk="1" hangingPunct="1">
              <a:lnSpc>
                <a:spcPct val="150000"/>
              </a:lnSpc>
            </a:pPr>
            <a:r>
              <a:rPr lang="en-US" sz="1500" dirty="0" smtClean="0">
                <a:latin typeface="Verdana" pitchFamily="34" charset="0"/>
                <a:cs typeface="Times New Roman" pitchFamily="18" charset="0"/>
              </a:rPr>
              <a:t>At any point in our lives, personal self-esteem, identity and well-being are deeply affected by our ability to function in our physical surroundings with a sense of comfort, independence and control.</a:t>
            </a:r>
          </a:p>
          <a:p>
            <a:pPr eaLnBrk="1" hangingPunct="1">
              <a:lnSpc>
                <a:spcPct val="150000"/>
              </a:lnSpc>
            </a:pPr>
            <a:r>
              <a:rPr lang="en-US" sz="1500" b="1" dirty="0" smtClean="0">
                <a:latin typeface="Verdana" pitchFamily="34" charset="0"/>
                <a:cs typeface="Times New Roman" pitchFamily="18" charset="0"/>
              </a:rPr>
              <a:t>Usability and aesthetics are mutually compatible</a:t>
            </a:r>
            <a:r>
              <a:rPr lang="en-US" sz="1500" dirty="0" smtClean="0">
                <a:latin typeface="Verdana" pitchFamily="34" charset="0"/>
                <a:cs typeface="Times New Roman" pitchFamily="18" charset="0"/>
              </a:rPr>
              <a:t>.</a:t>
            </a:r>
          </a:p>
          <a:p>
            <a:pPr eaLnBrk="1" hangingPunct="1">
              <a:lnSpc>
                <a:spcPct val="150000"/>
              </a:lnSpc>
            </a:pPr>
            <a:r>
              <a:rPr lang="en-US" sz="1500" b="1" dirty="0" smtClean="0">
                <a:latin typeface="Verdana" pitchFamily="34" charset="0"/>
                <a:cs typeface="Times New Roman" pitchFamily="18" charset="0"/>
              </a:rPr>
              <a:t>Inclusive design is a more pragmatic approach </a:t>
            </a:r>
            <a:r>
              <a:rPr lang="en-US" sz="1500" dirty="0" smtClean="0">
                <a:latin typeface="Verdana" pitchFamily="34" charset="0"/>
                <a:cs typeface="Times New Roman" pitchFamily="18" charset="0"/>
              </a:rPr>
              <a:t>that argues that there will often be reasons (e.g. technical or financial) why total inclusion is unattainable. </a:t>
            </a:r>
          </a:p>
          <a:p>
            <a:pPr eaLnBrk="1" hangingPunct="1">
              <a:lnSpc>
                <a:spcPct val="150000"/>
              </a:lnSpc>
            </a:pPr>
            <a:r>
              <a:rPr lang="en-US" sz="1500" dirty="0" err="1" smtClean="0">
                <a:latin typeface="Verdana" pitchFamily="34" charset="0"/>
                <a:cs typeface="Times New Roman" pitchFamily="18" charset="0"/>
              </a:rPr>
              <a:t>Benyon</a:t>
            </a:r>
            <a:r>
              <a:rPr lang="en-US" sz="1500" dirty="0" smtClean="0">
                <a:latin typeface="Verdana" pitchFamily="34" charset="0"/>
                <a:cs typeface="Times New Roman" pitchFamily="18" charset="0"/>
              </a:rPr>
              <a:t>, </a:t>
            </a:r>
            <a:r>
              <a:rPr lang="en-US" sz="1500" dirty="0" err="1" smtClean="0">
                <a:latin typeface="Verdana" pitchFamily="34" charset="0"/>
                <a:cs typeface="Times New Roman" pitchFamily="18" charset="0"/>
              </a:rPr>
              <a:t>Crerar</a:t>
            </a:r>
            <a:r>
              <a:rPr lang="en-US" sz="1500" dirty="0" smtClean="0">
                <a:latin typeface="Verdana" pitchFamily="34" charset="0"/>
                <a:cs typeface="Times New Roman" pitchFamily="18" charset="0"/>
              </a:rPr>
              <a:t> and Wilkinson (2001) recommend undertaking an </a:t>
            </a:r>
            <a:r>
              <a:rPr lang="en-US" sz="1500" b="1" dirty="0" smtClean="0">
                <a:latin typeface="Verdana" pitchFamily="34" charset="0"/>
                <a:cs typeface="Times New Roman" pitchFamily="18" charset="0"/>
              </a:rPr>
              <a:t>inclusivity analysis </a:t>
            </a:r>
            <a:r>
              <a:rPr lang="en-US" sz="1500" dirty="0" smtClean="0">
                <a:latin typeface="Verdana" pitchFamily="34" charset="0"/>
                <a:cs typeface="Times New Roman" pitchFamily="18" charset="0"/>
              </a:rPr>
              <a:t>that ensures that unintentional exclusion will be minimized and common characteristics that cause exclusion and which are relatively cheap to fix will be identified. </a:t>
            </a:r>
          </a:p>
          <a:p>
            <a:pPr marL="0" indent="0" eaLnBrk="1" hangingPunct="1">
              <a:lnSpc>
                <a:spcPct val="150000"/>
              </a:lnSpc>
              <a:buNone/>
            </a:pPr>
            <a:r>
              <a:rPr lang="en-US" sz="1500" dirty="0" smtClean="0">
                <a:solidFill>
                  <a:srgbClr val="00B050"/>
                </a:solidFill>
                <a:latin typeface="Verdana" pitchFamily="34" charset="0"/>
                <a:cs typeface="Times New Roman" pitchFamily="18" charset="0"/>
              </a:rPr>
              <a:t>(Inclusive </a:t>
            </a:r>
            <a:r>
              <a:rPr lang="en-US" sz="1500" dirty="0">
                <a:solidFill>
                  <a:srgbClr val="00B050"/>
                </a:solidFill>
                <a:latin typeface="Verdana" pitchFamily="34" charset="0"/>
                <a:cs typeface="Times New Roman" pitchFamily="18" charset="0"/>
              </a:rPr>
              <a:t>design describes methodologies to create products that understand and enable people of all backgrounds and abilities.)</a:t>
            </a:r>
            <a:endParaRPr lang="en-US" sz="1500" dirty="0" smtClean="0">
              <a:solidFill>
                <a:srgbClr val="00B050"/>
              </a:solidFill>
              <a:latin typeface="Verdana" pitchFamily="34"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457200" y="116632"/>
            <a:ext cx="8229600" cy="63408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Principles of Universal </a:t>
            </a:r>
            <a:r>
              <a:rPr lang="en-US" sz="1500" b="1" dirty="0">
                <a:latin typeface="Verdana" pitchFamily="34" charset="0"/>
                <a:ea typeface="ヒラギノ角ゴ Pro W3"/>
                <a:cs typeface="ヒラギノ角ゴ Pro W3"/>
              </a:rPr>
              <a:t>D</a:t>
            </a:r>
            <a:r>
              <a:rPr lang="en-US" sz="1500" b="1" dirty="0" smtClean="0">
                <a:latin typeface="Verdana" pitchFamily="34" charset="0"/>
                <a:ea typeface="ヒラギノ角ゴ Pro W3"/>
                <a:cs typeface="ヒラギノ角ゴ Pro W3"/>
              </a:rPr>
              <a:t>esign</a:t>
            </a:r>
          </a:p>
        </p:txBody>
      </p:sp>
      <p:sp>
        <p:nvSpPr>
          <p:cNvPr id="22530" name="Text Placeholder 2"/>
          <p:cNvSpPr>
            <a:spLocks noGrp="1"/>
          </p:cNvSpPr>
          <p:nvPr>
            <p:ph type="body" idx="1"/>
          </p:nvPr>
        </p:nvSpPr>
        <p:spPr>
          <a:xfrm>
            <a:off x="107504" y="764704"/>
            <a:ext cx="8861648" cy="5544616"/>
          </a:xfrm>
        </p:spPr>
        <p:txBody>
          <a:bodyPr/>
          <a:lstStyle/>
          <a:p>
            <a:pPr algn="just" eaLnBrk="1" hangingPunct="1">
              <a:lnSpc>
                <a:spcPct val="150000"/>
              </a:lnSpc>
              <a:buFont typeface="+mj-lt"/>
              <a:buAutoNum type="arabicParenR"/>
            </a:pPr>
            <a:r>
              <a:rPr lang="en-US" sz="1500" dirty="0" smtClean="0">
                <a:latin typeface="Verdana" pitchFamily="34" charset="0"/>
                <a:cs typeface="Times New Roman" pitchFamily="18" charset="0"/>
              </a:rPr>
              <a:t>Equitable Use: The design </a:t>
            </a:r>
            <a:r>
              <a:rPr lang="en-US" sz="1500" b="1" dirty="0" smtClean="0">
                <a:latin typeface="Verdana" pitchFamily="34" charset="0"/>
                <a:cs typeface="Times New Roman" pitchFamily="18" charset="0"/>
              </a:rPr>
              <a:t>does not disadvantage or stigmatize (defame) </a:t>
            </a:r>
            <a:r>
              <a:rPr lang="en-US" sz="1500" dirty="0" smtClean="0">
                <a:latin typeface="Verdana" pitchFamily="34" charset="0"/>
                <a:cs typeface="Times New Roman" pitchFamily="18" charset="0"/>
              </a:rPr>
              <a:t>any group of users.</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Flexibility in Use: The design </a:t>
            </a:r>
            <a:r>
              <a:rPr lang="en-US" sz="1500" b="1" dirty="0" smtClean="0">
                <a:latin typeface="Verdana" pitchFamily="34" charset="0"/>
                <a:cs typeface="Times New Roman" pitchFamily="18" charset="0"/>
              </a:rPr>
              <a:t>accommodates a wide range of individual preferences and abilities</a:t>
            </a:r>
            <a:r>
              <a:rPr lang="en-US" sz="1500" dirty="0" smtClean="0">
                <a:latin typeface="Verdana" pitchFamily="34" charset="0"/>
                <a:cs typeface="Times New Roman" pitchFamily="18" charset="0"/>
              </a:rPr>
              <a:t>.</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Simple, Intuitive Use: Use of the design is </a:t>
            </a:r>
            <a:r>
              <a:rPr lang="en-US" sz="1500" b="1" dirty="0" smtClean="0">
                <a:latin typeface="Verdana" pitchFamily="34" charset="0"/>
                <a:cs typeface="Times New Roman" pitchFamily="18" charset="0"/>
              </a:rPr>
              <a:t>easy to understand</a:t>
            </a:r>
            <a:r>
              <a:rPr lang="en-US" sz="1500" dirty="0" smtClean="0">
                <a:latin typeface="Verdana" pitchFamily="34" charset="0"/>
                <a:cs typeface="Times New Roman" pitchFamily="18" charset="0"/>
              </a:rPr>
              <a:t>, regardless of the user’s experience, knowledge, language skills, or current concentration level.</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Perceptible Information: design </a:t>
            </a:r>
            <a:r>
              <a:rPr lang="en-US" sz="1500" b="1" dirty="0" smtClean="0">
                <a:latin typeface="Verdana" pitchFamily="34" charset="0"/>
                <a:cs typeface="Times New Roman" pitchFamily="18" charset="0"/>
              </a:rPr>
              <a:t>communicates necessary information effectively </a:t>
            </a:r>
            <a:r>
              <a:rPr lang="en-US" sz="1500" dirty="0" smtClean="0">
                <a:latin typeface="Verdana" pitchFamily="34" charset="0"/>
                <a:cs typeface="Times New Roman" pitchFamily="18" charset="0"/>
              </a:rPr>
              <a:t>to the user, regardless of ambient conditions or the user’s sensory abilities.</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Tolerance for Error: The design </a:t>
            </a:r>
            <a:r>
              <a:rPr lang="en-US" sz="1500" b="1" dirty="0" smtClean="0">
                <a:latin typeface="Verdana" pitchFamily="34" charset="0"/>
                <a:cs typeface="Times New Roman" pitchFamily="18" charset="0"/>
              </a:rPr>
              <a:t>minimizes hazards and the adverse consequences </a:t>
            </a:r>
            <a:r>
              <a:rPr lang="en-US" sz="1500" dirty="0" smtClean="0">
                <a:latin typeface="Verdana" pitchFamily="34" charset="0"/>
                <a:cs typeface="Times New Roman" pitchFamily="18" charset="0"/>
              </a:rPr>
              <a:t>of accidental or unintended actions. </a:t>
            </a:r>
            <a:r>
              <a:rPr lang="en-US" sz="1500" dirty="0" smtClean="0">
                <a:solidFill>
                  <a:srgbClr val="00B050"/>
                </a:solidFill>
                <a:latin typeface="Verdana" pitchFamily="34" charset="0"/>
                <a:cs typeface="Times New Roman" pitchFamily="18" charset="0"/>
              </a:rPr>
              <a:t>(solution: undo, backup, edit)</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Low Physical Effort: </a:t>
            </a:r>
            <a:r>
              <a:rPr lang="en-US" sz="1500" b="1" dirty="0" smtClean="0">
                <a:latin typeface="Verdana" pitchFamily="34" charset="0"/>
                <a:cs typeface="Times New Roman" pitchFamily="18" charset="0"/>
              </a:rPr>
              <a:t>The design can be used efficiently and comfortably</a:t>
            </a:r>
            <a:r>
              <a:rPr lang="en-US" sz="1500" dirty="0" smtClean="0">
                <a:latin typeface="Verdana" pitchFamily="34" charset="0"/>
                <a:cs typeface="Times New Roman" pitchFamily="18" charset="0"/>
              </a:rPr>
              <a:t>, and with a minimum of fatigue.</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Size and Space for Approach and Use: </a:t>
            </a:r>
            <a:r>
              <a:rPr lang="en-US" sz="1500" b="1" dirty="0" smtClean="0">
                <a:latin typeface="Verdana" pitchFamily="34" charset="0"/>
                <a:cs typeface="Times New Roman" pitchFamily="18" charset="0"/>
              </a:rPr>
              <a:t>Appropriate size and space is provided for approach, reach, manipulation, and use, regardless of the user’s body size, posture, or mobility.</a:t>
            </a:r>
          </a:p>
          <a:p>
            <a:pPr algn="just" eaLnBrk="1" hangingPunct="1">
              <a:lnSpc>
                <a:spcPct val="150000"/>
              </a:lnSpc>
            </a:pPr>
            <a:endParaRPr lang="en-US" sz="1500" dirty="0" smtClean="0">
              <a:latin typeface="Verdana" pitchFamily="34" charset="0"/>
              <a:ea typeface="ヒラギノ角ゴ Pro W3"/>
              <a:cs typeface="ヒラギノ角ゴ Pro W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Accessibility</a:t>
            </a:r>
          </a:p>
        </p:txBody>
      </p:sp>
      <p:sp>
        <p:nvSpPr>
          <p:cNvPr id="23554" name="Text Placeholder 2"/>
          <p:cNvSpPr>
            <a:spLocks noGrp="1"/>
          </p:cNvSpPr>
          <p:nvPr>
            <p:ph type="body" idx="1"/>
          </p:nvPr>
        </p:nvSpPr>
        <p:spPr>
          <a:xfrm>
            <a:off x="606388" y="1279301"/>
            <a:ext cx="7931224" cy="4525963"/>
          </a:xfrm>
        </p:spPr>
        <p:txBody>
          <a:bodyPr/>
          <a:lstStyle/>
          <a:p>
            <a:pPr algn="just" eaLnBrk="1" hangingPunct="1">
              <a:lnSpc>
                <a:spcPct val="200000"/>
              </a:lnSpc>
            </a:pPr>
            <a:r>
              <a:rPr lang="en-US" sz="1500" dirty="0" smtClean="0">
                <a:latin typeface="Verdana" pitchFamily="34" charset="0"/>
                <a:cs typeface="Times New Roman" pitchFamily="18" charset="0"/>
              </a:rPr>
              <a:t>We all suffer from disabilities from time to time (e.g. a broken arm) that affect our abilities to use interactive systems.</a:t>
            </a:r>
          </a:p>
          <a:p>
            <a:pPr algn="just" eaLnBrk="1" hangingPunct="1">
              <a:lnSpc>
                <a:spcPct val="200000"/>
              </a:lnSpc>
            </a:pPr>
            <a:r>
              <a:rPr lang="en-US" sz="1500" dirty="0" smtClean="0">
                <a:latin typeface="Verdana" pitchFamily="34" charset="0"/>
                <a:cs typeface="Times New Roman" pitchFamily="18" charset="0"/>
              </a:rPr>
              <a:t>As a way of ensuring an accessible system, designers should</a:t>
            </a:r>
          </a:p>
          <a:p>
            <a:pPr algn="just" eaLnBrk="1" hangingPunct="1">
              <a:lnSpc>
                <a:spcPct val="200000"/>
              </a:lnSpc>
              <a:buFont typeface="+mj-lt"/>
              <a:buAutoNum type="arabicParenR"/>
            </a:pPr>
            <a:r>
              <a:rPr lang="en-US" sz="1500" b="1" dirty="0" smtClean="0">
                <a:latin typeface="Verdana" pitchFamily="34" charset="0"/>
                <a:cs typeface="Times New Roman" pitchFamily="18" charset="0"/>
              </a:rPr>
              <a:t>include people with special needs</a:t>
            </a:r>
            <a:r>
              <a:rPr lang="en-US" sz="1500" dirty="0" smtClean="0">
                <a:latin typeface="Verdana" pitchFamily="34" charset="0"/>
                <a:cs typeface="Times New Roman" pitchFamily="18" charset="0"/>
              </a:rPr>
              <a:t> in requirements analysis and testing of existing systems;</a:t>
            </a:r>
          </a:p>
          <a:p>
            <a:pPr algn="just" eaLnBrk="1" hangingPunct="1">
              <a:lnSpc>
                <a:spcPct val="200000"/>
              </a:lnSpc>
              <a:buFont typeface="+mj-lt"/>
              <a:buAutoNum type="arabicParenR"/>
            </a:pPr>
            <a:r>
              <a:rPr lang="en-US" sz="1500" b="1" dirty="0" smtClean="0">
                <a:latin typeface="Verdana" pitchFamily="34" charset="0"/>
                <a:cs typeface="Times New Roman" pitchFamily="18" charset="0"/>
              </a:rPr>
              <a:t>consider whether new features affect users with special needs </a:t>
            </a:r>
            <a:r>
              <a:rPr lang="en-US" sz="1500" dirty="0" smtClean="0">
                <a:latin typeface="Verdana" pitchFamily="34" charset="0"/>
                <a:cs typeface="Times New Roman" pitchFamily="18" charset="0"/>
              </a:rPr>
              <a:t>(positively or negatively) and note this in the specification;</a:t>
            </a:r>
          </a:p>
          <a:p>
            <a:pPr algn="just" eaLnBrk="1" hangingPunct="1">
              <a:lnSpc>
                <a:spcPct val="200000"/>
              </a:lnSpc>
              <a:buFont typeface="+mj-lt"/>
              <a:buAutoNum type="arabicParenR"/>
            </a:pPr>
            <a:r>
              <a:rPr lang="en-US" sz="1500" b="1" dirty="0" smtClean="0">
                <a:latin typeface="Verdana" pitchFamily="34" charset="0"/>
                <a:cs typeface="Times New Roman" pitchFamily="18" charset="0"/>
              </a:rPr>
              <a:t>take account of guidelines,</a:t>
            </a:r>
            <a:r>
              <a:rPr lang="en-US" sz="1500" dirty="0" smtClean="0">
                <a:latin typeface="Verdana" pitchFamily="34" charset="0"/>
                <a:cs typeface="Times New Roman" pitchFamily="18" charset="0"/>
              </a:rPr>
              <a:t> include evaluation against guidelines;</a:t>
            </a:r>
          </a:p>
          <a:p>
            <a:pPr algn="just" eaLnBrk="1" hangingPunct="1">
              <a:lnSpc>
                <a:spcPct val="200000"/>
              </a:lnSpc>
              <a:buFont typeface="+mj-lt"/>
              <a:buAutoNum type="arabicParenR"/>
            </a:pPr>
            <a:r>
              <a:rPr lang="en-US" sz="1500" b="1" dirty="0" smtClean="0">
                <a:latin typeface="Verdana" pitchFamily="34" charset="0"/>
                <a:cs typeface="Times New Roman" pitchFamily="18" charset="0"/>
              </a:rPr>
              <a:t>include special needs users in usability testing and beta tests</a:t>
            </a:r>
            <a:r>
              <a:rPr lang="en-US" sz="1500" dirty="0" smtClean="0">
                <a:latin typeface="Verdana" pitchFamily="34" charset="0"/>
                <a:cs typeface="Times New Roman" pitchFamily="18" charset="0"/>
              </a:rPr>
              <a:t>.</a:t>
            </a:r>
          </a:p>
          <a:p>
            <a:pPr algn="just" eaLnBrk="1" hangingPunct="1">
              <a:lnSpc>
                <a:spcPct val="200000"/>
              </a:lnSpc>
            </a:pPr>
            <a:endParaRPr lang="en-US" sz="1500" dirty="0" smtClean="0">
              <a:latin typeface="Verdana" pitchFamily="34" charset="0"/>
              <a:ea typeface="ヒラギノ角ゴ Pro W3"/>
              <a:cs typeface="ヒラギノ角ゴ Pro W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lnSpc>
                <a:spcPct val="120000"/>
              </a:lnSpc>
            </a:pPr>
            <a:r>
              <a:rPr lang="en-US" sz="1500" dirty="0" smtClean="0">
                <a:latin typeface="Verdana" pitchFamily="34" charset="0"/>
                <a:ea typeface="ヒラギノ角ゴ Pro W3"/>
                <a:cs typeface="ヒラギノ角ゴ Pro W3"/>
              </a:rPr>
              <a:t>Assistive Technologies</a:t>
            </a:r>
          </a:p>
        </p:txBody>
      </p:sp>
      <p:sp>
        <p:nvSpPr>
          <p:cNvPr id="24578" name="Text Placeholder 2"/>
          <p:cNvSpPr>
            <a:spLocks noGrp="1"/>
          </p:cNvSpPr>
          <p:nvPr>
            <p:ph type="body" idx="1"/>
          </p:nvPr>
        </p:nvSpPr>
        <p:spPr>
          <a:xfrm>
            <a:off x="457200" y="1340768"/>
            <a:ext cx="8147248" cy="4525963"/>
          </a:xfrm>
        </p:spPr>
        <p:txBody>
          <a:bodyPr/>
          <a:lstStyle/>
          <a:p>
            <a:pPr algn="just" eaLnBrk="1" hangingPunct="1">
              <a:lnSpc>
                <a:spcPct val="200000"/>
              </a:lnSpc>
            </a:pPr>
            <a:r>
              <a:rPr lang="en-US" sz="1500" dirty="0" smtClean="0">
                <a:latin typeface="Verdana" pitchFamily="34" charset="0"/>
                <a:cs typeface="Times New Roman" pitchFamily="18" charset="0"/>
              </a:rPr>
              <a:t>There are a number of </a:t>
            </a:r>
            <a:r>
              <a:rPr lang="en-US" sz="1500" b="1" dirty="0" smtClean="0">
                <a:latin typeface="Verdana" pitchFamily="34" charset="0"/>
                <a:cs typeface="Times New Roman" pitchFamily="18" charset="0"/>
              </a:rPr>
              <a:t>assistive technologies</a:t>
            </a:r>
            <a:r>
              <a:rPr lang="en-US" sz="1500" dirty="0" smtClean="0">
                <a:latin typeface="Verdana" pitchFamily="34" charset="0"/>
                <a:cs typeface="Times New Roman" pitchFamily="18" charset="0"/>
              </a:rPr>
              <a:t>, such as </a:t>
            </a:r>
            <a:r>
              <a:rPr lang="en-US" sz="1500" b="1" dirty="0" smtClean="0">
                <a:latin typeface="Verdana" pitchFamily="34" charset="0"/>
                <a:cs typeface="Times New Roman" pitchFamily="18" charset="0"/>
              </a:rPr>
              <a:t>Web browsers that read Web pages, and screen enlargers which allow people to set and move the area of focus</a:t>
            </a:r>
            <a:r>
              <a:rPr lang="en-US" sz="1500" dirty="0" smtClean="0">
                <a:latin typeface="Verdana" pitchFamily="34" charset="0"/>
                <a:cs typeface="Times New Roman" pitchFamily="18" charset="0"/>
              </a:rPr>
              <a:t>. </a:t>
            </a:r>
          </a:p>
          <a:p>
            <a:pPr algn="just" eaLnBrk="1" hangingPunct="1">
              <a:lnSpc>
                <a:spcPct val="200000"/>
              </a:lnSpc>
            </a:pPr>
            <a:r>
              <a:rPr lang="en-US" sz="1500" b="1" dirty="0" smtClean="0">
                <a:latin typeface="Verdana" pitchFamily="34" charset="0"/>
                <a:cs typeface="Times New Roman" pitchFamily="18" charset="0"/>
              </a:rPr>
              <a:t>Voice input </a:t>
            </a:r>
            <a:r>
              <a:rPr lang="en-US" sz="1500" dirty="0" smtClean="0">
                <a:latin typeface="Verdana" pitchFamily="34" charset="0"/>
                <a:cs typeface="Times New Roman" pitchFamily="18" charset="0"/>
              </a:rPr>
              <a:t>is increasingly available not just for text entry but also as a substitute for mouse/keyboard control, and keyboard filters can compensate for tremor, erratic motion and slow response time. </a:t>
            </a:r>
          </a:p>
          <a:p>
            <a:pPr algn="just" eaLnBrk="1" hangingPunct="1">
              <a:lnSpc>
                <a:spcPct val="200000"/>
              </a:lnSpc>
            </a:pPr>
            <a:r>
              <a:rPr lang="en-US" sz="1500" dirty="0" smtClean="0">
                <a:latin typeface="Verdana" pitchFamily="34" charset="0"/>
                <a:cs typeface="Times New Roman" pitchFamily="18" charset="0"/>
              </a:rPr>
              <a:t>Indeed there are many highly specialist methods for input and output for people with various disabilities. For example,  </a:t>
            </a:r>
            <a:r>
              <a:rPr lang="en-US" sz="1500" dirty="0" err="1" smtClean="0">
                <a:latin typeface="Verdana" pitchFamily="34" charset="0"/>
                <a:cs typeface="Times New Roman" pitchFamily="18" charset="0"/>
              </a:rPr>
              <a:t>Majaranta</a:t>
            </a:r>
            <a:r>
              <a:rPr lang="en-US" sz="1500" dirty="0" smtClean="0">
                <a:latin typeface="Verdana" pitchFamily="34" charset="0"/>
                <a:cs typeface="Times New Roman" pitchFamily="18" charset="0"/>
              </a:rPr>
              <a:t>, </a:t>
            </a:r>
            <a:r>
              <a:rPr lang="en-US" sz="1500" dirty="0" err="1" smtClean="0">
                <a:latin typeface="Verdana" pitchFamily="34" charset="0"/>
                <a:cs typeface="Times New Roman" pitchFamily="18" charset="0"/>
              </a:rPr>
              <a:t>Ahola</a:t>
            </a:r>
            <a:r>
              <a:rPr lang="en-US" sz="1500" dirty="0" smtClean="0">
                <a:latin typeface="Verdana" pitchFamily="34" charset="0"/>
                <a:cs typeface="Times New Roman" pitchFamily="18" charset="0"/>
              </a:rPr>
              <a:t> and </a:t>
            </a:r>
            <a:r>
              <a:rPr lang="en-US" sz="1500" dirty="0" err="1" smtClean="0">
                <a:latin typeface="Verdana" pitchFamily="34" charset="0"/>
                <a:cs typeface="Times New Roman" pitchFamily="18" charset="0"/>
              </a:rPr>
              <a:t>Spakov</a:t>
            </a:r>
            <a:r>
              <a:rPr lang="en-US" sz="1500" dirty="0" smtClean="0">
                <a:latin typeface="Verdana" pitchFamily="34" charset="0"/>
                <a:cs typeface="Times New Roman" pitchFamily="18" charset="0"/>
              </a:rPr>
              <a:t> (2009) describe a system for typing input through gazing at particular letters.</a:t>
            </a:r>
          </a:p>
          <a:p>
            <a:pPr algn="just" eaLnBrk="1" hangingPunct="1">
              <a:lnSpc>
                <a:spcPct val="200000"/>
              </a:lnSpc>
            </a:pPr>
            <a:endParaRPr lang="en-US" sz="1500" dirty="0" smtClean="0">
              <a:latin typeface="Verdana" pitchFamily="34" charset="0"/>
              <a:ea typeface="ヒラギノ角ゴ Pro W3"/>
              <a:cs typeface="ヒラギノ角ゴ Pro W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202630"/>
            <a:ext cx="8229600" cy="34605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Accessibility Options</a:t>
            </a:r>
          </a:p>
        </p:txBody>
      </p:sp>
      <p:sp>
        <p:nvSpPr>
          <p:cNvPr id="25602" name="Text Placeholder 2"/>
          <p:cNvSpPr>
            <a:spLocks noGrp="1"/>
          </p:cNvSpPr>
          <p:nvPr>
            <p:ph type="body" idx="1"/>
          </p:nvPr>
        </p:nvSpPr>
        <p:spPr>
          <a:xfrm>
            <a:off x="251520" y="620688"/>
            <a:ext cx="8568951" cy="2573596"/>
          </a:xfrm>
        </p:spPr>
        <p:txBody>
          <a:bodyPr/>
          <a:lstStyle/>
          <a:p>
            <a:pPr algn="just" eaLnBrk="1" hangingPunct="1">
              <a:lnSpc>
                <a:spcPct val="150000"/>
              </a:lnSpc>
            </a:pPr>
            <a:r>
              <a:rPr lang="en-US" sz="1500" dirty="0" smtClean="0">
                <a:latin typeface="Verdana" pitchFamily="34" charset="0"/>
                <a:cs typeface="Times New Roman" pitchFamily="18" charset="0"/>
              </a:rPr>
              <a:t>In the Windows, there is an Accessibility Option (under control panel) that allows the setting of keyboard, sound, visual warnings and sound captions. The display can be altered including setting a high contrast, as well as mouse settings. </a:t>
            </a:r>
          </a:p>
          <a:p>
            <a:pPr algn="just" eaLnBrk="1" hangingPunct="1">
              <a:lnSpc>
                <a:spcPct val="15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screen reader </a:t>
            </a:r>
            <a:r>
              <a:rPr lang="en-US" sz="1500" dirty="0" smtClean="0">
                <a:latin typeface="Verdana" pitchFamily="34" charset="0"/>
                <a:cs typeface="Times New Roman" pitchFamily="18" charset="0"/>
              </a:rPr>
              <a:t>produces synthesized </a:t>
            </a:r>
            <a:r>
              <a:rPr lang="en-US" sz="1500" b="1" dirty="0" smtClean="0">
                <a:latin typeface="Verdana" pitchFamily="34" charset="0"/>
                <a:cs typeface="Times New Roman" pitchFamily="18" charset="0"/>
              </a:rPr>
              <a:t>voice output for text displayed</a:t>
            </a:r>
            <a:r>
              <a:rPr lang="en-US" sz="1500" dirty="0" smtClean="0">
                <a:latin typeface="Verdana" pitchFamily="34" charset="0"/>
                <a:cs typeface="Times New Roman" pitchFamily="18" charset="0"/>
              </a:rPr>
              <a:t> on the computer screen, as well as </a:t>
            </a:r>
            <a:r>
              <a:rPr lang="en-US" sz="1500" b="1" dirty="0" smtClean="0">
                <a:latin typeface="Verdana" pitchFamily="34" charset="0"/>
                <a:cs typeface="Times New Roman" pitchFamily="18" charset="0"/>
              </a:rPr>
              <a:t>keystrokes entered on the keyboard</a:t>
            </a:r>
            <a:r>
              <a:rPr lang="en-US" sz="1500" dirty="0" smtClean="0">
                <a:latin typeface="Verdana" pitchFamily="34" charset="0"/>
                <a:cs typeface="Times New Roman" pitchFamily="18" charset="0"/>
              </a:rPr>
              <a:t>. </a:t>
            </a:r>
          </a:p>
          <a:p>
            <a:pPr algn="just" eaLnBrk="1" hangingPunct="1">
              <a:lnSpc>
                <a:spcPct val="150000"/>
              </a:lnSpc>
            </a:pPr>
            <a:r>
              <a:rPr lang="en-US" sz="1500" b="1" dirty="0" smtClean="0">
                <a:latin typeface="Verdana" pitchFamily="34" charset="0"/>
                <a:cs typeface="Times New Roman" pitchFamily="18" charset="0"/>
              </a:rPr>
              <a:t>Voice-based browsers use the same technology as screen reading software</a:t>
            </a:r>
            <a:r>
              <a:rPr lang="en-US" sz="1500" dirty="0" smtClean="0">
                <a:latin typeface="Verdana" pitchFamily="34" charset="0"/>
                <a:cs typeface="Times New Roman" pitchFamily="18" charset="0"/>
              </a:rPr>
              <a:t>, but are designed specifically for Internet use.</a:t>
            </a:r>
          </a:p>
        </p:txBody>
      </p:sp>
      <p:sp>
        <p:nvSpPr>
          <p:cNvPr id="4" name="Title 1"/>
          <p:cNvSpPr txBox="1">
            <a:spLocks/>
          </p:cNvSpPr>
          <p:nvPr/>
        </p:nvSpPr>
        <p:spPr bwMode="auto">
          <a:xfrm>
            <a:off x="251520" y="3429000"/>
            <a:ext cx="8229600" cy="30672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lnSpc>
                <a:spcPct val="120000"/>
              </a:lnSpc>
            </a:pPr>
            <a:r>
              <a:rPr lang="en-US" sz="1500" b="1" dirty="0" smtClean="0">
                <a:latin typeface="Verdana" pitchFamily="34" charset="0"/>
                <a:ea typeface="ヒラギノ角ゴ Pro W3"/>
                <a:cs typeface="ヒラギノ角ゴ Pro W3"/>
              </a:rPr>
              <a:t>Web accessibility </a:t>
            </a:r>
          </a:p>
        </p:txBody>
      </p:sp>
      <p:sp>
        <p:nvSpPr>
          <p:cNvPr id="5" name="Text Placeholder 2"/>
          <p:cNvSpPr txBox="1">
            <a:spLocks/>
          </p:cNvSpPr>
          <p:nvPr/>
        </p:nvSpPr>
        <p:spPr bwMode="auto">
          <a:xfrm>
            <a:off x="260901" y="3761119"/>
            <a:ext cx="8559570" cy="25482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150000"/>
              </a:lnSpc>
            </a:pPr>
            <a:r>
              <a:rPr lang="en-US" sz="1500" dirty="0" smtClean="0">
                <a:latin typeface="Verdana" pitchFamily="34" charset="0"/>
                <a:cs typeface="Times New Roman" pitchFamily="18" charset="0"/>
              </a:rPr>
              <a:t>Web accessibility is an important area as </a:t>
            </a:r>
            <a:r>
              <a:rPr lang="en-US" sz="1500" b="1" dirty="0" smtClean="0">
                <a:latin typeface="Verdana" pitchFamily="34" charset="0"/>
                <a:cs typeface="Times New Roman" pitchFamily="18" charset="0"/>
              </a:rPr>
              <a:t>many websites exclude people </a:t>
            </a:r>
            <a:r>
              <a:rPr lang="en-US" sz="1500" dirty="0" smtClean="0">
                <a:latin typeface="Verdana" pitchFamily="34" charset="0"/>
                <a:cs typeface="Times New Roman" pitchFamily="18" charset="0"/>
              </a:rPr>
              <a:t>who are not fit and able. </a:t>
            </a:r>
          </a:p>
          <a:p>
            <a:pPr algn="just" eaLnBrk="1" hangingPunct="1">
              <a:lnSpc>
                <a:spcPct val="150000"/>
              </a:lnSpc>
            </a:pPr>
            <a:r>
              <a:rPr lang="en-US" sz="1500" b="1" dirty="0" smtClean="0">
                <a:latin typeface="Verdana" pitchFamily="34" charset="0"/>
                <a:cs typeface="Times New Roman" pitchFamily="18" charset="0"/>
              </a:rPr>
              <a:t>Bobby is an automated tool that checks web pages for conformance to the W3C standards</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However, in a study of university websites, Kane, Shulman and Ladner (2007) found serious accessibility problems showing that there is still some way to go before these issues are overcome.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457200" y="274638"/>
            <a:ext cx="8229600" cy="922114"/>
          </a:xfrm>
        </p:spPr>
        <p:txBody>
          <a:bodyPr/>
          <a:lstStyle/>
          <a:p>
            <a:pPr eaLnBrk="1" hangingPunct="1">
              <a:lnSpc>
                <a:spcPct val="120000"/>
              </a:lnSpc>
            </a:pPr>
            <a:r>
              <a:rPr lang="en-US" sz="1500" dirty="0" smtClean="0">
                <a:latin typeface="Verdana" pitchFamily="34" charset="0"/>
                <a:ea typeface="ヒラギノ角ゴ Pro W3"/>
                <a:cs typeface="ヒラギノ角ゴ Pro W3"/>
              </a:rPr>
              <a:t>Design for all</a:t>
            </a:r>
          </a:p>
        </p:txBody>
      </p:sp>
      <p:sp>
        <p:nvSpPr>
          <p:cNvPr id="27650" name="Text Placeholder 2"/>
          <p:cNvSpPr>
            <a:spLocks noGrp="1"/>
          </p:cNvSpPr>
          <p:nvPr>
            <p:ph type="body" idx="1"/>
          </p:nvPr>
        </p:nvSpPr>
        <p:spPr>
          <a:xfrm>
            <a:off x="678396" y="1268760"/>
            <a:ext cx="7787208" cy="4525963"/>
          </a:xfrm>
        </p:spPr>
        <p:txBody>
          <a:bodyPr/>
          <a:lstStyle/>
          <a:p>
            <a:pPr algn="just" eaLnBrk="1" hangingPunct="1">
              <a:lnSpc>
                <a:spcPct val="200000"/>
              </a:lnSpc>
            </a:pPr>
            <a:r>
              <a:rPr lang="en-US" sz="1500" dirty="0" smtClean="0">
                <a:latin typeface="Verdana" pitchFamily="34" charset="0"/>
                <a:cs typeface="Times New Roman" pitchFamily="18" charset="0"/>
              </a:rPr>
              <a:t>To a </a:t>
            </a:r>
            <a:r>
              <a:rPr lang="en-US" sz="1500" b="1" dirty="0" smtClean="0">
                <a:latin typeface="Verdana" pitchFamily="34" charset="0"/>
                <a:cs typeface="Times New Roman" pitchFamily="18" charset="0"/>
              </a:rPr>
              <a:t>large extent design for all is just good design. </a:t>
            </a:r>
          </a:p>
          <a:p>
            <a:pPr algn="just" eaLnBrk="1" hangingPunct="1">
              <a:lnSpc>
                <a:spcPct val="20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aim is to design to cater for the widest range of human abilities</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By </a:t>
            </a:r>
            <a:r>
              <a:rPr lang="en-US" sz="1500" b="1" dirty="0" smtClean="0">
                <a:latin typeface="Verdana" pitchFamily="34" charset="0"/>
                <a:cs typeface="Times New Roman" pitchFamily="18" charset="0"/>
              </a:rPr>
              <a:t>considering access issues early in the design process, the overall design will be better for everyone.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457200" y="274638"/>
            <a:ext cx="8229600" cy="850106"/>
          </a:xfrm>
        </p:spPr>
        <p:txBody>
          <a:bodyPr/>
          <a:lstStyle/>
          <a:p>
            <a:pPr eaLnBrk="1" hangingPunct="1">
              <a:lnSpc>
                <a:spcPct val="120000"/>
              </a:lnSpc>
            </a:pPr>
            <a:r>
              <a:rPr lang="en-US" sz="1800" b="1" dirty="0" smtClean="0">
                <a:latin typeface="Verdana" pitchFamily="34" charset="0"/>
                <a:ea typeface="ヒラギノ角ゴ Pro W3"/>
                <a:cs typeface="ヒラギノ角ゴ Pro W3"/>
              </a:rPr>
              <a:t>Usability</a:t>
            </a:r>
          </a:p>
        </p:txBody>
      </p:sp>
      <p:sp>
        <p:nvSpPr>
          <p:cNvPr id="28674" name="Text Placeholder 2"/>
          <p:cNvSpPr>
            <a:spLocks noGrp="1"/>
          </p:cNvSpPr>
          <p:nvPr>
            <p:ph type="body" idx="1"/>
          </p:nvPr>
        </p:nvSpPr>
        <p:spPr>
          <a:xfrm>
            <a:off x="457200" y="1124744"/>
            <a:ext cx="8229600" cy="5184576"/>
          </a:xfrm>
        </p:spPr>
        <p:txBody>
          <a:bodyPr/>
          <a:lstStyle/>
          <a:p>
            <a:pPr marL="0" indent="0" algn="just" eaLnBrk="1" hangingPunct="1">
              <a:lnSpc>
                <a:spcPct val="200000"/>
              </a:lnSpc>
              <a:buNone/>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system with a high degree of usability will have the following characteristics</a:t>
            </a:r>
            <a:r>
              <a:rPr lang="en-US" sz="1500" dirty="0" smtClean="0">
                <a:latin typeface="Verdana" pitchFamily="34" charset="0"/>
                <a:cs typeface="Times New Roman" pitchFamily="18" charset="0"/>
              </a:rPr>
              <a:t>.</a:t>
            </a:r>
          </a:p>
          <a:p>
            <a:pPr algn="just" eaLnBrk="1" hangingPunct="1">
              <a:lnSpc>
                <a:spcPct val="200000"/>
              </a:lnSpc>
              <a:buFont typeface="+mj-lt"/>
              <a:buAutoNum type="arabicParenR"/>
            </a:pPr>
            <a:r>
              <a:rPr lang="en-US" sz="1500" dirty="0" smtClean="0">
                <a:latin typeface="Verdana" pitchFamily="34" charset="0"/>
                <a:cs typeface="Times New Roman" pitchFamily="18" charset="0"/>
              </a:rPr>
              <a:t>It will be </a:t>
            </a:r>
            <a:r>
              <a:rPr lang="en-US" sz="1500" b="1" dirty="0" smtClean="0">
                <a:latin typeface="Verdana" pitchFamily="34" charset="0"/>
                <a:cs typeface="Times New Roman" pitchFamily="18" charset="0"/>
              </a:rPr>
              <a:t>efficient</a:t>
            </a:r>
            <a:r>
              <a:rPr lang="en-US" sz="1500" dirty="0" smtClean="0">
                <a:latin typeface="Verdana" pitchFamily="34" charset="0"/>
                <a:cs typeface="Times New Roman" pitchFamily="18" charset="0"/>
              </a:rPr>
              <a:t> in that </a:t>
            </a:r>
            <a:r>
              <a:rPr lang="en-US" sz="1500" b="1" dirty="0" smtClean="0">
                <a:latin typeface="Verdana" pitchFamily="34" charset="0"/>
                <a:cs typeface="Times New Roman" pitchFamily="18" charset="0"/>
              </a:rPr>
              <a:t>people will be able to do things using an appropriate amount of effort.</a:t>
            </a:r>
          </a:p>
          <a:p>
            <a:pPr algn="just" eaLnBrk="1" hangingPunct="1">
              <a:lnSpc>
                <a:spcPct val="200000"/>
              </a:lnSpc>
              <a:buFont typeface="+mj-lt"/>
              <a:buAutoNum type="arabicParenR"/>
            </a:pPr>
            <a:r>
              <a:rPr lang="en-US" sz="1500" dirty="0" smtClean="0">
                <a:latin typeface="Verdana" pitchFamily="34" charset="0"/>
                <a:cs typeface="Times New Roman" pitchFamily="18" charset="0"/>
              </a:rPr>
              <a:t>It will be </a:t>
            </a:r>
            <a:r>
              <a:rPr lang="en-US" sz="1500" b="1" dirty="0" smtClean="0">
                <a:latin typeface="Verdana" pitchFamily="34" charset="0"/>
                <a:cs typeface="Times New Roman" pitchFamily="18" charset="0"/>
              </a:rPr>
              <a:t>effective</a:t>
            </a:r>
            <a:r>
              <a:rPr lang="en-US" sz="1500" dirty="0" smtClean="0">
                <a:latin typeface="Verdana" pitchFamily="34" charset="0"/>
                <a:cs typeface="Times New Roman" pitchFamily="18" charset="0"/>
              </a:rPr>
              <a:t> in that it </a:t>
            </a:r>
            <a:r>
              <a:rPr lang="en-US" sz="1500" b="1" dirty="0" smtClean="0">
                <a:latin typeface="Verdana" pitchFamily="34" charset="0"/>
                <a:cs typeface="Times New Roman" pitchFamily="18" charset="0"/>
              </a:rPr>
              <a:t>contains the appropriate functions and information content, organized in an appropriate manner</a:t>
            </a:r>
            <a:r>
              <a:rPr lang="en-US" sz="1500" dirty="0" smtClean="0">
                <a:latin typeface="Verdana" pitchFamily="34" charset="0"/>
                <a:cs typeface="Times New Roman" pitchFamily="18" charset="0"/>
              </a:rPr>
              <a:t>.</a:t>
            </a:r>
          </a:p>
          <a:p>
            <a:pPr algn="just" eaLnBrk="1" hangingPunct="1">
              <a:lnSpc>
                <a:spcPct val="200000"/>
              </a:lnSpc>
              <a:buFont typeface="+mj-lt"/>
              <a:buAutoNum type="arabicParenR"/>
            </a:pPr>
            <a:r>
              <a:rPr lang="en-US" sz="1500" dirty="0" smtClean="0">
                <a:latin typeface="Verdana" pitchFamily="34" charset="0"/>
                <a:cs typeface="Times New Roman" pitchFamily="18" charset="0"/>
              </a:rPr>
              <a:t>It will be </a:t>
            </a:r>
            <a:r>
              <a:rPr lang="en-US" sz="1500" b="1" dirty="0" smtClean="0">
                <a:latin typeface="Verdana" pitchFamily="34" charset="0"/>
                <a:cs typeface="Times New Roman" pitchFamily="18" charset="0"/>
              </a:rPr>
              <a:t>easy to learn</a:t>
            </a:r>
            <a:r>
              <a:rPr lang="en-US" sz="1500" dirty="0" smtClean="0">
                <a:latin typeface="Verdana" pitchFamily="34" charset="0"/>
                <a:cs typeface="Times New Roman" pitchFamily="18" charset="0"/>
              </a:rPr>
              <a:t> how to do things and </a:t>
            </a:r>
            <a:r>
              <a:rPr lang="en-US" sz="1500" b="1" dirty="0" smtClean="0">
                <a:latin typeface="Verdana" pitchFamily="34" charset="0"/>
                <a:cs typeface="Times New Roman" pitchFamily="18" charset="0"/>
              </a:rPr>
              <a:t>remember</a:t>
            </a:r>
            <a:r>
              <a:rPr lang="en-US" sz="1500" dirty="0" smtClean="0">
                <a:latin typeface="Verdana" pitchFamily="34" charset="0"/>
                <a:cs typeface="Times New Roman" pitchFamily="18" charset="0"/>
              </a:rPr>
              <a:t> how to do them after a while.</a:t>
            </a:r>
          </a:p>
          <a:p>
            <a:pPr algn="just" eaLnBrk="1" hangingPunct="1">
              <a:lnSpc>
                <a:spcPct val="200000"/>
              </a:lnSpc>
              <a:buFont typeface="+mj-lt"/>
              <a:buAutoNum type="arabicParenR"/>
            </a:pPr>
            <a:r>
              <a:rPr lang="en-US" sz="1500" dirty="0" smtClean="0">
                <a:latin typeface="Verdana" pitchFamily="34" charset="0"/>
                <a:cs typeface="Times New Roman" pitchFamily="18" charset="0"/>
              </a:rPr>
              <a:t>It will be </a:t>
            </a:r>
            <a:r>
              <a:rPr lang="en-US" sz="1500" b="1" dirty="0" smtClean="0">
                <a:latin typeface="Verdana" pitchFamily="34" charset="0"/>
                <a:cs typeface="Times New Roman" pitchFamily="18" charset="0"/>
              </a:rPr>
              <a:t>safe to operate in the variety of contexts </a:t>
            </a:r>
            <a:r>
              <a:rPr lang="en-US" sz="1500" dirty="0" smtClean="0">
                <a:latin typeface="Verdana" pitchFamily="34" charset="0"/>
                <a:cs typeface="Times New Roman" pitchFamily="18" charset="0"/>
              </a:rPr>
              <a:t>in which it will be used.</a:t>
            </a:r>
          </a:p>
          <a:p>
            <a:pPr algn="just" eaLnBrk="1" hangingPunct="1">
              <a:lnSpc>
                <a:spcPct val="200000"/>
              </a:lnSpc>
              <a:buFont typeface="+mj-lt"/>
              <a:buAutoNum type="arabicParenR"/>
            </a:pPr>
            <a:r>
              <a:rPr lang="en-US" sz="1500" dirty="0" smtClean="0">
                <a:latin typeface="Verdana" pitchFamily="34" charset="0"/>
                <a:cs typeface="Times New Roman" pitchFamily="18" charset="0"/>
              </a:rPr>
              <a:t>It will have </a:t>
            </a:r>
            <a:r>
              <a:rPr lang="en-US" sz="1500" b="1" dirty="0" smtClean="0">
                <a:latin typeface="Verdana" pitchFamily="34" charset="0"/>
                <a:cs typeface="Times New Roman" pitchFamily="18" charset="0"/>
              </a:rPr>
              <a:t>high utility </a:t>
            </a:r>
            <a:r>
              <a:rPr lang="en-US" sz="1500" dirty="0" smtClean="0">
                <a:latin typeface="Verdana" pitchFamily="34" charset="0"/>
                <a:cs typeface="Times New Roman" pitchFamily="18" charset="0"/>
              </a:rPr>
              <a:t>in that it does the things that people want to get done.</a:t>
            </a:r>
            <a:endParaRPr lang="en-US" sz="15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457200" y="274638"/>
            <a:ext cx="8229600" cy="1066130"/>
          </a:xfrm>
        </p:spPr>
        <p:txBody>
          <a:bodyPr/>
          <a:lstStyle/>
          <a:p>
            <a:pPr eaLnBrk="1" hangingPunct="1">
              <a:lnSpc>
                <a:spcPct val="120000"/>
              </a:lnSpc>
            </a:pPr>
            <a:r>
              <a:rPr lang="en-US" sz="1500" dirty="0" smtClean="0">
                <a:latin typeface="Verdana" pitchFamily="34" charset="0"/>
                <a:ea typeface="ヒラギノ角ゴ Pro W3"/>
                <a:cs typeface="ヒラギノ角ゴ Pro W3"/>
              </a:rPr>
              <a:t>Usability and PACT</a:t>
            </a:r>
          </a:p>
        </p:txBody>
      </p:sp>
      <p:sp>
        <p:nvSpPr>
          <p:cNvPr id="31746" name="Text Placeholder 2"/>
          <p:cNvSpPr>
            <a:spLocks noGrp="1"/>
          </p:cNvSpPr>
          <p:nvPr>
            <p:ph type="body" idx="1"/>
          </p:nvPr>
        </p:nvSpPr>
        <p:spPr>
          <a:xfrm>
            <a:off x="457200" y="1268760"/>
            <a:ext cx="8229600" cy="4525963"/>
          </a:xfrm>
        </p:spPr>
        <p:txBody>
          <a:bodyPr/>
          <a:lstStyle/>
          <a:p>
            <a:pPr algn="just" eaLnBrk="1" hangingPunct="1">
              <a:lnSpc>
                <a:spcPct val="150000"/>
              </a:lnSpc>
            </a:pPr>
            <a:r>
              <a:rPr lang="en-US" sz="1500" dirty="0" smtClean="0">
                <a:latin typeface="Verdana" pitchFamily="34" charset="0"/>
                <a:cs typeface="Times New Roman" pitchFamily="18" charset="0"/>
              </a:rPr>
              <a:t>One way to look at usability is to see it as concerned with achieving a balance between the </a:t>
            </a:r>
            <a:r>
              <a:rPr lang="en-US" sz="1500" b="1" dirty="0" smtClean="0">
                <a:latin typeface="Verdana" pitchFamily="34" charset="0"/>
                <a:cs typeface="Times New Roman" pitchFamily="18" charset="0"/>
              </a:rPr>
              <a:t>four principal factors of human-</a:t>
            </a:r>
            <a:r>
              <a:rPr lang="en-US" sz="1500" b="1" dirty="0" err="1" smtClean="0">
                <a:latin typeface="Verdana" pitchFamily="34" charset="0"/>
                <a:cs typeface="Times New Roman" pitchFamily="18" charset="0"/>
              </a:rPr>
              <a:t>centred</a:t>
            </a:r>
            <a:r>
              <a:rPr lang="en-US" sz="1500" b="1" dirty="0" smtClean="0">
                <a:latin typeface="Verdana" pitchFamily="34" charset="0"/>
                <a:cs typeface="Times New Roman" pitchFamily="18" charset="0"/>
              </a:rPr>
              <a:t> interactive systems design</a:t>
            </a:r>
            <a:r>
              <a:rPr lang="en-US" sz="1500" dirty="0" smtClean="0">
                <a:latin typeface="Verdana" pitchFamily="34" charset="0"/>
                <a:cs typeface="Times New Roman" pitchFamily="18" charset="0"/>
              </a:rPr>
              <a:t>, PACT:</a:t>
            </a:r>
          </a:p>
          <a:p>
            <a:pPr lvl="1" algn="just" eaLnBrk="1" hangingPunct="1">
              <a:lnSpc>
                <a:spcPct val="150000"/>
              </a:lnSpc>
            </a:pPr>
            <a:r>
              <a:rPr lang="en-US" sz="1500" dirty="0" smtClean="0">
                <a:latin typeface="Verdana" pitchFamily="34" charset="0"/>
                <a:cs typeface="Times New Roman" pitchFamily="18" charset="0"/>
              </a:rPr>
              <a:t>People</a:t>
            </a:r>
          </a:p>
          <a:p>
            <a:pPr lvl="1" algn="just" eaLnBrk="1" hangingPunct="1">
              <a:lnSpc>
                <a:spcPct val="150000"/>
              </a:lnSpc>
            </a:pPr>
            <a:r>
              <a:rPr lang="en-US" sz="1500" dirty="0" smtClean="0">
                <a:latin typeface="Verdana" pitchFamily="34" charset="0"/>
                <a:cs typeface="Times New Roman" pitchFamily="18" charset="0"/>
              </a:rPr>
              <a:t>Activities people want to undertake</a:t>
            </a:r>
          </a:p>
          <a:p>
            <a:pPr lvl="1" algn="just" eaLnBrk="1" hangingPunct="1">
              <a:lnSpc>
                <a:spcPct val="150000"/>
              </a:lnSpc>
            </a:pPr>
            <a:r>
              <a:rPr lang="en-US" sz="1500" dirty="0" smtClean="0">
                <a:latin typeface="Verdana" pitchFamily="34" charset="0"/>
                <a:cs typeface="Times New Roman" pitchFamily="18" charset="0"/>
              </a:rPr>
              <a:t>Contexts in which the interaction takes place</a:t>
            </a:r>
          </a:p>
          <a:p>
            <a:pPr lvl="1" algn="just" eaLnBrk="1" hangingPunct="1">
              <a:lnSpc>
                <a:spcPct val="150000"/>
              </a:lnSpc>
            </a:pPr>
            <a:r>
              <a:rPr lang="en-US" sz="1500" dirty="0" smtClean="0">
                <a:latin typeface="Verdana" pitchFamily="34" charset="0"/>
                <a:cs typeface="Times New Roman" pitchFamily="18" charset="0"/>
              </a:rPr>
              <a:t>Technologies (hardware and software).</a:t>
            </a:r>
          </a:p>
          <a:p>
            <a:pPr algn="just" eaLnBrk="1" hangingPunct="1">
              <a:lnSpc>
                <a:spcPct val="150000"/>
              </a:lnSpc>
            </a:pPr>
            <a:r>
              <a:rPr lang="en-US" sz="1500" dirty="0" smtClean="0">
                <a:latin typeface="Verdana" pitchFamily="34" charset="0"/>
                <a:cs typeface="Times New Roman" pitchFamily="18" charset="0"/>
              </a:rPr>
              <a:t>The combinations of these elements are very different in, for example, a public </a:t>
            </a:r>
            <a:r>
              <a:rPr lang="en-US" sz="1500" b="1" dirty="0" smtClean="0">
                <a:latin typeface="Verdana" pitchFamily="34" charset="0"/>
                <a:cs typeface="Times New Roman" pitchFamily="18" charset="0"/>
              </a:rPr>
              <a:t>kiosk, a shared diary system, an airline cockpit or a mobile phone</a:t>
            </a:r>
            <a:r>
              <a:rPr lang="en-US" sz="1500" dirty="0" smtClean="0">
                <a:latin typeface="Verdana" pitchFamily="34" charset="0"/>
                <a:cs typeface="Times New Roman" pitchFamily="18" charset="0"/>
              </a:rPr>
              <a:t>; and it is this </a:t>
            </a:r>
            <a:r>
              <a:rPr lang="en-US" sz="1500" b="1" dirty="0" smtClean="0">
                <a:latin typeface="Verdana" pitchFamily="34" charset="0"/>
                <a:cs typeface="Times New Roman" pitchFamily="18" charset="0"/>
              </a:rPr>
              <a:t>wide variety that makes achieving a balance so difficult. </a:t>
            </a:r>
          </a:p>
          <a:p>
            <a:pPr algn="just" eaLnBrk="1" hangingPunct="1">
              <a:lnSpc>
                <a:spcPct val="150000"/>
              </a:lnSpc>
            </a:pPr>
            <a:r>
              <a:rPr lang="en-US" sz="1500" b="1" dirty="0" smtClean="0">
                <a:latin typeface="Verdana" pitchFamily="34" charset="0"/>
                <a:cs typeface="Times New Roman" pitchFamily="18" charset="0"/>
              </a:rPr>
              <a:t>Designers must constantly evaluate different combinations in order to reach this balance.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An important feature of human–computer interaction. </a:t>
            </a:r>
          </a:p>
        </p:txBody>
      </p:sp>
      <p:sp>
        <p:nvSpPr>
          <p:cNvPr id="32770" name="Text Placeholder 2"/>
          <p:cNvSpPr>
            <a:spLocks noGrp="1"/>
          </p:cNvSpPr>
          <p:nvPr>
            <p:ph type="body" idx="1"/>
          </p:nvPr>
        </p:nvSpPr>
        <p:spPr>
          <a:xfrm>
            <a:off x="673224" y="1423317"/>
            <a:ext cx="7859216" cy="4525963"/>
          </a:xfrm>
        </p:spPr>
        <p:txBody>
          <a:bodyPr/>
          <a:lstStyle/>
          <a:p>
            <a:pPr marL="0" indent="0" algn="just" eaLnBrk="1" hangingPunct="1">
              <a:lnSpc>
                <a:spcPct val="200000"/>
              </a:lnSpc>
              <a:buNone/>
            </a:pPr>
            <a:r>
              <a:rPr lang="en-US" sz="1500" dirty="0" smtClean="0">
                <a:latin typeface="Verdana" pitchFamily="34" charset="0"/>
                <a:cs typeface="Times New Roman" pitchFamily="18" charset="0"/>
              </a:rPr>
              <a:t>There </a:t>
            </a:r>
            <a:r>
              <a:rPr lang="en-US" sz="1500" b="1" dirty="0" smtClean="0">
                <a:latin typeface="Verdana" pitchFamily="34" charset="0"/>
                <a:cs typeface="Times New Roman" pitchFamily="18" charset="0"/>
              </a:rPr>
              <a:t>are two relationships </a:t>
            </a:r>
            <a:r>
              <a:rPr lang="en-US" sz="1500" dirty="0" smtClean="0">
                <a:latin typeface="Verdana" pitchFamily="34" charset="0"/>
                <a:cs typeface="Times New Roman" pitchFamily="18" charset="0"/>
              </a:rPr>
              <a:t>that need to be optimized. </a:t>
            </a:r>
          </a:p>
          <a:p>
            <a:pPr algn="just" eaLnBrk="1" hangingPunct="1">
              <a:lnSpc>
                <a:spcPct val="200000"/>
              </a:lnSpc>
            </a:pPr>
            <a:r>
              <a:rPr lang="en-US" sz="1500" dirty="0" smtClean="0">
                <a:latin typeface="Verdana" pitchFamily="34" charset="0"/>
                <a:cs typeface="Times New Roman" pitchFamily="18" charset="0"/>
              </a:rPr>
              <a:t>On the one hand there is the interaction between people and the technologies that they are using. This </a:t>
            </a:r>
            <a:r>
              <a:rPr lang="en-US" sz="1500" b="1" dirty="0" smtClean="0">
                <a:latin typeface="Verdana" pitchFamily="34" charset="0"/>
                <a:cs typeface="Times New Roman" pitchFamily="18" charset="0"/>
              </a:rPr>
              <a:t>focuses on the user interface</a:t>
            </a:r>
            <a:r>
              <a:rPr lang="en-US" sz="1500" dirty="0" smtClean="0">
                <a:latin typeface="Verdana" pitchFamily="34" charset="0"/>
                <a:cs typeface="Times New Roman" pitchFamily="18" charset="0"/>
              </a:rPr>
              <a:t>. </a:t>
            </a:r>
          </a:p>
          <a:p>
            <a:pPr marL="0" indent="0" algn="just" eaLnBrk="1" hangingPunct="1">
              <a:lnSpc>
                <a:spcPct val="200000"/>
              </a:lnSpc>
              <a:buNone/>
            </a:pPr>
            <a:endParaRPr lang="en-US" sz="1500" dirty="0" smtClean="0">
              <a:latin typeface="Verdana" pitchFamily="34" charset="0"/>
              <a:cs typeface="Times New Roman" pitchFamily="18" charset="0"/>
            </a:endParaRPr>
          </a:p>
          <a:p>
            <a:pPr algn="just" eaLnBrk="1" hangingPunct="1">
              <a:lnSpc>
                <a:spcPct val="200000"/>
              </a:lnSpc>
            </a:pPr>
            <a:r>
              <a:rPr lang="en-US" sz="1500" dirty="0" smtClean="0">
                <a:latin typeface="Verdana" pitchFamily="34" charset="0"/>
                <a:cs typeface="Times New Roman" pitchFamily="18" charset="0"/>
              </a:rPr>
              <a:t>The other relationship is the interaction between the people and technologies </a:t>
            </a:r>
            <a:r>
              <a:rPr lang="en-US" sz="1500" b="1" dirty="0" smtClean="0">
                <a:latin typeface="Verdana" pitchFamily="34" charset="0"/>
                <a:cs typeface="Times New Roman" pitchFamily="18" charset="0"/>
              </a:rPr>
              <a:t>considered as a whole (the people–technology system), </a:t>
            </a:r>
            <a:r>
              <a:rPr lang="en-US" sz="1500" dirty="0" smtClean="0">
                <a:latin typeface="Verdana" pitchFamily="34" charset="0"/>
                <a:cs typeface="Times New Roman" pitchFamily="18" charset="0"/>
              </a:rPr>
              <a:t>the activities being undertaken, and the contexts of those activities.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People–technology system </a:t>
            </a:r>
          </a:p>
        </p:txBody>
      </p:sp>
      <p:sp>
        <p:nvSpPr>
          <p:cNvPr id="33794" name="Text Placeholder 2"/>
          <p:cNvSpPr>
            <a:spLocks noGrp="1"/>
          </p:cNvSpPr>
          <p:nvPr>
            <p:ph type="body" idx="1"/>
          </p:nvPr>
        </p:nvSpPr>
        <p:spPr>
          <a:xfrm>
            <a:off x="457200" y="1340768"/>
            <a:ext cx="8229600" cy="4525963"/>
          </a:xfrm>
        </p:spPr>
        <p:txBody>
          <a:bodyPr/>
          <a:lstStyle/>
          <a:p>
            <a:pPr algn="just" eaLnBrk="1" hangingPunct="1">
              <a:lnSpc>
                <a:spcPct val="200000"/>
              </a:lnSpc>
            </a:pPr>
            <a:r>
              <a:rPr lang="en-US" sz="1500" dirty="0" smtClean="0">
                <a:latin typeface="Verdana" pitchFamily="34" charset="0"/>
                <a:cs typeface="Times New Roman" pitchFamily="18" charset="0"/>
              </a:rPr>
              <a:t>The idea of a people–technology system optimized for some activities is nicely illustrated with an </a:t>
            </a:r>
            <a:r>
              <a:rPr lang="en-US" sz="1500" b="1" dirty="0" smtClean="0">
                <a:latin typeface="Verdana" pitchFamily="34" charset="0"/>
                <a:cs typeface="Times New Roman" pitchFamily="18" charset="0"/>
              </a:rPr>
              <a:t>example from Erik </a:t>
            </a:r>
            <a:r>
              <a:rPr lang="en-US" sz="1500" b="1" dirty="0" err="1" smtClean="0">
                <a:latin typeface="Verdana" pitchFamily="34" charset="0"/>
                <a:cs typeface="Times New Roman" pitchFamily="18" charset="0"/>
              </a:rPr>
              <a:t>Hollnagel</a:t>
            </a:r>
            <a:r>
              <a:rPr lang="en-US" sz="1500" dirty="0" smtClean="0">
                <a:latin typeface="Verdana" pitchFamily="34" charset="0"/>
                <a:cs typeface="Times New Roman" pitchFamily="18" charset="0"/>
              </a:rPr>
              <a:t> (1997). </a:t>
            </a:r>
          </a:p>
          <a:p>
            <a:pPr algn="just" eaLnBrk="1" hangingPunct="1">
              <a:lnSpc>
                <a:spcPct val="200000"/>
              </a:lnSpc>
            </a:pPr>
            <a:r>
              <a:rPr lang="en-US" sz="1500" dirty="0" smtClean="0">
                <a:latin typeface="Verdana" pitchFamily="34" charset="0"/>
                <a:cs typeface="Times New Roman" pitchFamily="18" charset="0"/>
              </a:rPr>
              <a:t>He discusses the difference between a person on a horse traveling across open countryside and a person in a car traveling along a road. </a:t>
            </a:r>
          </a:p>
          <a:p>
            <a:pPr algn="just" eaLnBrk="1" hangingPunct="1">
              <a:lnSpc>
                <a:spcPct val="20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combinations of technologies are balanced for the different contexts of traveling; </a:t>
            </a:r>
            <a:r>
              <a:rPr lang="en-US" sz="1500" dirty="0" smtClean="0">
                <a:latin typeface="Verdana" pitchFamily="34" charset="0"/>
                <a:cs typeface="Times New Roman" pitchFamily="18" charset="0"/>
              </a:rPr>
              <a:t>neither is better in all circumstances. </a:t>
            </a:r>
          </a:p>
          <a:p>
            <a:pPr algn="just" eaLnBrk="1" hangingPunct="1">
              <a:lnSpc>
                <a:spcPct val="200000"/>
              </a:lnSpc>
            </a:pPr>
            <a:r>
              <a:rPr lang="en-US" sz="1500" dirty="0" smtClean="0">
                <a:latin typeface="Verdana" pitchFamily="34" charset="0"/>
                <a:cs typeface="Times New Roman" pitchFamily="18" charset="0"/>
              </a:rPr>
              <a:t>It is important to remember that the </a:t>
            </a:r>
            <a:r>
              <a:rPr lang="en-US" sz="1500" b="1" dirty="0" smtClean="0">
                <a:latin typeface="Verdana" pitchFamily="34" charset="0"/>
                <a:cs typeface="Times New Roman" pitchFamily="18" charset="0"/>
              </a:rPr>
              <a:t>people–technology system may consist of many people and many devices working together to undertake some activities.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lnSpc>
                <a:spcPct val="120000"/>
              </a:lnSpc>
            </a:pPr>
            <a:r>
              <a:rPr lang="en-US" sz="1500" dirty="0" smtClean="0">
                <a:latin typeface="Verdana" pitchFamily="34" charset="0"/>
                <a:ea typeface="ヒラギノ角ゴ Pro W3"/>
                <a:cs typeface="ヒラギノ角ゴ Pro W3"/>
              </a:rPr>
              <a:t>Technology in the way</a:t>
            </a:r>
          </a:p>
        </p:txBody>
      </p:sp>
      <p:sp>
        <p:nvSpPr>
          <p:cNvPr id="35842" name="Text Placeholder 2"/>
          <p:cNvSpPr>
            <a:spLocks noGrp="1"/>
          </p:cNvSpPr>
          <p:nvPr>
            <p:ph type="body" idx="1"/>
          </p:nvPr>
        </p:nvSpPr>
        <p:spPr>
          <a:xfrm>
            <a:off x="457200" y="1268760"/>
            <a:ext cx="8229600" cy="4525963"/>
          </a:xfrm>
        </p:spPr>
        <p:txBody>
          <a:bodyPr/>
          <a:lstStyle/>
          <a:p>
            <a:pPr algn="just" eaLnBrk="1" hangingPunct="1">
              <a:lnSpc>
                <a:spcPct val="20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key issue for usability is that very often the technology gets in the way of people and the activities they want to do</a:t>
            </a:r>
            <a:r>
              <a:rPr lang="en-US" sz="1500" dirty="0" smtClean="0">
                <a:latin typeface="Verdana" pitchFamily="34" charset="0"/>
                <a:cs typeface="Times New Roman" pitchFamily="18" charset="0"/>
              </a:rPr>
              <a:t>. </a:t>
            </a:r>
            <a:r>
              <a:rPr lang="en-US" sz="1500" dirty="0" smtClean="0">
                <a:solidFill>
                  <a:srgbClr val="00B050"/>
                </a:solidFill>
                <a:latin typeface="Verdana" pitchFamily="34" charset="0"/>
                <a:cs typeface="Times New Roman" pitchFamily="18" charset="0"/>
              </a:rPr>
              <a:t>(creates problem)</a:t>
            </a:r>
          </a:p>
          <a:p>
            <a:pPr algn="just" eaLnBrk="1" hangingPunct="1">
              <a:lnSpc>
                <a:spcPct val="200000"/>
              </a:lnSpc>
            </a:pPr>
            <a:r>
              <a:rPr lang="en-US" sz="1500" dirty="0" smtClean="0">
                <a:latin typeface="Verdana" pitchFamily="34" charset="0"/>
                <a:cs typeface="Times New Roman" pitchFamily="18" charset="0"/>
              </a:rPr>
              <a:t>If we compare using an interactive device such as a </a:t>
            </a:r>
            <a:r>
              <a:rPr lang="en-US" sz="1500" b="1" dirty="0" smtClean="0">
                <a:latin typeface="Verdana" pitchFamily="34" charset="0"/>
                <a:cs typeface="Times New Roman" pitchFamily="18" charset="0"/>
              </a:rPr>
              <a:t>remote control to using a hammer or driving a car, we can see the issue more clearly</a:t>
            </a:r>
            <a:r>
              <a:rPr lang="en-US" sz="1500" dirty="0" smtClean="0">
                <a:latin typeface="Verdana" pitchFamily="34" charset="0"/>
                <a:cs typeface="Times New Roman" pitchFamily="18" charset="0"/>
              </a:rPr>
              <a:t>.</a:t>
            </a:r>
          </a:p>
          <a:p>
            <a:pPr algn="just" eaLnBrk="1" hangingPunct="1">
              <a:lnSpc>
                <a:spcPct val="200000"/>
              </a:lnSpc>
            </a:pPr>
            <a:r>
              <a:rPr lang="en-US" sz="1500" dirty="0" smtClean="0">
                <a:latin typeface="Verdana" pitchFamily="34" charset="0"/>
                <a:cs typeface="Times New Roman" pitchFamily="18" charset="0"/>
              </a:rPr>
              <a:t>Very often when using an interactive system, we are conscious of the technology; we have to stop to press the buttons.</a:t>
            </a:r>
          </a:p>
          <a:p>
            <a:pPr algn="just" eaLnBrk="1" hangingPunct="1">
              <a:lnSpc>
                <a:spcPct val="200000"/>
              </a:lnSpc>
            </a:pPr>
            <a:r>
              <a:rPr lang="en-US" sz="1500" dirty="0" smtClean="0">
                <a:latin typeface="Verdana" pitchFamily="34" charset="0"/>
                <a:cs typeface="Times New Roman" pitchFamily="18" charset="0"/>
              </a:rPr>
              <a:t>When </a:t>
            </a:r>
            <a:r>
              <a:rPr lang="en-US" sz="1500" b="1" dirty="0" smtClean="0">
                <a:latin typeface="Verdana" pitchFamily="34" charset="0"/>
                <a:cs typeface="Times New Roman" pitchFamily="18" charset="0"/>
              </a:rPr>
              <a:t>hammering or driving, we focus on the activity, not the technology</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The technology is ‘present to hand’.</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457200" y="274638"/>
            <a:ext cx="8229600" cy="922114"/>
          </a:xfrm>
        </p:spPr>
        <p:txBody>
          <a:bodyPr/>
          <a:lstStyle/>
          <a:p>
            <a:pPr eaLnBrk="1" hangingPunct="1">
              <a:lnSpc>
                <a:spcPct val="120000"/>
              </a:lnSpc>
            </a:pPr>
            <a:r>
              <a:rPr lang="en-US" sz="1500" dirty="0" smtClean="0">
                <a:latin typeface="Verdana" pitchFamily="34" charset="0"/>
                <a:ea typeface="ヒラギノ角ゴ Pro W3"/>
                <a:cs typeface="ヒラギノ角ゴ Pro W3"/>
              </a:rPr>
              <a:t>Technological breakdown</a:t>
            </a:r>
          </a:p>
        </p:txBody>
      </p:sp>
      <p:sp>
        <p:nvSpPr>
          <p:cNvPr id="36866" name="Text Placeholder 2"/>
          <p:cNvSpPr>
            <a:spLocks noGrp="1"/>
          </p:cNvSpPr>
          <p:nvPr>
            <p:ph type="body" idx="1"/>
          </p:nvPr>
        </p:nvSpPr>
        <p:spPr>
          <a:xfrm>
            <a:off x="457200" y="1196752"/>
            <a:ext cx="8229600" cy="4525963"/>
          </a:xfrm>
        </p:spPr>
        <p:txBody>
          <a:bodyPr/>
          <a:lstStyle/>
          <a:p>
            <a:pPr algn="just" eaLnBrk="1" hangingPunct="1">
              <a:lnSpc>
                <a:spcPct val="150000"/>
              </a:lnSpc>
            </a:pPr>
            <a:r>
              <a:rPr lang="en-US" sz="1500" dirty="0" smtClean="0">
                <a:latin typeface="Verdana" pitchFamily="34" charset="0"/>
                <a:cs typeface="Times New Roman" pitchFamily="18" charset="0"/>
              </a:rPr>
              <a:t>When using a hammer, driving or writing with a pen we will usually focus on the activity itself: we are hammering, driving or writing.</a:t>
            </a:r>
          </a:p>
          <a:p>
            <a:pPr algn="just" eaLnBrk="1" hangingPunct="1">
              <a:lnSpc>
                <a:spcPct val="150000"/>
              </a:lnSpc>
            </a:pPr>
            <a:r>
              <a:rPr lang="en-US" sz="1500" dirty="0" smtClean="0">
                <a:latin typeface="Verdana" pitchFamily="34" charset="0"/>
                <a:cs typeface="Times New Roman" pitchFamily="18" charset="0"/>
              </a:rPr>
              <a:t> It is only when something happens to interfere with the smooth operation of these technologies that we become aware of them. </a:t>
            </a:r>
          </a:p>
          <a:p>
            <a:pPr algn="just" eaLnBrk="1" hangingPunct="1">
              <a:lnSpc>
                <a:spcPct val="150000"/>
              </a:lnSpc>
            </a:pPr>
            <a:r>
              <a:rPr lang="en-US" sz="1500" b="1" dirty="0" smtClean="0">
                <a:latin typeface="Verdana" pitchFamily="34" charset="0"/>
                <a:cs typeface="Times New Roman" pitchFamily="18" charset="0"/>
              </a:rPr>
              <a:t>If you hit your finger whilst hammering, if you have to turn sharply to avoid a hole in the road, or if the pen stops working, then the unconscious use of the technology turns into a conscious interaction with the technology</a:t>
            </a:r>
            <a:r>
              <a:rPr lang="en-US" sz="1500" dirty="0" smtClean="0">
                <a:latin typeface="Verdana" pitchFamily="34" charset="0"/>
                <a:cs typeface="Times New Roman" pitchFamily="18" charset="0"/>
              </a:rPr>
              <a:t>. </a:t>
            </a:r>
          </a:p>
          <a:p>
            <a:pPr algn="just" eaLnBrk="1" hangingPunct="1">
              <a:lnSpc>
                <a:spcPct val="150000"/>
              </a:lnSpc>
            </a:pPr>
            <a:r>
              <a:rPr lang="en-US" sz="1500" dirty="0" err="1" smtClean="0">
                <a:latin typeface="Verdana" pitchFamily="34" charset="0"/>
                <a:cs typeface="Times New Roman" pitchFamily="18" charset="0"/>
              </a:rPr>
              <a:t>Winograd</a:t>
            </a:r>
            <a:r>
              <a:rPr lang="en-US" sz="1500" dirty="0" smtClean="0">
                <a:latin typeface="Verdana" pitchFamily="34" charset="0"/>
                <a:cs typeface="Times New Roman" pitchFamily="18" charset="0"/>
              </a:rPr>
              <a:t> and Flores (1986) refer to this as a </a:t>
            </a:r>
            <a:r>
              <a:rPr lang="en-US" sz="1500" b="1" dirty="0" smtClean="0">
                <a:latin typeface="Verdana" pitchFamily="34" charset="0"/>
                <a:cs typeface="Times New Roman" pitchFamily="18" charset="0"/>
              </a:rPr>
              <a:t>‘breakdown</a:t>
            </a:r>
            <a:r>
              <a:rPr lang="en-US" sz="1500" dirty="0" smtClean="0">
                <a:latin typeface="Verdana" pitchFamily="34" charset="0"/>
                <a:cs typeface="Times New Roman" pitchFamily="18" charset="0"/>
              </a:rPr>
              <a:t>’.</a:t>
            </a:r>
          </a:p>
          <a:p>
            <a:pPr algn="just" eaLnBrk="1" hangingPunct="1">
              <a:lnSpc>
                <a:spcPct val="150000"/>
              </a:lnSpc>
            </a:pPr>
            <a:r>
              <a:rPr lang="en-US" sz="1500" b="1" dirty="0" smtClean="0">
                <a:latin typeface="Verdana" pitchFamily="34" charset="0"/>
                <a:cs typeface="Times New Roman" pitchFamily="18" charset="0"/>
              </a:rPr>
              <a:t>One aim of interactive systems design is to avoid such breakdowns, to provide people with a way of undertaking activities without really being aware of the technologies that enable them to do what they are doing.</a:t>
            </a:r>
            <a:endParaRPr lang="en-US" sz="1500" b="1"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Usability and mental models</a:t>
            </a:r>
          </a:p>
        </p:txBody>
      </p:sp>
      <p:sp>
        <p:nvSpPr>
          <p:cNvPr id="37890" name="Text Placeholder 2"/>
          <p:cNvSpPr>
            <a:spLocks noGrp="1"/>
          </p:cNvSpPr>
          <p:nvPr>
            <p:ph type="body" idx="1"/>
          </p:nvPr>
        </p:nvSpPr>
        <p:spPr/>
        <p:txBody>
          <a:bodyPr/>
          <a:lstStyle/>
          <a:p>
            <a:pPr algn="just" eaLnBrk="1" hangingPunct="1">
              <a:lnSpc>
                <a:spcPct val="200000"/>
              </a:lnSpc>
            </a:pPr>
            <a:r>
              <a:rPr lang="en-US" sz="1500" dirty="0" smtClean="0">
                <a:latin typeface="Verdana" pitchFamily="34" charset="0"/>
                <a:cs typeface="Times New Roman" pitchFamily="18" charset="0"/>
              </a:rPr>
              <a:t>Another important aspect of usability is to try to produce an accurate mental model of the system. </a:t>
            </a:r>
          </a:p>
          <a:p>
            <a:pPr algn="just" eaLnBrk="1" hangingPunct="1">
              <a:lnSpc>
                <a:spcPct val="20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good design will have adopted a clear and well structured conceptual design </a:t>
            </a:r>
            <a:r>
              <a:rPr lang="en-US" sz="1500" dirty="0" smtClean="0">
                <a:latin typeface="Verdana" pitchFamily="34" charset="0"/>
                <a:cs typeface="Times New Roman" pitchFamily="18" charset="0"/>
              </a:rPr>
              <a:t>that can be easily communicated to people. </a:t>
            </a:r>
          </a:p>
          <a:p>
            <a:pPr algn="just" eaLnBrk="1" hangingPunct="1">
              <a:lnSpc>
                <a:spcPct val="20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complex design </a:t>
            </a:r>
            <a:r>
              <a:rPr lang="en-US" sz="1500" dirty="0" smtClean="0">
                <a:latin typeface="Verdana" pitchFamily="34" charset="0"/>
                <a:cs typeface="Times New Roman" pitchFamily="18" charset="0"/>
              </a:rPr>
              <a:t>will make this process much </a:t>
            </a:r>
            <a:r>
              <a:rPr lang="en-US" sz="1500" b="1" dirty="0" smtClean="0">
                <a:latin typeface="Verdana" pitchFamily="34" charset="0"/>
                <a:cs typeface="Times New Roman" pitchFamily="18" charset="0"/>
              </a:rPr>
              <a:t>more difficult</a:t>
            </a:r>
            <a:r>
              <a:rPr lang="en-US" sz="1500" dirty="0" smtClean="0">
                <a:latin typeface="Verdana" pitchFamily="34" charset="0"/>
                <a:cs typeface="Times New Roman" pitchFamily="18" charset="0"/>
              </a:rPr>
              <a:t>.</a:t>
            </a:r>
          </a:p>
          <a:p>
            <a:pPr algn="just" eaLnBrk="1" hangingPunct="1">
              <a:lnSpc>
                <a:spcPct val="200000"/>
              </a:lnSpc>
            </a:pPr>
            <a:r>
              <a:rPr lang="en-US" sz="1500" dirty="0" smtClean="0">
                <a:latin typeface="Verdana" pitchFamily="34" charset="0"/>
                <a:cs typeface="Times New Roman" pitchFamily="18" charset="0"/>
              </a:rPr>
              <a:t>Striving for a </a:t>
            </a:r>
            <a:r>
              <a:rPr lang="en-US" sz="1500" b="1" dirty="0" smtClean="0">
                <a:latin typeface="Verdana" pitchFamily="34" charset="0"/>
                <a:cs typeface="Times New Roman" pitchFamily="18" charset="0"/>
              </a:rPr>
              <a:t>clear, simple and consistent conceptual model will increase the usability</a:t>
            </a:r>
            <a:r>
              <a:rPr lang="en-US" sz="1500" dirty="0" smtClean="0">
                <a:latin typeface="Verdana" pitchFamily="34" charset="0"/>
                <a:cs typeface="Times New Roman" pitchFamily="18" charset="0"/>
              </a:rPr>
              <a:t> of a system.</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457200" y="188640"/>
            <a:ext cx="8229600" cy="720080"/>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Acceptability</a:t>
            </a:r>
          </a:p>
        </p:txBody>
      </p:sp>
      <p:sp>
        <p:nvSpPr>
          <p:cNvPr id="38914" name="Text Placeholder 2"/>
          <p:cNvSpPr>
            <a:spLocks noGrp="1"/>
          </p:cNvSpPr>
          <p:nvPr>
            <p:ph type="body" idx="1"/>
          </p:nvPr>
        </p:nvSpPr>
        <p:spPr>
          <a:xfrm>
            <a:off x="323528" y="980728"/>
            <a:ext cx="8568952" cy="5472608"/>
          </a:xfrm>
        </p:spPr>
        <p:txBody>
          <a:bodyPr/>
          <a:lstStyle/>
          <a:p>
            <a:pPr algn="just" eaLnBrk="1" hangingPunct="1">
              <a:lnSpc>
                <a:spcPct val="200000"/>
              </a:lnSpc>
            </a:pPr>
            <a:r>
              <a:rPr lang="en-US" sz="1500" b="1" dirty="0" smtClean="0">
                <a:latin typeface="Verdana" pitchFamily="34" charset="0"/>
                <a:cs typeface="Times New Roman" pitchFamily="18" charset="0"/>
              </a:rPr>
              <a:t>Acceptability is about fitting technologies into people’s lives. </a:t>
            </a:r>
          </a:p>
          <a:p>
            <a:pPr algn="just" eaLnBrk="1" hangingPunct="1">
              <a:lnSpc>
                <a:spcPct val="200000"/>
              </a:lnSpc>
            </a:pPr>
            <a:r>
              <a:rPr lang="en-US" sz="1500" dirty="0" smtClean="0">
                <a:latin typeface="Verdana" pitchFamily="34" charset="0"/>
                <a:cs typeface="Times New Roman" pitchFamily="18" charset="0"/>
              </a:rPr>
              <a:t>For example, cinemas remind people to turn their phones off before the film starts. </a:t>
            </a:r>
          </a:p>
          <a:p>
            <a:pPr algn="just" eaLnBrk="1" hangingPunct="1">
              <a:lnSpc>
                <a:spcPct val="200000"/>
              </a:lnSpc>
            </a:pPr>
            <a:r>
              <a:rPr lang="en-US" sz="1500" dirty="0" smtClean="0">
                <a:latin typeface="Verdana" pitchFamily="34" charset="0"/>
                <a:cs typeface="Times New Roman" pitchFamily="18" charset="0"/>
              </a:rPr>
              <a:t>Apple’s iMac computer was the first computer designed to look good in a living room. </a:t>
            </a:r>
          </a:p>
          <a:p>
            <a:pPr algn="just" eaLnBrk="1" hangingPunct="1">
              <a:lnSpc>
                <a:spcPct val="200000"/>
              </a:lnSpc>
            </a:pPr>
            <a:r>
              <a:rPr lang="en-US" sz="1500" dirty="0" smtClean="0">
                <a:latin typeface="Verdana" pitchFamily="34" charset="0"/>
                <a:cs typeface="Times New Roman" pitchFamily="18" charset="0"/>
              </a:rPr>
              <a:t>A computer </a:t>
            </a:r>
            <a:r>
              <a:rPr lang="en-US" sz="1500" b="1" dirty="0" smtClean="0">
                <a:latin typeface="Verdana" pitchFamily="34" charset="0"/>
                <a:cs typeface="Times New Roman" pitchFamily="18" charset="0"/>
              </a:rPr>
              <a:t>playing loud music </a:t>
            </a:r>
            <a:r>
              <a:rPr lang="en-US" sz="1500" dirty="0" smtClean="0">
                <a:latin typeface="Verdana" pitchFamily="34" charset="0"/>
                <a:cs typeface="Times New Roman" pitchFamily="18" charset="0"/>
              </a:rPr>
              <a:t>would generally be considered to be </a:t>
            </a:r>
            <a:r>
              <a:rPr lang="en-US" sz="1500" b="1" dirty="0" smtClean="0">
                <a:latin typeface="Verdana" pitchFamily="34" charset="0"/>
                <a:cs typeface="Times New Roman" pitchFamily="18" charset="0"/>
              </a:rPr>
              <a:t>unacceptable in an office environment</a:t>
            </a:r>
            <a:r>
              <a:rPr lang="en-US" sz="1500" dirty="0" smtClean="0">
                <a:latin typeface="Verdana" pitchFamily="34" charset="0"/>
                <a:cs typeface="Times New Roman" pitchFamily="18" charset="0"/>
              </a:rPr>
              <a:t>.</a:t>
            </a:r>
          </a:p>
          <a:p>
            <a:pPr algn="just" eaLnBrk="1" hangingPunct="1">
              <a:lnSpc>
                <a:spcPct val="200000"/>
              </a:lnSpc>
            </a:pPr>
            <a:r>
              <a:rPr lang="en-US" sz="1500" dirty="0" smtClean="0">
                <a:latin typeface="Verdana" pitchFamily="34" charset="0"/>
                <a:cs typeface="Times New Roman" pitchFamily="18" charset="0"/>
              </a:rPr>
              <a:t>An</a:t>
            </a:r>
            <a:r>
              <a:rPr lang="en-US" sz="1500" b="1" dirty="0" smtClean="0">
                <a:latin typeface="Verdana" pitchFamily="34" charset="0"/>
                <a:cs typeface="Times New Roman" pitchFamily="18" charset="0"/>
              </a:rPr>
              <a:t> essential difference between usability and acceptability </a:t>
            </a:r>
            <a:r>
              <a:rPr lang="en-US" sz="1500" dirty="0" smtClean="0">
                <a:latin typeface="Verdana" pitchFamily="34" charset="0"/>
                <a:cs typeface="Times New Roman" pitchFamily="18" charset="0"/>
              </a:rPr>
              <a:t>is that </a:t>
            </a:r>
            <a:r>
              <a:rPr lang="en-US" sz="1500" b="1" dirty="0" smtClean="0">
                <a:latin typeface="Verdana" pitchFamily="34" charset="0"/>
                <a:cs typeface="Times New Roman" pitchFamily="18" charset="0"/>
              </a:rPr>
              <a:t>acceptability can only be understood in the context of use</a:t>
            </a:r>
            <a:r>
              <a:rPr lang="en-US" sz="1500" dirty="0" smtClean="0">
                <a:latin typeface="Verdana" pitchFamily="34" charset="0"/>
                <a:cs typeface="Times New Roman" pitchFamily="18" charset="0"/>
              </a:rPr>
              <a:t>. </a:t>
            </a:r>
          </a:p>
          <a:p>
            <a:pPr algn="just" eaLnBrk="1" hangingPunct="1">
              <a:lnSpc>
                <a:spcPct val="200000"/>
              </a:lnSpc>
            </a:pPr>
            <a:r>
              <a:rPr lang="en-US" sz="1500" b="1" dirty="0" smtClean="0">
                <a:latin typeface="Verdana" pitchFamily="34" charset="0"/>
                <a:cs typeface="Times New Roman" pitchFamily="18" charset="0"/>
              </a:rPr>
              <a:t>Usability can be evaluated in a laboratory </a:t>
            </a:r>
            <a:r>
              <a:rPr lang="en-US" sz="1500" dirty="0" smtClean="0">
                <a:latin typeface="Verdana" pitchFamily="34" charset="0"/>
                <a:cs typeface="Times New Roman" pitchFamily="18" charset="0"/>
              </a:rPr>
              <a:t>(though such evaluations will always be limited), however, </a:t>
            </a:r>
            <a:r>
              <a:rPr lang="en-US" sz="1500" b="1" dirty="0" smtClean="0">
                <a:latin typeface="Verdana" pitchFamily="34" charset="0"/>
                <a:cs typeface="Times New Roman" pitchFamily="18" charset="0"/>
              </a:rPr>
              <a:t>Acceptability cannot</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ea typeface="ヒラギノ角ゴ Pro W3"/>
                <a:cs typeface="ヒラギノ角ゴ Pro W3"/>
              </a:rPr>
              <a:t>The Technology Acceptance Model</a:t>
            </a:r>
          </a:p>
        </p:txBody>
      </p:sp>
      <p:sp>
        <p:nvSpPr>
          <p:cNvPr id="39938" name="Text Placeholder 2"/>
          <p:cNvSpPr>
            <a:spLocks noGrp="1"/>
          </p:cNvSpPr>
          <p:nvPr>
            <p:ph type="body" idx="1"/>
          </p:nvPr>
        </p:nvSpPr>
        <p:spPr>
          <a:xfrm>
            <a:off x="457200" y="1135285"/>
            <a:ext cx="8229600" cy="5174035"/>
          </a:xfrm>
        </p:spPr>
        <p:txBody>
          <a:bodyPr/>
          <a:lstStyle/>
          <a:p>
            <a:pPr algn="just" eaLnBrk="1" hangingPunct="1">
              <a:lnSpc>
                <a:spcPct val="150000"/>
              </a:lnSpc>
            </a:pPr>
            <a:r>
              <a:rPr lang="en-US" sz="1500" dirty="0" smtClean="0">
                <a:latin typeface="Verdana" pitchFamily="34" charset="0"/>
                <a:cs typeface="Times New Roman" pitchFamily="18" charset="0"/>
              </a:rPr>
              <a:t>The Technology Acceptance Model </a:t>
            </a:r>
            <a:r>
              <a:rPr lang="en-US" sz="1500" b="1" dirty="0" smtClean="0">
                <a:latin typeface="Verdana" pitchFamily="34" charset="0"/>
                <a:cs typeface="Times New Roman" pitchFamily="18" charset="0"/>
              </a:rPr>
              <a:t>(TAM) is a way of looking at technologies and whether they will be accepted by communities</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It has its </a:t>
            </a:r>
            <a:r>
              <a:rPr lang="en-US" sz="1500" b="1" dirty="0" smtClean="0">
                <a:latin typeface="Verdana" pitchFamily="34" charset="0"/>
                <a:cs typeface="Times New Roman" pitchFamily="18" charset="0"/>
              </a:rPr>
              <a:t>origins in business studies rather than </a:t>
            </a:r>
            <a:r>
              <a:rPr lang="en-US" sz="1500" dirty="0" smtClean="0">
                <a:latin typeface="Verdana" pitchFamily="34" charset="0"/>
                <a:cs typeface="Times New Roman" pitchFamily="18" charset="0"/>
              </a:rPr>
              <a:t>in computing or psychology. </a:t>
            </a:r>
          </a:p>
          <a:p>
            <a:pPr algn="just" eaLnBrk="1" hangingPunct="1">
              <a:lnSpc>
                <a:spcPct val="150000"/>
              </a:lnSpc>
            </a:pPr>
            <a:r>
              <a:rPr lang="en-US" sz="1500" b="1" dirty="0" smtClean="0">
                <a:latin typeface="Verdana" pitchFamily="34" charset="0"/>
                <a:cs typeface="Times New Roman" pitchFamily="18" charset="0"/>
              </a:rPr>
              <a:t>TAM looks at technology acceptance from two perspectives; ease of use and effectiveness</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Each of these is further broken down into more specific characteristics of the technology. </a:t>
            </a:r>
          </a:p>
          <a:p>
            <a:pPr algn="just" eaLnBrk="1" hangingPunct="1">
              <a:lnSpc>
                <a:spcPct val="150000"/>
              </a:lnSpc>
            </a:pPr>
            <a:r>
              <a:rPr lang="en-US" sz="1500" dirty="0" smtClean="0">
                <a:latin typeface="Verdana" pitchFamily="34" charset="0"/>
                <a:cs typeface="Times New Roman" pitchFamily="18" charset="0"/>
              </a:rPr>
              <a:t>There are </a:t>
            </a:r>
            <a:r>
              <a:rPr lang="en-US" sz="1500" b="1" dirty="0" smtClean="0">
                <a:latin typeface="Verdana" pitchFamily="34" charset="0"/>
                <a:cs typeface="Times New Roman" pitchFamily="18" charset="0"/>
              </a:rPr>
              <a:t>many variants of TAM</a:t>
            </a:r>
            <a:r>
              <a:rPr lang="en-US" sz="1500" dirty="0" smtClean="0">
                <a:latin typeface="Verdana" pitchFamily="34" charset="0"/>
                <a:cs typeface="Times New Roman" pitchFamily="18" charset="0"/>
              </a:rPr>
              <a:t> as it </a:t>
            </a:r>
            <a:r>
              <a:rPr lang="en-US" sz="1500" b="1" dirty="0" smtClean="0">
                <a:latin typeface="Verdana" pitchFamily="34" charset="0"/>
                <a:cs typeface="Times New Roman" pitchFamily="18" charset="0"/>
              </a:rPr>
              <a:t>gets adapted to the particular characteristics of a technology</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Some of our own work involved looking at the </a:t>
            </a:r>
            <a:r>
              <a:rPr lang="en-US" sz="1500" b="1" dirty="0" smtClean="0">
                <a:latin typeface="Verdana" pitchFamily="34" charset="0"/>
                <a:cs typeface="Times New Roman" pitchFamily="18" charset="0"/>
              </a:rPr>
              <a:t>acceptance of biometrics.</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We felt that a third aspect was important to the acceptance of biometric technology, </a:t>
            </a:r>
            <a:r>
              <a:rPr lang="en-US" sz="1500" b="1" dirty="0" smtClean="0">
                <a:latin typeface="Verdana" pitchFamily="34" charset="0"/>
                <a:cs typeface="Times New Roman" pitchFamily="18" charset="0"/>
              </a:rPr>
              <a:t>namely trust</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457200" y="188640"/>
            <a:ext cx="8229600" cy="562074"/>
          </a:xfrm>
        </p:spPr>
        <p:txBody>
          <a:bodyPr/>
          <a:lstStyle/>
          <a:p>
            <a:pPr eaLnBrk="1" hangingPunct="1">
              <a:lnSpc>
                <a:spcPct val="120000"/>
              </a:lnSpc>
            </a:pPr>
            <a:r>
              <a:rPr lang="en-US" sz="2500" dirty="0" smtClean="0"/>
              <a:t>The 5 key features of acceptability</a:t>
            </a:r>
            <a:endParaRPr lang="en-US" sz="2500" dirty="0" smtClean="0">
              <a:latin typeface="Verdana" pitchFamily="34" charset="0"/>
              <a:ea typeface="ヒラギノ角ゴ Pro W3"/>
              <a:cs typeface="ヒラギノ角ゴ Pro W3"/>
            </a:endParaRPr>
          </a:p>
        </p:txBody>
      </p:sp>
      <p:sp>
        <p:nvSpPr>
          <p:cNvPr id="40962" name="Text Placeholder 2"/>
          <p:cNvSpPr>
            <a:spLocks noGrp="1"/>
          </p:cNvSpPr>
          <p:nvPr>
            <p:ph type="body" idx="1"/>
          </p:nvPr>
        </p:nvSpPr>
        <p:spPr>
          <a:xfrm>
            <a:off x="179512" y="750715"/>
            <a:ext cx="8568952" cy="5486598"/>
          </a:xfrm>
        </p:spPr>
        <p:txBody>
          <a:bodyPr/>
          <a:lstStyle/>
          <a:p>
            <a:pPr algn="ctr" eaLnBrk="1" hangingPunct="1">
              <a:lnSpc>
                <a:spcPct val="200000"/>
              </a:lnSpc>
              <a:buAutoNum type="arabicParenR"/>
            </a:pPr>
            <a:r>
              <a:rPr lang="en-US" sz="1300" dirty="0" smtClean="0">
                <a:latin typeface="Verdana" pitchFamily="34" charset="0"/>
                <a:ea typeface="ヒラギノ角ゴ Pro W3"/>
                <a:cs typeface="ヒラギノ角ゴ Pro W3"/>
              </a:rPr>
              <a:t>Political </a:t>
            </a:r>
            <a:r>
              <a:rPr lang="en-US" sz="1300" dirty="0">
                <a:latin typeface="Verdana" pitchFamily="34" charset="0"/>
                <a:ea typeface="ヒラギノ角ゴ Pro W3"/>
                <a:cs typeface="ヒラギノ角ゴ Pro W3"/>
              </a:rPr>
              <a:t>acceptability </a:t>
            </a:r>
            <a:endParaRPr lang="en-US" sz="1300" dirty="0" smtClean="0">
              <a:latin typeface="Verdana" pitchFamily="34" charset="0"/>
              <a:cs typeface="Times New Roman" pitchFamily="18" charset="0"/>
            </a:endParaRPr>
          </a:p>
          <a:p>
            <a:pPr algn="just" eaLnBrk="1" hangingPunct="1">
              <a:lnSpc>
                <a:spcPct val="200000"/>
              </a:lnSpc>
            </a:pPr>
            <a:r>
              <a:rPr lang="en-US" sz="1300" dirty="0" smtClean="0">
                <a:latin typeface="Verdana" pitchFamily="34" charset="0"/>
                <a:cs typeface="Times New Roman" pitchFamily="18" charset="0"/>
              </a:rPr>
              <a:t>Is the design </a:t>
            </a:r>
            <a:r>
              <a:rPr lang="en-US" sz="1300" b="1" dirty="0" smtClean="0">
                <a:latin typeface="Verdana" pitchFamily="34" charset="0"/>
                <a:cs typeface="Times New Roman" pitchFamily="18" charset="0"/>
              </a:rPr>
              <a:t>politically acceptable? </a:t>
            </a:r>
          </a:p>
          <a:p>
            <a:pPr algn="just" eaLnBrk="1" hangingPunct="1">
              <a:lnSpc>
                <a:spcPct val="200000"/>
              </a:lnSpc>
            </a:pPr>
            <a:r>
              <a:rPr lang="en-US" sz="1300" dirty="0" smtClean="0">
                <a:latin typeface="Verdana" pitchFamily="34" charset="0"/>
                <a:cs typeface="Times New Roman" pitchFamily="18" charset="0"/>
              </a:rPr>
              <a:t>Do </a:t>
            </a:r>
            <a:r>
              <a:rPr lang="en-US" sz="1300" b="1" dirty="0" smtClean="0">
                <a:latin typeface="Verdana" pitchFamily="34" charset="0"/>
                <a:cs typeface="Times New Roman" pitchFamily="18" charset="0"/>
              </a:rPr>
              <a:t>people trust it</a:t>
            </a:r>
            <a:r>
              <a:rPr lang="en-US" sz="1300" dirty="0" smtClean="0">
                <a:latin typeface="Verdana" pitchFamily="34" charset="0"/>
                <a:cs typeface="Times New Roman" pitchFamily="18" charset="0"/>
              </a:rPr>
              <a:t>? </a:t>
            </a:r>
          </a:p>
          <a:p>
            <a:pPr algn="just" eaLnBrk="1" hangingPunct="1">
              <a:lnSpc>
                <a:spcPct val="200000"/>
              </a:lnSpc>
            </a:pPr>
            <a:r>
              <a:rPr lang="en-US" sz="1300" dirty="0" smtClean="0">
                <a:latin typeface="Verdana" pitchFamily="34" charset="0"/>
                <a:cs typeface="Times New Roman" pitchFamily="18" charset="0"/>
              </a:rPr>
              <a:t>In many organizations, </a:t>
            </a:r>
            <a:r>
              <a:rPr lang="en-US" sz="1300" b="1" dirty="0" smtClean="0">
                <a:latin typeface="Verdana" pitchFamily="34" charset="0"/>
                <a:cs typeface="Times New Roman" pitchFamily="18" charset="0"/>
              </a:rPr>
              <a:t>new technologies have been introduced for simple economic reasons, irrespective of what people may feel about them and the ways that people’s jobs and lives might change.</a:t>
            </a:r>
            <a:r>
              <a:rPr lang="en-US" sz="1300" dirty="0" smtClean="0">
                <a:latin typeface="Verdana" pitchFamily="34" charset="0"/>
                <a:cs typeface="Times New Roman" pitchFamily="18" charset="0"/>
              </a:rPr>
              <a:t>  In the </a:t>
            </a:r>
            <a:r>
              <a:rPr lang="en-US" sz="1300" b="1" dirty="0" smtClean="0">
                <a:latin typeface="Verdana" pitchFamily="34" charset="0"/>
                <a:cs typeface="Times New Roman" pitchFamily="18" charset="0"/>
              </a:rPr>
              <a:t>broader environment, human rights might be threatened by changes in technologies</a:t>
            </a:r>
            <a:r>
              <a:rPr lang="en-US" sz="1300" dirty="0" smtClean="0">
                <a:latin typeface="Verdana" pitchFamily="34" charset="0"/>
                <a:cs typeface="Times New Roman" pitchFamily="18" charset="0"/>
              </a:rPr>
              <a:t>.</a:t>
            </a:r>
          </a:p>
          <a:p>
            <a:pPr marL="0" indent="0" algn="ctr" eaLnBrk="1" hangingPunct="1">
              <a:lnSpc>
                <a:spcPct val="200000"/>
              </a:lnSpc>
              <a:buNone/>
            </a:pPr>
            <a:r>
              <a:rPr lang="en-US" sz="1300" dirty="0" smtClean="0">
                <a:latin typeface="Verdana" pitchFamily="34" charset="0"/>
                <a:cs typeface="Times New Roman" pitchFamily="18" charset="0"/>
              </a:rPr>
              <a:t>2)  </a:t>
            </a:r>
            <a:r>
              <a:rPr lang="en-US" sz="1300" dirty="0">
                <a:latin typeface="Verdana" pitchFamily="34" charset="0"/>
                <a:cs typeface="Times New Roman" pitchFamily="18" charset="0"/>
              </a:rPr>
              <a:t>Usefulness</a:t>
            </a:r>
          </a:p>
          <a:p>
            <a:pPr algn="just" eaLnBrk="1" hangingPunct="1">
              <a:lnSpc>
                <a:spcPct val="200000"/>
              </a:lnSpc>
            </a:pPr>
            <a:r>
              <a:rPr lang="en-US" sz="1300" dirty="0">
                <a:latin typeface="Verdana" pitchFamily="34" charset="0"/>
                <a:cs typeface="Times New Roman" pitchFamily="18" charset="0"/>
              </a:rPr>
              <a:t>This goes beyond the ideas of </a:t>
            </a:r>
            <a:r>
              <a:rPr lang="en-US" sz="1300" b="1" dirty="0">
                <a:latin typeface="Verdana" pitchFamily="34" charset="0"/>
                <a:cs typeface="Times New Roman" pitchFamily="18" charset="0"/>
              </a:rPr>
              <a:t>efficiency and effectiveness </a:t>
            </a:r>
            <a:r>
              <a:rPr lang="en-US" sz="1300" dirty="0">
                <a:latin typeface="Verdana" pitchFamily="34" charset="0"/>
                <a:cs typeface="Times New Roman" pitchFamily="18" charset="0"/>
              </a:rPr>
              <a:t>and concerns </a:t>
            </a:r>
            <a:r>
              <a:rPr lang="en-US" sz="1300" b="1" dirty="0">
                <a:latin typeface="Verdana" pitchFamily="34" charset="0"/>
                <a:cs typeface="Times New Roman" pitchFamily="18" charset="0"/>
              </a:rPr>
              <a:t>usefulness in context.</a:t>
            </a:r>
            <a:r>
              <a:rPr lang="en-US" sz="1300" dirty="0">
                <a:latin typeface="Verdana" pitchFamily="34" charset="0"/>
                <a:cs typeface="Times New Roman" pitchFamily="18" charset="0"/>
              </a:rPr>
              <a:t> </a:t>
            </a:r>
          </a:p>
          <a:p>
            <a:pPr algn="just" eaLnBrk="1" hangingPunct="1">
              <a:lnSpc>
                <a:spcPct val="200000"/>
              </a:lnSpc>
            </a:pPr>
            <a:r>
              <a:rPr lang="en-US" sz="1300" dirty="0">
                <a:latin typeface="Verdana" pitchFamily="34" charset="0"/>
                <a:cs typeface="Times New Roman" pitchFamily="18" charset="0"/>
              </a:rPr>
              <a:t>For example, many people have found the diary function on their PDAs perfectly usable, but not sufficiently useful in the context of everyday living and </a:t>
            </a:r>
            <a:r>
              <a:rPr lang="en-US" sz="1300" b="1" dirty="0">
                <a:latin typeface="Verdana" pitchFamily="34" charset="0"/>
                <a:cs typeface="Times New Roman" pitchFamily="18" charset="0"/>
              </a:rPr>
              <a:t>keeping it up to date </a:t>
            </a:r>
            <a:r>
              <a:rPr lang="en-US" sz="1300" dirty="0">
                <a:latin typeface="Verdana" pitchFamily="34" charset="0"/>
                <a:cs typeface="Times New Roman" pitchFamily="18" charset="0"/>
              </a:rPr>
              <a:t>can be an unacceptable constraint.</a:t>
            </a:r>
            <a:endParaRPr lang="en-US" sz="1300" baseline="-25000" dirty="0">
              <a:latin typeface="Verdana" pitchFamily="34" charset="0"/>
              <a:cs typeface="Times New Roman" pitchFamily="18" charset="0"/>
            </a:endParaRPr>
          </a:p>
          <a:p>
            <a:pPr algn="just" eaLnBrk="1" hangingPunct="1">
              <a:lnSpc>
                <a:spcPct val="200000"/>
              </a:lnSpc>
            </a:pPr>
            <a:endParaRPr lang="en-US" sz="1300" baseline="-25000" dirty="0" smtClean="0">
              <a:latin typeface="Verdana" pitchFamily="34"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Placeholder 2"/>
          <p:cNvSpPr>
            <a:spLocks noGrp="1"/>
          </p:cNvSpPr>
          <p:nvPr>
            <p:ph type="body" idx="1"/>
          </p:nvPr>
        </p:nvSpPr>
        <p:spPr>
          <a:xfrm>
            <a:off x="251520" y="260648"/>
            <a:ext cx="8640960" cy="5865515"/>
          </a:xfrm>
        </p:spPr>
        <p:txBody>
          <a:bodyPr/>
          <a:lstStyle/>
          <a:p>
            <a:pPr marL="0" indent="0" algn="ctr" eaLnBrk="1" hangingPunct="1">
              <a:lnSpc>
                <a:spcPct val="200000"/>
              </a:lnSpc>
              <a:buNone/>
            </a:pPr>
            <a:r>
              <a:rPr lang="en-US" sz="1400" dirty="0">
                <a:latin typeface="Verdana" pitchFamily="34" charset="0"/>
                <a:ea typeface="ヒラギノ角ゴ Pro W3"/>
                <a:cs typeface="ヒラギノ角ゴ Pro W3"/>
              </a:rPr>
              <a:t>3)  </a:t>
            </a:r>
            <a:r>
              <a:rPr lang="en-US" sz="1400" dirty="0" smtClean="0">
                <a:latin typeface="Verdana" pitchFamily="34" charset="0"/>
                <a:ea typeface="ヒラギノ角ゴ Pro W3"/>
                <a:cs typeface="ヒラギノ角ゴ Pro W3"/>
              </a:rPr>
              <a:t>Convenience</a:t>
            </a:r>
            <a:endParaRPr lang="en-US" sz="1400" dirty="0" smtClean="0">
              <a:latin typeface="Verdana" pitchFamily="34" charset="0"/>
              <a:cs typeface="Times New Roman" pitchFamily="18" charset="0"/>
            </a:endParaRPr>
          </a:p>
          <a:p>
            <a:pPr algn="just" eaLnBrk="1" hangingPunct="1">
              <a:lnSpc>
                <a:spcPct val="200000"/>
              </a:lnSpc>
            </a:pPr>
            <a:r>
              <a:rPr lang="en-US" sz="1400" dirty="0" smtClean="0">
                <a:latin typeface="Verdana" pitchFamily="34" charset="0"/>
                <a:cs typeface="Times New Roman" pitchFamily="18" charset="0"/>
              </a:rPr>
              <a:t>Designs that are </a:t>
            </a:r>
            <a:r>
              <a:rPr lang="en-US" sz="1400" b="1" dirty="0" smtClean="0">
                <a:latin typeface="Verdana" pitchFamily="34" charset="0"/>
                <a:cs typeface="Times New Roman" pitchFamily="18" charset="0"/>
              </a:rPr>
              <a:t>awkward or that force people to do things </a:t>
            </a:r>
            <a:r>
              <a:rPr lang="en-US" sz="1400" dirty="0" smtClean="0">
                <a:latin typeface="Verdana" pitchFamily="34" charset="0"/>
                <a:cs typeface="Times New Roman" pitchFamily="18" charset="0"/>
              </a:rPr>
              <a:t>may prove </a:t>
            </a:r>
            <a:r>
              <a:rPr lang="en-US" sz="1400" b="1" dirty="0" smtClean="0">
                <a:latin typeface="Verdana" pitchFamily="34" charset="0"/>
                <a:cs typeface="Times New Roman" pitchFamily="18" charset="0"/>
              </a:rPr>
              <a:t>unacceptable.</a:t>
            </a:r>
            <a:r>
              <a:rPr lang="en-US" sz="1400" dirty="0" smtClean="0">
                <a:latin typeface="Verdana" pitchFamily="34" charset="0"/>
                <a:cs typeface="Times New Roman" pitchFamily="18" charset="0"/>
              </a:rPr>
              <a:t> </a:t>
            </a:r>
          </a:p>
          <a:p>
            <a:pPr algn="just" eaLnBrk="1" hangingPunct="1">
              <a:lnSpc>
                <a:spcPct val="200000"/>
              </a:lnSpc>
            </a:pPr>
            <a:r>
              <a:rPr lang="en-US" sz="1400" dirty="0" smtClean="0">
                <a:latin typeface="Verdana" pitchFamily="34" charset="0"/>
                <a:cs typeface="Times New Roman" pitchFamily="18" charset="0"/>
              </a:rPr>
              <a:t>Designs should </a:t>
            </a:r>
            <a:r>
              <a:rPr lang="en-US" sz="1400" b="1" dirty="0" smtClean="0">
                <a:latin typeface="Verdana" pitchFamily="34" charset="0"/>
                <a:cs typeface="Times New Roman" pitchFamily="18" charset="0"/>
              </a:rPr>
              <a:t>fit effortlessly in to the situation</a:t>
            </a:r>
            <a:r>
              <a:rPr lang="en-US" sz="1400" dirty="0" smtClean="0">
                <a:latin typeface="Verdana" pitchFamily="34" charset="0"/>
                <a:cs typeface="Times New Roman" pitchFamily="18" charset="0"/>
              </a:rPr>
              <a:t>. </a:t>
            </a:r>
          </a:p>
          <a:p>
            <a:pPr algn="just" eaLnBrk="1" hangingPunct="1">
              <a:lnSpc>
                <a:spcPct val="200000"/>
              </a:lnSpc>
            </a:pPr>
            <a:r>
              <a:rPr lang="en-US" sz="1400" dirty="0" smtClean="0">
                <a:latin typeface="Verdana" pitchFamily="34" charset="0"/>
                <a:cs typeface="Times New Roman" pitchFamily="18" charset="0"/>
              </a:rPr>
              <a:t>Many people send documents electronically nowadays, but many </a:t>
            </a:r>
            <a:r>
              <a:rPr lang="en-US" sz="1400" b="1" dirty="0" smtClean="0">
                <a:latin typeface="Verdana" pitchFamily="34" charset="0"/>
                <a:cs typeface="Times New Roman" pitchFamily="18" charset="0"/>
              </a:rPr>
              <a:t>people find reading on-line unacceptable</a:t>
            </a:r>
            <a:r>
              <a:rPr lang="en-US" sz="1400" dirty="0" smtClean="0">
                <a:latin typeface="Verdana" pitchFamily="34" charset="0"/>
                <a:cs typeface="Times New Roman" pitchFamily="18" charset="0"/>
              </a:rPr>
              <a:t>. </a:t>
            </a:r>
            <a:r>
              <a:rPr lang="en-US" sz="1400" dirty="0" smtClean="0">
                <a:solidFill>
                  <a:srgbClr val="00B050"/>
                </a:solidFill>
                <a:latin typeface="Verdana" pitchFamily="34" charset="0"/>
                <a:cs typeface="Times New Roman" pitchFamily="18" charset="0"/>
              </a:rPr>
              <a:t>(prefer hardcopy)</a:t>
            </a:r>
          </a:p>
          <a:p>
            <a:pPr algn="just" eaLnBrk="1" hangingPunct="1">
              <a:lnSpc>
                <a:spcPct val="200000"/>
              </a:lnSpc>
            </a:pPr>
            <a:r>
              <a:rPr lang="en-US" sz="1400" dirty="0" smtClean="0">
                <a:latin typeface="Verdana" pitchFamily="34" charset="0"/>
                <a:cs typeface="Times New Roman" pitchFamily="18" charset="0"/>
              </a:rPr>
              <a:t>They </a:t>
            </a:r>
            <a:r>
              <a:rPr lang="en-US" sz="1400" b="1" dirty="0" smtClean="0">
                <a:latin typeface="Verdana" pitchFamily="34" charset="0"/>
                <a:cs typeface="Times New Roman" pitchFamily="18" charset="0"/>
              </a:rPr>
              <a:t>print out the document </a:t>
            </a:r>
            <a:r>
              <a:rPr lang="en-US" sz="1400" dirty="0" smtClean="0">
                <a:latin typeface="Verdana" pitchFamily="34" charset="0"/>
                <a:cs typeface="Times New Roman" pitchFamily="18" charset="0"/>
              </a:rPr>
              <a:t>because it is more convenient to carry and read.</a:t>
            </a:r>
          </a:p>
          <a:p>
            <a:pPr marL="0" indent="0" algn="ctr" eaLnBrk="1" hangingPunct="1">
              <a:lnSpc>
                <a:spcPct val="200000"/>
              </a:lnSpc>
              <a:buNone/>
            </a:pPr>
            <a:r>
              <a:rPr lang="en-US" sz="1400" dirty="0" smtClean="0">
                <a:latin typeface="Verdana" pitchFamily="34" charset="0"/>
                <a:ea typeface="ヒラギノ角ゴ Pro W3"/>
                <a:cs typeface="ヒラギノ角ゴ Pro W3"/>
              </a:rPr>
              <a:t>4)  </a:t>
            </a:r>
            <a:r>
              <a:rPr lang="en-US" sz="1400" dirty="0">
                <a:latin typeface="Verdana" pitchFamily="34" charset="0"/>
                <a:ea typeface="ヒラギノ角ゴ Pro W3"/>
                <a:cs typeface="ヒラギノ角ゴ Pro W3"/>
              </a:rPr>
              <a:t>Cultural and social </a:t>
            </a:r>
            <a:r>
              <a:rPr lang="en-US" sz="1400" dirty="0" smtClean="0">
                <a:latin typeface="Verdana" pitchFamily="34" charset="0"/>
                <a:ea typeface="ヒラギノ角ゴ Pro W3"/>
                <a:cs typeface="ヒラギノ角ゴ Pro W3"/>
              </a:rPr>
              <a:t>habits</a:t>
            </a:r>
            <a:endParaRPr lang="en-US" sz="1400" baseline="-25000" dirty="0">
              <a:latin typeface="Verdana" pitchFamily="34" charset="0"/>
              <a:cs typeface="Times New Roman" pitchFamily="18" charset="0"/>
            </a:endParaRPr>
          </a:p>
          <a:p>
            <a:pPr algn="just" eaLnBrk="1" hangingPunct="1">
              <a:lnSpc>
                <a:spcPct val="200000"/>
              </a:lnSpc>
            </a:pPr>
            <a:r>
              <a:rPr lang="en-US" sz="1400" b="1" dirty="0">
                <a:latin typeface="Verdana" pitchFamily="34" charset="0"/>
                <a:cs typeface="Times New Roman" pitchFamily="18" charset="0"/>
              </a:rPr>
              <a:t>If political acceptability is concerned with </a:t>
            </a:r>
            <a:r>
              <a:rPr lang="en-US" sz="1400" dirty="0">
                <a:latin typeface="Verdana" pitchFamily="34" charset="0"/>
                <a:cs typeface="Times New Roman" pitchFamily="18" charset="0"/>
              </a:rPr>
              <a:t>power structures and principles, </a:t>
            </a:r>
            <a:r>
              <a:rPr lang="en-US" sz="1400" b="1" dirty="0">
                <a:latin typeface="Verdana" pitchFamily="34" charset="0"/>
                <a:cs typeface="Times New Roman" pitchFamily="18" charset="0"/>
              </a:rPr>
              <a:t>cultural and social habits are concerned with</a:t>
            </a:r>
            <a:r>
              <a:rPr lang="en-US" sz="1400" dirty="0">
                <a:latin typeface="Verdana" pitchFamily="34" charset="0"/>
                <a:cs typeface="Times New Roman" pitchFamily="18" charset="0"/>
              </a:rPr>
              <a:t> the way people like to live. </a:t>
            </a:r>
          </a:p>
          <a:p>
            <a:pPr algn="just" eaLnBrk="1" hangingPunct="1">
              <a:lnSpc>
                <a:spcPct val="200000"/>
              </a:lnSpc>
            </a:pPr>
            <a:r>
              <a:rPr lang="en-US" sz="1400" dirty="0">
                <a:latin typeface="Verdana" pitchFamily="34" charset="0"/>
                <a:cs typeface="Times New Roman" pitchFamily="18" charset="0"/>
              </a:rPr>
              <a:t>It is </a:t>
            </a:r>
            <a:r>
              <a:rPr lang="en-US" sz="1400" b="1" dirty="0">
                <a:latin typeface="Verdana" pitchFamily="34" charset="0"/>
                <a:cs typeface="Times New Roman" pitchFamily="18" charset="0"/>
              </a:rPr>
              <a:t>rude to disturb other people</a:t>
            </a:r>
            <a:r>
              <a:rPr lang="en-US" sz="1400" dirty="0">
                <a:latin typeface="Verdana" pitchFamily="34" charset="0"/>
                <a:cs typeface="Times New Roman" pitchFamily="18" charset="0"/>
              </a:rPr>
              <a:t>, for example</a:t>
            </a:r>
          </a:p>
          <a:p>
            <a:pPr algn="just" eaLnBrk="1" hangingPunct="1">
              <a:lnSpc>
                <a:spcPct val="200000"/>
              </a:lnSpc>
            </a:pPr>
            <a:r>
              <a:rPr lang="en-US" sz="1400" dirty="0">
                <a:latin typeface="Verdana" pitchFamily="34" charset="0"/>
                <a:cs typeface="Times New Roman" pitchFamily="18" charset="0"/>
              </a:rPr>
              <a:t>People like to engage with social media such as Twitter, but may find the insulting comments of </a:t>
            </a:r>
            <a:r>
              <a:rPr lang="en-US" sz="1400" b="1" dirty="0">
                <a:latin typeface="Verdana" pitchFamily="34" charset="0"/>
                <a:cs typeface="Times New Roman" pitchFamily="18" charset="0"/>
              </a:rPr>
              <a:t>internet ‘trolls’ unacceptable</a:t>
            </a:r>
            <a:r>
              <a:rPr lang="en-US" sz="1400" dirty="0" smtClean="0">
                <a:latin typeface="Verdana" pitchFamily="34" charset="0"/>
                <a:cs typeface="Times New Roman" pitchFamily="18" charset="0"/>
              </a:rPr>
              <a:t>.</a:t>
            </a:r>
            <a:endParaRPr lang="en-US" sz="1400" baseline="-25000" dirty="0" smtClean="0">
              <a:latin typeface="Verdana" pitchFamily="34"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a:xfrm>
            <a:off x="457200" y="274638"/>
            <a:ext cx="8229600" cy="860647"/>
          </a:xfrm>
        </p:spPr>
        <p:txBody>
          <a:bodyPr/>
          <a:lstStyle/>
          <a:p>
            <a:pPr eaLnBrk="1" hangingPunct="1">
              <a:lnSpc>
                <a:spcPct val="120000"/>
              </a:lnSpc>
            </a:pPr>
            <a:r>
              <a:rPr lang="en-US" sz="1500" dirty="0" smtClean="0">
                <a:latin typeface="Verdana" pitchFamily="34" charset="0"/>
                <a:ea typeface="ヒラギノ角ゴ Pro W3"/>
                <a:cs typeface="ヒラギノ角ゴ Pro W3"/>
              </a:rPr>
              <a:t>5)  Economic acceptability</a:t>
            </a:r>
          </a:p>
        </p:txBody>
      </p:sp>
      <p:sp>
        <p:nvSpPr>
          <p:cNvPr id="44034" name="Text Placeholder 2"/>
          <p:cNvSpPr>
            <a:spLocks noGrp="1"/>
          </p:cNvSpPr>
          <p:nvPr>
            <p:ph type="body" idx="1"/>
          </p:nvPr>
        </p:nvSpPr>
        <p:spPr>
          <a:xfrm>
            <a:off x="457200" y="1135285"/>
            <a:ext cx="8229600" cy="5102027"/>
          </a:xfrm>
        </p:spPr>
        <p:txBody>
          <a:bodyPr/>
          <a:lstStyle/>
          <a:p>
            <a:pPr algn="just" eaLnBrk="1" hangingPunct="1">
              <a:lnSpc>
                <a:spcPct val="200000"/>
              </a:lnSpc>
            </a:pPr>
            <a:r>
              <a:rPr lang="en-US" sz="1500" dirty="0" smtClean="0">
                <a:latin typeface="Verdana" pitchFamily="34" charset="0"/>
                <a:cs typeface="Times New Roman" pitchFamily="18" charset="0"/>
              </a:rPr>
              <a:t>There are many </a:t>
            </a:r>
            <a:r>
              <a:rPr lang="en-US" sz="1500" b="1" dirty="0" smtClean="0">
                <a:latin typeface="Verdana" pitchFamily="34" charset="0"/>
                <a:cs typeface="Times New Roman" pitchFamily="18" charset="0"/>
              </a:rPr>
              <a:t>economic issues </a:t>
            </a:r>
            <a:r>
              <a:rPr lang="en-US" sz="1500" dirty="0" smtClean="0">
                <a:latin typeface="Verdana" pitchFamily="34" charset="0"/>
                <a:cs typeface="Times New Roman" pitchFamily="18" charset="0"/>
              </a:rPr>
              <a:t>that render some </a:t>
            </a:r>
            <a:r>
              <a:rPr lang="en-US" sz="1500" b="1" dirty="0" smtClean="0">
                <a:latin typeface="Verdana" pitchFamily="34" charset="0"/>
                <a:cs typeface="Times New Roman" pitchFamily="18" charset="0"/>
              </a:rPr>
              <a:t>technology acceptable or not. </a:t>
            </a:r>
          </a:p>
          <a:p>
            <a:pPr algn="just" eaLnBrk="1" hangingPunct="1">
              <a:lnSpc>
                <a:spcPct val="200000"/>
              </a:lnSpc>
            </a:pPr>
            <a:r>
              <a:rPr lang="en-US" sz="1500" b="1" dirty="0" smtClean="0">
                <a:latin typeface="Verdana" pitchFamily="34" charset="0"/>
                <a:cs typeface="Times New Roman" pitchFamily="18" charset="0"/>
              </a:rPr>
              <a:t>Price is the obvious one </a:t>
            </a:r>
            <a:r>
              <a:rPr lang="en-US" sz="1500" dirty="0" smtClean="0">
                <a:latin typeface="Verdana" pitchFamily="34" charset="0"/>
                <a:cs typeface="Times New Roman" pitchFamily="18" charset="0"/>
              </a:rPr>
              <a:t>and </a:t>
            </a:r>
            <a:r>
              <a:rPr lang="en-US" sz="1500" b="1" dirty="0" smtClean="0">
                <a:latin typeface="Verdana" pitchFamily="34" charset="0"/>
                <a:cs typeface="Times New Roman" pitchFamily="18" charset="0"/>
              </a:rPr>
              <a:t>whether the technology offers value for money</a:t>
            </a:r>
            <a:r>
              <a:rPr lang="en-US" sz="1500" dirty="0" smtClean="0">
                <a:latin typeface="Verdana" pitchFamily="34" charset="0"/>
                <a:cs typeface="Times New Roman" pitchFamily="18" charset="0"/>
              </a:rPr>
              <a:t>. </a:t>
            </a:r>
            <a:r>
              <a:rPr lang="en-US" sz="1500" dirty="0" smtClean="0">
                <a:solidFill>
                  <a:srgbClr val="00B050"/>
                </a:solidFill>
                <a:latin typeface="Verdana" pitchFamily="34" charset="0"/>
                <a:cs typeface="Times New Roman" pitchFamily="18" charset="0"/>
              </a:rPr>
              <a:t>(over-expensive cellphone/cars) </a:t>
            </a:r>
          </a:p>
          <a:p>
            <a:pPr algn="just" eaLnBrk="1" hangingPunct="1">
              <a:lnSpc>
                <a:spcPct val="200000"/>
              </a:lnSpc>
            </a:pPr>
            <a:r>
              <a:rPr lang="en-US" sz="1500" dirty="0" smtClean="0">
                <a:latin typeface="Verdana" pitchFamily="34" charset="0"/>
                <a:cs typeface="Times New Roman" pitchFamily="18" charset="0"/>
              </a:rPr>
              <a:t>But the </a:t>
            </a:r>
            <a:r>
              <a:rPr lang="en-US" sz="1500" b="1" dirty="0" smtClean="0">
                <a:latin typeface="Verdana" pitchFamily="34" charset="0"/>
                <a:cs typeface="Times New Roman" pitchFamily="18" charset="0"/>
              </a:rPr>
              <a:t>economic issues go further </a:t>
            </a:r>
            <a:r>
              <a:rPr lang="en-US" sz="1500" dirty="0" smtClean="0">
                <a:latin typeface="Verdana" pitchFamily="34" charset="0"/>
                <a:cs typeface="Times New Roman" pitchFamily="18" charset="0"/>
              </a:rPr>
              <a:t>than that as the </a:t>
            </a:r>
            <a:r>
              <a:rPr lang="en-US" sz="1500" b="1" dirty="0" smtClean="0">
                <a:latin typeface="Verdana" pitchFamily="34" charset="0"/>
                <a:cs typeface="Times New Roman" pitchFamily="18" charset="0"/>
              </a:rPr>
              <a:t>introduction of new technologies may completely change the way businesses work and how they make money</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A new ‘business model’ is often a part of economic acceptability. </a:t>
            </a:r>
          </a:p>
          <a:p>
            <a:pPr algn="just" eaLnBrk="1" hangingPunct="1">
              <a:lnSpc>
                <a:spcPct val="200000"/>
              </a:lnSpc>
            </a:pPr>
            <a:r>
              <a:rPr lang="en-US" sz="1500" dirty="0" smtClean="0">
                <a:latin typeface="Verdana" pitchFamily="34" charset="0"/>
                <a:cs typeface="Times New Roman" pitchFamily="18" charset="0"/>
              </a:rPr>
              <a:t>Don Norman </a:t>
            </a:r>
            <a:r>
              <a:rPr lang="en-US" sz="1500" b="1" dirty="0" smtClean="0">
                <a:latin typeface="Verdana" pitchFamily="34" charset="0"/>
                <a:cs typeface="Times New Roman" pitchFamily="18" charset="0"/>
              </a:rPr>
              <a:t>characterizes the situation for a successful technology as a stool </a:t>
            </a:r>
            <a:r>
              <a:rPr lang="en-US" sz="1500" dirty="0" smtClean="0">
                <a:latin typeface="Verdana" pitchFamily="34" charset="0"/>
                <a:cs typeface="Times New Roman" pitchFamily="18" charset="0"/>
              </a:rPr>
              <a:t>with three legs: </a:t>
            </a:r>
            <a:r>
              <a:rPr lang="en-US" sz="1500" b="1" dirty="0" smtClean="0">
                <a:latin typeface="Verdana" pitchFamily="34" charset="0"/>
                <a:cs typeface="Times New Roman" pitchFamily="18" charset="0"/>
              </a:rPr>
              <a:t>user experience, marketing and technology </a:t>
            </a:r>
            <a:endParaRPr lang="en-US" sz="1500" b="1" baseline="-25000" dirty="0" smtClean="0">
              <a:latin typeface="Verdana" pitchFamily="34"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a:xfrm>
            <a:off x="457200" y="274638"/>
            <a:ext cx="8229600" cy="1143000"/>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Design principles</a:t>
            </a:r>
          </a:p>
        </p:txBody>
      </p:sp>
      <p:sp>
        <p:nvSpPr>
          <p:cNvPr id="45058" name="Text Placeholder 2"/>
          <p:cNvSpPr>
            <a:spLocks noGrp="1"/>
          </p:cNvSpPr>
          <p:nvPr>
            <p:ph type="body" idx="1"/>
          </p:nvPr>
        </p:nvSpPr>
        <p:spPr>
          <a:xfrm>
            <a:off x="446856" y="1196752"/>
            <a:ext cx="8229600" cy="5040560"/>
          </a:xfrm>
        </p:spPr>
        <p:txBody>
          <a:bodyPr/>
          <a:lstStyle/>
          <a:p>
            <a:pPr algn="just" eaLnBrk="1" hangingPunct="1">
              <a:lnSpc>
                <a:spcPct val="200000"/>
              </a:lnSpc>
            </a:pPr>
            <a:r>
              <a:rPr lang="en-US" sz="1500" dirty="0" smtClean="0">
                <a:latin typeface="Verdana" pitchFamily="34" charset="0"/>
                <a:cs typeface="Times New Roman" pitchFamily="18" charset="0"/>
              </a:rPr>
              <a:t>Over the years many principles of good interactive system design have been developed. Design principles can be very broad or they can be more specific. </a:t>
            </a:r>
          </a:p>
          <a:p>
            <a:pPr algn="just" eaLnBrk="1" hangingPunct="1">
              <a:lnSpc>
                <a:spcPct val="200000"/>
              </a:lnSpc>
            </a:pPr>
            <a:r>
              <a:rPr lang="en-US" sz="1500" dirty="0" smtClean="0">
                <a:latin typeface="Verdana" pitchFamily="34" charset="0"/>
                <a:cs typeface="Times New Roman" pitchFamily="18" charset="0"/>
              </a:rPr>
              <a:t>There are also good design principles that derive from psychology such as ‘minimize memory load’ (i.e. do not expect people to remember too much). </a:t>
            </a:r>
          </a:p>
          <a:p>
            <a:pPr algn="just" eaLnBrk="1" hangingPunct="1">
              <a:lnSpc>
                <a:spcPct val="20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application of design principles has led to established design guidelines and patterns of interaction in certain circumstances</a:t>
            </a:r>
            <a:r>
              <a:rPr lang="en-US" sz="1500" dirty="0" smtClean="0">
                <a:latin typeface="Verdana" pitchFamily="34" charset="0"/>
                <a:cs typeface="Times New Roman" pitchFamily="18" charset="0"/>
              </a:rPr>
              <a:t> such as the ‘undo’ command in a Windows application, the ‘back’ button on a website or the greying-out of inappropriate options on menus.</a:t>
            </a:r>
          </a:p>
          <a:p>
            <a:pPr algn="just" eaLnBrk="1" hangingPunct="1">
              <a:lnSpc>
                <a:spcPct val="200000"/>
              </a:lnSpc>
            </a:pPr>
            <a:r>
              <a:rPr lang="en-US" sz="1500" dirty="0" smtClean="0">
                <a:latin typeface="Verdana" pitchFamily="34" charset="0"/>
                <a:cs typeface="Times New Roman" pitchFamily="18" charset="0"/>
              </a:rPr>
              <a:t>Design principles can guide the designer during the design process and can be used to evaluate and critique prototype design ideas.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457200" y="116632"/>
            <a:ext cx="8229600" cy="936104"/>
          </a:xfrm>
        </p:spPr>
        <p:txBody>
          <a:bodyPr/>
          <a:lstStyle/>
          <a:p>
            <a:pPr eaLnBrk="1" hangingPunct="1">
              <a:lnSpc>
                <a:spcPct val="120000"/>
              </a:lnSpc>
            </a:pPr>
            <a:r>
              <a:rPr lang="en-US" sz="2000" dirty="0" smtClean="0">
                <a:latin typeface="Verdana" pitchFamily="34" charset="0"/>
                <a:ea typeface="ヒラギノ角ゴ Pro W3"/>
                <a:cs typeface="ヒラギノ角ゴ Pro W3"/>
              </a:rPr>
              <a:t>Designing </a:t>
            </a:r>
            <a:r>
              <a:rPr lang="en-US" sz="2000" dirty="0">
                <a:latin typeface="Verdana" pitchFamily="34" charset="0"/>
                <a:ea typeface="ヒラギノ角ゴ Pro W3"/>
                <a:cs typeface="ヒラギノ角ゴ Pro W3"/>
              </a:rPr>
              <a:t>user experience from a human-</a:t>
            </a:r>
            <a:r>
              <a:rPr lang="en-US" sz="2000" dirty="0" err="1">
                <a:latin typeface="Verdana" pitchFamily="34" charset="0"/>
                <a:ea typeface="ヒラギノ角ゴ Pro W3"/>
                <a:cs typeface="ヒラギノ角ゴ Pro W3"/>
              </a:rPr>
              <a:t>centred</a:t>
            </a:r>
            <a:r>
              <a:rPr lang="en-US" sz="2000" dirty="0">
                <a:latin typeface="Verdana" pitchFamily="34" charset="0"/>
                <a:ea typeface="ヒラギノ角ゴ Pro W3"/>
                <a:cs typeface="ヒラギノ角ゴ Pro W3"/>
              </a:rPr>
              <a:t> perspective</a:t>
            </a:r>
            <a:r>
              <a:rPr lang="en-US" sz="2000" dirty="0" smtClean="0">
                <a:latin typeface="Verdana" pitchFamily="34" charset="0"/>
                <a:ea typeface="ヒラギノ角ゴ Pro W3"/>
                <a:cs typeface="ヒラギノ角ゴ Pro W3"/>
              </a:rPr>
              <a:t/>
            </a:r>
            <a:br>
              <a:rPr lang="en-US" sz="2000" dirty="0" smtClean="0">
                <a:latin typeface="Verdana" pitchFamily="34" charset="0"/>
                <a:ea typeface="ヒラギノ角ゴ Pro W3"/>
                <a:cs typeface="ヒラギノ角ゴ Pro W3"/>
              </a:rPr>
            </a:br>
            <a:r>
              <a:rPr lang="en-US" sz="2000" b="1" dirty="0" smtClean="0">
                <a:solidFill>
                  <a:srgbClr val="FF0000"/>
                </a:solidFill>
                <a:latin typeface="Verdana" pitchFamily="34" charset="0"/>
                <a:ea typeface="ヒラギノ角ゴ Pro W3"/>
                <a:cs typeface="ヒラギノ角ゴ Pro W3"/>
              </a:rPr>
              <a:t>(provided in pdf document as well)</a:t>
            </a:r>
          </a:p>
        </p:txBody>
      </p:sp>
      <p:sp>
        <p:nvSpPr>
          <p:cNvPr id="46082" name="Text Placeholder 2"/>
          <p:cNvSpPr>
            <a:spLocks noGrp="1"/>
          </p:cNvSpPr>
          <p:nvPr>
            <p:ph type="body" idx="1"/>
          </p:nvPr>
        </p:nvSpPr>
        <p:spPr>
          <a:xfrm>
            <a:off x="390364" y="1220024"/>
            <a:ext cx="8363272" cy="5112568"/>
          </a:xfrm>
        </p:spPr>
        <p:txBody>
          <a:bodyPr/>
          <a:lstStyle/>
          <a:p>
            <a:pPr algn="just" eaLnBrk="1" hangingPunct="1">
              <a:lnSpc>
                <a:spcPct val="150000"/>
              </a:lnSpc>
            </a:pPr>
            <a:r>
              <a:rPr lang="en-US" sz="1500" dirty="0" smtClean="0">
                <a:latin typeface="Verdana" pitchFamily="34" charset="0"/>
                <a:cs typeface="Times New Roman" pitchFamily="18" charset="0"/>
              </a:rPr>
              <a:t>All the principles interact in complex ways, affecting each other, sometimes conflicting with each other and sometimes enhancing each other. </a:t>
            </a:r>
          </a:p>
          <a:p>
            <a:pPr algn="just" eaLnBrk="1" hangingPunct="1">
              <a:lnSpc>
                <a:spcPct val="150000"/>
              </a:lnSpc>
            </a:pPr>
            <a:r>
              <a:rPr lang="en-US" sz="1500" dirty="0" smtClean="0">
                <a:latin typeface="Verdana" pitchFamily="34" charset="0"/>
                <a:cs typeface="Times New Roman" pitchFamily="18" charset="0"/>
              </a:rPr>
              <a:t>But they help to orientate the designer to key features of good design and sensitize the designer to important issues.</a:t>
            </a:r>
          </a:p>
          <a:p>
            <a:pPr algn="just" eaLnBrk="1" hangingPunct="1">
              <a:lnSpc>
                <a:spcPct val="150000"/>
              </a:lnSpc>
            </a:pPr>
            <a:r>
              <a:rPr lang="en-US" sz="1500" dirty="0" smtClean="0">
                <a:latin typeface="Verdana" pitchFamily="34" charset="0"/>
                <a:cs typeface="Times New Roman" pitchFamily="18" charset="0"/>
              </a:rPr>
              <a:t>For ease of memorizing and use we have grouped them into three main categories – learnability, effectiveness and accommodation – but these groupings are not rigid. Systems should be learnable, effective </a:t>
            </a:r>
            <a:r>
              <a:rPr lang="en-US" sz="1500" i="1" dirty="0" smtClean="0">
                <a:latin typeface="Verdana" pitchFamily="34" charset="0"/>
                <a:cs typeface="Times New Roman" pitchFamily="18" charset="0"/>
              </a:rPr>
              <a:t>and accommodating.</a:t>
            </a:r>
          </a:p>
          <a:p>
            <a:pPr algn="just" eaLnBrk="1" hangingPunct="1">
              <a:lnSpc>
                <a:spcPct val="150000"/>
              </a:lnSpc>
            </a:pPr>
            <a:r>
              <a:rPr lang="en-US" sz="1500" dirty="0" smtClean="0">
                <a:latin typeface="Verdana" pitchFamily="34" charset="0"/>
                <a:cs typeface="Times New Roman" pitchFamily="18" charset="0"/>
              </a:rPr>
              <a:t>Principles 1–4 are concerned with access, ease of learning and remembering (learnability).</a:t>
            </a:r>
          </a:p>
          <a:p>
            <a:pPr algn="just" eaLnBrk="1" hangingPunct="1">
              <a:lnSpc>
                <a:spcPct val="150000"/>
              </a:lnSpc>
            </a:pPr>
            <a:r>
              <a:rPr lang="en-US" sz="1500" dirty="0" smtClean="0">
                <a:latin typeface="Verdana" pitchFamily="34" charset="0"/>
                <a:cs typeface="Times New Roman" pitchFamily="18" charset="0"/>
              </a:rPr>
              <a:t>Principles 5–7 are concerned with ease of use, and principles 8 and 9 are concerned with safety (effectiveness).</a:t>
            </a:r>
          </a:p>
          <a:p>
            <a:pPr algn="just" eaLnBrk="1" hangingPunct="1">
              <a:lnSpc>
                <a:spcPct val="150000"/>
              </a:lnSpc>
            </a:pPr>
            <a:r>
              <a:rPr lang="en-US" sz="1500" dirty="0" smtClean="0">
                <a:latin typeface="Verdana" pitchFamily="34" charset="0"/>
                <a:cs typeface="Times New Roman" pitchFamily="18" charset="0"/>
              </a:rPr>
              <a:t>Principles 10–12 are concerned with accommodating differences between people and respecting those differences (accommodation).</a:t>
            </a:r>
            <a:endParaRPr lang="en-US" sz="1500" baseline="-25000" dirty="0" smtClean="0">
              <a:latin typeface="Verdana" pitchFamily="34"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pPr eaLnBrk="1" hangingPunct="1">
              <a:lnSpc>
                <a:spcPct val="120000"/>
              </a:lnSpc>
            </a:pPr>
            <a:r>
              <a:rPr lang="en-US" sz="1500" dirty="0" smtClean="0">
                <a:latin typeface="Verdana" pitchFamily="34" charset="0"/>
                <a:ea typeface="ヒラギノ角ゴ Pro W3"/>
                <a:cs typeface="ヒラギノ角ゴ Pro W3"/>
              </a:rPr>
              <a:t>1 Visibility </a:t>
            </a:r>
          </a:p>
        </p:txBody>
      </p:sp>
      <p:sp>
        <p:nvSpPr>
          <p:cNvPr id="47106" name="Text Placeholder 2"/>
          <p:cNvSpPr>
            <a:spLocks noGrp="1"/>
          </p:cNvSpPr>
          <p:nvPr>
            <p:ph type="body" idx="1"/>
          </p:nvPr>
        </p:nvSpPr>
        <p:spPr>
          <a:xfrm>
            <a:off x="467544" y="1312168"/>
            <a:ext cx="8229600" cy="4997152"/>
          </a:xfrm>
        </p:spPr>
        <p:txBody>
          <a:bodyPr/>
          <a:lstStyle/>
          <a:p>
            <a:pPr eaLnBrk="1" hangingPunct="1">
              <a:lnSpc>
                <a:spcPct val="200000"/>
              </a:lnSpc>
            </a:pPr>
            <a:r>
              <a:rPr lang="en-US" sz="1500" dirty="0" smtClean="0">
                <a:latin typeface="Verdana" pitchFamily="34" charset="0"/>
                <a:cs typeface="Times New Roman" pitchFamily="18" charset="0"/>
              </a:rPr>
              <a:t>Try to ensure that </a:t>
            </a:r>
            <a:r>
              <a:rPr lang="en-US" sz="1500" b="1" dirty="0" smtClean="0">
                <a:latin typeface="Verdana" pitchFamily="34" charset="0"/>
                <a:cs typeface="Times New Roman" pitchFamily="18" charset="0"/>
              </a:rPr>
              <a:t>things are visible</a:t>
            </a:r>
            <a:r>
              <a:rPr lang="en-US" sz="1500" dirty="0" smtClean="0">
                <a:latin typeface="Verdana" pitchFamily="34" charset="0"/>
                <a:cs typeface="Times New Roman" pitchFamily="18" charset="0"/>
              </a:rPr>
              <a:t> so that people can see what </a:t>
            </a:r>
            <a:r>
              <a:rPr lang="en-US" sz="1500" b="1" dirty="0" smtClean="0">
                <a:latin typeface="Verdana" pitchFamily="34" charset="0"/>
                <a:cs typeface="Times New Roman" pitchFamily="18" charset="0"/>
              </a:rPr>
              <a:t>functions are available and what the system is currently doing.</a:t>
            </a:r>
            <a:r>
              <a:rPr lang="en-US" sz="1500" dirty="0" smtClean="0">
                <a:latin typeface="Verdana" pitchFamily="34" charset="0"/>
                <a:cs typeface="Times New Roman" pitchFamily="18" charset="0"/>
              </a:rPr>
              <a:t> </a:t>
            </a:r>
          </a:p>
          <a:p>
            <a:pPr eaLnBrk="1" hangingPunct="1">
              <a:lnSpc>
                <a:spcPct val="200000"/>
              </a:lnSpc>
            </a:pPr>
            <a:r>
              <a:rPr lang="en-US" sz="1500" dirty="0" smtClean="0">
                <a:latin typeface="Verdana" pitchFamily="34" charset="0"/>
                <a:cs typeface="Times New Roman" pitchFamily="18" charset="0"/>
              </a:rPr>
              <a:t>This is an important part of the psychological principle that it is </a:t>
            </a:r>
            <a:r>
              <a:rPr lang="en-US" sz="1500" b="1" dirty="0" smtClean="0">
                <a:latin typeface="Verdana" pitchFamily="34" charset="0"/>
                <a:cs typeface="Times New Roman" pitchFamily="18" charset="0"/>
              </a:rPr>
              <a:t>easier to recognize</a:t>
            </a:r>
            <a:r>
              <a:rPr lang="en-US" sz="1500" dirty="0" smtClean="0">
                <a:latin typeface="Verdana" pitchFamily="34" charset="0"/>
                <a:cs typeface="Times New Roman" pitchFamily="18" charset="0"/>
              </a:rPr>
              <a:t> things than to have to recall them. </a:t>
            </a:r>
          </a:p>
          <a:p>
            <a:pPr eaLnBrk="1" hangingPunct="1">
              <a:lnSpc>
                <a:spcPct val="200000"/>
              </a:lnSpc>
            </a:pPr>
            <a:r>
              <a:rPr lang="en-US" sz="1500" dirty="0" smtClean="0">
                <a:latin typeface="Verdana" pitchFamily="34" charset="0"/>
                <a:cs typeface="Times New Roman" pitchFamily="18" charset="0"/>
              </a:rPr>
              <a:t>If it is not possible to make it visible, make it observable. </a:t>
            </a:r>
          </a:p>
          <a:p>
            <a:pPr eaLnBrk="1" hangingPunct="1">
              <a:lnSpc>
                <a:spcPct val="200000"/>
              </a:lnSpc>
            </a:pPr>
            <a:r>
              <a:rPr lang="en-US" sz="1500" dirty="0" smtClean="0">
                <a:latin typeface="Verdana" pitchFamily="34" charset="0"/>
                <a:cs typeface="Times New Roman" pitchFamily="18" charset="0"/>
              </a:rPr>
              <a:t>Consider making things ‘visible’ through the </a:t>
            </a:r>
            <a:r>
              <a:rPr lang="en-US" sz="1500" b="1" dirty="0" smtClean="0">
                <a:latin typeface="Verdana" pitchFamily="34" charset="0"/>
                <a:cs typeface="Times New Roman" pitchFamily="18" charset="0"/>
              </a:rPr>
              <a:t>use of sound and touch</a:t>
            </a:r>
            <a:r>
              <a:rPr lang="en-US" sz="1500" dirty="0" smtClean="0">
                <a:latin typeface="Verdana" pitchFamily="34" charset="0"/>
                <a:cs typeface="Times New Roman" pitchFamily="18" charset="0"/>
              </a:rPr>
              <a:t>.</a:t>
            </a:r>
          </a:p>
          <a:p>
            <a:pPr eaLnBrk="1" hangingPunct="1">
              <a:lnSpc>
                <a:spcPct val="200000"/>
              </a:lnSpc>
            </a:pPr>
            <a:r>
              <a:rPr lang="en-US" sz="1500" b="1" dirty="0">
                <a:latin typeface="Verdana" pitchFamily="34" charset="0"/>
                <a:cs typeface="Times New Roman" pitchFamily="18" charset="0"/>
              </a:rPr>
              <a:t>non-clashing colors and the careful </a:t>
            </a:r>
            <a:r>
              <a:rPr lang="en-US" sz="1500" b="1" dirty="0" smtClean="0">
                <a:latin typeface="Verdana" pitchFamily="34" charset="0"/>
                <a:cs typeface="Times New Roman" pitchFamily="18" charset="0"/>
              </a:rPr>
              <a:t>layout</a:t>
            </a:r>
            <a:endParaRPr lang="en-US" sz="1500" b="1" dirty="0">
              <a:latin typeface="Verdana" pitchFamily="34" charset="0"/>
              <a:cs typeface="Times New Roman" pitchFamily="18" charset="0"/>
            </a:endParaRPr>
          </a:p>
          <a:p>
            <a:pPr marL="0" indent="0" eaLnBrk="1" hangingPunct="1">
              <a:lnSpc>
                <a:spcPct val="200000"/>
              </a:lnSpc>
              <a:buNone/>
            </a:pPr>
            <a:r>
              <a:rPr lang="en-US" sz="1500" dirty="0" smtClean="0">
                <a:solidFill>
                  <a:srgbClr val="00B050"/>
                </a:solidFill>
                <a:latin typeface="Verdana" pitchFamily="34" charset="0"/>
                <a:cs typeface="Times New Roman" pitchFamily="18" charset="0"/>
              </a:rPr>
              <a:t>“You </a:t>
            </a:r>
            <a:r>
              <a:rPr lang="en-US" sz="1500" dirty="0">
                <a:solidFill>
                  <a:srgbClr val="00B050"/>
                </a:solidFill>
                <a:latin typeface="Verdana" pitchFamily="34" charset="0"/>
                <a:cs typeface="Times New Roman" pitchFamily="18" charset="0"/>
              </a:rPr>
              <a:t>Are Here” indicators on mall maps show people where they currently are, to help them understand where to go next.</a:t>
            </a:r>
            <a:endParaRPr lang="en-US" sz="1500" dirty="0" smtClean="0">
              <a:solidFill>
                <a:srgbClr val="00B050"/>
              </a:solidFill>
              <a:latin typeface="Verdana" pitchFamily="34"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ea typeface="ヒラギノ角ゴ Pro W3"/>
                <a:cs typeface="ヒラギノ角ゴ Pro W3"/>
              </a:rPr>
              <a:t>2 Consistency </a:t>
            </a:r>
          </a:p>
        </p:txBody>
      </p:sp>
      <p:sp>
        <p:nvSpPr>
          <p:cNvPr id="48130" name="Text Placeholder 2"/>
          <p:cNvSpPr>
            <a:spLocks noGrp="1"/>
          </p:cNvSpPr>
          <p:nvPr>
            <p:ph type="body" idx="1"/>
          </p:nvPr>
        </p:nvSpPr>
        <p:spPr>
          <a:xfrm>
            <a:off x="457200" y="1196752"/>
            <a:ext cx="8229600" cy="4968552"/>
          </a:xfrm>
        </p:spPr>
        <p:txBody>
          <a:bodyPr/>
          <a:lstStyle/>
          <a:p>
            <a:pPr eaLnBrk="1" hangingPunct="1">
              <a:lnSpc>
                <a:spcPct val="120000"/>
              </a:lnSpc>
            </a:pPr>
            <a:r>
              <a:rPr lang="en-US" sz="1500" dirty="0" smtClean="0">
                <a:latin typeface="Verdana" pitchFamily="34" charset="0"/>
                <a:cs typeface="Times New Roman" pitchFamily="18" charset="0"/>
              </a:rPr>
              <a:t>Be consistent in the use of design features and be consistent with similar systems and standard ways of working. </a:t>
            </a:r>
          </a:p>
          <a:p>
            <a:pPr eaLnBrk="1" hangingPunct="1">
              <a:lnSpc>
                <a:spcPct val="120000"/>
              </a:lnSpc>
            </a:pPr>
            <a:r>
              <a:rPr lang="en-US" sz="1500" dirty="0" smtClean="0">
                <a:latin typeface="Verdana" pitchFamily="34" charset="0"/>
                <a:cs typeface="Times New Roman" pitchFamily="18" charset="0"/>
              </a:rPr>
              <a:t>Consistency can be something of a </a:t>
            </a:r>
            <a:r>
              <a:rPr lang="en-US" sz="1500" b="1" dirty="0" smtClean="0">
                <a:latin typeface="Verdana" pitchFamily="34" charset="0"/>
                <a:cs typeface="Times New Roman" pitchFamily="18" charset="0"/>
              </a:rPr>
              <a:t>slippery concept</a:t>
            </a:r>
            <a:r>
              <a:rPr lang="en-US" sz="1500" dirty="0" smtClean="0">
                <a:latin typeface="Verdana" pitchFamily="34" charset="0"/>
                <a:cs typeface="Times New Roman" pitchFamily="18" charset="0"/>
              </a:rPr>
              <a:t>.</a:t>
            </a:r>
          </a:p>
          <a:p>
            <a:pPr eaLnBrk="1" hangingPunct="1">
              <a:lnSpc>
                <a:spcPct val="120000"/>
              </a:lnSpc>
            </a:pPr>
            <a:r>
              <a:rPr lang="en-US" sz="1500" dirty="0" smtClean="0">
                <a:latin typeface="Verdana" pitchFamily="34" charset="0"/>
                <a:cs typeface="Times New Roman" pitchFamily="18" charset="0"/>
              </a:rPr>
              <a:t>A design will be consistent with respect to some things but may be inconsistent with respect to others.</a:t>
            </a:r>
          </a:p>
          <a:p>
            <a:pPr eaLnBrk="1" hangingPunct="1">
              <a:lnSpc>
                <a:spcPct val="120000"/>
              </a:lnSpc>
            </a:pPr>
            <a:r>
              <a:rPr lang="en-US" sz="1500" dirty="0" smtClean="0">
                <a:latin typeface="Verdana" pitchFamily="34" charset="0"/>
                <a:cs typeface="Times New Roman" pitchFamily="18" charset="0"/>
              </a:rPr>
              <a:t> There are </a:t>
            </a:r>
            <a:r>
              <a:rPr lang="en-US" sz="1500" b="1" dirty="0" smtClean="0">
                <a:latin typeface="Verdana" pitchFamily="34" charset="0"/>
                <a:cs typeface="Times New Roman" pitchFamily="18" charset="0"/>
              </a:rPr>
              <a:t>also times when to be inconsistent is a good thing because it draws people’s attention </a:t>
            </a:r>
            <a:r>
              <a:rPr lang="en-US" sz="1500" dirty="0" smtClean="0">
                <a:latin typeface="Verdana" pitchFamily="34" charset="0"/>
                <a:cs typeface="Times New Roman" pitchFamily="18" charset="0"/>
              </a:rPr>
              <a:t>to something that is important.</a:t>
            </a:r>
          </a:p>
          <a:p>
            <a:pPr eaLnBrk="1" hangingPunct="1">
              <a:lnSpc>
                <a:spcPct val="120000"/>
              </a:lnSpc>
            </a:pPr>
            <a:r>
              <a:rPr lang="en-US" sz="1500" dirty="0" smtClean="0">
                <a:latin typeface="Verdana" pitchFamily="34" charset="0"/>
                <a:cs typeface="Times New Roman" pitchFamily="18" charset="0"/>
              </a:rPr>
              <a:t> The difference between </a:t>
            </a:r>
            <a:r>
              <a:rPr lang="en-US" sz="1500" b="1" dirty="0" smtClean="0">
                <a:latin typeface="Verdana" pitchFamily="34" charset="0"/>
                <a:cs typeface="Times New Roman" pitchFamily="18" charset="0"/>
              </a:rPr>
              <a:t>conceptual consistency and physical consistency</a:t>
            </a:r>
            <a:r>
              <a:rPr lang="en-US" sz="1500" dirty="0" smtClean="0">
                <a:latin typeface="Verdana" pitchFamily="34" charset="0"/>
                <a:cs typeface="Times New Roman" pitchFamily="18" charset="0"/>
              </a:rPr>
              <a:t> is important. </a:t>
            </a:r>
          </a:p>
          <a:p>
            <a:pPr eaLnBrk="1" hangingPunct="1">
              <a:lnSpc>
                <a:spcPct val="120000"/>
              </a:lnSpc>
            </a:pPr>
            <a:r>
              <a:rPr lang="en-US" sz="1500" b="1" dirty="0" smtClean="0">
                <a:latin typeface="Verdana" pitchFamily="34" charset="0"/>
                <a:cs typeface="Times New Roman" pitchFamily="18" charset="0"/>
              </a:rPr>
              <a:t>Conceptual consistency </a:t>
            </a:r>
            <a:r>
              <a:rPr lang="en-US" sz="1500" dirty="0" smtClean="0">
                <a:latin typeface="Verdana" pitchFamily="34" charset="0"/>
                <a:cs typeface="Times New Roman" pitchFamily="18" charset="0"/>
              </a:rPr>
              <a:t>is about ensuring the mappings are consistent, that the conceptual model remains clear. </a:t>
            </a:r>
          </a:p>
          <a:p>
            <a:pPr eaLnBrk="1" hangingPunct="1">
              <a:lnSpc>
                <a:spcPct val="120000"/>
              </a:lnSpc>
            </a:pPr>
            <a:r>
              <a:rPr lang="en-US" sz="1500" dirty="0" smtClean="0">
                <a:latin typeface="Verdana" pitchFamily="34" charset="0"/>
                <a:cs typeface="Times New Roman" pitchFamily="18" charset="0"/>
              </a:rPr>
              <a:t>This involves being consistent both internally to the system and externally as the system relates to things outside it. </a:t>
            </a:r>
          </a:p>
          <a:p>
            <a:pPr eaLnBrk="1" hangingPunct="1">
              <a:lnSpc>
                <a:spcPct val="120000"/>
              </a:lnSpc>
            </a:pPr>
            <a:r>
              <a:rPr lang="en-US" sz="1500" b="1" dirty="0" smtClean="0">
                <a:latin typeface="Verdana" pitchFamily="34" charset="0"/>
                <a:cs typeface="Times New Roman" pitchFamily="18" charset="0"/>
              </a:rPr>
              <a:t>Physical consistency </a:t>
            </a:r>
            <a:r>
              <a:rPr lang="en-US" sz="1500" dirty="0" smtClean="0">
                <a:latin typeface="Verdana" pitchFamily="34" charset="0"/>
                <a:cs typeface="Times New Roman" pitchFamily="18" charset="0"/>
              </a:rPr>
              <a:t>is ensuring consistent behaviors and consistent use of colors, names, layout and so on.</a:t>
            </a:r>
          </a:p>
          <a:p>
            <a:pPr eaLnBrk="1" hangingPunct="1">
              <a:lnSpc>
                <a:spcPct val="120000"/>
              </a:lnSpc>
            </a:pPr>
            <a:r>
              <a:rPr lang="en-US" sz="1500" dirty="0" smtClean="0">
                <a:latin typeface="Verdana" pitchFamily="34" charset="0"/>
                <a:cs typeface="Times New Roman" pitchFamily="18" charset="0"/>
              </a:rPr>
              <a:t>Both conceptual and physical consistency are important.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Placeholder 2"/>
          <p:cNvSpPr>
            <a:spLocks noGrp="1"/>
          </p:cNvSpPr>
          <p:nvPr>
            <p:ph type="body" idx="1"/>
          </p:nvPr>
        </p:nvSpPr>
        <p:spPr>
          <a:xfrm>
            <a:off x="454533" y="548680"/>
            <a:ext cx="8229600" cy="5616624"/>
          </a:xfrm>
        </p:spPr>
        <p:txBody>
          <a:bodyPr/>
          <a:lstStyle/>
          <a:p>
            <a:pPr marL="0" indent="0" algn="ctr" eaLnBrk="1" hangingPunct="1">
              <a:lnSpc>
                <a:spcPct val="120000"/>
              </a:lnSpc>
              <a:buNone/>
            </a:pPr>
            <a:r>
              <a:rPr lang="en-US" sz="1500" dirty="0" smtClean="0">
                <a:latin typeface="Verdana" pitchFamily="34" charset="0"/>
                <a:cs typeface="Times New Roman" pitchFamily="18" charset="0"/>
              </a:rPr>
              <a:t>3 Familiarity</a:t>
            </a:r>
          </a:p>
          <a:p>
            <a:pPr algn="just" eaLnBrk="1" hangingPunct="1">
              <a:lnSpc>
                <a:spcPct val="120000"/>
              </a:lnSpc>
            </a:pPr>
            <a:r>
              <a:rPr lang="en-US" sz="1500" dirty="0" smtClean="0">
                <a:latin typeface="Verdana" pitchFamily="34" charset="0"/>
                <a:cs typeface="Times New Roman" pitchFamily="18" charset="0"/>
              </a:rPr>
              <a:t>Use language and symbols that the intended audience will be familiar with. </a:t>
            </a:r>
          </a:p>
          <a:p>
            <a:pPr algn="just" eaLnBrk="1" hangingPunct="1">
              <a:lnSpc>
                <a:spcPct val="120000"/>
              </a:lnSpc>
            </a:pPr>
            <a:r>
              <a:rPr lang="en-US" sz="1500" dirty="0" smtClean="0">
                <a:latin typeface="Verdana" pitchFamily="34" charset="0"/>
                <a:cs typeface="Times New Roman" pitchFamily="18" charset="0"/>
              </a:rPr>
              <a:t>Where this is not possible because the concepts are quite different from those people know about, provide a suitable metaphor to help them transfer similar and related knowledge from a more familiar domain.</a:t>
            </a:r>
          </a:p>
          <a:p>
            <a:pPr algn="ctr" eaLnBrk="1" hangingPunct="1">
              <a:lnSpc>
                <a:spcPct val="120000"/>
              </a:lnSpc>
            </a:pPr>
            <a:endParaRPr lang="en-US" sz="1500" dirty="0">
              <a:latin typeface="Verdana" pitchFamily="34" charset="0"/>
              <a:cs typeface="Times New Roman" pitchFamily="18" charset="0"/>
            </a:endParaRPr>
          </a:p>
          <a:p>
            <a:pPr marL="0" indent="0" algn="ctr" eaLnBrk="1" hangingPunct="1">
              <a:lnSpc>
                <a:spcPct val="120000"/>
              </a:lnSpc>
              <a:buNone/>
            </a:pPr>
            <a:r>
              <a:rPr lang="en-US" sz="1500" dirty="0">
                <a:latin typeface="Verdana" pitchFamily="34" charset="0"/>
                <a:ea typeface="ヒラギノ角ゴ Pro W3"/>
                <a:cs typeface="ヒラギノ角ゴ Pro W3"/>
              </a:rPr>
              <a:t>4 </a:t>
            </a:r>
            <a:r>
              <a:rPr lang="en-US" sz="1500" dirty="0" smtClean="0">
                <a:latin typeface="Verdana" pitchFamily="34" charset="0"/>
                <a:ea typeface="ヒラギノ角ゴ Pro W3"/>
                <a:cs typeface="ヒラギノ角ゴ Pro W3"/>
              </a:rPr>
              <a:t>Affordance</a:t>
            </a:r>
          </a:p>
          <a:p>
            <a:pPr algn="just" eaLnBrk="1" hangingPunct="1">
              <a:lnSpc>
                <a:spcPct val="120000"/>
              </a:lnSpc>
            </a:pPr>
            <a:r>
              <a:rPr lang="en-US" sz="1500" dirty="0">
                <a:latin typeface="Verdana" pitchFamily="34" charset="0"/>
                <a:cs typeface="Times New Roman" pitchFamily="18" charset="0"/>
              </a:rPr>
              <a:t>Design things so it is clear what they are for; for example, make buttons look like buttons so people will press them. </a:t>
            </a:r>
          </a:p>
          <a:p>
            <a:pPr algn="just" eaLnBrk="1" hangingPunct="1">
              <a:lnSpc>
                <a:spcPct val="120000"/>
              </a:lnSpc>
            </a:pPr>
            <a:r>
              <a:rPr lang="en-US" sz="1500" dirty="0">
                <a:latin typeface="Verdana" pitchFamily="34" charset="0"/>
                <a:cs typeface="Times New Roman" pitchFamily="18" charset="0"/>
              </a:rPr>
              <a:t>Affordance refers to the properties that things have (or are perceived to have) and how these relate to how the things could be used. </a:t>
            </a:r>
          </a:p>
          <a:p>
            <a:pPr algn="just" eaLnBrk="1" hangingPunct="1">
              <a:lnSpc>
                <a:spcPct val="120000"/>
              </a:lnSpc>
            </a:pPr>
            <a:r>
              <a:rPr lang="en-US" sz="1500" dirty="0">
                <a:latin typeface="Verdana" pitchFamily="34" charset="0"/>
                <a:cs typeface="Times New Roman" pitchFamily="18" charset="0"/>
              </a:rPr>
              <a:t>Buttons afford pressing, chairs afford sitting on, and Post-it notes afford writing a message on and sticking next to something else.</a:t>
            </a:r>
          </a:p>
          <a:p>
            <a:pPr algn="just" eaLnBrk="1" hangingPunct="1">
              <a:lnSpc>
                <a:spcPct val="120000"/>
              </a:lnSpc>
            </a:pPr>
            <a:r>
              <a:rPr lang="en-US" sz="1500" dirty="0">
                <a:latin typeface="Verdana" pitchFamily="34" charset="0"/>
                <a:cs typeface="Times New Roman" pitchFamily="18" charset="0"/>
              </a:rPr>
              <a:t> Affordances are culturally determined</a:t>
            </a:r>
            <a:r>
              <a:rPr lang="en-US" sz="1500" dirty="0" smtClean="0">
                <a:latin typeface="Verdana" pitchFamily="34" charset="0"/>
                <a:cs typeface="Times New Roman" pitchFamily="18" charset="0"/>
              </a:rPr>
              <a:t>.</a:t>
            </a:r>
          </a:p>
          <a:p>
            <a:pPr marL="0" indent="0" algn="ctr" eaLnBrk="1" hangingPunct="1">
              <a:lnSpc>
                <a:spcPct val="120000"/>
              </a:lnSpc>
              <a:buNone/>
            </a:pPr>
            <a:endParaRPr lang="en-US" sz="1500" dirty="0">
              <a:latin typeface="Verdana" pitchFamily="34" charset="0"/>
              <a:cs typeface="Times New Roman" pitchFamily="18" charset="0"/>
            </a:endParaRPr>
          </a:p>
          <a:p>
            <a:pPr marL="0" indent="0" algn="ctr" eaLnBrk="1" hangingPunct="1">
              <a:lnSpc>
                <a:spcPct val="120000"/>
              </a:lnSpc>
              <a:buNone/>
            </a:pPr>
            <a:r>
              <a:rPr lang="en-US" sz="1500" dirty="0" smtClean="0">
                <a:latin typeface="Verdana" pitchFamily="34" charset="0"/>
                <a:cs typeface="Times New Roman" pitchFamily="18" charset="0"/>
              </a:rPr>
              <a:t>5 Navigation</a:t>
            </a:r>
          </a:p>
          <a:p>
            <a:pPr algn="just" eaLnBrk="1" hangingPunct="1">
              <a:lnSpc>
                <a:spcPct val="120000"/>
              </a:lnSpc>
            </a:pPr>
            <a:r>
              <a:rPr lang="en-US" sz="1500" dirty="0" smtClean="0">
                <a:latin typeface="Verdana" pitchFamily="34" charset="0"/>
                <a:cs typeface="Times New Roman" pitchFamily="18" charset="0"/>
              </a:rPr>
              <a:t>Provide </a:t>
            </a:r>
            <a:r>
              <a:rPr lang="en-US" sz="1500" dirty="0">
                <a:latin typeface="Verdana" pitchFamily="34" charset="0"/>
                <a:cs typeface="Times New Roman" pitchFamily="18" charset="0"/>
              </a:rPr>
              <a:t>support to enable people to move around the parts of the system: maps, directional signs and information signs.</a:t>
            </a:r>
          </a:p>
          <a:p>
            <a:pPr algn="just" eaLnBrk="1" hangingPunct="1">
              <a:lnSpc>
                <a:spcPct val="120000"/>
              </a:lnSpc>
            </a:pPr>
            <a:endParaRPr lang="en-US" sz="1500" dirty="0">
              <a:latin typeface="Verdana" pitchFamily="34" charset="0"/>
              <a:cs typeface="Times New Roman" pitchFamily="18" charset="0"/>
            </a:endParaRPr>
          </a:p>
          <a:p>
            <a:pPr algn="just" eaLnBrk="1" hangingPunct="1">
              <a:lnSpc>
                <a:spcPct val="120000"/>
              </a:lnSpc>
            </a:pPr>
            <a:endParaRPr lang="en-US" sz="1500" dirty="0">
              <a:latin typeface="Verdana" pitchFamily="34" charset="0"/>
              <a:ea typeface="ヒラギノ角ゴ Pro W3"/>
              <a:cs typeface="ヒラギノ角ゴ Pro W3"/>
            </a:endParaRPr>
          </a:p>
          <a:p>
            <a:pPr marL="0" indent="0" algn="ctr" eaLnBrk="1" hangingPunct="1">
              <a:lnSpc>
                <a:spcPct val="120000"/>
              </a:lnSpc>
              <a:buNone/>
            </a:pPr>
            <a:endParaRPr lang="en-US" sz="1500" dirty="0" smtClean="0">
              <a:latin typeface="Verdana" pitchFamily="34"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txBox="1">
            <a:spLocks/>
          </p:cNvSpPr>
          <p:nvPr/>
        </p:nvSpPr>
        <p:spPr bwMode="auto">
          <a:xfrm>
            <a:off x="481571" y="242462"/>
            <a:ext cx="8229600" cy="34745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eaLnBrk="1" hangingPunct="1">
              <a:lnSpc>
                <a:spcPct val="120000"/>
              </a:lnSpc>
              <a:buNone/>
            </a:pPr>
            <a:r>
              <a:rPr lang="en-US" sz="1500" dirty="0" smtClean="0">
                <a:latin typeface="Verdana" pitchFamily="34" charset="0"/>
                <a:cs typeface="Times New Roman" pitchFamily="18" charset="0"/>
              </a:rPr>
              <a:t>6 Control</a:t>
            </a:r>
          </a:p>
          <a:p>
            <a:pPr algn="just" eaLnBrk="1" hangingPunct="1">
              <a:lnSpc>
                <a:spcPct val="120000"/>
              </a:lnSpc>
            </a:pPr>
            <a:r>
              <a:rPr lang="en-US" sz="1500" dirty="0" smtClean="0">
                <a:latin typeface="Verdana" pitchFamily="34" charset="0"/>
                <a:cs typeface="Times New Roman" pitchFamily="18" charset="0"/>
              </a:rPr>
              <a:t>Make it clear who or what is in control and allow people to take control. </a:t>
            </a:r>
          </a:p>
          <a:p>
            <a:pPr algn="just" eaLnBrk="1" hangingPunct="1">
              <a:lnSpc>
                <a:spcPct val="120000"/>
              </a:lnSpc>
            </a:pPr>
            <a:r>
              <a:rPr lang="en-US" sz="1500" dirty="0" smtClean="0">
                <a:latin typeface="Verdana" pitchFamily="34" charset="0"/>
                <a:cs typeface="Times New Roman" pitchFamily="18" charset="0"/>
              </a:rPr>
              <a:t>Control is enhanced if there is a clear, logical mapping between controls and the effect that they have. </a:t>
            </a:r>
          </a:p>
          <a:p>
            <a:pPr algn="just" eaLnBrk="1" hangingPunct="1">
              <a:lnSpc>
                <a:spcPct val="120000"/>
              </a:lnSpc>
            </a:pPr>
            <a:r>
              <a:rPr lang="en-US" sz="1500" dirty="0" smtClean="0">
                <a:latin typeface="Verdana" pitchFamily="34" charset="0"/>
                <a:cs typeface="Times New Roman" pitchFamily="18" charset="0"/>
              </a:rPr>
              <a:t>Also make clear the relationship between what the system does and what will happen in the world outside the system.</a:t>
            </a:r>
          </a:p>
          <a:p>
            <a:pPr algn="ctr" eaLnBrk="1" hangingPunct="1">
              <a:lnSpc>
                <a:spcPct val="120000"/>
              </a:lnSpc>
            </a:pPr>
            <a:endParaRPr lang="en-US" sz="1500" dirty="0" smtClean="0">
              <a:latin typeface="Verdana" pitchFamily="34" charset="0"/>
              <a:cs typeface="Times New Roman" pitchFamily="18" charset="0"/>
            </a:endParaRPr>
          </a:p>
          <a:p>
            <a:pPr marL="0" indent="0" algn="ctr" eaLnBrk="1" hangingPunct="1">
              <a:lnSpc>
                <a:spcPct val="120000"/>
              </a:lnSpc>
              <a:buNone/>
            </a:pPr>
            <a:r>
              <a:rPr lang="en-US" sz="1500" dirty="0" smtClean="0">
                <a:latin typeface="Verdana" pitchFamily="34" charset="0"/>
                <a:cs typeface="Times New Roman" pitchFamily="18" charset="0"/>
              </a:rPr>
              <a:t>7 Feedback</a:t>
            </a:r>
          </a:p>
          <a:p>
            <a:pPr algn="just" eaLnBrk="1" hangingPunct="1">
              <a:lnSpc>
                <a:spcPct val="120000"/>
              </a:lnSpc>
            </a:pPr>
            <a:r>
              <a:rPr lang="en-US" sz="1500" dirty="0">
                <a:latin typeface="Verdana" pitchFamily="34" charset="0"/>
                <a:cs typeface="Times New Roman" pitchFamily="18" charset="0"/>
              </a:rPr>
              <a:t>Rapidly feed back information from the system to people so that they know what effect their actions have had. </a:t>
            </a:r>
          </a:p>
          <a:p>
            <a:pPr algn="just" eaLnBrk="1" hangingPunct="1">
              <a:lnSpc>
                <a:spcPct val="120000"/>
              </a:lnSpc>
            </a:pPr>
            <a:r>
              <a:rPr lang="en-US" sz="1500" dirty="0">
                <a:latin typeface="Verdana" pitchFamily="34" charset="0"/>
                <a:cs typeface="Times New Roman" pitchFamily="18" charset="0"/>
              </a:rPr>
              <a:t>Constant and consistent feedback will enhance the feeling of control</a:t>
            </a:r>
            <a:r>
              <a:rPr lang="en-US" sz="1500" dirty="0" smtClean="0">
                <a:latin typeface="Verdana" pitchFamily="34" charset="0"/>
                <a:cs typeface="Times New Roman" pitchFamily="18" charset="0"/>
              </a:rPr>
              <a:t>.</a:t>
            </a:r>
          </a:p>
        </p:txBody>
      </p:sp>
      <p:sp>
        <p:nvSpPr>
          <p:cNvPr id="10" name="Title 1"/>
          <p:cNvSpPr>
            <a:spLocks noGrp="1"/>
          </p:cNvSpPr>
          <p:nvPr>
            <p:ph type="title"/>
          </p:nvPr>
        </p:nvSpPr>
        <p:spPr>
          <a:xfrm>
            <a:off x="228600" y="3810584"/>
            <a:ext cx="8229600" cy="420278"/>
          </a:xfrm>
        </p:spPr>
        <p:txBody>
          <a:bodyPr/>
          <a:lstStyle/>
          <a:p>
            <a:pPr eaLnBrk="1" hangingPunct="1">
              <a:lnSpc>
                <a:spcPct val="120000"/>
              </a:lnSpc>
            </a:pPr>
            <a:r>
              <a:rPr lang="en-US" sz="1500" dirty="0" smtClean="0">
                <a:latin typeface="Verdana" pitchFamily="34" charset="0"/>
                <a:ea typeface="ヒラギノ角ゴ Pro W3"/>
                <a:cs typeface="ヒラギノ角ゴ Pro W3"/>
              </a:rPr>
              <a:t>8 Recovery </a:t>
            </a:r>
          </a:p>
        </p:txBody>
      </p:sp>
      <p:sp>
        <p:nvSpPr>
          <p:cNvPr id="11" name="Text Placeholder 2"/>
          <p:cNvSpPr>
            <a:spLocks noGrp="1"/>
          </p:cNvSpPr>
          <p:nvPr>
            <p:ph type="body" idx="1"/>
          </p:nvPr>
        </p:nvSpPr>
        <p:spPr>
          <a:xfrm>
            <a:off x="205680" y="4149080"/>
            <a:ext cx="8686800" cy="350266"/>
          </a:xfrm>
        </p:spPr>
        <p:txBody>
          <a:bodyPr/>
          <a:lstStyle/>
          <a:p>
            <a:pPr algn="just" eaLnBrk="1" hangingPunct="1">
              <a:lnSpc>
                <a:spcPct val="120000"/>
              </a:lnSpc>
            </a:pPr>
            <a:r>
              <a:rPr lang="en-US" sz="1500" dirty="0" smtClean="0">
                <a:latin typeface="Verdana" pitchFamily="34" charset="0"/>
                <a:cs typeface="Times New Roman" pitchFamily="18" charset="0"/>
              </a:rPr>
              <a:t>Enable recovery from actions, particularly mistakes and errors, quickly &amp; effectively.</a:t>
            </a:r>
          </a:p>
        </p:txBody>
      </p:sp>
      <p:sp>
        <p:nvSpPr>
          <p:cNvPr id="12" name="Title 1"/>
          <p:cNvSpPr txBox="1">
            <a:spLocks/>
          </p:cNvSpPr>
          <p:nvPr/>
        </p:nvSpPr>
        <p:spPr bwMode="auto">
          <a:xfrm>
            <a:off x="228600" y="4653136"/>
            <a:ext cx="8229600" cy="39217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lnSpc>
                <a:spcPct val="120000"/>
              </a:lnSpc>
            </a:pPr>
            <a:r>
              <a:rPr lang="en-US" sz="1500" dirty="0" smtClean="0">
                <a:latin typeface="Verdana" pitchFamily="34" charset="0"/>
                <a:ea typeface="ヒラギノ角ゴ Pro W3"/>
                <a:cs typeface="ヒラギノ角ゴ Pro W3"/>
              </a:rPr>
              <a:t>9 Constraints </a:t>
            </a:r>
          </a:p>
        </p:txBody>
      </p:sp>
      <p:sp>
        <p:nvSpPr>
          <p:cNvPr id="13" name="Text Placeholder 2"/>
          <p:cNvSpPr txBox="1">
            <a:spLocks/>
          </p:cNvSpPr>
          <p:nvPr/>
        </p:nvSpPr>
        <p:spPr bwMode="auto">
          <a:xfrm>
            <a:off x="161764" y="5013176"/>
            <a:ext cx="8730716" cy="11521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120000"/>
              </a:lnSpc>
            </a:pPr>
            <a:r>
              <a:rPr lang="en-US" sz="1500" dirty="0" smtClean="0">
                <a:latin typeface="Verdana" pitchFamily="34" charset="0"/>
                <a:cs typeface="Times New Roman" pitchFamily="18" charset="0"/>
              </a:rPr>
              <a:t>Provide constraints so that people do not try to do things that are inappropriate. </a:t>
            </a:r>
          </a:p>
          <a:p>
            <a:pPr algn="just" eaLnBrk="1" hangingPunct="1">
              <a:lnSpc>
                <a:spcPct val="120000"/>
              </a:lnSpc>
            </a:pPr>
            <a:r>
              <a:rPr lang="en-US" sz="1500" dirty="0" smtClean="0">
                <a:latin typeface="Verdana" pitchFamily="34" charset="0"/>
                <a:cs typeface="Times New Roman" pitchFamily="18" charset="0"/>
              </a:rPr>
              <a:t>In particular, people should be prevented from making serious errors through properly constraining allowable actions &amp; seeking confirmation of dangerous operations.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374848" y="332656"/>
            <a:ext cx="8229600" cy="5040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lnSpc>
                <a:spcPct val="120000"/>
              </a:lnSpc>
            </a:pPr>
            <a:r>
              <a:rPr lang="en-US" sz="1500" dirty="0" smtClean="0">
                <a:latin typeface="Verdana" pitchFamily="34" charset="0"/>
                <a:ea typeface="ヒラギノ角ゴ Pro W3"/>
                <a:cs typeface="ヒラギノ角ゴ Pro W3"/>
              </a:rPr>
              <a:t>10 Flexibility </a:t>
            </a:r>
          </a:p>
        </p:txBody>
      </p:sp>
      <p:sp>
        <p:nvSpPr>
          <p:cNvPr id="7" name="Text Placeholder 2"/>
          <p:cNvSpPr txBox="1">
            <a:spLocks/>
          </p:cNvSpPr>
          <p:nvPr/>
        </p:nvSpPr>
        <p:spPr bwMode="auto">
          <a:xfrm>
            <a:off x="452843" y="855986"/>
            <a:ext cx="8229600" cy="1401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lnSpc>
                <a:spcPct val="120000"/>
              </a:lnSpc>
            </a:pPr>
            <a:r>
              <a:rPr lang="en-US" sz="1500" dirty="0" smtClean="0">
                <a:latin typeface="Verdana" pitchFamily="34" charset="0"/>
                <a:cs typeface="Times New Roman" pitchFamily="18" charset="0"/>
              </a:rPr>
              <a:t>Allow multiple ways of doing things so as to accommodate people with different levels of experience and interest in the systems. </a:t>
            </a:r>
          </a:p>
          <a:p>
            <a:pPr eaLnBrk="1" hangingPunct="1">
              <a:lnSpc>
                <a:spcPct val="120000"/>
              </a:lnSpc>
            </a:pPr>
            <a:r>
              <a:rPr lang="en-US" sz="1500" dirty="0" smtClean="0">
                <a:latin typeface="Verdana" pitchFamily="34" charset="0"/>
                <a:cs typeface="Times New Roman" pitchFamily="18" charset="0"/>
              </a:rPr>
              <a:t>Provide people with the opportunity to change the way things look or behave so that they can personalize the system.</a:t>
            </a:r>
          </a:p>
        </p:txBody>
      </p:sp>
      <p:sp>
        <p:nvSpPr>
          <p:cNvPr id="11" name="Title 1"/>
          <p:cNvSpPr>
            <a:spLocks noGrp="1"/>
          </p:cNvSpPr>
          <p:nvPr>
            <p:ph type="title"/>
          </p:nvPr>
        </p:nvSpPr>
        <p:spPr>
          <a:xfrm>
            <a:off x="285271" y="2348880"/>
            <a:ext cx="8229600" cy="525018"/>
          </a:xfrm>
        </p:spPr>
        <p:txBody>
          <a:bodyPr/>
          <a:lstStyle/>
          <a:p>
            <a:pPr eaLnBrk="1" hangingPunct="1">
              <a:lnSpc>
                <a:spcPct val="120000"/>
              </a:lnSpc>
            </a:pPr>
            <a:r>
              <a:rPr lang="en-US" sz="1500" dirty="0" smtClean="0">
                <a:latin typeface="Verdana" pitchFamily="34" charset="0"/>
                <a:ea typeface="ヒラギノ角ゴ Pro W3"/>
                <a:cs typeface="ヒラギノ角ゴ Pro W3"/>
              </a:rPr>
              <a:t>11 Style </a:t>
            </a:r>
          </a:p>
        </p:txBody>
      </p:sp>
      <p:sp>
        <p:nvSpPr>
          <p:cNvPr id="12" name="Text Placeholder 2"/>
          <p:cNvSpPr>
            <a:spLocks noGrp="1"/>
          </p:cNvSpPr>
          <p:nvPr>
            <p:ph type="body" idx="1"/>
          </p:nvPr>
        </p:nvSpPr>
        <p:spPr>
          <a:xfrm>
            <a:off x="485341" y="2852936"/>
            <a:ext cx="8229600" cy="374551"/>
          </a:xfrm>
        </p:spPr>
        <p:txBody>
          <a:bodyPr/>
          <a:lstStyle/>
          <a:p>
            <a:pPr eaLnBrk="1" hangingPunct="1">
              <a:lnSpc>
                <a:spcPct val="120000"/>
              </a:lnSpc>
            </a:pPr>
            <a:r>
              <a:rPr lang="en-US" sz="1500" dirty="0" smtClean="0">
                <a:latin typeface="Verdana" pitchFamily="34" charset="0"/>
                <a:cs typeface="Times New Roman" pitchFamily="18" charset="0"/>
              </a:rPr>
              <a:t>Designs should be stylish and attractive.</a:t>
            </a:r>
          </a:p>
        </p:txBody>
      </p:sp>
      <p:sp>
        <p:nvSpPr>
          <p:cNvPr id="13" name="Rectangle 12"/>
          <p:cNvSpPr/>
          <p:nvPr/>
        </p:nvSpPr>
        <p:spPr>
          <a:xfrm>
            <a:off x="414735" y="4005064"/>
            <a:ext cx="8305816" cy="2169825"/>
          </a:xfrm>
          <a:prstGeom prst="rect">
            <a:avLst/>
          </a:prstGeom>
        </p:spPr>
        <p:txBody>
          <a:bodyPr wrap="square">
            <a:spAutoFit/>
          </a:bodyPr>
          <a:lstStyle/>
          <a:p>
            <a:pPr marL="285750" indent="-285750"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Interactive systems should be polite, friendly, and generally pleasant. </a:t>
            </a:r>
          </a:p>
          <a:p>
            <a:pPr marL="285750" indent="-285750"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Nothing ruins the experience of using an interactive system more than an aggressive message or an abrupt interruption. </a:t>
            </a:r>
          </a:p>
          <a:p>
            <a:pPr marL="285750" indent="-285750"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Design for politeness. </a:t>
            </a:r>
          </a:p>
          <a:p>
            <a:pPr marL="285750" indent="-285750" algn="just" eaLnBrk="1" hangingPunct="1">
              <a:lnSpc>
                <a:spcPct val="150000"/>
              </a:lnSpc>
              <a:buFont typeface="Arial" panose="020B0604020202020204" pitchFamily="34" charset="0"/>
              <a:buChar char="•"/>
            </a:pPr>
            <a:r>
              <a:rPr lang="en-US" sz="1500" dirty="0">
                <a:latin typeface="Verdana" pitchFamily="34" charset="0"/>
                <a:cs typeface="Times New Roman" pitchFamily="18" charset="0"/>
              </a:rPr>
              <a:t>Conviviality also suggests joining in and using interactive technologies to connect and support people.</a:t>
            </a:r>
          </a:p>
        </p:txBody>
      </p:sp>
      <p:sp>
        <p:nvSpPr>
          <p:cNvPr id="14" name="Title 1"/>
          <p:cNvSpPr txBox="1">
            <a:spLocks/>
          </p:cNvSpPr>
          <p:nvPr/>
        </p:nvSpPr>
        <p:spPr bwMode="auto">
          <a:xfrm>
            <a:off x="285271" y="3573016"/>
            <a:ext cx="8229600" cy="36426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lnSpc>
                <a:spcPct val="120000"/>
              </a:lnSpc>
            </a:pPr>
            <a:r>
              <a:rPr lang="en-US" sz="1500" dirty="0" smtClean="0">
                <a:latin typeface="Verdana" pitchFamily="34" charset="0"/>
                <a:ea typeface="ヒラギノ角ゴ Pro W3"/>
                <a:cs typeface="ヒラギノ角ゴ Pro W3"/>
              </a:rPr>
              <a:t>12 Conviviality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457200" y="274638"/>
            <a:ext cx="8229600" cy="994122"/>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Design principles in action</a:t>
            </a:r>
          </a:p>
        </p:txBody>
      </p:sp>
      <p:sp>
        <p:nvSpPr>
          <p:cNvPr id="61442" name="Text Placeholder 2"/>
          <p:cNvSpPr>
            <a:spLocks noGrp="1"/>
          </p:cNvSpPr>
          <p:nvPr>
            <p:ph type="body" idx="1"/>
          </p:nvPr>
        </p:nvSpPr>
        <p:spPr>
          <a:xfrm>
            <a:off x="457200" y="1268760"/>
            <a:ext cx="8229600" cy="4968552"/>
          </a:xfrm>
        </p:spPr>
        <p:txBody>
          <a:bodyPr/>
          <a:lstStyle/>
          <a:p>
            <a:pPr algn="just" eaLnBrk="1" hangingPunct="1">
              <a:lnSpc>
                <a:spcPct val="200000"/>
              </a:lnSpc>
            </a:pPr>
            <a:r>
              <a:rPr lang="en-US" sz="1500" dirty="0" smtClean="0">
                <a:latin typeface="Verdana" pitchFamily="34" charset="0"/>
                <a:cs typeface="Times New Roman" pitchFamily="18" charset="0"/>
              </a:rPr>
              <a:t>Designing for windows applications is still dominated primarily by issues of usability. </a:t>
            </a:r>
          </a:p>
          <a:p>
            <a:pPr marL="0" indent="0" algn="just" eaLnBrk="1" hangingPunct="1">
              <a:lnSpc>
                <a:spcPct val="200000"/>
              </a:lnSpc>
              <a:buNone/>
            </a:pPr>
            <a:r>
              <a:rPr lang="en-US" sz="1500" b="1" dirty="0" smtClean="0">
                <a:latin typeface="Verdana" pitchFamily="34" charset="0"/>
                <a:cs typeface="Times New Roman" pitchFamily="18" charset="0"/>
              </a:rPr>
              <a:t>1) </a:t>
            </a:r>
            <a:r>
              <a:rPr lang="en-US" sz="1500" dirty="0" smtClean="0">
                <a:latin typeface="Verdana" pitchFamily="34" charset="0"/>
                <a:cs typeface="Times New Roman" pitchFamily="18" charset="0"/>
              </a:rPr>
              <a:t>In particular the </a:t>
            </a:r>
            <a:r>
              <a:rPr lang="en-US" sz="1500" b="1" dirty="0" smtClean="0">
                <a:latin typeface="Verdana" pitchFamily="34" charset="0"/>
                <a:cs typeface="Times New Roman" pitchFamily="18" charset="0"/>
              </a:rPr>
              <a:t>key issue is </a:t>
            </a:r>
            <a:r>
              <a:rPr lang="en-US" sz="1500" b="1" dirty="0" smtClean="0">
                <a:solidFill>
                  <a:srgbClr val="0070C0"/>
                </a:solidFill>
                <a:latin typeface="Verdana" pitchFamily="34" charset="0"/>
                <a:cs typeface="Times New Roman" pitchFamily="18" charset="0"/>
              </a:rPr>
              <a:t>consistency</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There are </a:t>
            </a:r>
            <a:r>
              <a:rPr lang="en-US" sz="1500" b="1" dirty="0" smtClean="0">
                <a:latin typeface="Verdana" pitchFamily="34" charset="0"/>
                <a:cs typeface="Times New Roman" pitchFamily="18" charset="0"/>
              </a:rPr>
              <a:t>clear guidelines for issues </a:t>
            </a:r>
            <a:r>
              <a:rPr lang="en-US" sz="1500" dirty="0" smtClean="0">
                <a:latin typeface="Verdana" pitchFamily="34" charset="0"/>
                <a:cs typeface="Times New Roman" pitchFamily="18" charset="0"/>
              </a:rPr>
              <a:t>such as menu layout, ordering, dialogue boxes and use of the other ‘widgets’ associated with graphical user interfaces (GUI).</a:t>
            </a:r>
          </a:p>
          <a:p>
            <a:pPr algn="just" eaLnBrk="1" hangingPunct="1">
              <a:lnSpc>
                <a:spcPct val="200000"/>
              </a:lnSpc>
            </a:pPr>
            <a:r>
              <a:rPr lang="en-US" sz="1500" dirty="0" smtClean="0">
                <a:latin typeface="Verdana" pitchFamily="34" charset="0"/>
                <a:cs typeface="Times New Roman" pitchFamily="18" charset="0"/>
              </a:rPr>
              <a:t>There are </a:t>
            </a:r>
            <a:r>
              <a:rPr lang="en-US" sz="1500" b="1" dirty="0" smtClean="0">
                <a:latin typeface="Verdana" pitchFamily="34" charset="0"/>
                <a:cs typeface="Times New Roman" pitchFamily="18" charset="0"/>
              </a:rPr>
              <a:t>standards for providing constraints such as greying out items</a:t>
            </a:r>
            <a:r>
              <a:rPr lang="en-US" sz="1500" dirty="0" smtClean="0">
                <a:latin typeface="Verdana" pitchFamily="34" charset="0"/>
                <a:cs typeface="Times New Roman" pitchFamily="18" charset="0"/>
              </a:rPr>
              <a:t> on a menu that are not relevant at a particular point.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Screen design </a:t>
            </a:r>
          </a:p>
        </p:txBody>
      </p:sp>
      <p:sp>
        <p:nvSpPr>
          <p:cNvPr id="62466" name="Text Placeholder 2"/>
          <p:cNvSpPr>
            <a:spLocks noGrp="1"/>
          </p:cNvSpPr>
          <p:nvPr>
            <p:ph type="body" idx="1"/>
          </p:nvPr>
        </p:nvSpPr>
        <p:spPr>
          <a:xfrm>
            <a:off x="457200" y="1423317"/>
            <a:ext cx="8229600" cy="4525963"/>
          </a:xfrm>
        </p:spPr>
        <p:txBody>
          <a:bodyPr/>
          <a:lstStyle/>
          <a:p>
            <a:pPr marL="0" indent="0" algn="just" eaLnBrk="1" hangingPunct="1">
              <a:lnSpc>
                <a:spcPct val="200000"/>
              </a:lnSpc>
              <a:buNone/>
            </a:pPr>
            <a:r>
              <a:rPr lang="en-US" sz="1500" b="1" dirty="0" smtClean="0">
                <a:latin typeface="Verdana" pitchFamily="34" charset="0"/>
                <a:cs typeface="Times New Roman" pitchFamily="18" charset="0"/>
              </a:rPr>
              <a:t>2) </a:t>
            </a:r>
            <a:r>
              <a:rPr lang="en-US" sz="1500" dirty="0" smtClean="0">
                <a:latin typeface="Verdana" pitchFamily="34" charset="0"/>
                <a:cs typeface="Times New Roman" pitchFamily="18" charset="0"/>
              </a:rPr>
              <a:t>Screen design is </a:t>
            </a:r>
            <a:r>
              <a:rPr lang="en-US" sz="1500" b="1" dirty="0" smtClean="0">
                <a:latin typeface="Verdana" pitchFamily="34" charset="0"/>
                <a:cs typeface="Times New Roman" pitchFamily="18" charset="0"/>
              </a:rPr>
              <a:t>a key issue </a:t>
            </a:r>
            <a:r>
              <a:rPr lang="en-US" sz="1500" dirty="0" smtClean="0">
                <a:latin typeface="Verdana" pitchFamily="34" charset="0"/>
                <a:cs typeface="Times New Roman" pitchFamily="18" charset="0"/>
              </a:rPr>
              <a:t>in such environments and attention needs to be paid to </a:t>
            </a:r>
            <a:r>
              <a:rPr lang="en-US" sz="1500" b="1" dirty="0" smtClean="0">
                <a:latin typeface="Verdana" pitchFamily="34" charset="0"/>
                <a:cs typeface="Times New Roman" pitchFamily="18" charset="0"/>
              </a:rPr>
              <a:t>the layout of objects on a screen</a:t>
            </a:r>
            <a:r>
              <a:rPr lang="en-US" sz="1500" dirty="0" smtClean="0">
                <a:latin typeface="Verdana" pitchFamily="34" charset="0"/>
                <a:cs typeface="Times New Roman" pitchFamily="18" charset="0"/>
              </a:rPr>
              <a:t>. </a:t>
            </a:r>
          </a:p>
          <a:p>
            <a:pPr algn="just" eaLnBrk="1" hangingPunct="1">
              <a:lnSpc>
                <a:spcPct val="200000"/>
              </a:lnSpc>
            </a:pPr>
            <a:r>
              <a:rPr lang="en-US" sz="1500" b="1" dirty="0" smtClean="0">
                <a:latin typeface="Verdana" pitchFamily="34" charset="0"/>
                <a:cs typeface="Times New Roman" pitchFamily="18" charset="0"/>
              </a:rPr>
              <a:t>Avoiding clutter </a:t>
            </a:r>
            <a:r>
              <a:rPr lang="en-US" sz="1500" dirty="0" smtClean="0">
                <a:latin typeface="Verdana" pitchFamily="34" charset="0"/>
                <a:cs typeface="Times New Roman" pitchFamily="18" charset="0"/>
              </a:rPr>
              <a:t>will help </a:t>
            </a:r>
            <a:r>
              <a:rPr lang="en-US" sz="1500" b="1" dirty="0" smtClean="0">
                <a:latin typeface="Verdana" pitchFamily="34" charset="0"/>
                <a:cs typeface="Times New Roman" pitchFamily="18" charset="0"/>
              </a:rPr>
              <a:t>to ensure </a:t>
            </a:r>
            <a:r>
              <a:rPr lang="en-US" sz="1500" b="1" dirty="0" smtClean="0">
                <a:solidFill>
                  <a:srgbClr val="0070C0"/>
                </a:solidFill>
                <a:latin typeface="Verdana" pitchFamily="34" charset="0"/>
                <a:cs typeface="Times New Roman" pitchFamily="18" charset="0"/>
              </a:rPr>
              <a:t>visibility</a:t>
            </a:r>
            <a:r>
              <a:rPr lang="en-US" sz="1500" dirty="0" smtClean="0">
                <a:latin typeface="Verdana" pitchFamily="34" charset="0"/>
                <a:cs typeface="Times New Roman" pitchFamily="18" charset="0"/>
              </a:rPr>
              <a:t>. </a:t>
            </a:r>
          </a:p>
          <a:p>
            <a:pPr algn="just" eaLnBrk="1" hangingPunct="1">
              <a:lnSpc>
                <a:spcPct val="200000"/>
              </a:lnSpc>
            </a:pPr>
            <a:r>
              <a:rPr lang="en-US" sz="1500" b="1" dirty="0" smtClean="0">
                <a:latin typeface="Verdana" pitchFamily="34" charset="0"/>
                <a:cs typeface="Times New Roman" pitchFamily="18" charset="0"/>
              </a:rPr>
              <a:t>Attention needs to be paid to the use of appropriate, non-clashing colors and the careful layout of information using tables, graphs or text as appropriate</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However </a:t>
            </a:r>
            <a:r>
              <a:rPr lang="en-US" sz="1500" b="1" dirty="0" smtClean="0">
                <a:latin typeface="Verdana" pitchFamily="34" charset="0"/>
                <a:cs typeface="Times New Roman" pitchFamily="18" charset="0"/>
              </a:rPr>
              <a:t>on mobile windows applications visibility is very difficult to achieve</a:t>
            </a:r>
            <a:r>
              <a:rPr lang="en-US" sz="1500" dirty="0" smtClean="0">
                <a:latin typeface="Verdana" pitchFamily="34" charset="0"/>
                <a:cs typeface="Times New Roman" pitchFamily="18" charset="0"/>
              </a:rPr>
              <a:t>. </a:t>
            </a:r>
            <a:r>
              <a:rPr lang="en-US" sz="1500" dirty="0" smtClean="0">
                <a:solidFill>
                  <a:srgbClr val="00B050"/>
                </a:solidFill>
                <a:latin typeface="Verdana" pitchFamily="34" charset="0"/>
                <a:cs typeface="Times New Roman" pitchFamily="18" charset="0"/>
              </a:rPr>
              <a:t>(Content of web-view may mixes in mobile-view, create mess, overlying and clutters)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457200" y="274638"/>
            <a:ext cx="8229600" cy="922114"/>
          </a:xfrm>
        </p:spPr>
        <p:txBody>
          <a:bodyPr/>
          <a:lstStyle/>
          <a:p>
            <a:pPr eaLnBrk="1" hangingPunct="1">
              <a:lnSpc>
                <a:spcPct val="120000"/>
              </a:lnSpc>
            </a:pPr>
            <a:r>
              <a:rPr lang="en-US" sz="1500" dirty="0" smtClean="0">
                <a:latin typeface="Verdana" pitchFamily="34" charset="0"/>
                <a:ea typeface="ヒラギノ角ゴ Pro W3"/>
                <a:cs typeface="ヒラギノ角ゴ Pro W3"/>
              </a:rPr>
              <a:t>Working with people</a:t>
            </a:r>
          </a:p>
        </p:txBody>
      </p:sp>
      <p:sp>
        <p:nvSpPr>
          <p:cNvPr id="63490" name="Text Placeholder 2"/>
          <p:cNvSpPr>
            <a:spLocks noGrp="1"/>
          </p:cNvSpPr>
          <p:nvPr>
            <p:ph type="body" idx="1"/>
          </p:nvPr>
        </p:nvSpPr>
        <p:spPr>
          <a:xfrm>
            <a:off x="457200" y="1196752"/>
            <a:ext cx="8229600" cy="5040560"/>
          </a:xfrm>
        </p:spPr>
        <p:txBody>
          <a:bodyPr/>
          <a:lstStyle/>
          <a:p>
            <a:pPr algn="just" eaLnBrk="1" hangingPunct="1">
              <a:lnSpc>
                <a:spcPct val="200000"/>
              </a:lnSpc>
            </a:pPr>
            <a:r>
              <a:rPr lang="en-US" sz="1500" dirty="0" smtClean="0">
                <a:latin typeface="Verdana" pitchFamily="34" charset="0"/>
                <a:cs typeface="Times New Roman" pitchFamily="18" charset="0"/>
              </a:rPr>
              <a:t>Often in the design of windows applications, the designer can </a:t>
            </a:r>
            <a:r>
              <a:rPr lang="en-US" sz="1500" b="1" dirty="0" smtClean="0">
                <a:latin typeface="Verdana" pitchFamily="34" charset="0"/>
                <a:cs typeface="Times New Roman" pitchFamily="18" charset="0"/>
              </a:rPr>
              <a:t>talk to the actual future stakeholders of the system and find out </a:t>
            </a:r>
            <a:r>
              <a:rPr lang="en-US" sz="1500" dirty="0" smtClean="0">
                <a:latin typeface="Verdana" pitchFamily="34" charset="0"/>
                <a:cs typeface="Times New Roman" pitchFamily="18" charset="0"/>
              </a:rPr>
              <a:t>what they want and </a:t>
            </a:r>
            <a:r>
              <a:rPr lang="en-US" sz="1500" b="1" dirty="0" smtClean="0">
                <a:latin typeface="Verdana" pitchFamily="34" charset="0"/>
                <a:cs typeface="Times New Roman" pitchFamily="18" charset="0"/>
              </a:rPr>
              <a:t>how they refer to things</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This will help the designer to </a:t>
            </a:r>
            <a:r>
              <a:rPr lang="en-US" sz="1500" b="1" dirty="0" smtClean="0">
                <a:latin typeface="Verdana" pitchFamily="34" charset="0"/>
                <a:cs typeface="Times New Roman" pitchFamily="18" charset="0"/>
              </a:rPr>
              <a:t>ensure </a:t>
            </a:r>
            <a:r>
              <a:rPr lang="en-US" sz="1500" b="1" dirty="0" smtClean="0">
                <a:solidFill>
                  <a:srgbClr val="0070C0"/>
                </a:solidFill>
                <a:latin typeface="Verdana" pitchFamily="34" charset="0"/>
                <a:cs typeface="Times New Roman" pitchFamily="18" charset="0"/>
              </a:rPr>
              <a:t>familiar </a:t>
            </a:r>
            <a:r>
              <a:rPr lang="en-US" sz="1500" b="1" dirty="0" smtClean="0">
                <a:latin typeface="Verdana" pitchFamily="34" charset="0"/>
                <a:cs typeface="Times New Roman" pitchFamily="18" charset="0"/>
              </a:rPr>
              <a:t>language </a:t>
            </a:r>
            <a:r>
              <a:rPr lang="en-US" sz="1500" dirty="0" smtClean="0">
                <a:latin typeface="Verdana" pitchFamily="34" charset="0"/>
                <a:cs typeface="Times New Roman" pitchFamily="18" charset="0"/>
              </a:rPr>
              <a:t>is used and that the </a:t>
            </a:r>
            <a:r>
              <a:rPr lang="en-US" sz="1500" b="1" dirty="0" smtClean="0">
                <a:latin typeface="Verdana" pitchFamily="34" charset="0"/>
                <a:cs typeface="Times New Roman" pitchFamily="18" charset="0"/>
              </a:rPr>
              <a:t>design follows any organizational settlements</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It can be </a:t>
            </a:r>
            <a:r>
              <a:rPr lang="en-US" sz="1500" b="1" dirty="0" smtClean="0">
                <a:latin typeface="Verdana" pitchFamily="34" charset="0"/>
                <a:cs typeface="Times New Roman" pitchFamily="18" charset="0"/>
              </a:rPr>
              <a:t>fitted in with preferred ways of working</a:t>
            </a:r>
            <a:r>
              <a:rPr lang="en-US" sz="1500" dirty="0" smtClean="0">
                <a:latin typeface="Verdana" pitchFamily="34" charset="0"/>
                <a:cs typeface="Times New Roman" pitchFamily="18" charset="0"/>
              </a:rPr>
              <a:t>. </a:t>
            </a:r>
          </a:p>
          <a:p>
            <a:pPr algn="just" eaLnBrk="1" hangingPunct="1">
              <a:lnSpc>
                <a:spcPct val="200000"/>
              </a:lnSpc>
            </a:pPr>
            <a:r>
              <a:rPr lang="en-US" sz="1500" b="1" dirty="0" smtClean="0">
                <a:solidFill>
                  <a:srgbClr val="FF0000"/>
                </a:solidFill>
                <a:latin typeface="Verdana" pitchFamily="34" charset="0"/>
                <a:cs typeface="Times New Roman" pitchFamily="18" charset="0"/>
              </a:rPr>
              <a:t>Participatory design techniques</a:t>
            </a:r>
            <a:r>
              <a:rPr lang="en-US" sz="1500" dirty="0" smtClean="0">
                <a:latin typeface="Verdana" pitchFamily="34" charset="0"/>
                <a:cs typeface="Times New Roman" pitchFamily="18" charset="0"/>
              </a:rPr>
              <a:t> – involving people closely in the design process – can be used, and stakeholders can participate in the design process through workshops, meetings and evaluation of design ideas. </a:t>
            </a:r>
          </a:p>
          <a:p>
            <a:pPr algn="just" eaLnBrk="1" hangingPunct="1">
              <a:lnSpc>
                <a:spcPct val="200000"/>
              </a:lnSpc>
            </a:pPr>
            <a:r>
              <a:rPr lang="en-US" sz="1500" b="1" dirty="0" smtClean="0">
                <a:latin typeface="Verdana" pitchFamily="34" charset="0"/>
                <a:cs typeface="Times New Roman" pitchFamily="18" charset="0"/>
              </a:rPr>
              <a:t>Documentation and training </a:t>
            </a:r>
            <a:r>
              <a:rPr lang="en-US" sz="1500" dirty="0" smtClean="0">
                <a:latin typeface="Verdana" pitchFamily="34" charset="0"/>
                <a:cs typeface="Times New Roman" pitchFamily="18" charset="0"/>
              </a:rPr>
              <a:t>can be given.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457200" y="274638"/>
            <a:ext cx="8229600" cy="922114"/>
          </a:xfrm>
        </p:spPr>
        <p:txBody>
          <a:bodyPr/>
          <a:lstStyle/>
          <a:p>
            <a:pPr eaLnBrk="1" hangingPunct="1">
              <a:lnSpc>
                <a:spcPct val="120000"/>
              </a:lnSpc>
            </a:pPr>
            <a:r>
              <a:rPr lang="en-US" sz="1500" dirty="0" smtClean="0">
                <a:latin typeface="Verdana" pitchFamily="34" charset="0"/>
                <a:ea typeface="ヒラギノ角ゴ Pro W3"/>
                <a:cs typeface="ヒラギノ角ゴ Pro W3"/>
              </a:rPr>
              <a:t>Affordances </a:t>
            </a:r>
          </a:p>
        </p:txBody>
      </p:sp>
      <p:sp>
        <p:nvSpPr>
          <p:cNvPr id="64514" name="Text Placeholder 2"/>
          <p:cNvSpPr>
            <a:spLocks noGrp="1"/>
          </p:cNvSpPr>
          <p:nvPr>
            <p:ph type="body" idx="1"/>
          </p:nvPr>
        </p:nvSpPr>
        <p:spPr>
          <a:xfrm>
            <a:off x="395536" y="1196752"/>
            <a:ext cx="8229600" cy="5112568"/>
          </a:xfrm>
        </p:spPr>
        <p:txBody>
          <a:bodyPr/>
          <a:lstStyle/>
          <a:p>
            <a:pPr algn="just" eaLnBrk="1" hangingPunct="1">
              <a:lnSpc>
                <a:spcPct val="150000"/>
              </a:lnSpc>
            </a:pPr>
            <a:r>
              <a:rPr lang="en-US" sz="1500" b="1" dirty="0" smtClean="0">
                <a:solidFill>
                  <a:srgbClr val="0070C0"/>
                </a:solidFill>
                <a:latin typeface="Verdana" pitchFamily="34" charset="0"/>
                <a:cs typeface="Times New Roman" pitchFamily="18" charset="0"/>
              </a:rPr>
              <a:t>Affordances </a:t>
            </a:r>
            <a:r>
              <a:rPr lang="en-US" sz="1500" dirty="0" smtClean="0">
                <a:latin typeface="Verdana" pitchFamily="34" charset="0"/>
                <a:cs typeface="Times New Roman" pitchFamily="18" charset="0"/>
              </a:rPr>
              <a:t>are provided by following windows design guidelines. </a:t>
            </a:r>
          </a:p>
          <a:p>
            <a:pPr lvl="1" algn="just" eaLnBrk="1" hangingPunct="1">
              <a:lnSpc>
                <a:spcPct val="150000"/>
              </a:lnSpc>
            </a:pPr>
            <a:r>
              <a:rPr lang="en-US" sz="1500" dirty="0" smtClean="0">
                <a:latin typeface="Verdana" pitchFamily="34" charset="0"/>
                <a:cs typeface="Times New Roman" pitchFamily="18" charset="0"/>
              </a:rPr>
              <a:t>People will expect to see a menu at the top of the screen and will expect the menu items to be displayed when the header is clicked on. Items that are not greyed out will afford selecting. </a:t>
            </a:r>
          </a:p>
          <a:p>
            <a:pPr lvl="1" algn="just" eaLnBrk="1" hangingPunct="1">
              <a:lnSpc>
                <a:spcPct val="150000"/>
              </a:lnSpc>
            </a:pPr>
            <a:r>
              <a:rPr lang="en-US" sz="1500" dirty="0" smtClean="0">
                <a:latin typeface="Verdana" pitchFamily="34" charset="0"/>
                <a:cs typeface="Times New Roman" pitchFamily="18" charset="0"/>
              </a:rPr>
              <a:t>The various ‘widgets’ such as check boxes, radio buttons and text entry boxes should afford selecting because people familiar with the standards will know what to expect. </a:t>
            </a:r>
          </a:p>
          <a:p>
            <a:pPr lvl="1" algn="just" eaLnBrk="1" hangingPunct="1">
              <a:lnSpc>
                <a:spcPct val="150000"/>
              </a:lnSpc>
            </a:pPr>
            <a:r>
              <a:rPr lang="en-US" sz="1500" dirty="0" smtClean="0">
                <a:latin typeface="Verdana" pitchFamily="34" charset="0"/>
                <a:cs typeface="Times New Roman" pitchFamily="18" charset="0"/>
              </a:rPr>
              <a:t>However, care needs to be taken to ensure that opportunities are easily and correctly perceived. </a:t>
            </a:r>
          </a:p>
          <a:p>
            <a:pPr lvl="1" algn="just" eaLnBrk="1" hangingPunct="1">
              <a:lnSpc>
                <a:spcPct val="150000"/>
              </a:lnSpc>
            </a:pPr>
            <a:r>
              <a:rPr lang="en-US" sz="1500" dirty="0" smtClean="0">
                <a:latin typeface="Verdana" pitchFamily="34" charset="0"/>
                <a:cs typeface="Times New Roman" pitchFamily="18" charset="0"/>
              </a:rPr>
              <a:t>On mobile devices the physical buttons afford pressing, but because of the limited screen space the same button has to do different things at different times. </a:t>
            </a:r>
          </a:p>
          <a:p>
            <a:pPr algn="just" eaLnBrk="1" hangingPunct="1">
              <a:lnSpc>
                <a:spcPct val="150000"/>
              </a:lnSpc>
            </a:pPr>
            <a:r>
              <a:rPr lang="en-US" sz="1500" dirty="0" smtClean="0">
                <a:latin typeface="Verdana" pitchFamily="34" charset="0"/>
                <a:cs typeface="Times New Roman" pitchFamily="18" charset="0"/>
              </a:rPr>
              <a:t>This leads to problems of consistency.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p:txBody>
          <a:bodyPr/>
          <a:lstStyle/>
          <a:p>
            <a:pPr eaLnBrk="1" hangingPunct="1">
              <a:lnSpc>
                <a:spcPct val="120000"/>
              </a:lnSpc>
            </a:pPr>
            <a:r>
              <a:rPr lang="en-US" sz="1500" b="1" dirty="0" smtClean="0">
                <a:solidFill>
                  <a:srgbClr val="0070C0"/>
                </a:solidFill>
                <a:latin typeface="Verdana" pitchFamily="34" charset="0"/>
                <a:ea typeface="ヒラギノ角ゴ Pro W3"/>
                <a:cs typeface="ヒラギノ角ゴ Pro W3"/>
              </a:rPr>
              <a:t>Navigation and control</a:t>
            </a:r>
          </a:p>
        </p:txBody>
      </p:sp>
      <p:sp>
        <p:nvSpPr>
          <p:cNvPr id="65538" name="Text Placeholder 2"/>
          <p:cNvSpPr>
            <a:spLocks noGrp="1"/>
          </p:cNvSpPr>
          <p:nvPr>
            <p:ph type="body" idx="1"/>
          </p:nvPr>
        </p:nvSpPr>
        <p:spPr/>
        <p:txBody>
          <a:bodyPr/>
          <a:lstStyle/>
          <a:p>
            <a:pPr eaLnBrk="1" hangingPunct="1">
              <a:lnSpc>
                <a:spcPct val="120000"/>
              </a:lnSpc>
            </a:pPr>
            <a:r>
              <a:rPr lang="en-US" sz="1500" dirty="0" smtClean="0">
                <a:latin typeface="Verdana" pitchFamily="34" charset="0"/>
                <a:cs typeface="Times New Roman" pitchFamily="18" charset="0"/>
              </a:rPr>
              <a:t>Menus are also the main form of navigation in windows applications. </a:t>
            </a:r>
          </a:p>
          <a:p>
            <a:pPr eaLnBrk="1" hangingPunct="1">
              <a:lnSpc>
                <a:spcPct val="120000"/>
              </a:lnSpc>
            </a:pPr>
            <a:r>
              <a:rPr lang="en-US" sz="1500" dirty="0" smtClean="0">
                <a:latin typeface="Verdana" pitchFamily="34" charset="0"/>
                <a:cs typeface="Times New Roman" pitchFamily="18" charset="0"/>
              </a:rPr>
              <a:t>People move around the application by selecting items from menus and then by following dialogue structures. </a:t>
            </a:r>
          </a:p>
          <a:p>
            <a:pPr eaLnBrk="1" hangingPunct="1">
              <a:lnSpc>
                <a:spcPct val="120000"/>
              </a:lnSpc>
            </a:pPr>
            <a:r>
              <a:rPr lang="en-US" sz="1500" dirty="0" smtClean="0">
                <a:latin typeface="Verdana" pitchFamily="34" charset="0"/>
                <a:cs typeface="Times New Roman" pitchFamily="18" charset="0"/>
              </a:rPr>
              <a:t>Many windows applications make use of ‘wizards’. </a:t>
            </a:r>
          </a:p>
          <a:p>
            <a:pPr eaLnBrk="1" hangingPunct="1">
              <a:lnSpc>
                <a:spcPct val="120000"/>
              </a:lnSpc>
            </a:pPr>
            <a:r>
              <a:rPr lang="en-US" sz="1500" dirty="0" smtClean="0">
                <a:latin typeface="Verdana" pitchFamily="34" charset="0"/>
                <a:cs typeface="Times New Roman" pitchFamily="18" charset="0"/>
              </a:rPr>
              <a:t>These provide step-by-step instructions for undertaking a sequence of operations, allowing users to go forward and backwards to ensure that all steps are completed.</a:t>
            </a:r>
          </a:p>
          <a:p>
            <a:pPr eaLnBrk="1" hangingPunct="1">
              <a:lnSpc>
                <a:spcPct val="120000"/>
              </a:lnSpc>
            </a:pPr>
            <a:r>
              <a:rPr lang="en-US" sz="1500" dirty="0" smtClean="0">
                <a:latin typeface="Verdana" pitchFamily="34" charset="0"/>
                <a:cs typeface="Times New Roman" pitchFamily="18" charset="0"/>
              </a:rPr>
              <a:t>Control is usually left in the hands of the users. </a:t>
            </a:r>
          </a:p>
          <a:p>
            <a:pPr eaLnBrk="1" hangingPunct="1">
              <a:lnSpc>
                <a:spcPct val="120000"/>
              </a:lnSpc>
            </a:pPr>
            <a:r>
              <a:rPr lang="en-US" sz="1500" dirty="0" smtClean="0">
                <a:latin typeface="Verdana" pitchFamily="34" charset="0"/>
                <a:cs typeface="Times New Roman" pitchFamily="18" charset="0"/>
              </a:rPr>
              <a:t>They have to initiate actions, although some features that provide security features are undertaken automatically. </a:t>
            </a:r>
          </a:p>
          <a:p>
            <a:pPr eaLnBrk="1" hangingPunct="1">
              <a:lnSpc>
                <a:spcPct val="120000"/>
              </a:lnSpc>
            </a:pPr>
            <a:r>
              <a:rPr lang="en-US" sz="1500" dirty="0" smtClean="0">
                <a:latin typeface="Verdana" pitchFamily="34" charset="0"/>
                <a:cs typeface="Times New Roman" pitchFamily="18" charset="0"/>
              </a:rPr>
              <a:t>Many applications, for example, automatically save people’s work to help with recovery if mistakes are made.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Placeholder 2"/>
          <p:cNvSpPr>
            <a:spLocks noGrp="1"/>
          </p:cNvSpPr>
          <p:nvPr>
            <p:ph type="body" idx="1"/>
          </p:nvPr>
        </p:nvSpPr>
        <p:spPr>
          <a:xfrm>
            <a:off x="323528" y="476672"/>
            <a:ext cx="8507288" cy="5760640"/>
          </a:xfrm>
        </p:spPr>
        <p:txBody>
          <a:bodyPr/>
          <a:lstStyle/>
          <a:p>
            <a:pPr algn="just" eaLnBrk="1" hangingPunct="1"/>
            <a:r>
              <a:rPr lang="en-US" sz="1500" b="1" dirty="0" smtClean="0">
                <a:solidFill>
                  <a:srgbClr val="0070C0"/>
                </a:solidFill>
                <a:latin typeface="Verdana" pitchFamily="34" charset="0"/>
                <a:cs typeface="Times New Roman" pitchFamily="18" charset="0"/>
              </a:rPr>
              <a:t>Feedback</a:t>
            </a:r>
            <a:r>
              <a:rPr lang="en-US" sz="1500" dirty="0" smtClean="0">
                <a:latin typeface="Verdana" pitchFamily="34" charset="0"/>
                <a:cs typeface="Times New Roman" pitchFamily="18" charset="0"/>
              </a:rPr>
              <a:t> is provided in a variety of ways. </a:t>
            </a:r>
          </a:p>
          <a:p>
            <a:pPr algn="just" eaLnBrk="1" hangingPunct="1"/>
            <a:r>
              <a:rPr lang="en-US" sz="1500" dirty="0" smtClean="0">
                <a:latin typeface="Verdana" pitchFamily="34" charset="0"/>
                <a:cs typeface="Times New Roman" pitchFamily="18" charset="0"/>
              </a:rPr>
              <a:t>A ‘bee’ symbol or an ‘egg timer’ symbol is used to indicate that the system is busy doing something. </a:t>
            </a:r>
          </a:p>
          <a:p>
            <a:pPr algn="just" eaLnBrk="1" hangingPunct="1"/>
            <a:r>
              <a:rPr lang="en-US" sz="1500" dirty="0" smtClean="0">
                <a:latin typeface="Verdana" pitchFamily="34" charset="0"/>
                <a:cs typeface="Times New Roman" pitchFamily="18" charset="0"/>
              </a:rPr>
              <a:t>Counters and progress bars are used to indicate how much of an operation is complete. </a:t>
            </a:r>
          </a:p>
          <a:p>
            <a:pPr algn="just" eaLnBrk="1" hangingPunct="1"/>
            <a:r>
              <a:rPr lang="en-US" sz="1500" dirty="0" smtClean="0">
                <a:latin typeface="Verdana" pitchFamily="34" charset="0"/>
                <a:cs typeface="Times New Roman" pitchFamily="18" charset="0"/>
              </a:rPr>
              <a:t>Feedback can be provided through sound such as a beep when a message is received on an e-mail system or a sound to indicate that a file has been safely saved.</a:t>
            </a:r>
          </a:p>
          <a:p>
            <a:pPr marL="0" indent="0" algn="just" eaLnBrk="1" hangingPunct="1">
              <a:buNone/>
            </a:pPr>
            <a:endParaRPr lang="en-US" sz="1500" dirty="0" smtClean="0">
              <a:latin typeface="Verdana" pitchFamily="34" charset="0"/>
              <a:cs typeface="Times New Roman" pitchFamily="18" charset="0"/>
            </a:endParaRPr>
          </a:p>
          <a:p>
            <a:pPr algn="just" eaLnBrk="1" hangingPunct="1"/>
            <a:r>
              <a:rPr lang="en-US" sz="1500" b="1" dirty="0" smtClean="0">
                <a:solidFill>
                  <a:srgbClr val="0070C0"/>
                </a:solidFill>
                <a:latin typeface="Verdana" pitchFamily="34" charset="0"/>
                <a:cs typeface="Times New Roman" pitchFamily="18" charset="0"/>
              </a:rPr>
              <a:t>Flexibility</a:t>
            </a:r>
            <a:r>
              <a:rPr lang="en-US" sz="1500" dirty="0" smtClean="0">
                <a:latin typeface="Verdana" pitchFamily="34" charset="0"/>
                <a:cs typeface="Times New Roman" pitchFamily="18" charset="0"/>
              </a:rPr>
              <a:t> is provided with things such as short-cut keys, allowing more expert users to use combinations of keyboard controls in place of using menus to initiate commands and navigate through the system. </a:t>
            </a:r>
          </a:p>
          <a:p>
            <a:pPr algn="just" eaLnBrk="1" hangingPunct="1"/>
            <a:r>
              <a:rPr lang="en-US" sz="1500" dirty="0" smtClean="0">
                <a:latin typeface="Verdana" pitchFamily="34" charset="0"/>
                <a:cs typeface="Times New Roman" pitchFamily="18" charset="0"/>
              </a:rPr>
              <a:t>Many applications allow the user to set their own preferences, to configure features such as the navigation bars and menu items and to disable features that are not often used.</a:t>
            </a:r>
          </a:p>
          <a:p>
            <a:pPr marL="0" indent="0" algn="just" eaLnBrk="1" hangingPunct="1">
              <a:buNone/>
            </a:pPr>
            <a:endParaRPr lang="en-US" sz="1500" dirty="0" smtClean="0">
              <a:latin typeface="Verdana" pitchFamily="34" charset="0"/>
              <a:cs typeface="Times New Roman" pitchFamily="18" charset="0"/>
            </a:endParaRPr>
          </a:p>
          <a:p>
            <a:pPr algn="just" eaLnBrk="1" hangingPunct="1"/>
            <a:r>
              <a:rPr lang="en-US" sz="1500" dirty="0" smtClean="0">
                <a:latin typeface="Verdana" pitchFamily="34" charset="0"/>
                <a:cs typeface="Times New Roman" pitchFamily="18" charset="0"/>
              </a:rPr>
              <a:t>In </a:t>
            </a:r>
            <a:r>
              <a:rPr lang="en-US" sz="1500" dirty="0">
                <a:latin typeface="Verdana" pitchFamily="34" charset="0"/>
                <a:cs typeface="Times New Roman" pitchFamily="18" charset="0"/>
              </a:rPr>
              <a:t>terms </a:t>
            </a:r>
            <a:r>
              <a:rPr lang="en-US" sz="1500" dirty="0" smtClean="0">
                <a:latin typeface="Verdana" pitchFamily="34" charset="0"/>
                <a:cs typeface="Times New Roman" pitchFamily="18" charset="0"/>
              </a:rPr>
              <a:t>of </a:t>
            </a:r>
            <a:r>
              <a:rPr lang="en-US" sz="1500" b="1" dirty="0">
                <a:solidFill>
                  <a:srgbClr val="0070C0"/>
                </a:solidFill>
                <a:latin typeface="Verdana" pitchFamily="34" charset="0"/>
                <a:ea typeface="ヒラギノ角ゴ Pro W3"/>
                <a:cs typeface="ヒラギノ角ゴ Pro W3"/>
              </a:rPr>
              <a:t>Style and </a:t>
            </a:r>
            <a:r>
              <a:rPr lang="en-US" sz="1500" b="1" dirty="0" smtClean="0">
                <a:solidFill>
                  <a:srgbClr val="0070C0"/>
                </a:solidFill>
                <a:latin typeface="Verdana" pitchFamily="34" charset="0"/>
                <a:ea typeface="ヒラギノ角ゴ Pro W3"/>
                <a:cs typeface="ヒラギノ角ゴ Pro W3"/>
              </a:rPr>
              <a:t>conviviality</a:t>
            </a:r>
            <a:r>
              <a:rPr lang="en-US" sz="1500" dirty="0" smtClean="0">
                <a:latin typeface="Verdana" pitchFamily="34" charset="0"/>
                <a:cs typeface="Times New Roman" pitchFamily="18" charset="0"/>
              </a:rPr>
              <a:t>, </a:t>
            </a:r>
            <a:r>
              <a:rPr lang="en-US" sz="1500" dirty="0">
                <a:latin typeface="Verdana" pitchFamily="34" charset="0"/>
                <a:cs typeface="Times New Roman" pitchFamily="18" charset="0"/>
              </a:rPr>
              <a:t>windows applications are rather limited as they should remain within the standard design guidelines. </a:t>
            </a:r>
          </a:p>
          <a:p>
            <a:pPr algn="just" eaLnBrk="1" hangingPunct="1"/>
            <a:r>
              <a:rPr lang="en-US" sz="1500" dirty="0">
                <a:latin typeface="Verdana" pitchFamily="34" charset="0"/>
                <a:cs typeface="Times New Roman" pitchFamily="18" charset="0"/>
              </a:rPr>
              <a:t>Error messages are one area where the designer can move towards a more convivial design by thinking hard about the words used on the messages. </a:t>
            </a:r>
          </a:p>
          <a:p>
            <a:pPr algn="just" eaLnBrk="1" hangingPunct="1"/>
            <a:r>
              <a:rPr lang="en-US" sz="1500" dirty="0">
                <a:latin typeface="Verdana" pitchFamily="34" charset="0"/>
                <a:cs typeface="Times New Roman" pitchFamily="18" charset="0"/>
              </a:rPr>
              <a:t>However, all too frequently messages appear very abruptly and interrupt people unnecessarily.</a:t>
            </a:r>
          </a:p>
          <a:p>
            <a:pPr marL="0" indent="0" algn="just" eaLnBrk="1" hangingPunct="1">
              <a:buNone/>
            </a:pPr>
            <a:endParaRPr lang="en-US" sz="1500" dirty="0" smtClean="0">
              <a:latin typeface="Verdana" pitchFamily="34"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a:xfrm>
            <a:off x="457200" y="274638"/>
            <a:ext cx="8229600" cy="634082"/>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Usability in web design</a:t>
            </a:r>
          </a:p>
        </p:txBody>
      </p:sp>
      <p:sp>
        <p:nvSpPr>
          <p:cNvPr id="68610" name="Text Placeholder 2"/>
          <p:cNvSpPr>
            <a:spLocks noGrp="1"/>
          </p:cNvSpPr>
          <p:nvPr>
            <p:ph type="body" idx="1"/>
          </p:nvPr>
        </p:nvSpPr>
        <p:spPr>
          <a:xfrm>
            <a:off x="323528" y="980728"/>
            <a:ext cx="8507288" cy="5184576"/>
          </a:xfrm>
        </p:spPr>
        <p:txBody>
          <a:bodyPr/>
          <a:lstStyle/>
          <a:p>
            <a:pPr algn="just" eaLnBrk="1" hangingPunct="1">
              <a:lnSpc>
                <a:spcPct val="150000"/>
              </a:lnSpc>
            </a:pPr>
            <a:r>
              <a:rPr lang="en-US" sz="1500" dirty="0" smtClean="0">
                <a:latin typeface="Verdana" pitchFamily="34" charset="0"/>
                <a:cs typeface="Times New Roman" pitchFamily="18" charset="0"/>
              </a:rPr>
              <a:t>Navigation is a central issue in web site design. </a:t>
            </a:r>
          </a:p>
          <a:p>
            <a:pPr algn="just" eaLnBrk="1" hangingPunct="1">
              <a:lnSpc>
                <a:spcPct val="150000"/>
              </a:lnSpc>
            </a:pPr>
            <a:r>
              <a:rPr lang="en-US" sz="1500" dirty="0" smtClean="0">
                <a:latin typeface="Verdana" pitchFamily="34" charset="0"/>
                <a:cs typeface="Times New Roman" pitchFamily="18" charset="0"/>
              </a:rPr>
              <a:t>Even if a site is well focused, it will soon get large and so issues of how to move around a website become important. </a:t>
            </a:r>
          </a:p>
          <a:p>
            <a:pPr algn="just" eaLnBrk="1" hangingPunct="1">
              <a:lnSpc>
                <a:spcPct val="150000"/>
              </a:lnSpc>
            </a:pPr>
            <a:r>
              <a:rPr lang="en-US" sz="1500" dirty="0" smtClean="0">
                <a:latin typeface="Verdana" pitchFamily="34" charset="0"/>
                <a:cs typeface="Times New Roman" pitchFamily="18" charset="0"/>
              </a:rPr>
              <a:t>Designers need to provide support to enable people to discover the structure and content of the site and to find their way to a particular part of the site. </a:t>
            </a:r>
          </a:p>
          <a:p>
            <a:pPr algn="just" eaLnBrk="1" hangingPunct="1">
              <a:lnSpc>
                <a:spcPct val="150000"/>
              </a:lnSpc>
            </a:pPr>
            <a:r>
              <a:rPr lang="en-US" sz="1500" dirty="0" smtClean="0">
                <a:latin typeface="Verdana" pitchFamily="34" charset="0"/>
                <a:cs typeface="Times New Roman" pitchFamily="18" charset="0"/>
              </a:rPr>
              <a:t>Information architecture is an established area of study devoted to designing websites.</a:t>
            </a:r>
          </a:p>
          <a:p>
            <a:pPr algn="just" eaLnBrk="1" hangingPunct="1">
              <a:lnSpc>
                <a:spcPct val="150000"/>
              </a:lnSpc>
            </a:pPr>
            <a:r>
              <a:rPr lang="en-US" sz="1500" dirty="0" smtClean="0">
                <a:latin typeface="Verdana" pitchFamily="34" charset="0"/>
                <a:cs typeface="Times New Roman" pitchFamily="18" charset="0"/>
              </a:rPr>
              <a:t>A key feature of consistency is the use of standard Web features such as a blue underline for showing a link.  </a:t>
            </a:r>
          </a:p>
          <a:p>
            <a:pPr algn="just" eaLnBrk="1" hangingPunct="1">
              <a:lnSpc>
                <a:spcPct val="150000"/>
              </a:lnSpc>
            </a:pPr>
            <a:r>
              <a:rPr lang="en-US" sz="1500" dirty="0" smtClean="0">
                <a:latin typeface="Verdana" pitchFamily="34" charset="0"/>
                <a:cs typeface="Times New Roman" pitchFamily="18" charset="0"/>
              </a:rPr>
              <a:t>Many sites confuse people by not making links sufficiently visible </a:t>
            </a:r>
            <a:r>
              <a:rPr lang="en-US" sz="1500" dirty="0">
                <a:latin typeface="Verdana" pitchFamily="34" charset="0"/>
                <a:cs typeface="Times New Roman" pitchFamily="18" charset="0"/>
              </a:rPr>
              <a:t>&amp;</a:t>
            </a:r>
            <a:r>
              <a:rPr lang="en-US" sz="1500" dirty="0" smtClean="0">
                <a:latin typeface="Verdana" pitchFamily="34" charset="0"/>
                <a:cs typeface="Times New Roman" pitchFamily="18" charset="0"/>
              </a:rPr>
              <a:t> distinguishable from other text in the site. </a:t>
            </a:r>
            <a:r>
              <a:rPr lang="en-US" sz="1500" dirty="0">
                <a:latin typeface="Verdana" pitchFamily="34" charset="0"/>
                <a:cs typeface="Times New Roman" pitchFamily="18" charset="0"/>
              </a:rPr>
              <a:t>(</a:t>
            </a:r>
            <a:r>
              <a:rPr lang="en-US" sz="1500" u="sng" dirty="0">
                <a:solidFill>
                  <a:srgbClr val="0070C0"/>
                </a:solidFill>
                <a:latin typeface="Verdana" pitchFamily="34" charset="0"/>
                <a:cs typeface="Times New Roman" pitchFamily="18" charset="0"/>
              </a:rPr>
              <a:t>here</a:t>
            </a:r>
            <a:r>
              <a:rPr lang="en-US" sz="1500" dirty="0">
                <a:latin typeface="Verdana" pitchFamily="34" charset="0"/>
                <a:cs typeface="Times New Roman" pitchFamily="18" charset="0"/>
              </a:rPr>
              <a:t>) </a:t>
            </a:r>
            <a:r>
              <a:rPr lang="en-US" sz="1500" dirty="0" smtClean="0">
                <a:latin typeface="Verdana" pitchFamily="34" charset="0"/>
                <a:cs typeface="Times New Roman" pitchFamily="18" charset="0"/>
              </a:rPr>
              <a:t>(Click</a:t>
            </a:r>
            <a:r>
              <a:rPr lang="en-US" sz="1500" dirty="0" smtClean="0">
                <a:solidFill>
                  <a:srgbClr val="0070C0"/>
                </a:solidFill>
                <a:latin typeface="Verdana" pitchFamily="34" charset="0"/>
                <a:cs typeface="Times New Roman" pitchFamily="18" charset="0"/>
              </a:rPr>
              <a:t> </a:t>
            </a:r>
            <a:r>
              <a:rPr lang="en-US" sz="1500" u="sng" dirty="0" smtClean="0">
                <a:solidFill>
                  <a:srgbClr val="0070C0"/>
                </a:solidFill>
                <a:latin typeface="Verdana" pitchFamily="34" charset="0"/>
                <a:cs typeface="Times New Roman" pitchFamily="18" charset="0"/>
              </a:rPr>
              <a:t>here</a:t>
            </a:r>
            <a:r>
              <a:rPr lang="en-US" sz="1500" dirty="0" smtClean="0">
                <a:latin typeface="Verdana" pitchFamily="34" charset="0"/>
                <a:cs typeface="Times New Roman" pitchFamily="18" charset="0"/>
              </a:rPr>
              <a:t>) (For apply, </a:t>
            </a:r>
            <a:r>
              <a:rPr lang="en-US" sz="1500" u="sng" dirty="0" smtClean="0">
                <a:solidFill>
                  <a:srgbClr val="0070C0"/>
                </a:solidFill>
                <a:latin typeface="Verdana" pitchFamily="34" charset="0"/>
                <a:cs typeface="Times New Roman" pitchFamily="18" charset="0"/>
              </a:rPr>
              <a:t>click </a:t>
            </a:r>
            <a:r>
              <a:rPr lang="en-US" sz="1500" u="sng" dirty="0">
                <a:solidFill>
                  <a:srgbClr val="0070C0"/>
                </a:solidFill>
                <a:latin typeface="Verdana" pitchFamily="34" charset="0"/>
                <a:cs typeface="Times New Roman" pitchFamily="18" charset="0"/>
              </a:rPr>
              <a:t>here</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p:cNvSpPr>
            <a:spLocks noGrp="1"/>
          </p:cNvSpPr>
          <p:nvPr>
            <p:ph type="title"/>
          </p:nvPr>
        </p:nvSpPr>
        <p:spPr>
          <a:xfrm>
            <a:off x="457200" y="274638"/>
            <a:ext cx="8229600" cy="706090"/>
          </a:xfrm>
        </p:spPr>
        <p:txBody>
          <a:bodyPr/>
          <a:lstStyle/>
          <a:p>
            <a:pPr eaLnBrk="1" hangingPunct="1">
              <a:lnSpc>
                <a:spcPct val="120000"/>
              </a:lnSpc>
            </a:pPr>
            <a:r>
              <a:rPr lang="en-US" sz="2000" b="1" dirty="0" smtClean="0">
                <a:latin typeface="Verdana" pitchFamily="34" charset="0"/>
                <a:ea typeface="ヒラギノ角ゴ Pro W3"/>
                <a:cs typeface="ヒラギノ角ゴ Pro W3"/>
              </a:rPr>
              <a:t>Usability in web design</a:t>
            </a:r>
          </a:p>
        </p:txBody>
      </p:sp>
      <p:sp>
        <p:nvSpPr>
          <p:cNvPr id="69634" name="Text Placeholder 2"/>
          <p:cNvSpPr>
            <a:spLocks noGrp="1"/>
          </p:cNvSpPr>
          <p:nvPr>
            <p:ph type="body" idx="1"/>
          </p:nvPr>
        </p:nvSpPr>
        <p:spPr>
          <a:xfrm>
            <a:off x="457200" y="970721"/>
            <a:ext cx="8229600" cy="5410607"/>
          </a:xfrm>
        </p:spPr>
        <p:txBody>
          <a:bodyPr/>
          <a:lstStyle/>
          <a:p>
            <a:pPr algn="just" eaLnBrk="1" hangingPunct="1">
              <a:lnSpc>
                <a:spcPct val="150000"/>
              </a:lnSpc>
            </a:pPr>
            <a:r>
              <a:rPr lang="en-US" sz="1500" dirty="0" smtClean="0">
                <a:solidFill>
                  <a:srgbClr val="FF0000"/>
                </a:solidFill>
                <a:latin typeface="Verdana" pitchFamily="34" charset="0"/>
                <a:cs typeface="Times New Roman" pitchFamily="18" charset="0"/>
              </a:rPr>
              <a:t>Issues of recovery</a:t>
            </a:r>
            <a:r>
              <a:rPr lang="en-US" sz="1500" i="1" dirty="0" smtClean="0">
                <a:solidFill>
                  <a:srgbClr val="FF0000"/>
                </a:solidFill>
                <a:latin typeface="Verdana" pitchFamily="34" charset="0"/>
                <a:cs typeface="Times New Roman" pitchFamily="18" charset="0"/>
              </a:rPr>
              <a:t>, feedback and control figure most highly in shopping sites. </a:t>
            </a:r>
          </a:p>
          <a:p>
            <a:pPr algn="just" eaLnBrk="1" hangingPunct="1">
              <a:lnSpc>
                <a:spcPct val="150000"/>
              </a:lnSpc>
            </a:pPr>
            <a:r>
              <a:rPr lang="en-US" sz="1500" dirty="0" smtClean="0">
                <a:latin typeface="Verdana" pitchFamily="34" charset="0"/>
                <a:cs typeface="Times New Roman" pitchFamily="18" charset="0"/>
              </a:rPr>
              <a:t>There are often long pauses when processing things such as a payment transaction. </a:t>
            </a:r>
          </a:p>
          <a:p>
            <a:pPr algn="just" eaLnBrk="1" hangingPunct="1">
              <a:lnSpc>
                <a:spcPct val="150000"/>
              </a:lnSpc>
            </a:pPr>
            <a:r>
              <a:rPr lang="en-US" sz="1500" dirty="0" smtClean="0">
                <a:latin typeface="Verdana" pitchFamily="34" charset="0"/>
                <a:cs typeface="Times New Roman" pitchFamily="18" charset="0"/>
              </a:rPr>
              <a:t>Feedback is critical here and statements such as ‘this action may take 45 seconds to complete’ are used to persuade people not to do anything while the transaction is processed. </a:t>
            </a:r>
          </a:p>
          <a:p>
            <a:pPr algn="just" eaLnBrk="1" hangingPunct="1">
              <a:lnSpc>
                <a:spcPct val="150000"/>
              </a:lnSpc>
            </a:pPr>
            <a:r>
              <a:rPr lang="en-US" sz="1500" dirty="0" smtClean="0">
                <a:latin typeface="Verdana" pitchFamily="34" charset="0"/>
                <a:cs typeface="Times New Roman" pitchFamily="18" charset="0"/>
              </a:rPr>
              <a:t>However, there is no way of enforcing constraints in these circumstances. .</a:t>
            </a:r>
          </a:p>
          <a:p>
            <a:pPr algn="just" eaLnBrk="1" hangingPunct="1">
              <a:lnSpc>
                <a:spcPct val="150000"/>
              </a:lnSpc>
            </a:pPr>
            <a:r>
              <a:rPr lang="en-US" sz="1500" dirty="0" smtClean="0">
                <a:latin typeface="Verdana" pitchFamily="34" charset="0"/>
                <a:cs typeface="Times New Roman" pitchFamily="18" charset="0"/>
              </a:rPr>
              <a:t>Conviviality can be provided by allowing people to join in, to support and create communities. </a:t>
            </a:r>
          </a:p>
          <a:p>
            <a:pPr algn="just" eaLnBrk="1" hangingPunct="1">
              <a:lnSpc>
                <a:spcPct val="150000"/>
              </a:lnSpc>
            </a:pPr>
            <a:r>
              <a:rPr lang="en-US" sz="1500" dirty="0" smtClean="0">
                <a:latin typeface="Verdana" pitchFamily="34" charset="0"/>
                <a:cs typeface="Times New Roman" pitchFamily="18" charset="0"/>
              </a:rPr>
              <a:t>Unlike windows applications, websites can easily connect people with other. </a:t>
            </a:r>
          </a:p>
          <a:p>
            <a:pPr algn="just" eaLnBrk="1" hangingPunct="1">
              <a:lnSpc>
                <a:spcPct val="150000"/>
              </a:lnSpc>
            </a:pPr>
            <a:r>
              <a:rPr lang="en-US" sz="1500" dirty="0" smtClean="0">
                <a:latin typeface="Verdana" pitchFamily="34" charset="0"/>
                <a:cs typeface="Times New Roman" pitchFamily="18" charset="0"/>
              </a:rPr>
              <a:t>Style is also key to websites and offers the most opportunities for designers to demonstrate their creative flair. </a:t>
            </a:r>
          </a:p>
          <a:p>
            <a:pPr algn="just" eaLnBrk="1" hangingPunct="1">
              <a:lnSpc>
                <a:spcPct val="150000"/>
              </a:lnSpc>
            </a:pPr>
            <a:r>
              <a:rPr lang="en-US" sz="1500" dirty="0" smtClean="0">
                <a:latin typeface="Verdana" pitchFamily="34" charset="0"/>
                <a:cs typeface="Times New Roman" pitchFamily="18" charset="0"/>
              </a:rPr>
              <a:t>The use of animation, video and other design features can really develop a whole sense of engagement with the site.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4961</TotalTime>
  <Words>4631</Words>
  <Application>Microsoft Office PowerPoint</Application>
  <PresentationFormat>On-screen Show (4:3)</PresentationFormat>
  <Paragraphs>275</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ヒラギノ角ゴ Pro W3</vt:lpstr>
      <vt:lpstr>Arial</vt:lpstr>
      <vt:lpstr>Calibri</vt:lpstr>
      <vt:lpstr>Times New Roman</vt:lpstr>
      <vt:lpstr>Verdana</vt:lpstr>
      <vt:lpstr>Office Theme</vt:lpstr>
      <vt:lpstr>Usability</vt:lpstr>
      <vt:lpstr>Good design</vt:lpstr>
      <vt:lpstr>Three main things</vt:lpstr>
      <vt:lpstr>Accessibility</vt:lpstr>
      <vt:lpstr>Exclusions</vt:lpstr>
      <vt:lpstr>Overcoming barriers </vt:lpstr>
      <vt:lpstr>Inclusive design </vt:lpstr>
      <vt:lpstr>Principles of Universal Design</vt:lpstr>
      <vt:lpstr>Accessibility</vt:lpstr>
      <vt:lpstr>Assistive Technologies</vt:lpstr>
      <vt:lpstr>Accessibility Options</vt:lpstr>
      <vt:lpstr>Design for all</vt:lpstr>
      <vt:lpstr>Usability</vt:lpstr>
      <vt:lpstr>Usability and PACT</vt:lpstr>
      <vt:lpstr>An important feature of human–computer interaction. </vt:lpstr>
      <vt:lpstr>People–technology system </vt:lpstr>
      <vt:lpstr>Technology in the way</vt:lpstr>
      <vt:lpstr>Technological breakdown</vt:lpstr>
      <vt:lpstr>Usability and mental models</vt:lpstr>
      <vt:lpstr>Acceptability</vt:lpstr>
      <vt:lpstr>The Technology Acceptance Model</vt:lpstr>
      <vt:lpstr>The 5 key features of acceptability</vt:lpstr>
      <vt:lpstr>PowerPoint Presentation</vt:lpstr>
      <vt:lpstr>5)  Economic acceptability</vt:lpstr>
      <vt:lpstr>Design principles</vt:lpstr>
      <vt:lpstr>Designing user experience from a human-centred perspective (provided in pdf document as well)</vt:lpstr>
      <vt:lpstr>1 Visibility </vt:lpstr>
      <vt:lpstr>2 Consistency </vt:lpstr>
      <vt:lpstr>PowerPoint Presentation</vt:lpstr>
      <vt:lpstr>8 Recovery </vt:lpstr>
      <vt:lpstr>11 Style </vt:lpstr>
      <vt:lpstr>Design principles in action</vt:lpstr>
      <vt:lpstr>Screen design </vt:lpstr>
      <vt:lpstr>Working with people</vt:lpstr>
      <vt:lpstr>Affordances </vt:lpstr>
      <vt:lpstr>Navigation and control</vt:lpstr>
      <vt:lpstr>PowerPoint Presentation</vt:lpstr>
      <vt:lpstr>Usability in web design</vt:lpstr>
      <vt:lpstr>Usability in web design</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Usability</dc:title>
  <dc:creator>david benyon</dc:creator>
  <cp:lastModifiedBy>SANA</cp:lastModifiedBy>
  <cp:revision>192</cp:revision>
  <dcterms:created xsi:type="dcterms:W3CDTF">2010-01-29T13:31:58Z</dcterms:created>
  <dcterms:modified xsi:type="dcterms:W3CDTF">2025-03-13T00:48:12Z</dcterms:modified>
</cp:coreProperties>
</file>