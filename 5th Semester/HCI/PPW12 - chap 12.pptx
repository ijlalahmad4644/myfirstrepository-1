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7" r:id="rId2"/>
    <p:sldId id="259" r:id="rId3"/>
    <p:sldId id="261" r:id="rId4"/>
    <p:sldId id="263" r:id="rId5"/>
    <p:sldId id="264" r:id="rId6"/>
    <p:sldId id="265" r:id="rId7"/>
    <p:sldId id="267" r:id="rId8"/>
    <p:sldId id="268" r:id="rId9"/>
    <p:sldId id="269" r:id="rId10"/>
    <p:sldId id="270" r:id="rId11"/>
    <p:sldId id="271" r:id="rId12"/>
    <p:sldId id="272" r:id="rId13"/>
    <p:sldId id="273" r:id="rId14"/>
    <p:sldId id="274" r:id="rId15"/>
    <p:sldId id="275" r:id="rId16"/>
    <p:sldId id="277" r:id="rId17"/>
    <p:sldId id="278" r:id="rId18"/>
    <p:sldId id="279" r:id="rId19"/>
    <p:sldId id="280" r:id="rId20"/>
    <p:sldId id="281" r:id="rId21"/>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602" autoAdjust="0"/>
    <p:restoredTop sz="94343" autoAdjust="0"/>
  </p:normalViewPr>
  <p:slideViewPr>
    <p:cSldViewPr snapToObjects="1">
      <p:cViewPr varScale="1">
        <p:scale>
          <a:sx n="69" d="100"/>
          <a:sy n="69" d="100"/>
        </p:scale>
        <p:origin x="774" y="66"/>
      </p:cViewPr>
      <p:guideLst>
        <p:guide orient="horz" pos="2160"/>
        <p:guide pos="2880"/>
      </p:guideLst>
    </p:cSldViewPr>
  </p:slideViewPr>
  <p:outlineViewPr>
    <p:cViewPr>
      <p:scale>
        <a:sx n="33" d="100"/>
        <a:sy n="33" d="100"/>
      </p:scale>
      <p:origin x="0" y="38982"/>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6E047D-153E-48D4-8CDF-39B10EFA9743}" type="datetimeFigureOut">
              <a:rPr lang="en-US" smtClean="0"/>
              <a:t>14-May-25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CEC6F2-B222-4604-BF21-C7B7F3DCAB75}" type="slidenum">
              <a:rPr lang="en-US" smtClean="0"/>
              <a:t>‹#›</a:t>
            </a:fld>
            <a:endParaRPr lang="en-US"/>
          </a:p>
        </p:txBody>
      </p:sp>
    </p:spTree>
    <p:extLst>
      <p:ext uri="{BB962C8B-B14F-4D97-AF65-F5344CB8AC3E}">
        <p14:creationId xmlns:p14="http://schemas.microsoft.com/office/powerpoint/2010/main" val="833382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CEC6F2-B222-4604-BF21-C7B7F3DCAB75}" type="slidenum">
              <a:rPr lang="en-US" smtClean="0"/>
              <a:t>1</a:t>
            </a:fld>
            <a:endParaRPr lang="en-US"/>
          </a:p>
        </p:txBody>
      </p:sp>
    </p:spTree>
    <p:extLst>
      <p:ext uri="{BB962C8B-B14F-4D97-AF65-F5344CB8AC3E}">
        <p14:creationId xmlns:p14="http://schemas.microsoft.com/office/powerpoint/2010/main" val="1977310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9E0B54E-A413-4B09-9F90-FE9862D4C2F6}" type="datetimeFigureOut">
              <a:rPr lang="en-US"/>
              <a:pPr>
                <a:defRPr/>
              </a:pPr>
              <a:t>14-May-25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F732250-73DE-4214-A3CE-5A1D1246F46F}"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5701417-E62D-48B7-95E0-50461DD5FB82}" type="datetimeFigureOut">
              <a:rPr lang="en-US"/>
              <a:pPr>
                <a:defRPr/>
              </a:pPr>
              <a:t>14-May-25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7728A3E-7A8A-4FCF-9D3E-47EC0F934DA9}"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C345667-FAA3-47A9-BA2D-A15BE5C8A632}" type="datetimeFigureOut">
              <a:rPr lang="en-US"/>
              <a:pPr>
                <a:defRPr/>
              </a:pPr>
              <a:t>14-May-25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40561BB-5A91-41B4-99E1-16F2CC5B8BF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CF0E984E-75FA-41B1-A10C-8C1869F1F0AC}" type="datetimeFigureOut">
              <a:rPr lang="en-US"/>
              <a:pPr>
                <a:defRPr/>
              </a:pPr>
              <a:t>14-May-25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3EE4F78-CDDC-434E-8149-1461FE0647D4}"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9897C0D9-86A2-4E7C-AEFC-176F57F4876E}" type="datetimeFigureOut">
              <a:rPr lang="en-US"/>
              <a:pPr>
                <a:defRPr/>
              </a:pPr>
              <a:t>14-May-25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2367B6DA-628D-4156-9D05-573B7969C313}"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18C3C8B1-6CC8-4D47-9DF8-CF3FCC3E0080}" type="datetimeFigureOut">
              <a:rPr lang="en-US"/>
              <a:pPr>
                <a:defRPr/>
              </a:pPr>
              <a:t>14-May-25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245B405B-E43F-40CA-847C-CE171962D6E4}"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86C71A4-D0E9-4ADF-B774-302A5B2C8025}" type="datetimeFigureOut">
              <a:rPr lang="en-US"/>
              <a:pPr>
                <a:defRPr/>
              </a:pPr>
              <a:t>14-May-25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A28A3F12-AD75-4174-BA96-812E895FAF3C}"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9C4C183-0569-4528-99B2-F46F8A8E229A}" type="datetimeFigureOut">
              <a:rPr lang="en-US"/>
              <a:pPr>
                <a:defRPr/>
              </a:pPr>
              <a:t>14-May-25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7D29596-D82F-4DA5-AA75-DCA390E58F2B}"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638F5C0-7879-47CD-A873-E9EF40BEFB7D}" type="datetimeFigureOut">
              <a:rPr lang="en-US"/>
              <a:pPr>
                <a:defRPr/>
              </a:pPr>
              <a:t>14-May-25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7CAEB4D-EF2C-470A-9193-3DCA4EDAAEEA}"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6E83850-9401-4AF0-A639-870F74159BA5}" type="datetimeFigureOut">
              <a:rPr lang="en-US"/>
              <a:pPr>
                <a:defRPr/>
              </a:pPr>
              <a:t>14-May-25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CBAA223-051F-4C9C-8AC4-35E69D7E0AF9}"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75E72B5A-8CD7-4AF4-AD7C-ECDC9D91DBE2}" type="datetimeFigureOut">
              <a:rPr lang="en-US"/>
              <a:pPr>
                <a:defRPr/>
              </a:pPr>
              <a:t>14-May-25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41A09C3-9E38-4E6E-8853-749B59EA2356}"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Text Placeholder 2"/>
          <p:cNvSpPr>
            <a:spLocks noGrp="1"/>
          </p:cNvSpPr>
          <p:nvPr>
            <p:ph type="body"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233DF94-0F0D-49BC-81CB-802137B7B74C}" type="datetimeFigureOut">
              <a:rPr lang="en-US"/>
              <a:pPr>
                <a:defRPr/>
              </a:pPr>
              <a:t>14-May-25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9FB4F95-1606-4F11-B689-C585C854EF43}"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smtClean="0"/>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96572D53-A29C-4EBC-BB39-390322BC1402}" type="datetimeFigureOut">
              <a:rPr lang="en-US"/>
              <a:pPr>
                <a:defRPr/>
              </a:pPr>
              <a:t>14-May-25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76FBAF58-51FD-4166-84C0-A78CAAADB998}" type="slidenum">
              <a:rPr lang="en-US"/>
              <a:pPr>
                <a:defRPr/>
              </a:pPr>
              <a:t>‹#›</a:t>
            </a:fld>
            <a:endParaRPr lang="en-US"/>
          </a:p>
        </p:txBody>
      </p:sp>
      <p:sp>
        <p:nvSpPr>
          <p:cNvPr id="2" name="Text Box 4"/>
          <p:cNvSpPr txBox="1">
            <a:spLocks noChangeArrowheads="1"/>
          </p:cNvSpPr>
          <p:nvPr userDrawn="1"/>
        </p:nvSpPr>
        <p:spPr bwMode="auto">
          <a:xfrm>
            <a:off x="107950" y="6356350"/>
            <a:ext cx="8928100" cy="228600"/>
          </a:xfrm>
          <a:prstGeom prst="rect">
            <a:avLst/>
          </a:prstGeom>
          <a:noFill/>
          <a:ln w="9525">
            <a:noFill/>
            <a:miter lim="800000"/>
            <a:headEnd/>
            <a:tailEnd/>
          </a:ln>
        </p:spPr>
        <p:txBody>
          <a:bodyPr>
            <a:spAutoFit/>
          </a:bodyPr>
          <a:lstStyle/>
          <a:p>
            <a:pPr algn="ctr">
              <a:defRPr/>
            </a:pPr>
            <a:r>
              <a:rPr lang="en-GB" sz="900">
                <a:latin typeface="Verdana" pitchFamily="34" charset="0"/>
              </a:rPr>
              <a:t>Benyon, </a:t>
            </a:r>
            <a:r>
              <a:rPr lang="en-US" sz="900" i="1">
                <a:latin typeface="Verdana" pitchFamily="34" charset="0"/>
              </a:rPr>
              <a:t>Designing Interactive Systems: A comprehensive guide to HCI, UX and interaction design</a:t>
            </a:r>
            <a:r>
              <a:rPr lang="en-GB" sz="900">
                <a:latin typeface="Verdana" pitchFamily="34" charset="0"/>
              </a:rPr>
              <a:t>, 3rd Ed., © Pearson Education Limited 2013</a:t>
            </a:r>
            <a:endParaRPr lang="en-GB"/>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 id="2147483649" r:id="rId12"/>
  </p:sldLayoutIdLst>
  <p:txStyles>
    <p:title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ctrTitle"/>
          </p:nvPr>
        </p:nvSpPr>
        <p:spPr>
          <a:xfrm>
            <a:off x="680080" y="1052736"/>
            <a:ext cx="7772400" cy="4250903"/>
          </a:xfrm>
        </p:spPr>
        <p:txBody>
          <a:bodyPr/>
          <a:lstStyle/>
          <a:p>
            <a:pPr eaLnBrk="1" hangingPunct="1">
              <a:lnSpc>
                <a:spcPct val="150000"/>
              </a:lnSpc>
            </a:pPr>
            <a:r>
              <a:rPr lang="en-US" sz="2500" b="1" dirty="0" smtClean="0">
                <a:latin typeface="Verdana" pitchFamily="34" charset="0"/>
                <a:ea typeface="ヒラギノ角ゴ Pro W3"/>
                <a:cs typeface="ヒラギノ角ゴ Pro W3"/>
              </a:rPr>
              <a:t>Visual Interface Design</a:t>
            </a:r>
            <a:br>
              <a:rPr lang="en-US" sz="2500" b="1" dirty="0" smtClean="0">
                <a:latin typeface="Verdana" pitchFamily="34" charset="0"/>
                <a:ea typeface="ヒラギノ角ゴ Pro W3"/>
                <a:cs typeface="ヒラギノ角ゴ Pro W3"/>
              </a:rPr>
            </a:br>
            <a:r>
              <a:rPr lang="en-US" sz="2000" b="1" dirty="0" smtClean="0">
                <a:latin typeface="Verdana" pitchFamily="34" charset="0"/>
                <a:ea typeface="ヒラギノ角ゴ Pro W3"/>
                <a:cs typeface="ヒラギノ角ゴ Pro W3"/>
              </a:rPr>
              <a:t/>
            </a:r>
            <a:br>
              <a:rPr lang="en-US" sz="2000" b="1" dirty="0" smtClean="0">
                <a:latin typeface="Verdana" pitchFamily="34" charset="0"/>
                <a:ea typeface="ヒラギノ角ゴ Pro W3"/>
                <a:cs typeface="ヒラギノ角ゴ Pro W3"/>
              </a:rPr>
            </a:br>
            <a:r>
              <a:rPr lang="en-US" sz="2000" dirty="0" smtClean="0">
                <a:latin typeface="Verdana" pitchFamily="34" charset="0"/>
                <a:ea typeface="ヒラギノ角ゴ Pro W3"/>
                <a:cs typeface="ヒラギノ角ゴ Pro W3"/>
              </a:rPr>
              <a:t>Visual </a:t>
            </a:r>
            <a:r>
              <a:rPr lang="en-US" sz="2000" dirty="0">
                <a:latin typeface="Verdana" pitchFamily="34" charset="0"/>
                <a:ea typeface="ヒラギノ角ゴ Pro W3"/>
                <a:cs typeface="ヒラギノ角ゴ Pro W3"/>
              </a:rPr>
              <a:t>interface </a:t>
            </a:r>
            <a:r>
              <a:rPr lang="en-US" sz="2000" dirty="0" smtClean="0">
                <a:latin typeface="Verdana" pitchFamily="34" charset="0"/>
                <a:ea typeface="ヒラギノ角ゴ Pro W3"/>
                <a:cs typeface="ヒラギノ角ゴ Pro W3"/>
              </a:rPr>
              <a:t>design</a:t>
            </a:r>
            <a:br>
              <a:rPr lang="en-US" sz="2000" dirty="0" smtClean="0">
                <a:latin typeface="Verdana" pitchFamily="34" charset="0"/>
                <a:ea typeface="ヒラギノ角ゴ Pro W3"/>
                <a:cs typeface="ヒラギノ角ゴ Pro W3"/>
              </a:rPr>
            </a:br>
            <a:r>
              <a:rPr lang="en-US" sz="2000" dirty="0" smtClean="0">
                <a:latin typeface="Verdana" pitchFamily="34" charset="0"/>
                <a:ea typeface="ヒラギノ角ゴ Pro W3"/>
                <a:cs typeface="ヒラギノ角ゴ Pro W3"/>
              </a:rPr>
              <a:t>interface </a:t>
            </a:r>
            <a:r>
              <a:rPr lang="en-US" sz="2000" dirty="0">
                <a:latin typeface="Verdana" pitchFamily="34" charset="0"/>
                <a:ea typeface="ヒラギノ角ゴ Pro W3"/>
                <a:cs typeface="ヒラギノ角ゴ Pro W3"/>
              </a:rPr>
              <a:t>design </a:t>
            </a:r>
            <a:r>
              <a:rPr lang="en-US" sz="2000" dirty="0" smtClean="0">
                <a:latin typeface="Verdana" pitchFamily="34" charset="0"/>
                <a:ea typeface="ヒラギノ角ゴ Pro W3"/>
                <a:cs typeface="ヒラギノ角ゴ Pro W3"/>
              </a:rPr>
              <a:t>guidelines</a:t>
            </a:r>
            <a:r>
              <a:rPr lang="en-US" sz="2000" dirty="0">
                <a:latin typeface="Verdana" pitchFamily="34" charset="0"/>
                <a:ea typeface="ヒラギノ角ゴ Pro W3"/>
                <a:cs typeface="ヒラギノ角ゴ Pro W3"/>
              </a:rPr>
              <a:t/>
            </a:r>
            <a:br>
              <a:rPr lang="en-US" sz="2000" dirty="0">
                <a:latin typeface="Verdana" pitchFamily="34" charset="0"/>
                <a:ea typeface="ヒラギノ角ゴ Pro W3"/>
                <a:cs typeface="ヒラギノ角ゴ Pro W3"/>
              </a:rPr>
            </a:br>
            <a:r>
              <a:rPr lang="en-US" sz="2000" dirty="0">
                <a:latin typeface="Verdana" pitchFamily="34" charset="0"/>
                <a:ea typeface="ヒラギノ角ゴ Pro W3"/>
                <a:cs typeface="ヒラギノ角ゴ Pro W3"/>
              </a:rPr>
              <a:t>Psychological </a:t>
            </a:r>
            <a:r>
              <a:rPr lang="en-US" sz="2000" dirty="0" smtClean="0">
                <a:latin typeface="Verdana" pitchFamily="34" charset="0"/>
                <a:ea typeface="ヒラギノ角ゴ Pro W3"/>
                <a:cs typeface="ヒラギノ角ゴ Pro W3"/>
              </a:rPr>
              <a:t>principles</a:t>
            </a:r>
            <a:br>
              <a:rPr lang="en-US" sz="2000" dirty="0" smtClean="0">
                <a:latin typeface="Verdana" pitchFamily="34" charset="0"/>
                <a:ea typeface="ヒラギノ角ゴ Pro W3"/>
                <a:cs typeface="ヒラギノ角ゴ Pro W3"/>
              </a:rPr>
            </a:br>
            <a:r>
              <a:rPr lang="en-US" sz="2000" dirty="0" smtClean="0">
                <a:latin typeface="Verdana" pitchFamily="34" charset="0"/>
                <a:ea typeface="ヒラギノ角ゴ Pro W3"/>
                <a:cs typeface="ヒラギノ角ゴ Pro W3"/>
              </a:rPr>
              <a:t>information design</a:t>
            </a:r>
            <a:br>
              <a:rPr lang="en-US" sz="2000" dirty="0" smtClean="0">
                <a:latin typeface="Verdana" pitchFamily="34" charset="0"/>
                <a:ea typeface="ヒラギノ角ゴ Pro W3"/>
                <a:cs typeface="ヒラギノ角ゴ Pro W3"/>
              </a:rPr>
            </a:br>
            <a:r>
              <a:rPr lang="en-US" sz="2000" dirty="0" smtClean="0">
                <a:latin typeface="Verdana" pitchFamily="34" charset="0"/>
                <a:ea typeface="ヒラギノ角ゴ Pro W3"/>
                <a:cs typeface="ヒラギノ角ゴ Pro W3"/>
              </a:rPr>
              <a:t>visualization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a:xfrm>
            <a:off x="457200" y="274638"/>
            <a:ext cx="8229600" cy="850106"/>
          </a:xfrm>
        </p:spPr>
        <p:txBody>
          <a:bodyPr/>
          <a:lstStyle/>
          <a:p>
            <a:pPr eaLnBrk="1" hangingPunct="1">
              <a:lnSpc>
                <a:spcPct val="120000"/>
              </a:lnSpc>
            </a:pPr>
            <a:r>
              <a:rPr lang="en-US" sz="1500" dirty="0" smtClean="0">
                <a:latin typeface="Verdana" pitchFamily="34" charset="0"/>
                <a:cs typeface="Times New Roman" pitchFamily="18" charset="0"/>
              </a:rPr>
              <a:t>Introduction</a:t>
            </a:r>
          </a:p>
        </p:txBody>
      </p:sp>
      <p:sp>
        <p:nvSpPr>
          <p:cNvPr id="15362" name="Text Placeholder 2"/>
          <p:cNvSpPr>
            <a:spLocks noGrp="1"/>
          </p:cNvSpPr>
          <p:nvPr>
            <p:ph type="body" idx="1"/>
          </p:nvPr>
        </p:nvSpPr>
        <p:spPr>
          <a:xfrm>
            <a:off x="455672" y="1124744"/>
            <a:ext cx="8229600" cy="5184576"/>
          </a:xfrm>
        </p:spPr>
        <p:txBody>
          <a:bodyPr/>
          <a:lstStyle/>
          <a:p>
            <a:pPr algn="just" eaLnBrk="1" hangingPunct="1">
              <a:lnSpc>
                <a:spcPct val="150000"/>
              </a:lnSpc>
            </a:pPr>
            <a:r>
              <a:rPr lang="en-US" sz="1500" dirty="0" smtClean="0">
                <a:latin typeface="Verdana" pitchFamily="34" charset="0"/>
                <a:cs typeface="Times New Roman" pitchFamily="18" charset="0"/>
              </a:rPr>
              <a:t>The design of the interface that mediates the interaction of people with devices is a crucial characteristic of the overall interaction design. </a:t>
            </a:r>
          </a:p>
          <a:p>
            <a:pPr algn="just" eaLnBrk="1" hangingPunct="1">
              <a:lnSpc>
                <a:spcPct val="150000"/>
              </a:lnSpc>
            </a:pPr>
            <a:r>
              <a:rPr lang="en-US" sz="1500" dirty="0" smtClean="0">
                <a:latin typeface="Verdana" pitchFamily="34" charset="0"/>
                <a:cs typeface="Times New Roman" pitchFamily="18" charset="0"/>
              </a:rPr>
              <a:t>This is often </a:t>
            </a:r>
            <a:r>
              <a:rPr lang="en-US" sz="1500" b="1" dirty="0" smtClean="0">
                <a:latin typeface="Verdana" pitchFamily="34" charset="0"/>
                <a:cs typeface="Times New Roman" pitchFamily="18" charset="0"/>
              </a:rPr>
              <a:t>referred to as the user interface (UI)</a:t>
            </a:r>
            <a:r>
              <a:rPr lang="en-US" sz="1500" dirty="0" smtClean="0">
                <a:latin typeface="Verdana" pitchFamily="34" charset="0"/>
                <a:cs typeface="Times New Roman" pitchFamily="18" charset="0"/>
              </a:rPr>
              <a:t> and it consists of everything in the system that people come into contact with whether that is physically, perceptually or conceptually. </a:t>
            </a:r>
          </a:p>
          <a:p>
            <a:pPr algn="just" eaLnBrk="1" hangingPunct="1">
              <a:lnSpc>
                <a:spcPct val="150000"/>
              </a:lnSpc>
            </a:pPr>
            <a:r>
              <a:rPr lang="en-US" sz="1500" b="1" dirty="0" smtClean="0">
                <a:latin typeface="Verdana" pitchFamily="34" charset="0"/>
                <a:cs typeface="Times New Roman" pitchFamily="18" charset="0"/>
              </a:rPr>
              <a:t>Physically</a:t>
            </a:r>
            <a:r>
              <a:rPr lang="en-US" sz="1500" dirty="0" smtClean="0">
                <a:latin typeface="Verdana" pitchFamily="34" charset="0"/>
                <a:cs typeface="Times New Roman" pitchFamily="18" charset="0"/>
              </a:rPr>
              <a:t> people interact with systems in many different ways such as by pressing buttons, touching a screen, moving a mouse over a table so that it moves a cursor over the screen, clicking a mouse button, rolling your thumb over a scroll wheel. </a:t>
            </a:r>
          </a:p>
          <a:p>
            <a:pPr algn="just" eaLnBrk="1" hangingPunct="1">
              <a:lnSpc>
                <a:spcPct val="150000"/>
              </a:lnSpc>
            </a:pPr>
            <a:r>
              <a:rPr lang="en-US" sz="1500" b="1" dirty="0" smtClean="0">
                <a:latin typeface="Verdana" pitchFamily="34" charset="0"/>
                <a:cs typeface="Times New Roman" pitchFamily="18" charset="0"/>
              </a:rPr>
              <a:t>Perceptually </a:t>
            </a:r>
            <a:r>
              <a:rPr lang="en-US" sz="1500" dirty="0" smtClean="0">
                <a:latin typeface="Verdana" pitchFamily="34" charset="0"/>
                <a:cs typeface="Times New Roman" pitchFamily="18" charset="0"/>
              </a:rPr>
              <a:t>people interact with a system though what they can see, hear and touch. The visual aspects of interface design concern designing so that people will see and notice things on a screen. </a:t>
            </a:r>
          </a:p>
          <a:p>
            <a:pPr algn="just" eaLnBrk="1" hangingPunct="1">
              <a:lnSpc>
                <a:spcPct val="150000"/>
              </a:lnSpc>
            </a:pPr>
            <a:r>
              <a:rPr lang="en-US" sz="1500" b="1" dirty="0" smtClean="0">
                <a:latin typeface="Verdana" pitchFamily="34" charset="0"/>
                <a:cs typeface="Times New Roman" pitchFamily="18" charset="0"/>
              </a:rPr>
              <a:t>Conceptually</a:t>
            </a:r>
            <a:r>
              <a:rPr lang="en-US" sz="1500" dirty="0" smtClean="0">
                <a:latin typeface="Verdana" pitchFamily="34" charset="0"/>
                <a:cs typeface="Times New Roman" pitchFamily="18" charset="0"/>
              </a:rPr>
              <a:t> people interact with systems and devices through knowing what they can do and how knowing how they can do it.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lnSpc>
                <a:spcPct val="120000"/>
              </a:lnSpc>
            </a:pPr>
            <a:r>
              <a:rPr lang="en-US" sz="1500" smtClean="0">
                <a:latin typeface="Verdana" pitchFamily="34" charset="0"/>
                <a:cs typeface="Times New Roman" pitchFamily="18" charset="0"/>
              </a:rPr>
              <a:t>The UI skill</a:t>
            </a:r>
          </a:p>
        </p:txBody>
      </p:sp>
      <p:sp>
        <p:nvSpPr>
          <p:cNvPr id="17410" name="Text Placeholder 2"/>
          <p:cNvSpPr>
            <a:spLocks noGrp="1"/>
          </p:cNvSpPr>
          <p:nvPr>
            <p:ph type="body" idx="1"/>
          </p:nvPr>
        </p:nvSpPr>
        <p:spPr>
          <a:xfrm>
            <a:off x="611560" y="1417638"/>
            <a:ext cx="7920880" cy="3667546"/>
          </a:xfrm>
        </p:spPr>
        <p:txBody>
          <a:bodyPr/>
          <a:lstStyle/>
          <a:p>
            <a:pPr algn="just" eaLnBrk="1" hangingPunct="1">
              <a:lnSpc>
                <a:spcPct val="200000"/>
              </a:lnSpc>
            </a:pPr>
            <a:r>
              <a:rPr lang="en-US" sz="1500" b="1" dirty="0" smtClean="0">
                <a:latin typeface="Verdana" pitchFamily="34" charset="0"/>
                <a:cs typeface="Times New Roman" pitchFamily="18" charset="0"/>
              </a:rPr>
              <a:t>Putting these three aspects together is the skill of interface designer</a:t>
            </a:r>
            <a:endParaRPr lang="en-US" sz="1500" dirty="0" smtClean="0">
              <a:latin typeface="Verdana" pitchFamily="34" charset="0"/>
              <a:cs typeface="Times New Roman" pitchFamily="18" charset="0"/>
            </a:endParaRPr>
          </a:p>
          <a:p>
            <a:pPr algn="just" eaLnBrk="1" hangingPunct="1">
              <a:lnSpc>
                <a:spcPct val="200000"/>
              </a:lnSpc>
            </a:pPr>
            <a:r>
              <a:rPr lang="en-US" sz="1500" dirty="0" smtClean="0">
                <a:latin typeface="Verdana" pitchFamily="34" charset="0"/>
                <a:cs typeface="Times New Roman" pitchFamily="18" charset="0"/>
              </a:rPr>
              <a:t>Interface design is about creating an experience that enables people to make the best use of the system being designed. </a:t>
            </a:r>
          </a:p>
          <a:p>
            <a:pPr algn="just" eaLnBrk="1" hangingPunct="1">
              <a:lnSpc>
                <a:spcPct val="200000"/>
              </a:lnSpc>
            </a:pPr>
            <a:r>
              <a:rPr lang="en-US" sz="1500" dirty="0" smtClean="0">
                <a:latin typeface="Verdana" pitchFamily="34" charset="0"/>
                <a:cs typeface="Times New Roman" pitchFamily="18" charset="0"/>
              </a:rPr>
              <a:t>Physical, perceptual and conceptual design get woven together into the experiences of people.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457200" y="274638"/>
            <a:ext cx="8229600" cy="778098"/>
          </a:xfrm>
        </p:spPr>
        <p:txBody>
          <a:bodyPr/>
          <a:lstStyle/>
          <a:p>
            <a:pPr eaLnBrk="1" hangingPunct="1">
              <a:lnSpc>
                <a:spcPct val="120000"/>
              </a:lnSpc>
            </a:pPr>
            <a:r>
              <a:rPr lang="en-US" sz="1500" dirty="0" smtClean="0">
                <a:latin typeface="Verdana" pitchFamily="34" charset="0"/>
                <a:cs typeface="Times New Roman" pitchFamily="18" charset="0"/>
              </a:rPr>
              <a:t>Command Languages</a:t>
            </a:r>
          </a:p>
        </p:txBody>
      </p:sp>
      <p:sp>
        <p:nvSpPr>
          <p:cNvPr id="18434" name="Text Placeholder 2"/>
          <p:cNvSpPr>
            <a:spLocks noGrp="1"/>
          </p:cNvSpPr>
          <p:nvPr>
            <p:ph type="body" idx="1"/>
          </p:nvPr>
        </p:nvSpPr>
        <p:spPr>
          <a:xfrm>
            <a:off x="251520" y="1340768"/>
            <a:ext cx="4824536" cy="4824536"/>
          </a:xfrm>
        </p:spPr>
        <p:txBody>
          <a:bodyPr/>
          <a:lstStyle/>
          <a:p>
            <a:pPr algn="just" eaLnBrk="1" hangingPunct="1">
              <a:lnSpc>
                <a:spcPct val="150000"/>
              </a:lnSpc>
            </a:pPr>
            <a:r>
              <a:rPr lang="en-US" sz="1500" dirty="0" smtClean="0">
                <a:latin typeface="Verdana" pitchFamily="34" charset="0"/>
                <a:cs typeface="Times New Roman" pitchFamily="18" charset="0"/>
              </a:rPr>
              <a:t>The vast majority of personal computers and many small devices have graphical user interfaces (GUIs), however,  many computers are used as Web, network or database servers and a number of these are UNIX-based. </a:t>
            </a:r>
          </a:p>
          <a:p>
            <a:pPr algn="just" eaLnBrk="1" hangingPunct="1">
              <a:lnSpc>
                <a:spcPct val="150000"/>
              </a:lnSpc>
            </a:pPr>
            <a:r>
              <a:rPr lang="en-US" sz="1500" b="1" dirty="0" smtClean="0">
                <a:latin typeface="Verdana" pitchFamily="34" charset="0"/>
                <a:cs typeface="Times New Roman" pitchFamily="18" charset="0"/>
              </a:rPr>
              <a:t>Command language is simply a set of words with an associated syntax</a:t>
            </a:r>
            <a:endParaRPr lang="en-US" sz="1500" dirty="0" smtClean="0">
              <a:latin typeface="Verdana" pitchFamily="34" charset="0"/>
              <a:cs typeface="Times New Roman" pitchFamily="18" charset="0"/>
            </a:endParaRPr>
          </a:p>
          <a:p>
            <a:pPr algn="just" eaLnBrk="1" hangingPunct="1">
              <a:lnSpc>
                <a:spcPct val="150000"/>
              </a:lnSpc>
            </a:pPr>
            <a:r>
              <a:rPr lang="en-US" sz="1500" dirty="0" smtClean="0">
                <a:latin typeface="Verdana" pitchFamily="34" charset="0"/>
                <a:cs typeface="Times New Roman" pitchFamily="18" charset="0"/>
              </a:rPr>
              <a:t>Command languages have been criticized because people have to </a:t>
            </a:r>
            <a:r>
              <a:rPr lang="en-US" sz="1500" b="1" i="1" dirty="0" smtClean="0">
                <a:latin typeface="Verdana" pitchFamily="34" charset="0"/>
                <a:cs typeface="Times New Roman" pitchFamily="18" charset="0"/>
              </a:rPr>
              <a:t>recall the name of a particular command  and to recall the syntax </a:t>
            </a:r>
            <a:r>
              <a:rPr lang="en-US" sz="1500" i="1" dirty="0" smtClean="0">
                <a:latin typeface="Verdana" pitchFamily="34" charset="0"/>
                <a:cs typeface="Times New Roman" pitchFamily="18" charset="0"/>
              </a:rPr>
              <a:t>of the command.</a:t>
            </a:r>
          </a:p>
        </p:txBody>
      </p:sp>
      <p:pic>
        <p:nvPicPr>
          <p:cNvPr id="1026" name="Picture 2" descr="https://supportkb.dell.com/img/ka0Do000000Dt6pIAC/ka0Do000000Dt6pIAC_en_US_4.jpeg"/>
          <p:cNvPicPr>
            <a:picLocks noChangeAspect="1" noChangeArrowheads="1"/>
          </p:cNvPicPr>
          <p:nvPr/>
        </p:nvPicPr>
        <p:blipFill rotWithShape="1">
          <a:blip r:embed="rId2">
            <a:extLst>
              <a:ext uri="{28A0092B-C50C-407E-A947-70E740481C1C}">
                <a14:useLocalDpi xmlns:a14="http://schemas.microsoft.com/office/drawing/2010/main" val="0"/>
              </a:ext>
            </a:extLst>
          </a:blip>
          <a:srcRect r="28503"/>
          <a:stretch/>
        </p:blipFill>
        <p:spPr bwMode="auto">
          <a:xfrm>
            <a:off x="5292080" y="1988840"/>
            <a:ext cx="3716606" cy="27363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pPr eaLnBrk="1" hangingPunct="1">
              <a:lnSpc>
                <a:spcPct val="120000"/>
              </a:lnSpc>
            </a:pPr>
            <a:r>
              <a:rPr lang="en-US" sz="1500" b="1" dirty="0" smtClean="0">
                <a:latin typeface="Verdana" pitchFamily="34" charset="0"/>
                <a:cs typeface="Times New Roman" pitchFamily="18" charset="0"/>
              </a:rPr>
              <a:t>Graphical User Interfaces</a:t>
            </a:r>
          </a:p>
        </p:txBody>
      </p:sp>
      <p:sp>
        <p:nvSpPr>
          <p:cNvPr id="19458" name="Text Placeholder 2"/>
          <p:cNvSpPr>
            <a:spLocks noGrp="1"/>
          </p:cNvSpPr>
          <p:nvPr>
            <p:ph type="body" idx="1"/>
          </p:nvPr>
        </p:nvSpPr>
        <p:spPr>
          <a:xfrm>
            <a:off x="457200" y="1340768"/>
            <a:ext cx="8229600" cy="4525963"/>
          </a:xfrm>
        </p:spPr>
        <p:txBody>
          <a:bodyPr/>
          <a:lstStyle/>
          <a:p>
            <a:pPr algn="just" eaLnBrk="1" hangingPunct="1">
              <a:lnSpc>
                <a:spcPct val="200000"/>
              </a:lnSpc>
            </a:pPr>
            <a:r>
              <a:rPr lang="en-US" sz="1500" dirty="0" smtClean="0">
                <a:latin typeface="Verdana" pitchFamily="34" charset="0"/>
                <a:cs typeface="Times New Roman" pitchFamily="18" charset="0"/>
              </a:rPr>
              <a:t>Graphical user interfaces (GUIs), which are found on every personal computer, on smart phones, on touch screen displays and so on, have had an interesting though brief history. </a:t>
            </a:r>
          </a:p>
          <a:p>
            <a:pPr algn="just" eaLnBrk="1" hangingPunct="1">
              <a:lnSpc>
                <a:spcPct val="200000"/>
              </a:lnSpc>
            </a:pPr>
            <a:r>
              <a:rPr lang="en-US" sz="1500" dirty="0" smtClean="0">
                <a:latin typeface="Verdana" pitchFamily="34" charset="0"/>
                <a:cs typeface="Times New Roman" pitchFamily="18" charset="0"/>
              </a:rPr>
              <a:t>The Microsoft range of Windows GUIs were </a:t>
            </a:r>
            <a:r>
              <a:rPr lang="en-US" sz="1500" i="1" dirty="0" smtClean="0">
                <a:latin typeface="Verdana" pitchFamily="34" charset="0"/>
                <a:cs typeface="Times New Roman" pitchFamily="18" charset="0"/>
              </a:rPr>
              <a:t>influenced by those on the Macintosh, which in turn was inspired by work at Xerox PARC, During the 1980s and 1990s a number of different designs of GUIs were produced, but gradually Windows and Apple Macintosh came to dominate the GUI operating system market.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457200" y="274638"/>
            <a:ext cx="8229600" cy="466318"/>
          </a:xfrm>
        </p:spPr>
        <p:txBody>
          <a:bodyPr/>
          <a:lstStyle/>
          <a:p>
            <a:pPr eaLnBrk="1" hangingPunct="1">
              <a:lnSpc>
                <a:spcPct val="120000"/>
              </a:lnSpc>
            </a:pPr>
            <a:r>
              <a:rPr lang="en-US" sz="1500" b="1" dirty="0" smtClean="0">
                <a:latin typeface="Verdana" pitchFamily="34" charset="0"/>
                <a:cs typeface="Times New Roman" pitchFamily="18" charset="0"/>
              </a:rPr>
              <a:t>WIMPs</a:t>
            </a:r>
          </a:p>
        </p:txBody>
      </p:sp>
      <p:sp>
        <p:nvSpPr>
          <p:cNvPr id="20482" name="Text Placeholder 2"/>
          <p:cNvSpPr>
            <a:spLocks noGrp="1"/>
          </p:cNvSpPr>
          <p:nvPr>
            <p:ph type="body" idx="1"/>
          </p:nvPr>
        </p:nvSpPr>
        <p:spPr>
          <a:xfrm>
            <a:off x="179512" y="847253"/>
            <a:ext cx="4608512" cy="3949899"/>
          </a:xfrm>
        </p:spPr>
        <p:txBody>
          <a:bodyPr/>
          <a:lstStyle/>
          <a:p>
            <a:pPr algn="just" eaLnBrk="1" hangingPunct="1">
              <a:lnSpc>
                <a:spcPct val="150000"/>
              </a:lnSpc>
            </a:pPr>
            <a:r>
              <a:rPr lang="en-US" sz="1500" b="1" dirty="0" smtClean="0">
                <a:latin typeface="Verdana" pitchFamily="34" charset="0"/>
                <a:cs typeface="Times New Roman" pitchFamily="18" charset="0"/>
              </a:rPr>
              <a:t>WIMP stands for windows, icons, menu and pointer. </a:t>
            </a:r>
          </a:p>
          <a:p>
            <a:pPr algn="just" eaLnBrk="1" hangingPunct="1">
              <a:lnSpc>
                <a:spcPct val="150000"/>
              </a:lnSpc>
            </a:pPr>
            <a:r>
              <a:rPr lang="en-US" sz="1500" dirty="0" smtClean="0">
                <a:latin typeface="Verdana" pitchFamily="34" charset="0"/>
                <a:cs typeface="Times New Roman" pitchFamily="18" charset="0"/>
              </a:rPr>
              <a:t>A window is a means of sharing a device’s graphical display resources among multiple applications at the same time. </a:t>
            </a:r>
          </a:p>
          <a:p>
            <a:pPr algn="just" eaLnBrk="1" hangingPunct="1">
              <a:lnSpc>
                <a:spcPct val="150000"/>
              </a:lnSpc>
            </a:pPr>
            <a:r>
              <a:rPr lang="en-US" sz="1500" dirty="0" smtClean="0">
                <a:latin typeface="Verdana" pitchFamily="34" charset="0"/>
                <a:cs typeface="Times New Roman" pitchFamily="18" charset="0"/>
              </a:rPr>
              <a:t>An icon is an image or symbol used to represent a file, folder, application or device, such as a printer. </a:t>
            </a:r>
          </a:p>
          <a:p>
            <a:pPr algn="just" eaLnBrk="1" hangingPunct="1">
              <a:lnSpc>
                <a:spcPct val="150000"/>
              </a:lnSpc>
            </a:pPr>
            <a:r>
              <a:rPr lang="en-US" sz="1500" dirty="0" smtClean="0">
                <a:latin typeface="Verdana" pitchFamily="34" charset="0"/>
                <a:cs typeface="Times New Roman" pitchFamily="18" charset="0"/>
              </a:rPr>
              <a:t>A menu is a list of commands or options from which one can choose. </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2631" r="4471" b="5264"/>
          <a:stretch/>
        </p:blipFill>
        <p:spPr>
          <a:xfrm>
            <a:off x="4932040" y="1268760"/>
            <a:ext cx="4032448" cy="2520280"/>
          </a:xfrm>
          <a:prstGeom prst="rect">
            <a:avLst/>
          </a:prstGeom>
        </p:spPr>
      </p:pic>
      <p:sp>
        <p:nvSpPr>
          <p:cNvPr id="4" name="Rectangle 3"/>
          <p:cNvSpPr/>
          <p:nvPr/>
        </p:nvSpPr>
        <p:spPr>
          <a:xfrm>
            <a:off x="179512" y="4509120"/>
            <a:ext cx="8530417" cy="1869743"/>
          </a:xfrm>
          <a:prstGeom prst="rect">
            <a:avLst/>
          </a:prstGeom>
        </p:spPr>
        <p:txBody>
          <a:bodyPr wrap="square">
            <a:spAutoFit/>
          </a:bodyPr>
          <a:lstStyle/>
          <a:p>
            <a:pPr marL="342900" indent="-342900" algn="just">
              <a:lnSpc>
                <a:spcPct val="150000"/>
              </a:lnSpc>
              <a:spcBef>
                <a:spcPct val="20000"/>
              </a:spcBef>
              <a:buFont typeface="Arial" charset="0"/>
              <a:buChar char="•"/>
            </a:pPr>
            <a:r>
              <a:rPr lang="en-US" sz="1500" dirty="0">
                <a:latin typeface="Verdana" pitchFamily="34" charset="0"/>
                <a:cs typeface="Times New Roman" pitchFamily="18" charset="0"/>
              </a:rPr>
              <a:t>The last component is pointing device of which the mouse is the most widespread, but fingers are also used as is the stylus. </a:t>
            </a:r>
          </a:p>
          <a:p>
            <a:pPr marL="342900" indent="-342900" algn="just">
              <a:lnSpc>
                <a:spcPct val="150000"/>
              </a:lnSpc>
              <a:spcBef>
                <a:spcPct val="20000"/>
              </a:spcBef>
              <a:buFont typeface="Arial" charset="0"/>
              <a:buChar char="•"/>
            </a:pPr>
            <a:r>
              <a:rPr lang="en-US" sz="1500" dirty="0">
                <a:latin typeface="Verdana" pitchFamily="34" charset="0"/>
                <a:cs typeface="Times New Roman" pitchFamily="18" charset="0"/>
              </a:rPr>
              <a:t>This form of interaction is called </a:t>
            </a:r>
            <a:r>
              <a:rPr lang="en-US" sz="1500" b="1" dirty="0">
                <a:latin typeface="Verdana" pitchFamily="34" charset="0"/>
                <a:cs typeface="Times New Roman" pitchFamily="18" charset="0"/>
              </a:rPr>
              <a:t>direct manipulation</a:t>
            </a:r>
            <a:r>
              <a:rPr lang="en-US" sz="1500" dirty="0">
                <a:latin typeface="Verdana" pitchFamily="34" charset="0"/>
                <a:cs typeface="Times New Roman" pitchFamily="18" charset="0"/>
              </a:rPr>
              <a:t> because we directly manipulate the on-screen objects as opposed to issuing commands through a command based interface.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pPr eaLnBrk="1" hangingPunct="1">
              <a:lnSpc>
                <a:spcPct val="120000"/>
              </a:lnSpc>
            </a:pPr>
            <a:r>
              <a:rPr lang="en-US" sz="1500" smtClean="0">
                <a:latin typeface="Verdana" pitchFamily="34" charset="0"/>
                <a:cs typeface="Times New Roman" pitchFamily="18" charset="0"/>
              </a:rPr>
              <a:t>Windows</a:t>
            </a:r>
          </a:p>
        </p:txBody>
      </p:sp>
      <p:sp>
        <p:nvSpPr>
          <p:cNvPr id="22530" name="Text Placeholder 2"/>
          <p:cNvSpPr>
            <a:spLocks noGrp="1"/>
          </p:cNvSpPr>
          <p:nvPr>
            <p:ph type="body" idx="1"/>
          </p:nvPr>
        </p:nvSpPr>
        <p:spPr>
          <a:xfrm>
            <a:off x="457200" y="1600200"/>
            <a:ext cx="8229600" cy="4525963"/>
          </a:xfrm>
        </p:spPr>
        <p:txBody>
          <a:bodyPr/>
          <a:lstStyle/>
          <a:p>
            <a:pPr algn="just" eaLnBrk="1" hangingPunct="1">
              <a:lnSpc>
                <a:spcPct val="200000"/>
              </a:lnSpc>
            </a:pPr>
            <a:r>
              <a:rPr lang="en-US" sz="1500" dirty="0" smtClean="0">
                <a:latin typeface="Verdana" pitchFamily="34" charset="0"/>
                <a:cs typeface="Times New Roman" pitchFamily="18" charset="0"/>
              </a:rPr>
              <a:t>Windows allow a </a:t>
            </a:r>
            <a:r>
              <a:rPr lang="en-US" sz="1500" b="1" dirty="0" smtClean="0">
                <a:latin typeface="Verdana" pitchFamily="34" charset="0"/>
                <a:cs typeface="Times New Roman" pitchFamily="18" charset="0"/>
              </a:rPr>
              <a:t>workstation’s screen </a:t>
            </a:r>
            <a:r>
              <a:rPr lang="en-US" sz="1500" dirty="0" smtClean="0">
                <a:latin typeface="Verdana" pitchFamily="34" charset="0"/>
                <a:cs typeface="Times New Roman" pitchFamily="18" charset="0"/>
              </a:rPr>
              <a:t>to be divided into areas which </a:t>
            </a:r>
            <a:r>
              <a:rPr lang="en-US" sz="1500" b="1" dirty="0" smtClean="0">
                <a:latin typeface="Verdana" pitchFamily="34" charset="0"/>
                <a:cs typeface="Times New Roman" pitchFamily="18" charset="0"/>
              </a:rPr>
              <a:t>act like separate input and output channels </a:t>
            </a:r>
            <a:r>
              <a:rPr lang="en-US" sz="1500" dirty="0" smtClean="0">
                <a:latin typeface="Verdana" pitchFamily="34" charset="0"/>
                <a:cs typeface="Times New Roman" pitchFamily="18" charset="0"/>
              </a:rPr>
              <a:t>that can be placed under the control of different applications. </a:t>
            </a:r>
          </a:p>
          <a:p>
            <a:pPr algn="just" eaLnBrk="1" hangingPunct="1">
              <a:lnSpc>
                <a:spcPct val="200000"/>
              </a:lnSpc>
            </a:pPr>
            <a:r>
              <a:rPr lang="en-US" sz="1500" dirty="0" smtClean="0">
                <a:latin typeface="Verdana" pitchFamily="34" charset="0"/>
                <a:cs typeface="Times New Roman" pitchFamily="18" charset="0"/>
              </a:rPr>
              <a:t>This allows people to see the output of several processes at the same time and to choose which one will receive input by selecting its window, using a pointing device such by clicking on it with a mouse, or touching a touch screen. </a:t>
            </a:r>
          </a:p>
          <a:p>
            <a:pPr algn="just" eaLnBrk="1" hangingPunct="1">
              <a:lnSpc>
                <a:spcPct val="200000"/>
              </a:lnSpc>
            </a:pPr>
            <a:r>
              <a:rPr lang="en-US" sz="1500" dirty="0" smtClean="0">
                <a:latin typeface="Verdana" pitchFamily="34" charset="0"/>
                <a:cs typeface="Times New Roman" pitchFamily="18" charset="0"/>
              </a:rPr>
              <a:t>This is referred to as changing the focus.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a:xfrm>
            <a:off x="457200" y="188640"/>
            <a:ext cx="8229600" cy="576064"/>
          </a:xfrm>
        </p:spPr>
        <p:txBody>
          <a:bodyPr/>
          <a:lstStyle/>
          <a:p>
            <a:pPr eaLnBrk="1" hangingPunct="1">
              <a:lnSpc>
                <a:spcPct val="120000"/>
              </a:lnSpc>
            </a:pPr>
            <a:r>
              <a:rPr lang="en-US" sz="1500" dirty="0" smtClean="0">
                <a:latin typeface="Verdana" pitchFamily="34" charset="0"/>
                <a:cs typeface="Times New Roman" pitchFamily="18" charset="0"/>
              </a:rPr>
              <a:t>Icons</a:t>
            </a:r>
          </a:p>
        </p:txBody>
      </p:sp>
      <p:sp>
        <p:nvSpPr>
          <p:cNvPr id="23554" name="Text Placeholder 2"/>
          <p:cNvSpPr>
            <a:spLocks noGrp="1"/>
          </p:cNvSpPr>
          <p:nvPr>
            <p:ph type="body" idx="1"/>
          </p:nvPr>
        </p:nvSpPr>
        <p:spPr>
          <a:xfrm>
            <a:off x="323528" y="692696"/>
            <a:ext cx="8568952" cy="4680520"/>
          </a:xfrm>
        </p:spPr>
        <p:txBody>
          <a:bodyPr/>
          <a:lstStyle/>
          <a:p>
            <a:pPr algn="just" eaLnBrk="1" hangingPunct="1">
              <a:lnSpc>
                <a:spcPct val="150000"/>
              </a:lnSpc>
            </a:pPr>
            <a:r>
              <a:rPr lang="en-US" sz="1500" dirty="0" smtClean="0">
                <a:latin typeface="Verdana" pitchFamily="34" charset="0"/>
                <a:cs typeface="Times New Roman" pitchFamily="18" charset="0"/>
              </a:rPr>
              <a:t>Icons are used to </a:t>
            </a:r>
            <a:r>
              <a:rPr lang="en-US" sz="1500" b="1" dirty="0" smtClean="0">
                <a:latin typeface="Verdana" pitchFamily="34" charset="0"/>
                <a:cs typeface="Times New Roman" pitchFamily="18" charset="0"/>
              </a:rPr>
              <a:t>represent features and functions </a:t>
            </a:r>
            <a:r>
              <a:rPr lang="en-US" sz="1500" dirty="0" smtClean="0">
                <a:latin typeface="Verdana" pitchFamily="34" charset="0"/>
                <a:cs typeface="Times New Roman" pitchFamily="18" charset="0"/>
              </a:rPr>
              <a:t>on everything from software applications, DVD players and public information kiosks to clothing. </a:t>
            </a:r>
          </a:p>
          <a:p>
            <a:pPr algn="just" eaLnBrk="1" hangingPunct="1">
              <a:lnSpc>
                <a:spcPct val="150000"/>
              </a:lnSpc>
            </a:pPr>
            <a:r>
              <a:rPr lang="en-US" sz="1500" dirty="0" smtClean="0">
                <a:latin typeface="Verdana" pitchFamily="34" charset="0"/>
                <a:cs typeface="Times New Roman" pitchFamily="18" charset="0"/>
              </a:rPr>
              <a:t>Icons are generally regarded as being useful in helping people </a:t>
            </a:r>
            <a:r>
              <a:rPr lang="en-US" sz="1500" b="1" dirty="0" smtClean="0">
                <a:latin typeface="Verdana" pitchFamily="34" charset="0"/>
                <a:cs typeface="Times New Roman" pitchFamily="18" charset="0"/>
              </a:rPr>
              <a:t>to recognize which feature </a:t>
            </a:r>
            <a:r>
              <a:rPr lang="en-US" sz="1500" dirty="0" smtClean="0">
                <a:latin typeface="Verdana" pitchFamily="34" charset="0"/>
                <a:cs typeface="Times New Roman" pitchFamily="18" charset="0"/>
              </a:rPr>
              <a:t>they need to access. </a:t>
            </a:r>
          </a:p>
          <a:p>
            <a:pPr algn="just" eaLnBrk="1" hangingPunct="1">
              <a:lnSpc>
                <a:spcPct val="150000"/>
              </a:lnSpc>
            </a:pPr>
            <a:r>
              <a:rPr lang="en-US" sz="1500" dirty="0" smtClean="0">
                <a:latin typeface="Verdana" pitchFamily="34" charset="0"/>
                <a:cs typeface="Times New Roman" pitchFamily="18" charset="0"/>
              </a:rPr>
              <a:t>Icons make use of three principle types of representation  - metaphor, direct mapping and convention. </a:t>
            </a:r>
          </a:p>
          <a:p>
            <a:pPr algn="just" eaLnBrk="1" hangingPunct="1">
              <a:lnSpc>
                <a:spcPct val="150000"/>
              </a:lnSpc>
            </a:pPr>
            <a:r>
              <a:rPr lang="en-US" sz="1500" dirty="0" smtClean="0">
                <a:latin typeface="Verdana" pitchFamily="34" charset="0"/>
                <a:cs typeface="Times New Roman" pitchFamily="18" charset="0"/>
              </a:rPr>
              <a:t>Metaphor relies on people transferring knowledge from one domain and applying to another. </a:t>
            </a:r>
          </a:p>
          <a:p>
            <a:pPr algn="just" eaLnBrk="1" hangingPunct="1">
              <a:lnSpc>
                <a:spcPct val="150000"/>
              </a:lnSpc>
            </a:pPr>
            <a:r>
              <a:rPr lang="en-US" sz="1500" dirty="0" smtClean="0">
                <a:latin typeface="Verdana" pitchFamily="34" charset="0"/>
                <a:cs typeface="Times New Roman" pitchFamily="18" charset="0"/>
              </a:rPr>
              <a:t>The use of direct mapping involves creating a more or less direct image of what the icon is intended to represent. </a:t>
            </a:r>
          </a:p>
          <a:p>
            <a:pPr algn="just" eaLnBrk="1" hangingPunct="1">
              <a:lnSpc>
                <a:spcPct val="150000"/>
              </a:lnSpc>
            </a:pPr>
            <a:r>
              <a:rPr lang="en-US" sz="1500" dirty="0" smtClean="0">
                <a:latin typeface="Verdana" pitchFamily="34" charset="0"/>
                <a:cs typeface="Times New Roman" pitchFamily="18" charset="0"/>
              </a:rPr>
              <a:t>Finally convention refers to a more or less arbitrary design of an icon in the first instance, which has become accepted as standing for what is intended over time. </a:t>
            </a:r>
          </a:p>
        </p:txBody>
      </p:sp>
      <p:pic>
        <p:nvPicPr>
          <p:cNvPr id="4098" name="Picture 2" descr="Display default desktop icons on Windows 10 - Dimitris Tonias"/>
          <p:cNvPicPr>
            <a:picLocks noChangeAspect="1" noChangeArrowheads="1"/>
          </p:cNvPicPr>
          <p:nvPr/>
        </p:nvPicPr>
        <p:blipFill rotWithShape="1">
          <a:blip r:embed="rId2">
            <a:extLst>
              <a:ext uri="{28A0092B-C50C-407E-A947-70E740481C1C}">
                <a14:useLocalDpi xmlns:a14="http://schemas.microsoft.com/office/drawing/2010/main" val="0"/>
              </a:ext>
            </a:extLst>
          </a:blip>
          <a:srcRect l="6876" t="21365" r="10186" b="9736"/>
          <a:stretch/>
        </p:blipFill>
        <p:spPr bwMode="auto">
          <a:xfrm>
            <a:off x="2262600" y="5157192"/>
            <a:ext cx="4690807" cy="11521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7" name="Title 1"/>
          <p:cNvSpPr>
            <a:spLocks noGrp="1"/>
          </p:cNvSpPr>
          <p:nvPr>
            <p:ph type="title"/>
          </p:nvPr>
        </p:nvSpPr>
        <p:spPr>
          <a:xfrm>
            <a:off x="457200" y="65609"/>
            <a:ext cx="8229600" cy="418058"/>
          </a:xfrm>
        </p:spPr>
        <p:txBody>
          <a:bodyPr/>
          <a:lstStyle/>
          <a:p>
            <a:pPr eaLnBrk="1" hangingPunct="1">
              <a:lnSpc>
                <a:spcPct val="120000"/>
              </a:lnSpc>
            </a:pPr>
            <a:r>
              <a:rPr lang="en-US" sz="2000" b="1" dirty="0" smtClean="0">
                <a:solidFill>
                  <a:srgbClr val="FF0000"/>
                </a:solidFill>
                <a:latin typeface="Verdana" pitchFamily="34" charset="0"/>
                <a:cs typeface="Times New Roman" pitchFamily="18" charset="0"/>
              </a:rPr>
              <a:t>Horton’s icon checklist</a:t>
            </a:r>
          </a:p>
        </p:txBody>
      </p:sp>
      <p:sp>
        <p:nvSpPr>
          <p:cNvPr id="24578" name="Text Placeholder 2"/>
          <p:cNvSpPr>
            <a:spLocks noGrp="1"/>
          </p:cNvSpPr>
          <p:nvPr>
            <p:ph type="body" idx="1"/>
          </p:nvPr>
        </p:nvSpPr>
        <p:spPr>
          <a:xfrm>
            <a:off x="255672" y="692696"/>
            <a:ext cx="8579296" cy="5883909"/>
          </a:xfrm>
        </p:spPr>
        <p:txBody>
          <a:bodyPr/>
          <a:lstStyle/>
          <a:p>
            <a:pPr marL="0" indent="0" algn="just" eaLnBrk="1" hangingPunct="1">
              <a:lnSpc>
                <a:spcPct val="120000"/>
              </a:lnSpc>
              <a:buNone/>
            </a:pPr>
            <a:r>
              <a:rPr lang="en-US" sz="1500" dirty="0">
                <a:latin typeface="Verdana" pitchFamily="34" charset="0"/>
                <a:cs typeface="Times New Roman" pitchFamily="18" charset="0"/>
              </a:rPr>
              <a:t>William </a:t>
            </a:r>
            <a:r>
              <a:rPr lang="en-US" sz="1500" dirty="0" smtClean="0">
                <a:latin typeface="Verdana" pitchFamily="34" charset="0"/>
                <a:cs typeface="Times New Roman" pitchFamily="18" charset="0"/>
              </a:rPr>
              <a:t>Horton’s checklist (1991</a:t>
            </a:r>
            <a:r>
              <a:rPr lang="en-US" sz="1500" dirty="0">
                <a:latin typeface="Verdana" pitchFamily="34" charset="0"/>
                <a:cs typeface="Times New Roman" pitchFamily="18" charset="0"/>
              </a:rPr>
              <a:t>) designed to help the icon designer avoid </a:t>
            </a:r>
            <a:r>
              <a:rPr lang="en-US" sz="1500" dirty="0" smtClean="0">
                <a:latin typeface="Verdana" pitchFamily="34" charset="0"/>
                <a:cs typeface="Times New Roman" pitchFamily="18" charset="0"/>
              </a:rPr>
              <a:t>common </a:t>
            </a:r>
            <a:r>
              <a:rPr lang="en-US" sz="1500" dirty="0">
                <a:latin typeface="Verdana" pitchFamily="34" charset="0"/>
                <a:cs typeface="Times New Roman" pitchFamily="18" charset="0"/>
              </a:rPr>
              <a:t>mistakes. </a:t>
            </a:r>
            <a:r>
              <a:rPr lang="en-US" sz="1500" dirty="0" smtClean="0">
                <a:latin typeface="Verdana" pitchFamily="34" charset="0"/>
                <a:cs typeface="Times New Roman" pitchFamily="18" charset="0"/>
              </a:rPr>
              <a:t>his </a:t>
            </a:r>
            <a:r>
              <a:rPr lang="en-US" sz="1500" dirty="0">
                <a:latin typeface="Verdana" pitchFamily="34" charset="0"/>
                <a:cs typeface="Times New Roman" pitchFamily="18" charset="0"/>
              </a:rPr>
              <a:t>top-level headings </a:t>
            </a:r>
            <a:r>
              <a:rPr lang="en-US" sz="1500" dirty="0" smtClean="0">
                <a:latin typeface="Verdana" pitchFamily="34" charset="0"/>
                <a:cs typeface="Times New Roman" pitchFamily="18" charset="0"/>
              </a:rPr>
              <a:t>are here, with </a:t>
            </a:r>
            <a:r>
              <a:rPr lang="en-US" sz="1500" dirty="0">
                <a:latin typeface="Verdana" pitchFamily="34" charset="0"/>
                <a:cs typeface="Times New Roman" pitchFamily="18" charset="0"/>
              </a:rPr>
              <a:t>a sample question for each issue.</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Understandable. Does the image spontaneously suggest the intended concept to the viewer?</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Familiar. Are the objects in the icon ones familiar to the user?</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Unambiguous. Are additional cues (label, other icons documentation) available to resolve any ambiguity?</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Memorable. Where possible, does the icon feature concrete objects in action? Are actions shown as operations on concrete objects?</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Informative. Why is the concept important? </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Few. Is the number of arbitrary symbols less than 20?</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Distinct. Is every icon distinct from all others? </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Attractive. Does the image use smooth edges and lines?</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Legible. Have you tested all combinations of </a:t>
            </a:r>
            <a:r>
              <a:rPr lang="en-US" sz="1500" dirty="0" err="1" smtClean="0">
                <a:latin typeface="Verdana" pitchFamily="34" charset="0"/>
                <a:cs typeface="Times New Roman" pitchFamily="18" charset="0"/>
              </a:rPr>
              <a:t>colour</a:t>
            </a:r>
            <a:r>
              <a:rPr lang="en-US" sz="1500" dirty="0" smtClean="0">
                <a:latin typeface="Verdana" pitchFamily="34" charset="0"/>
                <a:cs typeface="Times New Roman" pitchFamily="18" charset="0"/>
              </a:rPr>
              <a:t> and size in which the icon will be displayed?</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Compact. Is every object, every line, every pixel in then icon necessary?</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Coherent. Is it clear where one icon ends and another begins?</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Extensible. Can I draw the image smaller? Will users still recognize it?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a:xfrm>
            <a:off x="457200" y="24800"/>
            <a:ext cx="8229600" cy="634082"/>
          </a:xfrm>
        </p:spPr>
        <p:txBody>
          <a:bodyPr/>
          <a:lstStyle/>
          <a:p>
            <a:pPr eaLnBrk="1" hangingPunct="1">
              <a:lnSpc>
                <a:spcPct val="120000"/>
              </a:lnSpc>
            </a:pPr>
            <a:r>
              <a:rPr lang="en-US" sz="1500" dirty="0" smtClean="0">
                <a:latin typeface="Verdana" pitchFamily="34" charset="0"/>
                <a:cs typeface="Times New Roman" pitchFamily="18" charset="0"/>
              </a:rPr>
              <a:t>Menus</a:t>
            </a:r>
          </a:p>
        </p:txBody>
      </p:sp>
      <p:sp>
        <p:nvSpPr>
          <p:cNvPr id="25602" name="Text Placeholder 2"/>
          <p:cNvSpPr>
            <a:spLocks noGrp="1"/>
          </p:cNvSpPr>
          <p:nvPr>
            <p:ph type="body" idx="1"/>
          </p:nvPr>
        </p:nvSpPr>
        <p:spPr>
          <a:xfrm>
            <a:off x="318356" y="692696"/>
            <a:ext cx="8507288" cy="5354880"/>
          </a:xfrm>
        </p:spPr>
        <p:txBody>
          <a:bodyPr/>
          <a:lstStyle/>
          <a:p>
            <a:pPr algn="just" eaLnBrk="1" hangingPunct="1">
              <a:lnSpc>
                <a:spcPct val="150000"/>
              </a:lnSpc>
            </a:pPr>
            <a:r>
              <a:rPr lang="en-US" sz="1500" dirty="0" smtClean="0">
                <a:latin typeface="Verdana" pitchFamily="34" charset="0"/>
                <a:cs typeface="Times New Roman" pitchFamily="18" charset="0"/>
              </a:rPr>
              <a:t>When creating menus, commands should be grouped into menu topics, which are a list of menu items. </a:t>
            </a:r>
          </a:p>
          <a:p>
            <a:pPr algn="just" eaLnBrk="1" hangingPunct="1">
              <a:lnSpc>
                <a:spcPct val="150000"/>
              </a:lnSpc>
            </a:pPr>
            <a:r>
              <a:rPr lang="en-US" sz="1500" dirty="0" smtClean="0">
                <a:latin typeface="Verdana" pitchFamily="34" charset="0"/>
                <a:cs typeface="Times New Roman" pitchFamily="18" charset="0"/>
              </a:rPr>
              <a:t>When a command or option (menu item) is selected from the list, an action is performed. Menus are also used extensively on web sites to structure information and to provide the main method of navigation of the site’s content. </a:t>
            </a:r>
          </a:p>
          <a:p>
            <a:pPr algn="just" eaLnBrk="1" hangingPunct="1">
              <a:lnSpc>
                <a:spcPct val="150000"/>
              </a:lnSpc>
            </a:pPr>
            <a:r>
              <a:rPr lang="en-US" sz="1500" b="1" dirty="0">
                <a:latin typeface="Verdana" pitchFamily="34" charset="0"/>
                <a:cs typeface="Times New Roman" pitchFamily="18" charset="0"/>
              </a:rPr>
              <a:t>Hierarchical </a:t>
            </a:r>
            <a:r>
              <a:rPr lang="en-US" sz="1500" b="1" dirty="0" smtClean="0">
                <a:latin typeface="Verdana" pitchFamily="34" charset="0"/>
                <a:cs typeface="Times New Roman" pitchFamily="18" charset="0"/>
              </a:rPr>
              <a:t>menus: </a:t>
            </a:r>
            <a:r>
              <a:rPr lang="en-US" sz="1500" dirty="0" smtClean="0">
                <a:latin typeface="Verdana" pitchFamily="34" charset="0"/>
                <a:cs typeface="Times New Roman" pitchFamily="18" charset="0"/>
              </a:rPr>
              <a:t>various </a:t>
            </a:r>
            <a:r>
              <a:rPr lang="en-US" sz="1500" dirty="0">
                <a:latin typeface="Verdana" pitchFamily="34" charset="0"/>
                <a:cs typeface="Times New Roman" pitchFamily="18" charset="0"/>
              </a:rPr>
              <a:t>options are arranged under a top-level topic (filter) and in turn have series </a:t>
            </a:r>
            <a:r>
              <a:rPr lang="en-US" sz="1500" dirty="0" smtClean="0">
                <a:latin typeface="Verdana" pitchFamily="34" charset="0"/>
                <a:cs typeface="Times New Roman" pitchFamily="18" charset="0"/>
              </a:rPr>
              <a:t>of sub-menus</a:t>
            </a:r>
            <a:r>
              <a:rPr lang="en-US" sz="1500" dirty="0">
                <a:latin typeface="Verdana" pitchFamily="34" charset="0"/>
                <a:cs typeface="Times New Roman" pitchFamily="18" charset="0"/>
              </a:rPr>
              <a:t>.</a:t>
            </a:r>
            <a:endParaRPr lang="en-US" sz="1500" dirty="0" smtClean="0">
              <a:latin typeface="Verdana" pitchFamily="34" charset="0"/>
              <a:cs typeface="Times New Roman" pitchFamily="18" charset="0"/>
            </a:endParaRPr>
          </a:p>
          <a:p>
            <a:pPr algn="just" eaLnBrk="1" hangingPunct="1">
              <a:lnSpc>
                <a:spcPct val="150000"/>
              </a:lnSpc>
            </a:pPr>
            <a:r>
              <a:rPr lang="en-US" sz="1500" b="1" dirty="0" smtClean="0">
                <a:latin typeface="Verdana" pitchFamily="34" charset="0"/>
                <a:cs typeface="Times New Roman" pitchFamily="18" charset="0"/>
              </a:rPr>
              <a:t>Hierarchical menus </a:t>
            </a:r>
            <a:r>
              <a:rPr lang="en-US" sz="1500" dirty="0" smtClean="0">
                <a:latin typeface="Verdana" pitchFamily="34" charset="0"/>
                <a:cs typeface="Times New Roman" pitchFamily="18" charset="0"/>
              </a:rPr>
              <a:t>are also called </a:t>
            </a:r>
            <a:r>
              <a:rPr lang="en-US" sz="1500" b="1" dirty="0" smtClean="0">
                <a:latin typeface="Verdana" pitchFamily="34" charset="0"/>
                <a:cs typeface="Times New Roman" pitchFamily="18" charset="0"/>
              </a:rPr>
              <a:t>cascading menus</a:t>
            </a:r>
            <a:r>
              <a:rPr lang="en-US" sz="1500" dirty="0" smtClean="0">
                <a:latin typeface="Verdana" pitchFamily="34" charset="0"/>
                <a:cs typeface="Times New Roman" pitchFamily="18" charset="0"/>
              </a:rPr>
              <a:t>. In a this menu, the sub-menu appears to cascade out when a choice is made from the higher-level menu.</a:t>
            </a:r>
          </a:p>
          <a:p>
            <a:pPr algn="just" eaLnBrk="1" hangingPunct="1">
              <a:lnSpc>
                <a:spcPct val="150000"/>
              </a:lnSpc>
            </a:pPr>
            <a:r>
              <a:rPr lang="en-US" sz="1500" dirty="0" smtClean="0">
                <a:latin typeface="Verdana" pitchFamily="34" charset="0"/>
                <a:cs typeface="Times New Roman" pitchFamily="18" charset="0"/>
              </a:rPr>
              <a:t>A </a:t>
            </a:r>
            <a:r>
              <a:rPr lang="en-US" sz="1500" b="1" dirty="0" smtClean="0">
                <a:latin typeface="Verdana" pitchFamily="34" charset="0"/>
                <a:cs typeface="Times New Roman" pitchFamily="18" charset="0"/>
              </a:rPr>
              <a:t>pop-up menu </a:t>
            </a:r>
            <a:r>
              <a:rPr lang="en-US" sz="1500" dirty="0" smtClean="0">
                <a:latin typeface="Verdana" pitchFamily="34" charset="0"/>
                <a:cs typeface="Times New Roman" pitchFamily="18" charset="0"/>
              </a:rPr>
              <a:t>is distinguished from a standard menu in that it is </a:t>
            </a:r>
            <a:r>
              <a:rPr lang="en-US" sz="1500" b="1" dirty="0" smtClean="0">
                <a:latin typeface="Verdana" pitchFamily="34" charset="0"/>
                <a:cs typeface="Times New Roman" pitchFamily="18" charset="0"/>
              </a:rPr>
              <a:t>not attached to a menu bar in a fixed location</a:t>
            </a:r>
            <a:r>
              <a:rPr lang="en-US" sz="1500" dirty="0" smtClean="0">
                <a:latin typeface="Verdana" pitchFamily="34" charset="0"/>
                <a:cs typeface="Times New Roman" pitchFamily="18" charset="0"/>
              </a:rPr>
              <a:t>. </a:t>
            </a:r>
          </a:p>
          <a:p>
            <a:pPr algn="just" eaLnBrk="1" hangingPunct="1">
              <a:lnSpc>
                <a:spcPct val="150000"/>
              </a:lnSpc>
            </a:pPr>
            <a:r>
              <a:rPr lang="en-US" sz="1500" dirty="0" smtClean="0">
                <a:latin typeface="Verdana" pitchFamily="34" charset="0"/>
                <a:cs typeface="Times New Roman" pitchFamily="18" charset="0"/>
              </a:rPr>
              <a:t>Also in this case it is also a contextual menu. The make-up of contextual menus varies according to the context  from which they are invoked. If a file is selected, the contextual menu offers file options. If instead a folder is selected, folder options are displayed.</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a:xfrm>
            <a:off x="457200" y="274638"/>
            <a:ext cx="8229600" cy="1143000"/>
          </a:xfrm>
        </p:spPr>
        <p:txBody>
          <a:bodyPr/>
          <a:lstStyle/>
          <a:p>
            <a:pPr eaLnBrk="1" hangingPunct="1">
              <a:lnSpc>
                <a:spcPct val="120000"/>
              </a:lnSpc>
            </a:pPr>
            <a:r>
              <a:rPr lang="en-US" sz="1500" dirty="0" smtClean="0">
                <a:latin typeface="Verdana" pitchFamily="34" charset="0"/>
                <a:cs typeface="Times New Roman" pitchFamily="18" charset="0"/>
              </a:rPr>
              <a:t>Pointers</a:t>
            </a:r>
          </a:p>
        </p:txBody>
      </p:sp>
      <p:sp>
        <p:nvSpPr>
          <p:cNvPr id="26626" name="Text Placeholder 2"/>
          <p:cNvSpPr>
            <a:spLocks noGrp="1"/>
          </p:cNvSpPr>
          <p:nvPr>
            <p:ph type="body" idx="1"/>
          </p:nvPr>
        </p:nvSpPr>
        <p:spPr>
          <a:xfrm>
            <a:off x="457200" y="1268760"/>
            <a:ext cx="8229600" cy="4525963"/>
          </a:xfrm>
        </p:spPr>
        <p:txBody>
          <a:bodyPr/>
          <a:lstStyle/>
          <a:p>
            <a:pPr algn="just" eaLnBrk="1" hangingPunct="1">
              <a:lnSpc>
                <a:spcPct val="150000"/>
              </a:lnSpc>
            </a:pPr>
            <a:r>
              <a:rPr lang="en-US" sz="1500" dirty="0" smtClean="0">
                <a:latin typeface="Verdana" pitchFamily="34" charset="0"/>
                <a:cs typeface="Times New Roman" pitchFamily="18" charset="0"/>
              </a:rPr>
              <a:t>The final part of the WIMP interface is the pointer. </a:t>
            </a:r>
          </a:p>
          <a:p>
            <a:pPr algn="just" eaLnBrk="1" hangingPunct="1">
              <a:lnSpc>
                <a:spcPct val="150000"/>
              </a:lnSpc>
            </a:pPr>
            <a:r>
              <a:rPr lang="en-US" sz="1500" dirty="0" smtClean="0">
                <a:latin typeface="Verdana" pitchFamily="34" charset="0"/>
                <a:cs typeface="Times New Roman" pitchFamily="18" charset="0"/>
              </a:rPr>
              <a:t>The most common is the mouse, but joysticks are also common, for example in game controllers. </a:t>
            </a:r>
          </a:p>
          <a:p>
            <a:pPr algn="just" eaLnBrk="1" hangingPunct="1">
              <a:lnSpc>
                <a:spcPct val="150000"/>
              </a:lnSpc>
            </a:pPr>
            <a:r>
              <a:rPr lang="en-US" sz="1500" dirty="0" smtClean="0">
                <a:latin typeface="Verdana" pitchFamily="34" charset="0"/>
                <a:cs typeface="Times New Roman" pitchFamily="18" charset="0"/>
              </a:rPr>
              <a:t>On mobile phones and PDAs, a stylus is often provided as the pointer and on touchscreen system the finger used. </a:t>
            </a:r>
          </a:p>
          <a:p>
            <a:pPr algn="just" eaLnBrk="1" hangingPunct="1">
              <a:lnSpc>
                <a:spcPct val="150000"/>
              </a:lnSpc>
            </a:pPr>
            <a:r>
              <a:rPr lang="en-US" sz="1500" dirty="0" smtClean="0">
                <a:latin typeface="Verdana" pitchFamily="34" charset="0"/>
                <a:cs typeface="Times New Roman" pitchFamily="18" charset="0"/>
              </a:rPr>
              <a:t>Remote pointers include the Wii wand and other infra-red pointers, for example for doing presentations. </a:t>
            </a:r>
          </a:p>
          <a:p>
            <a:pPr algn="just" eaLnBrk="1" hangingPunct="1">
              <a:lnSpc>
                <a:spcPct val="150000"/>
              </a:lnSpc>
            </a:pPr>
            <a:r>
              <a:rPr lang="en-US" sz="1500" dirty="0" smtClean="0">
                <a:latin typeface="Verdana" pitchFamily="34" charset="0"/>
                <a:cs typeface="Times New Roman" pitchFamily="18" charset="0"/>
              </a:rPr>
              <a:t>The arrival of </a:t>
            </a:r>
            <a:r>
              <a:rPr lang="en-US" sz="1500" dirty="0" err="1" smtClean="0">
                <a:latin typeface="Verdana" pitchFamily="34" charset="0"/>
                <a:cs typeface="Times New Roman" pitchFamily="18" charset="0"/>
              </a:rPr>
              <a:t>multitouch</a:t>
            </a:r>
            <a:r>
              <a:rPr lang="en-US" sz="1500" dirty="0" smtClean="0">
                <a:latin typeface="Verdana" pitchFamily="34" charset="0"/>
                <a:cs typeface="Times New Roman" pitchFamily="18" charset="0"/>
              </a:rPr>
              <a:t> surfaces has enabled a wide range of gestures to be recognized in addition to a simple point and select operation. </a:t>
            </a:r>
          </a:p>
          <a:p>
            <a:pPr algn="just" eaLnBrk="1" hangingPunct="1">
              <a:lnSpc>
                <a:spcPct val="150000"/>
              </a:lnSpc>
            </a:pPr>
            <a:r>
              <a:rPr lang="en-US" sz="1500" b="1" dirty="0" smtClean="0">
                <a:latin typeface="Verdana" pitchFamily="34" charset="0"/>
                <a:cs typeface="Times New Roman" pitchFamily="18" charset="0"/>
              </a:rPr>
              <a:t>Arrow vs. I-beam</a:t>
            </a:r>
          </a:p>
          <a:p>
            <a:pPr algn="just" eaLnBrk="1" hangingPunct="1">
              <a:lnSpc>
                <a:spcPct val="150000"/>
              </a:lnSpc>
            </a:pPr>
            <a:endParaRPr lang="en-US" sz="1500" b="1" dirty="0" smtClean="0">
              <a:latin typeface="Verdana" pitchFamily="34" charset="0"/>
              <a:cs typeface="Times New Roman" pitchFamily="18" charset="0"/>
            </a:endParaRPr>
          </a:p>
        </p:txBody>
      </p:sp>
      <p:pic>
        <p:nvPicPr>
          <p:cNvPr id="1026" name="Picture 2" descr="https://www.webopedia.com/wp-content/uploads/2020/10/i-beam-pointer_5f8542ad05727-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5085184"/>
            <a:ext cx="3744416" cy="10326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a:xfrm>
            <a:off x="457200" y="274638"/>
            <a:ext cx="8229600" cy="562074"/>
          </a:xfrm>
        </p:spPr>
        <p:txBody>
          <a:bodyPr/>
          <a:lstStyle/>
          <a:p>
            <a:pPr eaLnBrk="1" hangingPunct="1">
              <a:lnSpc>
                <a:spcPct val="120000"/>
              </a:lnSpc>
            </a:pPr>
            <a:r>
              <a:rPr lang="en-US" sz="1500" dirty="0" smtClean="0">
                <a:latin typeface="Verdana" pitchFamily="34" charset="0"/>
                <a:cs typeface="Times New Roman" pitchFamily="18" charset="0"/>
              </a:rPr>
              <a:t>Interface design guidelines: widgets</a:t>
            </a:r>
          </a:p>
        </p:txBody>
      </p:sp>
      <p:sp>
        <p:nvSpPr>
          <p:cNvPr id="27650" name="Text Placeholder 2"/>
          <p:cNvSpPr>
            <a:spLocks noGrp="1"/>
          </p:cNvSpPr>
          <p:nvPr>
            <p:ph type="body" idx="1"/>
          </p:nvPr>
        </p:nvSpPr>
        <p:spPr>
          <a:xfrm>
            <a:off x="323528" y="836712"/>
            <a:ext cx="8229600" cy="4392488"/>
          </a:xfrm>
        </p:spPr>
        <p:txBody>
          <a:bodyPr/>
          <a:lstStyle/>
          <a:p>
            <a:pPr algn="just" eaLnBrk="1" hangingPunct="1">
              <a:lnSpc>
                <a:spcPct val="150000"/>
              </a:lnSpc>
            </a:pPr>
            <a:r>
              <a:rPr lang="en-US" sz="1400" dirty="0" smtClean="0">
                <a:latin typeface="Verdana" pitchFamily="34" charset="0"/>
                <a:cs typeface="Times New Roman" pitchFamily="18" charset="0"/>
              </a:rPr>
              <a:t>Radio buttons Use a series of radio buttons to allow the user make exclusive choices.</a:t>
            </a:r>
          </a:p>
          <a:p>
            <a:pPr algn="just" eaLnBrk="1" hangingPunct="1">
              <a:lnSpc>
                <a:spcPct val="150000"/>
              </a:lnSpc>
            </a:pPr>
            <a:r>
              <a:rPr lang="en-US" sz="1400" dirty="0" smtClean="0">
                <a:latin typeface="Verdana" pitchFamily="34" charset="0"/>
                <a:cs typeface="Times New Roman" pitchFamily="18" charset="0"/>
              </a:rPr>
              <a:t>Checkboxes - Checkboxes should be used to display individual settings that can be switched (checked) on and off. </a:t>
            </a:r>
          </a:p>
          <a:p>
            <a:pPr algn="just" eaLnBrk="1" hangingPunct="1">
              <a:lnSpc>
                <a:spcPct val="150000"/>
              </a:lnSpc>
            </a:pPr>
            <a:r>
              <a:rPr lang="en-US" sz="1400" dirty="0" smtClean="0">
                <a:latin typeface="Verdana" pitchFamily="34" charset="0"/>
                <a:cs typeface="Times New Roman" pitchFamily="18" charset="0"/>
              </a:rPr>
              <a:t>Toolbars - A toolbar is a collection of buttons grouped according to function (in this respect they are conceptually identical to menus). Passing the mouse pointer over an icon will usually trigger the associated ‘tool tip’ which is a short textual label describing the function of the button. </a:t>
            </a:r>
          </a:p>
          <a:p>
            <a:pPr algn="just" eaLnBrk="1" hangingPunct="1">
              <a:lnSpc>
                <a:spcPct val="150000"/>
              </a:lnSpc>
            </a:pPr>
            <a:r>
              <a:rPr lang="en-US" sz="1400" dirty="0" smtClean="0">
                <a:latin typeface="Verdana" pitchFamily="34" charset="0"/>
                <a:cs typeface="Times New Roman" pitchFamily="18" charset="0"/>
              </a:rPr>
              <a:t>List boxes List boxes take a variety of forms and within these forms they offer different ways of viewing the contents – as lists (with more or less detail), as icons or as thumbnails (little pictures of the files’ contents</a:t>
            </a:r>
          </a:p>
          <a:p>
            <a:pPr algn="just" eaLnBrk="1" hangingPunct="1">
              <a:lnSpc>
                <a:spcPct val="150000"/>
              </a:lnSpc>
            </a:pPr>
            <a:r>
              <a:rPr lang="en-US" sz="1400" dirty="0" smtClean="0">
                <a:latin typeface="Verdana" pitchFamily="34" charset="0"/>
                <a:cs typeface="Times New Roman" pitchFamily="18" charset="0"/>
              </a:rPr>
              <a:t>Sliders - A slider is a widget which can return analogue values. Sliders are ideally suited to controlling or setting such things as volume or brightness or scrolling through a document.</a:t>
            </a:r>
          </a:p>
        </p:txBody>
      </p:sp>
      <p:pic>
        <p:nvPicPr>
          <p:cNvPr id="2050" name="Picture 2" descr="https://media.istockphoto.com/id/1005439644/vector/slider-bars-set-of-gray-orange-volume-level-console.jpg?s=612x612&amp;w=0&amp;k=20&amp;c=tRvQgW2Z7mRG5WvFoJZZ5Nz9Qjds8pxdDNKoNBsyr58="/>
          <p:cNvPicPr>
            <a:picLocks noChangeAspect="1" noChangeArrowheads="1"/>
          </p:cNvPicPr>
          <p:nvPr/>
        </p:nvPicPr>
        <p:blipFill rotWithShape="1">
          <a:blip r:embed="rId2">
            <a:extLst>
              <a:ext uri="{28A0092B-C50C-407E-A947-70E740481C1C}">
                <a14:useLocalDpi xmlns:a14="http://schemas.microsoft.com/office/drawing/2010/main" val="0"/>
              </a:ext>
            </a:extLst>
          </a:blip>
          <a:srcRect t="15533" r="4891" b="71678"/>
          <a:stretch/>
        </p:blipFill>
        <p:spPr bwMode="auto">
          <a:xfrm>
            <a:off x="2471799" y="5508838"/>
            <a:ext cx="4200401" cy="5648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Placeholder 2"/>
          <p:cNvSpPr>
            <a:spLocks noGrp="1"/>
          </p:cNvSpPr>
          <p:nvPr>
            <p:ph type="body" idx="1"/>
          </p:nvPr>
        </p:nvSpPr>
        <p:spPr>
          <a:xfrm>
            <a:off x="282410" y="529324"/>
            <a:ext cx="8322038" cy="4861937"/>
          </a:xfrm>
        </p:spPr>
        <p:txBody>
          <a:bodyPr/>
          <a:lstStyle/>
          <a:p>
            <a:pPr algn="just" eaLnBrk="1" hangingPunct="1">
              <a:lnSpc>
                <a:spcPct val="150000"/>
              </a:lnSpc>
            </a:pPr>
            <a:r>
              <a:rPr lang="en-US" sz="1500" dirty="0" smtClean="0">
                <a:latin typeface="Verdana" pitchFamily="34" charset="0"/>
                <a:cs typeface="Times New Roman" pitchFamily="18" charset="0"/>
              </a:rPr>
              <a:t>Form filling is an interface style that is particularly popular with Web applications. Form fill interfaces are used to gather information such as name and address. The individual boxes are called fields and are frequently marked with an asterisk (*) to indicate that an entry is mandatory. </a:t>
            </a:r>
          </a:p>
          <a:p>
            <a:pPr algn="just" eaLnBrk="1" hangingPunct="1">
              <a:lnSpc>
                <a:spcPct val="150000"/>
              </a:lnSpc>
            </a:pPr>
            <a:r>
              <a:rPr lang="en-US" sz="1500" dirty="0" smtClean="0">
                <a:latin typeface="Verdana" pitchFamily="34" charset="0"/>
                <a:cs typeface="Times New Roman" pitchFamily="18" charset="0"/>
              </a:rPr>
              <a:t>Form fill interfaces are best used when structured information is required. </a:t>
            </a:r>
            <a:r>
              <a:rPr lang="en-US" sz="1500" dirty="0" smtClean="0">
                <a:latin typeface="Verdana" pitchFamily="34" charset="0"/>
                <a:cs typeface="Times New Roman" pitchFamily="18" charset="0"/>
              </a:rPr>
              <a:t>It </a:t>
            </a:r>
            <a:r>
              <a:rPr lang="en-US" sz="1500" dirty="0" smtClean="0">
                <a:latin typeface="Verdana" pitchFamily="34" charset="0"/>
                <a:cs typeface="Times New Roman" pitchFamily="18" charset="0"/>
              </a:rPr>
              <a:t>can sometimes be automatically updated from a set of structured data stored </a:t>
            </a:r>
            <a:r>
              <a:rPr lang="en-US" sz="1500" dirty="0" smtClean="0">
                <a:latin typeface="Verdana" pitchFamily="34" charset="0"/>
                <a:cs typeface="Times New Roman" pitchFamily="18" charset="0"/>
              </a:rPr>
              <a:t>on PC. </a:t>
            </a:r>
            <a:endParaRPr lang="en-US" sz="1500" dirty="0" smtClean="0">
              <a:latin typeface="Verdana" pitchFamily="34" charset="0"/>
              <a:cs typeface="Times New Roman" pitchFamily="18" charset="0"/>
            </a:endParaRPr>
          </a:p>
          <a:p>
            <a:pPr algn="just" eaLnBrk="1" hangingPunct="1">
              <a:lnSpc>
                <a:spcPct val="150000"/>
              </a:lnSpc>
            </a:pPr>
            <a:r>
              <a:rPr lang="en-US" sz="1500" dirty="0" smtClean="0">
                <a:latin typeface="Verdana" pitchFamily="34" charset="0"/>
                <a:cs typeface="Times New Roman" pitchFamily="18" charset="0"/>
              </a:rPr>
              <a:t>Wizard </a:t>
            </a:r>
            <a:r>
              <a:rPr lang="en-US" sz="1500" dirty="0">
                <a:latin typeface="Verdana" pitchFamily="34" charset="0"/>
                <a:cs typeface="Times New Roman" pitchFamily="18" charset="0"/>
              </a:rPr>
              <a:t>is the name given to a style of interaction that leads people </a:t>
            </a:r>
            <a:r>
              <a:rPr lang="en-US" sz="1500" dirty="0" smtClean="0">
                <a:latin typeface="Verdana" pitchFamily="34" charset="0"/>
                <a:cs typeface="Times New Roman" pitchFamily="18" charset="0"/>
              </a:rPr>
              <a:t>step </a:t>
            </a:r>
            <a:r>
              <a:rPr lang="en-US" sz="1500" dirty="0">
                <a:latin typeface="Verdana" pitchFamily="34" charset="0"/>
                <a:cs typeface="Times New Roman" pitchFamily="18" charset="0"/>
              </a:rPr>
              <a:t>by step through a series of questions and answers, </a:t>
            </a:r>
            <a:r>
              <a:rPr lang="en-US" sz="1500" dirty="0" smtClean="0">
                <a:latin typeface="Verdana" pitchFamily="34" charset="0"/>
                <a:cs typeface="Times New Roman" pitchFamily="18" charset="0"/>
              </a:rPr>
              <a:t>picklists and </a:t>
            </a:r>
            <a:r>
              <a:rPr lang="en-US" sz="1500" dirty="0">
                <a:latin typeface="Verdana" pitchFamily="34" charset="0"/>
                <a:cs typeface="Times New Roman" pitchFamily="18" charset="0"/>
              </a:rPr>
              <a:t>other kinds of widgets to achieve a task.</a:t>
            </a:r>
          </a:p>
          <a:p>
            <a:pPr algn="just" eaLnBrk="1" hangingPunct="1">
              <a:lnSpc>
                <a:spcPct val="150000"/>
              </a:lnSpc>
            </a:pPr>
            <a:r>
              <a:rPr lang="en-US" sz="1500" dirty="0" smtClean="0">
                <a:latin typeface="Verdana" pitchFamily="34" charset="0"/>
                <a:cs typeface="Times New Roman" pitchFamily="18" charset="0"/>
              </a:rPr>
              <a:t>Alerts: Notifications, Obtrusive/unobtrusive</a:t>
            </a:r>
            <a:endParaRPr lang="en-US" sz="1500" dirty="0">
              <a:latin typeface="Verdana" pitchFamily="34" charset="0"/>
              <a:cs typeface="Times New Roman" pitchFamily="18" charset="0"/>
            </a:endParaRPr>
          </a:p>
        </p:txBody>
      </p:sp>
      <p:pic>
        <p:nvPicPr>
          <p:cNvPr id="3074" name="Picture 2" descr="Marking Required Fields in Forms"/>
          <p:cNvPicPr>
            <a:picLocks noChangeAspect="1" noChangeArrowheads="1"/>
          </p:cNvPicPr>
          <p:nvPr/>
        </p:nvPicPr>
        <p:blipFill rotWithShape="1">
          <a:blip r:embed="rId2">
            <a:extLst>
              <a:ext uri="{28A0092B-C50C-407E-A947-70E740481C1C}">
                <a14:useLocalDpi xmlns:a14="http://schemas.microsoft.com/office/drawing/2010/main" val="0"/>
              </a:ext>
            </a:extLst>
          </a:blip>
          <a:srcRect l="6034" t="49210" r="41918" b="32233"/>
          <a:stretch/>
        </p:blipFill>
        <p:spPr bwMode="auto">
          <a:xfrm>
            <a:off x="1326526" y="4565631"/>
            <a:ext cx="3024336" cy="56388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Wizards - Win32 apps | Microsoft Lear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2159" y="3825547"/>
            <a:ext cx="3192289" cy="2488108"/>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150+ Computer Bug Window Computer Warning Symbol Stock Photos, Pictures &amp;  Royalty-Free Images - iStock"/>
          <p:cNvPicPr>
            <a:picLocks noChangeAspect="1" noChangeArrowheads="1"/>
          </p:cNvPicPr>
          <p:nvPr/>
        </p:nvPicPr>
        <p:blipFill rotWithShape="1">
          <a:blip r:embed="rId4">
            <a:extLst>
              <a:ext uri="{28A0092B-C50C-407E-A947-70E740481C1C}">
                <a14:useLocalDpi xmlns:a14="http://schemas.microsoft.com/office/drawing/2010/main" val="0"/>
              </a:ext>
            </a:extLst>
          </a:blip>
          <a:srcRect r="30808" b="75484"/>
          <a:stretch/>
        </p:blipFill>
        <p:spPr bwMode="auto">
          <a:xfrm>
            <a:off x="827584" y="5085447"/>
            <a:ext cx="4234374" cy="12282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lstStyle/>
          <a:p>
            <a:pPr eaLnBrk="1" hangingPunct="1">
              <a:lnSpc>
                <a:spcPct val="120000"/>
              </a:lnSpc>
            </a:pPr>
            <a:r>
              <a:rPr lang="en-US" sz="1500" smtClean="0">
                <a:latin typeface="Verdana" pitchFamily="34" charset="0"/>
                <a:cs typeface="Times New Roman" pitchFamily="18" charset="0"/>
              </a:rPr>
              <a:t>Interface Design Guidelines</a:t>
            </a:r>
          </a:p>
        </p:txBody>
      </p:sp>
      <p:sp>
        <p:nvSpPr>
          <p:cNvPr id="29698" name="Text Placeholder 2"/>
          <p:cNvSpPr>
            <a:spLocks noGrp="1"/>
          </p:cNvSpPr>
          <p:nvPr>
            <p:ph type="body" idx="1"/>
          </p:nvPr>
        </p:nvSpPr>
        <p:spPr>
          <a:xfrm>
            <a:off x="457200" y="1268760"/>
            <a:ext cx="7787208" cy="4525963"/>
          </a:xfrm>
        </p:spPr>
        <p:txBody>
          <a:bodyPr/>
          <a:lstStyle/>
          <a:p>
            <a:pPr algn="just" eaLnBrk="1" hangingPunct="1">
              <a:lnSpc>
                <a:spcPct val="150000"/>
              </a:lnSpc>
            </a:pPr>
            <a:r>
              <a:rPr lang="en-US" sz="1500" dirty="0" smtClean="0">
                <a:latin typeface="Verdana" pitchFamily="34" charset="0"/>
                <a:cs typeface="Times New Roman" pitchFamily="18" charset="0"/>
              </a:rPr>
              <a:t>Cooper (2007) argues that visual interface design is  a central component of  interaction design as it combines graphic design, industrial design and visual information design</a:t>
            </a:r>
          </a:p>
          <a:p>
            <a:pPr algn="just" eaLnBrk="1" hangingPunct="1">
              <a:lnSpc>
                <a:spcPct val="150000"/>
              </a:lnSpc>
            </a:pPr>
            <a:r>
              <a:rPr lang="en-US" sz="1500" dirty="0" smtClean="0">
                <a:latin typeface="Verdana" pitchFamily="34" charset="0"/>
                <a:cs typeface="Times New Roman" pitchFamily="18" charset="0"/>
              </a:rPr>
              <a:t>Designers need to know about graphic design such as what shape, size </a:t>
            </a:r>
            <a:r>
              <a:rPr lang="en-US" sz="1500" dirty="0" err="1" smtClean="0">
                <a:latin typeface="Verdana" pitchFamily="34" charset="0"/>
                <a:cs typeface="Times New Roman" pitchFamily="18" charset="0"/>
              </a:rPr>
              <a:t>colour</a:t>
            </a:r>
            <a:r>
              <a:rPr lang="en-US" sz="1500" dirty="0" smtClean="0">
                <a:latin typeface="Verdana" pitchFamily="34" charset="0"/>
                <a:cs typeface="Times New Roman" pitchFamily="18" charset="0"/>
              </a:rPr>
              <a:t>, orientation and texture screen objects should be.  </a:t>
            </a:r>
          </a:p>
          <a:p>
            <a:pPr algn="just" eaLnBrk="1" hangingPunct="1">
              <a:lnSpc>
                <a:spcPct val="150000"/>
              </a:lnSpc>
            </a:pPr>
            <a:r>
              <a:rPr lang="en-US" sz="1500" dirty="0" smtClean="0">
                <a:latin typeface="Verdana" pitchFamily="34" charset="0"/>
                <a:cs typeface="Times New Roman" pitchFamily="18" charset="0"/>
              </a:rPr>
              <a:t>Designs should have a </a:t>
            </a:r>
            <a:r>
              <a:rPr lang="en-US" sz="1500" b="1" dirty="0" smtClean="0">
                <a:latin typeface="Verdana" pitchFamily="34" charset="0"/>
                <a:cs typeface="Times New Roman" pitchFamily="18" charset="0"/>
              </a:rPr>
              <a:t>clear and consistent style</a:t>
            </a:r>
          </a:p>
          <a:p>
            <a:pPr algn="just" eaLnBrk="1" hangingPunct="1">
              <a:lnSpc>
                <a:spcPct val="150000"/>
              </a:lnSpc>
            </a:pPr>
            <a:r>
              <a:rPr lang="en-US" sz="1500" dirty="0" smtClean="0">
                <a:latin typeface="Verdana" pitchFamily="34" charset="0"/>
                <a:cs typeface="Times New Roman" pitchFamily="18" charset="0"/>
              </a:rPr>
              <a:t>The design language will be learnt and adopted by people, so they will expect things that look the same to behave the same and, conversely if things behave different make sure they look different.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p:txBody>
          <a:bodyPr/>
          <a:lstStyle/>
          <a:p>
            <a:pPr eaLnBrk="1" hangingPunct="1">
              <a:lnSpc>
                <a:spcPct val="120000"/>
              </a:lnSpc>
            </a:pPr>
            <a:r>
              <a:rPr lang="en-US" sz="1500" dirty="0" smtClean="0">
                <a:latin typeface="Verdana" pitchFamily="34" charset="0"/>
                <a:cs typeface="Times New Roman" pitchFamily="18" charset="0"/>
              </a:rPr>
              <a:t>Principles </a:t>
            </a:r>
            <a:r>
              <a:rPr lang="en-US" sz="1500" dirty="0">
                <a:latin typeface="Verdana" pitchFamily="34" charset="0"/>
                <a:cs typeface="Times New Roman" pitchFamily="18" charset="0"/>
              </a:rPr>
              <a:t>from memory and attention</a:t>
            </a:r>
            <a:endParaRPr lang="en-US" sz="1500" dirty="0" smtClean="0">
              <a:latin typeface="Verdana" pitchFamily="34" charset="0"/>
              <a:cs typeface="Times New Roman" pitchFamily="18" charset="0"/>
            </a:endParaRPr>
          </a:p>
        </p:txBody>
      </p:sp>
      <p:sp>
        <p:nvSpPr>
          <p:cNvPr id="30722" name="Text Placeholder 2"/>
          <p:cNvSpPr>
            <a:spLocks noGrp="1"/>
          </p:cNvSpPr>
          <p:nvPr>
            <p:ph type="body" idx="1"/>
          </p:nvPr>
        </p:nvSpPr>
        <p:spPr>
          <a:xfrm>
            <a:off x="683568" y="1484784"/>
            <a:ext cx="8013576" cy="4525963"/>
          </a:xfrm>
        </p:spPr>
        <p:txBody>
          <a:bodyPr/>
          <a:lstStyle/>
          <a:p>
            <a:pPr algn="just" eaLnBrk="1" hangingPunct="1">
              <a:lnSpc>
                <a:spcPct val="200000"/>
              </a:lnSpc>
            </a:pPr>
            <a:r>
              <a:rPr lang="en-US" sz="1500" dirty="0">
                <a:latin typeface="Verdana" pitchFamily="34" charset="0"/>
              </a:rPr>
              <a:t>Short-term (or working) </a:t>
            </a:r>
            <a:r>
              <a:rPr lang="en-US" sz="1500" dirty="0" smtClean="0">
                <a:latin typeface="Verdana" pitchFamily="34" charset="0"/>
              </a:rPr>
              <a:t>memory</a:t>
            </a:r>
          </a:p>
          <a:p>
            <a:pPr algn="just" eaLnBrk="1" hangingPunct="1">
              <a:lnSpc>
                <a:spcPct val="200000"/>
              </a:lnSpc>
            </a:pPr>
            <a:r>
              <a:rPr lang="en-US" sz="1500" dirty="0">
                <a:latin typeface="Verdana" pitchFamily="34" charset="0"/>
              </a:rPr>
              <a:t>Chunking</a:t>
            </a:r>
          </a:p>
          <a:p>
            <a:pPr algn="just" eaLnBrk="1" hangingPunct="1">
              <a:lnSpc>
                <a:spcPct val="200000"/>
              </a:lnSpc>
            </a:pPr>
            <a:r>
              <a:rPr lang="en-US" sz="1500" dirty="0">
                <a:latin typeface="Verdana" pitchFamily="34" charset="0"/>
              </a:rPr>
              <a:t>Time limitations</a:t>
            </a:r>
          </a:p>
          <a:p>
            <a:pPr algn="just" eaLnBrk="1" hangingPunct="1">
              <a:lnSpc>
                <a:spcPct val="200000"/>
              </a:lnSpc>
            </a:pPr>
            <a:r>
              <a:rPr lang="en-US" sz="1500" dirty="0">
                <a:latin typeface="Verdana" pitchFamily="34" charset="0"/>
              </a:rPr>
              <a:t>Recall and recognition</a:t>
            </a:r>
          </a:p>
          <a:p>
            <a:pPr algn="just" eaLnBrk="1" hangingPunct="1">
              <a:lnSpc>
                <a:spcPct val="200000"/>
              </a:lnSpc>
            </a:pPr>
            <a:r>
              <a:rPr lang="en-US" sz="1500" dirty="0">
                <a:latin typeface="Verdana" pitchFamily="34" charset="0"/>
              </a:rPr>
              <a:t>Designing for memory</a:t>
            </a:r>
          </a:p>
          <a:p>
            <a:pPr algn="just" eaLnBrk="1" hangingPunct="1">
              <a:lnSpc>
                <a:spcPct val="200000"/>
              </a:lnSpc>
            </a:pPr>
            <a:r>
              <a:rPr lang="en-US" sz="1500" dirty="0">
                <a:latin typeface="Verdana" pitchFamily="34" charset="0"/>
              </a:rPr>
              <a:t>Designing with </a:t>
            </a:r>
            <a:r>
              <a:rPr lang="en-US" sz="1500" dirty="0" err="1" smtClean="0">
                <a:latin typeface="Verdana" pitchFamily="34" charset="0"/>
              </a:rPr>
              <a:t>colour</a:t>
            </a:r>
            <a:r>
              <a:rPr lang="en-US" sz="1500" dirty="0" smtClean="0">
                <a:latin typeface="Verdana" pitchFamily="34" charset="0"/>
              </a:rPr>
              <a:t>  (next slide)</a:t>
            </a:r>
            <a:endParaRPr lang="en-GB" sz="1500" dirty="0">
              <a:latin typeface="Verdana"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a:xfrm>
            <a:off x="457200" y="116632"/>
            <a:ext cx="8229600" cy="562074"/>
          </a:xfrm>
        </p:spPr>
        <p:txBody>
          <a:bodyPr/>
          <a:lstStyle/>
          <a:p>
            <a:pPr eaLnBrk="1" hangingPunct="1">
              <a:lnSpc>
                <a:spcPct val="120000"/>
              </a:lnSpc>
            </a:pPr>
            <a:r>
              <a:rPr lang="en-US" sz="1500" b="1" dirty="0" smtClean="0">
                <a:latin typeface="Verdana" pitchFamily="34" charset="0"/>
                <a:cs typeface="Times New Roman" pitchFamily="18" charset="0"/>
              </a:rPr>
              <a:t>Designing with </a:t>
            </a:r>
            <a:r>
              <a:rPr lang="en-US" sz="1500" b="1" dirty="0" err="1" smtClean="0">
                <a:latin typeface="Verdana" pitchFamily="34" charset="0"/>
                <a:cs typeface="Times New Roman" pitchFamily="18" charset="0"/>
              </a:rPr>
              <a:t>colour</a:t>
            </a:r>
            <a:endParaRPr lang="en-US" sz="1500" b="1" dirty="0" smtClean="0">
              <a:latin typeface="Verdana" pitchFamily="34" charset="0"/>
              <a:cs typeface="Times New Roman" pitchFamily="18" charset="0"/>
            </a:endParaRPr>
          </a:p>
        </p:txBody>
      </p:sp>
      <p:sp>
        <p:nvSpPr>
          <p:cNvPr id="32770" name="Text Placeholder 2"/>
          <p:cNvSpPr>
            <a:spLocks noGrp="1"/>
          </p:cNvSpPr>
          <p:nvPr>
            <p:ph type="body" idx="1"/>
          </p:nvPr>
        </p:nvSpPr>
        <p:spPr>
          <a:xfrm>
            <a:off x="323528" y="764704"/>
            <a:ext cx="8507288" cy="3706530"/>
          </a:xfrm>
        </p:spPr>
        <p:txBody>
          <a:bodyPr/>
          <a:lstStyle/>
          <a:p>
            <a:pPr marL="0" indent="0" algn="just" eaLnBrk="1" hangingPunct="1">
              <a:lnSpc>
                <a:spcPct val="120000"/>
              </a:lnSpc>
              <a:buNone/>
            </a:pPr>
            <a:r>
              <a:rPr lang="en-US" sz="1500" dirty="0">
                <a:latin typeface="Verdana" pitchFamily="34" charset="0"/>
                <a:cs typeface="Times New Roman" pitchFamily="18" charset="0"/>
              </a:rPr>
              <a:t>Aaron Marcus’s excellent book Graphic Design for Electronic Documents and </a:t>
            </a:r>
            <a:r>
              <a:rPr lang="en-US" sz="1500" dirty="0" smtClean="0">
                <a:latin typeface="Verdana" pitchFamily="34" charset="0"/>
                <a:cs typeface="Times New Roman" pitchFamily="18" charset="0"/>
              </a:rPr>
              <a:t>User Interfaces </a:t>
            </a:r>
            <a:r>
              <a:rPr lang="en-US" sz="1500" dirty="0">
                <a:latin typeface="Verdana" pitchFamily="34" charset="0"/>
                <a:cs typeface="Times New Roman" pitchFamily="18" charset="0"/>
              </a:rPr>
              <a:t>( Marcus, 1992 ) provides the following rules:</a:t>
            </a:r>
          </a:p>
          <a:p>
            <a:pPr algn="just" eaLnBrk="1" hangingPunct="1">
              <a:lnSpc>
                <a:spcPct val="120000"/>
              </a:lnSpc>
              <a:buFont typeface="Wingdings" panose="05000000000000000000" pitchFamily="2" charset="2"/>
              <a:buChar char="Ø"/>
            </a:pPr>
            <a:r>
              <a:rPr lang="en-US" sz="1500" dirty="0" smtClean="0">
                <a:latin typeface="Verdana" pitchFamily="34" charset="0"/>
                <a:cs typeface="Times New Roman" pitchFamily="18" charset="0"/>
              </a:rPr>
              <a:t>Rule 1: Use a maximum of 5 +/- 2 </a:t>
            </a:r>
            <a:r>
              <a:rPr lang="en-US" sz="1500" dirty="0" err="1" smtClean="0">
                <a:latin typeface="Verdana" pitchFamily="34" charset="0"/>
                <a:cs typeface="Times New Roman" pitchFamily="18" charset="0"/>
              </a:rPr>
              <a:t>colours</a:t>
            </a:r>
            <a:r>
              <a:rPr lang="en-US" sz="1500" dirty="0" smtClean="0">
                <a:latin typeface="Verdana" pitchFamily="34" charset="0"/>
                <a:cs typeface="Times New Roman" pitchFamily="18" charset="0"/>
              </a:rPr>
              <a:t>.</a:t>
            </a:r>
          </a:p>
          <a:p>
            <a:pPr algn="just" eaLnBrk="1" hangingPunct="1">
              <a:lnSpc>
                <a:spcPct val="120000"/>
              </a:lnSpc>
              <a:buFont typeface="Wingdings" panose="05000000000000000000" pitchFamily="2" charset="2"/>
              <a:buChar char="Ø"/>
            </a:pPr>
            <a:r>
              <a:rPr lang="en-US" sz="1500" dirty="0" smtClean="0">
                <a:latin typeface="Verdana" pitchFamily="34" charset="0"/>
                <a:cs typeface="Times New Roman" pitchFamily="18" charset="0"/>
              </a:rPr>
              <a:t>Rule 2: Use </a:t>
            </a:r>
            <a:r>
              <a:rPr lang="en-US" sz="1500" dirty="0" err="1" smtClean="0">
                <a:latin typeface="Verdana" pitchFamily="34" charset="0"/>
                <a:cs typeface="Times New Roman" pitchFamily="18" charset="0"/>
              </a:rPr>
              <a:t>foveal</a:t>
            </a:r>
            <a:r>
              <a:rPr lang="en-US" sz="1500" dirty="0" smtClean="0">
                <a:latin typeface="Verdana" pitchFamily="34" charset="0"/>
                <a:cs typeface="Times New Roman" pitchFamily="18" charset="0"/>
              </a:rPr>
              <a:t> (central) and peripheral </a:t>
            </a:r>
            <a:r>
              <a:rPr lang="en-US" sz="1500" dirty="0" err="1" smtClean="0">
                <a:latin typeface="Verdana" pitchFamily="34" charset="0"/>
                <a:cs typeface="Times New Roman" pitchFamily="18" charset="0"/>
              </a:rPr>
              <a:t>colours</a:t>
            </a:r>
            <a:r>
              <a:rPr lang="en-US" sz="1500" dirty="0" smtClean="0">
                <a:latin typeface="Verdana" pitchFamily="34" charset="0"/>
                <a:cs typeface="Times New Roman" pitchFamily="18" charset="0"/>
              </a:rPr>
              <a:t> appropriately.</a:t>
            </a:r>
          </a:p>
          <a:p>
            <a:pPr algn="just" eaLnBrk="1" hangingPunct="1">
              <a:lnSpc>
                <a:spcPct val="120000"/>
              </a:lnSpc>
              <a:buFont typeface="Wingdings" panose="05000000000000000000" pitchFamily="2" charset="2"/>
              <a:buChar char="Ø"/>
            </a:pPr>
            <a:r>
              <a:rPr lang="en-US" sz="1500" dirty="0" smtClean="0">
                <a:latin typeface="Verdana" pitchFamily="34" charset="0"/>
                <a:cs typeface="Times New Roman" pitchFamily="18" charset="0"/>
              </a:rPr>
              <a:t>Rule 3.\: Use a </a:t>
            </a:r>
            <a:r>
              <a:rPr lang="en-US" sz="1500" dirty="0" err="1" smtClean="0">
                <a:latin typeface="Verdana" pitchFamily="34" charset="0"/>
                <a:cs typeface="Times New Roman" pitchFamily="18" charset="0"/>
              </a:rPr>
              <a:t>colour</a:t>
            </a:r>
            <a:r>
              <a:rPr lang="en-US" sz="1500" dirty="0" smtClean="0">
                <a:latin typeface="Verdana" pitchFamily="34" charset="0"/>
                <a:cs typeface="Times New Roman" pitchFamily="18" charset="0"/>
              </a:rPr>
              <a:t> area that exhibits a minimum shift in </a:t>
            </a:r>
            <a:r>
              <a:rPr lang="en-US" sz="1500" dirty="0" err="1" smtClean="0">
                <a:latin typeface="Verdana" pitchFamily="34" charset="0"/>
                <a:cs typeface="Times New Roman" pitchFamily="18" charset="0"/>
              </a:rPr>
              <a:t>colour</a:t>
            </a:r>
            <a:r>
              <a:rPr lang="en-US" sz="1500" dirty="0" smtClean="0">
                <a:latin typeface="Verdana" pitchFamily="34" charset="0"/>
                <a:cs typeface="Times New Roman" pitchFamily="18" charset="0"/>
              </a:rPr>
              <a:t> and/or size if the </a:t>
            </a:r>
            <a:r>
              <a:rPr lang="en-US" sz="1500" dirty="0" err="1" smtClean="0">
                <a:latin typeface="Verdana" pitchFamily="34" charset="0"/>
                <a:cs typeface="Times New Roman" pitchFamily="18" charset="0"/>
              </a:rPr>
              <a:t>colour</a:t>
            </a:r>
            <a:r>
              <a:rPr lang="en-US" sz="1500" dirty="0" smtClean="0">
                <a:latin typeface="Verdana" pitchFamily="34" charset="0"/>
                <a:cs typeface="Times New Roman" pitchFamily="18" charset="0"/>
              </a:rPr>
              <a:t> area changes in size.</a:t>
            </a:r>
          </a:p>
          <a:p>
            <a:pPr algn="just" eaLnBrk="1" hangingPunct="1">
              <a:lnSpc>
                <a:spcPct val="120000"/>
              </a:lnSpc>
              <a:buFont typeface="Wingdings" panose="05000000000000000000" pitchFamily="2" charset="2"/>
              <a:buChar char="Ø"/>
            </a:pPr>
            <a:r>
              <a:rPr lang="en-US" sz="1500" dirty="0" smtClean="0">
                <a:latin typeface="Verdana" pitchFamily="34" charset="0"/>
                <a:cs typeface="Times New Roman" pitchFamily="18" charset="0"/>
              </a:rPr>
              <a:t>Rule 4: Do not use simultaneous high-</a:t>
            </a:r>
            <a:r>
              <a:rPr lang="en-US" sz="1500" dirty="0" err="1" smtClean="0">
                <a:latin typeface="Verdana" pitchFamily="34" charset="0"/>
                <a:cs typeface="Times New Roman" pitchFamily="18" charset="0"/>
              </a:rPr>
              <a:t>chroma</a:t>
            </a:r>
            <a:r>
              <a:rPr lang="en-US" sz="1500" dirty="0" smtClean="0">
                <a:latin typeface="Verdana" pitchFamily="34" charset="0"/>
                <a:cs typeface="Times New Roman" pitchFamily="18" charset="0"/>
              </a:rPr>
              <a:t>, spectral </a:t>
            </a:r>
            <a:r>
              <a:rPr lang="en-US" sz="1500" dirty="0" err="1" smtClean="0">
                <a:latin typeface="Verdana" pitchFamily="34" charset="0"/>
                <a:cs typeface="Times New Roman" pitchFamily="18" charset="0"/>
              </a:rPr>
              <a:t>colours</a:t>
            </a:r>
            <a:r>
              <a:rPr lang="en-US" sz="1500" dirty="0" smtClean="0">
                <a:latin typeface="Verdana" pitchFamily="34" charset="0"/>
                <a:cs typeface="Times New Roman" pitchFamily="18" charset="0"/>
              </a:rPr>
              <a:t>.</a:t>
            </a:r>
          </a:p>
          <a:p>
            <a:pPr algn="just" eaLnBrk="1" hangingPunct="1">
              <a:lnSpc>
                <a:spcPct val="120000"/>
              </a:lnSpc>
              <a:buFont typeface="Wingdings" panose="05000000000000000000" pitchFamily="2" charset="2"/>
              <a:buChar char="Ø"/>
            </a:pPr>
            <a:r>
              <a:rPr lang="en-US" sz="1500" dirty="0" smtClean="0">
                <a:latin typeface="Verdana" pitchFamily="34" charset="0"/>
                <a:cs typeface="Times New Roman" pitchFamily="18" charset="0"/>
              </a:rPr>
              <a:t>Rule 5: Use familiar, consistent </a:t>
            </a:r>
            <a:r>
              <a:rPr lang="en-US" sz="1500" dirty="0" err="1" smtClean="0">
                <a:latin typeface="Verdana" pitchFamily="34" charset="0"/>
                <a:cs typeface="Times New Roman" pitchFamily="18" charset="0"/>
              </a:rPr>
              <a:t>colour</a:t>
            </a:r>
            <a:r>
              <a:rPr lang="en-US" sz="1500" dirty="0" smtClean="0">
                <a:latin typeface="Verdana" pitchFamily="34" charset="0"/>
                <a:cs typeface="Times New Roman" pitchFamily="18" charset="0"/>
              </a:rPr>
              <a:t> </a:t>
            </a:r>
            <a:r>
              <a:rPr lang="en-US" sz="1500" dirty="0" err="1" smtClean="0">
                <a:latin typeface="Verdana" pitchFamily="34" charset="0"/>
                <a:cs typeface="Times New Roman" pitchFamily="18" charset="0"/>
              </a:rPr>
              <a:t>codings</a:t>
            </a:r>
            <a:r>
              <a:rPr lang="en-US" sz="1500" dirty="0" smtClean="0">
                <a:latin typeface="Verdana" pitchFamily="34" charset="0"/>
                <a:cs typeface="Times New Roman" pitchFamily="18" charset="0"/>
              </a:rPr>
              <a:t> with appropriate references.</a:t>
            </a:r>
          </a:p>
          <a:p>
            <a:pPr algn="just" eaLnBrk="1" hangingPunct="1">
              <a:lnSpc>
                <a:spcPct val="120000"/>
              </a:lnSpc>
              <a:buFont typeface="Wingdings" panose="05000000000000000000" pitchFamily="2" charset="2"/>
              <a:buChar char="Ø"/>
            </a:pPr>
            <a:r>
              <a:rPr lang="en-US" sz="1500" dirty="0" err="1" smtClean="0">
                <a:latin typeface="Verdana" pitchFamily="34" charset="0"/>
                <a:cs typeface="Times New Roman" pitchFamily="18" charset="0"/>
              </a:rPr>
              <a:t>Colour</a:t>
            </a:r>
            <a:r>
              <a:rPr lang="en-US" sz="1500" dirty="0" smtClean="0">
                <a:latin typeface="Verdana" pitchFamily="34" charset="0"/>
                <a:cs typeface="Times New Roman" pitchFamily="18" charset="0"/>
              </a:rPr>
              <a:t> connotations can vary dramatically even within a culture.</a:t>
            </a:r>
          </a:p>
          <a:p>
            <a:pPr marL="0" indent="0" algn="just" eaLnBrk="1" hangingPunct="1">
              <a:lnSpc>
                <a:spcPct val="120000"/>
              </a:lnSpc>
              <a:buNone/>
            </a:pPr>
            <a:r>
              <a:rPr lang="en-US" sz="1500" dirty="0" smtClean="0">
                <a:latin typeface="Verdana" pitchFamily="34" charset="0"/>
                <a:cs typeface="Times New Roman" pitchFamily="18" charset="0"/>
              </a:rPr>
              <a:t>Marcus notes that the </a:t>
            </a:r>
            <a:r>
              <a:rPr lang="en-US" sz="1500" dirty="0" err="1" smtClean="0">
                <a:latin typeface="Verdana" pitchFamily="34" charset="0"/>
                <a:cs typeface="Times New Roman" pitchFamily="18" charset="0"/>
              </a:rPr>
              <a:t>colour</a:t>
            </a:r>
            <a:r>
              <a:rPr lang="en-US" sz="1500" dirty="0" smtClean="0">
                <a:latin typeface="Verdana" pitchFamily="34" charset="0"/>
                <a:cs typeface="Times New Roman" pitchFamily="18" charset="0"/>
              </a:rPr>
              <a:t> blue in the United States is interpreted different by different groups – for healthcare professionals it is taken to indicate death, for accountants it means reliability or </a:t>
            </a:r>
            <a:r>
              <a:rPr lang="en-US" sz="1500" dirty="0" err="1" smtClean="0">
                <a:latin typeface="Verdana" pitchFamily="34" charset="0"/>
                <a:cs typeface="Times New Roman" pitchFamily="18" charset="0"/>
              </a:rPr>
              <a:t>corporateness</a:t>
            </a:r>
            <a:r>
              <a:rPr lang="en-US" sz="1500" dirty="0" smtClean="0">
                <a:latin typeface="Verdana" pitchFamily="34" charset="0"/>
                <a:cs typeface="Times New Roman" pitchFamily="18" charset="0"/>
              </a:rPr>
              <a:t> (think of the ‘Big Blue’ – IBM).</a:t>
            </a: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3601"/>
          <a:stretch/>
        </p:blipFill>
        <p:spPr>
          <a:xfrm>
            <a:off x="1747664" y="4471234"/>
            <a:ext cx="5776664" cy="2283431"/>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a:xfrm>
            <a:off x="518864" y="188640"/>
            <a:ext cx="8229600" cy="792088"/>
          </a:xfrm>
        </p:spPr>
        <p:txBody>
          <a:bodyPr/>
          <a:lstStyle/>
          <a:p>
            <a:pPr eaLnBrk="1" hangingPunct="1">
              <a:lnSpc>
                <a:spcPct val="120000"/>
              </a:lnSpc>
            </a:pPr>
            <a:r>
              <a:rPr lang="en-US" sz="1800" b="1" dirty="0" smtClean="0">
                <a:solidFill>
                  <a:srgbClr val="0070C0"/>
                </a:solidFill>
                <a:latin typeface="Verdana" pitchFamily="34" charset="0"/>
                <a:cs typeface="Times New Roman" pitchFamily="18" charset="0"/>
              </a:rPr>
              <a:t>Error avoidance design guidelines</a:t>
            </a:r>
          </a:p>
        </p:txBody>
      </p:sp>
      <p:sp>
        <p:nvSpPr>
          <p:cNvPr id="33794" name="Text Placeholder 2"/>
          <p:cNvSpPr>
            <a:spLocks noGrp="1"/>
          </p:cNvSpPr>
          <p:nvPr>
            <p:ph type="body" idx="1"/>
          </p:nvPr>
        </p:nvSpPr>
        <p:spPr>
          <a:xfrm>
            <a:off x="104056" y="980728"/>
            <a:ext cx="8784976" cy="5400600"/>
          </a:xfrm>
        </p:spPr>
        <p:txBody>
          <a:bodyPr/>
          <a:lstStyle/>
          <a:p>
            <a:pPr algn="just" eaLnBrk="1" hangingPunct="1">
              <a:lnSpc>
                <a:spcPct val="120000"/>
              </a:lnSpc>
              <a:buFont typeface="+mj-lt"/>
              <a:buAutoNum type="arabicParenR"/>
            </a:pPr>
            <a:r>
              <a:rPr lang="en-US" sz="1500" dirty="0" smtClean="0">
                <a:latin typeface="Verdana" pitchFamily="34" charset="0"/>
                <a:cs typeface="Times New Roman" pitchFamily="18" charset="0"/>
              </a:rPr>
              <a:t>Use knowledge both in the world and in the head in order to promote a good conceptual model of the system; this requires consistency of mapping between the designer’s model, the system model and the user’s model.</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Simplify the structure of tasks so as to minimize the load upon vulnerable cognitive processes such as working memory, planning or problem solving.</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Make both, execution </a:t>
            </a:r>
            <a:r>
              <a:rPr lang="en-US" sz="1500" dirty="0">
                <a:latin typeface="Verdana" pitchFamily="34" charset="0"/>
                <a:cs typeface="Times New Roman" pitchFamily="18" charset="0"/>
              </a:rPr>
              <a:t>&amp;</a:t>
            </a:r>
            <a:r>
              <a:rPr lang="en-US" sz="1500" dirty="0" smtClean="0">
                <a:latin typeface="Verdana" pitchFamily="34" charset="0"/>
                <a:cs typeface="Times New Roman" pitchFamily="18" charset="0"/>
              </a:rPr>
              <a:t> the evaluation, sides of an action visible. Visibility in regard to the former allows users to know what is possible &amp; how things should be done.</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Exploit natural mappings between intentions &amp; possible actions, between actions and their effects on the system, between the actual system state and what is perceivable, &amp; between the system state and the needs, intentions </a:t>
            </a:r>
            <a:r>
              <a:rPr lang="en-US" sz="1500" dirty="0">
                <a:latin typeface="Verdana" pitchFamily="34" charset="0"/>
                <a:cs typeface="Times New Roman" pitchFamily="18" charset="0"/>
              </a:rPr>
              <a:t>&amp;</a:t>
            </a:r>
            <a:r>
              <a:rPr lang="en-US" sz="1500" dirty="0" smtClean="0">
                <a:latin typeface="Verdana" pitchFamily="34" charset="0"/>
                <a:cs typeface="Times New Roman" pitchFamily="18" charset="0"/>
              </a:rPr>
              <a:t> expectations of the user.</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Exploit the power of constraints, both natural and artificial. Constraints guide people to the next appropriate action or decision.</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Design for errors. Assume that they will happen, then plan for </a:t>
            </a:r>
            <a:r>
              <a:rPr lang="en-US" sz="1500" i="1" dirty="0" smtClean="0">
                <a:latin typeface="Verdana" pitchFamily="34" charset="0"/>
                <a:cs typeface="Times New Roman" pitchFamily="18" charset="0"/>
              </a:rPr>
              <a:t>error recovery. Try to make it easy to reverse operations and hard to carry out non-reversible ones.</a:t>
            </a:r>
          </a:p>
          <a:p>
            <a:pPr algn="just" eaLnBrk="1" hangingPunct="1">
              <a:lnSpc>
                <a:spcPct val="120000"/>
              </a:lnSpc>
            </a:pPr>
            <a:r>
              <a:rPr lang="en-US" sz="1500" u="sng" dirty="0" smtClean="0">
                <a:solidFill>
                  <a:srgbClr val="FF0000"/>
                </a:solidFill>
                <a:latin typeface="Verdana" pitchFamily="34" charset="0"/>
                <a:cs typeface="Times New Roman" pitchFamily="18" charset="0"/>
              </a:rPr>
              <a:t>When all else fails,</a:t>
            </a:r>
            <a:r>
              <a:rPr lang="en-US" sz="1500" u="sng" dirty="0" smtClean="0">
                <a:latin typeface="Verdana" pitchFamily="34" charset="0"/>
                <a:cs typeface="Times New Roman" pitchFamily="18" charset="0"/>
              </a:rPr>
              <a:t> standardize actions, outcomes, layouts, displays, etc. The disadvantages of less than perfect standardization are often compensated for by the increased ease of use. But standardization for its own sake is only a last resort. The earlier principles should always be applied first.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a:xfrm>
            <a:off x="457200" y="44624"/>
            <a:ext cx="8229600" cy="922114"/>
          </a:xfrm>
        </p:spPr>
        <p:txBody>
          <a:bodyPr/>
          <a:lstStyle/>
          <a:p>
            <a:pPr eaLnBrk="1" hangingPunct="1">
              <a:lnSpc>
                <a:spcPct val="120000"/>
              </a:lnSpc>
            </a:pPr>
            <a:r>
              <a:rPr lang="en-US" sz="1800" b="1" dirty="0" smtClean="0">
                <a:solidFill>
                  <a:srgbClr val="0070C0"/>
                </a:solidFill>
                <a:latin typeface="Verdana" pitchFamily="34" charset="0"/>
                <a:cs typeface="Times New Roman" pitchFamily="18" charset="0"/>
              </a:rPr>
              <a:t>Error message design guidelines</a:t>
            </a:r>
          </a:p>
        </p:txBody>
      </p:sp>
      <p:sp>
        <p:nvSpPr>
          <p:cNvPr id="34818" name="Text Placeholder 2"/>
          <p:cNvSpPr>
            <a:spLocks noGrp="1"/>
          </p:cNvSpPr>
          <p:nvPr>
            <p:ph type="body" idx="1"/>
          </p:nvPr>
        </p:nvSpPr>
        <p:spPr>
          <a:xfrm>
            <a:off x="457200" y="980728"/>
            <a:ext cx="8229600" cy="5184576"/>
          </a:xfrm>
        </p:spPr>
        <p:txBody>
          <a:bodyPr/>
          <a:lstStyle/>
          <a:p>
            <a:pPr algn="just" eaLnBrk="1" hangingPunct="1">
              <a:lnSpc>
                <a:spcPct val="120000"/>
              </a:lnSpc>
              <a:buFont typeface="+mj-lt"/>
              <a:buAutoNum type="arabicParenR"/>
            </a:pPr>
            <a:r>
              <a:rPr lang="en-US" sz="1500" dirty="0" smtClean="0">
                <a:latin typeface="Verdana" pitchFamily="34" charset="0"/>
                <a:cs typeface="Times New Roman" pitchFamily="18" charset="0"/>
              </a:rPr>
              <a:t>Take care with the wording and presentation of alerts and error messages.</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Avoid using threatening or alarming language in messages (e.g. fatal error, run aborted, kill job, catastrophic error).</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Do not use double negatives as they can be ambiguous.</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Use specific, constructive words in error messages (e.g. avoid general messages such as ‘invalid entry’ and use specifics such as ‘please enter your name’).</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Make the system ‘take the blame’ for errors (e.g. ‘illegal command’ versus ‘unrecognized command’).</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DO NOT USE ALL UPPERCASE LETTERS as it looks like you are shouting – instead, use a mixture of uppercase and lowercase.</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Use attention grabbing techniques cautiously (e.g. avoid over-using ‘blinks’ on Web pages, flashing messages, ‘you have mail’, bold </a:t>
            </a:r>
            <a:r>
              <a:rPr lang="en-US" sz="1500" dirty="0" err="1" smtClean="0">
                <a:latin typeface="Verdana" pitchFamily="34" charset="0"/>
                <a:cs typeface="Times New Roman" pitchFamily="18" charset="0"/>
              </a:rPr>
              <a:t>colours</a:t>
            </a:r>
            <a:r>
              <a:rPr lang="en-US" sz="1500" dirty="0" smtClean="0">
                <a:latin typeface="Verdana" pitchFamily="34" charset="0"/>
                <a:cs typeface="Times New Roman" pitchFamily="18" charset="0"/>
              </a:rPr>
              <a:t>, etc.).</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Do not use more than four different font sizes per screen.</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Do not over-use audio or video.</a:t>
            </a:r>
          </a:p>
          <a:p>
            <a:pPr algn="just" eaLnBrk="1" hangingPunct="1">
              <a:lnSpc>
                <a:spcPct val="120000"/>
              </a:lnSpc>
              <a:buFont typeface="+mj-lt"/>
              <a:buAutoNum type="arabicParenR"/>
            </a:pPr>
            <a:r>
              <a:rPr lang="en-US" sz="1500" dirty="0" smtClean="0">
                <a:latin typeface="Verdana" pitchFamily="34" charset="0"/>
                <a:cs typeface="Times New Roman" pitchFamily="18" charset="0"/>
              </a:rPr>
              <a:t>Use </a:t>
            </a:r>
            <a:r>
              <a:rPr lang="en-US" sz="1500" dirty="0" err="1" smtClean="0">
                <a:latin typeface="Verdana" pitchFamily="34" charset="0"/>
                <a:cs typeface="Times New Roman" pitchFamily="18" charset="0"/>
              </a:rPr>
              <a:t>colours</a:t>
            </a:r>
            <a:r>
              <a:rPr lang="en-US" sz="1500" dirty="0" smtClean="0">
                <a:latin typeface="Verdana" pitchFamily="34" charset="0"/>
                <a:cs typeface="Times New Roman" pitchFamily="18" charset="0"/>
              </a:rPr>
              <a:t> appropriately and make use of expectations (e.g. red = danger, green = ok).</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a:xfrm>
            <a:off x="457200" y="274638"/>
            <a:ext cx="8229600" cy="562074"/>
          </a:xfrm>
        </p:spPr>
        <p:txBody>
          <a:bodyPr/>
          <a:lstStyle/>
          <a:p>
            <a:pPr eaLnBrk="1" hangingPunct="1">
              <a:lnSpc>
                <a:spcPct val="120000"/>
              </a:lnSpc>
            </a:pPr>
            <a:r>
              <a:rPr lang="en-US" sz="1500" dirty="0" smtClean="0">
                <a:latin typeface="Verdana" pitchFamily="34" charset="0"/>
                <a:cs typeface="Times New Roman" pitchFamily="18" charset="0"/>
              </a:rPr>
              <a:t>Information Design</a:t>
            </a:r>
          </a:p>
        </p:txBody>
      </p:sp>
      <p:sp>
        <p:nvSpPr>
          <p:cNvPr id="35842" name="Text Placeholder 2"/>
          <p:cNvSpPr>
            <a:spLocks noGrp="1"/>
          </p:cNvSpPr>
          <p:nvPr>
            <p:ph type="body" idx="1"/>
          </p:nvPr>
        </p:nvSpPr>
        <p:spPr>
          <a:xfrm>
            <a:off x="457200" y="1052736"/>
            <a:ext cx="8229600" cy="4680520"/>
          </a:xfrm>
        </p:spPr>
        <p:txBody>
          <a:bodyPr/>
          <a:lstStyle/>
          <a:p>
            <a:pPr algn="just" eaLnBrk="1" hangingPunct="1">
              <a:lnSpc>
                <a:spcPct val="150000"/>
              </a:lnSpc>
            </a:pPr>
            <a:r>
              <a:rPr lang="en-US" sz="1500" dirty="0" smtClean="0">
                <a:latin typeface="Verdana" pitchFamily="34" charset="0"/>
                <a:cs typeface="Times New Roman" pitchFamily="18" charset="0"/>
              </a:rPr>
              <a:t>Information design is concerned with the presentation of large amounts of information in the most informative way. </a:t>
            </a:r>
          </a:p>
          <a:p>
            <a:pPr algn="just" eaLnBrk="1" hangingPunct="1">
              <a:lnSpc>
                <a:spcPct val="150000"/>
              </a:lnSpc>
            </a:pPr>
            <a:r>
              <a:rPr lang="en-US" sz="1500" dirty="0" smtClean="0">
                <a:latin typeface="Verdana" pitchFamily="34" charset="0"/>
                <a:cs typeface="Times New Roman" pitchFamily="18" charset="0"/>
              </a:rPr>
              <a:t>General design principles of avoiding clutter, avoiding excessive animations and avoiding clashing </a:t>
            </a:r>
            <a:r>
              <a:rPr lang="en-US" sz="1500" dirty="0" err="1" smtClean="0">
                <a:latin typeface="Verdana" pitchFamily="34" charset="0"/>
                <a:cs typeface="Times New Roman" pitchFamily="18" charset="0"/>
              </a:rPr>
              <a:t>colours</a:t>
            </a:r>
            <a:r>
              <a:rPr lang="en-US" sz="1500" dirty="0" smtClean="0">
                <a:latin typeface="Verdana" pitchFamily="34" charset="0"/>
                <a:cs typeface="Times New Roman" pitchFamily="18" charset="0"/>
              </a:rPr>
              <a:t> also help make displays understandable. </a:t>
            </a:r>
          </a:p>
          <a:p>
            <a:pPr algn="just" eaLnBrk="1" hangingPunct="1">
              <a:lnSpc>
                <a:spcPct val="150000"/>
              </a:lnSpc>
            </a:pPr>
            <a:r>
              <a:rPr lang="en-US" sz="1500" dirty="0" smtClean="0">
                <a:latin typeface="Verdana" pitchFamily="34" charset="0"/>
                <a:cs typeface="Times New Roman" pitchFamily="18" charset="0"/>
              </a:rPr>
              <a:t>Card (2008) provides a detailed taxonomy of the various types of visualization and provides details on different types of data that designers can deal with. He also discusses the different visual forms that can be used to represent data.</a:t>
            </a:r>
          </a:p>
          <a:p>
            <a:pPr algn="just" eaLnBrk="1" hangingPunct="1">
              <a:lnSpc>
                <a:spcPct val="150000"/>
              </a:lnSpc>
            </a:pPr>
            <a:r>
              <a:rPr lang="en-US" sz="1500" dirty="0" smtClean="0">
                <a:latin typeface="Verdana" pitchFamily="34" charset="0"/>
                <a:cs typeface="Times New Roman" pitchFamily="18" charset="0"/>
              </a:rPr>
              <a:t>When developing a scheme of information design in a given context, designers should realize that they are developing visual ‘languages’. The visual language of information design is an important part of these. Designers will imbue </a:t>
            </a:r>
            <a:r>
              <a:rPr lang="en-US" sz="1500" dirty="0" err="1" smtClean="0">
                <a:latin typeface="Verdana" pitchFamily="34" charset="0"/>
                <a:cs typeface="Times New Roman" pitchFamily="18" charset="0"/>
              </a:rPr>
              <a:t>colours</a:t>
            </a:r>
            <a:r>
              <a:rPr lang="en-US" sz="1500" dirty="0" smtClean="0">
                <a:latin typeface="Verdana" pitchFamily="34" charset="0"/>
                <a:cs typeface="Times New Roman" pitchFamily="18" charset="0"/>
              </a:rPr>
              <a:t>, shapes and layouts with meanings that people have to come to understand.</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p:txBody>
          <a:bodyPr/>
          <a:lstStyle/>
          <a:p>
            <a:pPr eaLnBrk="1" hangingPunct="1">
              <a:lnSpc>
                <a:spcPct val="120000"/>
              </a:lnSpc>
            </a:pPr>
            <a:r>
              <a:rPr lang="en-US" sz="1500" smtClean="0">
                <a:latin typeface="Verdana" pitchFamily="34" charset="0"/>
                <a:cs typeface="Times New Roman" pitchFamily="18" charset="0"/>
              </a:rPr>
              <a:t>Interactive visualizations</a:t>
            </a:r>
          </a:p>
        </p:txBody>
      </p:sp>
      <p:sp>
        <p:nvSpPr>
          <p:cNvPr id="36866" name="Text Placeholder 2"/>
          <p:cNvSpPr>
            <a:spLocks noGrp="1"/>
          </p:cNvSpPr>
          <p:nvPr>
            <p:ph type="body" idx="1"/>
          </p:nvPr>
        </p:nvSpPr>
        <p:spPr/>
        <p:txBody>
          <a:bodyPr/>
          <a:lstStyle/>
          <a:p>
            <a:pPr marL="0" indent="0" eaLnBrk="1" hangingPunct="1">
              <a:lnSpc>
                <a:spcPct val="120000"/>
              </a:lnSpc>
              <a:buNone/>
            </a:pPr>
            <a:r>
              <a:rPr lang="en-US" sz="1500" dirty="0" smtClean="0">
                <a:latin typeface="Verdana" pitchFamily="34" charset="0"/>
                <a:cs typeface="Times New Roman" pitchFamily="18" charset="0"/>
              </a:rPr>
              <a:t>Card (2008) argues that visualization is concerned with ‘amplifying cognition’. It achieves this through </a:t>
            </a:r>
          </a:p>
          <a:p>
            <a:pPr eaLnBrk="1" hangingPunct="1">
              <a:lnSpc>
                <a:spcPct val="120000"/>
              </a:lnSpc>
            </a:pPr>
            <a:r>
              <a:rPr lang="en-US" sz="1500" dirty="0" smtClean="0">
                <a:latin typeface="Verdana" pitchFamily="34" charset="0"/>
                <a:cs typeface="Times New Roman" pitchFamily="18" charset="0"/>
              </a:rPr>
              <a:t>increasing the memory and processing resources available to people, </a:t>
            </a:r>
          </a:p>
          <a:p>
            <a:pPr eaLnBrk="1" hangingPunct="1">
              <a:lnSpc>
                <a:spcPct val="120000"/>
              </a:lnSpc>
            </a:pPr>
            <a:r>
              <a:rPr lang="en-US" sz="1500" dirty="0" smtClean="0">
                <a:latin typeface="Verdana" pitchFamily="34" charset="0"/>
                <a:cs typeface="Times New Roman" pitchFamily="18" charset="0"/>
              </a:rPr>
              <a:t>reducing the search for information, </a:t>
            </a:r>
          </a:p>
          <a:p>
            <a:pPr eaLnBrk="1" hangingPunct="1">
              <a:lnSpc>
                <a:spcPct val="120000"/>
              </a:lnSpc>
            </a:pPr>
            <a:r>
              <a:rPr lang="en-US" sz="1500" dirty="0" smtClean="0">
                <a:latin typeface="Verdana" pitchFamily="34" charset="0"/>
                <a:cs typeface="Times New Roman" pitchFamily="18" charset="0"/>
              </a:rPr>
              <a:t>helping people to detect patterns in the data, </a:t>
            </a:r>
          </a:p>
          <a:p>
            <a:pPr eaLnBrk="1" hangingPunct="1">
              <a:lnSpc>
                <a:spcPct val="120000"/>
              </a:lnSpc>
            </a:pPr>
            <a:r>
              <a:rPr lang="en-US" sz="1500" dirty="0" smtClean="0">
                <a:latin typeface="Verdana" pitchFamily="34" charset="0"/>
                <a:cs typeface="Times New Roman" pitchFamily="18" charset="0"/>
              </a:rPr>
              <a:t>helping people to draw inferences (idea) from the data, </a:t>
            </a:r>
          </a:p>
          <a:p>
            <a:pPr eaLnBrk="1" hangingPunct="1">
              <a:lnSpc>
                <a:spcPct val="120000"/>
              </a:lnSpc>
            </a:pPr>
            <a:r>
              <a:rPr lang="en-US" sz="1500" dirty="0" smtClean="0">
                <a:latin typeface="Verdana" pitchFamily="34" charset="0"/>
                <a:cs typeface="Times New Roman" pitchFamily="18" charset="0"/>
              </a:rPr>
              <a:t>encoding data in an interactive medium</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1724</TotalTime>
  <Words>2458</Words>
  <Application>Microsoft Office PowerPoint</Application>
  <PresentationFormat>On-screen Show (4:3)</PresentationFormat>
  <Paragraphs>127</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ヒラギノ角ゴ Pro W3</vt:lpstr>
      <vt:lpstr>Arial</vt:lpstr>
      <vt:lpstr>Calibri</vt:lpstr>
      <vt:lpstr>Times New Roman</vt:lpstr>
      <vt:lpstr>Verdana</vt:lpstr>
      <vt:lpstr>Wingdings</vt:lpstr>
      <vt:lpstr>Office Theme</vt:lpstr>
      <vt:lpstr>Visual Interface Design  Visual interface design interface design guidelines Psychological principles information design visualization</vt:lpstr>
      <vt:lpstr>Introduction</vt:lpstr>
      <vt:lpstr>The UI skill</vt:lpstr>
      <vt:lpstr>Command Languages</vt:lpstr>
      <vt:lpstr>Graphical User Interfaces</vt:lpstr>
      <vt:lpstr>WIMPs</vt:lpstr>
      <vt:lpstr>Windows</vt:lpstr>
      <vt:lpstr>Icons</vt:lpstr>
      <vt:lpstr>Horton’s icon checklist</vt:lpstr>
      <vt:lpstr>Menus</vt:lpstr>
      <vt:lpstr>Pointers</vt:lpstr>
      <vt:lpstr>Interface design guidelines: widgets</vt:lpstr>
      <vt:lpstr>PowerPoint Presentation</vt:lpstr>
      <vt:lpstr>Interface Design Guidelines</vt:lpstr>
      <vt:lpstr>Principles from memory and attention</vt:lpstr>
      <vt:lpstr>Designing with colour</vt:lpstr>
      <vt:lpstr>Error avoidance design guidelines</vt:lpstr>
      <vt:lpstr>Error message design guidelines</vt:lpstr>
      <vt:lpstr>Information Design</vt:lpstr>
      <vt:lpstr>Interactive visualizations</vt:lpstr>
    </vt:vector>
  </TitlesOfParts>
  <Company>Napier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Interface Design: Visual Aspects</dc:title>
  <dc:creator>david benyon</dc:creator>
  <cp:lastModifiedBy>SANA</cp:lastModifiedBy>
  <cp:revision>118</cp:revision>
  <dcterms:created xsi:type="dcterms:W3CDTF">2010-08-12T14:51:45Z</dcterms:created>
  <dcterms:modified xsi:type="dcterms:W3CDTF">2025-05-14T16:58:36Z</dcterms:modified>
</cp:coreProperties>
</file>