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5"/>
  </p:notesMasterIdLst>
  <p:sldIdLst>
    <p:sldId id="257" r:id="rId2"/>
    <p:sldId id="341" r:id="rId3"/>
    <p:sldId id="402" r:id="rId4"/>
    <p:sldId id="452" r:id="rId5"/>
    <p:sldId id="453" r:id="rId6"/>
    <p:sldId id="442" r:id="rId7"/>
    <p:sldId id="446" r:id="rId8"/>
    <p:sldId id="403" r:id="rId9"/>
    <p:sldId id="444" r:id="rId10"/>
    <p:sldId id="445" r:id="rId11"/>
    <p:sldId id="405" r:id="rId12"/>
    <p:sldId id="407" r:id="rId13"/>
    <p:sldId id="451" r:id="rId14"/>
    <p:sldId id="408" r:id="rId15"/>
    <p:sldId id="409" r:id="rId16"/>
    <p:sldId id="449" r:id="rId17"/>
    <p:sldId id="447" r:id="rId18"/>
    <p:sldId id="410" r:id="rId19"/>
    <p:sldId id="454" r:id="rId20"/>
    <p:sldId id="455" r:id="rId21"/>
    <p:sldId id="411" r:id="rId22"/>
    <p:sldId id="412" r:id="rId23"/>
    <p:sldId id="413" r:id="rId24"/>
    <p:sldId id="448" r:id="rId25"/>
    <p:sldId id="450" r:id="rId26"/>
    <p:sldId id="414" r:id="rId27"/>
    <p:sldId id="415" r:id="rId28"/>
    <p:sldId id="416" r:id="rId29"/>
    <p:sldId id="417" r:id="rId30"/>
    <p:sldId id="418" r:id="rId31"/>
    <p:sldId id="419" r:id="rId32"/>
    <p:sldId id="420" r:id="rId33"/>
    <p:sldId id="443" r:id="rId34"/>
    <p:sldId id="421" r:id="rId35"/>
    <p:sldId id="457" r:id="rId36"/>
    <p:sldId id="456" r:id="rId37"/>
    <p:sldId id="422" r:id="rId38"/>
    <p:sldId id="423" r:id="rId39"/>
    <p:sldId id="424" r:id="rId40"/>
    <p:sldId id="441" r:id="rId41"/>
    <p:sldId id="458" r:id="rId42"/>
    <p:sldId id="430" r:id="rId43"/>
    <p:sldId id="431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485" autoAdjust="0"/>
  </p:normalViewPr>
  <p:slideViewPr>
    <p:cSldViewPr>
      <p:cViewPr varScale="1">
        <p:scale>
          <a:sx n="65" d="100"/>
          <a:sy n="65" d="100"/>
        </p:scale>
        <p:origin x="134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33E7A8C9-E367-4B4F-B613-A9E705663D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52067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5686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1965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177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7458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3531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5596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4320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will be the ultimate goal (target) or the output of our procedure in order to solve the problem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2066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MS PGothic" panose="020B0600070205080204" pitchFamily="34" charset="-128"/>
                <a:cs typeface="ＭＳ Ｐゴシック" charset="0"/>
              </a:rPr>
              <a:t>Bucharest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Arial" pitchFamily="34" charset="0"/>
                <a:ea typeface="MS PGothic" panose="020B0600070205080204" pitchFamily="34" charset="-128"/>
                <a:cs typeface="ＭＳ Ｐゴシック" charset="0"/>
              </a:rPr>
              <a:t> =&gt;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MS PGothic" panose="020B0600070205080204" pitchFamily="34" charset="-128"/>
                <a:cs typeface="ＭＳ Ｐゴシック" charset="0"/>
              </a:rPr>
              <a:t>the capital and largest city of Romania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Arial" pitchFamily="34" charset="0"/>
                <a:ea typeface="MS PGothic" panose="020B0600070205080204" pitchFamily="34" charset="-128"/>
                <a:cs typeface="ＭＳ Ｐゴシック" charset="0"/>
              </a:rPr>
              <a:t>Arad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Arial" pitchFamily="34" charset="0"/>
                <a:ea typeface="MS PGothic" panose="020B0600070205080204" pitchFamily="34" charset="-128"/>
                <a:cs typeface="ＭＳ Ｐゴシック" charset="0"/>
              </a:rPr>
              <a:t> =&gt;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MS PGothic" panose="020B0600070205080204" pitchFamily="34" charset="-128"/>
                <a:cs typeface="ＭＳ Ｐゴシック" charset="0"/>
              </a:rPr>
              <a:t>City in Romania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7544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7531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067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3395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760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above is just to refresh your memories on the terminology of a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319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23856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31150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1330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9296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7984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4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748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389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79413" y="1295400"/>
            <a:ext cx="4076700" cy="481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8513" y="1295400"/>
            <a:ext cx="4078287" cy="481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06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5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2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5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20520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212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5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28600"/>
            <a:ext cx="2076450" cy="58769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9413" y="228600"/>
            <a:ext cx="6078537" cy="58769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34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79413" y="1295400"/>
            <a:ext cx="4076700" cy="4810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8513" y="1295400"/>
            <a:ext cx="4078287" cy="4810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66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79413" y="1295400"/>
            <a:ext cx="4076700" cy="4810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08513" y="1295400"/>
            <a:ext cx="4078287" cy="23288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08513" y="3776663"/>
            <a:ext cx="4078287" cy="2328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34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096000"/>
            <a:ext cx="1905000" cy="457200"/>
          </a:xfrm>
        </p:spPr>
        <p:txBody>
          <a:bodyPr rtlCol="0"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29000" y="6096000"/>
            <a:ext cx="2895600" cy="457200"/>
          </a:xfr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0960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037DCF2-CD7A-47DE-80C8-F8C661C247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6808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305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Linear Algebra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9413" y="1295400"/>
            <a:ext cx="8307387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UET-</a:t>
            </a:r>
            <a:r>
              <a:rPr lang="en-US" err="1"/>
              <a:t>Taxila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35FE59B-F0AA-4416-B6F8-467EF8ADB25B}" type="datetimeFigureOut">
              <a:rPr lang="en-US" altLang="en-US"/>
              <a:pPr>
                <a:defRPr/>
              </a:pPr>
              <a:t>3/6/2025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q"/>
        <a:defRPr sz="28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q"/>
        <a:defRPr sz="28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q"/>
        <a:defRPr sz="28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q"/>
        <a:defRPr sz="28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219200"/>
            <a:ext cx="8305800" cy="38862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GB" altLang="en-US" sz="4000" dirty="0"/>
              <a:t>Artificial Intelligence</a:t>
            </a:r>
            <a:r>
              <a:rPr lang="en-GB" altLang="en-US" sz="3200" dirty="0"/>
              <a:t/>
            </a:r>
            <a:br>
              <a:rPr lang="en-GB" altLang="en-US" sz="3200" dirty="0"/>
            </a:br>
            <a:r>
              <a:rPr lang="en-US" altLang="zh-CN" sz="3200" u="sng" dirty="0">
                <a:latin typeface="Times New Roman" panose="02020603050405020304" pitchFamily="18" charset="0"/>
                <a:ea typeface="SimSun" panose="02010600030101010101" pitchFamily="2" charset="-122"/>
              </a:rPr>
              <a:t/>
            </a:r>
            <a:br>
              <a:rPr lang="en-US" altLang="zh-CN" sz="3200" u="sng" dirty="0"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altLang="zh-CN" sz="3200">
                <a:latin typeface="Times New Roman" panose="02020603050405020304" pitchFamily="18" charset="0"/>
                <a:ea typeface="SimSun" panose="02010600030101010101" pitchFamily="2" charset="-122"/>
              </a:rPr>
              <a:t/>
            </a:r>
            <a:br>
              <a:rPr lang="en-US" altLang="zh-CN" sz="3200"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altLang="en-US" sz="2000" dirty="0">
                <a:solidFill>
                  <a:schemeClr val="tx1"/>
                </a:solidFill>
              </a:rPr>
              <a:t/>
            </a:r>
            <a:br>
              <a:rPr lang="en-US" altLang="en-US" sz="2000" dirty="0">
                <a:solidFill>
                  <a:schemeClr val="tx1"/>
                </a:solidFill>
              </a:rPr>
            </a:b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523875"/>
          </a:xfrm>
        </p:spPr>
        <p:txBody>
          <a:bodyPr/>
          <a:lstStyle/>
          <a:p>
            <a:pPr algn="l">
              <a:defRPr/>
            </a:pPr>
            <a:r>
              <a:rPr lang="en-US" dirty="0">
                <a:latin typeface="+mn-lt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609600"/>
            <a:ext cx="8307387" cy="6019800"/>
          </a:xfrm>
        </p:spPr>
        <p:txBody>
          <a:bodyPr/>
          <a:lstStyle/>
          <a:p>
            <a:pPr marL="0" indent="0" eaLnBrk="1" hangingPunct="1">
              <a:buNone/>
              <a:tabLst>
                <a:tab pos="446088" algn="l"/>
              </a:tabLst>
              <a:defRPr/>
            </a:pPr>
            <a:endParaRPr lang="en-GB" altLang="en-US" sz="3200" dirty="0"/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r>
              <a:rPr lang="en-GB" altLang="en-US" dirty="0"/>
              <a:t>Problem Solving </a:t>
            </a:r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r>
              <a:rPr lang="en-GB" altLang="en-US" dirty="0"/>
              <a:t>Problem solving approaches</a:t>
            </a:r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r>
              <a:rPr lang="en-US" dirty="0"/>
              <a:t>Problem Representation </a:t>
            </a:r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r>
              <a:rPr lang="en-US" altLang="en-US" dirty="0"/>
              <a:t>Components of problem solving</a:t>
            </a:r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r>
              <a:rPr lang="en-US" altLang="en-US" dirty="0"/>
              <a:t>Problem description</a:t>
            </a:r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r>
              <a:rPr lang="en-US" altLang="en-US" dirty="0"/>
              <a:t>The two-one puzzle problem</a:t>
            </a:r>
            <a:endParaRPr lang="en-GB" altLang="en-US" dirty="0"/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r>
              <a:rPr lang="en-US" dirty="0"/>
              <a:t>Problem solving by searching</a:t>
            </a:r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r>
              <a:rPr lang="en-US" dirty="0"/>
              <a:t>Searching and Categories of the search algorithm</a:t>
            </a:r>
          </a:p>
          <a:p>
            <a:pPr marL="400050" lvl="1" indent="0" eaLnBrk="1" hangingPunct="1">
              <a:buNone/>
              <a:tabLst>
                <a:tab pos="446088" algn="l"/>
              </a:tabLst>
              <a:defRPr/>
            </a:pPr>
            <a:r>
              <a:rPr lang="en-US" altLang="en-US" dirty="0"/>
              <a:t>   Graph theory and tree</a:t>
            </a:r>
            <a:endParaRPr lang="en-GB" altLang="en-US" dirty="0"/>
          </a:p>
          <a:p>
            <a:pPr marL="271463" indent="-271463" eaLnBrk="1" hangingPunct="1">
              <a:tabLst>
                <a:tab pos="446088" algn="l"/>
              </a:tabLst>
              <a:defRPr/>
            </a:pPr>
            <a:endParaRPr lang="en-GB" alt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</p:txBody>
      </p:sp>
    </p:spTree>
    <p:extLst>
      <p:ext uri="{BB962C8B-B14F-4D97-AF65-F5344CB8AC3E}">
        <p14:creationId xmlns:p14="http://schemas.microsoft.com/office/powerpoint/2010/main" val="1546903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Google Sans"/>
              </a:rPr>
              <a:t>a problem occurs if a person does not know how to proceed from a given state to a desired goal state.</a:t>
            </a:r>
          </a:p>
          <a:p>
            <a:r>
              <a:rPr lang="en-US" b="0" i="0" dirty="0">
                <a:effectLst/>
                <a:latin typeface="Google Sans"/>
              </a:rPr>
              <a:t>Thus, a problem is described by three components: (1) a given initial state s</a:t>
            </a:r>
            <a:r>
              <a:rPr lang="en-US" b="0" i="0" baseline="-25000" dirty="0">
                <a:effectLst/>
                <a:latin typeface="Google Sans"/>
              </a:rPr>
              <a:t>α</a:t>
            </a:r>
            <a:r>
              <a:rPr lang="en-US" b="0" i="0" dirty="0">
                <a:effectLst/>
                <a:latin typeface="Google Sans"/>
              </a:rPr>
              <a:t>; </a:t>
            </a:r>
          </a:p>
          <a:p>
            <a:r>
              <a:rPr lang="en-US" b="0" i="0" dirty="0">
                <a:effectLst/>
                <a:latin typeface="Google Sans"/>
              </a:rPr>
              <a:t>(2) a desired final state </a:t>
            </a:r>
            <a:r>
              <a:rPr lang="en-US" b="0" i="0" dirty="0" err="1">
                <a:effectLst/>
                <a:latin typeface="Google Sans"/>
              </a:rPr>
              <a:t>s</a:t>
            </a:r>
            <a:r>
              <a:rPr lang="en-US" b="0" i="0" baseline="-25000" dirty="0" err="1">
                <a:effectLst/>
                <a:latin typeface="Google Sans"/>
              </a:rPr>
              <a:t>ω</a:t>
            </a:r>
            <a:r>
              <a:rPr lang="en-US" b="0" i="0" dirty="0">
                <a:effectLst/>
                <a:latin typeface="Google Sans"/>
              </a:rPr>
              <a:t>; and</a:t>
            </a:r>
          </a:p>
          <a:p>
            <a:r>
              <a:rPr lang="en-US" b="0" i="0" dirty="0">
                <a:effectLst/>
                <a:latin typeface="Google Sans"/>
              </a:rPr>
              <a:t> (3) a barrier which hinders the solution of the problem, that is, to come from s</a:t>
            </a:r>
            <a:r>
              <a:rPr lang="en-US" b="0" i="0" baseline="-25000" dirty="0">
                <a:effectLst/>
                <a:latin typeface="Google Sans"/>
              </a:rPr>
              <a:t>α</a:t>
            </a:r>
            <a:r>
              <a:rPr lang="en-US" b="0" i="0" dirty="0">
                <a:effectLst/>
                <a:latin typeface="Google Sans"/>
              </a:rPr>
              <a:t> to </a:t>
            </a:r>
            <a:r>
              <a:rPr lang="en-US" b="0" i="0" dirty="0" err="1">
                <a:effectLst/>
                <a:latin typeface="Google Sans"/>
              </a:rPr>
              <a:t>s</a:t>
            </a:r>
            <a:r>
              <a:rPr lang="en-US" b="0" i="0" baseline="-25000" dirty="0" err="1">
                <a:effectLst/>
                <a:latin typeface="Google Sans"/>
              </a:rPr>
              <a:t>ω</a:t>
            </a:r>
            <a:r>
              <a:rPr lang="en-US" b="0" i="0" dirty="0">
                <a:effectLst/>
                <a:latin typeface="Google Sans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698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0" i="0" dirty="0">
                <a:solidFill>
                  <a:srgbClr val="040C28"/>
                </a:solidFill>
                <a:effectLst/>
                <a:latin typeface="Google Sans"/>
              </a:rPr>
              <a:t>A clear statement describing the initial state of a problem that's to be solved</a:t>
            </a:r>
            <a:r>
              <a:rPr lang="en-US" sz="3200" b="0" i="0" dirty="0">
                <a:solidFill>
                  <a:srgbClr val="4D5156"/>
                </a:solidFill>
                <a:effectLst/>
                <a:latin typeface="Google Sans"/>
              </a:rPr>
              <a:t>. 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14310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We want:</a:t>
            </a:r>
          </a:p>
          <a:p>
            <a:pPr marL="782638" lvl="1" eaLnBrk="1" hangingPunct="1"/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To automatically solve a problem</a:t>
            </a:r>
          </a:p>
          <a:p>
            <a:pPr marL="782638" lvl="1" eaLnBrk="1" hangingPunct="1"/>
            <a:endParaRPr lang="en-US" altLang="en-US" dirty="0">
              <a:latin typeface="Arial" panose="020B0604020202020204" pitchFamily="34" charset="0"/>
              <a:ea typeface="ヒラギノ角ゴ ProN W3" pitchFamily="-84" charset="-128"/>
            </a:endParaRPr>
          </a:p>
          <a:p>
            <a:pPr marL="782638" lvl="1" eaLnBrk="1" hangingPunct="1"/>
            <a:endParaRPr lang="en-US" altLang="en-US" dirty="0">
              <a:latin typeface="Arial" panose="020B0604020202020204" pitchFamily="34" charset="0"/>
              <a:ea typeface="ヒラギノ角ゴ ProN W3" pitchFamily="-84" charset="-128"/>
            </a:endParaRP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We need:</a:t>
            </a:r>
          </a:p>
          <a:p>
            <a:pPr marL="782638" lvl="1" eaLnBrk="1" hangingPunct="1"/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A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pitchFamily="-84" charset="-128"/>
              </a:rPr>
              <a:t>representation</a:t>
            </a:r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 of the problem</a:t>
            </a:r>
          </a:p>
          <a:p>
            <a:pPr marL="782638" lvl="1" eaLnBrk="1" hangingPunct="1"/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pitchFamily="-84" charset="-128"/>
              </a:rPr>
              <a:t>Algorithms </a:t>
            </a:r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that use some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pitchFamily="-84" charset="-128"/>
              </a:rPr>
              <a:t>strategy </a:t>
            </a:r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to solve the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pitchFamily="-84" charset="-128"/>
              </a:rPr>
              <a:t>problem defined </a:t>
            </a:r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in that representation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018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Solving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Classical</a:t>
            </a:r>
          </a:p>
          <a:p>
            <a:r>
              <a:rPr lang="en-US" sz="3600" dirty="0"/>
              <a:t>Generate and Test</a:t>
            </a:r>
          </a:p>
        </p:txBody>
      </p:sp>
    </p:spTree>
    <p:extLst>
      <p:ext uri="{BB962C8B-B14F-4D97-AF65-F5344CB8AC3E}">
        <p14:creationId xmlns:p14="http://schemas.microsoft.com/office/powerpoint/2010/main" val="1422888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simple approach to solve the problem</a:t>
            </a:r>
          </a:p>
          <a:p>
            <a:r>
              <a:rPr lang="en-US" b="1" dirty="0"/>
              <a:t>Hit and trial method</a:t>
            </a:r>
          </a:p>
          <a:p>
            <a:pPr lvl="1"/>
            <a:r>
              <a:rPr lang="en-US" dirty="0"/>
              <a:t>Check for various solutions to a problem</a:t>
            </a:r>
          </a:p>
          <a:p>
            <a:pPr lvl="1"/>
            <a:r>
              <a:rPr lang="en-US" dirty="0"/>
              <a:t>Usually works well for trivial (small) problems</a:t>
            </a:r>
          </a:p>
          <a:p>
            <a:r>
              <a:rPr lang="en-US" b="1" dirty="0"/>
              <a:t>Examples:</a:t>
            </a:r>
          </a:p>
          <a:p>
            <a:pPr lvl="1"/>
            <a:r>
              <a:rPr lang="en-US" dirty="0"/>
              <a:t>Maze (path or collection of paths) searching problem (Mouse example)</a:t>
            </a:r>
          </a:p>
          <a:p>
            <a:pPr lvl="1"/>
            <a:r>
              <a:rPr lang="en-US" dirty="0"/>
              <a:t>A toddler to switch on the light in a dark room</a:t>
            </a:r>
          </a:p>
          <a:p>
            <a:pPr lvl="1"/>
            <a:r>
              <a:rPr lang="en-US" dirty="0"/>
              <a:t>To open a combinational lock of a briefcase</a:t>
            </a:r>
          </a:p>
          <a:p>
            <a:r>
              <a:rPr lang="en-US" dirty="0"/>
              <a:t>Different intelligent species use a similar approach to solve the problem at hand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725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Maze search problem</a:t>
            </a:r>
          </a:p>
        </p:txBody>
      </p:sp>
      <p:pic>
        <p:nvPicPr>
          <p:cNvPr id="1026" name="Picture 2" descr="Problem Solving with Mazes and Crayon - LessWrong 2.0 viewer">
            <a:extLst>
              <a:ext uri="{FF2B5EF4-FFF2-40B4-BE49-F238E27FC236}">
                <a16:creationId xmlns:a16="http://schemas.microsoft.com/office/drawing/2014/main" xmlns="" id="{8C4E1280-5B87-753A-CB35-3480DB15B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3453871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olving Mazes with Image Processing Algorithms » File Exchange Pick of the  Week - MATLAB &amp; Simulink">
            <a:extLst>
              <a:ext uri="{FF2B5EF4-FFF2-40B4-BE49-F238E27FC236}">
                <a16:creationId xmlns:a16="http://schemas.microsoft.com/office/drawing/2014/main" xmlns="" id="{B8637AE1-0467-F456-8DE8-FB9C3E73C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1" y="1219200"/>
            <a:ext cx="2819400" cy="224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ute Mouse S Maze Game Help Mouse To Find His Cheese Maze Puzzle With  Solution Royalty Free SVG, Cliparts, Vectors, and Stock Illustration. Image  137247490.">
            <a:extLst>
              <a:ext uri="{FF2B5EF4-FFF2-40B4-BE49-F238E27FC236}">
                <a16:creationId xmlns:a16="http://schemas.microsoft.com/office/drawing/2014/main" xmlns="" id="{F4F83E97-C986-539D-9F12-B6B8D2DD6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799" y="3589400"/>
            <a:ext cx="3124201" cy="313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5634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Maze search problem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DE0892AC-6EE7-B199-614A-A33FC61F3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28775"/>
            <a:ext cx="576072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521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and Test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technical “</a:t>
            </a:r>
            <a:r>
              <a:rPr lang="en-US" b="1" dirty="0"/>
              <a:t>hit and trial approach</a:t>
            </a:r>
            <a:r>
              <a:rPr lang="en-US" dirty="0"/>
              <a:t>” to solve the problem is called the “</a:t>
            </a:r>
            <a:r>
              <a:rPr lang="en-US" b="1" dirty="0"/>
              <a:t>Generate and Test</a:t>
            </a:r>
            <a:r>
              <a:rPr lang="en-US" dirty="0"/>
              <a:t>” approach.</a:t>
            </a:r>
          </a:p>
          <a:p>
            <a:r>
              <a:rPr lang="en-US" dirty="0"/>
              <a:t>It is a heuristic search technique </a:t>
            </a:r>
          </a:p>
          <a:p>
            <a:r>
              <a:rPr lang="en-US" dirty="0"/>
              <a:t>Generate different combinations to solve the problem</a:t>
            </a:r>
          </a:p>
          <a:p>
            <a:pPr lvl="1"/>
            <a:r>
              <a:rPr lang="en-US" sz="2400" dirty="0"/>
              <a:t>The one which solves the problem is taken as the correct solution. </a:t>
            </a:r>
          </a:p>
          <a:p>
            <a:pPr lvl="1"/>
            <a:r>
              <a:rPr lang="en-US" sz="2400" dirty="0"/>
              <a:t>The rest of the combinations are considered as incorrect solutions and hence are destroyed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318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Arrangement of a Generate and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612187" cy="53340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Mouse Example (maze searching problem):</a:t>
            </a:r>
          </a:p>
          <a:p>
            <a:pPr lvl="1"/>
            <a:r>
              <a:rPr lang="en-US" sz="2400" b="1" dirty="0"/>
              <a:t>Solution generator (can say it as algo.)</a:t>
            </a:r>
            <a:r>
              <a:rPr lang="en-US" sz="2400" dirty="0"/>
              <a:t>: a machine that generates different paths inside a maze</a:t>
            </a:r>
          </a:p>
          <a:p>
            <a:pPr lvl="1"/>
            <a:r>
              <a:rPr lang="en-US" sz="2400" b="1" dirty="0"/>
              <a:t>Tester</a:t>
            </a:r>
            <a:r>
              <a:rPr lang="en-US" sz="2400" dirty="0"/>
              <a:t>: whether a path is a valid path for the mouse to reach the cheese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319" y="1524000"/>
            <a:ext cx="5577682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22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Arrangement of a Generate and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9413" y="1295400"/>
            <a:ext cx="4076700" cy="4810125"/>
          </a:xfrm>
        </p:spPr>
        <p:txBody>
          <a:bodyPr wrap="square" anchor="t"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xmlns="" id="{827A3C3C-C00B-9E86-BD0E-C589244EC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dirty="0"/>
              <a:t>Genetic Algorithm is also an example of it.</a:t>
            </a:r>
          </a:p>
        </p:txBody>
      </p:sp>
    </p:spTree>
    <p:extLst>
      <p:ext uri="{BB962C8B-B14F-4D97-AF65-F5344CB8AC3E}">
        <p14:creationId xmlns:p14="http://schemas.microsoft.com/office/powerpoint/2010/main" val="208709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5334000"/>
          </a:xfrm>
        </p:spPr>
        <p:txBody>
          <a:bodyPr/>
          <a:lstStyle/>
          <a:p>
            <a:r>
              <a:rPr lang="en-US" dirty="0"/>
              <a:t>To solve a complex problem, some techniques better than simple Generate and Test approach are required.</a:t>
            </a:r>
          </a:p>
          <a:p>
            <a:endParaRPr lang="en-US" dirty="0"/>
          </a:p>
          <a:p>
            <a:r>
              <a:rPr lang="en-US" dirty="0"/>
              <a:t>For developing techniques to systematically solve the problem:</a:t>
            </a:r>
          </a:p>
          <a:p>
            <a:pPr lvl="1"/>
            <a:r>
              <a:rPr lang="en-US" dirty="0"/>
              <a:t>we need to know about problem representation. </a:t>
            </a:r>
          </a:p>
          <a:p>
            <a:pPr lvl="1"/>
            <a:r>
              <a:rPr lang="en-US" i="1" dirty="0"/>
              <a:t>A good representation of a problem is the key to </a:t>
            </a:r>
            <a:r>
              <a:rPr lang="en-US" b="1" i="1" dirty="0"/>
              <a:t>problem solving</a:t>
            </a:r>
            <a:r>
              <a:rPr lang="en-US" i="1" dirty="0"/>
              <a:t> </a:t>
            </a:r>
          </a:p>
          <a:p>
            <a:pPr lvl="1"/>
            <a:r>
              <a:rPr lang="en-US" dirty="0"/>
              <a:t>Use graphs and diagrams to develop a clear picture of the problem in your mind. (it can be like SE process)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022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2133600"/>
            <a:ext cx="8305800" cy="838200"/>
          </a:xfrm>
        </p:spPr>
        <p:txBody>
          <a:bodyPr/>
          <a:lstStyle/>
          <a:p>
            <a:r>
              <a:rPr lang="en-US" dirty="0"/>
              <a:t>Components of Problem Solving</a:t>
            </a:r>
          </a:p>
        </p:txBody>
      </p:sp>
    </p:spTree>
    <p:extLst>
      <p:ext uri="{BB962C8B-B14F-4D97-AF65-F5344CB8AC3E}">
        <p14:creationId xmlns:p14="http://schemas.microsoft.com/office/powerpoint/2010/main" val="3671280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  <a:p>
            <a:r>
              <a:rPr lang="en-US" dirty="0"/>
              <a:t>State space</a:t>
            </a:r>
          </a:p>
          <a:p>
            <a:r>
              <a:rPr lang="en-US" dirty="0"/>
              <a:t>Successor Function</a:t>
            </a:r>
          </a:p>
          <a:p>
            <a:r>
              <a:rPr lang="en-US" dirty="0"/>
              <a:t>Problem Solution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016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523875"/>
          </a:xfrm>
        </p:spPr>
        <p:txBody>
          <a:bodyPr/>
          <a:lstStyle/>
          <a:p>
            <a:r>
              <a:rPr lang="en-US" dirty="0"/>
              <a:t>Components of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838200"/>
            <a:ext cx="8459787" cy="5791200"/>
          </a:xfrm>
        </p:spPr>
        <p:txBody>
          <a:bodyPr/>
          <a:lstStyle/>
          <a:p>
            <a:r>
              <a:rPr lang="en-US" b="1" dirty="0"/>
              <a:t>Problem statement</a:t>
            </a:r>
          </a:p>
          <a:p>
            <a:pPr lvl="1"/>
            <a:r>
              <a:rPr lang="en-US" sz="2400" dirty="0"/>
              <a:t>What exactly the problem is?</a:t>
            </a:r>
            <a:r>
              <a:rPr lang="en-US" sz="2400" b="1" dirty="0"/>
              <a:t> </a:t>
            </a:r>
            <a:r>
              <a:rPr lang="en-US" sz="1800" dirty="0"/>
              <a:t>(example of employee attrition)</a:t>
            </a:r>
            <a:endParaRPr lang="en-US" sz="2400" dirty="0"/>
          </a:p>
          <a:p>
            <a:pPr lvl="1"/>
            <a:r>
              <a:rPr lang="en-US" sz="2400" dirty="0"/>
              <a:t>What is to be done?</a:t>
            </a:r>
          </a:p>
          <a:p>
            <a:pPr lvl="2"/>
            <a:r>
              <a:rPr lang="en-US" sz="2400" dirty="0"/>
              <a:t>What is initial state (</a:t>
            </a:r>
            <a:r>
              <a:rPr lang="en-US" sz="2400" dirty="0">
                <a:ea typeface="ヒラギノ角ゴ ProN W3" charset="0"/>
                <a:cs typeface="ヒラギノ角ゴ ProN W3" charset="0"/>
              </a:rPr>
              <a:t>starting point</a:t>
            </a:r>
            <a:r>
              <a:rPr lang="en-US" sz="2400" dirty="0"/>
              <a:t>) and </a:t>
            </a:r>
            <a:r>
              <a:rPr lang="en-US" sz="2400" b="1" dirty="0">
                <a:ea typeface="ヒラギノ角ゴ ProN W3" charset="0"/>
                <a:cs typeface="ヒラギノ角ゴ ProN W3" charset="0"/>
              </a:rPr>
              <a:t>Final state</a:t>
            </a:r>
            <a:r>
              <a:rPr lang="en-US" sz="2400" dirty="0">
                <a:ea typeface="ヒラギノ角ゴ ProN W3" charset="0"/>
                <a:cs typeface="ヒラギノ角ゴ ProN W3" charset="0"/>
              </a:rPr>
              <a:t> (goal state)</a:t>
            </a:r>
          </a:p>
          <a:p>
            <a:pPr lvl="2"/>
            <a:r>
              <a:rPr lang="en-US" sz="2400" dirty="0">
                <a:ea typeface="ヒラギノ角ゴ ProN W3" charset="0"/>
                <a:cs typeface="ヒラギノ角ゴ ProN W3" charset="0"/>
              </a:rPr>
              <a:t>A </a:t>
            </a:r>
            <a:r>
              <a:rPr lang="en-US" sz="2400" b="1" dirty="0">
                <a:ea typeface="ヒラギノ角ゴ ProN W3" charset="0"/>
                <a:cs typeface="ヒラギノ角ゴ ProN W3" charset="0"/>
              </a:rPr>
              <a:t>state</a:t>
            </a:r>
            <a:r>
              <a:rPr lang="en-US" sz="2400" dirty="0">
                <a:ea typeface="ヒラギノ角ゴ ProN W3" charset="0"/>
                <a:cs typeface="ヒラギノ角ゴ ProN W3" charset="0"/>
              </a:rPr>
              <a:t> is a representation of some elements at a given moment</a:t>
            </a:r>
            <a:endParaRPr lang="en-US" sz="2400" dirty="0"/>
          </a:p>
          <a:p>
            <a:pPr lvl="1"/>
            <a:r>
              <a:rPr lang="en-US" sz="2400" dirty="0"/>
              <a:t>What are the constraints?</a:t>
            </a:r>
          </a:p>
          <a:p>
            <a:pPr lvl="2"/>
            <a:r>
              <a:rPr lang="en-US" sz="2400" dirty="0"/>
              <a:t>Time, Available resources,</a:t>
            </a:r>
          </a:p>
          <a:p>
            <a:pPr lvl="1"/>
            <a:r>
              <a:rPr lang="en-US" sz="2400" dirty="0"/>
              <a:t>Any other rules to solve the problem?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048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305800" cy="523875"/>
          </a:xfrm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State 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600076"/>
            <a:ext cx="8535987" cy="6181724"/>
          </a:xfrm>
        </p:spPr>
        <p:txBody>
          <a:bodyPr/>
          <a:lstStyle/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  <a:ea typeface="ヒラギノ角ゴ ProN W3" charset="0"/>
                <a:cs typeface="ヒラギノ角ゴ ProN W3" charset="0"/>
              </a:rPr>
              <a:t>Set of all possible states reachable from the initial state.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sz="3200" dirty="0">
              <a:solidFill>
                <a:srgbClr val="FF0000"/>
              </a:solidFill>
              <a:ea typeface="ヒラギノ角ゴ ProN W3" charset="0"/>
              <a:cs typeface="ヒラギノ角ゴ ProN W3" charset="0"/>
            </a:endParaRP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3200" dirty="0">
                <a:ea typeface="ヒラギノ角ゴ ProN W3" charset="0"/>
                <a:cs typeface="ヒラギノ角ゴ ProN W3" charset="0"/>
              </a:rPr>
              <a:t>It forms a </a:t>
            </a:r>
            <a:r>
              <a:rPr lang="en-US" sz="3200" i="1" dirty="0">
                <a:ea typeface="ヒラギノ角ゴ ProN W3" charset="0"/>
                <a:cs typeface="ヒラギノ角ゴ ProN W3" charset="0"/>
              </a:rPr>
              <a:t>graph</a:t>
            </a:r>
            <a:r>
              <a:rPr lang="en-US" sz="3200" dirty="0">
                <a:ea typeface="ヒラギノ角ゴ ProN W3" charset="0"/>
                <a:cs typeface="ヒラギノ角ゴ ProN W3" charset="0"/>
              </a:rPr>
              <a:t> (or map) in which the </a:t>
            </a:r>
            <a:r>
              <a:rPr lang="en-US" sz="3200" i="1" dirty="0">
                <a:ea typeface="ヒラギノ角ゴ ProN W3" charset="0"/>
                <a:cs typeface="ヒラギノ角ゴ ProN W3" charset="0"/>
              </a:rPr>
              <a:t>nodes</a:t>
            </a:r>
            <a:r>
              <a:rPr lang="en-US" sz="3200" dirty="0">
                <a:ea typeface="ヒラギノ角ゴ ProN W3" charset="0"/>
                <a:cs typeface="ヒラギノ角ゴ ProN W3" charset="0"/>
              </a:rPr>
              <a:t> are states and the </a:t>
            </a:r>
            <a:r>
              <a:rPr lang="en-US" sz="3200" i="1" dirty="0">
                <a:ea typeface="ヒラギノ角ゴ ProN W3" charset="0"/>
                <a:cs typeface="ヒラギノ角ゴ ProN W3" charset="0"/>
              </a:rPr>
              <a:t>arcs</a:t>
            </a:r>
            <a:r>
              <a:rPr lang="en-US" sz="3200" dirty="0">
                <a:ea typeface="ヒラギノ角ゴ ProN W3" charset="0"/>
                <a:cs typeface="ヒラギノ角ゴ ProN W3" charset="0"/>
              </a:rPr>
              <a:t> between nodes are actions.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sz="3200" dirty="0">
              <a:ea typeface="ヒラギノ角ゴ ProN W3" charset="0"/>
              <a:cs typeface="ヒラギノ角ゴ ProN W3" charset="0"/>
            </a:endParaRP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3200" dirty="0">
                <a:ea typeface="ヒラギノ角ゴ ProN W3" charset="0"/>
                <a:cs typeface="ヒラギノ角ゴ ProN W3" charset="0"/>
              </a:rPr>
              <a:t>A </a:t>
            </a:r>
            <a:r>
              <a:rPr lang="en-US" sz="3200" b="1" dirty="0">
                <a:ea typeface="ヒラギノ角ゴ ProN W3" charset="0"/>
                <a:cs typeface="ヒラギノ角ゴ ProN W3" charset="0"/>
              </a:rPr>
              <a:t>path</a:t>
            </a:r>
            <a:r>
              <a:rPr lang="en-US" sz="3200" dirty="0">
                <a:ea typeface="ヒラギノ角ゴ ProN W3" charset="0"/>
                <a:cs typeface="ヒラギノ角ゴ ProN W3" charset="0"/>
              </a:rPr>
              <a:t> in the state space is a sequence of states connected by a sequence of actions.</a:t>
            </a:r>
          </a:p>
        </p:txBody>
      </p:sp>
    </p:spTree>
    <p:extLst>
      <p:ext uri="{BB962C8B-B14F-4D97-AF65-F5344CB8AC3E}">
        <p14:creationId xmlns:p14="http://schemas.microsoft.com/office/powerpoint/2010/main" val="2379356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What additional information does one need?</a:t>
            </a:r>
          </a:p>
          <a:p>
            <a:pPr marL="782638" lvl="1" eaLnBrk="1" hangingPunct="1"/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A map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2400"/>
            <a:ext cx="9144000" cy="7010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49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305800" cy="523875"/>
          </a:xfrm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State 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600076"/>
            <a:ext cx="8535987" cy="6181724"/>
          </a:xfrm>
        </p:spPr>
        <p:txBody>
          <a:bodyPr/>
          <a:lstStyle/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3200" dirty="0">
                <a:ea typeface="ヒラギノ角ゴ ProN W3" charset="0"/>
                <a:cs typeface="ヒラギノ角ゴ ProN W3" charset="0"/>
              </a:rPr>
              <a:t>The solution of the problem is part of the map formed by the state space.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sz="3200" dirty="0">
              <a:ea typeface="ヒラギノ角ゴ ProN W3" charset="0"/>
              <a:cs typeface="ヒラギノ角ゴ ProN W3" charset="0"/>
            </a:endParaRP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3200" b="1" dirty="0">
                <a:ea typeface="ヒラギノ角ゴ ProN W3" charset="0"/>
                <a:cs typeface="ヒラギノ角ゴ ProN W3" charset="0"/>
              </a:rPr>
              <a:t>Solution space</a:t>
            </a:r>
            <a:r>
              <a:rPr lang="en-US" sz="3200" dirty="0">
                <a:ea typeface="ヒラギノ角ゴ ProN W3" charset="0"/>
                <a:cs typeface="ヒラギノ角ゴ ProN W3" charset="0"/>
              </a:rPr>
              <a:t>: </a:t>
            </a:r>
            <a:r>
              <a:rPr lang="en-US" sz="3200" dirty="0">
                <a:cs typeface="ヒラギノ角ゴ ProN W3" charset="0"/>
              </a:rPr>
              <a:t>A s</a:t>
            </a:r>
            <a:r>
              <a:rPr lang="en-US" sz="3200" dirty="0"/>
              <a:t>et of the start state, the goal state and all the intermediate states</a:t>
            </a:r>
          </a:p>
        </p:txBody>
      </p:sp>
    </p:spTree>
    <p:extLst>
      <p:ext uri="{BB962C8B-B14F-4D97-AF65-F5344CB8AC3E}">
        <p14:creationId xmlns:p14="http://schemas.microsoft.com/office/powerpoint/2010/main" val="2219714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523875"/>
          </a:xfrm>
        </p:spPr>
        <p:txBody>
          <a:bodyPr/>
          <a:lstStyle/>
          <a:p>
            <a:r>
              <a:rPr lang="en-US" dirty="0">
                <a:latin typeface="Arial" charset="0"/>
                <a:ea typeface="ヒラギノ角ゴ ProN W3" charset="0"/>
                <a:cs typeface="ヒラギノ角ゴ ProN W3" charset="0"/>
              </a:rPr>
              <a:t>Successor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4" y="752476"/>
            <a:ext cx="8305800" cy="5800724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3200" dirty="0">
                <a:ea typeface="ヒラギノ角ゴ ProN W3" pitchFamily="-84" charset="-128"/>
              </a:rPr>
              <a:t>A </a:t>
            </a:r>
            <a:r>
              <a:rPr lang="en-US" altLang="en-US" sz="3200" b="1" dirty="0">
                <a:ea typeface="ヒラギノ角ゴ ProN W3" pitchFamily="-84" charset="-128"/>
              </a:rPr>
              <a:t>successor function </a:t>
            </a:r>
            <a:r>
              <a:rPr lang="en-US" altLang="en-US" sz="3200" dirty="0">
                <a:ea typeface="ヒラギノ角ゴ ProN W3" pitchFamily="-84" charset="-128"/>
              </a:rPr>
              <a:t>is needed to move between different states.</a:t>
            </a:r>
          </a:p>
          <a:p>
            <a:pPr eaLnBrk="1" hangingPunct="1">
              <a:lnSpc>
                <a:spcPct val="110000"/>
              </a:lnSpc>
            </a:pPr>
            <a:endParaRPr lang="en-US" altLang="en-US" sz="3200" dirty="0">
              <a:ea typeface="ヒラギノ角ゴ ProN W3" pitchFamily="-84" charset="-128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en-US" sz="3200" dirty="0">
                <a:ea typeface="ヒラギノ角ゴ ProN W3" pitchFamily="-84" charset="-128"/>
              </a:rPr>
              <a:t>A </a:t>
            </a:r>
            <a:r>
              <a:rPr lang="en-US" altLang="en-US" sz="3200" b="1" dirty="0">
                <a:ea typeface="ヒラギノ角ゴ ProN W3" pitchFamily="-84" charset="-128"/>
              </a:rPr>
              <a:t>successor function</a:t>
            </a:r>
            <a:r>
              <a:rPr lang="en-US" altLang="en-US" sz="3200" dirty="0">
                <a:ea typeface="ヒラギノ角ゴ ProN W3" pitchFamily="-84" charset="-128"/>
              </a:rPr>
              <a:t> is a description of </a:t>
            </a:r>
            <a:r>
              <a:rPr lang="en-US" altLang="en-US" sz="3200" dirty="0">
                <a:solidFill>
                  <a:srgbClr val="FF0000"/>
                </a:solidFill>
                <a:ea typeface="ヒラギノ角ゴ ProN W3" pitchFamily="-84" charset="-128"/>
              </a:rPr>
              <a:t>possible actions at any state i.e. a set of operators</a:t>
            </a:r>
            <a:r>
              <a:rPr lang="en-US" altLang="en-US" sz="3200" dirty="0">
                <a:ea typeface="ヒラギノ角ゴ ProN W3" pitchFamily="-84" charset="-128"/>
              </a:rPr>
              <a:t>. </a:t>
            </a:r>
          </a:p>
          <a:p>
            <a:pPr eaLnBrk="1" hangingPunct="1">
              <a:lnSpc>
                <a:spcPct val="110000"/>
              </a:lnSpc>
            </a:pPr>
            <a:endParaRPr lang="en-US" altLang="en-US" sz="3200" dirty="0">
              <a:ea typeface="ヒラギノ角ゴ ProN W3" pitchFamily="-84" charset="-128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en-US" sz="3200" dirty="0">
                <a:ea typeface="ヒラギノ角ゴ ProN W3" pitchFamily="-84" charset="-128"/>
              </a:rPr>
              <a:t>A </a:t>
            </a:r>
            <a:r>
              <a:rPr lang="en-US" altLang="en-US" sz="3200" i="1" u="sng" dirty="0">
                <a:ea typeface="ヒラギノ角ゴ ProN W3" pitchFamily="-84" charset="-128"/>
              </a:rPr>
              <a:t>transformation function</a:t>
            </a:r>
            <a:r>
              <a:rPr lang="en-US" altLang="en-US" sz="3200" i="1" dirty="0">
                <a:ea typeface="ヒラギノ角ゴ ProN W3" pitchFamily="-84" charset="-128"/>
              </a:rPr>
              <a:t>: </a:t>
            </a:r>
            <a:r>
              <a:rPr lang="en-US" altLang="en-US" sz="3200" dirty="0">
                <a:ea typeface="ヒラギノ角ゴ ProN W3" pitchFamily="-84" charset="-128"/>
              </a:rPr>
              <a:t>function</a:t>
            </a:r>
            <a:r>
              <a:rPr lang="en-US" altLang="en-US" sz="3200" i="1" dirty="0">
                <a:ea typeface="ヒラギノ角ゴ ProN W3" pitchFamily="-84" charset="-128"/>
              </a:rPr>
              <a:t> </a:t>
            </a:r>
            <a:r>
              <a:rPr lang="en-US" altLang="en-US" sz="3200" dirty="0">
                <a:ea typeface="ヒラギノ角ゴ ProN W3" pitchFamily="-84" charset="-128"/>
              </a:rPr>
              <a:t>on a state, which convert it into another state.</a:t>
            </a:r>
          </a:p>
          <a:p>
            <a:pPr eaLnBrk="1" hangingPunct="1">
              <a:lnSpc>
                <a:spcPct val="110000"/>
              </a:lnSpc>
            </a:pPr>
            <a:endParaRPr lang="en-US" altLang="en-US" sz="3200" dirty="0">
              <a:ea typeface="ヒラギノ角ゴ ProN W3" pitchFamily="-8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1807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Problem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>
                <a:ea typeface="ヒラギノ角ゴ ProN W3" charset="0"/>
                <a:cs typeface="ヒラギノ角ゴ ProN W3" charset="0"/>
              </a:rPr>
              <a:t>A </a:t>
            </a:r>
            <a:r>
              <a:rPr lang="en-US" b="1" dirty="0">
                <a:ea typeface="ヒラギノ角ゴ ProN W3" charset="0"/>
                <a:cs typeface="ヒラギノ角ゴ ProN W3" charset="0"/>
              </a:rPr>
              <a:t>solution</a:t>
            </a:r>
            <a:r>
              <a:rPr lang="en-US" dirty="0">
                <a:ea typeface="ヒラギノ角ゴ ProN W3" charset="0"/>
                <a:cs typeface="ヒラギノ角ゴ ProN W3" charset="0"/>
              </a:rPr>
              <a:t> in the state space is a path from the initial state to a goal state or, sometimes, just a goal state.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b="1" dirty="0">
                <a:ea typeface="ヒラギノ角ゴ ProN W3" charset="0"/>
                <a:cs typeface="ヒラギノ角ゴ ProN W3" charset="0"/>
              </a:rPr>
              <a:t>Path/solution cost</a:t>
            </a:r>
            <a:r>
              <a:rPr lang="en-US" dirty="0">
                <a:ea typeface="ヒラギノ角ゴ ProN W3" charset="0"/>
                <a:cs typeface="ヒラギノ角ゴ ProN W3" charset="0"/>
              </a:rPr>
              <a:t>: function that assigns a numeric cost to each path i.e. the cost of applying the operators to the states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>
                <a:ea typeface="ヒラギノ角ゴ ProN W3" charset="0"/>
                <a:cs typeface="ヒラギノ角ゴ ProN W3" charset="0"/>
              </a:rPr>
              <a:t>Solution quality is measured by the path cost function, and an </a:t>
            </a:r>
            <a:r>
              <a:rPr lang="en-US" b="1" dirty="0">
                <a:ea typeface="ヒラギノ角ゴ ProN W3" charset="0"/>
                <a:cs typeface="ヒラギノ角ゴ ProN W3" charset="0"/>
              </a:rPr>
              <a:t>optimal solution</a:t>
            </a:r>
            <a:r>
              <a:rPr lang="en-US" dirty="0">
                <a:ea typeface="ヒラギノ角ゴ ProN W3" charset="0"/>
                <a:cs typeface="ヒラギノ角ゴ ProN W3" charset="0"/>
              </a:rPr>
              <a:t> has the </a:t>
            </a:r>
            <a:r>
              <a:rPr lang="en-US" dirty="0">
                <a:solidFill>
                  <a:srgbClr val="FF0000"/>
                </a:solidFill>
                <a:ea typeface="ヒラギノ角ゴ ProN W3" charset="0"/>
                <a:cs typeface="ヒラギノ角ゴ ProN W3" charset="0"/>
              </a:rPr>
              <a:t>lowest path cost</a:t>
            </a:r>
            <a:r>
              <a:rPr lang="en-US" dirty="0">
                <a:ea typeface="ヒラギノ角ゴ ProN W3" charset="0"/>
                <a:cs typeface="ヒラギノ角ゴ ProN W3" charset="0"/>
              </a:rPr>
              <a:t> among all solutions.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859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200400"/>
            <a:ext cx="8305800" cy="838200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Problem Description </a:t>
            </a:r>
          </a:p>
        </p:txBody>
      </p:sp>
    </p:spTree>
    <p:extLst>
      <p:ext uri="{BB962C8B-B14F-4D97-AF65-F5344CB8AC3E}">
        <p14:creationId xmlns:p14="http://schemas.microsoft.com/office/powerpoint/2010/main" val="2706757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Description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 dirty="0">
                <a:ea typeface="ヒラギノ角ゴ ProN W3" pitchFamily="-84" charset="-128"/>
              </a:rPr>
              <a:t>Components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ヒラギノ角ゴ ProN W3" pitchFamily="-84" charset="-128"/>
              </a:rPr>
              <a:t>State space 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ヒラギノ角ゴ ProN W3" pitchFamily="-84" charset="-128"/>
              </a:rPr>
              <a:t>Initial state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ヒラギノ角ゴ ProN W3" pitchFamily="-84" charset="-128"/>
              </a:rPr>
              <a:t>Goal state </a:t>
            </a:r>
            <a:r>
              <a:rPr lang="en-US" altLang="en-US" dirty="0">
                <a:ea typeface="ヒラギノ角ゴ ProN W3" pitchFamily="-84" charset="-128"/>
              </a:rPr>
              <a:t>(or the conditions it must fulfill)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ヒラギノ角ゴ ProN W3" pitchFamily="-84" charset="-128"/>
              </a:rPr>
              <a:t>Available actions </a:t>
            </a:r>
            <a:r>
              <a:rPr lang="en-US" altLang="en-US" dirty="0">
                <a:ea typeface="ヒラギノ角ゴ ProN W3" pitchFamily="-84" charset="-128"/>
              </a:rPr>
              <a:t>(operators to change state)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ヒラギノ角ゴ ProN W3" pitchFamily="-84" charset="-128"/>
              </a:rPr>
              <a:t>Restrictions</a:t>
            </a:r>
            <a:r>
              <a:rPr lang="en-US" altLang="en-US" dirty="0">
                <a:ea typeface="ヒラギノ角ゴ ProN W3" pitchFamily="-84" charset="-128"/>
              </a:rPr>
              <a:t> (e.g., cost)</a:t>
            </a:r>
          </a:p>
          <a:p>
            <a:pPr lvl="1"/>
            <a:endParaRPr lang="en-US" altLang="en-US" dirty="0">
              <a:ea typeface="ヒラギノ角ゴ ProN W3" pitchFamily="-8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7041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057400"/>
            <a:ext cx="8305800" cy="838200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402085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990600"/>
          </a:xfrm>
        </p:spPr>
        <p:txBody>
          <a:bodyPr/>
          <a:lstStyle/>
          <a:p>
            <a:r>
              <a:rPr lang="en-US" dirty="0"/>
              <a:t>Example: 8-puzzle</a:t>
            </a:r>
          </a:p>
        </p:txBody>
      </p:sp>
      <p:sp>
        <p:nvSpPr>
          <p:cNvPr id="6" name="Rectangle 2"/>
          <p:cNvSpPr>
            <a:spLocks/>
          </p:cNvSpPr>
          <p:nvPr/>
        </p:nvSpPr>
        <p:spPr bwMode="auto">
          <a:xfrm>
            <a:off x="2916238" y="2565400"/>
            <a:ext cx="2879725" cy="2808288"/>
          </a:xfrm>
          <a:prstGeom prst="rect">
            <a:avLst/>
          </a:prstGeom>
          <a:solidFill>
            <a:srgbClr val="B6FF5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7" name="Group 3"/>
          <p:cNvGrpSpPr>
            <a:grpSpLocks/>
          </p:cNvGrpSpPr>
          <p:nvPr/>
        </p:nvGrpSpPr>
        <p:grpSpPr bwMode="auto">
          <a:xfrm>
            <a:off x="3132138" y="2781300"/>
            <a:ext cx="2447925" cy="2376488"/>
            <a:chOff x="0" y="0"/>
            <a:chExt cx="1542" cy="1497"/>
          </a:xfrm>
        </p:grpSpPr>
        <p:sp>
          <p:nvSpPr>
            <p:cNvPr id="8" name="Rectangle 4"/>
            <p:cNvSpPr>
              <a:spLocks/>
            </p:cNvSpPr>
            <p:nvPr/>
          </p:nvSpPr>
          <p:spPr bwMode="auto">
            <a:xfrm>
              <a:off x="0" y="0"/>
              <a:ext cx="1542" cy="1497"/>
            </a:xfrm>
            <a:prstGeom prst="rect">
              <a:avLst/>
            </a:prstGeom>
            <a:solidFill>
              <a:srgbClr val="009D9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Rectangle 5"/>
            <p:cNvSpPr>
              <a:spLocks/>
            </p:cNvSpPr>
            <p:nvPr/>
          </p:nvSpPr>
          <p:spPr bwMode="auto">
            <a:xfrm>
              <a:off x="0" y="0"/>
              <a:ext cx="1541" cy="1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3924300" y="2781300"/>
            <a:ext cx="1588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4787900" y="2781300"/>
            <a:ext cx="1588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3132138" y="3500438"/>
            <a:ext cx="24479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3132138" y="4292600"/>
            <a:ext cx="24479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0"/>
          <p:cNvSpPr>
            <a:spLocks/>
          </p:cNvSpPr>
          <p:nvPr/>
        </p:nvSpPr>
        <p:spPr bwMode="auto">
          <a:xfrm>
            <a:off x="4140200" y="4581525"/>
            <a:ext cx="381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b="1">
                <a:cs typeface="Arial" panose="020B0604020202020204" pitchFamily="34" charset="0"/>
              </a:rPr>
              <a:t>8</a:t>
            </a:r>
          </a:p>
        </p:txBody>
      </p:sp>
      <p:sp>
        <p:nvSpPr>
          <p:cNvPr id="15" name="Rectangle 11"/>
          <p:cNvSpPr>
            <a:spLocks/>
          </p:cNvSpPr>
          <p:nvPr/>
        </p:nvSpPr>
        <p:spPr bwMode="auto">
          <a:xfrm>
            <a:off x="4140200" y="2924175"/>
            <a:ext cx="381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b="1">
                <a:cs typeface="Arial" panose="020B0604020202020204" pitchFamily="34" charset="0"/>
              </a:rPr>
              <a:t>2</a:t>
            </a:r>
          </a:p>
        </p:txBody>
      </p:sp>
      <p:sp>
        <p:nvSpPr>
          <p:cNvPr id="16" name="Rectangle 12"/>
          <p:cNvSpPr>
            <a:spLocks/>
          </p:cNvSpPr>
          <p:nvPr/>
        </p:nvSpPr>
        <p:spPr bwMode="auto">
          <a:xfrm>
            <a:off x="5003800" y="2924175"/>
            <a:ext cx="381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b="1">
                <a:cs typeface="Arial" panose="020B0604020202020204" pitchFamily="34" charset="0"/>
              </a:rPr>
              <a:t>3</a:t>
            </a:r>
          </a:p>
        </p:txBody>
      </p:sp>
      <p:sp>
        <p:nvSpPr>
          <p:cNvPr id="17" name="Rectangle 13"/>
          <p:cNvSpPr>
            <a:spLocks/>
          </p:cNvSpPr>
          <p:nvPr/>
        </p:nvSpPr>
        <p:spPr bwMode="auto">
          <a:xfrm>
            <a:off x="3348038" y="3716338"/>
            <a:ext cx="381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b="1">
                <a:cs typeface="Arial" panose="020B0604020202020204" pitchFamily="34" charset="0"/>
              </a:rPr>
              <a:t>4</a:t>
            </a:r>
          </a:p>
        </p:txBody>
      </p:sp>
      <p:sp>
        <p:nvSpPr>
          <p:cNvPr id="18" name="Rectangle 14"/>
          <p:cNvSpPr>
            <a:spLocks/>
          </p:cNvSpPr>
          <p:nvPr/>
        </p:nvSpPr>
        <p:spPr bwMode="auto">
          <a:xfrm>
            <a:off x="3255963" y="2924175"/>
            <a:ext cx="381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b="1">
                <a:cs typeface="Arial" panose="020B0604020202020204" pitchFamily="34" charset="0"/>
              </a:rPr>
              <a:t>1</a:t>
            </a:r>
          </a:p>
        </p:txBody>
      </p:sp>
      <p:sp>
        <p:nvSpPr>
          <p:cNvPr id="19" name="Rectangle 15"/>
          <p:cNvSpPr>
            <a:spLocks/>
          </p:cNvSpPr>
          <p:nvPr/>
        </p:nvSpPr>
        <p:spPr bwMode="auto">
          <a:xfrm>
            <a:off x="5003800" y="3716338"/>
            <a:ext cx="381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b="1">
                <a:cs typeface="Arial" panose="020B0604020202020204" pitchFamily="34" charset="0"/>
              </a:rPr>
              <a:t>6</a:t>
            </a:r>
          </a:p>
        </p:txBody>
      </p:sp>
      <p:sp>
        <p:nvSpPr>
          <p:cNvPr id="20" name="Rectangle 16"/>
          <p:cNvSpPr>
            <a:spLocks/>
          </p:cNvSpPr>
          <p:nvPr/>
        </p:nvSpPr>
        <p:spPr bwMode="auto">
          <a:xfrm>
            <a:off x="3348038" y="4581525"/>
            <a:ext cx="381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b="1">
                <a:cs typeface="Arial" panose="020B0604020202020204" pitchFamily="34" charset="0"/>
              </a:rPr>
              <a:t>7</a:t>
            </a:r>
          </a:p>
        </p:txBody>
      </p:sp>
      <p:sp>
        <p:nvSpPr>
          <p:cNvPr id="21" name="Rectangle 17"/>
          <p:cNvSpPr>
            <a:spLocks/>
          </p:cNvSpPr>
          <p:nvPr/>
        </p:nvSpPr>
        <p:spPr bwMode="auto">
          <a:xfrm>
            <a:off x="4140200" y="3716338"/>
            <a:ext cx="381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b="1">
                <a:cs typeface="Arial" panose="020B0604020202020204" pitchFamily="34" charset="0"/>
              </a:rPr>
              <a:t>5</a:t>
            </a:r>
          </a:p>
        </p:txBody>
      </p:sp>
      <p:sp>
        <p:nvSpPr>
          <p:cNvPr id="22" name="Rectangle 18"/>
          <p:cNvSpPr>
            <a:spLocks/>
          </p:cNvSpPr>
          <p:nvPr/>
        </p:nvSpPr>
        <p:spPr bwMode="auto">
          <a:xfrm>
            <a:off x="4787900" y="4292600"/>
            <a:ext cx="792163" cy="865188"/>
          </a:xfrm>
          <a:prstGeom prst="rect">
            <a:avLst/>
          </a:prstGeom>
          <a:solidFill>
            <a:srgbClr val="B6FF5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7498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(Contd..)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dirty="0">
                <a:ea typeface="ヒラギノ角ゴ ProN W3" pitchFamily="-84" charset="-128"/>
              </a:rPr>
              <a:t>State space</a:t>
            </a:r>
            <a:endParaRPr lang="en-US" altLang="en-US" dirty="0">
              <a:ea typeface="ヒラギノ角ゴ ProN W3" pitchFamily="-8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ヒラギノ角ゴ ProN W3" pitchFamily="-84" charset="-128"/>
              </a:rPr>
              <a:t>Configuration of the eight tiles on the board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dirty="0">
                <a:ea typeface="ヒラギノ角ゴ ProN W3" pitchFamily="-84" charset="-128"/>
              </a:rPr>
              <a:t>Initial state</a:t>
            </a:r>
            <a:endParaRPr lang="en-US" altLang="en-US" dirty="0">
              <a:ea typeface="ヒラギノ角ゴ ProN W3" pitchFamily="-8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ヒラギノ角ゴ ProN W3" pitchFamily="-84" charset="-128"/>
              </a:rPr>
              <a:t>Any configuration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dirty="0">
                <a:ea typeface="ヒラギノ角ゴ ProN W3" pitchFamily="-84" charset="-128"/>
              </a:rPr>
              <a:t>Goal state</a:t>
            </a:r>
            <a:r>
              <a:rPr lang="en-US" altLang="en-US" dirty="0">
                <a:ea typeface="ヒラギノ角ゴ ProN W3" pitchFamily="-84" charset="-128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ヒラギノ角ゴ ProN W3" pitchFamily="-84" charset="-128"/>
              </a:rPr>
              <a:t>Tiles in a specific order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dirty="0">
                <a:ea typeface="ヒラギノ角ゴ ProN W3" pitchFamily="-84" charset="-128"/>
              </a:rPr>
              <a:t>Operators or actions</a:t>
            </a:r>
            <a:r>
              <a:rPr lang="en-US" altLang="en-US" dirty="0">
                <a:ea typeface="ヒラギノ角ゴ ProN W3" pitchFamily="-84" charset="-128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ヒラギノ角ゴ ProN W3" pitchFamily="-84" charset="-128"/>
              </a:rPr>
              <a:t>Condition: the move is within the board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ヒラギノ角ゴ ProN W3" pitchFamily="-84" charset="-128"/>
              </a:rPr>
              <a:t>Transformation: blank moves </a:t>
            </a:r>
            <a:r>
              <a:rPr lang="en-US" altLang="en-US" sz="2400" i="1" dirty="0">
                <a:ea typeface="ヒラギノ角ゴ ProN W3" pitchFamily="-84" charset="-128"/>
              </a:rPr>
              <a:t>Left</a:t>
            </a:r>
            <a:r>
              <a:rPr lang="en-US" altLang="en-US" sz="2400" dirty="0">
                <a:ea typeface="ヒラギノ角ゴ ProN W3" pitchFamily="-84" charset="-128"/>
              </a:rPr>
              <a:t>, </a:t>
            </a:r>
            <a:r>
              <a:rPr lang="en-US" altLang="en-US" sz="2400" i="1" dirty="0">
                <a:ea typeface="ヒラギノ角ゴ ProN W3" pitchFamily="-84" charset="-128"/>
              </a:rPr>
              <a:t>Right</a:t>
            </a:r>
            <a:r>
              <a:rPr lang="en-US" altLang="en-US" sz="2400" dirty="0">
                <a:ea typeface="ヒラギノ角ゴ ProN W3" pitchFamily="-84" charset="-128"/>
              </a:rPr>
              <a:t>, </a:t>
            </a:r>
            <a:r>
              <a:rPr lang="en-US" altLang="en-US" sz="2400" i="1" dirty="0">
                <a:ea typeface="ヒラギノ角ゴ ProN W3" pitchFamily="-84" charset="-128"/>
              </a:rPr>
              <a:t>Up</a:t>
            </a:r>
            <a:r>
              <a:rPr lang="en-US" altLang="en-US" sz="2400" dirty="0">
                <a:ea typeface="ヒラギノ角ゴ ProN W3" pitchFamily="-84" charset="-128"/>
              </a:rPr>
              <a:t>, or </a:t>
            </a:r>
            <a:r>
              <a:rPr lang="en-US" altLang="en-US" sz="2400" i="1" dirty="0">
                <a:ea typeface="ヒラギノ角ゴ ProN W3" pitchFamily="-84" charset="-128"/>
              </a:rPr>
              <a:t>Down</a:t>
            </a:r>
            <a:endParaRPr lang="en-US" altLang="ja-JP" sz="2400" dirty="0">
              <a:ea typeface="ヒラギノ角ゴ ProN W3" pitchFamily="-8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b="1" dirty="0">
                <a:ea typeface="ヒラギノ角ゴ ProN W3" pitchFamily="-84" charset="-128"/>
              </a:rPr>
              <a:t>Solution</a:t>
            </a:r>
            <a:r>
              <a:rPr lang="en-US" altLang="en-US" dirty="0">
                <a:ea typeface="ヒラギノ角ゴ ProN W3" pitchFamily="-84" charset="-128"/>
              </a:rPr>
              <a:t>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ヒラギノ角ゴ ProN W3" pitchFamily="-84" charset="-128"/>
              </a:rPr>
              <a:t>Optimal sequence of operators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3414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</a:t>
            </a:r>
            <a:r>
              <a:rPr lang="en-US" dirty="0">
                <a:latin typeface="Arial" panose="020B0604020202020204" pitchFamily="34" charset="0"/>
                <a:ea typeface="ヒラギノ角ゴ ProN W3" pitchFamily="-84" charset="-128"/>
              </a:rPr>
              <a:t>H</a:t>
            </a:r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oliday in Romania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Currently in Arad (city in Romania)</a:t>
            </a: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Flight leaves tomorrow for Bucharest (Romania Capital) at 13:00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ea typeface="ヒラギノ角ゴ ProN W3" pitchFamily="-84" charset="-128"/>
            </a:endParaRP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Let</a:t>
            </a:r>
            <a:r>
              <a:rPr lang="ja-JP" altLang="en-US" dirty="0">
                <a:latin typeface="Arial" panose="020B0604020202020204" pitchFamily="34" charset="0"/>
                <a:ea typeface="ヒラギノ角ゴ ProN W3" pitchFamily="-84" charset="-128"/>
              </a:rPr>
              <a:t>’</a:t>
            </a:r>
            <a:r>
              <a:rPr lang="en-US" altLang="ja-JP" dirty="0">
                <a:latin typeface="Arial" panose="020B0604020202020204" pitchFamily="34" charset="0"/>
                <a:ea typeface="ヒラギノ角ゴ ProN W3" pitchFamily="-84" charset="-128"/>
              </a:rPr>
              <a:t>s configure this to be an AI problem</a:t>
            </a:r>
            <a:endParaRPr lang="en-US" altLang="en-US" dirty="0">
              <a:latin typeface="Arial" panose="020B0604020202020204" pitchFamily="34" charset="0"/>
              <a:ea typeface="ヒラギノ角ゴ ProN W3" pitchFamily="-84" charset="-128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358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ヒラギノ角ゴ ProN W3" pitchFamily="-84" charset="-128"/>
              </a:rPr>
              <a:t>What</a:t>
            </a:r>
            <a:r>
              <a:rPr lang="ja-JP" altLang="en-US" dirty="0">
                <a:ea typeface="ヒラギノ角ゴ ProN W3" pitchFamily="-84" charset="-128"/>
              </a:rPr>
              <a:t>’</a:t>
            </a:r>
            <a:r>
              <a:rPr lang="en-US" altLang="ja-JP" dirty="0">
                <a:ea typeface="ヒラギノ角ゴ ProN W3" pitchFamily="-84" charset="-128"/>
              </a:rPr>
              <a:t>s the problem?</a:t>
            </a:r>
          </a:p>
          <a:p>
            <a:pPr marL="782638" lvl="1" eaLnBrk="1" hangingPunct="1"/>
            <a:r>
              <a:rPr lang="en-US" altLang="en-US" dirty="0">
                <a:ea typeface="ヒラギノ角ゴ ProN W3" pitchFamily="-84" charset="-128"/>
              </a:rPr>
              <a:t>Accomplish a </a:t>
            </a:r>
            <a:r>
              <a:rPr lang="en-US" altLang="en-US" i="1" dirty="0">
                <a:ea typeface="ヒラギノ角ゴ ProN W3" pitchFamily="-84" charset="-128"/>
              </a:rPr>
              <a:t>goal</a:t>
            </a:r>
          </a:p>
          <a:p>
            <a:pPr marL="1182688" lvl="2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ea typeface="ヒラギノ角ゴ ProN W3" pitchFamily="-84" charset="-128"/>
              </a:rPr>
              <a:t>Reach Bucharest by 13:00</a:t>
            </a:r>
          </a:p>
          <a:p>
            <a:pPr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ea typeface="ヒラギノ角ゴ ProN W3" pitchFamily="-84" charset="-128"/>
              </a:rPr>
              <a:t>So this is a </a:t>
            </a:r>
            <a:r>
              <a:rPr lang="en-US" altLang="en-US" dirty="0">
                <a:solidFill>
                  <a:srgbClr val="FF0000"/>
                </a:solidFill>
                <a:ea typeface="ヒラギノ角ゴ ProN W3" pitchFamily="-84" charset="-128"/>
              </a:rPr>
              <a:t>goal-based problem</a:t>
            </a:r>
          </a:p>
          <a:p>
            <a:endParaRPr lang="en-US" dirty="0"/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  <a:ea typeface="ヒラギノ角ゴ ProN W3" pitchFamily="-84" charset="-128"/>
              </a:rPr>
              <a:t>What qualifies as a solution</a:t>
            </a:r>
            <a:r>
              <a:rPr lang="en-US" altLang="en-US" dirty="0">
                <a:ea typeface="ヒラギノ角ゴ ProN W3" pitchFamily="-84" charset="-128"/>
              </a:rPr>
              <a:t>?</a:t>
            </a:r>
          </a:p>
          <a:p>
            <a:pPr marL="782638" lvl="1" eaLnBrk="1" hangingPunct="1"/>
            <a:r>
              <a:rPr lang="en-US" altLang="en-US" dirty="0">
                <a:ea typeface="ヒラギノ角ゴ ProN W3" pitchFamily="-84" charset="-128"/>
              </a:rPr>
              <a:t>You can/cannot reach Bucharest by 13:00</a:t>
            </a:r>
          </a:p>
          <a:p>
            <a:pPr marL="782638" lvl="1" eaLnBrk="1" hangingPunct="1"/>
            <a:r>
              <a:rPr lang="en-US" altLang="en-US" dirty="0">
                <a:ea typeface="ヒラギノ角ゴ ProN W3" pitchFamily="-84" charset="-128"/>
              </a:rPr>
              <a:t>The actions one takes to travel from Arad to Bucharest along the shortest (in time) path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6404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ea typeface="ヒラギノ角ゴ ProN W3" charset="0"/>
                <a:cs typeface="ヒラギノ角ゴ ProN W3" charset="0"/>
              </a:rPr>
              <a:t>More concrete problem definition</a:t>
            </a:r>
            <a:endParaRPr lang="en-US" dirty="0"/>
          </a:p>
        </p:txBody>
      </p:sp>
      <p:grpSp>
        <p:nvGrpSpPr>
          <p:cNvPr id="4" name="Group 2"/>
          <p:cNvGrpSpPr>
            <a:grpSpLocks noRot="1"/>
          </p:cNvGrpSpPr>
          <p:nvPr/>
        </p:nvGrpSpPr>
        <p:grpSpPr bwMode="auto">
          <a:xfrm>
            <a:off x="504031" y="1524000"/>
            <a:ext cx="8059737" cy="4660901"/>
            <a:chOff x="0" y="0"/>
            <a:chExt cx="5077" cy="2936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645" cy="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marL="39688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algn="r" eaLnBrk="1" hangingPunct="1">
                <a:buSzPct val="100000"/>
                <a:buFont typeface="Thonburi" pitchFamily="-84" charset="0"/>
                <a:buNone/>
              </a:pPr>
              <a:r>
                <a:rPr lang="en-US" altLang="en-US" sz="2800" dirty="0">
                  <a:cs typeface="Arial" panose="020B0604020202020204" pitchFamily="34" charset="0"/>
                </a:rPr>
                <a:t>A state space</a:t>
              </a: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645" y="0"/>
              <a:ext cx="2432" cy="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marL="39688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buSzPct val="100000"/>
                <a:buFont typeface="Thonburi" pitchFamily="-84" charset="0"/>
                <a:buNone/>
              </a:pPr>
              <a:r>
                <a:rPr lang="en-US" altLang="en-US" sz="2100" b="1" i="1">
                  <a:cs typeface="Arial" panose="020B0604020202020204" pitchFamily="34" charset="0"/>
                </a:rPr>
                <a:t>Which cities could you be in?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0" y="428"/>
              <a:ext cx="2645" cy="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marL="39688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algn="r" eaLnBrk="1" hangingPunct="1">
                <a:buSzPct val="100000"/>
                <a:buFont typeface="Thonburi" pitchFamily="-84" charset="0"/>
                <a:buNone/>
              </a:pPr>
              <a:r>
                <a:rPr lang="en-US" altLang="en-US" sz="2800" dirty="0">
                  <a:cs typeface="Arial" panose="020B0604020202020204" pitchFamily="34" charset="0"/>
                </a:rPr>
                <a:t>An initial state</a:t>
              </a: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2645" y="428"/>
              <a:ext cx="2432" cy="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marL="39688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buSzPct val="100000"/>
                <a:buFont typeface="Thonburi" pitchFamily="-84" charset="0"/>
                <a:buNone/>
              </a:pPr>
              <a:r>
                <a:rPr lang="en-US" altLang="en-US" sz="2100" b="1" i="1" dirty="0">
                  <a:cs typeface="Arial" panose="020B0604020202020204" pitchFamily="34" charset="0"/>
                </a:rPr>
                <a:t>Which city do you start from?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0" y="854"/>
              <a:ext cx="2645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marL="39688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algn="r" eaLnBrk="1" hangingPunct="1">
                <a:buSzPct val="100000"/>
                <a:buFont typeface="Thonburi" pitchFamily="-84" charset="0"/>
                <a:buNone/>
              </a:pPr>
              <a:r>
                <a:rPr lang="en-US" altLang="en-US" sz="2800" dirty="0">
                  <a:cs typeface="Arial" panose="020B0604020202020204" pitchFamily="34" charset="0"/>
                </a:rPr>
                <a:t>A goal state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645" y="854"/>
              <a:ext cx="2432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marL="39688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buSzPct val="100000"/>
                <a:buFont typeface="Thonburi" pitchFamily="-84" charset="0"/>
                <a:buNone/>
              </a:pPr>
              <a:r>
                <a:rPr lang="en-US" altLang="en-US" sz="2100" b="1" i="1">
                  <a:cs typeface="Arial" panose="020B0604020202020204" pitchFamily="34" charset="0"/>
                </a:rPr>
                <a:t>Which city do you aim to reach?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0" y="1356"/>
              <a:ext cx="2645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marL="39688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algn="r" eaLnBrk="1" hangingPunct="1">
                <a:buSzPct val="100000"/>
                <a:buFont typeface="Thonburi" pitchFamily="-84" charset="0"/>
                <a:buNone/>
              </a:pPr>
              <a:r>
                <a:rPr lang="en-US" altLang="en-US" sz="2800" dirty="0">
                  <a:cs typeface="Arial" panose="020B0604020202020204" pitchFamily="34" charset="0"/>
                </a:rPr>
                <a:t>A function defining state transitions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645" y="1356"/>
              <a:ext cx="2432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marL="39688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buSzPct val="100000"/>
                <a:buFont typeface="Thonburi" pitchFamily="-84" charset="0"/>
                <a:buNone/>
              </a:pPr>
              <a:r>
                <a:rPr lang="en-US" altLang="en-US" sz="2100" b="1" i="1" dirty="0">
                  <a:cs typeface="Arial" panose="020B0604020202020204" pitchFamily="34" charset="0"/>
                </a:rPr>
                <a:t>When in a city the following cities can be reached (</a:t>
              </a:r>
              <a:r>
                <a:rPr lang="en-US" altLang="en-US" sz="2100" b="1" i="1" dirty="0">
                  <a:solidFill>
                    <a:srgbClr val="FF0000"/>
                  </a:solidFill>
                  <a:cs typeface="Arial" panose="020B0604020202020204" pitchFamily="34" charset="0"/>
                </a:rPr>
                <a:t>available options</a:t>
              </a:r>
              <a:r>
                <a:rPr lang="en-US" altLang="en-US" sz="2100" b="1" i="1" dirty="0"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0" y="2112"/>
              <a:ext cx="2645" cy="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marL="39688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algn="r" eaLnBrk="1" hangingPunct="1">
                <a:buSzPct val="100000"/>
                <a:buFont typeface="Thonburi" pitchFamily="-84" charset="0"/>
                <a:buNone/>
              </a:pPr>
              <a:r>
                <a:rPr lang="en-US" altLang="en-US" sz="2800" dirty="0">
                  <a:cs typeface="Arial" panose="020B0604020202020204" pitchFamily="34" charset="0"/>
                </a:rPr>
                <a:t>A function defining the </a:t>
              </a:r>
              <a:r>
                <a:rPr lang="ja-JP" altLang="en-US" sz="2800" dirty="0">
                  <a:cs typeface="Arial" panose="020B0604020202020204" pitchFamily="34" charset="0"/>
                </a:rPr>
                <a:t>“</a:t>
              </a:r>
              <a:r>
                <a:rPr lang="en-US" altLang="ja-JP" sz="2800" dirty="0">
                  <a:cs typeface="Arial" panose="020B0604020202020204" pitchFamily="34" charset="0"/>
                </a:rPr>
                <a:t>cost</a:t>
              </a:r>
              <a:r>
                <a:rPr lang="ja-JP" altLang="en-US" sz="2800" dirty="0">
                  <a:cs typeface="Arial" panose="020B0604020202020204" pitchFamily="34" charset="0"/>
                </a:rPr>
                <a:t>”</a:t>
              </a:r>
              <a:r>
                <a:rPr lang="en-US" altLang="ja-JP" sz="2800" dirty="0">
                  <a:cs typeface="Arial" panose="020B0604020202020204" pitchFamily="34" charset="0"/>
                </a:rPr>
                <a:t> of a state sequence</a:t>
              </a:r>
              <a:endParaRPr lang="en-US" altLang="en-US" sz="2800" dirty="0">
                <a:cs typeface="Arial" panose="020B0604020202020204" pitchFamily="34" charset="0"/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2645" y="2105"/>
              <a:ext cx="2432" cy="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marL="39688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buSzPct val="100000"/>
                <a:buFont typeface="Thonburi" pitchFamily="-84" charset="0"/>
                <a:buNone/>
              </a:pPr>
              <a:r>
                <a:rPr lang="en-US" altLang="en-US" sz="2100" b="1" i="1" dirty="0">
                  <a:cs typeface="Arial" panose="020B0604020202020204" pitchFamily="34" charset="0"/>
                </a:rPr>
                <a:t>How long does it take to travel through a city sequence?</a:t>
              </a: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2645" y="854"/>
              <a:ext cx="243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2645" y="1294"/>
              <a:ext cx="243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0" y="1973"/>
              <a:ext cx="2645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2645" y="0"/>
              <a:ext cx="0" cy="42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2645" y="428"/>
              <a:ext cx="0" cy="42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2645" y="854"/>
              <a:ext cx="0" cy="44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2645" y="1294"/>
              <a:ext cx="0" cy="67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2645" y="1973"/>
              <a:ext cx="0" cy="8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2645" y="1973"/>
              <a:ext cx="243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0" y="428"/>
              <a:ext cx="2645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2645" y="428"/>
              <a:ext cx="243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0" y="854"/>
              <a:ext cx="2645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0" y="1294"/>
              <a:ext cx="2645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0" y="0"/>
              <a:ext cx="2645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5077" y="1973"/>
              <a:ext cx="0" cy="8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2645" y="0"/>
              <a:ext cx="243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0" y="2797"/>
              <a:ext cx="2645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2645" y="2797"/>
              <a:ext cx="243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0" y="0"/>
              <a:ext cx="0" cy="42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0" y="428"/>
              <a:ext cx="0" cy="42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>
              <a:off x="0" y="854"/>
              <a:ext cx="0" cy="44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0" y="1294"/>
              <a:ext cx="0" cy="67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0" y="1973"/>
              <a:ext cx="0" cy="8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5077" y="0"/>
              <a:ext cx="0" cy="42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5077" y="428"/>
              <a:ext cx="0" cy="42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5077" y="854"/>
              <a:ext cx="0" cy="44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>
              <a:off x="5077" y="1294"/>
              <a:ext cx="0" cy="67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3244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What additional information does one need?</a:t>
            </a:r>
          </a:p>
          <a:p>
            <a:pPr marL="782638" lvl="1" eaLnBrk="1" hangingPunct="1"/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A map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2400"/>
            <a:ext cx="9144000" cy="7010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97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Describe the problem using components discussed previously.</a:t>
            </a:r>
          </a:p>
          <a:p>
            <a:endParaRPr lang="en-US" sz="3200" dirty="0"/>
          </a:p>
          <a:p>
            <a:r>
              <a:rPr lang="en-US" sz="3200" dirty="0"/>
              <a:t>Evaluate all the possible paths and also find the optimal solution. 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647959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600200"/>
            <a:ext cx="8305800" cy="2971800"/>
          </a:xfrm>
        </p:spPr>
        <p:txBody>
          <a:bodyPr/>
          <a:lstStyle/>
          <a:p>
            <a:r>
              <a:rPr lang="en-US" sz="4400" dirty="0">
                <a:solidFill>
                  <a:srgbClr val="FF0000"/>
                </a:solidFill>
              </a:rPr>
              <a:t>Solutions to Problem Solving</a:t>
            </a:r>
            <a:br>
              <a:rPr lang="en-US" sz="4400" dirty="0">
                <a:solidFill>
                  <a:srgbClr val="FF0000"/>
                </a:solidFill>
              </a:rPr>
            </a:br>
            <a:r>
              <a:rPr lang="en-US" sz="4400" dirty="0">
                <a:solidFill>
                  <a:srgbClr val="FF0000"/>
                </a:solidFill>
              </a:rPr>
              <a:t/>
            </a:r>
            <a:br>
              <a:rPr lang="en-US" sz="4400" dirty="0">
                <a:solidFill>
                  <a:srgbClr val="FF0000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/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bg2">
                    <a:lumMod val="50000"/>
                  </a:schemeClr>
                </a:solidFill>
              </a:rPr>
              <a:t>Searching </a:t>
            </a:r>
          </a:p>
        </p:txBody>
      </p:sp>
    </p:spTree>
    <p:extLst>
      <p:ext uri="{BB962C8B-B14F-4D97-AF65-F5344CB8AC3E}">
        <p14:creationId xmlns:p14="http://schemas.microsoft.com/office/powerpoint/2010/main" val="4433555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1295401"/>
            <a:ext cx="8535987" cy="3886200"/>
          </a:xfrm>
        </p:spPr>
        <p:txBody>
          <a:bodyPr/>
          <a:lstStyle/>
          <a:p>
            <a:r>
              <a:rPr lang="en-US" sz="3200" dirty="0"/>
              <a:t>To solve this problem, we need to start from a start state and search for a goal state by traveling through a solution space.</a:t>
            </a:r>
          </a:p>
          <a:p>
            <a:endParaRPr lang="en-US" sz="3200" dirty="0"/>
          </a:p>
          <a:p>
            <a:r>
              <a:rPr lang="en-US" sz="3200" dirty="0">
                <a:solidFill>
                  <a:srgbClr val="FF0000"/>
                </a:solidFill>
              </a:rPr>
              <a:t>Searching is a formal mechanism to explore alternatives</a:t>
            </a:r>
          </a:p>
        </p:txBody>
      </p:sp>
    </p:spTree>
    <p:extLst>
      <p:ext uri="{BB962C8B-B14F-4D97-AF65-F5344CB8AC3E}">
        <p14:creationId xmlns:p14="http://schemas.microsoft.com/office/powerpoint/2010/main" val="7612936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What additional information does one need?</a:t>
            </a:r>
          </a:p>
          <a:p>
            <a:pPr marL="782638" lvl="1" eaLnBrk="1" hangingPunct="1"/>
            <a:r>
              <a:rPr lang="en-US" altLang="en-US" dirty="0">
                <a:latin typeface="Arial" panose="020B0604020202020204" pitchFamily="34" charset="0"/>
                <a:ea typeface="ヒラギノ角ゴ ProN W3" pitchFamily="-84" charset="-128"/>
              </a:rPr>
              <a:t>A map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2400"/>
            <a:ext cx="9144000" cy="7010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88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523875"/>
          </a:xfrm>
        </p:spPr>
        <p:txBody>
          <a:bodyPr/>
          <a:lstStyle/>
          <a:p>
            <a:r>
              <a:rPr lang="en-US" dirty="0"/>
              <a:t>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752476"/>
            <a:ext cx="8535987" cy="5876924"/>
          </a:xfrm>
        </p:spPr>
        <p:txBody>
          <a:bodyPr/>
          <a:lstStyle/>
          <a:p>
            <a:r>
              <a:rPr lang="en-US" sz="3200" dirty="0"/>
              <a:t>Most of the solution spaces, for problems, can be represented in a graph </a:t>
            </a:r>
          </a:p>
          <a:p>
            <a:pPr lvl="1"/>
            <a:r>
              <a:rPr lang="en-US" dirty="0"/>
              <a:t>where nodes represent different states and edges represent the operator which takes us from one state to the other</a:t>
            </a:r>
          </a:p>
          <a:p>
            <a:endParaRPr lang="en-US" sz="3200" dirty="0"/>
          </a:p>
          <a:p>
            <a:r>
              <a:rPr lang="en-US" sz="3200" dirty="0"/>
              <a:t>So, searching techniques in graphs and trees are important to understand for solving a problem in an efficient manner. </a:t>
            </a:r>
          </a:p>
        </p:txBody>
      </p:sp>
    </p:spTree>
    <p:extLst>
      <p:ext uri="{BB962C8B-B14F-4D97-AF65-F5344CB8AC3E}">
        <p14:creationId xmlns:p14="http://schemas.microsoft.com/office/powerpoint/2010/main" val="8258755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and Graphs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 of graphs and trees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493" y="1943100"/>
            <a:ext cx="675322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123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Graphs can be directed or undirected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06" y="2133600"/>
            <a:ext cx="7391400" cy="385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93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can be converted into a tree, by replicating the nodes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81287"/>
            <a:ext cx="7848600" cy="342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222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the graph into a tree.</a:t>
            </a:r>
          </a:p>
          <a:p>
            <a:endParaRPr lang="en-US" dirty="0"/>
          </a:p>
          <a:p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66999"/>
            <a:ext cx="7009606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3992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69BF94C-C6BA-6977-B783-BCDD0BB79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384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the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Strategies can be broadly classified into two categories:</a:t>
            </a:r>
          </a:p>
          <a:p>
            <a:pPr lvl="1"/>
            <a:r>
              <a:rPr lang="en-US" b="1" dirty="0"/>
              <a:t>Uninformed/ Blind </a:t>
            </a:r>
            <a:r>
              <a:rPr lang="en-US" dirty="0"/>
              <a:t>search algorithms </a:t>
            </a:r>
          </a:p>
          <a:p>
            <a:pPr lvl="2"/>
            <a:r>
              <a:rPr lang="en-US" dirty="0"/>
              <a:t>Hit and trial approach</a:t>
            </a:r>
          </a:p>
          <a:p>
            <a:pPr lvl="1"/>
            <a:r>
              <a:rPr lang="en-US" b="1" dirty="0"/>
              <a:t>Informed/ Heuristic</a:t>
            </a:r>
            <a:r>
              <a:rPr lang="en-US" dirty="0"/>
              <a:t> search algorithms </a:t>
            </a:r>
          </a:p>
          <a:p>
            <a:pPr lvl="2"/>
            <a:r>
              <a:rPr lang="en-US" dirty="0"/>
              <a:t>Guided search</a:t>
            </a:r>
          </a:p>
          <a:p>
            <a:pPr lvl="1"/>
            <a:endParaRPr lang="en-US" dirty="0"/>
          </a:p>
          <a:p>
            <a:r>
              <a:rPr lang="en-US" dirty="0"/>
              <a:t>Path/non-optimal search algorithms</a:t>
            </a:r>
          </a:p>
          <a:p>
            <a:r>
              <a:rPr lang="en-US" dirty="0"/>
              <a:t>Optimal path search algorithms </a:t>
            </a:r>
          </a:p>
          <a:p>
            <a:pPr marL="0" indent="0">
              <a:buNone/>
            </a:pPr>
            <a:r>
              <a:rPr lang="en-US" dirty="0"/>
              <a:t>         Example: Mouse to find the path in maze</a:t>
            </a:r>
          </a:p>
        </p:txBody>
      </p:sp>
    </p:spTree>
    <p:extLst>
      <p:ext uri="{BB962C8B-B14F-4D97-AF65-F5344CB8AC3E}">
        <p14:creationId xmlns:p14="http://schemas.microsoft.com/office/powerpoint/2010/main" val="29762766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Uninformed Search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535987" cy="4810125"/>
          </a:xfrm>
        </p:spPr>
        <p:txBody>
          <a:bodyPr/>
          <a:lstStyle/>
          <a:p>
            <a:r>
              <a:rPr lang="en-US" sz="2600" dirty="0"/>
              <a:t>Use only information available in the problem definition</a:t>
            </a:r>
          </a:p>
          <a:p>
            <a:r>
              <a:rPr lang="en-US" sz="2600" dirty="0"/>
              <a:t>Search is carried out without any additional information (except that is provided in problem definition)</a:t>
            </a:r>
          </a:p>
          <a:p>
            <a:pPr lvl="1"/>
            <a:r>
              <a:rPr lang="en-US" sz="2400" dirty="0"/>
              <a:t>How to traverse the tree, how to identify leaf and goal nodes</a:t>
            </a:r>
          </a:p>
          <a:p>
            <a:r>
              <a:rPr lang="en-US" sz="2600" dirty="0"/>
              <a:t>Solution cost is not considered</a:t>
            </a:r>
          </a:p>
          <a:p>
            <a:endParaRPr lang="en-US" sz="2600" dirty="0"/>
          </a:p>
          <a:p>
            <a:pPr lvl="1"/>
            <a:r>
              <a:rPr lang="en-US" sz="2600" dirty="0"/>
              <a:t>Breadth-first search</a:t>
            </a:r>
          </a:p>
          <a:p>
            <a:pPr lvl="1"/>
            <a:r>
              <a:rPr lang="en-US" sz="2600" dirty="0"/>
              <a:t>Depth-first search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</a:rPr>
              <a:t>Depth-limited search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</a:rPr>
              <a:t>Uniform-cost search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</a:rPr>
              <a:t>Iterative deepening search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41371"/>
      </p:ext>
    </p:extLst>
  </p:cSld>
  <p:clrMapOvr>
    <a:masterClrMapping/>
  </p:clrMapOvr>
</p:sld>
</file>

<file path=ppt/theme/theme1.xml><?xml version="1.0" encoding="utf-8"?>
<a:theme xmlns:a="http://schemas.openxmlformats.org/drawingml/2006/main" name="e_1genr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e_1genr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_1genr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research</Template>
  <TotalTime>14879</TotalTime>
  <Words>1378</Words>
  <Application>Microsoft Office PowerPoint</Application>
  <PresentationFormat>On-screen Show (4:3)</PresentationFormat>
  <Paragraphs>250</Paragraphs>
  <Slides>43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MS PGothic</vt:lpstr>
      <vt:lpstr>MS PGothic</vt:lpstr>
      <vt:lpstr>SimSun</vt:lpstr>
      <vt:lpstr>Arial</vt:lpstr>
      <vt:lpstr>Courier New</vt:lpstr>
      <vt:lpstr>Google Sans</vt:lpstr>
      <vt:lpstr>Monotype Sorts</vt:lpstr>
      <vt:lpstr>Thonburi</vt:lpstr>
      <vt:lpstr>Times New Roman</vt:lpstr>
      <vt:lpstr>ヒラギノ角ゴ ProN W3</vt:lpstr>
      <vt:lpstr>e_1genrl</vt:lpstr>
      <vt:lpstr>Artificial Intelligence    </vt:lpstr>
      <vt:lpstr>Outline</vt:lpstr>
      <vt:lpstr>Problem ??</vt:lpstr>
      <vt:lpstr>Problem ??</vt:lpstr>
      <vt:lpstr>Problem ??</vt:lpstr>
      <vt:lpstr>Problem Solving</vt:lpstr>
      <vt:lpstr>Problem Solving Approaches</vt:lpstr>
      <vt:lpstr>Classical Approach</vt:lpstr>
      <vt:lpstr>Maze search problem</vt:lpstr>
      <vt:lpstr>Maze search problem</vt:lpstr>
      <vt:lpstr>Generate and Test Approach</vt:lpstr>
      <vt:lpstr>Arrangement of a Generate and Test</vt:lpstr>
      <vt:lpstr>Arrangement of a Generate and Test</vt:lpstr>
      <vt:lpstr>Problem Representation</vt:lpstr>
      <vt:lpstr>Components of Problem Solving</vt:lpstr>
      <vt:lpstr>Components of Problem Solving</vt:lpstr>
      <vt:lpstr>Components of Problem Solving</vt:lpstr>
      <vt:lpstr>State Space</vt:lpstr>
      <vt:lpstr>Contd..</vt:lpstr>
      <vt:lpstr>State Space</vt:lpstr>
      <vt:lpstr>Successor Function</vt:lpstr>
      <vt:lpstr>Problem solution</vt:lpstr>
      <vt:lpstr>Problem Description </vt:lpstr>
      <vt:lpstr>Problem Description </vt:lpstr>
      <vt:lpstr>Examples</vt:lpstr>
      <vt:lpstr>Example: 8-puzzle</vt:lpstr>
      <vt:lpstr>Example (Contd..)</vt:lpstr>
      <vt:lpstr>Example 2: Holiday in Romania</vt:lpstr>
      <vt:lpstr>Contd..</vt:lpstr>
      <vt:lpstr>More concrete problem definition</vt:lpstr>
      <vt:lpstr>Contd..</vt:lpstr>
      <vt:lpstr>Task </vt:lpstr>
      <vt:lpstr>Solutions to Problem Solving   Searching </vt:lpstr>
      <vt:lpstr>Searching</vt:lpstr>
      <vt:lpstr>Contd..</vt:lpstr>
      <vt:lpstr>Searching</vt:lpstr>
      <vt:lpstr>Tree and Graphs Terminology</vt:lpstr>
      <vt:lpstr>Contd..</vt:lpstr>
      <vt:lpstr>Contd..</vt:lpstr>
      <vt:lpstr>Task</vt:lpstr>
      <vt:lpstr>Task</vt:lpstr>
      <vt:lpstr>Categories of the search algorithm</vt:lpstr>
      <vt:lpstr>Uninformed Search Algorithms</vt:lpstr>
    </vt:vector>
  </TitlesOfParts>
  <Company>Rensselaer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Algebra</dc:title>
  <dc:creator>student</dc:creator>
  <cp:lastModifiedBy>hp</cp:lastModifiedBy>
  <cp:revision>376</cp:revision>
  <dcterms:created xsi:type="dcterms:W3CDTF">2007-01-18T14:32:37Z</dcterms:created>
  <dcterms:modified xsi:type="dcterms:W3CDTF">2025-03-06T08:21:48Z</dcterms:modified>
</cp:coreProperties>
</file>