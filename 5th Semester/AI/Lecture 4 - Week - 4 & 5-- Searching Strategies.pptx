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2"/>
  </p:notesMasterIdLst>
  <p:sldIdLst>
    <p:sldId id="257" r:id="rId2"/>
    <p:sldId id="515" r:id="rId3"/>
    <p:sldId id="514" r:id="rId4"/>
    <p:sldId id="434" r:id="rId5"/>
    <p:sldId id="431" r:id="rId6"/>
    <p:sldId id="432" r:id="rId7"/>
    <p:sldId id="435" r:id="rId8"/>
    <p:sldId id="436" r:id="rId9"/>
    <p:sldId id="442" r:id="rId10"/>
    <p:sldId id="454" r:id="rId11"/>
    <p:sldId id="455" r:id="rId12"/>
    <p:sldId id="456" r:id="rId13"/>
    <p:sldId id="457" r:id="rId14"/>
    <p:sldId id="458" r:id="rId15"/>
    <p:sldId id="459" r:id="rId16"/>
    <p:sldId id="460" r:id="rId17"/>
    <p:sldId id="461" r:id="rId18"/>
    <p:sldId id="462" r:id="rId19"/>
    <p:sldId id="463" r:id="rId20"/>
    <p:sldId id="496" r:id="rId21"/>
    <p:sldId id="499" r:id="rId22"/>
    <p:sldId id="464" r:id="rId23"/>
    <p:sldId id="465" r:id="rId24"/>
    <p:sldId id="466" r:id="rId25"/>
    <p:sldId id="451" r:id="rId26"/>
    <p:sldId id="452" r:id="rId27"/>
    <p:sldId id="470" r:id="rId28"/>
    <p:sldId id="471" r:id="rId29"/>
    <p:sldId id="472" r:id="rId30"/>
    <p:sldId id="473" r:id="rId31"/>
    <p:sldId id="474" r:id="rId32"/>
    <p:sldId id="453" r:id="rId33"/>
    <p:sldId id="475" r:id="rId34"/>
    <p:sldId id="476" r:id="rId35"/>
    <p:sldId id="477" r:id="rId36"/>
    <p:sldId id="478" r:id="rId37"/>
    <p:sldId id="500" r:id="rId38"/>
    <p:sldId id="482" r:id="rId39"/>
    <p:sldId id="501" r:id="rId40"/>
    <p:sldId id="483" r:id="rId41"/>
    <p:sldId id="510" r:id="rId42"/>
    <p:sldId id="481" r:id="rId43"/>
    <p:sldId id="485" r:id="rId44"/>
    <p:sldId id="502" r:id="rId45"/>
    <p:sldId id="486" r:id="rId46"/>
    <p:sldId id="487" r:id="rId47"/>
    <p:sldId id="507" r:id="rId48"/>
    <p:sldId id="508" r:id="rId49"/>
    <p:sldId id="509" r:id="rId50"/>
    <p:sldId id="506" r:id="rId51"/>
    <p:sldId id="505" r:id="rId52"/>
    <p:sldId id="504" r:id="rId53"/>
    <p:sldId id="503" r:id="rId54"/>
    <p:sldId id="490" r:id="rId55"/>
    <p:sldId id="491" r:id="rId56"/>
    <p:sldId id="513" r:id="rId57"/>
    <p:sldId id="512" r:id="rId58"/>
    <p:sldId id="511" r:id="rId59"/>
    <p:sldId id="492" r:id="rId60"/>
    <p:sldId id="516" r:id="rId6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5847" autoAdjust="0"/>
  </p:normalViewPr>
  <p:slideViewPr>
    <p:cSldViewPr>
      <p:cViewPr varScale="1">
        <p:scale>
          <a:sx n="67" d="100"/>
          <a:sy n="67" d="100"/>
        </p:scale>
        <p:origin x="131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33E7A8C9-E367-4B4F-B613-A9E705663D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957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330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parameters used to evaluate the performance of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486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7984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156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8672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683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615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Output: A B S C G D E F 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32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17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7307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5190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5458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0368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161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943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4621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498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317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863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763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7799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646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38861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083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9372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0909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4681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103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611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48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89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8513" y="1295400"/>
            <a:ext cx="4078287" cy="481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5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2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2052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212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5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28600"/>
            <a:ext cx="2076450" cy="5876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9413" y="228600"/>
            <a:ext cx="6078537" cy="5876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34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8513" y="1295400"/>
            <a:ext cx="4078287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6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08513" y="1295400"/>
            <a:ext cx="4078287" cy="23288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08513" y="3776663"/>
            <a:ext cx="4078287" cy="2328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3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 rtlCol="0"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037DCF2-CD7A-47DE-80C8-F8C661C247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80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Linear Algebra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95400"/>
            <a:ext cx="8307387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UET-</a:t>
            </a:r>
            <a:r>
              <a:rPr lang="en-US" err="1"/>
              <a:t>Taxila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5FE59B-F0AA-4416-B6F8-467EF8ADB25B}" type="datetimeFigureOut">
              <a:rPr lang="en-US" altLang="en-US"/>
              <a:pPr>
                <a:defRPr/>
              </a:pPr>
              <a:t>3/11/2025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9200"/>
            <a:ext cx="8305800" cy="38862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GB" altLang="en-US" sz="3200" dirty="0"/>
              <a:t>Artificial Intelligence</a:t>
            </a:r>
            <a:br>
              <a:rPr lang="en-GB" altLang="en-US" sz="3200" dirty="0"/>
            </a:br>
            <a:r>
              <a:rPr lang="en-US" altLang="zh-CN" sz="3200" u="sng" dirty="0">
                <a:latin typeface="Times New Roman" panose="02020603050405020304" pitchFamily="18" charset="0"/>
                <a:ea typeface="SimSun" panose="02010600030101010101" pitchFamily="2" charset="-122"/>
              </a:rPr>
              <a:t/>
            </a:r>
            <a:br>
              <a:rPr lang="en-US" altLang="zh-CN" sz="3200" u="sng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altLang="zh-CN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/>
            </a:r>
            <a:br>
              <a:rPr lang="en-US" altLang="zh-CN" sz="3200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altLang="zh-CN" sz="3200">
                <a:latin typeface="Times New Roman" panose="02020603050405020304" pitchFamily="18" charset="0"/>
                <a:ea typeface="SimSun" panose="02010600030101010101" pitchFamily="2" charset="-122"/>
              </a:rPr>
              <a:t>                                              </a:t>
            </a:r>
            <a:r>
              <a:rPr lang="en-US" altLang="en-US" sz="2000" dirty="0">
                <a:solidFill>
                  <a:schemeClr val="tx1"/>
                </a:solidFill>
              </a:rPr>
              <a:t/>
            </a:r>
            <a:br>
              <a:rPr lang="en-US" altLang="en-US" sz="2000" dirty="0">
                <a:solidFill>
                  <a:schemeClr val="tx1"/>
                </a:solidFill>
              </a:rPr>
            </a:b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69BF94C-C6BA-6977-B783-BCDD0BB79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3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n-lt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sz="2400" dirty="0"/>
              <a:t>Properties of Search Algorithms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sz="2400" dirty="0"/>
              <a:t>Uninformed Search Algorithms</a:t>
            </a:r>
          </a:p>
          <a:p>
            <a:pPr lvl="2"/>
            <a:r>
              <a:rPr lang="en-US" sz="2000" dirty="0"/>
              <a:t>Breadth-first search</a:t>
            </a:r>
          </a:p>
          <a:p>
            <a:pPr lvl="2"/>
            <a:r>
              <a:rPr lang="en-US" sz="2000" dirty="0"/>
              <a:t>Depth-first search</a:t>
            </a:r>
          </a:p>
          <a:p>
            <a:pPr lvl="2"/>
            <a:r>
              <a:rPr lang="en-US" sz="2000" dirty="0"/>
              <a:t>Depth-limited search</a:t>
            </a:r>
          </a:p>
          <a:p>
            <a:pPr lvl="2"/>
            <a:r>
              <a:rPr lang="en-US" sz="2000" dirty="0"/>
              <a:t>Uniform-cost search</a:t>
            </a:r>
          </a:p>
          <a:p>
            <a:pPr lvl="2"/>
            <a:r>
              <a:rPr lang="en-US" sz="2000" dirty="0"/>
              <a:t>Iterative deepening search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endParaRPr lang="en-GB" altLang="en-US" sz="2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  <a:tabLst>
                <a:tab pos="446088" algn="l"/>
              </a:tabLst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3366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are the four essential properties of search algorithms to compare the efficiency of these algorithms: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ea typeface="ヒラギノ角ゴ ProN W3" pitchFamily="-84" charset="-128"/>
              </a:rPr>
              <a:t>Completeness: </a:t>
            </a:r>
            <a:r>
              <a:rPr lang="en-US" altLang="en-US" sz="2400" dirty="0">
                <a:ea typeface="ヒラギノ角ゴ ProN W3" pitchFamily="-84" charset="-128"/>
              </a:rPr>
              <a:t>Does it always find a solution if one exists?</a:t>
            </a:r>
            <a:endParaRPr lang="en-US" sz="2400" dirty="0"/>
          </a:p>
          <a:p>
            <a:pPr lvl="1"/>
            <a:r>
              <a:rPr lang="en-US" altLang="en-US" sz="2400" dirty="0">
                <a:solidFill>
                  <a:srgbClr val="FF0000"/>
                </a:solidFill>
                <a:ea typeface="ヒラギノ角ゴ ProN W3" pitchFamily="-84" charset="-128"/>
              </a:rPr>
              <a:t>Optimality: </a:t>
            </a:r>
            <a:r>
              <a:rPr lang="en-US" altLang="en-US" sz="2400" dirty="0">
                <a:ea typeface="ヒラギノ角ゴ ProN W3" pitchFamily="-84" charset="-128"/>
              </a:rPr>
              <a:t>whether the algorithm found a best solution?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ea typeface="ヒラギノ角ゴ ProN W3" pitchFamily="-84" charset="-128"/>
              </a:rPr>
              <a:t>Time complexity: </a:t>
            </a:r>
            <a:r>
              <a:rPr lang="en-US" altLang="en-US" sz="2400" dirty="0">
                <a:ea typeface="ヒラギノ角ゴ ProN W3" pitchFamily="-84" charset="-128"/>
              </a:rPr>
              <a:t>A measure of time for an algorithm to complete its task. 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ea typeface="ヒラギノ角ゴ ProN W3" pitchFamily="-84" charset="-128"/>
              </a:rPr>
              <a:t>Space complexity: </a:t>
            </a:r>
            <a:r>
              <a:rPr lang="en-US" altLang="en-US" sz="2400" dirty="0">
                <a:ea typeface="ヒラギノ角ゴ ProN W3" pitchFamily="-84" charset="-128"/>
              </a:rPr>
              <a:t>The maximum storage space required at any point during the search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4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Uninformed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535987" cy="4810125"/>
          </a:xfrm>
        </p:spPr>
        <p:txBody>
          <a:bodyPr/>
          <a:lstStyle/>
          <a:p>
            <a:r>
              <a:rPr lang="en-US" sz="2600" dirty="0"/>
              <a:t>Use only the information available in the problem definition</a:t>
            </a:r>
          </a:p>
          <a:p>
            <a:r>
              <a:rPr lang="en-US" sz="2600" dirty="0"/>
              <a:t>Carried out without any additional information that is already provided in the problem statement</a:t>
            </a:r>
          </a:p>
          <a:p>
            <a:pPr lvl="1"/>
            <a:r>
              <a:rPr lang="en-US" sz="2400" dirty="0"/>
              <a:t>How to traverse the tree, how to identify leaf and goal nodes</a:t>
            </a:r>
          </a:p>
          <a:p>
            <a:endParaRPr lang="en-US" sz="2600" dirty="0"/>
          </a:p>
          <a:p>
            <a:pPr lvl="1"/>
            <a:r>
              <a:rPr lang="en-US" sz="2600" dirty="0"/>
              <a:t>Breadth-first search</a:t>
            </a:r>
          </a:p>
          <a:p>
            <a:pPr lvl="1"/>
            <a:r>
              <a:rPr lang="en-US" sz="2600" dirty="0"/>
              <a:t>Depth-first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Depth-limited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Uniform-cost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Iterative deepening search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4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common search strategy for traversing a tree or graph</a:t>
            </a:r>
          </a:p>
          <a:p>
            <a:r>
              <a:rPr lang="en-US" dirty="0"/>
              <a:t>This algorithm searches breadthwise in a tree or graph and progresses downward level by level</a:t>
            </a:r>
          </a:p>
          <a:p>
            <a:r>
              <a:rPr lang="en-US" dirty="0"/>
              <a:t>The breadth-first search algorithm is an example of a general-graph search algorithm.</a:t>
            </a:r>
          </a:p>
          <a:p>
            <a:endParaRPr lang="en-US" dirty="0"/>
          </a:p>
          <a:p>
            <a:r>
              <a:rPr lang="en-US" dirty="0"/>
              <a:t>Breadth-first search implemented using FIFO queue data structure.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96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908" y="1295400"/>
            <a:ext cx="8555182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3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764587" cy="4810125"/>
          </a:xfrm>
        </p:spPr>
        <p:txBody>
          <a:bodyPr/>
          <a:lstStyle/>
          <a:p>
            <a:r>
              <a:rPr lang="en-US" dirty="0"/>
              <a:t>Let S be the start state </a:t>
            </a:r>
          </a:p>
          <a:p>
            <a:pPr lvl="1"/>
            <a:r>
              <a:rPr lang="en-US" dirty="0"/>
              <a:t>Initialize Queue (Q) with the start node Q=(S) as the only entry; set Visited = (S) </a:t>
            </a:r>
          </a:p>
          <a:p>
            <a:pPr lvl="1"/>
            <a:r>
              <a:rPr lang="en-US" dirty="0"/>
              <a:t>If Q is empty, fail. Else pick node X from Q </a:t>
            </a:r>
          </a:p>
          <a:p>
            <a:pPr lvl="1"/>
            <a:r>
              <a:rPr lang="en-US" dirty="0"/>
              <a:t>If X is a goal, return X (path), we’ve reached the goal </a:t>
            </a:r>
          </a:p>
          <a:p>
            <a:pPr lvl="1"/>
            <a:r>
              <a:rPr lang="en-US" dirty="0"/>
              <a:t>(Otherwise) Remove X from Q </a:t>
            </a:r>
          </a:p>
          <a:p>
            <a:pPr lvl="1"/>
            <a:r>
              <a:rPr lang="en-US" dirty="0"/>
              <a:t>Find all the children of state X not in Visited </a:t>
            </a:r>
          </a:p>
          <a:p>
            <a:pPr lvl="1"/>
            <a:r>
              <a:rPr lang="en-US" dirty="0"/>
              <a:t>Add these to Q; Add Children of X to Visited </a:t>
            </a:r>
          </a:p>
          <a:p>
            <a:pPr lvl="1"/>
            <a:r>
              <a:rPr lang="en-US" dirty="0"/>
              <a:t>Go to Step 2 </a:t>
            </a:r>
          </a:p>
        </p:txBody>
      </p:sp>
    </p:spTree>
    <p:extLst>
      <p:ext uri="{BB962C8B-B14F-4D97-AF65-F5344CB8AC3E}">
        <p14:creationId xmlns:p14="http://schemas.microsoft.com/office/powerpoint/2010/main" val="273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S in output, mark as visited, and make first currently working node (CWN), check for goal</a:t>
            </a:r>
          </a:p>
          <a:p>
            <a:r>
              <a:rPr lang="en-US" dirty="0"/>
              <a:t>Output: S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stCxn id="4" idx="3"/>
            <a:endCxn id="12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2" idx="3"/>
            <a:endCxn id="10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/>
          <p:cNvCxnSpPr>
            <a:stCxn id="4" idx="5"/>
            <a:endCxn id="5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/>
          <p:cNvCxnSpPr>
            <a:stCxn id="5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/>
          <p:cNvCxnSpPr>
            <a:stCxn id="5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49770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36" name="Right Arrow 35"/>
          <p:cNvSpPr/>
          <p:nvPr/>
        </p:nvSpPr>
        <p:spPr bwMode="auto">
          <a:xfrm>
            <a:off x="2436047" y="1295400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08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S is not goal, Check all unvisited adjacent nodes of S, </a:t>
            </a:r>
            <a:r>
              <a:rPr lang="en-US" dirty="0" err="1"/>
              <a:t>enqueue</a:t>
            </a:r>
            <a:r>
              <a:rPr lang="en-US" dirty="0"/>
              <a:t> them and also mark as visited</a:t>
            </a:r>
          </a:p>
          <a:p>
            <a:r>
              <a:rPr lang="en-US" dirty="0"/>
              <a:t>Output: S A B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61096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01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Update CWN. Check first element in Q i.e. A. make it CWN and </a:t>
            </a:r>
            <a:r>
              <a:rPr lang="en-US" dirty="0" err="1"/>
              <a:t>dequeue</a:t>
            </a:r>
            <a:r>
              <a:rPr lang="en-US" dirty="0"/>
              <a:t> it. Check for goal </a:t>
            </a:r>
          </a:p>
          <a:p>
            <a:r>
              <a:rPr lang="en-US" dirty="0"/>
              <a:t>Output: S A B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972100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4" name="Right Arrow 23"/>
          <p:cNvSpPr/>
          <p:nvPr/>
        </p:nvSpPr>
        <p:spPr bwMode="auto">
          <a:xfrm>
            <a:off x="1376459" y="2352119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17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 is not goal, Check all unvisited adjacent nodes of A, </a:t>
            </a:r>
            <a:r>
              <a:rPr lang="en-US" dirty="0" err="1"/>
              <a:t>enqueue</a:t>
            </a:r>
            <a:r>
              <a:rPr lang="en-US" dirty="0"/>
              <a:t> them and also mark as visited</a:t>
            </a:r>
          </a:p>
          <a:p>
            <a:r>
              <a:rPr lang="en-US" dirty="0"/>
              <a:t>Output: S A B C D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158691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4" name="Right Arrow 23"/>
          <p:cNvSpPr/>
          <p:nvPr/>
        </p:nvSpPr>
        <p:spPr bwMode="auto">
          <a:xfrm>
            <a:off x="1376459" y="2352119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83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Update CWN. Check first element in Q i.e. B. make it CWN and </a:t>
            </a:r>
            <a:r>
              <a:rPr lang="en-US" dirty="0" err="1"/>
              <a:t>dequeue</a:t>
            </a:r>
            <a:r>
              <a:rPr lang="en-US" dirty="0"/>
              <a:t> it. Check for goal.</a:t>
            </a:r>
          </a:p>
          <a:p>
            <a:r>
              <a:rPr lang="en-US" dirty="0"/>
              <a:t>Output: S A B C D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44932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5" name="Left Arrow 24"/>
          <p:cNvSpPr/>
          <p:nvPr/>
        </p:nvSpPr>
        <p:spPr bwMode="auto">
          <a:xfrm>
            <a:off x="5575698" y="2240592"/>
            <a:ext cx="1183221" cy="520326"/>
          </a:xfrm>
          <a:prstGeom prst="lef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3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B is not goal, Check all unvisited adjacent nodes of B, </a:t>
            </a:r>
            <a:r>
              <a:rPr lang="en-US" dirty="0" err="1"/>
              <a:t>enqueue</a:t>
            </a:r>
            <a:r>
              <a:rPr lang="en-US" dirty="0"/>
              <a:t> them and also mark as visited</a:t>
            </a:r>
          </a:p>
          <a:p>
            <a:r>
              <a:rPr lang="en-US" dirty="0"/>
              <a:t>Output: S A B C D E F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6" name="Straight Arrow Connector 15"/>
          <p:cNvCxnSpPr>
            <a:stCxn id="7" idx="3"/>
            <a:endCxn id="15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>
            <a:stCxn id="15" idx="3"/>
            <a:endCxn id="13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5"/>
            <a:endCxn id="8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8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/>
          <p:cNvCxnSpPr>
            <a:stCxn id="8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37295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5" name="Left Arrow 24"/>
          <p:cNvSpPr/>
          <p:nvPr/>
        </p:nvSpPr>
        <p:spPr bwMode="auto">
          <a:xfrm>
            <a:off x="5575698" y="2240592"/>
            <a:ext cx="1183221" cy="520326"/>
          </a:xfrm>
          <a:prstGeom prst="lef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657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Update CWN. Check first element in Q i.e. C. make it CWN and </a:t>
            </a:r>
            <a:r>
              <a:rPr lang="en-US" dirty="0" err="1"/>
              <a:t>dequeue</a:t>
            </a:r>
            <a:r>
              <a:rPr lang="en-US" dirty="0"/>
              <a:t> it. Check for goal. </a:t>
            </a:r>
          </a:p>
          <a:p>
            <a:r>
              <a:rPr lang="en-US" dirty="0"/>
              <a:t>Output: S A B C D E F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77429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5" name="Right Arrow 24"/>
          <p:cNvSpPr/>
          <p:nvPr/>
        </p:nvSpPr>
        <p:spPr bwMode="auto">
          <a:xfrm>
            <a:off x="498537" y="3320909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76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C is not goal, Check all unvisited adjacent nodes of C, </a:t>
            </a:r>
            <a:r>
              <a:rPr lang="en-US" dirty="0" err="1"/>
              <a:t>enqueue</a:t>
            </a:r>
            <a:r>
              <a:rPr lang="en-US" dirty="0"/>
              <a:t> them and also mark as visited</a:t>
            </a:r>
          </a:p>
          <a:p>
            <a:r>
              <a:rPr lang="en-US" dirty="0"/>
              <a:t>Output: S A B C D E F G H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410997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4" name="Right Arrow 23"/>
          <p:cNvSpPr/>
          <p:nvPr/>
        </p:nvSpPr>
        <p:spPr bwMode="auto">
          <a:xfrm>
            <a:off x="498537" y="3320909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6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Update CWN. Check first element in Q i.e. D. make it CWN and </a:t>
            </a:r>
            <a:r>
              <a:rPr lang="en-US" dirty="0" err="1"/>
              <a:t>dequeue</a:t>
            </a:r>
            <a:r>
              <a:rPr lang="en-US" dirty="0"/>
              <a:t> it. Check for goal.</a:t>
            </a:r>
          </a:p>
          <a:p>
            <a:r>
              <a:rPr lang="en-US" dirty="0"/>
              <a:t>Output: S A B C D E F G H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088995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4" name="Right Arrow 23"/>
          <p:cNvSpPr/>
          <p:nvPr/>
        </p:nvSpPr>
        <p:spPr bwMode="auto">
          <a:xfrm>
            <a:off x="2001177" y="3378273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73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all unvisited adjacent nodes of D, No unvisited node, no </a:t>
            </a:r>
            <a:r>
              <a:rPr lang="en-US" dirty="0" err="1"/>
              <a:t>enqueue</a:t>
            </a:r>
            <a:r>
              <a:rPr lang="en-US" dirty="0"/>
              <a:t>, Update CWD and check for goal</a:t>
            </a:r>
          </a:p>
          <a:p>
            <a:r>
              <a:rPr lang="en-US" dirty="0"/>
              <a:t>Output: S A B C D E F G H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340378"/>
              </p:ext>
            </p:extLst>
          </p:nvPr>
        </p:nvGraphicFramePr>
        <p:xfrm>
          <a:off x="2895881" y="49955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4274785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796574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294643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639330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78004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7136111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40885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259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0821655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1674706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9690331"/>
                  </a:ext>
                </a:extLst>
              </a:tr>
            </a:tbl>
          </a:graphicData>
        </a:graphic>
      </p:graphicFrame>
      <p:sp>
        <p:nvSpPr>
          <p:cNvPr id="24" name="Right Arrow 23"/>
          <p:cNvSpPr/>
          <p:nvPr/>
        </p:nvSpPr>
        <p:spPr bwMode="auto">
          <a:xfrm>
            <a:off x="2043729" y="3320909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96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as there is no unvisited node left, every node left in Q will be made CWD and checked for goal, sequentially, and gets removed from the Q. </a:t>
            </a:r>
          </a:p>
          <a:p>
            <a:r>
              <a:rPr lang="en-US" dirty="0"/>
              <a:t>When the last node H is removed from Q and checked for goal, the algorithm says YES.</a:t>
            </a:r>
          </a:p>
          <a:p>
            <a:r>
              <a:rPr lang="en-US" dirty="0"/>
              <a:t>The path to achieve goal will be:</a:t>
            </a:r>
          </a:p>
          <a:p>
            <a:pPr marL="0" indent="0">
              <a:buNone/>
            </a:pPr>
            <a:r>
              <a:rPr lang="en-US" dirty="0"/>
              <a:t>			S A B C D E F G H</a:t>
            </a:r>
          </a:p>
          <a:p>
            <a:endParaRPr lang="en-US" dirty="0"/>
          </a:p>
          <a:p>
            <a:r>
              <a:rPr lang="en-US" dirty="0"/>
              <a:t>BFS travels a significant area of the search space if the solution is located somewhere deep inside the tree</a:t>
            </a:r>
          </a:p>
        </p:txBody>
      </p:sp>
    </p:spTree>
    <p:extLst>
      <p:ext uri="{BB962C8B-B14F-4D97-AF65-F5344CB8AC3E}">
        <p14:creationId xmlns:p14="http://schemas.microsoft.com/office/powerpoint/2010/main" val="887068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BFS to traverse the graph starting from node 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306" y="1914524"/>
            <a:ext cx="5943600" cy="41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98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2500" y="1066800"/>
            <a:ext cx="7162800" cy="53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9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A recursive algorithm for traversing a tree or graph data structure.</a:t>
            </a:r>
          </a:p>
          <a:p>
            <a:r>
              <a:rPr lang="en-US" dirty="0"/>
              <a:t>It starts from the root node and follows each path to its greatest depth node before moving to the next path. That’s why called the depth-first search</a:t>
            </a:r>
          </a:p>
          <a:p>
            <a:r>
              <a:rPr lang="en-US" dirty="0"/>
              <a:t>The searching process is similar to the BFS algorithm.</a:t>
            </a:r>
          </a:p>
          <a:p>
            <a:endParaRPr lang="en-US" dirty="0"/>
          </a:p>
          <a:p>
            <a:r>
              <a:rPr lang="en-US" dirty="0"/>
              <a:t>DFS is implemented using LIFO i.e. stack data structure.</a:t>
            </a:r>
          </a:p>
          <a:p>
            <a:r>
              <a:rPr lang="en-US" dirty="0"/>
              <a:t>Flow: </a:t>
            </a:r>
            <a:r>
              <a:rPr lang="nl-NL" dirty="0"/>
              <a:t>Root node---&gt;Left node ----&gt; right node.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29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Search from root node S-&gt;A-&gt;B-&gt;D-&gt;E, </a:t>
            </a:r>
          </a:p>
          <a:p>
            <a:r>
              <a:rPr lang="en-US" sz="2400" dirty="0"/>
              <a:t>After traversing E, it will backtrack the tree as E has no other successor and still goal node is not found. After backtracking it will traverse node C and then G, and here it will terminate as it found goal node.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200400"/>
            <a:ext cx="627306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6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S in output and Stack, mark as visited, and make first currently working node (CWN), check for goal</a:t>
            </a:r>
          </a:p>
          <a:p>
            <a:r>
              <a:rPr lang="en-US" dirty="0"/>
              <a:t>Output: S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Right Arrow 23"/>
          <p:cNvSpPr/>
          <p:nvPr/>
        </p:nvSpPr>
        <p:spPr bwMode="auto">
          <a:xfrm>
            <a:off x="2436047" y="1295400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16456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22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S is not goal, check next unvisited deepest adjacent node i.e. A. push A and also mark as visited</a:t>
            </a:r>
          </a:p>
          <a:p>
            <a:r>
              <a:rPr lang="en-US" dirty="0"/>
              <a:t>Output: S A 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ight Arrow 22"/>
          <p:cNvSpPr/>
          <p:nvPr/>
        </p:nvSpPr>
        <p:spPr bwMode="auto">
          <a:xfrm>
            <a:off x="1304043" y="2300945"/>
            <a:ext cx="916754" cy="444126"/>
          </a:xfrm>
          <a:prstGeom prst="rightArrow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67922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94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 is not goal, check next unvisited deepest adjacent node i.e. C. push C and also mark as visited</a:t>
            </a:r>
          </a:p>
          <a:p>
            <a:r>
              <a:rPr lang="en-US" dirty="0"/>
              <a:t>Output: S A C</a:t>
            </a:r>
          </a:p>
        </p:txBody>
      </p:sp>
      <p:sp>
        <p:nvSpPr>
          <p:cNvPr id="29" name="Oval 28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30" name="Oval 29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5" name="Oval 34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8" name="Straight Arrow Connector 37"/>
          <p:cNvCxnSpPr>
            <a:stCxn id="29" idx="3"/>
            <a:endCxn id="37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/>
          <p:cNvCxnSpPr>
            <a:stCxn id="37" idx="3"/>
            <a:endCxn id="35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/>
          <p:cNvCxnSpPr>
            <a:stCxn id="29" idx="5"/>
            <a:endCxn id="30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/>
          <p:cNvCxnSpPr>
            <a:stCxn id="30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/>
          <p:cNvCxnSpPr>
            <a:stCxn id="30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589303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104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C is not goal, check next unvisited deepest adjacent node i.e. G. push G and also mark as visited</a:t>
            </a:r>
          </a:p>
          <a:p>
            <a:r>
              <a:rPr lang="en-US" dirty="0"/>
              <a:t>Output: S A C G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18318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454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G is not goal, check next unvisited deepest adjacent node. No node. pop G. </a:t>
            </a:r>
          </a:p>
          <a:p>
            <a:r>
              <a:rPr lang="en-US" dirty="0"/>
              <a:t>Output: S A C G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570344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29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next node in stack is C. backtrack, check next unvisited deepest adjacent node of C i.e. H. push H and mark visited                     Output: S A C G H</a:t>
            </a:r>
          </a:p>
        </p:txBody>
      </p:sp>
      <p:sp>
        <p:nvSpPr>
          <p:cNvPr id="26" name="Oval 2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27" name="Oval 2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5" name="Straight Arrow Connector 34"/>
          <p:cNvCxnSpPr>
            <a:stCxn id="26" idx="3"/>
            <a:endCxn id="3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/>
          <p:cNvCxnSpPr>
            <a:stCxn id="34" idx="3"/>
            <a:endCxn id="3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/>
          <p:cNvCxnSpPr>
            <a:stCxn id="26" idx="5"/>
            <a:endCxn id="2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/>
          <p:cNvCxnSpPr>
            <a:stCxn id="2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/>
          <p:cNvCxnSpPr>
            <a:stCxn id="2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858447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863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H is the goal, so, it will stop and pop the nodes from stack. </a:t>
            </a:r>
          </a:p>
          <a:p>
            <a:r>
              <a:rPr lang="en-US" dirty="0"/>
              <a:t>The path to achieve the goal is :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/>
              <a:t>S A C G H</a:t>
            </a:r>
          </a:p>
          <a:p>
            <a:endParaRPr lang="en-US" dirty="0"/>
          </a:p>
          <a:p>
            <a:r>
              <a:rPr lang="en-US" dirty="0"/>
              <a:t>To traverse all the nodes: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454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914400"/>
            <a:ext cx="8307387" cy="5191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next node in stack is now, H. check next unvisited deepest adjacent node. No node. Pop H, C. Now A has one unvisited node D, push D and mark visited  Output: S A C G H D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630646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433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914400"/>
            <a:ext cx="8307387" cy="5191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next node in stack is now, D. No unvisited deepest adjacent node. Pop D, A. Now S has one unvisited node B, push B and mark visited  </a:t>
            </a:r>
          </a:p>
          <a:p>
            <a:r>
              <a:rPr lang="en-US" dirty="0"/>
              <a:t>Output: S A C G H D B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85220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395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914400"/>
            <a:ext cx="8307387" cy="5191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next node in stack is now, B. Two unvisited deepest adjacent node. Push E and mark visited  </a:t>
            </a:r>
          </a:p>
          <a:p>
            <a:r>
              <a:rPr lang="en-US" dirty="0"/>
              <a:t>Output: S A C G H D B E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99112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048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914400"/>
            <a:ext cx="8307387" cy="5191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next node in stack is now, E. No unvisited deepest adjacent node. Pop E. Now B has one unvisited node F. push F and mark visited  </a:t>
            </a:r>
          </a:p>
          <a:p>
            <a:r>
              <a:rPr lang="en-US" dirty="0"/>
              <a:t>Output: S A C G H D B E F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337884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818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914400"/>
            <a:ext cx="8307387" cy="5191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next node in stack is now, F. No unvisited deepest adjacent node. Pop F. Similarly pop B and finally S.</a:t>
            </a:r>
          </a:p>
          <a:p>
            <a:r>
              <a:rPr lang="en-US" dirty="0"/>
              <a:t>Output: S A C G H D B E F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473383" y="12192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831039" y="2173571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247686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04485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960650" y="3301808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262005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553424" y="3238172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90600" y="4343400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97659" y="2262845"/>
            <a:ext cx="562824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3"/>
            <a:endCxn id="14" idx="7"/>
          </p:cNvCxnSpPr>
          <p:nvPr/>
        </p:nvCxnSpPr>
        <p:spPr bwMode="auto">
          <a:xfrm flipH="1">
            <a:off x="2878059" y="1739526"/>
            <a:ext cx="677748" cy="6125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14" idx="3"/>
            <a:endCxn id="12" idx="7"/>
          </p:cNvCxnSpPr>
          <p:nvPr/>
        </p:nvCxnSpPr>
        <p:spPr bwMode="auto">
          <a:xfrm flipH="1">
            <a:off x="2033824" y="2783171"/>
            <a:ext cx="446259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371506" y="3783921"/>
            <a:ext cx="363836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2812920" y="2852952"/>
            <a:ext cx="335298" cy="45500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938362" y="3823038"/>
            <a:ext cx="497684" cy="5849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5"/>
            <a:endCxn id="7" idx="1"/>
          </p:cNvCxnSpPr>
          <p:nvPr/>
        </p:nvCxnSpPr>
        <p:spPr bwMode="auto">
          <a:xfrm>
            <a:off x="3953783" y="1739526"/>
            <a:ext cx="959680" cy="5233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>
            <a:stCxn id="7" idx="3"/>
          </p:cNvCxnSpPr>
          <p:nvPr/>
        </p:nvCxnSpPr>
        <p:spPr bwMode="auto">
          <a:xfrm flipH="1">
            <a:off x="4631531" y="2693897"/>
            <a:ext cx="281932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7" idx="5"/>
          </p:cNvCxnSpPr>
          <p:nvPr/>
        </p:nvCxnSpPr>
        <p:spPr bwMode="auto">
          <a:xfrm>
            <a:off x="5311439" y="2693897"/>
            <a:ext cx="439540" cy="54427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893537"/>
              </p:ext>
            </p:extLst>
          </p:nvPr>
        </p:nvGraphicFramePr>
        <p:xfrm>
          <a:off x="7264419" y="1148103"/>
          <a:ext cx="794624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624">
                  <a:extLst>
                    <a:ext uri="{9D8B030D-6E8A-4147-A177-3AD203B41FA5}">
                      <a16:colId xmlns:a16="http://schemas.microsoft.com/office/drawing/2014/main" xmlns="" val="41418430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44451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910376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3092718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114919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endParaRPr lang="en-US" strike="no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373858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177128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18111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8424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29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the whole tree is traversed using DFS and the path is:</a:t>
            </a:r>
          </a:p>
          <a:p>
            <a:pPr marL="1828800" lvl="4" indent="0">
              <a:buNone/>
            </a:pPr>
            <a:r>
              <a:rPr lang="en-US" dirty="0"/>
              <a:t>	S A C G H D B E 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98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Use DFS to traverse the graph starting from node 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06" y="1914524"/>
            <a:ext cx="5943600" cy="41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16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2438400"/>
            <a:ext cx="830580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Depth-Limited 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1982625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Depth-Limited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5486400"/>
          </a:xfrm>
        </p:spPr>
        <p:txBody>
          <a:bodyPr/>
          <a:lstStyle/>
          <a:p>
            <a:r>
              <a:rPr lang="en-US" dirty="0"/>
              <a:t>Similar to depth-first search with a predetermined limit, to guarantee that the algorithm ends.</a:t>
            </a:r>
          </a:p>
          <a:p>
            <a:r>
              <a:rPr lang="en-US" dirty="0">
                <a:solidFill>
                  <a:srgbClr val="FF0000"/>
                </a:solidFill>
              </a:rPr>
              <a:t>The node at the depth limit will be treated as it has no successor nodes further</a:t>
            </a:r>
            <a:r>
              <a:rPr lang="en-US" dirty="0"/>
              <a:t>.</a:t>
            </a:r>
          </a:p>
          <a:p>
            <a:r>
              <a:rPr lang="en-US" dirty="0"/>
              <a:t>Can solve the drawback of the infinite path in the DFS</a:t>
            </a:r>
          </a:p>
          <a:p>
            <a:endParaRPr lang="en-US" dirty="0"/>
          </a:p>
          <a:p>
            <a:r>
              <a:rPr lang="en-US" dirty="0"/>
              <a:t>Can be terminated with two Conditions of failure:</a:t>
            </a:r>
          </a:p>
          <a:p>
            <a:pPr lvl="1"/>
            <a:r>
              <a:rPr lang="en-US" sz="2400" b="1" dirty="0"/>
              <a:t>Standard failure value</a:t>
            </a:r>
            <a:r>
              <a:rPr lang="en-US" sz="2400" dirty="0"/>
              <a:t>: It indicates that problem does not have any solution.</a:t>
            </a:r>
          </a:p>
          <a:p>
            <a:pPr lvl="1"/>
            <a:r>
              <a:rPr lang="en-US" sz="2400" b="1" dirty="0"/>
              <a:t>Cutoff failure value</a:t>
            </a:r>
            <a:r>
              <a:rPr lang="en-US" sz="2400" dirty="0"/>
              <a:t>: It defines no solution for the problem within a given depth limit (terminates on reaching predetermined depth) even if solution found.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357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example with depth limit of 2.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Will traverse downward until level 2. if finds goal, terminates otherwise expand downwards by increasing depth limit (Level number)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33601"/>
            <a:ext cx="48101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600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33601"/>
            <a:ext cx="4810125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48EA2C3-90D4-9716-EBFC-7769FF34D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7" y="932180"/>
            <a:ext cx="8989966" cy="499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86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lvl="1"/>
            <a:r>
              <a:rPr lang="en-US" sz="2400" dirty="0"/>
              <a:t>Depth-limited search is Memory efficient.</a:t>
            </a:r>
          </a:p>
          <a:p>
            <a:endParaRPr lang="en-US" dirty="0"/>
          </a:p>
          <a:p>
            <a:r>
              <a:rPr lang="en-US" b="1" dirty="0"/>
              <a:t>Disadvantages</a:t>
            </a:r>
            <a:r>
              <a:rPr lang="en-US" dirty="0"/>
              <a:t> </a:t>
            </a:r>
          </a:p>
          <a:p>
            <a:pPr lvl="1"/>
            <a:r>
              <a:rPr lang="en-US" sz="2400" dirty="0"/>
              <a:t>Depth-limited search also has a disadvantage of incompleteness (can be terminated without finding solution).</a:t>
            </a:r>
          </a:p>
          <a:p>
            <a:pPr lvl="1"/>
            <a:r>
              <a:rPr lang="en-US" sz="2400" dirty="0"/>
              <a:t>It may not be optimal if the problem has more than one solution. Means its not compulsory it will give you best solution.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377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30580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Uniform-cost Search </a:t>
            </a:r>
          </a:p>
        </p:txBody>
      </p:sp>
    </p:spTree>
    <p:extLst>
      <p:ext uri="{BB962C8B-B14F-4D97-AF65-F5344CB8AC3E}">
        <p14:creationId xmlns:p14="http://schemas.microsoft.com/office/powerpoint/2010/main" val="2800727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459787" cy="4810125"/>
          </a:xfrm>
        </p:spPr>
        <p:txBody>
          <a:bodyPr/>
          <a:lstStyle/>
          <a:p>
            <a:r>
              <a:rPr lang="en-US" dirty="0"/>
              <a:t>A searching algorithm to traverse a weighted tree or graph</a:t>
            </a:r>
          </a:p>
          <a:p>
            <a:r>
              <a:rPr lang="en-US" dirty="0"/>
              <a:t>A different cost is available for each edge</a:t>
            </a:r>
          </a:p>
          <a:p>
            <a:r>
              <a:rPr lang="en-US" dirty="0"/>
              <a:t>The primary goal is to find a path to the goal node, having the lowest cumulative cost</a:t>
            </a:r>
          </a:p>
          <a:p>
            <a:r>
              <a:rPr lang="en-US" dirty="0"/>
              <a:t>It searches next nodes according to their path costs </a:t>
            </a:r>
          </a:p>
          <a:p>
            <a:r>
              <a:rPr lang="en-US" dirty="0"/>
              <a:t>Implemented by the priority queue.</a:t>
            </a:r>
          </a:p>
          <a:p>
            <a:pPr lvl="1"/>
            <a:r>
              <a:rPr lang="en-US" dirty="0"/>
              <a:t>i.e. It gives maximum priority to the lowest cumulative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217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sz="2400" dirty="0"/>
              <a:t>optimal because at every state the path with the least cost is chosen.</a:t>
            </a:r>
          </a:p>
          <a:p>
            <a:endParaRPr lang="en-US" dirty="0"/>
          </a:p>
          <a:p>
            <a:r>
              <a:rPr lang="en-US" dirty="0"/>
              <a:t>Disadvantages </a:t>
            </a:r>
          </a:p>
          <a:p>
            <a:pPr lvl="1"/>
            <a:r>
              <a:rPr lang="en-US" sz="2400" b="1" dirty="0"/>
              <a:t>It does not care about the number of steps involved </a:t>
            </a:r>
            <a:r>
              <a:rPr lang="en-US" sz="2400" dirty="0"/>
              <a:t>in searching and only concerned about path cost. 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42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94809F7-686F-0592-5C7D-CA344BD28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9740"/>
            <a:ext cx="9144000" cy="413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51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44290E8-A8CD-F4A6-5B78-9942C7D22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478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66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593C671-68B3-16A3-D2C6-B02109A8A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4960"/>
            <a:ext cx="9144000" cy="266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221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F139818-C8BB-5919-BCDF-C024AC256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7578"/>
            <a:ext cx="9144000" cy="27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940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38D8D53-2EDF-4CAF-093D-0AC00160D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1833"/>
            <a:ext cx="9144000" cy="46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542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88BC796-7B2D-4321-10D3-87DA59502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9079"/>
            <a:ext cx="9144000" cy="465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321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979A40F-D43E-E18B-D396-A0324281C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" y="1145325"/>
            <a:ext cx="8497529" cy="55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391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the best path and also calculate the cost.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56" y="2057400"/>
            <a:ext cx="58293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37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Solution??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078830"/>
            <a:ext cx="5662612" cy="32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169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305800" cy="8382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Iterative deepening Depth First Search(IDDFS)</a:t>
            </a:r>
          </a:p>
        </p:txBody>
      </p:sp>
    </p:spTree>
    <p:extLst>
      <p:ext uri="{BB962C8B-B14F-4D97-AF65-F5344CB8AC3E}">
        <p14:creationId xmlns:p14="http://schemas.microsoft.com/office/powerpoint/2010/main" val="184513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Iterative deepening Depth First Search(IDDFS)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combination of DFS and BFS algorithms</a:t>
            </a:r>
          </a:p>
          <a:p>
            <a:r>
              <a:rPr lang="en-US" dirty="0"/>
              <a:t>It searches for the best depth in each iteration</a:t>
            </a:r>
          </a:p>
          <a:p>
            <a:r>
              <a:rPr lang="en-US" dirty="0"/>
              <a:t>Searches until a certain depth and the depth keeps increasing at every iteration until it reaches the goal state.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sz="2400" dirty="0"/>
              <a:t>It combines the benefits of BFS and DFS search algorithm in terms of fast search and memory efficiency.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sz="2400" dirty="0"/>
              <a:t>Main drawback is that it repeats all the work of the previous phase.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698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Iterative deepening Depth First Search(IDDFS)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BFS, it expands.</a:t>
            </a:r>
          </a:p>
          <a:p>
            <a:r>
              <a:rPr lang="en-US" dirty="0"/>
              <a:t>With DFS, it performs search in depth of all expanded breadth.</a:t>
            </a:r>
          </a:p>
        </p:txBody>
      </p:sp>
    </p:spTree>
    <p:extLst>
      <p:ext uri="{BB962C8B-B14F-4D97-AF65-F5344CB8AC3E}">
        <p14:creationId xmlns:p14="http://schemas.microsoft.com/office/powerpoint/2010/main" val="24793085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76200"/>
            <a:ext cx="2438400" cy="457200"/>
          </a:xfrm>
        </p:spPr>
        <p:txBody>
          <a:bodyPr/>
          <a:lstStyle/>
          <a:p>
            <a:r>
              <a:rPr lang="en-US" sz="2800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B5A504F-F4D6-C541-307C-3D7F4109F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4376"/>
            <a:ext cx="9144000" cy="42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75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1'st Iteration-----&gt; A</a:t>
            </a:r>
            <a:br>
              <a:rPr lang="en-US" sz="2400" dirty="0"/>
            </a:br>
            <a:r>
              <a:rPr lang="en-US" sz="2400" dirty="0"/>
              <a:t>2'nd Iteration----&gt; A, B, C</a:t>
            </a:r>
            <a:br>
              <a:rPr lang="en-US" sz="2400" dirty="0"/>
            </a:br>
            <a:r>
              <a:rPr lang="en-US" sz="2400" dirty="0"/>
              <a:t>3'rd Iteration------&gt;A, B, D, E, C, F, G</a:t>
            </a:r>
            <a:br>
              <a:rPr lang="en-US" sz="2400" dirty="0"/>
            </a:br>
            <a:r>
              <a:rPr lang="en-US" sz="2400" dirty="0"/>
              <a:t>4'th Iteration------&gt;A, B, D, H, I, E, C, F, K, G</a:t>
            </a:r>
            <a:br>
              <a:rPr lang="en-US" sz="2400" dirty="0"/>
            </a:br>
            <a:r>
              <a:rPr lang="en-US" sz="2400" dirty="0"/>
              <a:t>In the fourth iteration, the algorithm will find the goal node.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95401"/>
            <a:ext cx="5410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978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69BF94C-C6BA-6977-B783-BCDD0BB79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95079"/>
      </p:ext>
    </p:extLst>
  </p:cSld>
  <p:clrMapOvr>
    <a:masterClrMapping/>
  </p:clrMapOvr>
</p:sld>
</file>

<file path=ppt/theme/theme1.xml><?xml version="1.0" encoding="utf-8"?>
<a:theme xmlns:a="http://schemas.openxmlformats.org/drawingml/2006/main" name="e_1genr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_1genr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_1genr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</Template>
  <TotalTime>24903</TotalTime>
  <Words>2011</Words>
  <Application>Microsoft Office PowerPoint</Application>
  <PresentationFormat>On-screen Show (4:3)</PresentationFormat>
  <Paragraphs>714</Paragraphs>
  <Slides>60</Slides>
  <Notes>29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MS PGothic</vt:lpstr>
      <vt:lpstr>MS PGothic</vt:lpstr>
      <vt:lpstr>SimSun</vt:lpstr>
      <vt:lpstr>Arial</vt:lpstr>
      <vt:lpstr>Monotype Sorts</vt:lpstr>
      <vt:lpstr>Times New Roman</vt:lpstr>
      <vt:lpstr>ヒラギノ角ゴ ProN W3</vt:lpstr>
      <vt:lpstr>e_1genrl</vt:lpstr>
      <vt:lpstr>Artificial Intelligence                                                  </vt:lpstr>
      <vt:lpstr>Task</vt:lpstr>
      <vt:lpstr>Outline</vt:lpstr>
      <vt:lpstr>Properties of Search Algorithms</vt:lpstr>
      <vt:lpstr>Uninformed Search Algorithms</vt:lpstr>
      <vt:lpstr>Breadth-first search (BFS)</vt:lpstr>
      <vt:lpstr>Contd..</vt:lpstr>
      <vt:lpstr>Simple search algorithm</vt:lpstr>
      <vt:lpstr>Contd..</vt:lpstr>
      <vt:lpstr>Contd..</vt:lpstr>
      <vt:lpstr>Contd..</vt:lpstr>
      <vt:lpstr>Contd..</vt:lpstr>
      <vt:lpstr>Contd..</vt:lpstr>
      <vt:lpstr>Contd..</vt:lpstr>
      <vt:lpstr>Contd..</vt:lpstr>
      <vt:lpstr>Contd..</vt:lpstr>
      <vt:lpstr>Contd..</vt:lpstr>
      <vt:lpstr>Contd..</vt:lpstr>
      <vt:lpstr>Contd..</vt:lpstr>
      <vt:lpstr>Task</vt:lpstr>
      <vt:lpstr>PowerPoint Presentation</vt:lpstr>
      <vt:lpstr>Depth-first search (DFS)</vt:lpstr>
      <vt:lpstr>Contd..</vt:lpstr>
      <vt:lpstr>Example</vt:lpstr>
      <vt:lpstr>Example</vt:lpstr>
      <vt:lpstr>Example</vt:lpstr>
      <vt:lpstr>Example</vt:lpstr>
      <vt:lpstr>Example</vt:lpstr>
      <vt:lpstr>Example</vt:lpstr>
      <vt:lpstr>Contd..</vt:lpstr>
      <vt:lpstr>Example</vt:lpstr>
      <vt:lpstr>Example</vt:lpstr>
      <vt:lpstr>Example</vt:lpstr>
      <vt:lpstr>Example</vt:lpstr>
      <vt:lpstr>Example</vt:lpstr>
      <vt:lpstr>Contd..</vt:lpstr>
      <vt:lpstr>Task</vt:lpstr>
      <vt:lpstr>Depth-Limited Search Algorithm</vt:lpstr>
      <vt:lpstr>Depth-Limited Search Algorithm</vt:lpstr>
      <vt:lpstr>Contd..</vt:lpstr>
      <vt:lpstr>PowerPoint Presentation</vt:lpstr>
      <vt:lpstr>Pros and Cons</vt:lpstr>
      <vt:lpstr>Uniform-cost Search </vt:lpstr>
      <vt:lpstr>Uniform-cost Search </vt:lpstr>
      <vt:lpstr>Pros and Cons</vt:lpstr>
      <vt:lpstr>Example</vt:lpstr>
      <vt:lpstr>Example</vt:lpstr>
      <vt:lpstr>Example</vt:lpstr>
      <vt:lpstr>Example</vt:lpstr>
      <vt:lpstr>Example</vt:lpstr>
      <vt:lpstr>Example</vt:lpstr>
      <vt:lpstr>Example</vt:lpstr>
      <vt:lpstr>Task</vt:lpstr>
      <vt:lpstr>Optimal Solution??</vt:lpstr>
      <vt:lpstr>Iterative deepening Depth First Search(IDDFS)</vt:lpstr>
      <vt:lpstr>Iterative deepening Depth First Search(IDDFS)</vt:lpstr>
      <vt:lpstr>Iterative deepening Depth First Search(IDDFS)</vt:lpstr>
      <vt:lpstr>Example</vt:lpstr>
      <vt:lpstr>Contd..</vt:lpstr>
      <vt:lpstr>Task</vt:lpstr>
    </vt:vector>
  </TitlesOfParts>
  <Company>Rensselaer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</dc:title>
  <dc:creator>student</dc:creator>
  <cp:lastModifiedBy>hp</cp:lastModifiedBy>
  <cp:revision>396</cp:revision>
  <dcterms:created xsi:type="dcterms:W3CDTF">2007-01-18T14:32:37Z</dcterms:created>
  <dcterms:modified xsi:type="dcterms:W3CDTF">2025-03-11T05:53:02Z</dcterms:modified>
</cp:coreProperties>
</file>