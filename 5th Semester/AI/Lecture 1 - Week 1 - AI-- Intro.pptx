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1" r:id="rId1"/>
  </p:sldMasterIdLst>
  <p:notesMasterIdLst>
    <p:notesMasterId r:id="rId58"/>
  </p:notesMasterIdLst>
  <p:sldIdLst>
    <p:sldId id="257" r:id="rId2"/>
    <p:sldId id="311" r:id="rId3"/>
    <p:sldId id="390" r:id="rId4"/>
    <p:sldId id="339" r:id="rId5"/>
    <p:sldId id="341" r:id="rId6"/>
    <p:sldId id="397" r:id="rId7"/>
    <p:sldId id="408" r:id="rId8"/>
    <p:sldId id="400" r:id="rId9"/>
    <p:sldId id="398" r:id="rId10"/>
    <p:sldId id="399" r:id="rId11"/>
    <p:sldId id="375" r:id="rId12"/>
    <p:sldId id="388" r:id="rId13"/>
    <p:sldId id="389" r:id="rId14"/>
    <p:sldId id="376" r:id="rId15"/>
    <p:sldId id="350" r:id="rId16"/>
    <p:sldId id="351" r:id="rId17"/>
    <p:sldId id="352" r:id="rId18"/>
    <p:sldId id="353" r:id="rId19"/>
    <p:sldId id="354" r:id="rId20"/>
    <p:sldId id="355" r:id="rId21"/>
    <p:sldId id="385" r:id="rId22"/>
    <p:sldId id="387" r:id="rId23"/>
    <p:sldId id="356" r:id="rId24"/>
    <p:sldId id="386" r:id="rId25"/>
    <p:sldId id="357" r:id="rId26"/>
    <p:sldId id="377" r:id="rId27"/>
    <p:sldId id="358" r:id="rId28"/>
    <p:sldId id="379" r:id="rId29"/>
    <p:sldId id="360" r:id="rId30"/>
    <p:sldId id="361" r:id="rId31"/>
    <p:sldId id="362" r:id="rId32"/>
    <p:sldId id="378" r:id="rId33"/>
    <p:sldId id="407" r:id="rId34"/>
    <p:sldId id="380" r:id="rId35"/>
    <p:sldId id="347" r:id="rId36"/>
    <p:sldId id="348" r:id="rId37"/>
    <p:sldId id="349" r:id="rId38"/>
    <p:sldId id="366" r:id="rId39"/>
    <p:sldId id="367" r:id="rId40"/>
    <p:sldId id="368" r:id="rId41"/>
    <p:sldId id="371" r:id="rId42"/>
    <p:sldId id="392" r:id="rId43"/>
    <p:sldId id="393" r:id="rId44"/>
    <p:sldId id="396" r:id="rId45"/>
    <p:sldId id="383" r:id="rId46"/>
    <p:sldId id="409" r:id="rId47"/>
    <p:sldId id="391" r:id="rId48"/>
    <p:sldId id="384" r:id="rId49"/>
    <p:sldId id="395" r:id="rId50"/>
    <p:sldId id="404" r:id="rId51"/>
    <p:sldId id="405" r:id="rId52"/>
    <p:sldId id="394" r:id="rId53"/>
    <p:sldId id="401" r:id="rId54"/>
    <p:sldId id="403" r:id="rId55"/>
    <p:sldId id="402" r:id="rId56"/>
    <p:sldId id="410" r:id="rId5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41" autoAdjust="0"/>
    <p:restoredTop sz="94510" autoAdjust="0"/>
  </p:normalViewPr>
  <p:slideViewPr>
    <p:cSldViewPr>
      <p:cViewPr varScale="1">
        <p:scale>
          <a:sx n="67" d="100"/>
          <a:sy n="67" d="100"/>
        </p:scale>
        <p:origin x="1332" y="5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68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ＭＳ Ｐゴシック" charset="0"/>
                <a:cs typeface="+mn-cs"/>
              </a:defRPr>
            </a:lvl1pPr>
          </a:lstStyle>
          <a:p>
            <a:pPr>
              <a:defRPr/>
            </a:pPr>
            <a:endParaRPr lang="en-US" altLang="zh-CN"/>
          </a:p>
        </p:txBody>
      </p:sp>
      <p:sp>
        <p:nvSpPr>
          <p:cNvPr id="7168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ＭＳ Ｐゴシック" charset="0"/>
                <a:cs typeface="+mn-cs"/>
              </a:defRPr>
            </a:lvl1pPr>
          </a:lstStyle>
          <a:p>
            <a:pPr>
              <a:defRPr/>
            </a:pPr>
            <a:endParaRPr lang="en-US" altLang="zh-CN"/>
          </a:p>
        </p:txBody>
      </p:sp>
      <p:sp>
        <p:nvSpPr>
          <p:cNvPr id="1638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168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ＭＳ Ｐゴシック" charset="0"/>
                <a:cs typeface="+mn-cs"/>
              </a:defRPr>
            </a:lvl1pPr>
          </a:lstStyle>
          <a:p>
            <a:pPr>
              <a:defRPr/>
            </a:pPr>
            <a:endParaRPr lang="en-US" altLang="zh-CN"/>
          </a:p>
        </p:txBody>
      </p:sp>
      <p:sp>
        <p:nvSpPr>
          <p:cNvPr id="7168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ea typeface="SimSun" panose="02010600030101010101" pitchFamily="2" charset="-122"/>
              </a:defRPr>
            </a:lvl1pPr>
          </a:lstStyle>
          <a:p>
            <a:pPr>
              <a:defRPr/>
            </a:pPr>
            <a:fld id="{33E7A8C9-E367-4B4F-B613-A9E705663DBA}" type="slidenum">
              <a:rPr lang="en-US" altLang="zh-CN"/>
              <a:pPr>
                <a:defRPr/>
              </a:pPr>
              <a:t>‹#›</a:t>
            </a:fld>
            <a:endParaRPr lang="en-US" altLang="zh-CN"/>
          </a:p>
        </p:txBody>
      </p:sp>
    </p:spTree>
    <p:extLst>
      <p:ext uri="{BB962C8B-B14F-4D97-AF65-F5344CB8AC3E}">
        <p14:creationId xmlns:p14="http://schemas.microsoft.com/office/powerpoint/2010/main" val="89422225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S PGothic"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Arial" pitchFamily="34"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S PGothic"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www.mit.edu/" TargetMode="External"/><Relationship Id="rId2" Type="http://schemas.openxmlformats.org/officeDocument/2006/relationships/slide" Target="../slides/slide39.xml"/><Relationship Id="rId1" Type="http://schemas.openxmlformats.org/officeDocument/2006/relationships/notesMaster" Target="../notesMasters/notesMaster1.xml"/><Relationship Id="rId4" Type="http://schemas.openxmlformats.org/officeDocument/2006/relationships/hyperlink" Target="https://www.cmu.edu/" TargetMode="Externa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3E7A8C9-E367-4B4F-B613-A9E705663DBA}" type="slidenum">
              <a:rPr lang="en-US" altLang="zh-CN" smtClean="0"/>
              <a:pPr>
                <a:defRPr/>
              </a:pPr>
              <a:t>1</a:t>
            </a:fld>
            <a:endParaRPr lang="en-US" altLang="zh-CN"/>
          </a:p>
        </p:txBody>
      </p:sp>
    </p:spTree>
    <p:extLst>
      <p:ext uri="{BB962C8B-B14F-4D97-AF65-F5344CB8AC3E}">
        <p14:creationId xmlns:p14="http://schemas.microsoft.com/office/powerpoint/2010/main" val="18584324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29C76C10-AF1D-436A-A31B-E809E48E31F8}" type="slidenum">
              <a:rPr lang="en-US" altLang="en-US" sz="1200" smtClean="0">
                <a:latin typeface="Arial" panose="020B0604020202020204" pitchFamily="34" charset="0"/>
                <a:ea typeface="SimSun" panose="02010600030101010101" pitchFamily="2" charset="-122"/>
              </a:rPr>
              <a:pPr/>
              <a:t>2</a:t>
            </a:fld>
            <a:endParaRPr lang="en-US" altLang="en-US" sz="1200">
              <a:latin typeface="Arial" panose="020B0604020202020204" pitchFamily="34" charset="0"/>
              <a:ea typeface="SimSun" panose="02010600030101010101" pitchFamily="2" charset="-122"/>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extLst>
      <p:ext uri="{BB962C8B-B14F-4D97-AF65-F5344CB8AC3E}">
        <p14:creationId xmlns:p14="http://schemas.microsoft.com/office/powerpoint/2010/main" val="30153788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29C76C10-AF1D-436A-A31B-E809E48E31F8}" type="slidenum">
              <a:rPr lang="en-US" altLang="en-US" sz="1200" smtClean="0">
                <a:latin typeface="Arial" panose="020B0604020202020204" pitchFamily="34" charset="0"/>
                <a:ea typeface="SimSun" panose="02010600030101010101" pitchFamily="2" charset="-122"/>
              </a:rPr>
              <a:pPr/>
              <a:t>3</a:t>
            </a:fld>
            <a:endParaRPr lang="en-US" altLang="en-US" sz="1200">
              <a:latin typeface="Arial" panose="020B0604020202020204" pitchFamily="34" charset="0"/>
              <a:ea typeface="SimSun" panose="02010600030101010101" pitchFamily="2" charset="-122"/>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extLst>
      <p:ext uri="{BB962C8B-B14F-4D97-AF65-F5344CB8AC3E}">
        <p14:creationId xmlns:p14="http://schemas.microsoft.com/office/powerpoint/2010/main" val="18117406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lstStyle/>
          <a:p>
            <a:pPr marL="0" indent="0">
              <a:buFontTx/>
              <a:buNone/>
              <a:defRPr/>
            </a:pPr>
            <a:endParaRPr lang="en-US" dirty="0"/>
          </a:p>
        </p:txBody>
      </p:sp>
      <p:sp>
        <p:nvSpPr>
          <p:cNvPr id="276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E07DE454-6BE4-4C3C-82D6-DD63D321DA1C}" type="slidenum">
              <a:rPr lang="en-US" altLang="zh-CN" sz="1200" smtClean="0">
                <a:latin typeface="Arial" panose="020B0604020202020204" pitchFamily="34" charset="0"/>
                <a:ea typeface="SimSun" panose="02010600030101010101" pitchFamily="2" charset="-122"/>
              </a:rPr>
              <a:pPr/>
              <a:t>15</a:t>
            </a:fld>
            <a:endParaRPr lang="en-US" altLang="zh-CN" sz="1200">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27470267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297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D2B62AB3-3E3C-467B-AEC2-0ACD80349EF2}" type="slidenum">
              <a:rPr lang="en-US" altLang="zh-CN" sz="1200" smtClean="0">
                <a:latin typeface="Arial" panose="020B0604020202020204" pitchFamily="34" charset="0"/>
                <a:ea typeface="SimSun" panose="02010600030101010101" pitchFamily="2" charset="-122"/>
              </a:rPr>
              <a:pPr/>
              <a:t>16</a:t>
            </a:fld>
            <a:endParaRPr lang="en-US" altLang="zh-CN" sz="1200">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539160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317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C454E0A4-D953-4722-8A08-FD00FA25904D}" type="slidenum">
              <a:rPr lang="en-US" altLang="zh-CN" sz="1200" smtClean="0">
                <a:latin typeface="Arial" panose="020B0604020202020204" pitchFamily="34" charset="0"/>
                <a:ea typeface="SimSun" panose="02010600030101010101" pitchFamily="2" charset="-122"/>
              </a:rPr>
              <a:pPr/>
              <a:t>17</a:t>
            </a:fld>
            <a:endParaRPr lang="en-US" altLang="zh-CN" sz="1200">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26485410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337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A4C7929A-F721-45E2-A4B0-58580D5693F1}" type="slidenum">
              <a:rPr lang="en-US" altLang="zh-CN" sz="1200" smtClean="0">
                <a:latin typeface="Arial" panose="020B0604020202020204" pitchFamily="34" charset="0"/>
                <a:ea typeface="SimSun" panose="02010600030101010101" pitchFamily="2" charset="-122"/>
              </a:rPr>
              <a:pPr/>
              <a:t>18</a:t>
            </a:fld>
            <a:endParaRPr lang="en-US" altLang="zh-CN" sz="1200">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13445980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Fuzzy systems and logics</a:t>
            </a:r>
          </a:p>
        </p:txBody>
      </p:sp>
      <p:sp>
        <p:nvSpPr>
          <p:cNvPr id="358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FC2D5FE4-96D8-466A-A19D-44267CF090B1}" type="slidenum">
              <a:rPr lang="en-US" altLang="zh-CN" sz="1200" smtClean="0">
                <a:latin typeface="Arial" panose="020B0604020202020204" pitchFamily="34" charset="0"/>
                <a:ea typeface="SimSun" panose="02010600030101010101" pitchFamily="2" charset="-122"/>
              </a:rPr>
              <a:pPr/>
              <a:t>19</a:t>
            </a:fld>
            <a:endParaRPr lang="en-US" altLang="zh-CN" sz="1200">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35222008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378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90B1872C-A03F-499F-ABD2-0CCED5BB3D7D}" type="slidenum">
              <a:rPr lang="en-US" altLang="zh-CN" sz="1200" smtClean="0">
                <a:latin typeface="Arial" panose="020B0604020202020204" pitchFamily="34" charset="0"/>
                <a:ea typeface="SimSun" panose="02010600030101010101" pitchFamily="2" charset="-122"/>
              </a:rPr>
              <a:pPr/>
              <a:t>20</a:t>
            </a:fld>
            <a:endParaRPr lang="en-US" altLang="zh-CN" sz="1200">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8190705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378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90B1872C-A03F-499F-ABD2-0CCED5BB3D7D}" type="slidenum">
              <a:rPr lang="en-US" altLang="zh-CN" sz="1200" smtClean="0">
                <a:latin typeface="Arial" panose="020B0604020202020204" pitchFamily="34" charset="0"/>
                <a:ea typeface="SimSun" panose="02010600030101010101" pitchFamily="2" charset="-122"/>
              </a:rPr>
              <a:pPr/>
              <a:t>21</a:t>
            </a:fld>
            <a:endParaRPr lang="en-US" altLang="zh-CN" sz="1200">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30502979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378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90B1872C-A03F-499F-ABD2-0CCED5BB3D7D}" type="slidenum">
              <a:rPr lang="en-US" altLang="zh-CN" sz="1200" smtClean="0">
                <a:latin typeface="Arial" panose="020B0604020202020204" pitchFamily="34" charset="0"/>
                <a:ea typeface="SimSun" panose="02010600030101010101" pitchFamily="2" charset="-122"/>
              </a:rPr>
              <a:pPr/>
              <a:t>22</a:t>
            </a:fld>
            <a:endParaRPr lang="en-US" altLang="zh-CN" sz="1200">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9457177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6BF87CD9-2E8C-4584-8C05-4A0BA80DE28D}" type="slidenum">
              <a:rPr lang="en-US" altLang="zh-CN" sz="1200" smtClean="0">
                <a:latin typeface="Arial" panose="020B0604020202020204" pitchFamily="34" charset="0"/>
                <a:ea typeface="SimSun" panose="02010600030101010101" pitchFamily="2" charset="-122"/>
              </a:rPr>
              <a:pPr/>
              <a:t>27</a:t>
            </a:fld>
            <a:endParaRPr lang="en-US" altLang="zh-CN" sz="1200">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11180434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491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D5D841B7-E8A0-4603-9E77-5662C62B119D}" type="slidenum">
              <a:rPr lang="en-US" altLang="zh-CN" sz="1200" smtClean="0">
                <a:latin typeface="Arial" panose="020B0604020202020204" pitchFamily="34" charset="0"/>
                <a:ea typeface="SimSun" panose="02010600030101010101" pitchFamily="2" charset="-122"/>
              </a:rPr>
              <a:pPr/>
              <a:t>29</a:t>
            </a:fld>
            <a:endParaRPr lang="en-US" altLang="zh-CN" sz="1200">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6554242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512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A9F75195-4D70-4E00-9306-601A01FC9DC1}" type="slidenum">
              <a:rPr lang="en-US" altLang="zh-CN" sz="1200" smtClean="0">
                <a:latin typeface="Arial" panose="020B0604020202020204" pitchFamily="34" charset="0"/>
                <a:ea typeface="SimSun" panose="02010600030101010101" pitchFamily="2" charset="-122"/>
              </a:rPr>
              <a:pPr/>
              <a:t>30</a:t>
            </a:fld>
            <a:endParaRPr lang="en-US" altLang="zh-CN" sz="1200">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42299641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532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918737C0-9EE2-47D9-B085-3569BF6B66AE}" type="slidenum">
              <a:rPr lang="en-US" altLang="zh-CN" sz="1200" smtClean="0">
                <a:latin typeface="Arial" panose="020B0604020202020204" pitchFamily="34" charset="0"/>
                <a:ea typeface="SimSun" panose="02010600030101010101" pitchFamily="2" charset="-122"/>
              </a:rPr>
              <a:pPr/>
              <a:t>31</a:t>
            </a:fld>
            <a:endParaRPr lang="en-US" altLang="zh-CN" sz="1200">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19997190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53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4FA271F9-4DE5-4DF3-A866-AC6F1E22C6E7}" type="slidenum">
              <a:rPr lang="en-US" altLang="zh-CN" sz="1200" smtClean="0">
                <a:latin typeface="Arial" panose="020B0604020202020204" pitchFamily="34" charset="0"/>
                <a:ea typeface="SimSun" panose="02010600030101010101" pitchFamily="2" charset="-122"/>
              </a:rPr>
              <a:pPr/>
              <a:t>35</a:t>
            </a:fld>
            <a:endParaRPr lang="en-US" altLang="zh-CN" sz="1200">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23664775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Arial" pitchFamily="34" charset="0"/>
                <a:ea typeface="MS PGothic" panose="020B0600070205080204" pitchFamily="34" charset="-128"/>
                <a:cs typeface="ＭＳ Ｐゴシック" charset="0"/>
              </a:rPr>
              <a:t>These factors and behaviors are not exhaustive or mutually exclusive. They may vary depending on the context, culture, domain, or task. They may also interact with each other in complex ways. For example, creativity may depend on both divergent thinking (generating many possible solutions) and convergent thinking (selecting the best solution). Moreover, intelligence is not a fixed or static trait that one is born with. It can be influenced by various factors such as genes, environment, education, motivation, emotion, health, and culture. Intelligence can also be improved or enhanced by various interventions such as training, feedback, practice, or stimulation.</a:t>
            </a:r>
            <a:endParaRPr lang="en-US" dirty="0"/>
          </a:p>
        </p:txBody>
      </p:sp>
      <p:sp>
        <p:nvSpPr>
          <p:cNvPr id="4" name="Slide Number Placeholder 3"/>
          <p:cNvSpPr>
            <a:spLocks noGrp="1"/>
          </p:cNvSpPr>
          <p:nvPr>
            <p:ph type="sldNum" sz="quarter" idx="5"/>
          </p:nvPr>
        </p:nvSpPr>
        <p:spPr/>
        <p:txBody>
          <a:bodyPr/>
          <a:lstStyle/>
          <a:p>
            <a:pPr>
              <a:defRPr/>
            </a:pPr>
            <a:fld id="{33E7A8C9-E367-4B4F-B613-A9E705663DBA}" type="slidenum">
              <a:rPr lang="en-US" altLang="zh-CN" smtClean="0"/>
              <a:pPr>
                <a:defRPr/>
              </a:pPr>
              <a:t>37</a:t>
            </a:fld>
            <a:endParaRPr lang="en-US" altLang="zh-CN"/>
          </a:p>
        </p:txBody>
      </p:sp>
    </p:spTree>
    <p:extLst>
      <p:ext uri="{BB962C8B-B14F-4D97-AF65-F5344CB8AC3E}">
        <p14:creationId xmlns:p14="http://schemas.microsoft.com/office/powerpoint/2010/main" val="42281702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Conjecture: </a:t>
            </a:r>
            <a:r>
              <a:rPr lang="en-US" altLang="en-US"/>
              <a:t>Notion.. </a:t>
            </a:r>
            <a:r>
              <a:rPr lang="ur-PK" altLang="en-US"/>
              <a:t>گمان</a:t>
            </a:r>
            <a:r>
              <a:rPr lang="en-US" altLang="en-US"/>
              <a:t>, </a:t>
            </a:r>
            <a:r>
              <a:rPr lang="ar-AE" altLang="en-US"/>
              <a:t>قیاس آرائی</a:t>
            </a:r>
            <a:r>
              <a:rPr lang="en-US" altLang="en-US"/>
              <a:t>    Inference </a:t>
            </a:r>
          </a:p>
        </p:txBody>
      </p:sp>
      <p:sp>
        <p:nvSpPr>
          <p:cNvPr id="593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64076230-BA19-495E-82AC-38EB06E20659}" type="slidenum">
              <a:rPr lang="en-US" altLang="zh-CN" sz="1200" smtClean="0">
                <a:latin typeface="Arial" panose="020B0604020202020204" pitchFamily="34" charset="0"/>
                <a:ea typeface="SimSun" panose="02010600030101010101" pitchFamily="2" charset="-122"/>
              </a:rPr>
              <a:pPr/>
              <a:t>38</a:t>
            </a:fld>
            <a:endParaRPr lang="en-US" altLang="zh-CN" sz="1200">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42087221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MIT: </a:t>
            </a:r>
            <a:r>
              <a:rPr lang="en-US" altLang="en-US" u="sng">
                <a:hlinkClick r:id="rId3"/>
              </a:rPr>
              <a:t>Massachusetts Institute of Technology</a:t>
            </a:r>
          </a:p>
          <a:p>
            <a:r>
              <a:rPr lang="en-US" altLang="en-US"/>
              <a:t>CMU: </a:t>
            </a:r>
            <a:r>
              <a:rPr lang="en-US" altLang="en-US" u="sng">
                <a:hlinkClick r:id="rId4"/>
              </a:rPr>
              <a:t>Carnegie Mellon University</a:t>
            </a:r>
          </a:p>
          <a:p>
            <a:r>
              <a:rPr lang="en-US" altLang="en-US">
                <a:hlinkClick r:id="rId4"/>
              </a:rPr>
              <a:t>IBM: </a:t>
            </a:r>
            <a:r>
              <a:rPr lang="en-US" altLang="en-US"/>
              <a:t>International Business Machines </a:t>
            </a:r>
            <a:endParaRPr lang="en-US" altLang="en-US">
              <a:hlinkClick r:id="rId4"/>
            </a:endParaRPr>
          </a:p>
          <a:p>
            <a:endParaRPr lang="en-US" altLang="en-US"/>
          </a:p>
        </p:txBody>
      </p:sp>
      <p:sp>
        <p:nvSpPr>
          <p:cNvPr id="614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F72BCC4E-6812-4E78-BE87-D22EEC99207D}" type="slidenum">
              <a:rPr lang="en-US" altLang="zh-CN" sz="1200" smtClean="0">
                <a:latin typeface="Arial" panose="020B0604020202020204" pitchFamily="34" charset="0"/>
                <a:ea typeface="SimSun" panose="02010600030101010101" pitchFamily="2" charset="-122"/>
              </a:rPr>
              <a:pPr/>
              <a:t>39</a:t>
            </a:fld>
            <a:endParaRPr lang="en-US" altLang="zh-CN" sz="1200">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10146257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In the early years AI met drastic success. The researchers were highly motivated to try out AI techniques to solve problems that were not yet been solved. Many of them met great successes  (</a:t>
            </a:r>
            <a:r>
              <a:rPr lang="en-US" altLang="en-US" b="1" dirty="0"/>
              <a:t>GPS,1959</a:t>
            </a:r>
            <a:r>
              <a:rPr lang="en-US" altLang="en-US" dirty="0"/>
              <a:t>)</a:t>
            </a:r>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3ED891EC-0901-4EC9-9690-6FCF4234F835}" type="slidenum">
              <a:rPr lang="en-US" altLang="zh-CN" sz="1200" smtClean="0">
                <a:latin typeface="Arial" panose="020B0604020202020204" pitchFamily="34" charset="0"/>
                <a:ea typeface="SimSun" panose="02010600030101010101" pitchFamily="2" charset="-122"/>
              </a:rPr>
              <a:pPr/>
              <a:t>40</a:t>
            </a:fld>
            <a:endParaRPr lang="en-US" altLang="zh-CN" sz="1200">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38419185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ln/>
        </p:spPr>
      </p:sp>
      <p:sp>
        <p:nvSpPr>
          <p:cNvPr id="696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i="0" kern="1200" dirty="0">
                <a:solidFill>
                  <a:schemeClr val="tx1"/>
                </a:solidFill>
                <a:effectLst/>
                <a:latin typeface="Arial" pitchFamily="34" charset="0"/>
                <a:ea typeface="MS PGothic" panose="020B0600070205080204" pitchFamily="34" charset="-128"/>
                <a:cs typeface="ＭＳ Ｐゴシック" charset="0"/>
              </a:rPr>
              <a:t>the perceptron (or McCulloch-Pitts neuron) is</a:t>
            </a:r>
            <a:r>
              <a:rPr lang="en-US" sz="1200" b="1" i="0" kern="1200" dirty="0">
                <a:solidFill>
                  <a:schemeClr val="tx1"/>
                </a:solidFill>
                <a:effectLst/>
                <a:latin typeface="Arial" pitchFamily="34" charset="0"/>
                <a:ea typeface="MS PGothic" panose="020B0600070205080204" pitchFamily="34" charset="-128"/>
                <a:cs typeface="ＭＳ Ｐゴシック" charset="0"/>
              </a:rPr>
              <a:t> an algorithm for supervised learning of binary classifiers.</a:t>
            </a:r>
            <a:r>
              <a:rPr lang="en-US" sz="1200" b="0" i="0" kern="1200" dirty="0">
                <a:solidFill>
                  <a:schemeClr val="tx1"/>
                </a:solidFill>
                <a:effectLst/>
                <a:latin typeface="Arial" pitchFamily="34" charset="0"/>
                <a:ea typeface="MS PGothic" panose="020B0600070205080204" pitchFamily="34" charset="-128"/>
                <a:cs typeface="ＭＳ Ｐゴシック" charset="0"/>
              </a:rPr>
              <a:t> </a:t>
            </a:r>
            <a:endParaRPr lang="en-US" altLang="en-US" dirty="0"/>
          </a:p>
        </p:txBody>
      </p:sp>
      <p:sp>
        <p:nvSpPr>
          <p:cNvPr id="696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A22B3586-1B8F-4517-8332-ED63BCFA9E8F}" type="slidenum">
              <a:rPr lang="en-US" altLang="zh-CN" sz="1200" smtClean="0">
                <a:latin typeface="Arial" panose="020B0604020202020204" pitchFamily="34" charset="0"/>
                <a:ea typeface="SimSun" panose="02010600030101010101" pitchFamily="2" charset="-122"/>
              </a:rPr>
              <a:pPr/>
              <a:t>41</a:t>
            </a:fld>
            <a:endParaRPr lang="en-US" altLang="zh-CN" sz="1200">
              <a:latin typeface="Arial" panose="020B0604020202020204" pitchFamily="34" charset="0"/>
              <a:ea typeface="SimSun" panose="02010600030101010101" pitchFamily="2" charset="-122"/>
            </a:endParaRPr>
          </a:p>
        </p:txBody>
      </p:sp>
    </p:spTree>
    <p:extLst>
      <p:ext uri="{BB962C8B-B14F-4D97-AF65-F5344CB8AC3E}">
        <p14:creationId xmlns:p14="http://schemas.microsoft.com/office/powerpoint/2010/main" val="40503184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82879" y="182879"/>
            <a:ext cx="8778240" cy="6492240"/>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32485" y="882376"/>
            <a:ext cx="7475220" cy="2926080"/>
          </a:xfrm>
        </p:spPr>
        <p:txBody>
          <a:bodyPr anchor="b">
            <a:normAutofit/>
          </a:bodyPr>
          <a:lstStyle>
            <a:lvl1pPr algn="ctr">
              <a:lnSpc>
                <a:spcPct val="85000"/>
              </a:lnSpc>
              <a:defRPr sz="60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282148" y="3869635"/>
            <a:ext cx="6575895" cy="1388165"/>
          </a:xfrm>
        </p:spPr>
        <p:txBody>
          <a:bodyPr>
            <a:normAutofit/>
          </a:bodyPr>
          <a:lstStyle>
            <a:lvl1pPr marL="0" indent="0" algn="ctr">
              <a:spcBef>
                <a:spcPts val="1000"/>
              </a:spcBef>
              <a:buNone/>
              <a:defRPr sz="1800">
                <a:solidFill>
                  <a:srgbClr val="FFFFFF"/>
                </a:solidFill>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pPr>
              <a:defRPr/>
            </a:pPr>
            <a:fld id="{435FE59B-F0AA-4416-B6F8-467EF8ADB25B}" type="datetimeFigureOut">
              <a:rPr lang="en-US" altLang="en-US" smtClean="0"/>
              <a:pPr>
                <a:defRPr/>
              </a:pPr>
              <a:t>2/20/2025</a:t>
            </a:fld>
            <a:endParaRPr lang="en-US" altLang="en-US"/>
          </a:p>
        </p:txBody>
      </p:sp>
      <p:sp>
        <p:nvSpPr>
          <p:cNvPr id="5" name="Footer Placeholder 4"/>
          <p:cNvSpPr>
            <a:spLocks noGrp="1"/>
          </p:cNvSpPr>
          <p:nvPr>
            <p:ph type="ftr" sz="quarter" idx="11"/>
          </p:nvPr>
        </p:nvSpPr>
        <p:spPr/>
        <p:txBody>
          <a:bodyPr/>
          <a:lstStyle>
            <a:lvl1pPr>
              <a:defRPr>
                <a:solidFill>
                  <a:srgbClr val="FFFFFF"/>
                </a:solidFill>
              </a:defRPr>
            </a:lvl1pPr>
          </a:lstStyle>
          <a:p>
            <a:pPr>
              <a:defRPr/>
            </a:pPr>
            <a:r>
              <a:rPr lang="en-US"/>
              <a:t>UET-Taxila</a:t>
            </a:r>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4FAB73BC-B049-4115-A692-8D63A059BFB8}" type="slidenum">
              <a:rPr lang="en-US" smtClean="0"/>
              <a:t>‹#›</a:t>
            </a:fld>
            <a:endParaRPr lang="en-US" dirty="0"/>
          </a:p>
        </p:txBody>
      </p:sp>
      <p:cxnSp>
        <p:nvCxnSpPr>
          <p:cNvPr id="8" name="Straight Connector 7"/>
          <p:cNvCxnSpPr/>
          <p:nvPr/>
        </p:nvCxnSpPr>
        <p:spPr>
          <a:xfrm>
            <a:off x="1483995" y="3733800"/>
            <a:ext cx="61722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2025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spcBef>
                <a:spcPts val="1000"/>
              </a:spcBef>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B037DCF2-CD7A-47DE-80C8-F8C661C24773}" type="slidenum">
              <a:rPr lang="en-US" altLang="en-US" smtClean="0"/>
              <a:pPr>
                <a:defRPr/>
              </a:pPr>
              <a:t>‹#›</a:t>
            </a:fld>
            <a:endParaRPr lang="en-US" altLang="en-US"/>
          </a:p>
        </p:txBody>
      </p:sp>
    </p:spTree>
    <p:extLst>
      <p:ext uri="{BB962C8B-B14F-4D97-AF65-F5344CB8AC3E}">
        <p14:creationId xmlns:p14="http://schemas.microsoft.com/office/powerpoint/2010/main" val="19278023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29818" y="1173575"/>
            <a:ext cx="7475220" cy="2926080"/>
          </a:xfrm>
        </p:spPr>
        <p:txBody>
          <a:bodyPr anchor="b">
            <a:noAutofit/>
          </a:bodyPr>
          <a:lstStyle>
            <a:lvl1pPr algn="ctr">
              <a:lnSpc>
                <a:spcPct val="85000"/>
              </a:lnSpc>
              <a:defRPr sz="60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282446" y="4154520"/>
            <a:ext cx="6576822" cy="1363806"/>
          </a:xfrm>
        </p:spPr>
        <p:txBody>
          <a:bodyPr anchor="t">
            <a:normAutofit/>
          </a:bodyPr>
          <a:lstStyle>
            <a:lvl1pPr marL="0" indent="0" algn="ctr">
              <a:buNone/>
              <a:defRPr sz="1800">
                <a:solidFill>
                  <a:schemeClr val="accent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fld id="{435FE59B-F0AA-4416-B6F8-467EF8ADB25B}" type="datetimeFigureOut">
              <a:rPr lang="en-US" altLang="en-US" smtClean="0"/>
              <a:pPr>
                <a:defRPr/>
              </a:pPr>
              <a:t>2/20/2025</a:t>
            </a:fld>
            <a:endParaRPr lang="en-US" altLang="en-US"/>
          </a:p>
        </p:txBody>
      </p:sp>
      <p:sp>
        <p:nvSpPr>
          <p:cNvPr id="5" name="Footer Placeholder 4"/>
          <p:cNvSpPr>
            <a:spLocks noGrp="1"/>
          </p:cNvSpPr>
          <p:nvPr>
            <p:ph type="ftr" sz="quarter" idx="11"/>
          </p:nvPr>
        </p:nvSpPr>
        <p:spPr/>
        <p:txBody>
          <a:bodyPr/>
          <a:lstStyle/>
          <a:p>
            <a:pPr>
              <a:defRPr/>
            </a:pPr>
            <a:r>
              <a:rPr lang="en-US"/>
              <a:t>UET-Taxila</a:t>
            </a:r>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7" name="Straight Connector 6"/>
          <p:cNvCxnSpPr/>
          <p:nvPr/>
        </p:nvCxnSpPr>
        <p:spPr>
          <a:xfrm>
            <a:off x="1485900" y="4020408"/>
            <a:ext cx="61722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9078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57250" y="2057399"/>
            <a:ext cx="3566160" cy="402336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00709" y="2057400"/>
            <a:ext cx="3566160" cy="402336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435FE59B-F0AA-4416-B6F8-467EF8ADB25B}" type="datetimeFigureOut">
              <a:rPr lang="en-US" altLang="en-US" smtClean="0"/>
              <a:pPr>
                <a:defRPr/>
              </a:pPr>
              <a:t>2/20/2025</a:t>
            </a:fld>
            <a:endParaRPr lang="en-US" altLang="en-US"/>
          </a:p>
        </p:txBody>
      </p:sp>
      <p:sp>
        <p:nvSpPr>
          <p:cNvPr id="6" name="Footer Placeholder 5"/>
          <p:cNvSpPr>
            <a:spLocks noGrp="1"/>
          </p:cNvSpPr>
          <p:nvPr>
            <p:ph type="ftr" sz="quarter" idx="11"/>
          </p:nvPr>
        </p:nvSpPr>
        <p:spPr/>
        <p:txBody>
          <a:bodyPr/>
          <a:lstStyle/>
          <a:p>
            <a:pPr>
              <a:defRPr/>
            </a:pPr>
            <a:r>
              <a:rPr lang="en-US"/>
              <a:t>UET-Taxila</a:t>
            </a:r>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2396683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857250" y="2001511"/>
            <a:ext cx="3566160" cy="77724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857250" y="2721483"/>
            <a:ext cx="3566160" cy="338328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01880" y="1999032"/>
            <a:ext cx="3566160" cy="77724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701880" y="2719322"/>
            <a:ext cx="3566160" cy="338328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435FE59B-F0AA-4416-B6F8-467EF8ADB25B}" type="datetimeFigureOut">
              <a:rPr lang="en-US" altLang="en-US" smtClean="0"/>
              <a:pPr>
                <a:defRPr/>
              </a:pPr>
              <a:t>2/20/2025</a:t>
            </a:fld>
            <a:endParaRPr lang="en-US" altLang="en-US"/>
          </a:p>
        </p:txBody>
      </p:sp>
      <p:sp>
        <p:nvSpPr>
          <p:cNvPr id="8" name="Footer Placeholder 7"/>
          <p:cNvSpPr>
            <a:spLocks noGrp="1"/>
          </p:cNvSpPr>
          <p:nvPr>
            <p:ph type="ftr" sz="quarter" idx="11"/>
          </p:nvPr>
        </p:nvSpPr>
        <p:spPr/>
        <p:txBody>
          <a:bodyPr/>
          <a:lstStyle/>
          <a:p>
            <a:pPr>
              <a:defRPr/>
            </a:pPr>
            <a:r>
              <a:rPr lang="en-US"/>
              <a:t>UET-Taxila</a:t>
            </a:r>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9673989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435FE59B-F0AA-4416-B6F8-467EF8ADB25B}" type="datetimeFigureOut">
              <a:rPr lang="en-US" altLang="en-US" smtClean="0"/>
              <a:pPr>
                <a:defRPr/>
              </a:pPr>
              <a:t>2/20/2025</a:t>
            </a:fld>
            <a:endParaRPr lang="en-US" altLang="en-US"/>
          </a:p>
        </p:txBody>
      </p:sp>
      <p:sp>
        <p:nvSpPr>
          <p:cNvPr id="4" name="Footer Placeholder 3"/>
          <p:cNvSpPr>
            <a:spLocks noGrp="1"/>
          </p:cNvSpPr>
          <p:nvPr>
            <p:ph type="ftr" sz="quarter" idx="11"/>
          </p:nvPr>
        </p:nvSpPr>
        <p:spPr/>
        <p:txBody>
          <a:bodyPr/>
          <a:lstStyle/>
          <a:p>
            <a:pPr>
              <a:defRPr/>
            </a:pPr>
            <a:r>
              <a:rPr lang="en-US"/>
              <a:t>UET-Taxila</a:t>
            </a:r>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2314896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435FE59B-F0AA-4416-B6F8-467EF8ADB25B}" type="datetimeFigureOut">
              <a:rPr lang="en-US" altLang="en-US" smtClean="0"/>
              <a:pPr>
                <a:defRPr/>
              </a:pPr>
              <a:t>2/20/2025</a:t>
            </a:fld>
            <a:endParaRPr lang="en-US" altLang="en-US"/>
          </a:p>
        </p:txBody>
      </p:sp>
      <p:sp>
        <p:nvSpPr>
          <p:cNvPr id="3" name="Footer Placeholder 2"/>
          <p:cNvSpPr>
            <a:spLocks noGrp="1"/>
          </p:cNvSpPr>
          <p:nvPr>
            <p:ph type="ftr" sz="quarter" idx="11"/>
          </p:nvPr>
        </p:nvSpPr>
        <p:spPr/>
        <p:txBody>
          <a:bodyPr/>
          <a:lstStyle/>
          <a:p>
            <a:pPr>
              <a:defRPr/>
            </a:pPr>
            <a:r>
              <a:rPr lang="en-US"/>
              <a:t>UET-Taxila</a:t>
            </a:r>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2675353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7250" y="1097280"/>
            <a:ext cx="2834640" cy="1737360"/>
          </a:xfrm>
        </p:spPr>
        <p:txBody>
          <a:bodyPr anchor="b">
            <a:noAutofit/>
          </a:bodyPr>
          <a:lstStyle>
            <a:lvl1pPr>
              <a:lnSpc>
                <a:spcPct val="90000"/>
              </a:lnSpc>
              <a:defRPr sz="3000" b="0"/>
            </a:lvl1pPr>
          </a:lstStyle>
          <a:p>
            <a:r>
              <a:rPr lang="en-US"/>
              <a:t>Click to edit Master title style</a:t>
            </a:r>
            <a:endParaRPr lang="en-US" dirty="0"/>
          </a:p>
        </p:txBody>
      </p:sp>
      <p:sp>
        <p:nvSpPr>
          <p:cNvPr id="3" name="Content Placeholder 2"/>
          <p:cNvSpPr>
            <a:spLocks noGrp="1"/>
          </p:cNvSpPr>
          <p:nvPr>
            <p:ph idx="1"/>
          </p:nvPr>
        </p:nvSpPr>
        <p:spPr>
          <a:xfrm>
            <a:off x="4129314" y="1097280"/>
            <a:ext cx="4149638" cy="466344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7250" y="2834640"/>
            <a:ext cx="2834640" cy="2926080"/>
          </a:xfrm>
        </p:spPr>
        <p:txBody>
          <a:bodyPr>
            <a:normAutofit/>
          </a:bodyPr>
          <a:lstStyle>
            <a:lvl1pPr marL="0" indent="0">
              <a:lnSpc>
                <a:spcPct val="100000"/>
              </a:lnSpc>
              <a:spcBef>
                <a:spcPts val="80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p>
            <a:pPr>
              <a:defRPr/>
            </a:pPr>
            <a:fld id="{435FE59B-F0AA-4416-B6F8-467EF8ADB25B}" type="datetimeFigureOut">
              <a:rPr lang="en-US" altLang="en-US" smtClean="0"/>
              <a:pPr>
                <a:defRPr/>
              </a:pPr>
              <a:t>2/20/2025</a:t>
            </a:fld>
            <a:endParaRPr lang="en-US" altLang="en-US"/>
          </a:p>
        </p:txBody>
      </p:sp>
      <p:sp>
        <p:nvSpPr>
          <p:cNvPr id="6" name="Footer Placeholder 5"/>
          <p:cNvSpPr>
            <a:spLocks noGrp="1"/>
          </p:cNvSpPr>
          <p:nvPr>
            <p:ph type="ftr" sz="quarter" idx="11"/>
          </p:nvPr>
        </p:nvSpPr>
        <p:spPr/>
        <p:txBody>
          <a:bodyPr/>
          <a:lstStyle/>
          <a:p>
            <a:pPr>
              <a:defRPr/>
            </a:pPr>
            <a:r>
              <a:rPr lang="en-US"/>
              <a:t>UET-Taxila</a:t>
            </a:r>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7853937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7250" y="1097280"/>
            <a:ext cx="2834640" cy="1737360"/>
          </a:xfrm>
        </p:spPr>
        <p:txBody>
          <a:bodyPr anchor="b">
            <a:noAutofit/>
          </a:bodyPr>
          <a:lstStyle>
            <a:lvl1pPr>
              <a:lnSpc>
                <a:spcPct val="90000"/>
              </a:lnSpc>
              <a:defRPr sz="3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019107" y="1069847"/>
            <a:ext cx="4257703" cy="4645153"/>
          </a:xfrm>
        </p:spPr>
        <p:txBody>
          <a:bodyPr lIns="274320" tIns="182880" anchor="t">
            <a:normAutofit/>
          </a:bodyPr>
          <a:lstStyle>
            <a:lvl1pPr marL="0" indent="0">
              <a:buNone/>
              <a:defRPr sz="21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57250" y="2834640"/>
            <a:ext cx="2834640" cy="2880360"/>
          </a:xfrm>
        </p:spPr>
        <p:txBody>
          <a:bodyPr>
            <a:normAutofit/>
          </a:bodyPr>
          <a:lstStyle>
            <a:lvl1pPr marL="0" indent="0">
              <a:lnSpc>
                <a:spcPct val="100000"/>
              </a:lnSpc>
              <a:spcBef>
                <a:spcPts val="80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p>
            <a:pPr>
              <a:defRPr/>
            </a:pPr>
            <a:fld id="{435FE59B-F0AA-4416-B6F8-467EF8ADB25B}" type="datetimeFigureOut">
              <a:rPr lang="en-US" altLang="en-US" smtClean="0"/>
              <a:pPr>
                <a:defRPr/>
              </a:pPr>
              <a:t>2/20/2025</a:t>
            </a:fld>
            <a:endParaRPr lang="en-US" altLang="en-US"/>
          </a:p>
        </p:txBody>
      </p:sp>
      <p:sp>
        <p:nvSpPr>
          <p:cNvPr id="6" name="Footer Placeholder 5"/>
          <p:cNvSpPr>
            <a:spLocks noGrp="1"/>
          </p:cNvSpPr>
          <p:nvPr>
            <p:ph type="ftr" sz="quarter" idx="11"/>
          </p:nvPr>
        </p:nvSpPr>
        <p:spPr/>
        <p:txBody>
          <a:bodyPr/>
          <a:lstStyle/>
          <a:p>
            <a:pPr>
              <a:defRPr/>
            </a:pPr>
            <a:r>
              <a:rPr lang="en-US"/>
              <a:t>UET-Taxila</a:t>
            </a:r>
          </a:p>
        </p:txBody>
      </p:sp>
      <p:sp>
        <p:nvSpPr>
          <p:cNvPr id="7" name="Slide Number Placeholder 6"/>
          <p:cNvSpPr>
            <a:spLocks noGrp="1"/>
          </p:cNvSpPr>
          <p:nvPr>
            <p:ph type="sldNum" sz="quarter" idx="12"/>
          </p:nvPr>
        </p:nvSpPr>
        <p:spPr/>
        <p:txBody>
          <a:bodyPr/>
          <a:lstStyle/>
          <a:p>
            <a:fld id="{EB229B06-CF2A-459A-8CBC-F18C1D67D2BB}" type="slidenum">
              <a:rPr lang="en-US" smtClean="0"/>
              <a:t>‹#›</a:t>
            </a:fld>
            <a:endParaRPr lang="en-US" dirty="0"/>
          </a:p>
        </p:txBody>
      </p:sp>
    </p:spTree>
    <p:extLst>
      <p:ext uri="{BB962C8B-B14F-4D97-AF65-F5344CB8AC3E}">
        <p14:creationId xmlns:p14="http://schemas.microsoft.com/office/powerpoint/2010/main" val="16174509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435FE59B-F0AA-4416-B6F8-467EF8ADB25B}" type="datetimeFigureOut">
              <a:rPr lang="en-US" altLang="en-US" smtClean="0"/>
              <a:pPr>
                <a:defRPr/>
              </a:pPr>
              <a:t>2/20/2025</a:t>
            </a:fld>
            <a:endParaRPr lang="en-US" altLang="en-US"/>
          </a:p>
        </p:txBody>
      </p:sp>
      <p:sp>
        <p:nvSpPr>
          <p:cNvPr id="5" name="Footer Placeholder 4"/>
          <p:cNvSpPr>
            <a:spLocks noGrp="1"/>
          </p:cNvSpPr>
          <p:nvPr>
            <p:ph type="ftr" sz="quarter" idx="11"/>
          </p:nvPr>
        </p:nvSpPr>
        <p:spPr/>
        <p:txBody>
          <a:bodyPr/>
          <a:lstStyle/>
          <a:p>
            <a:pPr>
              <a:defRPr/>
            </a:pPr>
            <a:r>
              <a:rPr lang="en-US"/>
              <a:t>UET-Taxila</a:t>
            </a:r>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9037424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762000"/>
            <a:ext cx="1743075"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57250" y="762000"/>
            <a:ext cx="5572125"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435FE59B-F0AA-4416-B6F8-467EF8ADB25B}" type="datetimeFigureOut">
              <a:rPr lang="en-US" altLang="en-US" smtClean="0"/>
              <a:pPr>
                <a:defRPr/>
              </a:pPr>
              <a:t>2/20/2025</a:t>
            </a:fld>
            <a:endParaRPr lang="en-US" altLang="en-US"/>
          </a:p>
        </p:txBody>
      </p:sp>
      <p:sp>
        <p:nvSpPr>
          <p:cNvPr id="5" name="Footer Placeholder 4"/>
          <p:cNvSpPr>
            <a:spLocks noGrp="1"/>
          </p:cNvSpPr>
          <p:nvPr>
            <p:ph type="ftr" sz="quarter" idx="11"/>
          </p:nvPr>
        </p:nvSpPr>
        <p:spPr/>
        <p:txBody>
          <a:bodyPr/>
          <a:lstStyle/>
          <a:p>
            <a:pPr>
              <a:defRPr/>
            </a:pPr>
            <a:r>
              <a:rPr lang="en-US"/>
              <a:t>UET-Taxila</a:t>
            </a:r>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4436863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标题 3"/>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0051394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p:nvPr/>
        </p:nvSpPr>
        <p:spPr>
          <a:xfrm>
            <a:off x="182880" y="182880"/>
            <a:ext cx="8778240" cy="649224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57250" y="609600"/>
            <a:ext cx="740664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57251" y="2057400"/>
            <a:ext cx="7404653" cy="40386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7247" y="6223829"/>
            <a:ext cx="1746806" cy="365125"/>
          </a:xfrm>
          <a:prstGeom prst="rect">
            <a:avLst/>
          </a:prstGeom>
        </p:spPr>
        <p:txBody>
          <a:bodyPr vert="horz" lIns="91440" tIns="45720" rIns="91440" bIns="45720" rtlCol="0" anchor="ctr"/>
          <a:lstStyle>
            <a:lvl1pPr algn="l">
              <a:defRPr sz="1000">
                <a:solidFill>
                  <a:schemeClr val="accent1"/>
                </a:solidFill>
              </a:defRPr>
            </a:lvl1pPr>
          </a:lstStyle>
          <a:p>
            <a:pPr>
              <a:defRPr/>
            </a:pPr>
            <a:fld id="{435FE59B-F0AA-4416-B6F8-467EF8ADB25B}" type="datetimeFigureOut">
              <a:rPr lang="en-US" altLang="en-US" smtClean="0"/>
              <a:pPr>
                <a:defRPr/>
              </a:pPr>
              <a:t>2/20/2025</a:t>
            </a:fld>
            <a:endParaRPr lang="en-US" altLang="en-US"/>
          </a:p>
        </p:txBody>
      </p:sp>
      <p:sp>
        <p:nvSpPr>
          <p:cNvPr id="5" name="Footer Placeholder 4"/>
          <p:cNvSpPr>
            <a:spLocks noGrp="1"/>
          </p:cNvSpPr>
          <p:nvPr>
            <p:ph type="ftr" sz="quarter" idx="3"/>
          </p:nvPr>
        </p:nvSpPr>
        <p:spPr>
          <a:xfrm>
            <a:off x="2961861" y="6223829"/>
            <a:ext cx="3538331" cy="365125"/>
          </a:xfrm>
          <a:prstGeom prst="rect">
            <a:avLst/>
          </a:prstGeom>
        </p:spPr>
        <p:txBody>
          <a:bodyPr vert="horz" lIns="91440" tIns="45720" rIns="91440" bIns="45720" rtlCol="0" anchor="ctr"/>
          <a:lstStyle>
            <a:lvl1pPr algn="ctr">
              <a:defRPr sz="1000">
                <a:solidFill>
                  <a:schemeClr val="accent1"/>
                </a:solidFill>
              </a:defRPr>
            </a:lvl1pPr>
          </a:lstStyle>
          <a:p>
            <a:pPr>
              <a:defRPr/>
            </a:pPr>
            <a:r>
              <a:rPr lang="en-US"/>
              <a:t>UET-Taxila</a:t>
            </a:r>
          </a:p>
        </p:txBody>
      </p:sp>
      <p:sp>
        <p:nvSpPr>
          <p:cNvPr id="6" name="Slide Number Placeholder 5"/>
          <p:cNvSpPr>
            <a:spLocks noGrp="1"/>
          </p:cNvSpPr>
          <p:nvPr>
            <p:ph type="sldNum" sz="quarter" idx="4"/>
          </p:nvPr>
        </p:nvSpPr>
        <p:spPr>
          <a:xfrm>
            <a:off x="6997148" y="6223829"/>
            <a:ext cx="1279663" cy="365125"/>
          </a:xfrm>
          <a:prstGeom prst="rect">
            <a:avLst/>
          </a:prstGeom>
        </p:spPr>
        <p:txBody>
          <a:bodyPr vert="horz" lIns="91440" tIns="45720" rIns="91440" bIns="45720" rtlCol="0" anchor="ctr"/>
          <a:lstStyle>
            <a:lvl1pPr algn="r">
              <a:defRPr sz="1000">
                <a:solidFill>
                  <a:schemeClr val="accent1"/>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421900431"/>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Lst>
  <p:txStyles>
    <p:titleStyle>
      <a:lvl1pPr algn="l" defTabSz="685800" rtl="0" eaLnBrk="1" latinLnBrk="0" hangingPunct="1">
        <a:lnSpc>
          <a:spcPct val="90000"/>
        </a:lnSpc>
        <a:spcBef>
          <a:spcPct val="0"/>
        </a:spcBef>
        <a:buNone/>
        <a:defRPr sz="4000" kern="1200">
          <a:solidFill>
            <a:schemeClr val="accent1"/>
          </a:solidFill>
          <a:latin typeface="+mj-lt"/>
          <a:ea typeface="+mj-ea"/>
          <a:cs typeface="+mj-cs"/>
        </a:defRPr>
      </a:lvl1pPr>
    </p:titleStyle>
    <p:bodyStyle>
      <a:lvl1pPr marL="171450" indent="-137160" algn="l" defTabSz="685800" rtl="0" eaLnBrk="1" latinLnBrk="0" hangingPunct="1">
        <a:lnSpc>
          <a:spcPct val="90000"/>
        </a:lnSpc>
        <a:spcBef>
          <a:spcPts val="1000"/>
        </a:spcBef>
        <a:buClr>
          <a:schemeClr val="accent1"/>
        </a:buClr>
        <a:buSzPct val="80000"/>
        <a:buFont typeface="Corbel" pitchFamily="34" charset="0"/>
        <a:buChar char="•"/>
        <a:defRPr sz="200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8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60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4pPr>
      <a:lvl5pPr marL="92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5pPr>
      <a:lvl6pPr marL="11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6pPr>
      <a:lvl7pPr marL="13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7pPr>
      <a:lvl8pPr marL="15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8pPr>
      <a:lvl9pPr marL="17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hyperlink" Target="http://www.amazon.com/Artificial-Intelligence-Modern-Approach-Edition/dp/0136042597"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www.amazon.com/Data-Mining-Practical-Techniques-Management/dp/0120884070" TargetMode="External"/><Relationship Id="rId4" Type="http://schemas.openxmlformats.org/officeDocument/2006/relationships/hyperlink" Target="http://www.amazon.com/Multiagent-Systems-Distributed-Artificial-Intelligence/dp/0262731312"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hyperlink" Target="Lecture%201%20-%20Week%201%20-%20AI--%20Intro.pptx"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noChangeArrowheads="1"/>
          </p:cNvSpPr>
          <p:nvPr>
            <p:ph type="title"/>
          </p:nvPr>
        </p:nvSpPr>
        <p:spPr>
          <a:xfrm>
            <a:off x="2209800" y="4419600"/>
            <a:ext cx="8305800" cy="457200"/>
          </a:xfrm>
        </p:spPr>
        <p:txBody>
          <a:bodyPr>
            <a:normAutofit fontScale="90000"/>
          </a:bodyPr>
          <a:lstStyle/>
          <a:p>
            <a:pPr>
              <a:lnSpc>
                <a:spcPct val="150000"/>
              </a:lnSpc>
              <a:defRPr/>
            </a:pPr>
            <a:r>
              <a:rPr lang="en-GB" altLang="en-US" sz="4900" dirty="0">
                <a:solidFill>
                  <a:srgbClr val="7030A0"/>
                </a:solidFill>
                <a:latin typeface="Abadi" panose="020B0604020104020204" pitchFamily="34" charset="0"/>
              </a:rPr>
              <a:t>Artificial Intelligence</a:t>
            </a:r>
            <a:br>
              <a:rPr lang="en-GB" altLang="en-US" sz="4900" dirty="0">
                <a:solidFill>
                  <a:srgbClr val="7030A0"/>
                </a:solidFill>
                <a:latin typeface="Abadi" panose="020B0604020104020204" pitchFamily="34" charset="0"/>
              </a:rPr>
            </a:br>
            <a:r>
              <a:rPr lang="en-GB" altLang="en-US" sz="4900" dirty="0">
                <a:solidFill>
                  <a:srgbClr val="7030A0"/>
                </a:solidFill>
                <a:latin typeface="Abadi" panose="020B0604020104020204" pitchFamily="34" charset="0"/>
              </a:rPr>
              <a:t>Lecture # 1</a:t>
            </a:r>
            <a:r>
              <a:rPr lang="en-GB" altLang="en-US" sz="4900" dirty="0">
                <a:latin typeface="Abadi" panose="020B0604020104020204" pitchFamily="34" charset="0"/>
              </a:rPr>
              <a:t/>
            </a:r>
            <a:br>
              <a:rPr lang="en-GB" altLang="en-US" sz="4900" dirty="0">
                <a:latin typeface="Abadi" panose="020B0604020104020204" pitchFamily="34" charset="0"/>
              </a:rPr>
            </a:br>
            <a:r>
              <a:rPr lang="en-US" altLang="zh-CN" sz="3200" dirty="0">
                <a:latin typeface="Times New Roman" panose="02020603050405020304" pitchFamily="18" charset="0"/>
                <a:ea typeface="SimSun" panose="02010600030101010101" pitchFamily="2" charset="-122"/>
              </a:rPr>
              <a:t>		</a:t>
            </a:r>
            <a:br>
              <a:rPr lang="en-US" altLang="zh-CN" sz="3200" dirty="0">
                <a:latin typeface="Times New Roman" panose="02020603050405020304" pitchFamily="18" charset="0"/>
                <a:ea typeface="SimSun" panose="02010600030101010101" pitchFamily="2" charset="-122"/>
              </a:rPr>
            </a:br>
            <a:r>
              <a:rPr lang="en-US" altLang="zh-CN" sz="3200" dirty="0">
                <a:latin typeface="Times New Roman" panose="02020603050405020304" pitchFamily="18" charset="0"/>
                <a:ea typeface="SimSun" panose="02010600030101010101" pitchFamily="2" charset="-122"/>
              </a:rPr>
              <a:t/>
            </a:r>
            <a:br>
              <a:rPr lang="en-US" altLang="zh-CN" sz="3200" dirty="0">
                <a:latin typeface="Times New Roman" panose="02020603050405020304" pitchFamily="18" charset="0"/>
                <a:ea typeface="SimSun" panose="02010600030101010101" pitchFamily="2" charset="-122"/>
              </a:rPr>
            </a:br>
            <a:r>
              <a:rPr lang="en-US" altLang="zh-CN" sz="3200" dirty="0">
                <a:latin typeface="Times New Roman" panose="02020603050405020304" pitchFamily="18" charset="0"/>
                <a:ea typeface="SimSun" panose="02010600030101010101" pitchFamily="2" charset="-122"/>
              </a:rPr>
              <a:t>				</a:t>
            </a:r>
            <a:r>
              <a:rPr lang="en-US" altLang="en-US" sz="2400" b="1" dirty="0">
                <a:solidFill>
                  <a:schemeClr val="tx1"/>
                </a:solidFill>
                <a:latin typeface="+mn-lt"/>
              </a:rPr>
              <a:t/>
            </a:r>
            <a:br>
              <a:rPr lang="en-US" altLang="en-US" sz="2400" b="1" dirty="0">
                <a:solidFill>
                  <a:schemeClr val="tx1"/>
                </a:solidFill>
                <a:latin typeface="+mn-lt"/>
              </a:rPr>
            </a:br>
            <a:r>
              <a:rPr lang="en-US" altLang="en-US" sz="2400" b="1" dirty="0">
                <a:solidFill>
                  <a:schemeClr val="tx1"/>
                </a:solidFill>
                <a:latin typeface="+mn-lt"/>
              </a:rPr>
              <a:t>				</a:t>
            </a:r>
            <a:r>
              <a:rPr lang="en-US" altLang="en-US" sz="2000" dirty="0">
                <a:solidFill>
                  <a:schemeClr val="tx1"/>
                </a:solidFill>
                <a:latin typeface="+mn-lt"/>
              </a:rPr>
              <a:t/>
            </a:r>
            <a:br>
              <a:rPr lang="en-US" altLang="en-US" sz="2000" dirty="0">
                <a:solidFill>
                  <a:schemeClr val="tx1"/>
                </a:solidFill>
                <a:latin typeface="+mn-lt"/>
              </a:rPr>
            </a:br>
            <a:r>
              <a:rPr lang="en-US" altLang="en-US" sz="2000" dirty="0">
                <a:solidFill>
                  <a:schemeClr val="tx1"/>
                </a:solidFill>
              </a:rPr>
              <a:t/>
            </a:r>
            <a:br>
              <a:rPr lang="en-US" altLang="en-US" sz="2000" dirty="0">
                <a:solidFill>
                  <a:schemeClr val="tx1"/>
                </a:solidFill>
              </a:rPr>
            </a:br>
            <a:endParaRPr lang="en-US" altLang="zh-CN" sz="1800" dirty="0">
              <a:solidFill>
                <a:schemeClr val="tx1"/>
              </a:solidFill>
              <a:latin typeface="Times New Roman" panose="02020603050405020304" pitchFamily="18" charset="0"/>
              <a:ea typeface="SimSun"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hat is AI? Everything to know about artificial intelligence | ZDNET">
            <a:extLst>
              <a:ext uri="{FF2B5EF4-FFF2-40B4-BE49-F238E27FC236}">
                <a16:creationId xmlns:a16="http://schemas.microsoft.com/office/drawing/2014/main" xmlns="" id="{0BCAC6CB-09B2-8E07-7D94-59690F9818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8513" y="2505075"/>
            <a:ext cx="2466975" cy="18478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rtificial intelligence (AI) | Definition, Examples, Types, Applications,  Companies, &amp; Facts | Britannica">
            <a:extLst>
              <a:ext uri="{FF2B5EF4-FFF2-40B4-BE49-F238E27FC236}">
                <a16:creationId xmlns:a16="http://schemas.microsoft.com/office/drawing/2014/main" xmlns="" id="{74E68B2C-CB7A-2448-C9EE-CB28B4047C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537" y="2719387"/>
            <a:ext cx="3048000" cy="3048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rtificial intelligence for development | ITCILO">
            <a:extLst>
              <a:ext uri="{FF2B5EF4-FFF2-40B4-BE49-F238E27FC236}">
                <a16:creationId xmlns:a16="http://schemas.microsoft.com/office/drawing/2014/main" xmlns="" id="{54C7B126-3A25-45D5-DAC9-D4227E2009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38513" y="4660256"/>
            <a:ext cx="4152506" cy="185379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Machine Learning in the Real World | Blog">
            <a:extLst>
              <a:ext uri="{FF2B5EF4-FFF2-40B4-BE49-F238E27FC236}">
                <a16:creationId xmlns:a16="http://schemas.microsoft.com/office/drawing/2014/main" xmlns="" id="{81795292-2637-1547-9C57-77AA2EB5B71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7308" y="380999"/>
            <a:ext cx="3200402" cy="205740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What Is a Machine Learning Engineer? (+ How to Get Started) | Coursera">
            <a:extLst>
              <a:ext uri="{FF2B5EF4-FFF2-40B4-BE49-F238E27FC236}">
                <a16:creationId xmlns:a16="http://schemas.microsoft.com/office/drawing/2014/main" xmlns="" id="{0847A7FA-FC65-839A-0535-4E8E92993535}"/>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872921" y="329400"/>
            <a:ext cx="3540211" cy="2057401"/>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24 Top Machine Learning Applications &amp; Examples for 2023 | Built In">
            <a:extLst>
              <a:ext uri="{FF2B5EF4-FFF2-40B4-BE49-F238E27FC236}">
                <a16:creationId xmlns:a16="http://schemas.microsoft.com/office/drawing/2014/main" xmlns="" id="{70D229A2-15C8-948A-EB10-609A58C6F56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61464" y="2626669"/>
            <a:ext cx="3187811" cy="18478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050"/>
          <p:cNvSpPr>
            <a:spLocks noGrp="1" noChangeArrowheads="1"/>
          </p:cNvSpPr>
          <p:nvPr>
            <p:ph type="title"/>
          </p:nvPr>
        </p:nvSpPr>
        <p:spPr/>
        <p:txBody>
          <a:bodyPr/>
          <a:lstStyle/>
          <a:p>
            <a:r>
              <a:rPr lang="en-US" altLang="zh-TW">
                <a:latin typeface="Times New Roman" panose="02020603050405020304" pitchFamily="18" charset="0"/>
                <a:ea typeface="PMingLiU" pitchFamily="18" charset="-120"/>
              </a:rPr>
              <a:t>Course Reference Books</a:t>
            </a:r>
          </a:p>
        </p:txBody>
      </p:sp>
      <p:sp>
        <p:nvSpPr>
          <p:cNvPr id="18435" name="Rectangle 2051"/>
          <p:cNvSpPr>
            <a:spLocks noGrp="1" noChangeArrowheads="1"/>
          </p:cNvSpPr>
          <p:nvPr>
            <p:ph idx="1"/>
          </p:nvPr>
        </p:nvSpPr>
        <p:spPr/>
        <p:txBody>
          <a:bodyPr/>
          <a:lstStyle/>
          <a:p>
            <a:pPr>
              <a:buFont typeface="Wingdings" panose="05000000000000000000" pitchFamily="2" charset="2"/>
              <a:buChar char="q"/>
            </a:pPr>
            <a:r>
              <a:rPr lang="en-US" altLang="en-US" sz="2000" i="1" dirty="0"/>
              <a:t>“</a:t>
            </a:r>
            <a:r>
              <a:rPr lang="en-US" altLang="ja-JP" sz="2000" i="1" dirty="0">
                <a:solidFill>
                  <a:srgbClr val="0000FF"/>
                </a:solidFill>
              </a:rPr>
              <a:t>Artificial Intelligence, A Modern Approach</a:t>
            </a:r>
            <a:r>
              <a:rPr lang="en-US" altLang="en-US" sz="2000" dirty="0"/>
              <a:t>”</a:t>
            </a:r>
            <a:r>
              <a:rPr lang="en-US" altLang="ja-JP" sz="2000" dirty="0"/>
              <a:t> Stuart Russell and Peter </a:t>
            </a:r>
            <a:r>
              <a:rPr lang="en-US" altLang="ja-JP" sz="2000" dirty="0" err="1"/>
              <a:t>Norvig</a:t>
            </a:r>
            <a:r>
              <a:rPr lang="en-US" altLang="ja-JP" sz="2000" dirty="0"/>
              <a:t> </a:t>
            </a:r>
            <a:r>
              <a:rPr lang="en-US" altLang="ja-JP" sz="2000" dirty="0">
                <a:hlinkClick r:id="rId3"/>
              </a:rPr>
              <a:t>(</a:t>
            </a:r>
            <a:r>
              <a:rPr lang="en-US" altLang="ja-JP" sz="2000" u="sng" dirty="0">
                <a:hlinkClick r:id="rId3"/>
              </a:rPr>
              <a:t>http://www.amazon.com/Artificial-Intelligence-Modern-Approach-Edition/dp/0136042597</a:t>
            </a:r>
            <a:r>
              <a:rPr lang="en-US" altLang="ja-JP" sz="2000" dirty="0"/>
              <a:t>) </a:t>
            </a:r>
            <a:endParaRPr lang="en-GB" altLang="ja-JP" sz="2000" dirty="0"/>
          </a:p>
          <a:p>
            <a:pPr>
              <a:buFont typeface="Wingdings" panose="05000000000000000000" pitchFamily="2" charset="2"/>
              <a:buChar char="q"/>
            </a:pPr>
            <a:r>
              <a:rPr lang="en-US" altLang="en-US" sz="2000" i="1" dirty="0"/>
              <a:t>“</a:t>
            </a:r>
            <a:r>
              <a:rPr lang="en-US" altLang="ja-JP" sz="2000" i="1" dirty="0"/>
              <a:t>Multiagent Systems - A Modern Approach to Distributed Artificial Intelligence</a:t>
            </a:r>
            <a:r>
              <a:rPr lang="en-US" altLang="en-US" sz="2000" i="1" dirty="0"/>
              <a:t>”</a:t>
            </a:r>
            <a:r>
              <a:rPr lang="en-US" altLang="ja-JP" sz="2000" i="1" dirty="0"/>
              <a:t>, </a:t>
            </a:r>
            <a:r>
              <a:rPr lang="en-US" altLang="ja-JP" sz="2000" dirty="0"/>
              <a:t>Gerhard Weiss (</a:t>
            </a:r>
            <a:r>
              <a:rPr lang="en-US" altLang="ja-JP" sz="2000" u="sng" dirty="0">
                <a:hlinkClick r:id="rId4"/>
              </a:rPr>
              <a:t>http://www.amazon.com/Multiagent-Systems-Distributed-Artificial-Intelligence/dp/0262731312</a:t>
            </a:r>
            <a:r>
              <a:rPr lang="en-US" altLang="ja-JP" sz="2000" dirty="0"/>
              <a:t>) </a:t>
            </a:r>
            <a:endParaRPr lang="en-GB" altLang="ja-JP" sz="2000" dirty="0"/>
          </a:p>
          <a:p>
            <a:pPr>
              <a:buFont typeface="Wingdings" panose="05000000000000000000" pitchFamily="2" charset="2"/>
              <a:buChar char="q"/>
            </a:pPr>
            <a:r>
              <a:rPr lang="en-US" altLang="en-US" sz="2000" i="1" dirty="0"/>
              <a:t>“Collective Intelligence in Acton”, </a:t>
            </a:r>
            <a:r>
              <a:rPr lang="en-US" altLang="en-US" sz="2000" dirty="0" err="1"/>
              <a:t>Satnam</a:t>
            </a:r>
            <a:r>
              <a:rPr lang="en-US" altLang="en-US" sz="2000" dirty="0"/>
              <a:t> </a:t>
            </a:r>
            <a:r>
              <a:rPr lang="en-US" altLang="en-US" sz="2000" dirty="0" err="1"/>
              <a:t>Alag</a:t>
            </a:r>
            <a:r>
              <a:rPr lang="en-US" altLang="en-US" sz="2000" dirty="0"/>
              <a:t>, </a:t>
            </a:r>
            <a:r>
              <a:rPr lang="en-GB" altLang="en-US" sz="2000" dirty="0"/>
              <a:t>(</a:t>
            </a:r>
            <a:r>
              <a:rPr lang="en-GB" altLang="en-US" sz="2000" u="sng" dirty="0">
                <a:hlinkClick r:id="rId4"/>
              </a:rPr>
              <a:t>http://www.amazon.com/Multiagent-Systems-Distributed-Artificial-Intelligence/dp/0262731312</a:t>
            </a:r>
            <a:r>
              <a:rPr lang="en-GB" altLang="en-US" sz="2000" dirty="0"/>
              <a:t>) </a:t>
            </a:r>
          </a:p>
          <a:p>
            <a:pPr>
              <a:buFont typeface="Wingdings" panose="05000000000000000000" pitchFamily="2" charset="2"/>
              <a:buChar char="q"/>
            </a:pPr>
            <a:r>
              <a:rPr lang="en-US" altLang="en-US" sz="2000" i="1" dirty="0"/>
              <a:t>“</a:t>
            </a:r>
            <a:r>
              <a:rPr lang="en-US" altLang="ja-JP" sz="2000" i="1" dirty="0">
                <a:solidFill>
                  <a:srgbClr val="0000FF"/>
                </a:solidFill>
              </a:rPr>
              <a:t>Data Mining Practical Machine Learning Tools and Techniques</a:t>
            </a:r>
            <a:r>
              <a:rPr lang="en-US" altLang="en-US" sz="2000" i="1" dirty="0"/>
              <a:t>”</a:t>
            </a:r>
            <a:r>
              <a:rPr lang="en-US" altLang="ja-JP" sz="2000" dirty="0"/>
              <a:t> Second Edition by Ian. H Witten (</a:t>
            </a:r>
            <a:r>
              <a:rPr lang="en-US" altLang="ja-JP" sz="2000" u="sng" dirty="0">
                <a:hlinkClick r:id="rId5"/>
              </a:rPr>
              <a:t>http://www.amazon.com/Data-Mining-Practical-Techniques-Management/dp/0120884070</a:t>
            </a:r>
            <a:r>
              <a:rPr lang="en-US" altLang="ja-JP" sz="2000" dirty="0"/>
              <a:t>)</a:t>
            </a:r>
            <a:endParaRPr lang="en-US" altLang="en-US" sz="2000" dirty="0">
              <a:solidFill>
                <a:schemeClr val="bg2"/>
              </a:solidFill>
              <a:cs typeface="Arial" panose="020B0604020202020204" pitchFamily="34" charset="0"/>
            </a:endParaRPr>
          </a:p>
          <a:p>
            <a:pPr>
              <a:buFont typeface="Wingdings" panose="05000000000000000000" pitchFamily="2" charset="2"/>
              <a:buChar char="q"/>
            </a:pPr>
            <a:endParaRPr lang="en-US" altLang="zh-TW" dirty="0">
              <a:ea typeface="PMingLiU" pitchFamily="18" charset="-120"/>
            </a:endParaRPr>
          </a:p>
        </p:txBody>
      </p:sp>
    </p:spTree>
    <p:extLst>
      <p:ext uri="{BB962C8B-B14F-4D97-AF65-F5344CB8AC3E}">
        <p14:creationId xmlns:p14="http://schemas.microsoft.com/office/powerpoint/2010/main" val="2515310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b="1" dirty="0">
                <a:solidFill>
                  <a:schemeClr val="tx1"/>
                </a:solidFill>
                <a:latin typeface="+mn-lt"/>
              </a:rPr>
              <a:t>Grading Criteria</a:t>
            </a:r>
          </a:p>
        </p:txBody>
      </p:sp>
      <p:sp>
        <p:nvSpPr>
          <p:cNvPr id="20483" name="Content Placeholder 2"/>
          <p:cNvSpPr>
            <a:spLocks noGrp="1"/>
          </p:cNvSpPr>
          <p:nvPr>
            <p:ph idx="1"/>
          </p:nvPr>
        </p:nvSpPr>
        <p:spPr/>
        <p:txBody>
          <a:bodyPr/>
          <a:lstStyle/>
          <a:p>
            <a:r>
              <a:rPr lang="en-US" altLang="en-US" sz="3200" dirty="0">
                <a:solidFill>
                  <a:schemeClr val="tx1"/>
                </a:solidFill>
                <a:cs typeface="Times New Roman" panose="02020603050405020304" pitchFamily="18" charset="0"/>
              </a:rPr>
              <a:t>Quiz                      10% 	(3 Quizzes)</a:t>
            </a:r>
          </a:p>
          <a:p>
            <a:r>
              <a:rPr lang="en-US" altLang="en-US" sz="3200" dirty="0">
                <a:solidFill>
                  <a:schemeClr val="tx1"/>
                </a:solidFill>
                <a:cs typeface="Times New Roman" panose="02020603050405020304" pitchFamily="18" charset="0"/>
              </a:rPr>
              <a:t>Assignment       10%	(3 Assignments)</a:t>
            </a:r>
          </a:p>
          <a:p>
            <a:r>
              <a:rPr lang="en-US" altLang="en-US" sz="3200" dirty="0">
                <a:solidFill>
                  <a:schemeClr val="tx1"/>
                </a:solidFill>
                <a:cs typeface="Times New Roman" panose="02020603050405020304" pitchFamily="18" charset="0"/>
              </a:rPr>
              <a:t>Presentation / Project    5%</a:t>
            </a:r>
          </a:p>
          <a:p>
            <a:r>
              <a:rPr lang="en-US" altLang="en-US" sz="3200" dirty="0">
                <a:solidFill>
                  <a:schemeClr val="tx1"/>
                </a:solidFill>
                <a:cs typeface="Times New Roman" panose="02020603050405020304" pitchFamily="18" charset="0"/>
              </a:rPr>
              <a:t>Mid Exam           25%</a:t>
            </a:r>
          </a:p>
          <a:p>
            <a:r>
              <a:rPr lang="en-US" altLang="en-US" sz="3200" dirty="0">
                <a:solidFill>
                  <a:schemeClr val="tx1"/>
                </a:solidFill>
                <a:cs typeface="Times New Roman" panose="02020603050405020304" pitchFamily="18" charset="0"/>
              </a:rPr>
              <a:t>Final Exam         50%</a:t>
            </a:r>
          </a:p>
          <a:p>
            <a:endParaRPr lang="en-US"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80" y="419100"/>
            <a:ext cx="7406640" cy="685800"/>
          </a:xfrm>
        </p:spPr>
        <p:txBody>
          <a:bodyPr/>
          <a:lstStyle/>
          <a:p>
            <a:pPr>
              <a:defRPr/>
            </a:pPr>
            <a:r>
              <a:rPr lang="en-US" b="1" dirty="0">
                <a:solidFill>
                  <a:schemeClr val="tx1"/>
                </a:solidFill>
                <a:latin typeface="+mn-lt"/>
              </a:rPr>
              <a:t>Outline</a:t>
            </a:r>
          </a:p>
        </p:txBody>
      </p:sp>
      <p:sp>
        <p:nvSpPr>
          <p:cNvPr id="3" name="Content Placeholder 2"/>
          <p:cNvSpPr>
            <a:spLocks noGrp="1"/>
          </p:cNvSpPr>
          <p:nvPr>
            <p:ph idx="1"/>
          </p:nvPr>
        </p:nvSpPr>
        <p:spPr>
          <a:xfrm>
            <a:off x="857251" y="1104900"/>
            <a:ext cx="7404653" cy="4991100"/>
          </a:xfrm>
        </p:spPr>
        <p:txBody>
          <a:bodyPr>
            <a:normAutofit lnSpcReduction="10000"/>
          </a:bodyPr>
          <a:lstStyle/>
          <a:p>
            <a:pPr marL="271463" indent="-271463" eaLnBrk="1" hangingPunct="1">
              <a:tabLst>
                <a:tab pos="446088" algn="l"/>
              </a:tabLst>
              <a:defRPr/>
            </a:pPr>
            <a:r>
              <a:rPr lang="en-GB" altLang="en-US" sz="3200" dirty="0">
                <a:solidFill>
                  <a:schemeClr val="tx1"/>
                </a:solidFill>
                <a:latin typeface="Arial" panose="020B0604020202020204" pitchFamily="34" charset="0"/>
                <a:cs typeface="Arial" panose="020B0604020202020204" pitchFamily="34" charset="0"/>
              </a:rPr>
              <a:t>Introduction of AI?</a:t>
            </a:r>
          </a:p>
          <a:p>
            <a:pPr marL="271463" indent="-271463" eaLnBrk="1" hangingPunct="1">
              <a:tabLst>
                <a:tab pos="446088" algn="l"/>
              </a:tabLst>
              <a:defRPr/>
            </a:pPr>
            <a:r>
              <a:rPr lang="en-GB" altLang="en-US" sz="3200" dirty="0">
                <a:solidFill>
                  <a:schemeClr val="tx1"/>
                </a:solidFill>
                <a:latin typeface="Arial" panose="020B0604020202020204" pitchFamily="34" charset="0"/>
                <a:cs typeface="Arial" panose="020B0604020202020204" pitchFamily="34" charset="0"/>
              </a:rPr>
              <a:t>Why Study AI?</a:t>
            </a:r>
          </a:p>
          <a:p>
            <a:pPr marL="271463" indent="-271463">
              <a:tabLst>
                <a:tab pos="446088" algn="l"/>
              </a:tabLst>
              <a:defRPr/>
            </a:pPr>
            <a:r>
              <a:rPr lang="en-GB" altLang="en-US" sz="3200" dirty="0">
                <a:solidFill>
                  <a:schemeClr val="tx1"/>
                </a:solidFill>
                <a:latin typeface="Arial" panose="020B0604020202020204" pitchFamily="34" charset="0"/>
                <a:cs typeface="Arial" panose="020B0604020202020204" pitchFamily="34" charset="0"/>
              </a:rPr>
              <a:t>What is AI? </a:t>
            </a:r>
          </a:p>
          <a:p>
            <a:pPr marL="271463" indent="-271463" eaLnBrk="1" hangingPunct="1">
              <a:tabLst>
                <a:tab pos="446088" algn="l"/>
              </a:tabLst>
              <a:defRPr/>
            </a:pPr>
            <a:r>
              <a:rPr lang="en-GB" altLang="en-US" sz="3200" dirty="0">
                <a:solidFill>
                  <a:schemeClr val="tx1"/>
                </a:solidFill>
                <a:latin typeface="Arial" panose="020B0604020202020204" pitchFamily="34" charset="0"/>
                <a:cs typeface="Arial" panose="020B0604020202020204" pitchFamily="34" charset="0"/>
              </a:rPr>
              <a:t>Why Need AI?</a:t>
            </a:r>
          </a:p>
          <a:p>
            <a:pPr marL="271463" indent="-271463" eaLnBrk="1" hangingPunct="1">
              <a:tabLst>
                <a:tab pos="446088" algn="l"/>
              </a:tabLst>
              <a:defRPr/>
            </a:pPr>
            <a:r>
              <a:rPr lang="en-GB" altLang="en-US" sz="3200" dirty="0">
                <a:solidFill>
                  <a:schemeClr val="tx1"/>
                </a:solidFill>
                <a:latin typeface="Arial" panose="020B0604020202020204" pitchFamily="34" charset="0"/>
                <a:cs typeface="Arial" panose="020B0604020202020204" pitchFamily="34" charset="0"/>
              </a:rPr>
              <a:t>Real-World Application of AI</a:t>
            </a:r>
          </a:p>
          <a:p>
            <a:pPr marL="271463" indent="-271463">
              <a:tabLst>
                <a:tab pos="446088" algn="l"/>
              </a:tabLst>
              <a:defRPr/>
            </a:pPr>
            <a:r>
              <a:rPr lang="en-GB" altLang="en-US" sz="3200" dirty="0">
                <a:solidFill>
                  <a:schemeClr val="tx1"/>
                </a:solidFill>
                <a:latin typeface="Arial" panose="020B0604020202020204" pitchFamily="34" charset="0"/>
                <a:cs typeface="Arial" panose="020B0604020202020204" pitchFamily="34" charset="0"/>
              </a:rPr>
              <a:t>Foundation of AI</a:t>
            </a:r>
          </a:p>
          <a:p>
            <a:pPr marL="271463" indent="-271463" eaLnBrk="1" hangingPunct="1">
              <a:tabLst>
                <a:tab pos="446088" algn="l"/>
              </a:tabLst>
              <a:defRPr/>
            </a:pPr>
            <a:r>
              <a:rPr lang="en-GB" altLang="en-US" sz="3200" dirty="0">
                <a:solidFill>
                  <a:schemeClr val="tx1"/>
                </a:solidFill>
                <a:latin typeface="Arial" panose="020B0604020202020204" pitchFamily="34" charset="0"/>
                <a:cs typeface="Arial" panose="020B0604020202020204" pitchFamily="34" charset="0"/>
              </a:rPr>
              <a:t>Brief History of AI</a:t>
            </a:r>
          </a:p>
          <a:p>
            <a:pPr marL="271463" indent="-271463" eaLnBrk="1" hangingPunct="1">
              <a:tabLst>
                <a:tab pos="446088" algn="l"/>
              </a:tabLst>
              <a:defRPr/>
            </a:pPr>
            <a:r>
              <a:rPr lang="en-GB" altLang="en-US" sz="3200" dirty="0">
                <a:solidFill>
                  <a:schemeClr val="tx1"/>
                </a:solidFill>
                <a:latin typeface="Arial" panose="020B0604020202020204" pitchFamily="34" charset="0"/>
                <a:cs typeface="Arial" panose="020B0604020202020204" pitchFamily="34" charset="0"/>
              </a:rPr>
              <a:t>Factors / Behaviours as Intelligent</a:t>
            </a:r>
          </a:p>
          <a:p>
            <a:pPr>
              <a:defRPr/>
            </a:pPr>
            <a:r>
              <a:rPr lang="en-US" sz="3200" dirty="0">
                <a:solidFill>
                  <a:schemeClr val="tx1"/>
                </a:solidFill>
                <a:latin typeface="Arial" panose="020B0604020202020204" pitchFamily="34" charset="0"/>
                <a:cs typeface="Arial" panose="020B0604020202020204" pitchFamily="34" charset="0"/>
              </a:rPr>
              <a:t>  AI in Today’s World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80" y="419100"/>
            <a:ext cx="7406640" cy="685800"/>
          </a:xfrm>
        </p:spPr>
        <p:txBody>
          <a:bodyPr>
            <a:normAutofit/>
          </a:bodyPr>
          <a:lstStyle/>
          <a:p>
            <a:pPr>
              <a:defRPr/>
            </a:pPr>
            <a:r>
              <a:rPr lang="en-GB" b="1" dirty="0">
                <a:solidFill>
                  <a:schemeClr val="tx1"/>
                </a:solidFill>
                <a:latin typeface="Arial" panose="020B0604020202020204" pitchFamily="34" charset="0"/>
                <a:cs typeface="Arial" panose="020B0604020202020204" pitchFamily="34" charset="0"/>
              </a:rPr>
              <a:t>Introduction </a:t>
            </a:r>
            <a:endParaRPr lang="en-US" b="1" dirty="0">
              <a:latin typeface="+mn-lt"/>
            </a:endParaRPr>
          </a:p>
        </p:txBody>
      </p:sp>
      <p:sp>
        <p:nvSpPr>
          <p:cNvPr id="3" name="Content Placeholder 2"/>
          <p:cNvSpPr>
            <a:spLocks noGrp="1"/>
          </p:cNvSpPr>
          <p:nvPr>
            <p:ph idx="1"/>
          </p:nvPr>
        </p:nvSpPr>
        <p:spPr>
          <a:xfrm>
            <a:off x="381001" y="1104900"/>
            <a:ext cx="8382000" cy="5524500"/>
          </a:xfrm>
        </p:spPr>
        <p:txBody>
          <a:bodyPr>
            <a:normAutofit fontScale="77500" lnSpcReduction="20000"/>
          </a:bodyPr>
          <a:lstStyle/>
          <a:p>
            <a:pPr marL="34290" indent="0" algn="just">
              <a:buNone/>
              <a:defRPr/>
            </a:pPr>
            <a:endParaRPr lang="en-US" sz="4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34290" indent="0" algn="just">
              <a:buNone/>
              <a:defRPr/>
            </a:pPr>
            <a:endParaRPr lang="en-US" sz="4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34290" indent="0" algn="ctr">
              <a:buNone/>
              <a:defRPr/>
            </a:pPr>
            <a:r>
              <a:rPr lang="en-US" sz="5400" b="1" dirty="0">
                <a:solidFill>
                  <a:srgbClr val="0070C0"/>
                </a:solidFill>
                <a:latin typeface="Calibri" panose="020F0502020204030204" pitchFamily="34" charset="0"/>
                <a:ea typeface="Calibri" panose="020F0502020204030204" pitchFamily="34" charset="0"/>
                <a:cs typeface="Calibri" panose="020F0502020204030204" pitchFamily="34" charset="0"/>
              </a:rPr>
              <a:t>Artificial </a:t>
            </a:r>
          </a:p>
          <a:p>
            <a:pPr marL="34290" indent="0" algn="ctr">
              <a:buNone/>
              <a:defRPr/>
            </a:pPr>
            <a:endParaRPr lang="en-US" sz="5400" b="1" dirty="0">
              <a:solidFill>
                <a:srgbClr val="0070C0"/>
              </a:solidFill>
              <a:latin typeface="Calibri" panose="020F0502020204030204" pitchFamily="34" charset="0"/>
              <a:ea typeface="Calibri" panose="020F0502020204030204" pitchFamily="34" charset="0"/>
              <a:cs typeface="Calibri" panose="020F0502020204030204" pitchFamily="34" charset="0"/>
            </a:endParaRPr>
          </a:p>
          <a:p>
            <a:pPr marL="34290" indent="0" algn="ctr">
              <a:buNone/>
              <a:defRPr/>
            </a:pPr>
            <a:r>
              <a:rPr lang="en-US" sz="5400" b="1" dirty="0">
                <a:solidFill>
                  <a:srgbClr val="0070C0"/>
                </a:solidFill>
                <a:latin typeface="Calibri" panose="020F0502020204030204" pitchFamily="34" charset="0"/>
                <a:ea typeface="Calibri" panose="020F0502020204030204" pitchFamily="34" charset="0"/>
                <a:cs typeface="Calibri" panose="020F0502020204030204" pitchFamily="34" charset="0"/>
              </a:rPr>
              <a:t>Intelligence</a:t>
            </a:r>
          </a:p>
          <a:p>
            <a:pPr marL="34290" indent="0" algn="ctr">
              <a:buNone/>
              <a:defRPr/>
            </a:pPr>
            <a:r>
              <a:rPr lang="en-US" sz="5400" b="1" dirty="0">
                <a:solidFill>
                  <a:schemeClr val="tx1"/>
                </a:solidFill>
                <a:latin typeface="Calibri" panose="020F0502020204030204" pitchFamily="34" charset="0"/>
                <a:ea typeface="Calibri" panose="020F0502020204030204" pitchFamily="34" charset="0"/>
                <a:cs typeface="Calibri" panose="020F0502020204030204" pitchFamily="34" charset="0"/>
              </a:rPr>
              <a:t>………………………………………..</a:t>
            </a:r>
          </a:p>
          <a:p>
            <a:pPr marL="34290" indent="0" algn="ctr">
              <a:buNone/>
              <a:defRPr/>
            </a:pPr>
            <a:endParaRPr lang="en-US" sz="5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34290" indent="0" algn="ctr">
              <a:buNone/>
              <a:defRPr/>
            </a:pPr>
            <a:r>
              <a:rPr lang="en-US" sz="5400" b="1" dirty="0">
                <a:solidFill>
                  <a:srgbClr val="00B050"/>
                </a:solidFill>
                <a:latin typeface="Calibri" panose="020F0502020204030204" pitchFamily="34" charset="0"/>
                <a:ea typeface="Calibri" panose="020F0502020204030204" pitchFamily="34" charset="0"/>
                <a:cs typeface="Calibri" panose="020F0502020204030204" pitchFamily="34" charset="0"/>
              </a:rPr>
              <a:t>Natural </a:t>
            </a:r>
          </a:p>
          <a:p>
            <a:pPr marL="34290" indent="0" algn="ctr">
              <a:buNone/>
              <a:defRPr/>
            </a:pPr>
            <a:endParaRPr lang="en-US" sz="5400" b="1" dirty="0">
              <a:solidFill>
                <a:srgbClr val="00B050"/>
              </a:solidFill>
              <a:latin typeface="Calibri" panose="020F0502020204030204" pitchFamily="34" charset="0"/>
              <a:ea typeface="Calibri" panose="020F0502020204030204" pitchFamily="34" charset="0"/>
              <a:cs typeface="Calibri" panose="020F0502020204030204" pitchFamily="34" charset="0"/>
            </a:endParaRPr>
          </a:p>
          <a:p>
            <a:pPr marL="34290" indent="0" algn="ctr">
              <a:buNone/>
              <a:defRPr/>
            </a:pPr>
            <a:r>
              <a:rPr lang="en-US" sz="5400" b="1" dirty="0">
                <a:solidFill>
                  <a:srgbClr val="00B050"/>
                </a:solidFill>
                <a:latin typeface="Calibri" panose="020F0502020204030204" pitchFamily="34" charset="0"/>
                <a:ea typeface="Calibri" panose="020F0502020204030204" pitchFamily="34" charset="0"/>
                <a:cs typeface="Calibri" panose="020F0502020204030204" pitchFamily="34" charset="0"/>
              </a:rPr>
              <a:t>Intelligence</a:t>
            </a:r>
          </a:p>
        </p:txBody>
      </p:sp>
    </p:spTree>
    <p:extLst>
      <p:ext uri="{BB962C8B-B14F-4D97-AF65-F5344CB8AC3E}">
        <p14:creationId xmlns:p14="http://schemas.microsoft.com/office/powerpoint/2010/main" val="9144270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80" y="419100"/>
            <a:ext cx="7406640" cy="685800"/>
          </a:xfrm>
        </p:spPr>
        <p:txBody>
          <a:bodyPr>
            <a:normAutofit/>
          </a:bodyPr>
          <a:lstStyle/>
          <a:p>
            <a:pPr>
              <a:defRPr/>
            </a:pPr>
            <a:r>
              <a:rPr lang="en-GB" b="1" dirty="0">
                <a:solidFill>
                  <a:schemeClr val="tx1"/>
                </a:solidFill>
                <a:latin typeface="Arial" panose="020B0604020202020204" pitchFamily="34" charset="0"/>
                <a:cs typeface="Arial" panose="020B0604020202020204" pitchFamily="34" charset="0"/>
              </a:rPr>
              <a:t>Introduction </a:t>
            </a:r>
            <a:endParaRPr lang="en-US" b="1" dirty="0">
              <a:latin typeface="+mn-lt"/>
            </a:endParaRPr>
          </a:p>
        </p:txBody>
      </p:sp>
      <p:sp>
        <p:nvSpPr>
          <p:cNvPr id="3" name="Content Placeholder 2"/>
          <p:cNvSpPr>
            <a:spLocks noGrp="1"/>
          </p:cNvSpPr>
          <p:nvPr>
            <p:ph idx="1"/>
          </p:nvPr>
        </p:nvSpPr>
        <p:spPr>
          <a:xfrm>
            <a:off x="381001" y="1104900"/>
            <a:ext cx="8382000" cy="4991100"/>
          </a:xfrm>
        </p:spPr>
        <p:txBody>
          <a:bodyPr>
            <a:normAutofit/>
          </a:bodyPr>
          <a:lstStyle/>
          <a:p>
            <a:pPr algn="just">
              <a:defRPr/>
            </a:pPr>
            <a:r>
              <a:rPr lang="en-US" sz="3600" dirty="0">
                <a:solidFill>
                  <a:schemeClr val="tx1"/>
                </a:solidFill>
                <a:latin typeface="Calibri" panose="020F0502020204030204" pitchFamily="34" charset="0"/>
                <a:ea typeface="Calibri" panose="020F0502020204030204" pitchFamily="34" charset="0"/>
                <a:cs typeface="Calibri" panose="020F0502020204030204" pitchFamily="34" charset="0"/>
              </a:rPr>
              <a:t>Refers to the </a:t>
            </a:r>
            <a:r>
              <a:rPr lang="en-US" sz="3600" b="1" dirty="0">
                <a:solidFill>
                  <a:srgbClr val="FF0000"/>
                </a:solidFill>
                <a:latin typeface="Calibri" panose="020F0502020204030204" pitchFamily="34" charset="0"/>
                <a:ea typeface="Calibri" panose="020F0502020204030204" pitchFamily="34" charset="0"/>
                <a:cs typeface="Calibri" panose="020F0502020204030204" pitchFamily="34" charset="0"/>
              </a:rPr>
              <a:t>simulation</a:t>
            </a:r>
            <a:r>
              <a:rPr lang="en-US" sz="3600" dirty="0">
                <a:solidFill>
                  <a:schemeClr val="tx1"/>
                </a:solidFill>
                <a:latin typeface="Calibri" panose="020F0502020204030204" pitchFamily="34" charset="0"/>
                <a:ea typeface="Calibri" panose="020F0502020204030204" pitchFamily="34" charset="0"/>
                <a:cs typeface="Calibri" panose="020F0502020204030204" pitchFamily="34" charset="0"/>
              </a:rPr>
              <a:t> / replication of human </a:t>
            </a:r>
            <a:r>
              <a:rPr lang="en-US" sz="3600" b="1" dirty="0">
                <a:solidFill>
                  <a:srgbClr val="FF0000"/>
                </a:solidFill>
                <a:latin typeface="Calibri" panose="020F0502020204030204" pitchFamily="34" charset="0"/>
                <a:ea typeface="Calibri" panose="020F0502020204030204" pitchFamily="34" charset="0"/>
                <a:cs typeface="Calibri" panose="020F0502020204030204" pitchFamily="34" charset="0"/>
              </a:rPr>
              <a:t>intelligence</a:t>
            </a:r>
            <a:r>
              <a:rPr lang="en-US" sz="3600" dirty="0">
                <a:solidFill>
                  <a:schemeClr val="tx1"/>
                </a:solidFill>
                <a:latin typeface="Calibri" panose="020F0502020204030204" pitchFamily="34" charset="0"/>
                <a:ea typeface="Calibri" panose="020F0502020204030204" pitchFamily="34" charset="0"/>
                <a:cs typeface="Calibri" panose="020F0502020204030204" pitchFamily="34" charset="0"/>
              </a:rPr>
              <a:t> in </a:t>
            </a:r>
            <a:r>
              <a:rPr lang="en-US" sz="3600" b="1" dirty="0">
                <a:solidFill>
                  <a:srgbClr val="FF0000"/>
                </a:solidFill>
                <a:latin typeface="Calibri" panose="020F0502020204030204" pitchFamily="34" charset="0"/>
                <a:ea typeface="Calibri" panose="020F0502020204030204" pitchFamily="34" charset="0"/>
                <a:cs typeface="Calibri" panose="020F0502020204030204" pitchFamily="34" charset="0"/>
              </a:rPr>
              <a:t>machines</a:t>
            </a:r>
          </a:p>
          <a:p>
            <a:pPr marL="34290" indent="0" algn="just">
              <a:buNone/>
              <a:defRPr/>
            </a:pPr>
            <a:endParaRPr lang="en-US" sz="36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marL="34290" indent="0" algn="just">
              <a:buNone/>
              <a:defRPr/>
            </a:pPr>
            <a:r>
              <a:rPr lang="en-US" sz="3600" dirty="0">
                <a:solidFill>
                  <a:schemeClr val="tx1"/>
                </a:solidFill>
                <a:latin typeface="Calibri" panose="020F0502020204030204" pitchFamily="34" charset="0"/>
                <a:ea typeface="Calibri" panose="020F0502020204030204" pitchFamily="34" charset="0"/>
                <a:cs typeface="Calibri" panose="020F0502020204030204" pitchFamily="34" charset="0"/>
              </a:rPr>
              <a:t> designed to perform tasks that typically require human </a:t>
            </a:r>
            <a:r>
              <a:rPr lang="en-US" sz="3600" b="1" dirty="0">
                <a:solidFill>
                  <a:srgbClr val="FF0000"/>
                </a:solidFill>
                <a:latin typeface="Calibri" panose="020F0502020204030204" pitchFamily="34" charset="0"/>
                <a:ea typeface="Calibri" panose="020F0502020204030204" pitchFamily="34" charset="0"/>
                <a:cs typeface="Calibri" panose="020F0502020204030204" pitchFamily="34" charset="0"/>
              </a:rPr>
              <a:t>cognition</a:t>
            </a:r>
            <a:r>
              <a:rPr lang="en-US" sz="3600" dirty="0">
                <a:solidFill>
                  <a:schemeClr val="tx1"/>
                </a:solidFill>
                <a:latin typeface="Calibri" panose="020F0502020204030204" pitchFamily="34" charset="0"/>
                <a:ea typeface="Calibri" panose="020F0502020204030204" pitchFamily="34" charset="0"/>
                <a:cs typeface="Calibri" panose="020F0502020204030204" pitchFamily="34" charset="0"/>
              </a:rPr>
              <a:t>. </a:t>
            </a:r>
            <a:endParaRPr lang="en-US" sz="40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700005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06640" cy="685800"/>
          </a:xfrm>
        </p:spPr>
        <p:txBody>
          <a:bodyPr>
            <a:normAutofit/>
          </a:bodyPr>
          <a:lstStyle/>
          <a:p>
            <a:pPr>
              <a:defRPr/>
            </a:pPr>
            <a:r>
              <a:rPr lang="en-GB" b="1" dirty="0">
                <a:solidFill>
                  <a:schemeClr val="tx1"/>
                </a:solidFill>
                <a:latin typeface="Arial" panose="020B0604020202020204" pitchFamily="34" charset="0"/>
                <a:cs typeface="Arial" panose="020B0604020202020204" pitchFamily="34" charset="0"/>
              </a:rPr>
              <a:t>Introduction </a:t>
            </a:r>
            <a:endParaRPr lang="en-US" b="1" dirty="0">
              <a:latin typeface="+mn-lt"/>
            </a:endParaRPr>
          </a:p>
        </p:txBody>
      </p:sp>
      <p:sp>
        <p:nvSpPr>
          <p:cNvPr id="3" name="Content Placeholder 2"/>
          <p:cNvSpPr>
            <a:spLocks noGrp="1"/>
          </p:cNvSpPr>
          <p:nvPr>
            <p:ph idx="1"/>
          </p:nvPr>
        </p:nvSpPr>
        <p:spPr>
          <a:xfrm>
            <a:off x="381001" y="685800"/>
            <a:ext cx="8382000" cy="6019800"/>
          </a:xfrm>
        </p:spPr>
        <p:txBody>
          <a:bodyPr>
            <a:normAutofit/>
          </a:bodyPr>
          <a:lstStyle/>
          <a:p>
            <a:pPr marL="34290" indent="0" algn="just">
              <a:buNone/>
              <a:defRPr/>
            </a:pPr>
            <a:r>
              <a:rPr lang="en-US" sz="4000" b="1" dirty="0">
                <a:solidFill>
                  <a:schemeClr val="tx1"/>
                </a:solidFill>
                <a:latin typeface="Calibri" panose="020F0502020204030204" pitchFamily="34" charset="0"/>
                <a:ea typeface="Calibri" panose="020F0502020204030204" pitchFamily="34" charset="0"/>
                <a:cs typeface="Calibri" panose="020F0502020204030204" pitchFamily="34" charset="0"/>
              </a:rPr>
              <a:t>AI is a multidisciplinary domain involves:</a:t>
            </a:r>
          </a:p>
          <a:p>
            <a:pPr marL="777240" indent="-742950" algn="just">
              <a:buAutoNum type="arabicParenR"/>
              <a:defRPr/>
            </a:pPr>
            <a:r>
              <a:rPr lang="en-US" sz="4000" dirty="0">
                <a:solidFill>
                  <a:schemeClr val="tx1"/>
                </a:solidFill>
                <a:latin typeface="Calibri" panose="020F0502020204030204" pitchFamily="34" charset="0"/>
                <a:ea typeface="Calibri" panose="020F0502020204030204" pitchFamily="34" charset="0"/>
                <a:cs typeface="Calibri" panose="020F0502020204030204" pitchFamily="34" charset="0"/>
              </a:rPr>
              <a:t>Mathematics, Calculus</a:t>
            </a:r>
          </a:p>
          <a:p>
            <a:pPr marL="777240" indent="-742950" algn="just">
              <a:buAutoNum type="arabicParenR"/>
              <a:defRPr/>
            </a:pPr>
            <a:r>
              <a:rPr lang="en-US" sz="4000" dirty="0">
                <a:solidFill>
                  <a:schemeClr val="tx1"/>
                </a:solidFill>
                <a:latin typeface="Calibri" panose="020F0502020204030204" pitchFamily="34" charset="0"/>
                <a:ea typeface="Calibri" panose="020F0502020204030204" pitchFamily="34" charset="0"/>
                <a:cs typeface="Calibri" panose="020F0502020204030204" pitchFamily="34" charset="0"/>
              </a:rPr>
              <a:t>Statistics</a:t>
            </a:r>
          </a:p>
          <a:p>
            <a:pPr marL="777240" indent="-742950" algn="just">
              <a:buAutoNum type="arabicParenR"/>
              <a:defRPr/>
            </a:pPr>
            <a:r>
              <a:rPr lang="en-US" sz="4000" dirty="0">
                <a:solidFill>
                  <a:schemeClr val="tx1"/>
                </a:solidFill>
                <a:latin typeface="Calibri" panose="020F0502020204030204" pitchFamily="34" charset="0"/>
                <a:ea typeface="Calibri" panose="020F0502020204030204" pitchFamily="34" charset="0"/>
                <a:cs typeface="Calibri" panose="020F0502020204030204" pitchFamily="34" charset="0"/>
              </a:rPr>
              <a:t>Differential Equations, Linear Algebra, Multivariate,</a:t>
            </a:r>
          </a:p>
          <a:p>
            <a:pPr marL="777240" indent="-742950" algn="just">
              <a:buAutoNum type="arabicParenR"/>
              <a:defRPr/>
            </a:pPr>
            <a:r>
              <a:rPr lang="en-US" sz="4000" dirty="0">
                <a:solidFill>
                  <a:schemeClr val="tx1"/>
                </a:solidFill>
                <a:latin typeface="Calibri" panose="020F0502020204030204" pitchFamily="34" charset="0"/>
                <a:ea typeface="Calibri" panose="020F0502020204030204" pitchFamily="34" charset="0"/>
                <a:cs typeface="Calibri" panose="020F0502020204030204" pitchFamily="34" charset="0"/>
              </a:rPr>
              <a:t>Computer Science</a:t>
            </a:r>
          </a:p>
          <a:p>
            <a:pPr marL="777240" indent="-742950" algn="just">
              <a:buAutoNum type="arabicParenR"/>
              <a:defRPr/>
            </a:pPr>
            <a:r>
              <a:rPr lang="en-US" sz="4000" dirty="0">
                <a:solidFill>
                  <a:schemeClr val="tx1"/>
                </a:solidFill>
                <a:latin typeface="Calibri" panose="020F0502020204030204" pitchFamily="34" charset="0"/>
                <a:ea typeface="Calibri" panose="020F0502020204030204" pitchFamily="34" charset="0"/>
                <a:cs typeface="Calibri" panose="020F0502020204030204" pitchFamily="34" charset="0"/>
              </a:rPr>
              <a:t>Cognitive Science, Psychology</a:t>
            </a:r>
          </a:p>
          <a:p>
            <a:pPr marL="777240" indent="-742950" algn="just">
              <a:buAutoNum type="arabicParenR"/>
              <a:defRPr/>
            </a:pPr>
            <a:r>
              <a:rPr lang="en-US" sz="4000" dirty="0">
                <a:solidFill>
                  <a:schemeClr val="tx1"/>
                </a:solidFill>
                <a:latin typeface="Calibri" panose="020F0502020204030204" pitchFamily="34" charset="0"/>
                <a:ea typeface="Calibri" panose="020F0502020204030204" pitchFamily="34" charset="0"/>
                <a:cs typeface="Calibri" panose="020F0502020204030204" pitchFamily="34" charset="0"/>
              </a:rPr>
              <a:t>Neuroscience</a:t>
            </a:r>
          </a:p>
        </p:txBody>
      </p:sp>
    </p:spTree>
    <p:extLst>
      <p:ext uri="{BB962C8B-B14F-4D97-AF65-F5344CB8AC3E}">
        <p14:creationId xmlns:p14="http://schemas.microsoft.com/office/powerpoint/2010/main" val="4046941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80" y="419100"/>
            <a:ext cx="7406640" cy="685800"/>
          </a:xfrm>
        </p:spPr>
        <p:txBody>
          <a:bodyPr>
            <a:normAutofit/>
          </a:bodyPr>
          <a:lstStyle/>
          <a:p>
            <a:pPr>
              <a:defRPr/>
            </a:pPr>
            <a:r>
              <a:rPr lang="en-GB" b="1" dirty="0">
                <a:solidFill>
                  <a:schemeClr val="tx1"/>
                </a:solidFill>
                <a:latin typeface="Arial" panose="020B0604020202020204" pitchFamily="34" charset="0"/>
                <a:cs typeface="Arial" panose="020B0604020202020204" pitchFamily="34" charset="0"/>
              </a:rPr>
              <a:t>Introduction </a:t>
            </a:r>
            <a:endParaRPr lang="en-US" b="1" dirty="0">
              <a:latin typeface="+mn-lt"/>
            </a:endParaRPr>
          </a:p>
        </p:txBody>
      </p:sp>
      <p:sp>
        <p:nvSpPr>
          <p:cNvPr id="3" name="Content Placeholder 2"/>
          <p:cNvSpPr>
            <a:spLocks noGrp="1"/>
          </p:cNvSpPr>
          <p:nvPr>
            <p:ph idx="1"/>
          </p:nvPr>
        </p:nvSpPr>
        <p:spPr>
          <a:xfrm>
            <a:off x="381001" y="1104900"/>
            <a:ext cx="8382000" cy="4991100"/>
          </a:xfrm>
        </p:spPr>
        <p:txBody>
          <a:bodyPr>
            <a:normAutofit/>
          </a:bodyPr>
          <a:lstStyle/>
          <a:p>
            <a:pPr marL="34290" indent="0" algn="ctr">
              <a:buNone/>
              <a:defRPr/>
            </a:pPr>
            <a:endParaRPr lang="en-US" sz="48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marL="34290" indent="0" algn="ctr">
              <a:buNone/>
              <a:defRPr/>
            </a:pPr>
            <a:endParaRPr lang="en-US" sz="48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marL="34290" indent="0" algn="ctr">
              <a:buNone/>
              <a:defRPr/>
            </a:pPr>
            <a:endParaRPr lang="en-US" sz="48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marL="34290" indent="0" algn="ctr">
              <a:buNone/>
              <a:defRPr/>
            </a:pPr>
            <a:r>
              <a:rPr lang="en-US" sz="4800" b="1" dirty="0">
                <a:solidFill>
                  <a:srgbClr val="FF0000"/>
                </a:solidFill>
                <a:latin typeface="Calibri" panose="020F0502020204030204" pitchFamily="34" charset="0"/>
                <a:ea typeface="Calibri" panose="020F0502020204030204" pitchFamily="34" charset="0"/>
                <a:cs typeface="Calibri" panose="020F0502020204030204" pitchFamily="34" charset="0"/>
              </a:rPr>
              <a:t>What Tasks??????</a:t>
            </a:r>
          </a:p>
        </p:txBody>
      </p:sp>
    </p:spTree>
    <p:extLst>
      <p:ext uri="{BB962C8B-B14F-4D97-AF65-F5344CB8AC3E}">
        <p14:creationId xmlns:p14="http://schemas.microsoft.com/office/powerpoint/2010/main" val="41756205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80" y="419100"/>
            <a:ext cx="7406640" cy="685800"/>
          </a:xfrm>
        </p:spPr>
        <p:txBody>
          <a:bodyPr>
            <a:normAutofit/>
          </a:bodyPr>
          <a:lstStyle/>
          <a:p>
            <a:pPr>
              <a:defRPr/>
            </a:pPr>
            <a:r>
              <a:rPr lang="en-GB" b="1" dirty="0">
                <a:solidFill>
                  <a:schemeClr val="tx1"/>
                </a:solidFill>
                <a:latin typeface="Arial" panose="020B0604020202020204" pitchFamily="34" charset="0"/>
                <a:cs typeface="Arial" panose="020B0604020202020204" pitchFamily="34" charset="0"/>
              </a:rPr>
              <a:t>What Tasks???..</a:t>
            </a:r>
            <a:endParaRPr lang="en-US" b="1" dirty="0">
              <a:latin typeface="+mn-lt"/>
            </a:endParaRPr>
          </a:p>
        </p:txBody>
      </p:sp>
      <p:sp>
        <p:nvSpPr>
          <p:cNvPr id="3" name="Content Placeholder 2"/>
          <p:cNvSpPr>
            <a:spLocks noGrp="1"/>
          </p:cNvSpPr>
          <p:nvPr>
            <p:ph idx="1"/>
          </p:nvPr>
        </p:nvSpPr>
        <p:spPr>
          <a:xfrm>
            <a:off x="381001" y="1104900"/>
            <a:ext cx="8382000" cy="4991100"/>
          </a:xfrm>
        </p:spPr>
        <p:txBody>
          <a:bodyPr>
            <a:normAutofit/>
          </a:bodyPr>
          <a:lstStyle/>
          <a:p>
            <a:pPr algn="just">
              <a:defRPr/>
            </a:pPr>
            <a:r>
              <a:rPr lang="en-US" sz="3600" dirty="0">
                <a:solidFill>
                  <a:schemeClr val="tx1"/>
                </a:solidFill>
                <a:latin typeface="Calibri" panose="020F0502020204030204" pitchFamily="34" charset="0"/>
                <a:ea typeface="Calibri" panose="020F0502020204030204" pitchFamily="34" charset="0"/>
                <a:cs typeface="Calibri" panose="020F0502020204030204" pitchFamily="34" charset="0"/>
              </a:rPr>
              <a:t>Understanding language, </a:t>
            </a:r>
          </a:p>
          <a:p>
            <a:pPr algn="just">
              <a:defRPr/>
            </a:pPr>
            <a:r>
              <a:rPr lang="en-US" sz="3600" dirty="0">
                <a:solidFill>
                  <a:schemeClr val="tx1"/>
                </a:solidFill>
                <a:latin typeface="Calibri" panose="020F0502020204030204" pitchFamily="34" charset="0"/>
                <a:ea typeface="Calibri" panose="020F0502020204030204" pitchFamily="34" charset="0"/>
                <a:cs typeface="Calibri" panose="020F0502020204030204" pitchFamily="34" charset="0"/>
              </a:rPr>
              <a:t>Recognizing patterns, </a:t>
            </a:r>
          </a:p>
          <a:p>
            <a:pPr algn="just">
              <a:defRPr/>
            </a:pPr>
            <a:r>
              <a:rPr lang="en-US" sz="3600" dirty="0">
                <a:solidFill>
                  <a:schemeClr val="tx1"/>
                </a:solidFill>
                <a:latin typeface="Calibri" panose="020F0502020204030204" pitchFamily="34" charset="0"/>
                <a:ea typeface="Calibri" panose="020F0502020204030204" pitchFamily="34" charset="0"/>
                <a:cs typeface="Calibri" panose="020F0502020204030204" pitchFamily="34" charset="0"/>
              </a:rPr>
              <a:t>Solving problems, </a:t>
            </a:r>
          </a:p>
          <a:p>
            <a:pPr algn="just">
              <a:defRPr/>
            </a:pPr>
            <a:r>
              <a:rPr lang="en-US" sz="3600" dirty="0">
                <a:solidFill>
                  <a:schemeClr val="tx1"/>
                </a:solidFill>
                <a:latin typeface="Calibri" panose="020F0502020204030204" pitchFamily="34" charset="0"/>
                <a:ea typeface="Calibri" panose="020F0502020204030204" pitchFamily="34" charset="0"/>
                <a:cs typeface="Calibri" panose="020F0502020204030204" pitchFamily="34" charset="0"/>
              </a:rPr>
              <a:t>Learning from experience, </a:t>
            </a:r>
          </a:p>
          <a:p>
            <a:pPr algn="just">
              <a:defRPr/>
            </a:pPr>
            <a:r>
              <a:rPr lang="en-US" sz="3600" dirty="0">
                <a:solidFill>
                  <a:schemeClr val="tx1"/>
                </a:solidFill>
                <a:latin typeface="Calibri" panose="020F0502020204030204" pitchFamily="34" charset="0"/>
                <a:ea typeface="Calibri" panose="020F0502020204030204" pitchFamily="34" charset="0"/>
                <a:cs typeface="Calibri" panose="020F0502020204030204" pitchFamily="34" charset="0"/>
              </a:rPr>
              <a:t>Decision making.</a:t>
            </a:r>
          </a:p>
          <a:p>
            <a:pPr algn="just">
              <a:defRPr/>
            </a:pPr>
            <a:r>
              <a:rPr lang="en-US" sz="3600" dirty="0">
                <a:solidFill>
                  <a:schemeClr val="tx1"/>
                </a:solidFill>
                <a:latin typeface="Calibri" panose="020F0502020204030204" pitchFamily="34" charset="0"/>
                <a:ea typeface="Calibri" panose="020F0502020204030204" pitchFamily="34" charset="0"/>
                <a:cs typeface="Calibri" panose="020F0502020204030204" pitchFamily="34" charset="0"/>
              </a:rPr>
              <a:t>Forecasting</a:t>
            </a:r>
          </a:p>
          <a:p>
            <a:pPr algn="just">
              <a:defRPr/>
            </a:pPr>
            <a:r>
              <a:rPr lang="en-US" sz="3600" dirty="0">
                <a:solidFill>
                  <a:schemeClr val="tx1"/>
                </a:solidFill>
                <a:latin typeface="Calibri" panose="020F0502020204030204" pitchFamily="34" charset="0"/>
                <a:ea typeface="Calibri" panose="020F0502020204030204" pitchFamily="34" charset="0"/>
                <a:cs typeface="Calibri" panose="020F0502020204030204" pitchFamily="34" charset="0"/>
              </a:rPr>
              <a:t>Prediction</a:t>
            </a:r>
          </a:p>
          <a:p>
            <a:pPr algn="just">
              <a:defRPr/>
            </a:pPr>
            <a:r>
              <a:rPr lang="en-US" sz="3600" dirty="0">
                <a:solidFill>
                  <a:schemeClr val="tx1"/>
                </a:solidFill>
                <a:latin typeface="Calibri" panose="020F0502020204030204" pitchFamily="34" charset="0"/>
                <a:ea typeface="Calibri" panose="020F0502020204030204" pitchFamily="34" charset="0"/>
                <a:cs typeface="Calibri" panose="020F0502020204030204" pitchFamily="34" charset="0"/>
              </a:rPr>
              <a:t>And many more…..</a:t>
            </a:r>
            <a:endParaRPr lang="en-US" sz="40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64015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667000"/>
            <a:ext cx="7406640" cy="1295400"/>
          </a:xfrm>
        </p:spPr>
        <p:txBody>
          <a:bodyPr>
            <a:normAutofit/>
          </a:bodyPr>
          <a:lstStyle/>
          <a:p>
            <a:pPr algn="ctr">
              <a:defRPr/>
            </a:pPr>
            <a:r>
              <a:rPr lang="en-GB" altLang="en-US" sz="4400" b="1" dirty="0">
                <a:solidFill>
                  <a:schemeClr val="tx1"/>
                </a:solidFill>
                <a:latin typeface="Arial" panose="020B0604020202020204" pitchFamily="34" charset="0"/>
                <a:cs typeface="Arial" panose="020B0604020202020204" pitchFamily="34" charset="0"/>
              </a:rPr>
              <a:t>Why Study AI?</a:t>
            </a:r>
            <a:endParaRPr lang="en-US" sz="4400" b="1" dirty="0">
              <a:latin typeface="+mn-lt"/>
            </a:endParaRPr>
          </a:p>
        </p:txBody>
      </p:sp>
    </p:spTree>
    <p:extLst>
      <p:ext uri="{BB962C8B-B14F-4D97-AF65-F5344CB8AC3E}">
        <p14:creationId xmlns:p14="http://schemas.microsoft.com/office/powerpoint/2010/main" val="3292042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80" y="419100"/>
            <a:ext cx="7406640" cy="685800"/>
          </a:xfrm>
        </p:spPr>
        <p:txBody>
          <a:bodyPr>
            <a:normAutofit/>
          </a:bodyPr>
          <a:lstStyle/>
          <a:p>
            <a:pPr>
              <a:defRPr/>
            </a:pPr>
            <a:r>
              <a:rPr lang="en-GB" altLang="en-US" sz="4000" b="1" dirty="0">
                <a:solidFill>
                  <a:schemeClr val="tx1"/>
                </a:solidFill>
                <a:latin typeface="Arial" panose="020B0604020202020204" pitchFamily="34" charset="0"/>
                <a:cs typeface="Arial" panose="020B0604020202020204" pitchFamily="34" charset="0"/>
              </a:rPr>
              <a:t>Why Study AI?</a:t>
            </a:r>
            <a:endParaRPr lang="en-US" b="1" dirty="0">
              <a:latin typeface="+mn-lt"/>
            </a:endParaRPr>
          </a:p>
        </p:txBody>
      </p:sp>
      <p:sp>
        <p:nvSpPr>
          <p:cNvPr id="3" name="Content Placeholder 2"/>
          <p:cNvSpPr>
            <a:spLocks noGrp="1"/>
          </p:cNvSpPr>
          <p:nvPr>
            <p:ph idx="1"/>
          </p:nvPr>
        </p:nvSpPr>
        <p:spPr>
          <a:xfrm>
            <a:off x="381001" y="1104900"/>
            <a:ext cx="8382000" cy="4991100"/>
          </a:xfrm>
        </p:spPr>
        <p:txBody>
          <a:bodyPr>
            <a:normAutofit lnSpcReduction="10000"/>
          </a:bodyPr>
          <a:lstStyle/>
          <a:p>
            <a:pPr>
              <a:defRPr/>
            </a:pPr>
            <a:r>
              <a:rPr lang="en-US" sz="3200" b="0" i="0" dirty="0">
                <a:solidFill>
                  <a:srgbClr val="202124"/>
                </a:solidFill>
                <a:effectLst/>
                <a:latin typeface="Google Sans"/>
              </a:rPr>
              <a:t> </a:t>
            </a:r>
            <a:r>
              <a:rPr lang="en-US" sz="3200" dirty="0">
                <a:solidFill>
                  <a:srgbClr val="202124"/>
                </a:solidFill>
                <a:latin typeface="Google Sans"/>
              </a:rPr>
              <a:t>E</a:t>
            </a:r>
            <a:r>
              <a:rPr lang="en-US" sz="3200" b="0" i="0" dirty="0">
                <a:solidFill>
                  <a:srgbClr val="202124"/>
                </a:solidFill>
                <a:effectLst/>
                <a:latin typeface="Google Sans"/>
              </a:rPr>
              <a:t>ssential for anyone interested in using the power of technology to solve real-world problems. </a:t>
            </a:r>
          </a:p>
          <a:p>
            <a:pPr>
              <a:defRPr/>
            </a:pPr>
            <a:endParaRPr lang="en-US" sz="3200" b="0" i="0" dirty="0">
              <a:solidFill>
                <a:srgbClr val="202124"/>
              </a:solidFill>
              <a:effectLst/>
              <a:latin typeface="Google Sans"/>
            </a:endParaRPr>
          </a:p>
          <a:p>
            <a:pPr>
              <a:defRPr/>
            </a:pPr>
            <a:r>
              <a:rPr lang="en-US" sz="3200" b="0" i="0" dirty="0">
                <a:solidFill>
                  <a:srgbClr val="040C28"/>
                </a:solidFill>
                <a:effectLst/>
                <a:latin typeface="Google Sans"/>
              </a:rPr>
              <a:t>to learn how to use advances in AI technology to automate and perform complex tasks</a:t>
            </a:r>
            <a:r>
              <a:rPr lang="en-US" sz="3200" b="0" i="0" dirty="0">
                <a:solidFill>
                  <a:srgbClr val="202124"/>
                </a:solidFill>
                <a:effectLst/>
                <a:latin typeface="Google Sans"/>
              </a:rPr>
              <a:t>.</a:t>
            </a:r>
          </a:p>
          <a:p>
            <a:pPr>
              <a:defRPr/>
            </a:pPr>
            <a:endParaRPr lang="en-US" sz="3200" b="0" i="0" dirty="0">
              <a:solidFill>
                <a:srgbClr val="202124"/>
              </a:solidFill>
              <a:effectLst/>
              <a:latin typeface="Google Sans"/>
            </a:endParaRPr>
          </a:p>
          <a:p>
            <a:pPr>
              <a:defRPr/>
            </a:pPr>
            <a:r>
              <a:rPr lang="en-US" sz="3200" b="0" i="0" dirty="0">
                <a:solidFill>
                  <a:srgbClr val="1A1A1A"/>
                </a:solidFill>
                <a:effectLst/>
                <a:latin typeface="Circular Std Light"/>
              </a:rPr>
              <a:t>businesses can streamline / simplify processes, increase efficiency, and reduce costs. </a:t>
            </a:r>
            <a:endParaRPr lang="en-US" sz="3600" dirty="0"/>
          </a:p>
        </p:txBody>
      </p:sp>
    </p:spTree>
    <p:extLst>
      <p:ext uri="{BB962C8B-B14F-4D97-AF65-F5344CB8AC3E}">
        <p14:creationId xmlns:p14="http://schemas.microsoft.com/office/powerpoint/2010/main" val="23784360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80" y="419100"/>
            <a:ext cx="7406640" cy="685800"/>
          </a:xfrm>
        </p:spPr>
        <p:txBody>
          <a:bodyPr>
            <a:normAutofit/>
          </a:bodyPr>
          <a:lstStyle/>
          <a:p>
            <a:pPr>
              <a:defRPr/>
            </a:pPr>
            <a:r>
              <a:rPr lang="en-GB" altLang="en-US" sz="4000" b="1" dirty="0">
                <a:solidFill>
                  <a:schemeClr val="tx1"/>
                </a:solidFill>
                <a:latin typeface="Arial" panose="020B0604020202020204" pitchFamily="34" charset="0"/>
                <a:cs typeface="Arial" panose="020B0604020202020204" pitchFamily="34" charset="0"/>
              </a:rPr>
              <a:t>Why Study AI?</a:t>
            </a:r>
            <a:endParaRPr lang="en-US" b="1" dirty="0">
              <a:latin typeface="+mn-lt"/>
            </a:endParaRPr>
          </a:p>
        </p:txBody>
      </p:sp>
      <p:sp>
        <p:nvSpPr>
          <p:cNvPr id="3" name="Content Placeholder 2"/>
          <p:cNvSpPr>
            <a:spLocks noGrp="1"/>
          </p:cNvSpPr>
          <p:nvPr>
            <p:ph idx="1"/>
          </p:nvPr>
        </p:nvSpPr>
        <p:spPr>
          <a:xfrm>
            <a:off x="857251" y="1104900"/>
            <a:ext cx="7404653" cy="4991100"/>
          </a:xfrm>
        </p:spPr>
        <p:txBody>
          <a:bodyPr>
            <a:normAutofit/>
          </a:bodyPr>
          <a:lstStyle/>
          <a:p>
            <a:pPr>
              <a:defRPr/>
            </a:pPr>
            <a:r>
              <a:rPr lang="en-US" sz="4000" b="0" i="0" dirty="0">
                <a:solidFill>
                  <a:srgbClr val="202124"/>
                </a:solidFill>
                <a:effectLst/>
                <a:latin typeface="Google Sans"/>
              </a:rPr>
              <a:t> </a:t>
            </a:r>
            <a:r>
              <a:rPr lang="en-US" sz="4000" dirty="0">
                <a:solidFill>
                  <a:srgbClr val="202124"/>
                </a:solidFill>
                <a:latin typeface="Google Sans"/>
              </a:rPr>
              <a:t>More Examples</a:t>
            </a:r>
            <a:endParaRPr lang="en-US" sz="4400" dirty="0"/>
          </a:p>
        </p:txBody>
      </p:sp>
    </p:spTree>
    <p:extLst>
      <p:ext uri="{BB962C8B-B14F-4D97-AF65-F5344CB8AC3E}">
        <p14:creationId xmlns:p14="http://schemas.microsoft.com/office/powerpoint/2010/main" val="29376769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80" y="419100"/>
            <a:ext cx="7406640" cy="685800"/>
          </a:xfrm>
        </p:spPr>
        <p:txBody>
          <a:bodyPr>
            <a:normAutofit/>
          </a:bodyPr>
          <a:lstStyle/>
          <a:p>
            <a:pPr>
              <a:defRPr/>
            </a:pPr>
            <a:r>
              <a:rPr lang="en-GB" altLang="en-US" sz="4000" b="1" dirty="0">
                <a:solidFill>
                  <a:schemeClr val="tx1"/>
                </a:solidFill>
                <a:latin typeface="Arial" panose="020B0604020202020204" pitchFamily="34" charset="0"/>
                <a:cs typeface="Arial" panose="020B0604020202020204" pitchFamily="34" charset="0"/>
              </a:rPr>
              <a:t>What is AI?</a:t>
            </a:r>
            <a:endParaRPr lang="en-US" b="1" dirty="0">
              <a:solidFill>
                <a:schemeClr val="tx1"/>
              </a:solidFill>
              <a:latin typeface="+mn-lt"/>
            </a:endParaRPr>
          </a:p>
        </p:txBody>
      </p:sp>
      <p:sp>
        <p:nvSpPr>
          <p:cNvPr id="3" name="Content Placeholder 2"/>
          <p:cNvSpPr>
            <a:spLocks noGrp="1"/>
          </p:cNvSpPr>
          <p:nvPr>
            <p:ph idx="1"/>
          </p:nvPr>
        </p:nvSpPr>
        <p:spPr>
          <a:xfrm>
            <a:off x="857251" y="1104900"/>
            <a:ext cx="7404653" cy="4991100"/>
          </a:xfrm>
        </p:spPr>
        <p:txBody>
          <a:bodyPr>
            <a:normAutofit/>
          </a:bodyPr>
          <a:lstStyle/>
          <a:p>
            <a:pPr marL="34290" indent="0">
              <a:buNone/>
              <a:defRPr/>
            </a:pPr>
            <a:endParaRPr lang="en-US" sz="4800" b="1" dirty="0">
              <a:solidFill>
                <a:schemeClr val="tx1"/>
              </a:solidFill>
            </a:endParaRPr>
          </a:p>
          <a:p>
            <a:pPr marL="34290" indent="0">
              <a:buNone/>
              <a:defRPr/>
            </a:pPr>
            <a:endParaRPr lang="en-US" sz="4800" b="1" dirty="0">
              <a:solidFill>
                <a:schemeClr val="tx1"/>
              </a:solidFill>
            </a:endParaRPr>
          </a:p>
          <a:p>
            <a:pPr marL="34290" indent="0" algn="ctr">
              <a:buNone/>
              <a:defRPr/>
            </a:pPr>
            <a:r>
              <a:rPr lang="en-US" sz="4800" b="1" dirty="0">
                <a:solidFill>
                  <a:srgbClr val="FF0000"/>
                </a:solidFill>
              </a:rPr>
              <a:t>Artificial Intelligence</a:t>
            </a:r>
          </a:p>
        </p:txBody>
      </p:sp>
    </p:spTree>
    <p:extLst>
      <p:ext uri="{BB962C8B-B14F-4D97-AF65-F5344CB8AC3E}">
        <p14:creationId xmlns:p14="http://schemas.microsoft.com/office/powerpoint/2010/main" val="5731450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857250" y="609600"/>
            <a:ext cx="7406640" cy="914400"/>
          </a:xfrm>
        </p:spPr>
        <p:txBody>
          <a:bodyPr/>
          <a:lstStyle/>
          <a:p>
            <a:r>
              <a:rPr lang="en-US" altLang="en-US" b="1" dirty="0">
                <a:solidFill>
                  <a:schemeClr val="tx1"/>
                </a:solidFill>
              </a:rPr>
              <a:t>What is Intelligence?</a:t>
            </a:r>
          </a:p>
        </p:txBody>
      </p:sp>
      <p:sp>
        <p:nvSpPr>
          <p:cNvPr id="3" name="Content Placeholder 2"/>
          <p:cNvSpPr>
            <a:spLocks noGrp="1"/>
          </p:cNvSpPr>
          <p:nvPr>
            <p:ph idx="1"/>
          </p:nvPr>
        </p:nvSpPr>
        <p:spPr/>
        <p:txBody>
          <a:bodyPr>
            <a:normAutofit/>
          </a:bodyPr>
          <a:lstStyle/>
          <a:p>
            <a:r>
              <a:rPr lang="en-US" altLang="en-US" sz="2600" dirty="0">
                <a:solidFill>
                  <a:schemeClr val="tx1"/>
                </a:solidFill>
              </a:rPr>
              <a:t>How can we define Intelligence?</a:t>
            </a:r>
          </a:p>
          <a:p>
            <a:r>
              <a:rPr lang="en-US" altLang="en-US" sz="2600" dirty="0">
                <a:solidFill>
                  <a:schemeClr val="tx1"/>
                </a:solidFill>
              </a:rPr>
              <a:t>Is it something tangible (physical/real/solid)?</a:t>
            </a:r>
          </a:p>
          <a:p>
            <a:r>
              <a:rPr lang="en-US" altLang="en-US" sz="2600" dirty="0">
                <a:solidFill>
                  <a:schemeClr val="tx1"/>
                </a:solidFill>
              </a:rPr>
              <a:t>Do all living species are intelligent?</a:t>
            </a:r>
          </a:p>
          <a:p>
            <a:pPr lvl="1"/>
            <a:r>
              <a:rPr lang="en-US" altLang="en-US" sz="2400" dirty="0">
                <a:solidFill>
                  <a:schemeClr val="tx1"/>
                </a:solidFill>
              </a:rPr>
              <a:t>What about these plants and tress?</a:t>
            </a:r>
          </a:p>
          <a:p>
            <a:endParaRPr lang="en-US" altLang="en-US" dirty="0">
              <a:solidFill>
                <a:schemeClr val="tx1"/>
              </a:solidFill>
            </a:endParaRPr>
          </a:p>
          <a:p>
            <a:r>
              <a:rPr lang="en-US" altLang="en-US" dirty="0">
                <a:solidFill>
                  <a:schemeClr val="tx1"/>
                </a:solidFill>
              </a:rPr>
              <a:t>Let’s define intelligence using some scenarios. </a:t>
            </a:r>
          </a:p>
          <a:p>
            <a:endParaRPr lang="en-US" altLang="en-US" dirty="0">
              <a:solidFill>
                <a:schemeClr val="tx1"/>
              </a:solidFill>
            </a:endParaRPr>
          </a:p>
        </p:txBody>
      </p:sp>
    </p:spTree>
    <p:extLst>
      <p:ext uri="{BB962C8B-B14F-4D97-AF65-F5344CB8AC3E}">
        <p14:creationId xmlns:p14="http://schemas.microsoft.com/office/powerpoint/2010/main" val="5640139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altLang="en-US" b="1" dirty="0">
                <a:solidFill>
                  <a:schemeClr val="tx1"/>
                </a:solidFill>
              </a:rPr>
              <a:t>Contd..</a:t>
            </a:r>
          </a:p>
        </p:txBody>
      </p:sp>
      <p:sp>
        <p:nvSpPr>
          <p:cNvPr id="3" name="Content Placeholder 2"/>
          <p:cNvSpPr>
            <a:spLocks noGrp="1"/>
          </p:cNvSpPr>
          <p:nvPr>
            <p:ph idx="1"/>
          </p:nvPr>
        </p:nvSpPr>
        <p:spPr>
          <a:xfrm>
            <a:off x="857250" y="1676400"/>
            <a:ext cx="7404653" cy="4480560"/>
          </a:xfrm>
        </p:spPr>
        <p:txBody>
          <a:bodyPr>
            <a:normAutofit/>
          </a:bodyPr>
          <a:lstStyle/>
          <a:p>
            <a:r>
              <a:rPr lang="en-US" altLang="en-US" sz="3600" dirty="0">
                <a:solidFill>
                  <a:schemeClr val="tx1"/>
                </a:solidFill>
              </a:rPr>
              <a:t>The ability to solve a problem. (Problem solving)</a:t>
            </a:r>
          </a:p>
        </p:txBody>
      </p:sp>
    </p:spTree>
    <p:extLst>
      <p:ext uri="{BB962C8B-B14F-4D97-AF65-F5344CB8AC3E}">
        <p14:creationId xmlns:p14="http://schemas.microsoft.com/office/powerpoint/2010/main" val="13591972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685800" y="228600"/>
            <a:ext cx="7406640" cy="838200"/>
          </a:xfrm>
        </p:spPr>
        <p:txBody>
          <a:bodyPr/>
          <a:lstStyle/>
          <a:p>
            <a:r>
              <a:rPr lang="en-US" altLang="en-US" b="1" dirty="0">
                <a:solidFill>
                  <a:schemeClr val="tx1"/>
                </a:solidFill>
              </a:rPr>
              <a:t>Contd..</a:t>
            </a:r>
          </a:p>
        </p:txBody>
      </p:sp>
      <p:sp>
        <p:nvSpPr>
          <p:cNvPr id="3" name="Content Placeholder 2"/>
          <p:cNvSpPr>
            <a:spLocks noGrp="1"/>
          </p:cNvSpPr>
          <p:nvPr>
            <p:ph idx="1"/>
          </p:nvPr>
        </p:nvSpPr>
        <p:spPr>
          <a:xfrm>
            <a:off x="381000" y="838200"/>
            <a:ext cx="8229599" cy="5257800"/>
          </a:xfrm>
        </p:spPr>
        <p:txBody>
          <a:bodyPr>
            <a:normAutofit/>
          </a:bodyPr>
          <a:lstStyle/>
          <a:p>
            <a:pPr>
              <a:defRPr/>
            </a:pPr>
            <a:r>
              <a:rPr lang="en-US" sz="3200" b="1" dirty="0">
                <a:solidFill>
                  <a:schemeClr val="tx1"/>
                </a:solidFill>
              </a:rPr>
              <a:t>Thinking, memory manipulation capability and numerical processing ability </a:t>
            </a:r>
            <a:r>
              <a:rPr lang="en-US" sz="3200" dirty="0">
                <a:solidFill>
                  <a:schemeClr val="tx1"/>
                </a:solidFill>
              </a:rPr>
              <a:t>is intelligence.</a:t>
            </a:r>
          </a:p>
          <a:p>
            <a:pPr lvl="1">
              <a:defRPr/>
            </a:pPr>
            <a:r>
              <a:rPr lang="en-US" sz="2800" dirty="0">
                <a:solidFill>
                  <a:schemeClr val="tx1"/>
                </a:solidFill>
              </a:rPr>
              <a:t>Consider the sequence of numbers</a:t>
            </a:r>
          </a:p>
          <a:p>
            <a:pPr marL="457200" lvl="1" indent="0">
              <a:buFont typeface="Monotype Sorts" pitchFamily="-84" charset="2"/>
              <a:buNone/>
              <a:defRPr/>
            </a:pPr>
            <a:r>
              <a:rPr lang="en-US" sz="2800" dirty="0">
                <a:solidFill>
                  <a:schemeClr val="tx1"/>
                </a:solidFill>
              </a:rPr>
              <a:t>			1, 3, 7, 13, 21, ___</a:t>
            </a:r>
          </a:p>
          <a:p>
            <a:pPr lvl="1">
              <a:defRPr/>
            </a:pPr>
            <a:r>
              <a:rPr lang="en-US" sz="2800" dirty="0">
                <a:solidFill>
                  <a:schemeClr val="tx1"/>
                </a:solidFill>
              </a:rPr>
              <a:t>What’s the next number?</a:t>
            </a:r>
          </a:p>
          <a:p>
            <a:pPr lvl="1">
              <a:defRPr/>
            </a:pPr>
            <a:endParaRPr lang="en-US" sz="2800" dirty="0">
              <a:solidFill>
                <a:schemeClr val="tx1"/>
              </a:solidFill>
            </a:endParaRPr>
          </a:p>
          <a:p>
            <a:pPr lvl="1">
              <a:defRPr/>
            </a:pPr>
            <a:r>
              <a:rPr lang="en-US" sz="2800" dirty="0">
                <a:solidFill>
                  <a:schemeClr val="tx1"/>
                </a:solidFill>
              </a:rPr>
              <a:t>To answer the question, a little bit intelligence is required.</a:t>
            </a:r>
          </a:p>
          <a:p>
            <a:pPr lvl="1">
              <a:defRPr/>
            </a:pPr>
            <a:r>
              <a:rPr lang="en-US" sz="2800" dirty="0">
                <a:solidFill>
                  <a:schemeClr val="tx1"/>
                </a:solidFill>
              </a:rPr>
              <a:t>To solve something, different solutions are thought.</a:t>
            </a:r>
          </a:p>
          <a:p>
            <a:pPr lvl="1">
              <a:defRPr/>
            </a:pPr>
            <a:endParaRPr lang="en-US" sz="2800" dirty="0">
              <a:solidFill>
                <a:schemeClr val="tx1"/>
              </a:solidFill>
            </a:endParaRPr>
          </a:p>
        </p:txBody>
      </p:sp>
    </p:spTree>
    <p:extLst>
      <p:ext uri="{BB962C8B-B14F-4D97-AF65-F5344CB8AC3E}">
        <p14:creationId xmlns:p14="http://schemas.microsoft.com/office/powerpoint/2010/main" val="23292020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762000" y="305107"/>
            <a:ext cx="7406640" cy="685800"/>
          </a:xfrm>
        </p:spPr>
        <p:txBody>
          <a:bodyPr/>
          <a:lstStyle/>
          <a:p>
            <a:r>
              <a:rPr lang="en-US" altLang="en-US" b="1" dirty="0">
                <a:solidFill>
                  <a:schemeClr val="tx1"/>
                </a:solidFill>
              </a:rPr>
              <a:t>Contd..</a:t>
            </a:r>
          </a:p>
        </p:txBody>
      </p:sp>
      <p:sp>
        <p:nvSpPr>
          <p:cNvPr id="3" name="Content Placeholder 2"/>
          <p:cNvSpPr>
            <a:spLocks noGrp="1"/>
          </p:cNvSpPr>
          <p:nvPr>
            <p:ph idx="1"/>
          </p:nvPr>
        </p:nvSpPr>
        <p:spPr>
          <a:xfrm>
            <a:off x="457200" y="990908"/>
            <a:ext cx="8459787" cy="5571818"/>
          </a:xfrm>
        </p:spPr>
        <p:txBody>
          <a:bodyPr>
            <a:normAutofit/>
          </a:bodyPr>
          <a:lstStyle/>
          <a:p>
            <a:r>
              <a:rPr lang="en-US" altLang="en-US" sz="3600" b="1" dirty="0">
                <a:solidFill>
                  <a:schemeClr val="tx1"/>
                </a:solidFill>
              </a:rPr>
              <a:t>The ability to think, plan and schedule </a:t>
            </a:r>
            <a:r>
              <a:rPr lang="en-US" altLang="en-US" sz="3600" dirty="0">
                <a:solidFill>
                  <a:schemeClr val="tx1"/>
                </a:solidFill>
              </a:rPr>
              <a:t>is intelligence</a:t>
            </a:r>
          </a:p>
          <a:p>
            <a:pPr lvl="1"/>
            <a:r>
              <a:rPr lang="en-US" altLang="en-US" sz="3200" dirty="0">
                <a:solidFill>
                  <a:schemeClr val="tx1"/>
                </a:solidFill>
              </a:rPr>
              <a:t>In simple cases developing a timetable is simple</a:t>
            </a:r>
          </a:p>
          <a:p>
            <a:pPr lvl="1"/>
            <a:r>
              <a:rPr lang="en-US" altLang="en-US" sz="3200" dirty="0">
                <a:solidFill>
                  <a:schemeClr val="tx1"/>
                </a:solidFill>
              </a:rPr>
              <a:t>Consider we have 100s of students studying in different classes, where we have only a few rooms and limited time to schedule all those classes.</a:t>
            </a:r>
          </a:p>
          <a:p>
            <a:pPr lvl="1"/>
            <a:endParaRPr lang="en-US" altLang="en-US" sz="3200" dirty="0">
              <a:solidFill>
                <a:schemeClr val="tx1"/>
              </a:solidFill>
            </a:endParaRPr>
          </a:p>
          <a:p>
            <a:pPr lvl="1"/>
            <a:r>
              <a:rPr lang="en-US" altLang="en-US" sz="3200" dirty="0">
                <a:solidFill>
                  <a:schemeClr val="tx1"/>
                </a:solidFill>
              </a:rPr>
              <a:t>A good planner can manage much better and easily.</a:t>
            </a:r>
          </a:p>
          <a:p>
            <a:pPr lvl="1"/>
            <a:endParaRPr lang="en-US" altLang="en-US" sz="3200" dirty="0">
              <a:solidFill>
                <a:schemeClr val="tx1"/>
              </a:solidFill>
            </a:endParaRPr>
          </a:p>
          <a:p>
            <a:pPr lvl="1"/>
            <a:endParaRPr lang="en-US" altLang="en-US" sz="3200" dirty="0">
              <a:solidFill>
                <a:schemeClr val="tx1"/>
              </a:solidFill>
            </a:endParaRPr>
          </a:p>
          <a:p>
            <a:pPr lvl="1"/>
            <a:endParaRPr lang="en-US" altLang="en-US" sz="3200" dirty="0">
              <a:solidFill>
                <a:schemeClr val="tx1"/>
              </a:solidFill>
            </a:endParaRPr>
          </a:p>
        </p:txBody>
      </p:sp>
    </p:spTree>
    <p:extLst>
      <p:ext uri="{BB962C8B-B14F-4D97-AF65-F5344CB8AC3E}">
        <p14:creationId xmlns:p14="http://schemas.microsoft.com/office/powerpoint/2010/main" val="40117830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a:xfrm>
            <a:off x="762000" y="381000"/>
            <a:ext cx="7406640" cy="533400"/>
          </a:xfrm>
        </p:spPr>
        <p:txBody>
          <a:bodyPr>
            <a:normAutofit fontScale="90000"/>
          </a:bodyPr>
          <a:lstStyle/>
          <a:p>
            <a:r>
              <a:rPr lang="en-US" altLang="en-US" b="1" dirty="0">
                <a:solidFill>
                  <a:schemeClr val="tx1"/>
                </a:solidFill>
              </a:rPr>
              <a:t>Contd..</a:t>
            </a:r>
          </a:p>
        </p:txBody>
      </p:sp>
      <p:sp>
        <p:nvSpPr>
          <p:cNvPr id="3" name="Content Placeholder 2"/>
          <p:cNvSpPr>
            <a:spLocks noGrp="1"/>
          </p:cNvSpPr>
          <p:nvPr>
            <p:ph idx="1"/>
          </p:nvPr>
        </p:nvSpPr>
        <p:spPr>
          <a:xfrm>
            <a:off x="342106" y="1828800"/>
            <a:ext cx="8459787" cy="4810125"/>
          </a:xfrm>
        </p:spPr>
        <p:txBody>
          <a:bodyPr>
            <a:normAutofit/>
          </a:bodyPr>
          <a:lstStyle/>
          <a:p>
            <a:r>
              <a:rPr lang="en-US" altLang="en-US" sz="4000" dirty="0">
                <a:solidFill>
                  <a:srgbClr val="7030A0"/>
                </a:solidFill>
              </a:rPr>
              <a:t>The ability to tackle ambiguous and fuzzy (unclear) problems</a:t>
            </a:r>
          </a:p>
          <a:p>
            <a:endParaRPr lang="en-US" altLang="en-US" sz="4000" dirty="0">
              <a:solidFill>
                <a:srgbClr val="7030A0"/>
              </a:solidFill>
            </a:endParaRPr>
          </a:p>
        </p:txBody>
      </p:sp>
    </p:spTree>
    <p:extLst>
      <p:ext uri="{BB962C8B-B14F-4D97-AF65-F5344CB8AC3E}">
        <p14:creationId xmlns:p14="http://schemas.microsoft.com/office/powerpoint/2010/main" val="35673843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868680" y="152400"/>
            <a:ext cx="7406640" cy="762000"/>
          </a:xfrm>
        </p:spPr>
        <p:txBody>
          <a:bodyPr/>
          <a:lstStyle/>
          <a:p>
            <a:r>
              <a:rPr lang="en-US" altLang="en-US" b="1" dirty="0">
                <a:solidFill>
                  <a:schemeClr val="tx1"/>
                </a:solidFill>
              </a:rPr>
              <a:t>Contd..</a:t>
            </a:r>
          </a:p>
        </p:txBody>
      </p:sp>
      <p:sp>
        <p:nvSpPr>
          <p:cNvPr id="3" name="Content Placeholder 2"/>
          <p:cNvSpPr>
            <a:spLocks noGrp="1"/>
          </p:cNvSpPr>
          <p:nvPr>
            <p:ph idx="1"/>
          </p:nvPr>
        </p:nvSpPr>
        <p:spPr>
          <a:xfrm>
            <a:off x="330676" y="914400"/>
            <a:ext cx="8459787" cy="5943600"/>
          </a:xfrm>
        </p:spPr>
        <p:txBody>
          <a:bodyPr>
            <a:normAutofit/>
          </a:bodyPr>
          <a:lstStyle/>
          <a:p>
            <a:r>
              <a:rPr lang="en-US" altLang="en-US" sz="3600" dirty="0">
                <a:solidFill>
                  <a:schemeClr val="tx1"/>
                </a:solidFill>
              </a:rPr>
              <a:t>Correct and efficient memory and information manipulation based on expertise </a:t>
            </a:r>
            <a:r>
              <a:rPr lang="en-US" altLang="en-US" sz="3600" dirty="0">
                <a:solidFill>
                  <a:srgbClr val="FF0000"/>
                </a:solidFill>
              </a:rPr>
              <a:t>(Expert Systems)</a:t>
            </a:r>
          </a:p>
        </p:txBody>
      </p:sp>
    </p:spTree>
    <p:extLst>
      <p:ext uri="{BB962C8B-B14F-4D97-AF65-F5344CB8AC3E}">
        <p14:creationId xmlns:p14="http://schemas.microsoft.com/office/powerpoint/2010/main" val="38269159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868680" y="152400"/>
            <a:ext cx="7406640" cy="762000"/>
          </a:xfrm>
        </p:spPr>
        <p:txBody>
          <a:bodyPr/>
          <a:lstStyle/>
          <a:p>
            <a:r>
              <a:rPr lang="en-US" altLang="en-US" b="1" dirty="0">
                <a:solidFill>
                  <a:schemeClr val="tx1"/>
                </a:solidFill>
              </a:rPr>
              <a:t>Contd..</a:t>
            </a:r>
          </a:p>
        </p:txBody>
      </p:sp>
      <p:sp>
        <p:nvSpPr>
          <p:cNvPr id="3" name="Content Placeholder 2"/>
          <p:cNvSpPr>
            <a:spLocks noGrp="1"/>
          </p:cNvSpPr>
          <p:nvPr>
            <p:ph idx="1"/>
          </p:nvPr>
        </p:nvSpPr>
        <p:spPr>
          <a:xfrm>
            <a:off x="330676" y="914400"/>
            <a:ext cx="8459787" cy="5943600"/>
          </a:xfrm>
        </p:spPr>
        <p:txBody>
          <a:bodyPr>
            <a:normAutofit/>
          </a:bodyPr>
          <a:lstStyle/>
          <a:p>
            <a:pPr lvl="1"/>
            <a:r>
              <a:rPr lang="en-US" altLang="en-US" sz="3200" dirty="0">
                <a:solidFill>
                  <a:schemeClr val="tx1"/>
                </a:solidFill>
              </a:rPr>
              <a:t>Suppose you visit a doctor. </a:t>
            </a:r>
          </a:p>
          <a:p>
            <a:pPr lvl="1"/>
            <a:r>
              <a:rPr lang="en-US" altLang="en-US" sz="3200" dirty="0">
                <a:solidFill>
                  <a:schemeClr val="tx1"/>
                </a:solidFill>
              </a:rPr>
              <a:t>The doctor takes a few measurements like temperature (T), Blood Pressure (BP), Pulse Rate (PR) etc. </a:t>
            </a:r>
          </a:p>
          <a:p>
            <a:pPr lvl="1"/>
            <a:r>
              <a:rPr lang="en-US" altLang="en-US" sz="3200" dirty="0">
                <a:solidFill>
                  <a:schemeClr val="tx1"/>
                </a:solidFill>
              </a:rPr>
              <a:t>Doctor uses these measurements and tries to produce a diagnosis for the disease based on his previous knowledge</a:t>
            </a:r>
            <a:r>
              <a:rPr lang="en-US" altLang="en-US" sz="2400" dirty="0">
                <a:solidFill>
                  <a:schemeClr val="tx1"/>
                </a:solidFill>
              </a:rPr>
              <a:t>.</a:t>
            </a:r>
          </a:p>
        </p:txBody>
      </p:sp>
    </p:spTree>
    <p:extLst>
      <p:ext uri="{BB962C8B-B14F-4D97-AF65-F5344CB8AC3E}">
        <p14:creationId xmlns:p14="http://schemas.microsoft.com/office/powerpoint/2010/main" val="17403589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868680" y="152400"/>
            <a:ext cx="7406640" cy="762000"/>
          </a:xfrm>
        </p:spPr>
        <p:txBody>
          <a:bodyPr/>
          <a:lstStyle/>
          <a:p>
            <a:r>
              <a:rPr lang="en-US" altLang="en-US" b="1" dirty="0">
                <a:solidFill>
                  <a:schemeClr val="tx1"/>
                </a:solidFill>
              </a:rPr>
              <a:t>Contd..</a:t>
            </a:r>
          </a:p>
        </p:txBody>
      </p:sp>
      <p:sp>
        <p:nvSpPr>
          <p:cNvPr id="3" name="Content Placeholder 2"/>
          <p:cNvSpPr>
            <a:spLocks noGrp="1"/>
          </p:cNvSpPr>
          <p:nvPr>
            <p:ph idx="1"/>
          </p:nvPr>
        </p:nvSpPr>
        <p:spPr>
          <a:xfrm>
            <a:off x="330676" y="914400"/>
            <a:ext cx="8459787" cy="5943600"/>
          </a:xfrm>
        </p:spPr>
        <p:txBody>
          <a:bodyPr>
            <a:normAutofit/>
          </a:bodyPr>
          <a:lstStyle/>
          <a:p>
            <a:pPr lvl="1"/>
            <a:r>
              <a:rPr lang="en-US" altLang="en-US" sz="3600" dirty="0">
                <a:solidFill>
                  <a:schemeClr val="tx1"/>
                </a:solidFill>
              </a:rPr>
              <a:t>Previous knowledge is based on some rules. E.g.</a:t>
            </a:r>
          </a:p>
          <a:p>
            <a:pPr lvl="2"/>
            <a:r>
              <a:rPr lang="en-US" altLang="en-US" sz="3200" dirty="0">
                <a:solidFill>
                  <a:schemeClr val="tx1"/>
                </a:solidFill>
              </a:rPr>
              <a:t>“If the patient has a high BP and normal T and normal PR then he is not well”. </a:t>
            </a:r>
          </a:p>
          <a:p>
            <a:pPr lvl="2"/>
            <a:r>
              <a:rPr lang="en-US" altLang="en-US" sz="3200" dirty="0">
                <a:solidFill>
                  <a:schemeClr val="tx1"/>
                </a:solidFill>
              </a:rPr>
              <a:t>“If only the BP is normal then what ever the other measurements may be the person should be healthy” and many such other rules</a:t>
            </a:r>
          </a:p>
        </p:txBody>
      </p:sp>
    </p:spTree>
    <p:extLst>
      <p:ext uri="{BB962C8B-B14F-4D97-AF65-F5344CB8AC3E}">
        <p14:creationId xmlns:p14="http://schemas.microsoft.com/office/powerpoint/2010/main" val="7777262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857249" y="137160"/>
            <a:ext cx="7406640" cy="929640"/>
          </a:xfrm>
        </p:spPr>
        <p:txBody>
          <a:bodyPr/>
          <a:lstStyle/>
          <a:p>
            <a:r>
              <a:rPr lang="en-US" altLang="en-US" dirty="0">
                <a:solidFill>
                  <a:schemeClr val="tx1"/>
                </a:solidFill>
              </a:rPr>
              <a:t>Contd..</a:t>
            </a:r>
          </a:p>
        </p:txBody>
      </p:sp>
      <p:sp>
        <p:nvSpPr>
          <p:cNvPr id="3" name="Content Placeholder 2"/>
          <p:cNvSpPr>
            <a:spLocks noGrp="1"/>
          </p:cNvSpPr>
          <p:nvPr>
            <p:ph idx="1"/>
          </p:nvPr>
        </p:nvSpPr>
        <p:spPr>
          <a:xfrm>
            <a:off x="406876" y="1066800"/>
            <a:ext cx="8307387" cy="5638800"/>
          </a:xfrm>
        </p:spPr>
        <p:txBody>
          <a:bodyPr>
            <a:noAutofit/>
          </a:bodyPr>
          <a:lstStyle/>
          <a:p>
            <a:pPr algn="just">
              <a:defRPr/>
            </a:pPr>
            <a:r>
              <a:rPr lang="en-US" sz="3600" dirty="0">
                <a:solidFill>
                  <a:schemeClr val="tx1"/>
                </a:solidFill>
              </a:rPr>
              <a:t>Every human has a distinct pattern of his/her fingerprint. So, can you recognize a person just by looking at his/her fingerprint?</a:t>
            </a:r>
          </a:p>
          <a:p>
            <a:pPr lvl="1" algn="just">
              <a:defRPr/>
            </a:pPr>
            <a:r>
              <a:rPr lang="en-US" sz="3200" dirty="0">
                <a:solidFill>
                  <a:schemeClr val="tx1"/>
                </a:solidFill>
              </a:rPr>
              <a:t>Let us just consider 5 different people and ask a sixth one to have a look at different images of their fingerprints</a:t>
            </a:r>
          </a:p>
          <a:p>
            <a:pPr lvl="1" algn="just">
              <a:defRPr/>
            </a:pPr>
            <a:r>
              <a:rPr lang="en-US" sz="3200" dirty="0">
                <a:solidFill>
                  <a:schemeClr val="tx1"/>
                </a:solidFill>
              </a:rPr>
              <a:t>After having seen the images a several times, he somehow will learn the patterns to make prints distinct. </a:t>
            </a:r>
          </a:p>
        </p:txBody>
      </p:sp>
    </p:spTree>
    <p:extLst>
      <p:ext uri="{BB962C8B-B14F-4D97-AF65-F5344CB8AC3E}">
        <p14:creationId xmlns:p14="http://schemas.microsoft.com/office/powerpoint/2010/main" val="4089601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857249" y="137160"/>
            <a:ext cx="7406640" cy="929640"/>
          </a:xfrm>
        </p:spPr>
        <p:txBody>
          <a:bodyPr/>
          <a:lstStyle/>
          <a:p>
            <a:r>
              <a:rPr lang="en-US" altLang="en-US" b="1" dirty="0">
                <a:solidFill>
                  <a:schemeClr val="tx1"/>
                </a:solidFill>
              </a:rPr>
              <a:t>Contd..</a:t>
            </a:r>
          </a:p>
        </p:txBody>
      </p:sp>
      <p:sp>
        <p:nvSpPr>
          <p:cNvPr id="3" name="Content Placeholder 2"/>
          <p:cNvSpPr>
            <a:spLocks noGrp="1"/>
          </p:cNvSpPr>
          <p:nvPr>
            <p:ph idx="1"/>
          </p:nvPr>
        </p:nvSpPr>
        <p:spPr>
          <a:xfrm>
            <a:off x="406876" y="1066800"/>
            <a:ext cx="8307387" cy="5638800"/>
          </a:xfrm>
        </p:spPr>
        <p:txBody>
          <a:bodyPr>
            <a:noAutofit/>
          </a:bodyPr>
          <a:lstStyle/>
          <a:p>
            <a:pPr lvl="2" algn="just">
              <a:defRPr/>
            </a:pPr>
            <a:r>
              <a:rPr lang="en-US" sz="3600" dirty="0">
                <a:solidFill>
                  <a:schemeClr val="tx1"/>
                </a:solidFill>
              </a:rPr>
              <a:t>One may have fewer lines in the print, </a:t>
            </a:r>
          </a:p>
          <a:p>
            <a:pPr lvl="2" algn="just">
              <a:defRPr/>
            </a:pPr>
            <a:r>
              <a:rPr lang="en-US" sz="3600" dirty="0">
                <a:solidFill>
                  <a:schemeClr val="tx1"/>
                </a:solidFill>
              </a:rPr>
              <a:t>the other one has sharply curved lines, </a:t>
            </a:r>
          </a:p>
          <a:p>
            <a:pPr lvl="2" algn="just">
              <a:defRPr/>
            </a:pPr>
            <a:r>
              <a:rPr lang="en-US" sz="3600" dirty="0">
                <a:solidFill>
                  <a:schemeClr val="tx1"/>
                </a:solidFill>
              </a:rPr>
              <a:t>some might have larger distance between the lines in the print </a:t>
            </a:r>
          </a:p>
          <a:p>
            <a:pPr lvl="2" algn="just">
              <a:defRPr/>
            </a:pPr>
            <a:r>
              <a:rPr lang="en-US" sz="3600" dirty="0">
                <a:solidFill>
                  <a:schemeClr val="tx1"/>
                </a:solidFill>
              </a:rPr>
              <a:t>and some might have smaller displacement between the lines and many such features.</a:t>
            </a:r>
          </a:p>
        </p:txBody>
      </p:sp>
    </p:spTree>
    <p:extLst>
      <p:ext uri="{BB962C8B-B14F-4D97-AF65-F5344CB8AC3E}">
        <p14:creationId xmlns:p14="http://schemas.microsoft.com/office/powerpoint/2010/main" val="40232217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762000" y="381000"/>
            <a:ext cx="7406640" cy="533400"/>
          </a:xfrm>
        </p:spPr>
        <p:txBody>
          <a:bodyPr>
            <a:normAutofit fontScale="90000"/>
          </a:bodyPr>
          <a:lstStyle/>
          <a:p>
            <a:r>
              <a:rPr lang="en-US" altLang="en-US" b="1" dirty="0">
                <a:solidFill>
                  <a:schemeClr val="tx1"/>
                </a:solidFill>
              </a:rPr>
              <a:t>Contd..</a:t>
            </a:r>
          </a:p>
        </p:txBody>
      </p:sp>
      <p:sp>
        <p:nvSpPr>
          <p:cNvPr id="3" name="Content Placeholder 2"/>
          <p:cNvSpPr>
            <a:spLocks noGrp="1"/>
          </p:cNvSpPr>
          <p:nvPr>
            <p:ph idx="1"/>
          </p:nvPr>
        </p:nvSpPr>
        <p:spPr>
          <a:xfrm>
            <a:off x="304800" y="990600"/>
            <a:ext cx="8458199" cy="5029200"/>
          </a:xfrm>
        </p:spPr>
        <p:txBody>
          <a:bodyPr>
            <a:normAutofit/>
          </a:bodyPr>
          <a:lstStyle/>
          <a:p>
            <a:r>
              <a:rPr lang="en-US" altLang="en-US" sz="3200" dirty="0">
                <a:solidFill>
                  <a:schemeClr val="tx1"/>
                </a:solidFill>
              </a:rPr>
              <a:t>After sometime, that sixth person will be able to look at a new fingerprint of one of those five persons and he might with some degree of accuracy recognize that which one amongst the five does it belong.</a:t>
            </a:r>
          </a:p>
          <a:p>
            <a:pPr marL="34290" indent="0">
              <a:buNone/>
            </a:pPr>
            <a:endParaRPr lang="en-US" altLang="en-US" sz="3200" dirty="0">
              <a:solidFill>
                <a:schemeClr val="tx1"/>
              </a:solidFill>
            </a:endParaRPr>
          </a:p>
          <a:p>
            <a:r>
              <a:rPr lang="en-US" altLang="en-US" sz="3200" b="1" dirty="0">
                <a:solidFill>
                  <a:schemeClr val="tx1"/>
                </a:solidFill>
              </a:rPr>
              <a:t>The ability to learn and recognize (Machine learning and pattern recognition)</a:t>
            </a:r>
          </a:p>
          <a:p>
            <a:endParaRPr lang="en-US" altLang="en-US" sz="3200" dirty="0">
              <a:solidFill>
                <a:schemeClr val="tx1"/>
              </a:solidFill>
            </a:endParaRPr>
          </a:p>
          <a:p>
            <a:endParaRPr lang="en-US" altLang="en-US" sz="3200" dirty="0">
              <a:solidFill>
                <a:schemeClr val="tx1"/>
              </a:solidFill>
            </a:endParaRPr>
          </a:p>
          <a:p>
            <a:endParaRPr lang="en-US" altLang="en-US" sz="3200" dirty="0">
              <a:solidFill>
                <a:schemeClr val="tx1"/>
              </a:solidFill>
            </a:endParaRPr>
          </a:p>
          <a:p>
            <a:endParaRPr lang="en-US" altLang="en-US" sz="3200" dirty="0">
              <a:solidFill>
                <a:schemeClr val="tx1"/>
              </a:solidFill>
            </a:endParaRPr>
          </a:p>
        </p:txBody>
      </p:sp>
    </p:spTree>
    <p:extLst>
      <p:ext uri="{BB962C8B-B14F-4D97-AF65-F5344CB8AC3E}">
        <p14:creationId xmlns:p14="http://schemas.microsoft.com/office/powerpoint/2010/main" val="13684139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80" y="419100"/>
            <a:ext cx="7406640" cy="685800"/>
          </a:xfrm>
        </p:spPr>
        <p:txBody>
          <a:bodyPr>
            <a:normAutofit/>
          </a:bodyPr>
          <a:lstStyle/>
          <a:p>
            <a:pPr marL="271463" indent="-271463" eaLnBrk="1" hangingPunct="1">
              <a:tabLst>
                <a:tab pos="446088" algn="l"/>
              </a:tabLst>
              <a:defRPr/>
            </a:pPr>
            <a:r>
              <a:rPr lang="en-GB" altLang="en-US" sz="4000" b="1" dirty="0">
                <a:solidFill>
                  <a:schemeClr val="tx1"/>
                </a:solidFill>
                <a:latin typeface="Arial" panose="020B0604020202020204" pitchFamily="34" charset="0"/>
                <a:cs typeface="Arial" panose="020B0604020202020204" pitchFamily="34" charset="0"/>
              </a:rPr>
              <a:t>Why Need AI?</a:t>
            </a:r>
          </a:p>
        </p:txBody>
      </p:sp>
      <p:sp>
        <p:nvSpPr>
          <p:cNvPr id="3" name="Content Placeholder 2"/>
          <p:cNvSpPr>
            <a:spLocks noGrp="1"/>
          </p:cNvSpPr>
          <p:nvPr>
            <p:ph idx="1"/>
          </p:nvPr>
        </p:nvSpPr>
        <p:spPr>
          <a:xfrm>
            <a:off x="857251" y="1447800"/>
            <a:ext cx="7404653" cy="4648200"/>
          </a:xfrm>
        </p:spPr>
        <p:txBody>
          <a:bodyPr>
            <a:normAutofit/>
          </a:bodyPr>
          <a:lstStyle/>
          <a:p>
            <a:pPr>
              <a:defRPr/>
            </a:pPr>
            <a:r>
              <a:rPr lang="en-US" sz="4400" dirty="0">
                <a:solidFill>
                  <a:schemeClr val="tx1"/>
                </a:solidFill>
              </a:rPr>
              <a:t>Why?</a:t>
            </a:r>
          </a:p>
          <a:p>
            <a:pPr>
              <a:defRPr/>
            </a:pPr>
            <a:r>
              <a:rPr lang="en-US" sz="4400" dirty="0">
                <a:solidFill>
                  <a:schemeClr val="tx1"/>
                </a:solidFill>
              </a:rPr>
              <a:t>Why AI is the future?</a:t>
            </a:r>
          </a:p>
          <a:p>
            <a:pPr>
              <a:defRPr/>
            </a:pPr>
            <a:endParaRPr lang="en-US" sz="4400" dirty="0">
              <a:solidFill>
                <a:schemeClr val="tx1"/>
              </a:solidFill>
            </a:endParaRPr>
          </a:p>
        </p:txBody>
      </p:sp>
    </p:spTree>
    <p:extLst>
      <p:ext uri="{BB962C8B-B14F-4D97-AF65-F5344CB8AC3E}">
        <p14:creationId xmlns:p14="http://schemas.microsoft.com/office/powerpoint/2010/main" val="37210196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7251" y="190500"/>
            <a:ext cx="7406640" cy="1143000"/>
          </a:xfrm>
        </p:spPr>
        <p:txBody>
          <a:bodyPr>
            <a:normAutofit/>
          </a:bodyPr>
          <a:lstStyle/>
          <a:p>
            <a:pPr>
              <a:defRPr/>
            </a:pPr>
            <a:r>
              <a:rPr lang="en-US" sz="4400" b="1" dirty="0">
                <a:solidFill>
                  <a:schemeClr val="tx1"/>
                </a:solidFill>
                <a:latin typeface="+mn-lt"/>
              </a:rPr>
              <a:t>Intelligent Machines </a:t>
            </a:r>
          </a:p>
        </p:txBody>
      </p:sp>
      <p:sp>
        <p:nvSpPr>
          <p:cNvPr id="3" name="Content Placeholder 2"/>
          <p:cNvSpPr>
            <a:spLocks noGrp="1"/>
          </p:cNvSpPr>
          <p:nvPr>
            <p:ph idx="1"/>
          </p:nvPr>
        </p:nvSpPr>
        <p:spPr>
          <a:xfrm>
            <a:off x="381000" y="1219200"/>
            <a:ext cx="8267700" cy="4038600"/>
          </a:xfrm>
        </p:spPr>
        <p:txBody>
          <a:bodyPr>
            <a:noAutofit/>
          </a:bodyPr>
          <a:lstStyle/>
          <a:p>
            <a:r>
              <a:rPr lang="en-US" altLang="en-US" sz="2300" b="1" dirty="0">
                <a:solidFill>
                  <a:schemeClr val="tx1"/>
                </a:solidFill>
              </a:rPr>
              <a:t>What if?</a:t>
            </a:r>
          </a:p>
          <a:p>
            <a:pPr lvl="1"/>
            <a:r>
              <a:rPr lang="en-US" altLang="en-US" sz="2300" dirty="0">
                <a:solidFill>
                  <a:schemeClr val="tx1"/>
                </a:solidFill>
              </a:rPr>
              <a:t>A machine searches through a mesh and finds a path?</a:t>
            </a:r>
          </a:p>
          <a:p>
            <a:pPr lvl="1"/>
            <a:r>
              <a:rPr lang="en-US" altLang="en-US" sz="2300" dirty="0">
                <a:solidFill>
                  <a:schemeClr val="tx1"/>
                </a:solidFill>
              </a:rPr>
              <a:t>A machine solves problems like the next number in the sequence? </a:t>
            </a:r>
          </a:p>
          <a:p>
            <a:pPr lvl="1"/>
            <a:r>
              <a:rPr lang="en-US" altLang="en-US" sz="2300" dirty="0">
                <a:solidFill>
                  <a:schemeClr val="tx1"/>
                </a:solidFill>
              </a:rPr>
              <a:t>A machine develops plans? </a:t>
            </a:r>
          </a:p>
          <a:p>
            <a:pPr lvl="1"/>
            <a:r>
              <a:rPr lang="en-US" altLang="en-US" sz="2300" dirty="0">
                <a:solidFill>
                  <a:schemeClr val="tx1"/>
                </a:solidFill>
              </a:rPr>
              <a:t>A machine diagnoses and prescribes? </a:t>
            </a:r>
          </a:p>
          <a:p>
            <a:pPr lvl="1"/>
            <a:r>
              <a:rPr lang="en-US" altLang="en-US" sz="2300" dirty="0">
                <a:solidFill>
                  <a:schemeClr val="tx1"/>
                </a:solidFill>
              </a:rPr>
              <a:t>A machine answers ambiguous questions? </a:t>
            </a:r>
          </a:p>
          <a:p>
            <a:pPr lvl="1"/>
            <a:r>
              <a:rPr lang="en-US" altLang="en-US" sz="2300" dirty="0">
                <a:solidFill>
                  <a:schemeClr val="tx1"/>
                </a:solidFill>
              </a:rPr>
              <a:t>A machine recognizes fingerprints? </a:t>
            </a:r>
          </a:p>
          <a:p>
            <a:pPr lvl="1"/>
            <a:r>
              <a:rPr lang="en-US" altLang="en-US" sz="2300" dirty="0">
                <a:solidFill>
                  <a:schemeClr val="tx1"/>
                </a:solidFill>
              </a:rPr>
              <a:t>A machine understands? </a:t>
            </a:r>
          </a:p>
          <a:p>
            <a:pPr lvl="1"/>
            <a:r>
              <a:rPr lang="en-US" altLang="en-US" sz="2300" dirty="0">
                <a:solidFill>
                  <a:schemeClr val="tx1"/>
                </a:solidFill>
              </a:rPr>
              <a:t>A machine perceives? </a:t>
            </a:r>
          </a:p>
          <a:p>
            <a:pPr lvl="1"/>
            <a:r>
              <a:rPr lang="en-US" altLang="en-US" sz="2300" dirty="0">
                <a:solidFill>
                  <a:schemeClr val="tx1"/>
                </a:solidFill>
              </a:rPr>
              <a:t>A machine does MANY MORE SUCH THINGS! </a:t>
            </a:r>
          </a:p>
          <a:p>
            <a:pPr lvl="1"/>
            <a:r>
              <a:rPr lang="en-US" altLang="en-US" sz="2300" dirty="0">
                <a:solidFill>
                  <a:schemeClr val="tx1"/>
                </a:solidFill>
              </a:rPr>
              <a:t>A machine behaves as HUMANS do?</a:t>
            </a:r>
          </a:p>
          <a:p>
            <a:r>
              <a:rPr lang="en-US" altLang="en-US" sz="2300" dirty="0">
                <a:solidFill>
                  <a:schemeClr val="tx1"/>
                </a:solidFill>
              </a:rPr>
              <a:t>Such a machine will be called Intelligent.</a:t>
            </a:r>
          </a:p>
          <a:p>
            <a:r>
              <a:rPr lang="en-US" altLang="en-US" sz="2300" dirty="0">
                <a:solidFill>
                  <a:schemeClr val="tx1"/>
                </a:solidFill>
                <a:highlight>
                  <a:srgbClr val="FFFF00"/>
                </a:highlight>
              </a:rPr>
              <a:t>Is this real or natural intelligence? </a:t>
            </a:r>
          </a:p>
        </p:txBody>
      </p:sp>
    </p:spTree>
    <p:extLst>
      <p:ext uri="{BB962C8B-B14F-4D97-AF65-F5344CB8AC3E}">
        <p14:creationId xmlns:p14="http://schemas.microsoft.com/office/powerpoint/2010/main" val="12116390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80" y="2590800"/>
            <a:ext cx="7406640" cy="685800"/>
          </a:xfrm>
        </p:spPr>
        <p:txBody>
          <a:bodyPr>
            <a:normAutofit/>
          </a:bodyPr>
          <a:lstStyle/>
          <a:p>
            <a:pPr marL="271463" indent="-271463" eaLnBrk="1" hangingPunct="1">
              <a:tabLst>
                <a:tab pos="446088" algn="l"/>
              </a:tabLst>
              <a:defRPr/>
            </a:pPr>
            <a:r>
              <a:rPr lang="en-GB" altLang="en-US" sz="4000" b="1" dirty="0">
                <a:solidFill>
                  <a:schemeClr val="tx1"/>
                </a:solidFill>
                <a:latin typeface="Arial" panose="020B0604020202020204" pitchFamily="34" charset="0"/>
                <a:cs typeface="Arial" panose="020B0604020202020204" pitchFamily="34" charset="0"/>
              </a:rPr>
              <a:t>Real-World Application of AI</a:t>
            </a:r>
          </a:p>
        </p:txBody>
      </p:sp>
    </p:spTree>
    <p:extLst>
      <p:ext uri="{BB962C8B-B14F-4D97-AF65-F5344CB8AC3E}">
        <p14:creationId xmlns:p14="http://schemas.microsoft.com/office/powerpoint/2010/main" val="39820531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a:xfrm>
            <a:off x="685800" y="381000"/>
            <a:ext cx="7406640" cy="609600"/>
          </a:xfrm>
        </p:spPr>
        <p:txBody>
          <a:bodyPr>
            <a:normAutofit fontScale="90000"/>
          </a:bodyPr>
          <a:lstStyle/>
          <a:p>
            <a:r>
              <a:rPr lang="en-US" altLang="en-US" b="1" dirty="0">
                <a:solidFill>
                  <a:schemeClr val="tx1"/>
                </a:solidFill>
              </a:rPr>
              <a:t>Some AI application </a:t>
            </a:r>
          </a:p>
        </p:txBody>
      </p:sp>
      <p:sp>
        <p:nvSpPr>
          <p:cNvPr id="48131" name="Content Placeholder 2"/>
          <p:cNvSpPr>
            <a:spLocks noGrp="1"/>
          </p:cNvSpPr>
          <p:nvPr>
            <p:ph idx="1"/>
          </p:nvPr>
        </p:nvSpPr>
        <p:spPr>
          <a:xfrm>
            <a:off x="381000" y="1066800"/>
            <a:ext cx="8305800" cy="5105400"/>
          </a:xfrm>
        </p:spPr>
        <p:txBody>
          <a:bodyPr>
            <a:normAutofit/>
          </a:bodyPr>
          <a:lstStyle/>
          <a:p>
            <a:r>
              <a:rPr lang="en-US" altLang="en-US" sz="2800" b="1" dirty="0">
                <a:solidFill>
                  <a:schemeClr val="tx1"/>
                </a:solidFill>
              </a:rPr>
              <a:t>Robotics</a:t>
            </a:r>
          </a:p>
          <a:p>
            <a:pPr lvl="1" eaLnBrk="1" hangingPunct="1">
              <a:lnSpc>
                <a:spcPct val="80000"/>
              </a:lnSpc>
            </a:pPr>
            <a:r>
              <a:rPr lang="en-US" altLang="en-US" sz="2800" dirty="0">
                <a:solidFill>
                  <a:schemeClr val="tx1"/>
                </a:solidFill>
              </a:rPr>
              <a:t>Reality-- much harder than simulations</a:t>
            </a:r>
          </a:p>
          <a:p>
            <a:r>
              <a:rPr lang="en-US" altLang="en-US" sz="2800" b="1" dirty="0">
                <a:solidFill>
                  <a:schemeClr val="tx1"/>
                </a:solidFill>
              </a:rPr>
              <a:t>Technologies</a:t>
            </a:r>
          </a:p>
          <a:p>
            <a:pPr lvl="1" eaLnBrk="1" hangingPunct="1">
              <a:lnSpc>
                <a:spcPct val="80000"/>
              </a:lnSpc>
            </a:pPr>
            <a:r>
              <a:rPr lang="en-US" altLang="en-US" sz="2800" dirty="0">
                <a:solidFill>
                  <a:schemeClr val="tx1"/>
                </a:solidFill>
              </a:rPr>
              <a:t>Vehicles</a:t>
            </a:r>
          </a:p>
          <a:p>
            <a:pPr lvl="1" eaLnBrk="1" hangingPunct="1">
              <a:lnSpc>
                <a:spcPct val="80000"/>
              </a:lnSpc>
            </a:pPr>
            <a:r>
              <a:rPr lang="en-US" altLang="en-US" sz="2800" dirty="0">
                <a:solidFill>
                  <a:schemeClr val="tx1"/>
                </a:solidFill>
              </a:rPr>
              <a:t>Rescue</a:t>
            </a:r>
          </a:p>
          <a:p>
            <a:pPr lvl="1" eaLnBrk="1" hangingPunct="1">
              <a:lnSpc>
                <a:spcPct val="80000"/>
              </a:lnSpc>
            </a:pPr>
            <a:r>
              <a:rPr lang="en-US" altLang="en-US" sz="2800" dirty="0">
                <a:solidFill>
                  <a:schemeClr val="tx1"/>
                </a:solidFill>
              </a:rPr>
              <a:t>Lots of automation…</a:t>
            </a:r>
          </a:p>
          <a:p>
            <a:r>
              <a:rPr lang="en-US" altLang="en-US" sz="2800" b="1" dirty="0">
                <a:solidFill>
                  <a:schemeClr val="tx1"/>
                </a:solidFill>
              </a:rPr>
              <a:t>Vision (Perception)</a:t>
            </a:r>
          </a:p>
          <a:p>
            <a:pPr lvl="1"/>
            <a:r>
              <a:rPr lang="en-US" altLang="en-US" sz="2800" dirty="0">
                <a:solidFill>
                  <a:schemeClr val="tx1"/>
                </a:solidFill>
              </a:rPr>
              <a:t>Object and character recognition</a:t>
            </a:r>
          </a:p>
          <a:p>
            <a:pPr lvl="1"/>
            <a:r>
              <a:rPr lang="en-US" altLang="en-US" sz="2800" dirty="0">
                <a:solidFill>
                  <a:schemeClr val="tx1"/>
                </a:solidFill>
              </a:rPr>
              <a:t>Scene segmentation</a:t>
            </a:r>
          </a:p>
          <a:p>
            <a:pPr lvl="1"/>
            <a:r>
              <a:rPr lang="en-US" altLang="en-US" sz="2800" dirty="0">
                <a:solidFill>
                  <a:schemeClr val="tx1"/>
                </a:solidFill>
              </a:rPr>
              <a:t>Image classification</a:t>
            </a:r>
          </a:p>
          <a:p>
            <a:endParaRPr lang="en-US" altLang="en-US" sz="2800" dirty="0">
              <a:solidFill>
                <a:schemeClr val="tx1"/>
              </a:solidFill>
            </a:endParaRPr>
          </a:p>
          <a:p>
            <a:endParaRPr lang="en-US" altLang="en-US" sz="2800" dirty="0">
              <a:solidFill>
                <a:schemeClr val="tx1"/>
              </a:solidFill>
            </a:endParaRPr>
          </a:p>
          <a:p>
            <a:endParaRPr lang="en-US" altLang="en-US" sz="2800" dirty="0">
              <a:solidFill>
                <a:schemeClr val="tx1"/>
              </a:solidFill>
            </a:endParaRPr>
          </a:p>
          <a:p>
            <a:endParaRPr lang="en-US" altLang="en-US" sz="2800" dirty="0">
              <a:solidFill>
                <a:schemeClr val="tx1"/>
              </a:solidFill>
            </a:endParaRPr>
          </a:p>
        </p:txBody>
      </p:sp>
    </p:spTree>
    <p:extLst>
      <p:ext uri="{BB962C8B-B14F-4D97-AF65-F5344CB8AC3E}">
        <p14:creationId xmlns:p14="http://schemas.microsoft.com/office/powerpoint/2010/main" val="6977445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altLang="en-US" b="1" dirty="0">
                <a:solidFill>
                  <a:schemeClr val="tx1"/>
                </a:solidFill>
              </a:rPr>
              <a:t>Contd..</a:t>
            </a:r>
          </a:p>
        </p:txBody>
      </p:sp>
      <p:sp>
        <p:nvSpPr>
          <p:cNvPr id="3" name="Content Placeholder 2"/>
          <p:cNvSpPr>
            <a:spLocks noGrp="1"/>
          </p:cNvSpPr>
          <p:nvPr>
            <p:ph idx="1"/>
          </p:nvPr>
        </p:nvSpPr>
        <p:spPr/>
        <p:txBody>
          <a:bodyPr>
            <a:normAutofit/>
          </a:bodyPr>
          <a:lstStyle/>
          <a:p>
            <a:pPr>
              <a:defRPr/>
            </a:pPr>
            <a:r>
              <a:rPr lang="en-US" altLang="en-US" sz="3600" b="1" dirty="0">
                <a:solidFill>
                  <a:schemeClr val="tx1"/>
                </a:solidFill>
              </a:rPr>
              <a:t>Logical systems</a:t>
            </a:r>
          </a:p>
          <a:p>
            <a:pPr lvl="1" eaLnBrk="1" hangingPunct="1">
              <a:lnSpc>
                <a:spcPct val="90000"/>
              </a:lnSpc>
              <a:defRPr/>
            </a:pPr>
            <a:r>
              <a:rPr lang="en-US" altLang="en-US" sz="3600" dirty="0">
                <a:solidFill>
                  <a:schemeClr val="tx1"/>
                </a:solidFill>
              </a:rPr>
              <a:t>Theorem provers </a:t>
            </a:r>
          </a:p>
          <a:p>
            <a:pPr lvl="1" eaLnBrk="1" hangingPunct="1">
              <a:lnSpc>
                <a:spcPct val="90000"/>
              </a:lnSpc>
              <a:defRPr/>
            </a:pPr>
            <a:r>
              <a:rPr lang="en-US" altLang="en-US" sz="3600" dirty="0">
                <a:solidFill>
                  <a:schemeClr val="tx1"/>
                </a:solidFill>
              </a:rPr>
              <a:t>Fault diagnosis</a:t>
            </a:r>
          </a:p>
          <a:p>
            <a:pPr lvl="1" eaLnBrk="1" hangingPunct="1">
              <a:lnSpc>
                <a:spcPct val="90000"/>
              </a:lnSpc>
              <a:defRPr/>
            </a:pPr>
            <a:r>
              <a:rPr lang="en-US" altLang="en-US" sz="3600" dirty="0">
                <a:solidFill>
                  <a:schemeClr val="tx1"/>
                </a:solidFill>
              </a:rPr>
              <a:t>Question answering</a:t>
            </a:r>
          </a:p>
          <a:p>
            <a:pPr>
              <a:defRPr/>
            </a:pPr>
            <a:r>
              <a:rPr lang="en-US" altLang="en-US" sz="3600" b="1" dirty="0">
                <a:solidFill>
                  <a:schemeClr val="tx1"/>
                </a:solidFill>
              </a:rPr>
              <a:t>Games</a:t>
            </a:r>
          </a:p>
          <a:p>
            <a:pPr marL="34290" indent="0">
              <a:buNone/>
              <a:defRPr/>
            </a:pPr>
            <a:endParaRPr lang="en-US" sz="3600" dirty="0">
              <a:solidFill>
                <a:schemeClr val="tx1"/>
              </a:solidFill>
            </a:endParaRPr>
          </a:p>
          <a:p>
            <a:pPr>
              <a:defRPr/>
            </a:pPr>
            <a:endParaRPr lang="en-US" sz="3600" dirty="0">
              <a:solidFill>
                <a:schemeClr val="tx1"/>
              </a:solidFill>
            </a:endParaRPr>
          </a:p>
          <a:p>
            <a:pPr>
              <a:defRPr/>
            </a:pPr>
            <a:endParaRPr lang="en-US" sz="3600" dirty="0">
              <a:solidFill>
                <a:schemeClr val="tx1"/>
              </a:solidFill>
            </a:endParaRPr>
          </a:p>
          <a:p>
            <a:pPr>
              <a:defRPr/>
            </a:pPr>
            <a:endParaRPr lang="en-US" sz="3600" dirty="0">
              <a:solidFill>
                <a:schemeClr val="tx1"/>
              </a:solidFill>
            </a:endParaRPr>
          </a:p>
          <a:p>
            <a:pPr>
              <a:defRPr/>
            </a:pPr>
            <a:endParaRPr lang="en-US" sz="3600" dirty="0">
              <a:solidFill>
                <a:schemeClr val="tx1"/>
              </a:solidFill>
            </a:endParaRPr>
          </a:p>
          <a:p>
            <a:pPr>
              <a:defRPr/>
            </a:pPr>
            <a:endParaRPr lang="en-US" sz="3600" dirty="0">
              <a:solidFill>
                <a:schemeClr val="tx1"/>
              </a:solidFill>
            </a:endParaRPr>
          </a:p>
        </p:txBody>
      </p:sp>
    </p:spTree>
    <p:extLst>
      <p:ext uri="{BB962C8B-B14F-4D97-AF65-F5344CB8AC3E}">
        <p14:creationId xmlns:p14="http://schemas.microsoft.com/office/powerpoint/2010/main" val="30100430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a:xfrm>
            <a:off x="609600" y="381000"/>
            <a:ext cx="7406640" cy="762000"/>
          </a:xfrm>
        </p:spPr>
        <p:txBody>
          <a:bodyPr/>
          <a:lstStyle/>
          <a:p>
            <a:r>
              <a:rPr lang="en-US" altLang="en-US" b="1" dirty="0">
                <a:solidFill>
                  <a:schemeClr val="tx1"/>
                </a:solidFill>
              </a:rPr>
              <a:t>Contd..</a:t>
            </a:r>
          </a:p>
        </p:txBody>
      </p:sp>
      <p:sp>
        <p:nvSpPr>
          <p:cNvPr id="52227" name="Content Placeholder 2"/>
          <p:cNvSpPr>
            <a:spLocks noGrp="1"/>
          </p:cNvSpPr>
          <p:nvPr>
            <p:ph idx="1"/>
          </p:nvPr>
        </p:nvSpPr>
        <p:spPr>
          <a:xfrm>
            <a:off x="381000" y="1143000"/>
            <a:ext cx="8534399" cy="4953000"/>
          </a:xfrm>
        </p:spPr>
        <p:txBody>
          <a:bodyPr>
            <a:normAutofit lnSpcReduction="10000"/>
          </a:bodyPr>
          <a:lstStyle/>
          <a:p>
            <a:r>
              <a:rPr lang="en-US" altLang="en-US" sz="3200" b="1" dirty="0">
                <a:solidFill>
                  <a:schemeClr val="tx1"/>
                </a:solidFill>
              </a:rPr>
              <a:t>Decision Making</a:t>
            </a:r>
          </a:p>
          <a:p>
            <a:pPr lvl="1"/>
            <a:r>
              <a:rPr lang="en-US" altLang="en-US" sz="3200" dirty="0">
                <a:solidFill>
                  <a:schemeClr val="tx1"/>
                </a:solidFill>
              </a:rPr>
              <a:t> Scheduling, e.g. airline routing, military</a:t>
            </a:r>
          </a:p>
          <a:p>
            <a:pPr lvl="1"/>
            <a:r>
              <a:rPr lang="en-US" altLang="en-US" sz="3200" dirty="0">
                <a:solidFill>
                  <a:schemeClr val="tx1"/>
                </a:solidFill>
              </a:rPr>
              <a:t> Route planning, e.g. google maps</a:t>
            </a:r>
          </a:p>
          <a:p>
            <a:pPr lvl="1"/>
            <a:r>
              <a:rPr lang="en-US" altLang="en-US" sz="3200" dirty="0">
                <a:solidFill>
                  <a:schemeClr val="tx1"/>
                </a:solidFill>
              </a:rPr>
              <a:t> Medical diagnosis</a:t>
            </a:r>
          </a:p>
          <a:p>
            <a:pPr lvl="1"/>
            <a:r>
              <a:rPr lang="en-US" altLang="en-US" sz="3200" dirty="0">
                <a:solidFill>
                  <a:schemeClr val="tx1"/>
                </a:solidFill>
              </a:rPr>
              <a:t> Automated help desks</a:t>
            </a:r>
          </a:p>
          <a:p>
            <a:pPr lvl="1"/>
            <a:r>
              <a:rPr lang="en-US" altLang="en-US" sz="3200" dirty="0">
                <a:solidFill>
                  <a:schemeClr val="tx1"/>
                </a:solidFill>
              </a:rPr>
              <a:t> Fraud detection (Expert Systems)</a:t>
            </a:r>
          </a:p>
          <a:p>
            <a:pPr lvl="1"/>
            <a:r>
              <a:rPr lang="en-US" altLang="en-US" sz="3200" dirty="0">
                <a:solidFill>
                  <a:schemeClr val="tx1"/>
                </a:solidFill>
              </a:rPr>
              <a:t> Spam classifiers (a case of NLP)</a:t>
            </a:r>
          </a:p>
          <a:p>
            <a:pPr lvl="1"/>
            <a:r>
              <a:rPr lang="en-US" altLang="en-US" sz="3200" dirty="0">
                <a:solidFill>
                  <a:schemeClr val="tx1"/>
                </a:solidFill>
              </a:rPr>
              <a:t> Web search engines</a:t>
            </a:r>
          </a:p>
          <a:p>
            <a:pPr lvl="1"/>
            <a:r>
              <a:rPr lang="en-US" altLang="en-US" sz="3200" dirty="0">
                <a:solidFill>
                  <a:schemeClr val="tx1"/>
                </a:solidFill>
              </a:rPr>
              <a:t> Movie and book recommendations</a:t>
            </a:r>
          </a:p>
          <a:p>
            <a:pPr lvl="1"/>
            <a:r>
              <a:rPr lang="en-US" altLang="en-US" sz="3200" dirty="0">
                <a:solidFill>
                  <a:schemeClr val="tx1"/>
                </a:solidFill>
              </a:rPr>
              <a:t> … Lots more!</a:t>
            </a:r>
          </a:p>
          <a:p>
            <a:endParaRPr lang="en-US" altLang="en-US" sz="2800" dirty="0">
              <a:solidFill>
                <a:schemeClr val="tx1"/>
              </a:solidFill>
            </a:endParaRPr>
          </a:p>
        </p:txBody>
      </p:sp>
    </p:spTree>
    <p:extLst>
      <p:ext uri="{BB962C8B-B14F-4D97-AF65-F5344CB8AC3E}">
        <p14:creationId xmlns:p14="http://schemas.microsoft.com/office/powerpoint/2010/main" val="37231895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80" y="419100"/>
            <a:ext cx="7406640" cy="685800"/>
          </a:xfrm>
        </p:spPr>
        <p:txBody>
          <a:bodyPr>
            <a:normAutofit/>
          </a:bodyPr>
          <a:lstStyle/>
          <a:p>
            <a:pPr marL="271463" indent="-271463" eaLnBrk="1" hangingPunct="1">
              <a:tabLst>
                <a:tab pos="446088" algn="l"/>
              </a:tabLst>
              <a:defRPr/>
            </a:pPr>
            <a:r>
              <a:rPr lang="en-GB" altLang="en-US" sz="4000" b="1" dirty="0">
                <a:solidFill>
                  <a:schemeClr val="tx1"/>
                </a:solidFill>
                <a:latin typeface="Arial" panose="020B0604020202020204" pitchFamily="34" charset="0"/>
                <a:cs typeface="Arial" panose="020B0604020202020204" pitchFamily="34" charset="0"/>
              </a:rPr>
              <a:t>Foundation of AI</a:t>
            </a:r>
          </a:p>
        </p:txBody>
      </p:sp>
      <p:sp>
        <p:nvSpPr>
          <p:cNvPr id="3" name="Content Placeholder 2"/>
          <p:cNvSpPr>
            <a:spLocks noGrp="1"/>
          </p:cNvSpPr>
          <p:nvPr>
            <p:ph idx="1"/>
          </p:nvPr>
        </p:nvSpPr>
        <p:spPr>
          <a:xfrm>
            <a:off x="857251" y="1104900"/>
            <a:ext cx="7404653" cy="4991100"/>
          </a:xfrm>
        </p:spPr>
        <p:txBody>
          <a:bodyPr>
            <a:normAutofit/>
          </a:bodyPr>
          <a:lstStyle/>
          <a:p>
            <a:pPr>
              <a:defRPr/>
            </a:pPr>
            <a:r>
              <a:rPr lang="en-US" sz="3200" dirty="0">
                <a:solidFill>
                  <a:schemeClr val="tx1"/>
                </a:solidFill>
              </a:rPr>
              <a:t>Philosophy</a:t>
            </a:r>
          </a:p>
          <a:p>
            <a:pPr>
              <a:defRPr/>
            </a:pPr>
            <a:r>
              <a:rPr lang="en-US" sz="3200" dirty="0">
                <a:solidFill>
                  <a:schemeClr val="tx1"/>
                </a:solidFill>
              </a:rPr>
              <a:t>Mathematics</a:t>
            </a:r>
          </a:p>
          <a:p>
            <a:pPr>
              <a:defRPr/>
            </a:pPr>
            <a:r>
              <a:rPr lang="en-US" sz="3200" dirty="0">
                <a:solidFill>
                  <a:schemeClr val="tx1"/>
                </a:solidFill>
              </a:rPr>
              <a:t>Economics</a:t>
            </a:r>
          </a:p>
          <a:p>
            <a:pPr>
              <a:defRPr/>
            </a:pPr>
            <a:r>
              <a:rPr lang="en-US" sz="3200" dirty="0">
                <a:solidFill>
                  <a:schemeClr val="tx1"/>
                </a:solidFill>
              </a:rPr>
              <a:t>Neuroscience</a:t>
            </a:r>
          </a:p>
          <a:p>
            <a:pPr>
              <a:defRPr/>
            </a:pPr>
            <a:r>
              <a:rPr lang="en-US" sz="3200" dirty="0">
                <a:solidFill>
                  <a:schemeClr val="tx1"/>
                </a:solidFill>
              </a:rPr>
              <a:t>Psychology</a:t>
            </a:r>
          </a:p>
          <a:p>
            <a:pPr>
              <a:defRPr/>
            </a:pPr>
            <a:r>
              <a:rPr lang="en-US" sz="3200" dirty="0">
                <a:solidFill>
                  <a:schemeClr val="tx1"/>
                </a:solidFill>
              </a:rPr>
              <a:t>Computer</a:t>
            </a:r>
          </a:p>
          <a:p>
            <a:pPr>
              <a:defRPr/>
            </a:pPr>
            <a:r>
              <a:rPr lang="en-US" sz="3200" dirty="0">
                <a:solidFill>
                  <a:schemeClr val="tx1"/>
                </a:solidFill>
              </a:rPr>
              <a:t>Linguistics</a:t>
            </a:r>
          </a:p>
          <a:p>
            <a:pPr>
              <a:defRPr/>
            </a:pPr>
            <a:r>
              <a:rPr lang="en-US" sz="3200" dirty="0">
                <a:solidFill>
                  <a:schemeClr val="tx1"/>
                </a:solidFill>
              </a:rPr>
              <a:t>……</a:t>
            </a:r>
          </a:p>
          <a:p>
            <a:pPr>
              <a:defRPr/>
            </a:pPr>
            <a:endParaRPr lang="en-US" sz="3200" dirty="0">
              <a:solidFill>
                <a:schemeClr val="tx1"/>
              </a:solidFill>
            </a:endParaRPr>
          </a:p>
        </p:txBody>
      </p:sp>
    </p:spTree>
    <p:extLst>
      <p:ext uri="{BB962C8B-B14F-4D97-AF65-F5344CB8AC3E}">
        <p14:creationId xmlns:p14="http://schemas.microsoft.com/office/powerpoint/2010/main" val="17283264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80" y="419100"/>
            <a:ext cx="7406640" cy="685800"/>
          </a:xfrm>
        </p:spPr>
        <p:txBody>
          <a:bodyPr>
            <a:normAutofit/>
          </a:bodyPr>
          <a:lstStyle/>
          <a:p>
            <a:pPr marL="271463" indent="-271463" eaLnBrk="1" hangingPunct="1">
              <a:tabLst>
                <a:tab pos="446088" algn="l"/>
              </a:tabLst>
              <a:defRPr/>
            </a:pPr>
            <a:r>
              <a:rPr lang="en-GB" altLang="en-US" b="1" dirty="0">
                <a:solidFill>
                  <a:srgbClr val="FF0000"/>
                </a:solidFill>
                <a:latin typeface="Arial" panose="020B0604020202020204" pitchFamily="34" charset="0"/>
                <a:cs typeface="Arial" panose="020B0604020202020204" pitchFamily="34" charset="0"/>
              </a:rPr>
              <a:t>DANGER</a:t>
            </a:r>
            <a:r>
              <a:rPr lang="en-GB" altLang="en-US" b="1" dirty="0">
                <a:solidFill>
                  <a:schemeClr val="tx1"/>
                </a:solidFill>
                <a:latin typeface="Arial" panose="020B0604020202020204" pitchFamily="34" charset="0"/>
                <a:cs typeface="Arial" panose="020B0604020202020204" pitchFamily="34" charset="0"/>
              </a:rPr>
              <a:t> </a:t>
            </a:r>
            <a:r>
              <a:rPr lang="en-GB" altLang="en-US" sz="4000" b="1" dirty="0">
                <a:solidFill>
                  <a:schemeClr val="tx1"/>
                </a:solidFill>
                <a:latin typeface="Arial" panose="020B0604020202020204" pitchFamily="34" charset="0"/>
                <a:cs typeface="Arial" panose="020B0604020202020204" pitchFamily="34" charset="0"/>
              </a:rPr>
              <a:t>of AI</a:t>
            </a:r>
          </a:p>
        </p:txBody>
      </p:sp>
      <p:sp>
        <p:nvSpPr>
          <p:cNvPr id="3" name="Content Placeholder 2"/>
          <p:cNvSpPr>
            <a:spLocks noGrp="1"/>
          </p:cNvSpPr>
          <p:nvPr>
            <p:ph idx="1"/>
          </p:nvPr>
        </p:nvSpPr>
        <p:spPr>
          <a:xfrm>
            <a:off x="857251" y="1104900"/>
            <a:ext cx="7404653" cy="5524500"/>
          </a:xfrm>
        </p:spPr>
        <p:txBody>
          <a:bodyPr>
            <a:normAutofit fontScale="92500" lnSpcReduction="10000"/>
          </a:bodyPr>
          <a:lstStyle/>
          <a:p>
            <a:pPr marL="34290" indent="0">
              <a:buNone/>
              <a:defRPr/>
            </a:pPr>
            <a:r>
              <a:rPr lang="en-US" sz="3200" dirty="0">
                <a:solidFill>
                  <a:schemeClr val="tx1"/>
                </a:solidFill>
              </a:rPr>
              <a:t>The main target of AI is to completely copy or mimic the human brain </a:t>
            </a:r>
          </a:p>
          <a:p>
            <a:pPr marL="34290" indent="0">
              <a:buNone/>
              <a:defRPr/>
            </a:pPr>
            <a:endParaRPr lang="en-US" sz="4400" b="1" dirty="0">
              <a:solidFill>
                <a:srgbClr val="FF0000"/>
              </a:solidFill>
            </a:endParaRPr>
          </a:p>
          <a:p>
            <a:pPr marL="34290" indent="0" algn="ctr">
              <a:buNone/>
              <a:defRPr/>
            </a:pPr>
            <a:r>
              <a:rPr lang="en-US" sz="4400" b="1" dirty="0">
                <a:solidFill>
                  <a:srgbClr val="FF0000"/>
                </a:solidFill>
              </a:rPr>
              <a:t>(To achieve this, we will do whatever we can) </a:t>
            </a:r>
          </a:p>
          <a:p>
            <a:pPr marL="34290" indent="0" algn="ctr">
              <a:buNone/>
              <a:defRPr/>
            </a:pPr>
            <a:endParaRPr lang="en-US" sz="4400" b="1" dirty="0">
              <a:solidFill>
                <a:srgbClr val="FF0000"/>
              </a:solidFill>
            </a:endParaRPr>
          </a:p>
          <a:p>
            <a:pPr marL="34290" indent="0" algn="ctr">
              <a:buNone/>
              <a:defRPr/>
            </a:pPr>
            <a:endParaRPr lang="en-US" sz="4400" b="1" dirty="0">
              <a:solidFill>
                <a:srgbClr val="FF0000"/>
              </a:solidFill>
            </a:endParaRPr>
          </a:p>
          <a:p>
            <a:pPr marL="34290" indent="0" algn="ctr">
              <a:buNone/>
              <a:defRPr/>
            </a:pPr>
            <a:endParaRPr lang="en-US" sz="4400" b="1" dirty="0">
              <a:solidFill>
                <a:srgbClr val="FF0000"/>
              </a:solidFill>
            </a:endParaRPr>
          </a:p>
          <a:p>
            <a:pPr marL="34290" indent="0" algn="ctr">
              <a:buNone/>
              <a:defRPr/>
            </a:pPr>
            <a:r>
              <a:rPr lang="en-US" sz="4400" b="1" dirty="0">
                <a:solidFill>
                  <a:srgbClr val="FF0000"/>
                </a:solidFill>
              </a:rPr>
              <a:t>will discuss it later</a:t>
            </a:r>
          </a:p>
        </p:txBody>
      </p:sp>
      <p:pic>
        <p:nvPicPr>
          <p:cNvPr id="1026" name="Picture 2" descr="Pause symbol in circle - Free icons">
            <a:extLst>
              <a:ext uri="{FF2B5EF4-FFF2-40B4-BE49-F238E27FC236}">
                <a16:creationId xmlns:a16="http://schemas.microsoft.com/office/drawing/2014/main" xmlns="" id="{3D6D0959-BBD1-2EB1-78D4-011A6C1FD1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4419600"/>
            <a:ext cx="1143000" cy="107576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xmlns="" id="{16FD9AED-2A7E-7524-E7DC-98DC45F6C4DC}"/>
              </a:ext>
            </a:extLst>
          </p:cNvPr>
          <p:cNvPicPr>
            <a:picLocks noChangeAspect="1"/>
          </p:cNvPicPr>
          <p:nvPr/>
        </p:nvPicPr>
        <p:blipFill>
          <a:blip r:embed="rId3"/>
          <a:stretch>
            <a:fillRect/>
          </a:stretch>
        </p:blipFill>
        <p:spPr>
          <a:xfrm>
            <a:off x="6705600" y="3216016"/>
            <a:ext cx="1150189" cy="1075765"/>
          </a:xfrm>
          <a:prstGeom prst="rect">
            <a:avLst/>
          </a:prstGeom>
        </p:spPr>
      </p:pic>
    </p:spTree>
    <p:extLst>
      <p:ext uri="{BB962C8B-B14F-4D97-AF65-F5344CB8AC3E}">
        <p14:creationId xmlns:p14="http://schemas.microsoft.com/office/powerpoint/2010/main" val="24886376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743200"/>
            <a:ext cx="7406640" cy="1752600"/>
          </a:xfrm>
        </p:spPr>
        <p:txBody>
          <a:bodyPr>
            <a:normAutofit/>
          </a:bodyPr>
          <a:lstStyle/>
          <a:p>
            <a:pPr marL="271463" indent="-271463" algn="ctr" eaLnBrk="1" hangingPunct="1">
              <a:tabLst>
                <a:tab pos="446088" algn="l"/>
              </a:tabLst>
              <a:defRPr/>
            </a:pPr>
            <a:r>
              <a:rPr lang="en-GB" altLang="en-US" sz="4800" b="1" dirty="0">
                <a:solidFill>
                  <a:schemeClr val="tx1"/>
                </a:solidFill>
                <a:latin typeface="Arial" panose="020B0604020202020204" pitchFamily="34" charset="0"/>
                <a:cs typeface="Arial" panose="020B0604020202020204" pitchFamily="34" charset="0"/>
              </a:rPr>
              <a:t>Brief History of AI</a:t>
            </a:r>
          </a:p>
        </p:txBody>
      </p:sp>
    </p:spTree>
    <p:extLst>
      <p:ext uri="{BB962C8B-B14F-4D97-AF65-F5344CB8AC3E}">
        <p14:creationId xmlns:p14="http://schemas.microsoft.com/office/powerpoint/2010/main" val="36106849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b="1" dirty="0">
                <a:solidFill>
                  <a:schemeClr val="tx1"/>
                </a:solidFill>
                <a:latin typeface="+mn-lt"/>
              </a:rPr>
              <a:t>History of AI</a:t>
            </a:r>
          </a:p>
        </p:txBody>
      </p:sp>
      <p:sp>
        <p:nvSpPr>
          <p:cNvPr id="54275" name="Content Placeholder 2"/>
          <p:cNvSpPr>
            <a:spLocks noGrp="1"/>
          </p:cNvSpPr>
          <p:nvPr>
            <p:ph idx="1"/>
          </p:nvPr>
        </p:nvSpPr>
        <p:spPr/>
        <p:txBody>
          <a:bodyPr>
            <a:normAutofit/>
          </a:bodyPr>
          <a:lstStyle/>
          <a:p>
            <a:r>
              <a:rPr lang="en-US" altLang="en-US" sz="3600" dirty="0">
                <a:solidFill>
                  <a:schemeClr val="tx1"/>
                </a:solidFill>
              </a:rPr>
              <a:t>Pre-History</a:t>
            </a:r>
          </a:p>
          <a:p>
            <a:r>
              <a:rPr lang="en-US" altLang="en-US" sz="3600" dirty="0">
                <a:solidFill>
                  <a:schemeClr val="tx1"/>
                </a:solidFill>
              </a:rPr>
              <a:t>The Birth of AI</a:t>
            </a:r>
          </a:p>
          <a:p>
            <a:r>
              <a:rPr lang="en-US" altLang="en-US" sz="3600" dirty="0">
                <a:solidFill>
                  <a:schemeClr val="tx1"/>
                </a:solidFill>
              </a:rPr>
              <a:t>First program that thought humanly</a:t>
            </a:r>
          </a:p>
        </p:txBody>
      </p:sp>
    </p:spTree>
    <p:extLst>
      <p:ext uri="{BB962C8B-B14F-4D97-AF65-F5344CB8AC3E}">
        <p14:creationId xmlns:p14="http://schemas.microsoft.com/office/powerpoint/2010/main" val="16823522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106" y="533400"/>
            <a:ext cx="8344694" cy="1356360"/>
          </a:xfrm>
        </p:spPr>
        <p:txBody>
          <a:bodyPr>
            <a:noAutofit/>
          </a:bodyPr>
          <a:lstStyle/>
          <a:p>
            <a:pPr>
              <a:defRPr/>
            </a:pPr>
            <a:r>
              <a:rPr lang="en-US" sz="3600" b="1" dirty="0">
                <a:solidFill>
                  <a:schemeClr val="tx1"/>
                </a:solidFill>
                <a:latin typeface="+mn-lt"/>
              </a:rPr>
              <a:t>Pre-History: Tributes of AI</a:t>
            </a:r>
            <a:br>
              <a:rPr lang="en-US" sz="3600" b="1" dirty="0">
                <a:solidFill>
                  <a:schemeClr val="tx1"/>
                </a:solidFill>
                <a:latin typeface="+mn-lt"/>
              </a:rPr>
            </a:br>
            <a:r>
              <a:rPr lang="en-US" sz="3600" b="1" dirty="0">
                <a:solidFill>
                  <a:schemeClr val="tx1"/>
                </a:solidFill>
                <a:latin typeface="+mn-lt"/>
              </a:rPr>
              <a:t>(</a:t>
            </a:r>
            <a:r>
              <a:rPr lang="en-US" sz="3600" b="1" dirty="0">
                <a:solidFill>
                  <a:schemeClr val="tx1"/>
                </a:solidFill>
              </a:rPr>
              <a:t>Different factors/behaviors counted as Intelligent)</a:t>
            </a:r>
            <a:endParaRPr lang="en-US" sz="3600" b="1" dirty="0">
              <a:solidFill>
                <a:schemeClr val="tx1"/>
              </a:solidFill>
              <a:latin typeface="+mn-lt"/>
            </a:endParaRPr>
          </a:p>
        </p:txBody>
      </p:sp>
      <p:sp>
        <p:nvSpPr>
          <p:cNvPr id="56323" name="Content Placeholder 2"/>
          <p:cNvSpPr>
            <a:spLocks noGrp="1"/>
          </p:cNvSpPr>
          <p:nvPr>
            <p:ph idx="1"/>
          </p:nvPr>
        </p:nvSpPr>
        <p:spPr>
          <a:xfrm>
            <a:off x="342106" y="2133600"/>
            <a:ext cx="8459787" cy="5791200"/>
          </a:xfrm>
        </p:spPr>
        <p:txBody>
          <a:bodyPr>
            <a:normAutofit/>
          </a:bodyPr>
          <a:lstStyle/>
          <a:p>
            <a:r>
              <a:rPr lang="en-US" altLang="en-US" sz="2800" dirty="0">
                <a:solidFill>
                  <a:schemeClr val="tx1"/>
                </a:solidFill>
              </a:rPr>
              <a:t>Philosophy</a:t>
            </a:r>
          </a:p>
          <a:p>
            <a:pPr lvl="1"/>
            <a:r>
              <a:rPr lang="en-US" altLang="en-US" sz="2800" dirty="0">
                <a:solidFill>
                  <a:schemeClr val="tx1"/>
                </a:solidFill>
              </a:rPr>
              <a:t>Logic, methods (theories) of reasoning, phil. of mind, learning </a:t>
            </a:r>
          </a:p>
          <a:p>
            <a:r>
              <a:rPr lang="en-US" altLang="en-US" sz="2800" dirty="0">
                <a:solidFill>
                  <a:schemeClr val="tx1"/>
                </a:solidFill>
              </a:rPr>
              <a:t>Mathematics</a:t>
            </a:r>
          </a:p>
          <a:p>
            <a:pPr lvl="1"/>
            <a:r>
              <a:rPr lang="en-US" altLang="en-US" sz="2800" dirty="0">
                <a:solidFill>
                  <a:schemeClr val="tx1"/>
                </a:solidFill>
              </a:rPr>
              <a:t>Theories of logic, probability, decision-making computation, algorithms</a:t>
            </a:r>
          </a:p>
          <a:p>
            <a:r>
              <a:rPr lang="en-US" altLang="en-US" sz="2800" dirty="0">
                <a:solidFill>
                  <a:schemeClr val="tx1"/>
                </a:solidFill>
              </a:rPr>
              <a:t>Psychology</a:t>
            </a:r>
          </a:p>
          <a:p>
            <a:pPr lvl="1"/>
            <a:r>
              <a:rPr lang="en-US" altLang="en-US" sz="2800" dirty="0">
                <a:solidFill>
                  <a:schemeClr val="tx1"/>
                </a:solidFill>
              </a:rPr>
              <a:t>Tools and techniques to investigate the human mind and ways to represent the resulting theories</a:t>
            </a:r>
          </a:p>
        </p:txBody>
      </p:sp>
    </p:spTree>
    <p:extLst>
      <p:ext uri="{BB962C8B-B14F-4D97-AF65-F5344CB8AC3E}">
        <p14:creationId xmlns:p14="http://schemas.microsoft.com/office/powerpoint/2010/main" val="19356949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Content Placeholder 2"/>
          <p:cNvSpPr>
            <a:spLocks noGrp="1"/>
          </p:cNvSpPr>
          <p:nvPr>
            <p:ph idx="1"/>
          </p:nvPr>
        </p:nvSpPr>
        <p:spPr>
          <a:xfrm>
            <a:off x="609600" y="533400"/>
            <a:ext cx="7924800" cy="4343400"/>
          </a:xfrm>
        </p:spPr>
        <p:txBody>
          <a:bodyPr>
            <a:noAutofit/>
          </a:bodyPr>
          <a:lstStyle/>
          <a:p>
            <a:r>
              <a:rPr lang="en-US" altLang="en-US" sz="2800" dirty="0">
                <a:solidFill>
                  <a:schemeClr val="tx1"/>
                </a:solidFill>
              </a:rPr>
              <a:t>Engineering</a:t>
            </a:r>
          </a:p>
          <a:p>
            <a:pPr lvl="1"/>
            <a:r>
              <a:rPr lang="en-US" altLang="en-US" sz="2800" dirty="0">
                <a:solidFill>
                  <a:schemeClr val="tx1"/>
                </a:solidFill>
              </a:rPr>
              <a:t>Building (fast) computing devices</a:t>
            </a:r>
          </a:p>
          <a:p>
            <a:r>
              <a:rPr lang="en-US" altLang="en-US" sz="2800" dirty="0">
                <a:solidFill>
                  <a:schemeClr val="tx1"/>
                </a:solidFill>
              </a:rPr>
              <a:t>Linguistics </a:t>
            </a:r>
          </a:p>
          <a:p>
            <a:pPr lvl="1"/>
            <a:r>
              <a:rPr lang="en-US" altLang="en-US" sz="2800" dirty="0">
                <a:solidFill>
                  <a:schemeClr val="tx1"/>
                </a:solidFill>
              </a:rPr>
              <a:t>Theories of structure and meaning of language, Knowledge representation</a:t>
            </a:r>
          </a:p>
          <a:p>
            <a:r>
              <a:rPr lang="en-US" altLang="en-US" sz="2800" dirty="0">
                <a:solidFill>
                  <a:schemeClr val="tx1"/>
                </a:solidFill>
              </a:rPr>
              <a:t>Neuroscience</a:t>
            </a:r>
          </a:p>
          <a:p>
            <a:pPr lvl="1"/>
            <a:r>
              <a:rPr lang="en-US" altLang="en-US" sz="2800" dirty="0">
                <a:solidFill>
                  <a:schemeClr val="tx1"/>
                </a:solidFill>
              </a:rPr>
              <a:t>Information about the network structure of a human brain and all the theories on functionalities of different human organs</a:t>
            </a:r>
          </a:p>
          <a:p>
            <a:r>
              <a:rPr lang="en-US" altLang="en-US" sz="2800" dirty="0">
                <a:solidFill>
                  <a:schemeClr val="tx1"/>
                </a:solidFill>
              </a:rPr>
              <a:t>Economics </a:t>
            </a:r>
          </a:p>
          <a:p>
            <a:pPr lvl="1"/>
            <a:r>
              <a:rPr lang="en-US" altLang="en-US" sz="2800" dirty="0">
                <a:solidFill>
                  <a:schemeClr val="tx1"/>
                </a:solidFill>
              </a:rPr>
              <a:t>Utility, decision theory</a:t>
            </a:r>
          </a:p>
          <a:p>
            <a:r>
              <a:rPr lang="en-US" altLang="en-US" sz="2800" dirty="0">
                <a:solidFill>
                  <a:schemeClr val="tx1"/>
                </a:solidFill>
              </a:rPr>
              <a:t>Computer science</a:t>
            </a:r>
          </a:p>
          <a:p>
            <a:pPr lvl="1"/>
            <a:r>
              <a:rPr lang="en-US" altLang="en-US" sz="2800" dirty="0">
                <a:solidFill>
                  <a:schemeClr val="tx1"/>
                </a:solidFill>
              </a:rPr>
              <a:t>Tools and concepts to make AI a reality</a:t>
            </a:r>
          </a:p>
          <a:p>
            <a:pPr marL="205740" lvl="1" indent="0">
              <a:buNone/>
            </a:pPr>
            <a:endParaRPr lang="en-US" altLang="en-US" sz="2800" dirty="0">
              <a:solidFill>
                <a:schemeClr val="tx1"/>
              </a:solidFill>
            </a:endParaRPr>
          </a:p>
          <a:p>
            <a:endParaRPr lang="en-US" altLang="en-US" sz="2800" dirty="0">
              <a:solidFill>
                <a:schemeClr val="tx1"/>
              </a:solidFill>
            </a:endParaRPr>
          </a:p>
          <a:p>
            <a:endParaRPr lang="en-US" altLang="en-US" sz="2800" dirty="0">
              <a:solidFill>
                <a:schemeClr val="tx1"/>
              </a:solidFill>
            </a:endParaRPr>
          </a:p>
          <a:p>
            <a:endParaRPr lang="en-US" altLang="en-US" sz="2800" dirty="0">
              <a:solidFill>
                <a:schemeClr val="tx1"/>
              </a:solidFill>
            </a:endParaRPr>
          </a:p>
        </p:txBody>
      </p:sp>
    </p:spTree>
    <p:extLst>
      <p:ext uri="{BB962C8B-B14F-4D97-AF65-F5344CB8AC3E}">
        <p14:creationId xmlns:p14="http://schemas.microsoft.com/office/powerpoint/2010/main" val="29815264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81000"/>
            <a:ext cx="7406640" cy="762000"/>
          </a:xfrm>
        </p:spPr>
        <p:txBody>
          <a:bodyPr/>
          <a:lstStyle/>
          <a:p>
            <a:pPr>
              <a:defRPr/>
            </a:pPr>
            <a:r>
              <a:rPr lang="en-US" b="1" dirty="0">
                <a:solidFill>
                  <a:schemeClr val="tx1"/>
                </a:solidFill>
                <a:latin typeface="+mn-lt"/>
              </a:rPr>
              <a:t>The Birth of AI (1956)</a:t>
            </a:r>
          </a:p>
        </p:txBody>
      </p:sp>
      <p:sp>
        <p:nvSpPr>
          <p:cNvPr id="58371" name="Content Placeholder 2"/>
          <p:cNvSpPr>
            <a:spLocks noGrp="1"/>
          </p:cNvSpPr>
          <p:nvPr>
            <p:ph idx="1"/>
          </p:nvPr>
        </p:nvSpPr>
        <p:spPr>
          <a:xfrm>
            <a:off x="304800" y="1143000"/>
            <a:ext cx="8458199" cy="4953000"/>
          </a:xfrm>
        </p:spPr>
        <p:txBody>
          <a:bodyPr>
            <a:normAutofit/>
          </a:bodyPr>
          <a:lstStyle/>
          <a:p>
            <a:r>
              <a:rPr lang="en-US" altLang="en-US" sz="2800" dirty="0">
                <a:solidFill>
                  <a:schemeClr val="tx1"/>
                </a:solidFill>
              </a:rPr>
              <a:t>The Dartmouth Workshop brings together 10 top minds on automata theory, neural nets and the study of intelligence</a:t>
            </a:r>
          </a:p>
          <a:p>
            <a:r>
              <a:rPr lang="en-US" altLang="en-US" sz="2800" dirty="0">
                <a:solidFill>
                  <a:schemeClr val="tx1"/>
                </a:solidFill>
              </a:rPr>
              <a:t>Though all the researchers had some excellent ideas, Allen Newell and Herbert Simon dominated the workshop with a reasoning program, the Logic Theorist</a:t>
            </a:r>
          </a:p>
          <a:p>
            <a:endParaRPr lang="en-US" altLang="en-US" sz="2800" dirty="0">
              <a:solidFill>
                <a:schemeClr val="tx1"/>
              </a:solidFill>
            </a:endParaRPr>
          </a:p>
          <a:p>
            <a:r>
              <a:rPr lang="en-GB" altLang="en-US" sz="3200" dirty="0">
                <a:solidFill>
                  <a:schemeClr val="tx1"/>
                </a:solidFill>
              </a:rPr>
              <a:t>Conjecture: </a:t>
            </a:r>
            <a:r>
              <a:rPr lang="en-GB" altLang="en-US" sz="3200" dirty="0">
                <a:solidFill>
                  <a:srgbClr val="FF0000"/>
                </a:solidFill>
              </a:rPr>
              <a:t>“</a:t>
            </a:r>
            <a:r>
              <a:rPr lang="en-GB" altLang="ja-JP" sz="3200" dirty="0">
                <a:solidFill>
                  <a:srgbClr val="FF0000"/>
                </a:solidFill>
              </a:rPr>
              <a:t>every aspect of learning or any other feature of intelligence can be described so precisely that a machine can be made to simulate it</a:t>
            </a:r>
            <a:r>
              <a:rPr lang="en-GB" altLang="en-US" sz="3200" dirty="0">
                <a:solidFill>
                  <a:srgbClr val="FF0000"/>
                </a:solidFill>
              </a:rPr>
              <a:t>”</a:t>
            </a:r>
            <a:endParaRPr lang="en-GB" altLang="ja-JP" sz="3200" dirty="0">
              <a:solidFill>
                <a:srgbClr val="FF0000"/>
              </a:solidFill>
            </a:endParaRPr>
          </a:p>
        </p:txBody>
      </p:sp>
    </p:spTree>
    <p:extLst>
      <p:ext uri="{BB962C8B-B14F-4D97-AF65-F5344CB8AC3E}">
        <p14:creationId xmlns:p14="http://schemas.microsoft.com/office/powerpoint/2010/main" val="14401668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a:xfrm>
            <a:off x="857250" y="609600"/>
            <a:ext cx="7406640" cy="609600"/>
          </a:xfrm>
        </p:spPr>
        <p:txBody>
          <a:bodyPr>
            <a:normAutofit fontScale="90000"/>
          </a:bodyPr>
          <a:lstStyle/>
          <a:p>
            <a:r>
              <a:rPr lang="en-US" altLang="en-US" b="1" dirty="0">
                <a:solidFill>
                  <a:schemeClr val="tx1"/>
                </a:solidFill>
              </a:rPr>
              <a:t>Contd..</a:t>
            </a:r>
          </a:p>
        </p:txBody>
      </p:sp>
      <p:sp>
        <p:nvSpPr>
          <p:cNvPr id="60419" name="Content Placeholder 2"/>
          <p:cNvSpPr>
            <a:spLocks noGrp="1"/>
          </p:cNvSpPr>
          <p:nvPr>
            <p:ph idx="1"/>
          </p:nvPr>
        </p:nvSpPr>
        <p:spPr>
          <a:xfrm>
            <a:off x="381001" y="1219200"/>
            <a:ext cx="8458200" cy="4876800"/>
          </a:xfrm>
        </p:spPr>
        <p:txBody>
          <a:bodyPr>
            <a:normAutofit/>
          </a:bodyPr>
          <a:lstStyle/>
          <a:p>
            <a:endParaRPr lang="en-US" altLang="en-US" sz="3200" dirty="0">
              <a:solidFill>
                <a:schemeClr val="tx1"/>
              </a:solidFill>
            </a:endParaRPr>
          </a:p>
          <a:p>
            <a:r>
              <a:rPr lang="en-US" altLang="en-US" sz="3200" dirty="0">
                <a:solidFill>
                  <a:schemeClr val="tx1"/>
                </a:solidFill>
              </a:rPr>
              <a:t>Workshop didn’t lead to any new breakthroughs but an agreement came out to adopt the new name for the field: </a:t>
            </a:r>
            <a:r>
              <a:rPr lang="en-US" altLang="en-US" sz="3200" b="1" dirty="0">
                <a:solidFill>
                  <a:schemeClr val="tx1"/>
                </a:solidFill>
              </a:rPr>
              <a:t>Artificial Intelligence</a:t>
            </a:r>
          </a:p>
          <a:p>
            <a:r>
              <a:rPr lang="en-US" altLang="en-US" sz="3200" dirty="0">
                <a:solidFill>
                  <a:schemeClr val="tx1"/>
                </a:solidFill>
              </a:rPr>
              <a:t>For the next 20 years the field was dominated by these participants, their students and colleagues at MIT, Stanford and IBM</a:t>
            </a:r>
          </a:p>
          <a:p>
            <a:endParaRPr lang="en-US" altLang="en-US" sz="3200" dirty="0">
              <a:solidFill>
                <a:schemeClr val="tx1"/>
              </a:solidFill>
            </a:endParaRPr>
          </a:p>
        </p:txBody>
      </p:sp>
    </p:spTree>
    <p:extLst>
      <p:ext uri="{BB962C8B-B14F-4D97-AF65-F5344CB8AC3E}">
        <p14:creationId xmlns:p14="http://schemas.microsoft.com/office/powerpoint/2010/main" val="5997269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72440"/>
            <a:ext cx="8534400" cy="762000"/>
          </a:xfrm>
        </p:spPr>
        <p:txBody>
          <a:bodyPr/>
          <a:lstStyle/>
          <a:p>
            <a:pPr>
              <a:defRPr/>
            </a:pPr>
            <a:r>
              <a:rPr lang="en-US" b="1" dirty="0">
                <a:solidFill>
                  <a:schemeClr val="tx1"/>
                </a:solidFill>
                <a:latin typeface="+mn-lt"/>
              </a:rPr>
              <a:t>First program that thought humanly</a:t>
            </a:r>
          </a:p>
        </p:txBody>
      </p:sp>
      <p:sp>
        <p:nvSpPr>
          <p:cNvPr id="62467" name="Content Placeholder 2"/>
          <p:cNvSpPr>
            <a:spLocks noGrp="1"/>
          </p:cNvSpPr>
          <p:nvPr>
            <p:ph idx="1"/>
          </p:nvPr>
        </p:nvSpPr>
        <p:spPr>
          <a:xfrm>
            <a:off x="381000" y="1295400"/>
            <a:ext cx="8229600" cy="4709160"/>
          </a:xfrm>
        </p:spPr>
        <p:txBody>
          <a:bodyPr>
            <a:normAutofit/>
          </a:bodyPr>
          <a:lstStyle/>
          <a:p>
            <a:r>
              <a:rPr lang="en-US" altLang="en-US" sz="2800" dirty="0">
                <a:solidFill>
                  <a:schemeClr val="tx1"/>
                </a:solidFill>
              </a:rPr>
              <a:t>Newell and Simon’s early success was followed up with the General Problem Solver (GPS)</a:t>
            </a:r>
          </a:p>
          <a:p>
            <a:r>
              <a:rPr lang="en-US" altLang="en-US" sz="2800" dirty="0">
                <a:solidFill>
                  <a:schemeClr val="tx1"/>
                </a:solidFill>
              </a:rPr>
              <a:t>Unlike Logic Theorist, this program was developed in the manner that </a:t>
            </a:r>
            <a:r>
              <a:rPr lang="en-US" altLang="en-US" sz="2800" b="1" i="1" dirty="0">
                <a:solidFill>
                  <a:schemeClr val="tx1"/>
                </a:solidFill>
              </a:rPr>
              <a:t>it attacked a problem following the steps that human take when solving a problem</a:t>
            </a:r>
          </a:p>
          <a:p>
            <a:r>
              <a:rPr lang="en-US" altLang="en-US" sz="2800" dirty="0">
                <a:solidFill>
                  <a:schemeClr val="tx1"/>
                </a:solidFill>
              </a:rPr>
              <a:t>GPS was intended to provide a core set of processes that could be used to solve a variety of different types of problems</a:t>
            </a:r>
          </a:p>
          <a:p>
            <a:r>
              <a:rPr lang="en-US" altLang="en-US" sz="2800" dirty="0">
                <a:solidFill>
                  <a:schemeClr val="tx1"/>
                </a:solidFill>
              </a:rPr>
              <a:t>Probably the first program that imitated human thinking approach</a:t>
            </a:r>
          </a:p>
        </p:txBody>
      </p:sp>
    </p:spTree>
    <p:extLst>
      <p:ext uri="{BB962C8B-B14F-4D97-AF65-F5344CB8AC3E}">
        <p14:creationId xmlns:p14="http://schemas.microsoft.com/office/powerpoint/2010/main" val="31879513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a:xfrm>
            <a:off x="609600" y="266700"/>
            <a:ext cx="7406640" cy="685800"/>
          </a:xfrm>
        </p:spPr>
        <p:txBody>
          <a:bodyPr/>
          <a:lstStyle/>
          <a:p>
            <a:r>
              <a:rPr lang="en-US" altLang="en-US" b="1" dirty="0">
                <a:solidFill>
                  <a:schemeClr val="tx1"/>
                </a:solidFill>
              </a:rPr>
              <a:t>Contd..</a:t>
            </a:r>
          </a:p>
        </p:txBody>
      </p:sp>
      <p:sp>
        <p:nvSpPr>
          <p:cNvPr id="68611" name="Content Placeholder 2"/>
          <p:cNvSpPr>
            <a:spLocks noGrp="1"/>
          </p:cNvSpPr>
          <p:nvPr>
            <p:ph idx="1"/>
          </p:nvPr>
        </p:nvSpPr>
        <p:spPr>
          <a:xfrm>
            <a:off x="381000" y="952500"/>
            <a:ext cx="8305800" cy="5295900"/>
          </a:xfrm>
        </p:spPr>
        <p:txBody>
          <a:bodyPr>
            <a:normAutofit/>
          </a:bodyPr>
          <a:lstStyle/>
          <a:p>
            <a:r>
              <a:rPr lang="en-US" altLang="en-US" sz="2400" dirty="0" err="1">
                <a:solidFill>
                  <a:schemeClr val="tx1"/>
                </a:solidFill>
                <a:latin typeface="Tahoma" panose="020B0604030504040204" pitchFamily="34" charset="0"/>
                <a:ea typeface="Tahoma" panose="020B0604030504040204" pitchFamily="34" charset="0"/>
                <a:cs typeface="Tahoma" panose="020B0604030504040204" pitchFamily="34" charset="0"/>
              </a:rPr>
              <a:t>P</a:t>
            </a:r>
            <a:r>
              <a:rPr lang="en-US" altLang="en-US" sz="2400" dirty="0" err="1">
                <a:solidFill>
                  <a:srgbClr val="FF0000"/>
                </a:solidFill>
                <a:latin typeface="Tahoma" panose="020B0604030504040204" pitchFamily="34" charset="0"/>
                <a:ea typeface="Tahoma" panose="020B0604030504040204" pitchFamily="34" charset="0"/>
                <a:cs typeface="Tahoma" panose="020B0604030504040204" pitchFamily="34" charset="0"/>
              </a:rPr>
              <a:t>erceptrons</a:t>
            </a:r>
            <a:r>
              <a:rPr lang="en-US" alt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 (Minsky and </a:t>
            </a:r>
            <a:r>
              <a:rPr lang="en-US" altLang="en-US" sz="2400" dirty="0" err="1">
                <a:solidFill>
                  <a:schemeClr val="tx1"/>
                </a:solidFill>
                <a:latin typeface="Tahoma" panose="020B0604030504040204" pitchFamily="34" charset="0"/>
                <a:ea typeface="Tahoma" panose="020B0604030504040204" pitchFamily="34" charset="0"/>
                <a:cs typeface="Tahoma" panose="020B0604030504040204" pitchFamily="34" charset="0"/>
              </a:rPr>
              <a:t>Papert’s</a:t>
            </a:r>
            <a:r>
              <a:rPr lang="en-US" alt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 book, 1969)</a:t>
            </a:r>
          </a:p>
          <a:p>
            <a:r>
              <a:rPr lang="en-US" alt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The first successful commercial </a:t>
            </a:r>
            <a:r>
              <a:rPr lang="en-US" altLang="en-US" sz="2400" b="1" dirty="0">
                <a:solidFill>
                  <a:schemeClr val="tx1"/>
                </a:solidFill>
                <a:latin typeface="Tahoma" panose="020B0604030504040204" pitchFamily="34" charset="0"/>
                <a:ea typeface="Tahoma" panose="020B0604030504040204" pitchFamily="34" charset="0"/>
                <a:cs typeface="Tahoma" panose="020B0604030504040204" pitchFamily="34" charset="0"/>
              </a:rPr>
              <a:t>expert system, R1</a:t>
            </a:r>
            <a:r>
              <a:rPr lang="en-US" alt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 (McDermott, 1982)</a:t>
            </a:r>
          </a:p>
          <a:p>
            <a:r>
              <a:rPr lang="en-US" alt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Neural networks reinvented </a:t>
            </a:r>
          </a:p>
          <a:p>
            <a:pPr lvl="1"/>
            <a:r>
              <a:rPr lang="en-US" alt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Multi-level perceptron and backpropagation learning</a:t>
            </a:r>
          </a:p>
          <a:p>
            <a:r>
              <a:rPr lang="en-US" alt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Parallel Distributed Processing (</a:t>
            </a:r>
            <a:r>
              <a:rPr lang="en-US" altLang="en-US" sz="2400" dirty="0" err="1">
                <a:solidFill>
                  <a:schemeClr val="tx1"/>
                </a:solidFill>
                <a:latin typeface="Tahoma" panose="020B0604030504040204" pitchFamily="34" charset="0"/>
                <a:ea typeface="Tahoma" panose="020B0604030504040204" pitchFamily="34" charset="0"/>
                <a:cs typeface="Tahoma" panose="020B0604030504040204" pitchFamily="34" charset="0"/>
              </a:rPr>
              <a:t>Rumelhart</a:t>
            </a:r>
            <a:r>
              <a:rPr lang="en-US" alt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 and McClelland, 1986)</a:t>
            </a:r>
          </a:p>
          <a:p>
            <a:pPr eaLnBrk="1" hangingPunct="1">
              <a:spcAft>
                <a:spcPct val="50000"/>
              </a:spcAft>
            </a:pPr>
            <a:r>
              <a:rPr lang="en-US" alt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90s: Fully recurrent networks and robot control</a:t>
            </a:r>
          </a:p>
          <a:p>
            <a:pPr eaLnBrk="1" hangingPunct="1">
              <a:spcAft>
                <a:spcPct val="50000"/>
              </a:spcAft>
            </a:pPr>
            <a:r>
              <a:rPr lang="en-US" alt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Ultimately… </a:t>
            </a:r>
            <a:r>
              <a:rPr lang="ja-JP" altLang="en-US" sz="2400" dirty="0">
                <a:solidFill>
                  <a:srgbClr val="FF0000"/>
                </a:solidFill>
                <a:latin typeface="Tahoma" panose="020B0604030504040204" pitchFamily="34" charset="0"/>
                <a:cs typeface="Tahoma" panose="020B0604030504040204" pitchFamily="34" charset="0"/>
              </a:rPr>
              <a:t>“</a:t>
            </a:r>
            <a:r>
              <a:rPr lang="en-US" altLang="ja-JP" sz="2400" dirty="0">
                <a:solidFill>
                  <a:srgbClr val="FF0000"/>
                </a:solidFill>
                <a:latin typeface="Tahoma" panose="020B0604030504040204" pitchFamily="34" charset="0"/>
                <a:ea typeface="Tahoma" panose="020B0604030504040204" pitchFamily="34" charset="0"/>
                <a:cs typeface="Tahoma" panose="020B0604030504040204" pitchFamily="34" charset="0"/>
              </a:rPr>
              <a:t>neural</a:t>
            </a:r>
            <a:r>
              <a:rPr lang="ja-JP" altLang="en-US" sz="2400" dirty="0">
                <a:solidFill>
                  <a:srgbClr val="FF0000"/>
                </a:solidFill>
                <a:latin typeface="Tahoma" panose="020B0604030504040204" pitchFamily="34" charset="0"/>
                <a:cs typeface="Tahoma" panose="020B0604030504040204" pitchFamily="34" charset="0"/>
              </a:rPr>
              <a:t>”</a:t>
            </a:r>
            <a:r>
              <a:rPr lang="en-US" altLang="ja-JP" sz="2400"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altLang="ja-JP" sz="2400" dirty="0">
                <a:solidFill>
                  <a:schemeClr val="tx1"/>
                </a:solidFill>
                <a:latin typeface="Tahoma" panose="020B0604030504040204" pitchFamily="34" charset="0"/>
                <a:ea typeface="Tahoma" panose="020B0604030504040204" pitchFamily="34" charset="0"/>
                <a:cs typeface="Tahoma" panose="020B0604030504040204" pitchFamily="34" charset="0"/>
              </a:rPr>
              <a:t>networks as data-mining, pattern recognition,…….</a:t>
            </a:r>
            <a:endParaRPr lang="en-US" altLang="en-US" sz="2400" dirty="0">
              <a:solidFill>
                <a:schemeClr val="tx1"/>
              </a:solidFill>
              <a:latin typeface="Tahoma" panose="020B0604030504040204" pitchFamily="34" charset="0"/>
              <a:ea typeface="Tahoma" panose="020B0604030504040204" pitchFamily="34" charset="0"/>
              <a:cs typeface="Tahoma" panose="020B0604030504040204" pitchFamily="34" charset="0"/>
            </a:endParaRPr>
          </a:p>
          <a:p>
            <a:endParaRPr lang="en-US" altLang="en-US"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7993482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19100"/>
            <a:ext cx="8458200" cy="685800"/>
          </a:xfrm>
        </p:spPr>
        <p:txBody>
          <a:bodyPr>
            <a:normAutofit/>
          </a:bodyPr>
          <a:lstStyle/>
          <a:p>
            <a:pPr marL="271463" indent="-271463">
              <a:tabLst>
                <a:tab pos="446088" algn="l"/>
              </a:tabLst>
              <a:defRPr/>
            </a:pPr>
            <a:r>
              <a:rPr lang="en-GB" altLang="en-US" b="1" dirty="0">
                <a:solidFill>
                  <a:schemeClr val="tx1"/>
                </a:solidFill>
                <a:latin typeface="Arial" panose="020B0604020202020204" pitchFamily="34" charset="0"/>
                <a:cs typeface="Arial" panose="020B0604020202020204" pitchFamily="34" charset="0"/>
              </a:rPr>
              <a:t>The World of AI Today</a:t>
            </a:r>
            <a:endParaRPr lang="en-GB" altLang="en-US" sz="4000" b="1"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28912" y="1320557"/>
            <a:ext cx="8382000" cy="4991100"/>
          </a:xfrm>
        </p:spPr>
        <p:txBody>
          <a:bodyPr>
            <a:normAutofit/>
          </a:bodyPr>
          <a:lstStyle/>
          <a:p>
            <a:pPr marL="34290" indent="0">
              <a:buNone/>
              <a:defRPr/>
            </a:pPr>
            <a:r>
              <a:rPr lang="en-US" sz="3600" b="1" dirty="0">
                <a:solidFill>
                  <a:schemeClr val="tx1"/>
                </a:solidFill>
                <a:latin typeface="Arial" panose="020B0604020202020204" pitchFamily="34" charset="0"/>
                <a:cs typeface="Arial" panose="020B0604020202020204" pitchFamily="34" charset="0"/>
              </a:rPr>
              <a:t>Generative AI</a:t>
            </a:r>
          </a:p>
          <a:p>
            <a:pPr marL="34290" indent="0">
              <a:buNone/>
              <a:defRPr/>
            </a:pPr>
            <a:endParaRPr lang="en-US" sz="3200" dirty="0"/>
          </a:p>
        </p:txBody>
      </p:sp>
      <p:pic>
        <p:nvPicPr>
          <p:cNvPr id="3074" name="Picture 2" descr="Jasper AI - Generate copy &amp; content with AI | AppSumo">
            <a:extLst>
              <a:ext uri="{FF2B5EF4-FFF2-40B4-BE49-F238E27FC236}">
                <a16:creationId xmlns:a16="http://schemas.microsoft.com/office/drawing/2014/main" xmlns="" id="{13D6E4D2-B179-F619-01D9-107A9E8672C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1936" y="3362018"/>
            <a:ext cx="4030133" cy="226695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Is ChatGPT Here to Stay? Content Marketing's Future">
            <a:extLst>
              <a:ext uri="{FF2B5EF4-FFF2-40B4-BE49-F238E27FC236}">
                <a16:creationId xmlns:a16="http://schemas.microsoft.com/office/drawing/2014/main" xmlns="" id="{537F8E9D-DFA7-5E92-61EF-3CE96DC97A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913" y="1981201"/>
            <a:ext cx="2854890" cy="1734742"/>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GPT-4 Parameters - Is it 100 trillion? MLYearning">
            <a:extLst>
              <a:ext uri="{FF2B5EF4-FFF2-40B4-BE49-F238E27FC236}">
                <a16:creationId xmlns:a16="http://schemas.microsoft.com/office/drawing/2014/main" xmlns="" id="{8A700DC9-588B-FC73-16D9-D68D213F20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1068" y="1219200"/>
            <a:ext cx="3149103" cy="1763498"/>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Scribe Launches Scribe AI">
            <a:extLst>
              <a:ext uri="{FF2B5EF4-FFF2-40B4-BE49-F238E27FC236}">
                <a16:creationId xmlns:a16="http://schemas.microsoft.com/office/drawing/2014/main" xmlns="" id="{5874D9B1-5EE7-49DD-2DE3-051DE0F0B33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 y="3735608"/>
            <a:ext cx="2847975" cy="1609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30544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19100"/>
            <a:ext cx="8458200" cy="685800"/>
          </a:xfrm>
        </p:spPr>
        <p:txBody>
          <a:bodyPr>
            <a:normAutofit/>
          </a:bodyPr>
          <a:lstStyle/>
          <a:p>
            <a:pPr marL="271463" indent="-271463">
              <a:tabLst>
                <a:tab pos="446088" algn="l"/>
              </a:tabLst>
              <a:defRPr/>
            </a:pPr>
            <a:r>
              <a:rPr lang="en-GB" altLang="en-US" b="1" dirty="0">
                <a:solidFill>
                  <a:schemeClr val="tx1"/>
                </a:solidFill>
                <a:latin typeface="Arial" panose="020B0604020202020204" pitchFamily="34" charset="0"/>
                <a:cs typeface="Arial" panose="020B0604020202020204" pitchFamily="34" charset="0"/>
              </a:rPr>
              <a:t>The World of AI Today</a:t>
            </a:r>
            <a:endParaRPr lang="en-GB" altLang="en-US" sz="4000" b="1"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28912" y="1320557"/>
            <a:ext cx="8382000" cy="4991100"/>
          </a:xfrm>
        </p:spPr>
        <p:txBody>
          <a:bodyPr>
            <a:normAutofit/>
          </a:bodyPr>
          <a:lstStyle/>
          <a:p>
            <a:pPr marL="34290" indent="0">
              <a:buNone/>
              <a:defRPr/>
            </a:pPr>
            <a:r>
              <a:rPr lang="en-US" sz="3600" b="1" dirty="0">
                <a:solidFill>
                  <a:schemeClr val="tx1"/>
                </a:solidFill>
                <a:latin typeface="Arial" panose="020B0604020202020204" pitchFamily="34" charset="0"/>
                <a:cs typeface="Arial" panose="020B0604020202020204" pitchFamily="34" charset="0"/>
              </a:rPr>
              <a:t>Generative AI</a:t>
            </a:r>
          </a:p>
          <a:p>
            <a:pPr marL="34290" indent="0">
              <a:buNone/>
              <a:defRPr/>
            </a:pPr>
            <a:r>
              <a:rPr lang="en-US" sz="3200" b="0" i="0" dirty="0">
                <a:solidFill>
                  <a:srgbClr val="202124"/>
                </a:solidFill>
                <a:effectLst/>
                <a:latin typeface="Google Sans"/>
              </a:rPr>
              <a:t>can generate text, images, music, videos, and other creative content.</a:t>
            </a:r>
            <a:endParaRPr lang="en-US" sz="3600" b="1" dirty="0">
              <a:solidFill>
                <a:schemeClr val="tx1"/>
              </a:solidFill>
              <a:latin typeface="Arial" panose="020B0604020202020204" pitchFamily="34" charset="0"/>
              <a:cs typeface="Arial" panose="020B0604020202020204" pitchFamily="34" charset="0"/>
            </a:endParaRPr>
          </a:p>
          <a:p>
            <a:pPr marL="34290" indent="0">
              <a:buNone/>
              <a:defRPr/>
            </a:pPr>
            <a:endParaRPr lang="en-US" sz="3200" dirty="0"/>
          </a:p>
        </p:txBody>
      </p:sp>
    </p:spTree>
    <p:extLst>
      <p:ext uri="{BB962C8B-B14F-4D97-AF65-F5344CB8AC3E}">
        <p14:creationId xmlns:p14="http://schemas.microsoft.com/office/powerpoint/2010/main" val="3741964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19100"/>
            <a:ext cx="8458200" cy="685800"/>
          </a:xfrm>
        </p:spPr>
        <p:txBody>
          <a:bodyPr>
            <a:normAutofit/>
          </a:bodyPr>
          <a:lstStyle/>
          <a:p>
            <a:pPr marL="271463" indent="-271463">
              <a:tabLst>
                <a:tab pos="446088" algn="l"/>
              </a:tabLst>
              <a:defRPr/>
            </a:pPr>
            <a:r>
              <a:rPr lang="en-GB" altLang="en-US" b="1" dirty="0">
                <a:solidFill>
                  <a:schemeClr val="tx1"/>
                </a:solidFill>
                <a:latin typeface="Arial" panose="020B0604020202020204" pitchFamily="34" charset="0"/>
                <a:cs typeface="Arial" panose="020B0604020202020204" pitchFamily="34" charset="0"/>
              </a:rPr>
              <a:t>The World of AI Today</a:t>
            </a:r>
            <a:endParaRPr lang="en-GB" altLang="en-US" sz="4000" b="1" dirty="0">
              <a:solidFill>
                <a:schemeClr val="tx1"/>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28912" y="1320557"/>
            <a:ext cx="8382000" cy="4991100"/>
          </a:xfrm>
        </p:spPr>
        <p:txBody>
          <a:bodyPr>
            <a:normAutofit/>
          </a:bodyPr>
          <a:lstStyle/>
          <a:p>
            <a:pPr marL="548640" indent="-514350">
              <a:buAutoNum type="arabicParenR"/>
              <a:defRPr/>
            </a:pPr>
            <a:r>
              <a:rPr lang="en-US" sz="4000" dirty="0">
                <a:solidFill>
                  <a:schemeClr val="tx1"/>
                </a:solidFill>
              </a:rPr>
              <a:t>AI recreated images</a:t>
            </a:r>
          </a:p>
          <a:p>
            <a:pPr marL="548640" indent="-514350">
              <a:buAutoNum type="arabicParenR"/>
              <a:defRPr/>
            </a:pPr>
            <a:r>
              <a:rPr lang="en-US" sz="4000" dirty="0">
                <a:solidFill>
                  <a:schemeClr val="tx1"/>
                </a:solidFill>
              </a:rPr>
              <a:t>Robots</a:t>
            </a:r>
          </a:p>
          <a:p>
            <a:pPr marL="548640" indent="-514350">
              <a:buAutoNum type="arabicParenR"/>
              <a:defRPr/>
            </a:pPr>
            <a:r>
              <a:rPr lang="en-US" sz="4000" dirty="0">
                <a:solidFill>
                  <a:schemeClr val="tx1"/>
                </a:solidFill>
              </a:rPr>
              <a:t>Cars</a:t>
            </a:r>
          </a:p>
          <a:p>
            <a:pPr marL="548640" indent="-514350">
              <a:buAutoNum type="arabicParenR"/>
              <a:defRPr/>
            </a:pPr>
            <a:r>
              <a:rPr lang="en-US" sz="4000" dirty="0">
                <a:solidFill>
                  <a:schemeClr val="tx1"/>
                </a:solidFill>
              </a:rPr>
              <a:t>Generative AI</a:t>
            </a:r>
          </a:p>
          <a:p>
            <a:pPr marL="548640" indent="-514350">
              <a:buFont typeface="Corbel" pitchFamily="34" charset="0"/>
              <a:buAutoNum type="arabicParenR"/>
              <a:defRPr/>
            </a:pPr>
            <a:r>
              <a:rPr lang="en-US" sz="4000" dirty="0">
                <a:solidFill>
                  <a:schemeClr val="tx1"/>
                </a:solidFill>
              </a:rPr>
              <a:t>Many more</a:t>
            </a:r>
          </a:p>
          <a:p>
            <a:pPr marL="34290" indent="0">
              <a:buNone/>
              <a:defRPr/>
            </a:pPr>
            <a:endParaRPr lang="en-US" sz="4000" dirty="0">
              <a:solidFill>
                <a:schemeClr val="tx1"/>
              </a:solidFill>
            </a:endParaRPr>
          </a:p>
          <a:p>
            <a:pPr marL="548640" indent="-514350">
              <a:buAutoNum type="arabicParenR"/>
              <a:defRPr/>
            </a:pPr>
            <a:endParaRPr lang="en-US" sz="4000" dirty="0">
              <a:solidFill>
                <a:schemeClr val="tx1"/>
              </a:solidFill>
            </a:endParaRPr>
          </a:p>
        </p:txBody>
      </p:sp>
    </p:spTree>
    <p:extLst>
      <p:ext uri="{BB962C8B-B14F-4D97-AF65-F5344CB8AC3E}">
        <p14:creationId xmlns:p14="http://schemas.microsoft.com/office/powerpoint/2010/main" val="10249178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tephen Hawking wants to join the trademark club">
            <a:extLst>
              <a:ext uri="{FF2B5EF4-FFF2-40B4-BE49-F238E27FC236}">
                <a16:creationId xmlns:a16="http://schemas.microsoft.com/office/drawing/2014/main" xmlns="" id="{D77C099B-6F56-222E-4ECA-EBC549A07C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685800"/>
            <a:ext cx="8361387" cy="57388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42041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8037" y="630667"/>
            <a:ext cx="7406640" cy="893333"/>
          </a:xfrm>
        </p:spPr>
        <p:txBody>
          <a:bodyPr>
            <a:normAutofit fontScale="90000"/>
          </a:bodyPr>
          <a:lstStyle/>
          <a:p>
            <a:pPr marL="271463" indent="-271463" algn="ctr">
              <a:tabLst>
                <a:tab pos="446088" algn="l"/>
              </a:tabLst>
              <a:defRPr/>
            </a:pPr>
            <a:r>
              <a:rPr lang="en-US" sz="4000" b="1" dirty="0">
                <a:solidFill>
                  <a:schemeClr val="tx1"/>
                </a:solidFill>
              </a:rPr>
              <a:t>Future Prediction by Stephen Hawking about AI?</a:t>
            </a:r>
            <a:r>
              <a:rPr lang="en-US" sz="4000" dirty="0">
                <a:solidFill>
                  <a:schemeClr val="tx1"/>
                </a:solidFill>
              </a:rPr>
              <a:t/>
            </a:r>
            <a:br>
              <a:rPr lang="en-US" sz="4000" dirty="0">
                <a:solidFill>
                  <a:schemeClr val="tx1"/>
                </a:solidFill>
              </a:rPr>
            </a:br>
            <a:endParaRPr lang="en-GB" altLang="en-US" sz="4000" dirty="0">
              <a:solidFill>
                <a:schemeClr val="tx1"/>
              </a:solidFill>
              <a:latin typeface="Arial" panose="020B0604020202020204" pitchFamily="34" charset="0"/>
              <a:cs typeface="Arial" panose="020B0604020202020204" pitchFamily="34" charset="0"/>
            </a:endParaRPr>
          </a:p>
        </p:txBody>
      </p:sp>
      <p:pic>
        <p:nvPicPr>
          <p:cNvPr id="2050" name="Picture 2" descr="Stephen Hawking wants to join the trademark club">
            <a:extLst>
              <a:ext uri="{FF2B5EF4-FFF2-40B4-BE49-F238E27FC236}">
                <a16:creationId xmlns:a16="http://schemas.microsoft.com/office/drawing/2014/main" xmlns="" id="{D77C099B-6F56-222E-4ECA-EBC549A07C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752600"/>
            <a:ext cx="6029914" cy="4138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90981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271463" indent="-271463" algn="ctr">
              <a:tabLst>
                <a:tab pos="446088" algn="l"/>
              </a:tabLst>
              <a:defRPr/>
            </a:pPr>
            <a:r>
              <a:rPr lang="en-US" sz="4000" b="1" dirty="0">
                <a:solidFill>
                  <a:schemeClr val="tx1"/>
                </a:solidFill>
              </a:rPr>
              <a:t>Future Prediction by Stephen Hawking about AI?</a:t>
            </a:r>
            <a:r>
              <a:rPr lang="en-US" sz="4000" dirty="0">
                <a:solidFill>
                  <a:schemeClr val="tx1"/>
                </a:solidFill>
              </a:rPr>
              <a:t/>
            </a:r>
            <a:br>
              <a:rPr lang="en-US" sz="4000" dirty="0">
                <a:solidFill>
                  <a:schemeClr val="tx1"/>
                </a:solidFill>
              </a:rPr>
            </a:br>
            <a:endParaRPr lang="en-GB" altLang="en-US" sz="4000" dirty="0">
              <a:solidFill>
                <a:schemeClr val="tx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xmlns="" id="{18E9A5D6-DE4F-395C-468F-5D584AF71E60}"/>
              </a:ext>
            </a:extLst>
          </p:cNvPr>
          <p:cNvSpPr>
            <a:spLocks noGrp="1"/>
          </p:cNvSpPr>
          <p:nvPr>
            <p:ph idx="1"/>
          </p:nvPr>
        </p:nvSpPr>
        <p:spPr>
          <a:xfrm>
            <a:off x="869673" y="2895600"/>
            <a:ext cx="7817127" cy="1905000"/>
          </a:xfrm>
        </p:spPr>
        <p:txBody>
          <a:bodyPr>
            <a:normAutofit fontScale="70000" lnSpcReduction="20000"/>
          </a:bodyPr>
          <a:lstStyle/>
          <a:p>
            <a:pPr marL="34290" indent="0">
              <a:buNone/>
            </a:pPr>
            <a:r>
              <a:rPr lang="en-US" sz="4400" b="1" dirty="0">
                <a:solidFill>
                  <a:srgbClr val="FF0000"/>
                </a:solidFill>
              </a:rPr>
              <a:t>AI will DESTROY THE WORLD</a:t>
            </a:r>
          </a:p>
          <a:p>
            <a:pPr marL="34290" indent="0">
              <a:buNone/>
            </a:pPr>
            <a:endParaRPr lang="en-US" sz="4400" b="1" dirty="0">
              <a:solidFill>
                <a:srgbClr val="FF0000"/>
              </a:solidFill>
            </a:endParaRPr>
          </a:p>
          <a:p>
            <a:pPr marL="34290" indent="0">
              <a:buNone/>
            </a:pPr>
            <a:r>
              <a:rPr lang="en-US" sz="4400" b="1" dirty="0">
                <a:solidFill>
                  <a:srgbClr val="FF0000"/>
                </a:solidFill>
              </a:rPr>
              <a:t>Is that TRUE?</a:t>
            </a:r>
          </a:p>
          <a:p>
            <a:pPr marL="34290" indent="0">
              <a:buNone/>
            </a:pPr>
            <a:r>
              <a:rPr lang="en-US" sz="4400" b="1" dirty="0">
                <a:solidFill>
                  <a:srgbClr val="FF0000"/>
                </a:solidFill>
              </a:rPr>
              <a:t>Do You agree with him?</a:t>
            </a:r>
            <a:endParaRPr lang="aa-ET" sz="4400" b="1" dirty="0">
              <a:solidFill>
                <a:srgbClr val="FF0000"/>
              </a:solidFill>
            </a:endParaRPr>
          </a:p>
        </p:txBody>
      </p:sp>
    </p:spTree>
    <p:extLst>
      <p:ext uri="{BB962C8B-B14F-4D97-AF65-F5344CB8AC3E}">
        <p14:creationId xmlns:p14="http://schemas.microsoft.com/office/powerpoint/2010/main" val="13149871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7185186E-DF5B-91FE-36BE-646DFBBE7BB6}"/>
              </a:ext>
            </a:extLst>
          </p:cNvPr>
          <p:cNvPicPr>
            <a:picLocks noChangeAspect="1"/>
          </p:cNvPicPr>
          <p:nvPr/>
        </p:nvPicPr>
        <p:blipFill>
          <a:blip r:embed="rId2"/>
          <a:stretch>
            <a:fillRect/>
          </a:stretch>
        </p:blipFill>
        <p:spPr>
          <a:xfrm>
            <a:off x="-22123" y="457200"/>
            <a:ext cx="9057518" cy="4419600"/>
          </a:xfrm>
          <a:prstGeom prst="rect">
            <a:avLst/>
          </a:prstGeom>
        </p:spPr>
      </p:pic>
    </p:spTree>
    <p:extLst>
      <p:ext uri="{BB962C8B-B14F-4D97-AF65-F5344CB8AC3E}">
        <p14:creationId xmlns:p14="http://schemas.microsoft.com/office/powerpoint/2010/main" val="6648514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FA9A9C3F-6ED5-9A00-8919-B7F266C5D6C4}"/>
              </a:ext>
            </a:extLst>
          </p:cNvPr>
          <p:cNvPicPr>
            <a:picLocks noChangeAspect="1"/>
          </p:cNvPicPr>
          <p:nvPr/>
        </p:nvPicPr>
        <p:blipFill>
          <a:blip r:embed="rId2"/>
          <a:stretch>
            <a:fillRect/>
          </a:stretch>
        </p:blipFill>
        <p:spPr>
          <a:xfrm>
            <a:off x="311321" y="1295400"/>
            <a:ext cx="8521357" cy="3886200"/>
          </a:xfrm>
          <a:prstGeom prst="rect">
            <a:avLst/>
          </a:prstGeom>
        </p:spPr>
      </p:pic>
    </p:spTree>
    <p:extLst>
      <p:ext uri="{BB962C8B-B14F-4D97-AF65-F5344CB8AC3E}">
        <p14:creationId xmlns:p14="http://schemas.microsoft.com/office/powerpoint/2010/main" val="13370897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08ACAAD0-BFB0-3723-FA3F-553528272609}"/>
              </a:ext>
            </a:extLst>
          </p:cNvPr>
          <p:cNvSpPr>
            <a:spLocks noGrp="1"/>
          </p:cNvSpPr>
          <p:nvPr>
            <p:ph type="title"/>
          </p:nvPr>
        </p:nvSpPr>
        <p:spPr/>
        <p:txBody>
          <a:bodyPr/>
          <a:lstStyle/>
          <a:p>
            <a:endParaRPr lang="aa-ET"/>
          </a:p>
        </p:txBody>
      </p:sp>
      <p:sp>
        <p:nvSpPr>
          <p:cNvPr id="6" name="Content Placeholder 5">
            <a:extLst>
              <a:ext uri="{FF2B5EF4-FFF2-40B4-BE49-F238E27FC236}">
                <a16:creationId xmlns:a16="http://schemas.microsoft.com/office/drawing/2014/main" xmlns="" id="{7342CF7B-C796-EBAE-1A20-E32C07E09327}"/>
              </a:ext>
            </a:extLst>
          </p:cNvPr>
          <p:cNvSpPr>
            <a:spLocks noGrp="1"/>
          </p:cNvSpPr>
          <p:nvPr>
            <p:ph idx="1"/>
          </p:nvPr>
        </p:nvSpPr>
        <p:spPr/>
        <p:txBody>
          <a:bodyPr>
            <a:normAutofit fontScale="92500" lnSpcReduction="20000"/>
          </a:bodyPr>
          <a:lstStyle/>
          <a:p>
            <a:pPr marL="34290" indent="0">
              <a:buNone/>
            </a:pPr>
            <a:r>
              <a:rPr lang="en-US" dirty="0">
                <a:hlinkClick r:id="rId2" action="ppaction://hlinkpres?slideindex=1&amp;slidetitle="/>
              </a:rPr>
              <a:t>https://www.google.com/search?q=geoffrey+hinton+about+AI+will+destroy+the+world&amp;sca_esv=a6695493041c2f08&amp;sca_upv=1&amp;rlz=1C1SQJL_enPK1089PK1089&amp;biw=1707&amp;bih=772&amp;tbm=vid&amp;sxsrf=ADLYWILL8RI2ws4mWnJ2pfAkv1sy3M6YZQ%3A1725944751763&amp;ei=r9PfZsqhLtOVxc8PpLvKyAw&amp;ved=0ahUKEwiKtdKezbeIAxXTSvEDHaSdEskQ4dUDCA0&amp;uact=5&amp;oq=geoffrey+hinton+about+AI+will+destroy+the+world&amp;gs_lp=Eg1nd3Mtd2l6LXZpZGVvIi9nZW9mZnJleSBoaW50b24gYWJvdXQgQUkgd2lsbCBkZXN0cm95IHRoZSB3b3JsZEi20gFQ8Q9YucsBcAN4AJABAJgBrQmgAcKLAaoBDjItMS4zNC4zLjAuMy4yuAEDyAEA-AEBmAIioALaa6gCCsICBBAjGCfCAgYQABgWGB7CAgsQABiABBiGAxiKBcICCBAAGIAEGKIEwgIHECMYJxjqAsICCxAAGIAEGJECGIoFwgIKEAAYgAQYQxiKBcICCxAAGIAEGLEDGIMBwgIIEAAYgAQYsQPCAg4QABiABBixAxiDARiKBcICBRAAGIAEwgIREAAYgAQYkQIYsQMYgwEYigXCAhAQABiABBixAxhDGIMBGIoFwgINEAAYgAQYsQMYQxiKBcICBxAAGIAEGArCAg0QABiABBixAxiDARgKwgIKEAAYgAQYsQMYCsICChAAGIAEGBQYhwLCAggQABgWGAoYHsICBRAhGJ8FwgIEECEYFZgDA4gGAZIHEDMuMC4xLjIzLjIuMS4zLjGgB52bAQ&amp;sclient=gws-wiz-video#fpstate=ive&amp;vld=cid:7eeb9a0d,vid:CkTUgOOa3n8,st:0</a:t>
            </a:r>
            <a:endParaRPr lang="aa-ET" dirty="0"/>
          </a:p>
        </p:txBody>
      </p:sp>
    </p:spTree>
    <p:extLst>
      <p:ext uri="{BB962C8B-B14F-4D97-AF65-F5344CB8AC3E}">
        <p14:creationId xmlns:p14="http://schemas.microsoft.com/office/powerpoint/2010/main" val="30788590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08ACAAD0-BFB0-3723-FA3F-553528272609}"/>
              </a:ext>
            </a:extLst>
          </p:cNvPr>
          <p:cNvSpPr>
            <a:spLocks noGrp="1"/>
          </p:cNvSpPr>
          <p:nvPr>
            <p:ph type="title"/>
          </p:nvPr>
        </p:nvSpPr>
        <p:spPr/>
        <p:txBody>
          <a:bodyPr/>
          <a:lstStyle/>
          <a:p>
            <a:r>
              <a:rPr lang="en-US" dirty="0"/>
              <a:t>Geoffrey Hinton (God Father of AI)</a:t>
            </a:r>
            <a:endParaRPr lang="aa-ET" dirty="0"/>
          </a:p>
        </p:txBody>
      </p:sp>
      <p:pic>
        <p:nvPicPr>
          <p:cNvPr id="8" name="Picture 7" descr="A person standing next to a robot&#10;&#10;Description automatically generated">
            <a:extLst>
              <a:ext uri="{FF2B5EF4-FFF2-40B4-BE49-F238E27FC236}">
                <a16:creationId xmlns:a16="http://schemas.microsoft.com/office/drawing/2014/main" xmlns="" id="{AAC097BA-B340-2383-8BD8-35AEB6C3E1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1828800"/>
            <a:ext cx="6096000" cy="4572000"/>
          </a:xfrm>
          <a:prstGeom prst="rect">
            <a:avLst/>
          </a:prstGeom>
        </p:spPr>
      </p:pic>
    </p:spTree>
    <p:extLst>
      <p:ext uri="{BB962C8B-B14F-4D97-AF65-F5344CB8AC3E}">
        <p14:creationId xmlns:p14="http://schemas.microsoft.com/office/powerpoint/2010/main" val="29608148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Elon Musk Companies and Logos | Elon musk companies, Logo sketches, Elon  musk">
            <a:extLst>
              <a:ext uri="{FF2B5EF4-FFF2-40B4-BE49-F238E27FC236}">
                <a16:creationId xmlns:a16="http://schemas.microsoft.com/office/drawing/2014/main" xmlns="" id="{3B9C7324-52B6-E36E-5729-1ED3B201C9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304800"/>
            <a:ext cx="8382000" cy="62784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30230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BB1BA7B-6B21-07BA-69C8-BCEA37F2B876}"/>
              </a:ext>
            </a:extLst>
          </p:cNvPr>
          <p:cNvSpPr>
            <a:spLocks noGrp="1"/>
          </p:cNvSpPr>
          <p:nvPr>
            <p:ph type="title"/>
          </p:nvPr>
        </p:nvSpPr>
        <p:spPr>
          <a:xfrm>
            <a:off x="685800" y="228600"/>
            <a:ext cx="7406640" cy="685800"/>
          </a:xfrm>
        </p:spPr>
        <p:txBody>
          <a:bodyPr/>
          <a:lstStyle/>
          <a:p>
            <a:r>
              <a:rPr lang="en-US" b="1" dirty="0">
                <a:solidFill>
                  <a:schemeClr val="tx1"/>
                </a:solidFill>
              </a:rPr>
              <a:t>Companies owned by Elon</a:t>
            </a:r>
            <a:endParaRPr lang="aa-ET" b="1" dirty="0">
              <a:solidFill>
                <a:schemeClr val="tx1"/>
              </a:solidFill>
            </a:endParaRPr>
          </a:p>
        </p:txBody>
      </p:sp>
      <p:sp>
        <p:nvSpPr>
          <p:cNvPr id="3" name="Content Placeholder 2">
            <a:extLst>
              <a:ext uri="{FF2B5EF4-FFF2-40B4-BE49-F238E27FC236}">
                <a16:creationId xmlns:a16="http://schemas.microsoft.com/office/drawing/2014/main" xmlns="" id="{40F61AA8-0D5B-7889-015D-E9E72A95E189}"/>
              </a:ext>
            </a:extLst>
          </p:cNvPr>
          <p:cNvSpPr>
            <a:spLocks noGrp="1"/>
          </p:cNvSpPr>
          <p:nvPr>
            <p:ph idx="1"/>
          </p:nvPr>
        </p:nvSpPr>
        <p:spPr>
          <a:xfrm>
            <a:off x="381001" y="914400"/>
            <a:ext cx="7880904" cy="5181600"/>
          </a:xfrm>
        </p:spPr>
        <p:txBody>
          <a:bodyPr>
            <a:normAutofit/>
          </a:bodyPr>
          <a:lstStyle/>
          <a:p>
            <a:r>
              <a:rPr lang="en-US" sz="3600" dirty="0">
                <a:solidFill>
                  <a:schemeClr val="tx1"/>
                </a:solidFill>
                <a:latin typeface="Calibri" panose="020F0502020204030204" pitchFamily="34" charset="0"/>
                <a:ea typeface="Calibri" panose="020F0502020204030204" pitchFamily="34" charset="0"/>
                <a:cs typeface="Calibri" panose="020F0502020204030204" pitchFamily="34" charset="0"/>
              </a:rPr>
              <a:t>SpaceX</a:t>
            </a:r>
          </a:p>
          <a:p>
            <a:r>
              <a:rPr lang="en-US" sz="3600" dirty="0">
                <a:solidFill>
                  <a:schemeClr val="tx1"/>
                </a:solidFill>
                <a:latin typeface="Calibri" panose="020F0502020204030204" pitchFamily="34" charset="0"/>
                <a:ea typeface="Calibri" panose="020F0502020204030204" pitchFamily="34" charset="0"/>
                <a:cs typeface="Calibri" panose="020F0502020204030204" pitchFamily="34" charset="0"/>
              </a:rPr>
              <a:t>X</a:t>
            </a:r>
          </a:p>
          <a:p>
            <a:r>
              <a:rPr lang="en-US" sz="3600" dirty="0" err="1">
                <a:solidFill>
                  <a:schemeClr val="tx1"/>
                </a:solidFill>
                <a:latin typeface="Calibri" panose="020F0502020204030204" pitchFamily="34" charset="0"/>
                <a:ea typeface="Calibri" panose="020F0502020204030204" pitchFamily="34" charset="0"/>
                <a:cs typeface="Calibri" panose="020F0502020204030204" pitchFamily="34" charset="0"/>
              </a:rPr>
              <a:t>xAI</a:t>
            </a:r>
            <a:endParaRPr lang="en-US" sz="36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r>
              <a:rPr lang="en-US" sz="3600" dirty="0" err="1">
                <a:solidFill>
                  <a:schemeClr val="tx1"/>
                </a:solidFill>
                <a:latin typeface="Calibri" panose="020F0502020204030204" pitchFamily="34" charset="0"/>
                <a:ea typeface="Calibri" panose="020F0502020204030204" pitchFamily="34" charset="0"/>
                <a:cs typeface="Calibri" panose="020F0502020204030204" pitchFamily="34" charset="0"/>
              </a:rPr>
              <a:t>Neuralink</a:t>
            </a:r>
            <a:endParaRPr lang="en-US" sz="36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r>
              <a:rPr lang="en-US" sz="3600" dirty="0">
                <a:solidFill>
                  <a:schemeClr val="tx1"/>
                </a:solidFill>
                <a:latin typeface="Calibri" panose="020F0502020204030204" pitchFamily="34" charset="0"/>
                <a:ea typeface="Calibri" panose="020F0502020204030204" pitchFamily="34" charset="0"/>
                <a:cs typeface="Calibri" panose="020F0502020204030204" pitchFamily="34" charset="0"/>
              </a:rPr>
              <a:t>OpenAI</a:t>
            </a:r>
          </a:p>
          <a:p>
            <a:r>
              <a:rPr lang="en-US" sz="3600" dirty="0">
                <a:solidFill>
                  <a:schemeClr val="tx1"/>
                </a:solidFill>
                <a:latin typeface="Calibri" panose="020F0502020204030204" pitchFamily="34" charset="0"/>
                <a:ea typeface="Calibri" panose="020F0502020204030204" pitchFamily="34" charset="0"/>
                <a:cs typeface="Calibri" panose="020F0502020204030204" pitchFamily="34" charset="0"/>
              </a:rPr>
              <a:t>Tesla</a:t>
            </a:r>
          </a:p>
          <a:p>
            <a:r>
              <a:rPr lang="en-US" sz="3600" dirty="0">
                <a:solidFill>
                  <a:schemeClr val="tx1"/>
                </a:solidFill>
                <a:latin typeface="Calibri" panose="020F0502020204030204" pitchFamily="34" charset="0"/>
                <a:ea typeface="Calibri" panose="020F0502020204030204" pitchFamily="34" charset="0"/>
                <a:cs typeface="Calibri" panose="020F0502020204030204" pitchFamily="34" charset="0"/>
              </a:rPr>
              <a:t>And more…</a:t>
            </a:r>
          </a:p>
        </p:txBody>
      </p:sp>
    </p:spTree>
    <p:extLst>
      <p:ext uri="{BB962C8B-B14F-4D97-AF65-F5344CB8AC3E}">
        <p14:creationId xmlns:p14="http://schemas.microsoft.com/office/powerpoint/2010/main" val="13891454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BB1BA7B-6B21-07BA-69C8-BCEA37F2B876}"/>
              </a:ext>
            </a:extLst>
          </p:cNvPr>
          <p:cNvSpPr>
            <a:spLocks noGrp="1"/>
          </p:cNvSpPr>
          <p:nvPr>
            <p:ph type="title"/>
          </p:nvPr>
        </p:nvSpPr>
        <p:spPr>
          <a:xfrm>
            <a:off x="685800" y="228600"/>
            <a:ext cx="7406640" cy="685800"/>
          </a:xfrm>
        </p:spPr>
        <p:txBody>
          <a:bodyPr/>
          <a:lstStyle/>
          <a:p>
            <a:r>
              <a:rPr lang="en-US" b="1" dirty="0">
                <a:solidFill>
                  <a:schemeClr val="tx1"/>
                </a:solidFill>
              </a:rPr>
              <a:t>AI Tools</a:t>
            </a:r>
            <a:endParaRPr lang="aa-ET" b="1" dirty="0">
              <a:solidFill>
                <a:schemeClr val="tx1"/>
              </a:solidFill>
            </a:endParaRPr>
          </a:p>
        </p:txBody>
      </p:sp>
      <p:sp>
        <p:nvSpPr>
          <p:cNvPr id="3" name="Content Placeholder 2">
            <a:extLst>
              <a:ext uri="{FF2B5EF4-FFF2-40B4-BE49-F238E27FC236}">
                <a16:creationId xmlns:a16="http://schemas.microsoft.com/office/drawing/2014/main" xmlns="" id="{40F61AA8-0D5B-7889-015D-E9E72A95E189}"/>
              </a:ext>
            </a:extLst>
          </p:cNvPr>
          <p:cNvSpPr>
            <a:spLocks noGrp="1"/>
          </p:cNvSpPr>
          <p:nvPr>
            <p:ph idx="1"/>
          </p:nvPr>
        </p:nvSpPr>
        <p:spPr>
          <a:xfrm>
            <a:off x="381001" y="914400"/>
            <a:ext cx="7880904" cy="5181600"/>
          </a:xfrm>
        </p:spPr>
        <p:txBody>
          <a:bodyPr>
            <a:normAutofit/>
          </a:bodyPr>
          <a:lstStyle/>
          <a:p>
            <a:r>
              <a:rPr lang="en-US" sz="3600" dirty="0">
                <a:solidFill>
                  <a:schemeClr val="tx1"/>
                </a:solidFill>
                <a:latin typeface="Calibri" panose="020F0502020204030204" pitchFamily="34" charset="0"/>
                <a:ea typeface="Calibri" panose="020F0502020204030204" pitchFamily="34" charset="0"/>
                <a:cs typeface="Calibri" panose="020F0502020204030204" pitchFamily="34" charset="0"/>
              </a:rPr>
              <a:t>ChatGPT</a:t>
            </a:r>
          </a:p>
          <a:p>
            <a:r>
              <a:rPr lang="en-US" sz="3600" dirty="0">
                <a:solidFill>
                  <a:schemeClr val="tx1"/>
                </a:solidFill>
                <a:latin typeface="Calibri" panose="020F0502020204030204" pitchFamily="34" charset="0"/>
                <a:ea typeface="Calibri" panose="020F0502020204030204" pitchFamily="34" charset="0"/>
                <a:cs typeface="Calibri" panose="020F0502020204030204" pitchFamily="34" charset="0"/>
              </a:rPr>
              <a:t>Gemini</a:t>
            </a:r>
          </a:p>
          <a:p>
            <a:r>
              <a:rPr lang="en-US" sz="3600" dirty="0">
                <a:solidFill>
                  <a:schemeClr val="tx1"/>
                </a:solidFill>
                <a:latin typeface="Calibri" panose="020F0502020204030204" pitchFamily="34" charset="0"/>
                <a:ea typeface="Calibri" panose="020F0502020204030204" pitchFamily="34" charset="0"/>
                <a:cs typeface="Calibri" panose="020F0502020204030204" pitchFamily="34" charset="0"/>
              </a:rPr>
              <a:t>Grammarly</a:t>
            </a:r>
          </a:p>
          <a:p>
            <a:r>
              <a:rPr lang="en-US" sz="3600" dirty="0" err="1">
                <a:solidFill>
                  <a:schemeClr val="tx1"/>
                </a:solidFill>
                <a:latin typeface="Calibri" panose="020F0502020204030204" pitchFamily="34" charset="0"/>
                <a:ea typeface="Calibri" panose="020F0502020204030204" pitchFamily="34" charset="0"/>
                <a:cs typeface="Calibri" panose="020F0502020204030204" pitchFamily="34" charset="0"/>
              </a:rPr>
              <a:t>Quillbot</a:t>
            </a:r>
            <a:endParaRPr lang="en-US" sz="36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r>
              <a:rPr lang="en-US" sz="3600" dirty="0">
                <a:solidFill>
                  <a:schemeClr val="tx1"/>
                </a:solidFill>
                <a:latin typeface="Calibri" panose="020F0502020204030204" pitchFamily="34" charset="0"/>
                <a:ea typeface="Calibri" panose="020F0502020204030204" pitchFamily="34" charset="0"/>
                <a:cs typeface="Calibri" panose="020F0502020204030204" pitchFamily="34" charset="0"/>
              </a:rPr>
              <a:t>Bard</a:t>
            </a:r>
          </a:p>
          <a:p>
            <a:r>
              <a:rPr lang="en-US" sz="3600" dirty="0">
                <a:solidFill>
                  <a:schemeClr val="tx1"/>
                </a:solidFill>
                <a:latin typeface="Calibri" panose="020F0502020204030204" pitchFamily="34" charset="0"/>
                <a:ea typeface="Calibri" panose="020F0502020204030204" pitchFamily="34" charset="0"/>
                <a:cs typeface="Calibri" panose="020F0502020204030204" pitchFamily="34" charset="0"/>
              </a:rPr>
              <a:t>Claude</a:t>
            </a:r>
          </a:p>
          <a:p>
            <a:endParaRPr lang="en-US" sz="36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lang="aa-ET" sz="36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406850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BB1BA7B-6B21-07BA-69C8-BCEA37F2B876}"/>
              </a:ext>
            </a:extLst>
          </p:cNvPr>
          <p:cNvSpPr>
            <a:spLocks noGrp="1"/>
          </p:cNvSpPr>
          <p:nvPr>
            <p:ph type="title"/>
          </p:nvPr>
        </p:nvSpPr>
        <p:spPr>
          <a:xfrm>
            <a:off x="685800" y="228600"/>
            <a:ext cx="7406640" cy="685800"/>
          </a:xfrm>
        </p:spPr>
        <p:txBody>
          <a:bodyPr/>
          <a:lstStyle/>
          <a:p>
            <a:r>
              <a:rPr lang="en-US" b="1" dirty="0">
                <a:solidFill>
                  <a:schemeClr val="tx1"/>
                </a:solidFill>
              </a:rPr>
              <a:t>AI Tools</a:t>
            </a:r>
            <a:endParaRPr lang="aa-ET" b="1" dirty="0">
              <a:solidFill>
                <a:schemeClr val="tx1"/>
              </a:solidFill>
            </a:endParaRPr>
          </a:p>
        </p:txBody>
      </p:sp>
      <p:pic>
        <p:nvPicPr>
          <p:cNvPr id="4" name="Picture 3">
            <a:extLst>
              <a:ext uri="{FF2B5EF4-FFF2-40B4-BE49-F238E27FC236}">
                <a16:creationId xmlns:a16="http://schemas.microsoft.com/office/drawing/2014/main" xmlns="" id="{CC23759A-1F19-5681-02B4-C9AB3C5760D7}"/>
              </a:ext>
            </a:extLst>
          </p:cNvPr>
          <p:cNvPicPr>
            <a:picLocks noChangeAspect="1"/>
          </p:cNvPicPr>
          <p:nvPr/>
        </p:nvPicPr>
        <p:blipFill>
          <a:blip r:embed="rId2"/>
          <a:stretch>
            <a:fillRect/>
          </a:stretch>
        </p:blipFill>
        <p:spPr>
          <a:xfrm>
            <a:off x="875784" y="823549"/>
            <a:ext cx="7392432" cy="5210902"/>
          </a:xfrm>
          <a:prstGeom prst="rect">
            <a:avLst/>
          </a:prstGeom>
        </p:spPr>
      </p:pic>
    </p:spTree>
    <p:extLst>
      <p:ext uri="{BB962C8B-B14F-4D97-AF65-F5344CB8AC3E}">
        <p14:creationId xmlns:p14="http://schemas.microsoft.com/office/powerpoint/2010/main" val="21397524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D80E4FD-AE5A-250D-1596-EAFBB0F5EDE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xmlns="" id="{F19E4B1D-A2D1-34B1-FA36-EF53A5115861}"/>
              </a:ext>
            </a:extLst>
          </p:cNvPr>
          <p:cNvSpPr>
            <a:spLocks noGrp="1"/>
          </p:cNvSpPr>
          <p:nvPr>
            <p:ph type="title"/>
          </p:nvPr>
        </p:nvSpPr>
        <p:spPr>
          <a:xfrm>
            <a:off x="2362200" y="3048000"/>
            <a:ext cx="4572000" cy="1356360"/>
          </a:xfrm>
        </p:spPr>
        <p:txBody>
          <a:bodyPr>
            <a:normAutofit/>
          </a:bodyPr>
          <a:lstStyle/>
          <a:p>
            <a:pPr algn="ctr"/>
            <a:r>
              <a:rPr lang="en-US" sz="6000" b="1" dirty="0"/>
              <a:t>Robotics</a:t>
            </a:r>
            <a:endParaRPr lang="aa-ET" sz="6000" b="1" dirty="0"/>
          </a:p>
        </p:txBody>
      </p:sp>
    </p:spTree>
    <p:extLst>
      <p:ext uri="{BB962C8B-B14F-4D97-AF65-F5344CB8AC3E}">
        <p14:creationId xmlns:p14="http://schemas.microsoft.com/office/powerpoint/2010/main" val="2489742177"/>
      </p:ext>
    </p:extLst>
  </p:cSld>
  <p:clrMapOvr>
    <a:masterClrMapping/>
  </p:clrMapOvr>
</p:sld>
</file>

<file path=ppt/theme/theme1.xml><?xml version="1.0" encoding="utf-8"?>
<a:theme xmlns:a="http://schemas.openxmlformats.org/drawingml/2006/main" name="Basis">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Basis</Template>
  <TotalTime>9077</TotalTime>
  <Words>1586</Words>
  <Application>Microsoft Office PowerPoint</Application>
  <PresentationFormat>On-screen Show (4:3)</PresentationFormat>
  <Paragraphs>303</Paragraphs>
  <Slides>56</Slides>
  <Notes>21</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56</vt:i4>
      </vt:variant>
    </vt:vector>
  </HeadingPairs>
  <TitlesOfParts>
    <vt:vector size="73" baseType="lpstr">
      <vt:lpstr>ＭＳ ゴシック</vt:lpstr>
      <vt:lpstr>ＭＳ Ｐゴシック</vt:lpstr>
      <vt:lpstr>ＭＳ Ｐゴシック</vt:lpstr>
      <vt:lpstr>SimSun</vt:lpstr>
      <vt:lpstr>SimSun</vt:lpstr>
      <vt:lpstr>Abadi</vt:lpstr>
      <vt:lpstr>Arial</vt:lpstr>
      <vt:lpstr>Calibri</vt:lpstr>
      <vt:lpstr>Circular Std Light</vt:lpstr>
      <vt:lpstr>Corbel</vt:lpstr>
      <vt:lpstr>Google Sans</vt:lpstr>
      <vt:lpstr>Monotype Sorts</vt:lpstr>
      <vt:lpstr>PMingLiU</vt:lpstr>
      <vt:lpstr>Tahoma</vt:lpstr>
      <vt:lpstr>Times New Roman</vt:lpstr>
      <vt:lpstr>Wingdings</vt:lpstr>
      <vt:lpstr>Basis</vt:lpstr>
      <vt:lpstr>Artificial Intelligence Lecture # 1                </vt:lpstr>
      <vt:lpstr>PowerPoint Presentation</vt:lpstr>
      <vt:lpstr>Course Reference Books</vt:lpstr>
      <vt:lpstr>Grading Criteria</vt:lpstr>
      <vt:lpstr>Outline</vt:lpstr>
      <vt:lpstr>Introduction </vt:lpstr>
      <vt:lpstr>Introduction </vt:lpstr>
      <vt:lpstr>Introduction </vt:lpstr>
      <vt:lpstr>Introduction </vt:lpstr>
      <vt:lpstr>What Tasks???..</vt:lpstr>
      <vt:lpstr>Why Study AI?</vt:lpstr>
      <vt:lpstr>Why Study AI?</vt:lpstr>
      <vt:lpstr>Why Study AI?</vt:lpstr>
      <vt:lpstr>What is AI?</vt:lpstr>
      <vt:lpstr>What is Intelligence?</vt:lpstr>
      <vt:lpstr>Contd..</vt:lpstr>
      <vt:lpstr>Contd..</vt:lpstr>
      <vt:lpstr>Contd..</vt:lpstr>
      <vt:lpstr>Contd..</vt:lpstr>
      <vt:lpstr>Contd..</vt:lpstr>
      <vt:lpstr>Contd..</vt:lpstr>
      <vt:lpstr>Contd..</vt:lpstr>
      <vt:lpstr>Contd..</vt:lpstr>
      <vt:lpstr>Contd..</vt:lpstr>
      <vt:lpstr>Contd..</vt:lpstr>
      <vt:lpstr>Why Need AI?</vt:lpstr>
      <vt:lpstr>Intelligent Machines </vt:lpstr>
      <vt:lpstr>Real-World Application of AI</vt:lpstr>
      <vt:lpstr>Some AI application </vt:lpstr>
      <vt:lpstr>Contd..</vt:lpstr>
      <vt:lpstr>Contd..</vt:lpstr>
      <vt:lpstr>Foundation of AI</vt:lpstr>
      <vt:lpstr>DANGER of AI</vt:lpstr>
      <vt:lpstr>Brief History of AI</vt:lpstr>
      <vt:lpstr>History of AI</vt:lpstr>
      <vt:lpstr>Pre-History: Tributes of AI (Different factors/behaviors counted as Intelligent)</vt:lpstr>
      <vt:lpstr>PowerPoint Presentation</vt:lpstr>
      <vt:lpstr>The Birth of AI (1956)</vt:lpstr>
      <vt:lpstr>Contd..</vt:lpstr>
      <vt:lpstr>First program that thought humanly</vt:lpstr>
      <vt:lpstr>Contd..</vt:lpstr>
      <vt:lpstr>The World of AI Today</vt:lpstr>
      <vt:lpstr>The World of AI Today</vt:lpstr>
      <vt:lpstr>The World of AI Today</vt:lpstr>
      <vt:lpstr>PowerPoint Presentation</vt:lpstr>
      <vt:lpstr>Future Prediction by Stephen Hawking about AI? </vt:lpstr>
      <vt:lpstr>Future Prediction by Stephen Hawking about AI? </vt:lpstr>
      <vt:lpstr>PowerPoint Presentation</vt:lpstr>
      <vt:lpstr>PowerPoint Presentation</vt:lpstr>
      <vt:lpstr>PowerPoint Presentation</vt:lpstr>
      <vt:lpstr>Geoffrey Hinton (God Father of AI)</vt:lpstr>
      <vt:lpstr>PowerPoint Presentation</vt:lpstr>
      <vt:lpstr>Companies owned by Elon</vt:lpstr>
      <vt:lpstr>AI Tools</vt:lpstr>
      <vt:lpstr>AI Tools</vt:lpstr>
      <vt:lpstr>Robotics</vt:lpstr>
    </vt:vector>
  </TitlesOfParts>
  <Company>Rensselaer</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Linear Algebra</dc:title>
  <dc:creator>student</dc:creator>
  <cp:lastModifiedBy>hp</cp:lastModifiedBy>
  <cp:revision>362</cp:revision>
  <dcterms:created xsi:type="dcterms:W3CDTF">2007-01-18T14:32:37Z</dcterms:created>
  <dcterms:modified xsi:type="dcterms:W3CDTF">2025-02-20T09:31:04Z</dcterms:modified>
</cp:coreProperties>
</file>