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9"/>
  </p:notesMasterIdLst>
  <p:sldIdLst>
    <p:sldId id="257" r:id="rId2"/>
    <p:sldId id="341" r:id="rId3"/>
    <p:sldId id="431" r:id="rId4"/>
    <p:sldId id="497" r:id="rId5"/>
    <p:sldId id="498" r:id="rId6"/>
    <p:sldId id="499" r:id="rId7"/>
    <p:sldId id="500" r:id="rId8"/>
    <p:sldId id="501" r:id="rId9"/>
    <p:sldId id="502" r:id="rId10"/>
    <p:sldId id="503" r:id="rId11"/>
    <p:sldId id="504" r:id="rId12"/>
    <p:sldId id="521" r:id="rId13"/>
    <p:sldId id="520" r:id="rId14"/>
    <p:sldId id="505" r:id="rId15"/>
    <p:sldId id="506" r:id="rId16"/>
    <p:sldId id="507" r:id="rId17"/>
    <p:sldId id="508" r:id="rId18"/>
    <p:sldId id="509" r:id="rId19"/>
    <p:sldId id="510" r:id="rId20"/>
    <p:sldId id="515" r:id="rId21"/>
    <p:sldId id="516" r:id="rId22"/>
    <p:sldId id="517" r:id="rId23"/>
    <p:sldId id="518" r:id="rId24"/>
    <p:sldId id="512" r:id="rId25"/>
    <p:sldId id="513" r:id="rId26"/>
    <p:sldId id="519" r:id="rId27"/>
    <p:sldId id="372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32" autoAdjust="0"/>
    <p:restoredTop sz="89781" autoAdjust="0"/>
  </p:normalViewPr>
  <p:slideViewPr>
    <p:cSldViewPr>
      <p:cViewPr varScale="1">
        <p:scale>
          <a:sx n="64" d="100"/>
          <a:sy n="64" d="100"/>
        </p:scale>
        <p:origin x="154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33E7A8C9-E367-4B4F-B613-A9E705663D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7596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7984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075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9358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8072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Basically these both are variants of</a:t>
            </a:r>
            <a:r>
              <a:rPr lang="en-US" b="1" baseline="0" dirty="0"/>
              <a:t> best first search. 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746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0426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388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Solved during online class.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1039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7953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3296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2304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Arial" pitchFamily="34" charset="0"/>
                <a:ea typeface="MS PGothic" panose="020B0600070205080204" pitchFamily="34" charset="-128"/>
                <a:cs typeface="ＭＳ Ｐゴシック" charset="0"/>
              </a:rPr>
              <a:t>A* Algorithm is popular because it is a technique that is used for finding path and graph traversals.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pitchFamily="34" charset="0"/>
                <a:ea typeface="MS PGothic" panose="020B0600070205080204" pitchFamily="34" charset="-128"/>
                <a:cs typeface="ＭＳ Ｐゴシック" charset="0"/>
              </a:rPr>
              <a:t>This algorithm is used by many web-based maps and games.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0422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0144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E7A8C9-E367-4B4F-B613-A9E705663DBA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123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4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748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389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79413" y="1295400"/>
            <a:ext cx="4076700" cy="481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8513" y="1295400"/>
            <a:ext cx="4078287" cy="481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0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5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2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5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20520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212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75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28600"/>
            <a:ext cx="2076450" cy="58769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9413" y="228600"/>
            <a:ext cx="6078537" cy="58769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34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79413" y="1295400"/>
            <a:ext cx="4076700" cy="4810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8513" y="1295400"/>
            <a:ext cx="4078287" cy="4810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66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79413" y="1295400"/>
            <a:ext cx="4076700" cy="48101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08513" y="1295400"/>
            <a:ext cx="4078287" cy="23288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08513" y="3776663"/>
            <a:ext cx="4078287" cy="23288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34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096000"/>
            <a:ext cx="1905000" cy="457200"/>
          </a:xfrm>
        </p:spPr>
        <p:txBody>
          <a:bodyPr rtlCol="0"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6096000"/>
            <a:ext cx="2895600" cy="457200"/>
          </a:xfr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0960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037DCF2-CD7A-47DE-80C8-F8C661C247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6808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305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Linear Algebra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9413" y="1295400"/>
            <a:ext cx="8307387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UET-</a:t>
            </a:r>
            <a:r>
              <a:rPr lang="en-US" err="1"/>
              <a:t>Taxila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35FE59B-F0AA-4416-B6F8-467EF8ADB25B}" type="datetimeFigureOut">
              <a:rPr lang="en-US" altLang="en-US"/>
              <a:pPr>
                <a:defRPr/>
              </a:pPr>
              <a:t>3/20/2025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-84" charset="2"/>
        <a:buChar char="q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q"/>
        <a:defRPr sz="28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219200"/>
            <a:ext cx="8305800" cy="38862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GB" altLang="en-US" sz="3200" dirty="0"/>
              <a:t>Artificial Intelligence</a:t>
            </a:r>
            <a:br>
              <a:rPr lang="en-GB" altLang="en-US" sz="3200" dirty="0"/>
            </a:br>
            <a:r>
              <a:rPr lang="en-US" altLang="zh-CN" sz="3200" u="sng" dirty="0">
                <a:latin typeface="Times New Roman" panose="02020603050405020304" pitchFamily="18" charset="0"/>
                <a:ea typeface="SimSun" panose="02010600030101010101" pitchFamily="2" charset="-122"/>
              </a:rPr>
              <a:t/>
            </a:r>
            <a:br>
              <a:rPr lang="en-US" altLang="zh-CN" sz="3200" u="sng" dirty="0">
                <a:latin typeface="Times New Roman" panose="02020603050405020304" pitchFamily="18" charset="0"/>
                <a:ea typeface="SimSun" panose="02010600030101010101" pitchFamily="2" charset="-122"/>
              </a:rPr>
            </a:br>
            <a:r>
              <a:rPr lang="en-US" altLang="zh-CN" sz="3200" dirty="0">
                <a:latin typeface="Times New Roman" panose="02020603050405020304" pitchFamily="18" charset="0"/>
                <a:ea typeface="SimSun" panose="02010600030101010101" pitchFamily="2" charset="-122"/>
              </a:rPr>
              <a:t/>
            </a:r>
            <a:br>
              <a:rPr lang="en-US" altLang="zh-CN" sz="3200" dirty="0">
                <a:latin typeface="Times New Roman" panose="02020603050405020304" pitchFamily="18" charset="0"/>
                <a:ea typeface="SimSun" panose="02010600030101010101" pitchFamily="2" charset="-122"/>
              </a:rPr>
            </a:br>
            <a:endParaRPr lang="en-US" altLang="zh-CN" sz="1800" dirty="0">
              <a:solidFill>
                <a:schemeClr val="tx1"/>
              </a:solidFill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+mn-lt"/>
              </a:rPr>
              <a:t>Outline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pPr marL="271463" indent="-271463" eaLnBrk="1" hangingPunct="1">
              <a:tabLst>
                <a:tab pos="446088" algn="l"/>
              </a:tabLst>
              <a:defRPr/>
            </a:pPr>
            <a:r>
              <a:rPr lang="en-GB" altLang="en-US" dirty="0"/>
              <a:t>Last Class </a:t>
            </a:r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US" sz="1800" dirty="0"/>
              <a:t>Properties of Search Algorithms</a:t>
            </a:r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US" sz="1800" dirty="0"/>
              <a:t>Uninformed Search Algorithms</a:t>
            </a:r>
          </a:p>
          <a:p>
            <a:pPr lvl="2"/>
            <a:r>
              <a:rPr lang="en-US" sz="1800" dirty="0"/>
              <a:t>Breadth-first search</a:t>
            </a:r>
          </a:p>
          <a:p>
            <a:pPr lvl="2"/>
            <a:r>
              <a:rPr lang="en-US" sz="1800" dirty="0"/>
              <a:t>Depth-first search</a:t>
            </a:r>
          </a:p>
          <a:p>
            <a:pPr lvl="2"/>
            <a:r>
              <a:rPr lang="en-US" sz="1800" dirty="0">
                <a:solidFill>
                  <a:srgbClr val="FF0000"/>
                </a:solidFill>
              </a:rPr>
              <a:t>Depth-limited search</a:t>
            </a:r>
          </a:p>
          <a:p>
            <a:pPr lvl="2"/>
            <a:r>
              <a:rPr lang="en-US" sz="1800" dirty="0">
                <a:solidFill>
                  <a:srgbClr val="FF0000"/>
                </a:solidFill>
              </a:rPr>
              <a:t>Uniform-cost search</a:t>
            </a:r>
          </a:p>
          <a:p>
            <a:pPr lvl="2"/>
            <a:r>
              <a:rPr lang="en-US" sz="1800" dirty="0">
                <a:solidFill>
                  <a:srgbClr val="FF0000"/>
                </a:solidFill>
              </a:rPr>
              <a:t>Iterative deepening search</a:t>
            </a:r>
          </a:p>
          <a:p>
            <a:pPr marL="271463" indent="-271463" eaLnBrk="1" hangingPunct="1">
              <a:tabLst>
                <a:tab pos="446088" algn="l"/>
              </a:tabLst>
              <a:defRPr/>
            </a:pPr>
            <a:r>
              <a:rPr lang="en-GB" altLang="en-US" dirty="0"/>
              <a:t>Today </a:t>
            </a:r>
            <a:endParaRPr lang="en-US" sz="2400" dirty="0"/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r>
              <a:rPr lang="en-US" sz="2400" dirty="0"/>
              <a:t>Informed Search Algorithms</a:t>
            </a:r>
          </a:p>
          <a:p>
            <a:pPr lvl="2"/>
            <a:r>
              <a:rPr lang="en-US" sz="2000" dirty="0"/>
              <a:t>Heuristics function</a:t>
            </a:r>
          </a:p>
          <a:p>
            <a:pPr lvl="2"/>
            <a:r>
              <a:rPr lang="en-US" sz="2000" dirty="0"/>
              <a:t>Best first search algorithm</a:t>
            </a:r>
          </a:p>
          <a:p>
            <a:pPr lvl="2"/>
            <a:r>
              <a:rPr lang="en-US" sz="2000" dirty="0"/>
              <a:t>Greedy Best First search</a:t>
            </a:r>
          </a:p>
          <a:p>
            <a:pPr lvl="2"/>
            <a:r>
              <a:rPr lang="en-US" sz="2000" dirty="0"/>
              <a:t>A* search</a:t>
            </a:r>
          </a:p>
          <a:p>
            <a:pPr marL="671513" lvl="1" indent="-271463" eaLnBrk="1" hangingPunct="1">
              <a:tabLst>
                <a:tab pos="446088" algn="l"/>
              </a:tabLst>
              <a:defRPr/>
            </a:pPr>
            <a:endParaRPr lang="en-GB" altLang="en-US" sz="2400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  <a:tabLst>
                <a:tab pos="446088" algn="l"/>
              </a:tabLst>
              <a:defRPr/>
            </a:pPr>
            <a:endParaRPr lang="en-GB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Uninformed Search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535987" cy="4810125"/>
          </a:xfrm>
        </p:spPr>
        <p:txBody>
          <a:bodyPr/>
          <a:lstStyle/>
          <a:p>
            <a:r>
              <a:rPr lang="en-US" sz="2600" dirty="0"/>
              <a:t>Use only the information available in the problem definition</a:t>
            </a:r>
          </a:p>
          <a:p>
            <a:r>
              <a:rPr lang="en-US" sz="2600" dirty="0"/>
              <a:t>Carried out without any additional information that is already provided in the problem statement</a:t>
            </a:r>
          </a:p>
          <a:p>
            <a:pPr lvl="1"/>
            <a:r>
              <a:rPr lang="en-US" sz="2400" dirty="0"/>
              <a:t>How to traverse the tree, how to identify leaf and goal nodes</a:t>
            </a:r>
          </a:p>
          <a:p>
            <a:r>
              <a:rPr lang="en-US" sz="2600" dirty="0"/>
              <a:t>Solution cost is not taken into account</a:t>
            </a:r>
          </a:p>
          <a:p>
            <a:endParaRPr lang="en-US" sz="2600" dirty="0"/>
          </a:p>
          <a:p>
            <a:pPr lvl="1"/>
            <a:r>
              <a:rPr lang="en-US" sz="2600" dirty="0"/>
              <a:t>Breadth-first search</a:t>
            </a:r>
          </a:p>
          <a:p>
            <a:pPr lvl="1"/>
            <a:r>
              <a:rPr lang="en-US" sz="2600" dirty="0"/>
              <a:t>Depth-first search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Depth-limited search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Uniform-cost search</a:t>
            </a:r>
          </a:p>
          <a:p>
            <a:pPr lvl="1"/>
            <a:r>
              <a:rPr lang="en-US" sz="2600" dirty="0">
                <a:solidFill>
                  <a:srgbClr val="FF0000"/>
                </a:solidFill>
              </a:rPr>
              <a:t>Iterative deepening search</a:t>
            </a: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24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Informed Search Algorithms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dirty="0"/>
              <a:t>Informed search algorithm have information on the goal state such as how far we are from the goal, path cost, how to reach to goal node, etc. </a:t>
            </a:r>
          </a:p>
          <a:p>
            <a:r>
              <a:rPr lang="en-US" dirty="0"/>
              <a:t>This information helps agents to explore less to the search space and find the goal node, more efficiently.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Searches the most promising branches of the state-space first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information is obtained by something called a heuristic, so it is also called Heuristic search.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487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Heuristics function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dirty="0"/>
              <a:t>In an informed search, a heuristic is a function that </a:t>
            </a:r>
            <a:r>
              <a:rPr lang="en-US" b="1" dirty="0"/>
              <a:t>estimates how close a state is to the goal state</a:t>
            </a:r>
            <a:r>
              <a:rPr lang="en-US" dirty="0"/>
              <a:t>. </a:t>
            </a:r>
          </a:p>
          <a:p>
            <a:r>
              <a:rPr lang="en-US" dirty="0"/>
              <a:t>Informs about which nodes in the state-space to expand next that lead quickly to the goal state.</a:t>
            </a:r>
          </a:p>
          <a:p>
            <a:endParaRPr lang="en-US" dirty="0"/>
          </a:p>
          <a:p>
            <a:r>
              <a:rPr lang="en-US" dirty="0"/>
              <a:t>Heuristics function is represented by h(n)</a:t>
            </a:r>
          </a:p>
          <a:p>
            <a:endParaRPr lang="en-US" dirty="0"/>
          </a:p>
          <a:p>
            <a:r>
              <a:rPr lang="en-US" dirty="0"/>
              <a:t>For example – Manhattan distance, Euclidean distance, etc. (Lesser the distance, closer the goal.)</a:t>
            </a:r>
          </a:p>
          <a:p>
            <a:r>
              <a:rPr lang="en-US" dirty="0" err="1"/>
              <a:t>Manhatan</a:t>
            </a:r>
            <a:r>
              <a:rPr lang="en-US" dirty="0"/>
              <a:t>= d= |x2-x1|+|y2-y1|</a:t>
            </a:r>
          </a:p>
          <a:p>
            <a:r>
              <a:rPr lang="en-US" dirty="0"/>
              <a:t>Euclidean= d= </a:t>
            </a:r>
            <a:r>
              <a:rPr lang="en-US" dirty="0" err="1"/>
              <a:t>squareroot</a:t>
            </a:r>
            <a:r>
              <a:rPr lang="en-US" dirty="0"/>
              <a:t>((x2-x1)2+(y2-y1)2) </a:t>
            </a:r>
          </a:p>
        </p:txBody>
      </p:sp>
    </p:spTree>
    <p:extLst>
      <p:ext uri="{BB962C8B-B14F-4D97-AF65-F5344CB8AC3E}">
        <p14:creationId xmlns:p14="http://schemas.microsoft.com/office/powerpoint/2010/main" val="467490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b="1" dirty="0"/>
              <a:t>Admissibility of the heuristic function is given as:</a:t>
            </a:r>
          </a:p>
          <a:p>
            <a:pPr lvl="1"/>
            <a:r>
              <a:rPr lang="en-US" dirty="0"/>
              <a:t>h(n) &lt;= h*(n)</a:t>
            </a:r>
          </a:p>
          <a:p>
            <a:pPr lvl="1"/>
            <a:r>
              <a:rPr lang="en-US" dirty="0"/>
              <a:t>Here h(n) is heuristic cost, and h*(n) is the estimated cost. </a:t>
            </a:r>
          </a:p>
          <a:p>
            <a:pPr lvl="1"/>
            <a:r>
              <a:rPr lang="en-US" dirty="0"/>
              <a:t>Hence heuristic cost should be less than or equal to the estimated cost.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646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Pure Heuristic Search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078787" cy="4810125"/>
          </a:xfrm>
        </p:spPr>
        <p:txBody>
          <a:bodyPr/>
          <a:lstStyle/>
          <a:p>
            <a:r>
              <a:rPr lang="en-US" dirty="0"/>
              <a:t>The simplest form of heuristic search algorithms</a:t>
            </a:r>
          </a:p>
          <a:p>
            <a:r>
              <a:rPr lang="en-US" dirty="0"/>
              <a:t>Expand nodes based on their heuristic value h(n). </a:t>
            </a:r>
          </a:p>
          <a:p>
            <a:r>
              <a:rPr lang="en-US" dirty="0"/>
              <a:t>Maintains two lists: </a:t>
            </a:r>
          </a:p>
          <a:p>
            <a:pPr lvl="1"/>
            <a:r>
              <a:rPr lang="en-US" b="1" dirty="0"/>
              <a:t>CLOSED</a:t>
            </a:r>
            <a:r>
              <a:rPr lang="en-US" dirty="0"/>
              <a:t> list: </a:t>
            </a:r>
            <a:r>
              <a:rPr lang="en-US" sz="2400" dirty="0"/>
              <a:t>contains all of the traversed nodes</a:t>
            </a:r>
          </a:p>
          <a:p>
            <a:pPr lvl="1"/>
            <a:r>
              <a:rPr lang="en-US" b="1" dirty="0"/>
              <a:t>OPEN</a:t>
            </a:r>
            <a:r>
              <a:rPr lang="en-US" dirty="0"/>
              <a:t> list</a:t>
            </a:r>
            <a:r>
              <a:rPr lang="en-US" sz="2400" dirty="0"/>
              <a:t>: keeps track of the current ‘immediate’ nodes available for traversal (nodes which have yet not been expanded)</a:t>
            </a:r>
          </a:p>
          <a:p>
            <a:endParaRPr lang="en-US" dirty="0"/>
          </a:p>
          <a:p>
            <a:r>
              <a:rPr lang="en-US" dirty="0"/>
              <a:t>The algorithm continues until a goal state is found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199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Informed Search Algorithms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dirty="0"/>
              <a:t>In the informed search we will discuss two main algorithms:</a:t>
            </a:r>
          </a:p>
          <a:p>
            <a:endParaRPr lang="en-US" dirty="0"/>
          </a:p>
          <a:p>
            <a:r>
              <a:rPr lang="en-US" dirty="0"/>
              <a:t>Best First Search Algorithm(Greedy search)</a:t>
            </a:r>
          </a:p>
          <a:p>
            <a:pPr lvl="1"/>
            <a:r>
              <a:rPr lang="en-US" dirty="0"/>
              <a:t>Greedy w.r.t heuristic value</a:t>
            </a:r>
          </a:p>
          <a:p>
            <a:r>
              <a:rPr lang="en-US" dirty="0"/>
              <a:t>A* Search Algorithm</a:t>
            </a:r>
          </a:p>
        </p:txBody>
      </p:sp>
    </p:spTree>
    <p:extLst>
      <p:ext uri="{BB962C8B-B14F-4D97-AF65-F5344CB8AC3E}">
        <p14:creationId xmlns:p14="http://schemas.microsoft.com/office/powerpoint/2010/main" val="4013930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Greedy best-first search algorithm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sz="2600" dirty="0"/>
              <a:t>In greedy search, we expand the node closest to the goal node. </a:t>
            </a:r>
          </a:p>
          <a:p>
            <a:r>
              <a:rPr lang="en-US" sz="2600" dirty="0"/>
              <a:t>The “closeness” is estimated by a heuristic h(n). </a:t>
            </a:r>
          </a:p>
          <a:p>
            <a:pPr marL="0" indent="0">
              <a:buNone/>
            </a:pPr>
            <a:r>
              <a:rPr lang="en-US" dirty="0"/>
              <a:t>			f(n)= h(n).</a:t>
            </a:r>
            <a:r>
              <a:rPr lang="en-US" sz="2200" dirty="0"/>
              <a:t> </a:t>
            </a:r>
          </a:p>
          <a:p>
            <a:endParaRPr lang="en-US" sz="2200" dirty="0"/>
          </a:p>
          <a:p>
            <a:r>
              <a:rPr lang="en-US" sz="2600" b="1" dirty="0"/>
              <a:t>Heuristic: </a:t>
            </a:r>
            <a:r>
              <a:rPr lang="en-US" sz="2600" dirty="0"/>
              <a:t>A heuristic h is defined as: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h(n) = Estimated cost from node n to the goal.</a:t>
            </a:r>
            <a:r>
              <a:rPr lang="en-US" sz="2400" dirty="0"/>
              <a:t> </a:t>
            </a:r>
          </a:p>
          <a:p>
            <a:pPr lvl="1"/>
            <a:r>
              <a:rPr lang="en-US" sz="2400" dirty="0"/>
              <a:t>Lower the value of h(n), closer is the node from the goal. </a:t>
            </a:r>
          </a:p>
          <a:p>
            <a:r>
              <a:rPr lang="en-US" sz="2600" b="1" dirty="0"/>
              <a:t>Strategy: </a:t>
            </a:r>
            <a:r>
              <a:rPr lang="en-US" sz="2600" dirty="0"/>
              <a:t>Expand the node closest to the goal state</a:t>
            </a:r>
          </a:p>
          <a:p>
            <a:pPr lvl="1"/>
            <a:r>
              <a:rPr lang="en-US" sz="2600" i="1" dirty="0"/>
              <a:t>i.e.</a:t>
            </a:r>
            <a:r>
              <a:rPr lang="en-US" sz="2600" dirty="0"/>
              <a:t> expand the node with a lower h value. </a:t>
            </a:r>
          </a:p>
          <a:p>
            <a:r>
              <a:rPr lang="en-US" b="1" dirty="0"/>
              <a:t>Implemented by the priority queue.</a:t>
            </a:r>
          </a:p>
        </p:txBody>
      </p:sp>
    </p:spTree>
    <p:extLst>
      <p:ext uri="{BB962C8B-B14F-4D97-AF65-F5344CB8AC3E}">
        <p14:creationId xmlns:p14="http://schemas.microsoft.com/office/powerpoint/2010/main" val="32600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Best first search algorithm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459787" cy="4810125"/>
          </a:xfrm>
        </p:spPr>
        <p:txBody>
          <a:bodyPr/>
          <a:lstStyle/>
          <a:p>
            <a:r>
              <a:rPr lang="en-US" sz="2200" dirty="0"/>
              <a:t>Let OPEN be a priority queue containing initial state.</a:t>
            </a:r>
          </a:p>
          <a:p>
            <a:r>
              <a:rPr lang="en-US" sz="2200" b="1" dirty="0"/>
              <a:t>LOOP</a:t>
            </a:r>
            <a:r>
              <a:rPr lang="en-US" sz="2200" dirty="0"/>
              <a:t> </a:t>
            </a:r>
          </a:p>
          <a:p>
            <a:pPr lvl="1"/>
            <a:r>
              <a:rPr lang="en-US" sz="2200" dirty="0"/>
              <a:t>If OPEN is empty, stop and return failure</a:t>
            </a:r>
          </a:p>
          <a:p>
            <a:pPr lvl="1"/>
            <a:r>
              <a:rPr lang="en-US" sz="2200" dirty="0"/>
              <a:t>Else Remove the first node from OPEN with the lowest value of h(n) and place it in the CLOSED list.</a:t>
            </a:r>
          </a:p>
          <a:p>
            <a:pPr lvl="2"/>
            <a:r>
              <a:rPr lang="en-US" sz="2200" dirty="0"/>
              <a:t>If node is a goal</a:t>
            </a:r>
          </a:p>
          <a:p>
            <a:pPr lvl="3"/>
            <a:r>
              <a:rPr lang="en-US" sz="2200" dirty="0"/>
              <a:t>Return the path from initial node to current node</a:t>
            </a:r>
          </a:p>
          <a:p>
            <a:pPr lvl="2"/>
            <a:r>
              <a:rPr lang="en-US" sz="2200" dirty="0"/>
              <a:t>Else generate all the successors of node n and put newly generated nodes into OPEN according to their h(n) value</a:t>
            </a:r>
          </a:p>
          <a:p>
            <a:pPr lvl="1"/>
            <a:endParaRPr lang="en-US" sz="2200" dirty="0"/>
          </a:p>
          <a:p>
            <a:r>
              <a:rPr lang="en-US" sz="2200" b="1" dirty="0"/>
              <a:t>END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201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val 5"/>
          <p:cNvSpPr/>
          <p:nvPr/>
        </p:nvSpPr>
        <p:spPr bwMode="auto">
          <a:xfrm>
            <a:off x="2193656" y="1601492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762000" y="1981200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914400" y="3276600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B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2133600" y="2966876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3452745" y="2819400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167180" y="4348241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4568623" y="3891445"/>
            <a:ext cx="533400" cy="609600"/>
          </a:xfrm>
          <a:prstGeom prst="ellips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3374630" y="4584590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4" name="Straight Connector 13"/>
          <p:cNvCxnSpPr>
            <a:stCxn id="7" idx="6"/>
          </p:cNvCxnSpPr>
          <p:nvPr/>
        </p:nvCxnSpPr>
        <p:spPr bwMode="auto">
          <a:xfrm flipV="1">
            <a:off x="1295400" y="1981200"/>
            <a:ext cx="898256" cy="3048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>
            <a:stCxn id="7" idx="4"/>
            <a:endCxn id="8" idx="0"/>
          </p:cNvCxnSpPr>
          <p:nvPr/>
        </p:nvCxnSpPr>
        <p:spPr bwMode="auto">
          <a:xfrm>
            <a:off x="1028700" y="2590800"/>
            <a:ext cx="152400" cy="6858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>
            <a:stCxn id="6" idx="5"/>
            <a:endCxn id="10" idx="1"/>
          </p:cNvCxnSpPr>
          <p:nvPr/>
        </p:nvCxnSpPr>
        <p:spPr bwMode="auto">
          <a:xfrm>
            <a:off x="2648941" y="2121818"/>
            <a:ext cx="881919" cy="78685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7" idx="5"/>
            <a:endCxn id="9" idx="1"/>
          </p:cNvCxnSpPr>
          <p:nvPr/>
        </p:nvCxnSpPr>
        <p:spPr bwMode="auto">
          <a:xfrm>
            <a:off x="1217285" y="2501526"/>
            <a:ext cx="994430" cy="55462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8" idx="5"/>
            <a:endCxn id="11" idx="1"/>
          </p:cNvCxnSpPr>
          <p:nvPr/>
        </p:nvCxnSpPr>
        <p:spPr bwMode="auto">
          <a:xfrm>
            <a:off x="1369685" y="3796926"/>
            <a:ext cx="875610" cy="64058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stCxn id="10" idx="5"/>
            <a:endCxn id="12" idx="1"/>
          </p:cNvCxnSpPr>
          <p:nvPr/>
        </p:nvCxnSpPr>
        <p:spPr bwMode="auto">
          <a:xfrm>
            <a:off x="3908030" y="3339726"/>
            <a:ext cx="738708" cy="640993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9" idx="6"/>
            <a:endCxn id="10" idx="2"/>
          </p:cNvCxnSpPr>
          <p:nvPr/>
        </p:nvCxnSpPr>
        <p:spPr bwMode="auto">
          <a:xfrm flipV="1">
            <a:off x="2667000" y="3124200"/>
            <a:ext cx="785745" cy="14747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>
            <a:stCxn id="9" idx="4"/>
            <a:endCxn id="11" idx="0"/>
          </p:cNvCxnSpPr>
          <p:nvPr/>
        </p:nvCxnSpPr>
        <p:spPr bwMode="auto">
          <a:xfrm>
            <a:off x="2400300" y="3576476"/>
            <a:ext cx="33580" cy="77176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stCxn id="11" idx="6"/>
            <a:endCxn id="13" idx="2"/>
          </p:cNvCxnSpPr>
          <p:nvPr/>
        </p:nvCxnSpPr>
        <p:spPr bwMode="auto">
          <a:xfrm>
            <a:off x="2700580" y="4653041"/>
            <a:ext cx="674050" cy="23634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/>
          <p:cNvCxnSpPr>
            <a:stCxn id="13" idx="6"/>
            <a:endCxn id="12" idx="3"/>
          </p:cNvCxnSpPr>
          <p:nvPr/>
        </p:nvCxnSpPr>
        <p:spPr bwMode="auto">
          <a:xfrm flipV="1">
            <a:off x="3908030" y="4411771"/>
            <a:ext cx="738708" cy="47761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1562100" y="17526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2797697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0145" y="2465653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1912" y="2140573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3200" y="2816382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3600" y="3750208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9498" y="4075142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3884" y="443131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39329" y="3257025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8680" y="4261109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8907" y="1145041"/>
            <a:ext cx="357459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heuristic value, Straight line distance is calculated using Euclidean distance </a:t>
            </a:r>
          </a:p>
          <a:p>
            <a:endParaRPr lang="en-US" sz="2200" dirty="0"/>
          </a:p>
          <a:p>
            <a:r>
              <a:rPr lang="en-US" sz="2200" dirty="0"/>
              <a:t>A -&gt; G</a:t>
            </a:r>
            <a:r>
              <a:rPr lang="en-US" dirty="0"/>
              <a:t> = 40</a:t>
            </a:r>
          </a:p>
          <a:p>
            <a:r>
              <a:rPr lang="en-US" dirty="0"/>
              <a:t>B -&gt; G = 32 </a:t>
            </a:r>
          </a:p>
          <a:p>
            <a:r>
              <a:rPr lang="en-US" dirty="0"/>
              <a:t>C -&gt; G = 25</a:t>
            </a:r>
          </a:p>
          <a:p>
            <a:r>
              <a:rPr lang="en-US" dirty="0"/>
              <a:t>D -&gt; G = 35 </a:t>
            </a:r>
          </a:p>
          <a:p>
            <a:r>
              <a:rPr lang="en-US" dirty="0"/>
              <a:t>E -&gt; G = 19 </a:t>
            </a:r>
          </a:p>
          <a:p>
            <a:r>
              <a:rPr lang="en-US" dirty="0"/>
              <a:t>F -&gt; G = 17 </a:t>
            </a:r>
          </a:p>
          <a:p>
            <a:r>
              <a:rPr lang="en-US" dirty="0"/>
              <a:t>H -&gt; G = 10 </a:t>
            </a:r>
          </a:p>
          <a:p>
            <a:r>
              <a:rPr lang="en-US" dirty="0"/>
              <a:t>G -&gt; G = 0 </a:t>
            </a:r>
          </a:p>
          <a:p>
            <a:endParaRPr lang="en-US" dirty="0"/>
          </a:p>
          <a:p>
            <a:r>
              <a:rPr lang="en-US" dirty="0"/>
              <a:t>Best-First search focuses only on heuristic values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13" y="5638563"/>
            <a:ext cx="4495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Here numbers mentioned on edges are just cost to travel from one state to other rather than heuristic value</a:t>
            </a:r>
          </a:p>
        </p:txBody>
      </p:sp>
    </p:spTree>
    <p:extLst>
      <p:ext uri="{BB962C8B-B14F-4D97-AF65-F5344CB8AC3E}">
        <p14:creationId xmlns:p14="http://schemas.microsoft.com/office/powerpoint/2010/main" val="366111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 bwMode="auto">
          <a:xfrm>
            <a:off x="2193656" y="1601492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3810000" y="1137666"/>
            <a:ext cx="1066800" cy="1224534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/>
              <a:t>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H=35</a:t>
            </a:r>
          </a:p>
        </p:txBody>
      </p:sp>
      <p:sp>
        <p:nvSpPr>
          <p:cNvPr id="6" name="Oval 5"/>
          <p:cNvSpPr/>
          <p:nvPr/>
        </p:nvSpPr>
        <p:spPr bwMode="auto">
          <a:xfrm>
            <a:off x="1219200" y="2895600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B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2079356" y="3817065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7010400" y="3512265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0" name="Straight Connector 9"/>
          <p:cNvCxnSpPr>
            <a:stCxn id="4" idx="5"/>
          </p:cNvCxnSpPr>
          <p:nvPr/>
        </p:nvCxnSpPr>
        <p:spPr bwMode="auto">
          <a:xfrm>
            <a:off x="2648941" y="2121818"/>
            <a:ext cx="4437659" cy="161198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>
            <a:stCxn id="5" idx="5"/>
            <a:endCxn id="8" idx="1"/>
          </p:cNvCxnSpPr>
          <p:nvPr/>
        </p:nvCxnSpPr>
        <p:spPr bwMode="auto">
          <a:xfrm>
            <a:off x="4720571" y="2182871"/>
            <a:ext cx="2367944" cy="141866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>
            <a:stCxn id="6" idx="6"/>
            <a:endCxn id="8" idx="2"/>
          </p:cNvCxnSpPr>
          <p:nvPr/>
        </p:nvCxnSpPr>
        <p:spPr bwMode="auto">
          <a:xfrm>
            <a:off x="1752600" y="3200400"/>
            <a:ext cx="5257800" cy="61666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7" idx="6"/>
            <a:endCxn id="8" idx="3"/>
          </p:cNvCxnSpPr>
          <p:nvPr/>
        </p:nvCxnSpPr>
        <p:spPr bwMode="auto">
          <a:xfrm flipV="1">
            <a:off x="2612756" y="4032591"/>
            <a:ext cx="4475759" cy="8927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07058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Path: A&gt;C&gt;F&gt;G</a:t>
            </a:r>
          </a:p>
        </p:txBody>
      </p:sp>
      <p:sp>
        <p:nvSpPr>
          <p:cNvPr id="4" name="Oval 3"/>
          <p:cNvSpPr/>
          <p:nvPr/>
        </p:nvSpPr>
        <p:spPr bwMode="auto">
          <a:xfrm>
            <a:off x="2193656" y="1601492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762000" y="1981200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914400" y="3276600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B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2133600" y="2966876"/>
            <a:ext cx="533400" cy="6096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452745" y="2819400"/>
            <a:ext cx="533400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2167180" y="4348241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E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3374630" y="4584590"/>
            <a:ext cx="533400" cy="609600"/>
          </a:xfrm>
          <a:prstGeom prst="ellips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H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1" name="Straight Connector 10"/>
          <p:cNvCxnSpPr>
            <a:stCxn id="5" idx="6"/>
          </p:cNvCxnSpPr>
          <p:nvPr/>
        </p:nvCxnSpPr>
        <p:spPr bwMode="auto">
          <a:xfrm flipV="1">
            <a:off x="1295400" y="1981200"/>
            <a:ext cx="898256" cy="3048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>
            <a:stCxn id="5" idx="4"/>
            <a:endCxn id="6" idx="0"/>
          </p:cNvCxnSpPr>
          <p:nvPr/>
        </p:nvCxnSpPr>
        <p:spPr bwMode="auto">
          <a:xfrm>
            <a:off x="1028700" y="2590800"/>
            <a:ext cx="152400" cy="6858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>
            <a:stCxn id="4" idx="5"/>
            <a:endCxn id="8" idx="1"/>
          </p:cNvCxnSpPr>
          <p:nvPr/>
        </p:nvCxnSpPr>
        <p:spPr bwMode="auto">
          <a:xfrm>
            <a:off x="2648941" y="2121818"/>
            <a:ext cx="881919" cy="78685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>
            <a:stCxn id="5" idx="5"/>
            <a:endCxn id="7" idx="1"/>
          </p:cNvCxnSpPr>
          <p:nvPr/>
        </p:nvCxnSpPr>
        <p:spPr bwMode="auto">
          <a:xfrm>
            <a:off x="1217285" y="2501526"/>
            <a:ext cx="994430" cy="55462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>
            <a:stCxn id="6" idx="5"/>
            <a:endCxn id="9" idx="1"/>
          </p:cNvCxnSpPr>
          <p:nvPr/>
        </p:nvCxnSpPr>
        <p:spPr bwMode="auto">
          <a:xfrm>
            <a:off x="1369685" y="3796926"/>
            <a:ext cx="875610" cy="64058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>
            <a:stCxn id="8" idx="5"/>
          </p:cNvCxnSpPr>
          <p:nvPr/>
        </p:nvCxnSpPr>
        <p:spPr bwMode="auto">
          <a:xfrm>
            <a:off x="3908030" y="3339726"/>
            <a:ext cx="738708" cy="640993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/>
          <p:cNvCxnSpPr>
            <a:stCxn id="7" idx="6"/>
            <a:endCxn id="8" idx="2"/>
          </p:cNvCxnSpPr>
          <p:nvPr/>
        </p:nvCxnSpPr>
        <p:spPr bwMode="auto">
          <a:xfrm flipV="1">
            <a:off x="2667000" y="3124200"/>
            <a:ext cx="785745" cy="14747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/>
          <p:cNvCxnSpPr>
            <a:stCxn id="7" idx="4"/>
            <a:endCxn id="9" idx="0"/>
          </p:cNvCxnSpPr>
          <p:nvPr/>
        </p:nvCxnSpPr>
        <p:spPr bwMode="auto">
          <a:xfrm>
            <a:off x="2400300" y="3576476"/>
            <a:ext cx="33580" cy="77176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>
            <a:stCxn id="9" idx="6"/>
            <a:endCxn id="10" idx="2"/>
          </p:cNvCxnSpPr>
          <p:nvPr/>
        </p:nvCxnSpPr>
        <p:spPr bwMode="auto">
          <a:xfrm>
            <a:off x="2700580" y="4653041"/>
            <a:ext cx="674050" cy="23634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0" idx="6"/>
          </p:cNvCxnSpPr>
          <p:nvPr/>
        </p:nvCxnSpPr>
        <p:spPr bwMode="auto">
          <a:xfrm flipV="1">
            <a:off x="3908030" y="4411771"/>
            <a:ext cx="738708" cy="47761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1562100" y="17526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797697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0145" y="2465653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1912" y="2140573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3200" y="2816382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3600" y="3750208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9498" y="4075142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3884" y="443131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9329" y="3257025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8680" y="4261109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</a:p>
        </p:txBody>
      </p:sp>
      <p:sp>
        <p:nvSpPr>
          <p:cNvPr id="31" name="Oval 30"/>
          <p:cNvSpPr/>
          <p:nvPr/>
        </p:nvSpPr>
        <p:spPr bwMode="auto">
          <a:xfrm>
            <a:off x="4568623" y="3891445"/>
            <a:ext cx="533400" cy="6096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G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19800" y="1601492"/>
            <a:ext cx="2667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A -&gt; G</a:t>
            </a:r>
            <a:r>
              <a:rPr lang="en-US" dirty="0"/>
              <a:t> = 40</a:t>
            </a:r>
          </a:p>
          <a:p>
            <a:r>
              <a:rPr lang="en-US" dirty="0"/>
              <a:t>B -&gt; G = 32 </a:t>
            </a:r>
          </a:p>
          <a:p>
            <a:r>
              <a:rPr lang="en-US" dirty="0"/>
              <a:t>C -&gt; G = 25</a:t>
            </a:r>
          </a:p>
          <a:p>
            <a:r>
              <a:rPr lang="en-US" dirty="0"/>
              <a:t>D -&gt; G = 35 </a:t>
            </a:r>
          </a:p>
          <a:p>
            <a:r>
              <a:rPr lang="en-US" dirty="0"/>
              <a:t>E -&gt; G = 19 </a:t>
            </a:r>
          </a:p>
          <a:p>
            <a:r>
              <a:rPr lang="en-US" dirty="0"/>
              <a:t>F -&gt; G = 17 </a:t>
            </a:r>
          </a:p>
          <a:p>
            <a:r>
              <a:rPr lang="en-US" dirty="0"/>
              <a:t>H -&gt; G = 10 </a:t>
            </a:r>
          </a:p>
          <a:p>
            <a:r>
              <a:rPr lang="en-US" dirty="0"/>
              <a:t>G -&gt; G = 0 </a:t>
            </a:r>
          </a:p>
          <a:p>
            <a:endParaRPr lang="en-US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753254"/>
              </p:ext>
            </p:extLst>
          </p:nvPr>
        </p:nvGraphicFramePr>
        <p:xfrm>
          <a:off x="1724729" y="5377950"/>
          <a:ext cx="4876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8977216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1495397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07636305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9056429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5204111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746234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8423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987981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trike="sngStrike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13011086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135381"/>
              </p:ext>
            </p:extLst>
          </p:nvPr>
        </p:nvGraphicFramePr>
        <p:xfrm>
          <a:off x="1687569" y="6106413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xmlns="" val="8977216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4212625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1686805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41495397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07636305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9056429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5204111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746234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584236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3987981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trike="noStrike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13011086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404654" y="1263588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9800" y="263221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2447" y="3039855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8945" y="2448714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90014" y="4850829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28283" y="3657135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149790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dirty="0"/>
              <a:t>Example solution on board…</a:t>
            </a:r>
          </a:p>
          <a:p>
            <a:endParaRPr lang="en-US" dirty="0"/>
          </a:p>
          <a:p>
            <a:r>
              <a:rPr lang="en-US" dirty="0"/>
              <a:t>It is important to note that heuristics can sometimes misguide us.</a:t>
            </a:r>
          </a:p>
          <a:p>
            <a:r>
              <a:rPr lang="en-US" dirty="0"/>
              <a:t>E.g. path A -&gt; C -&gt; E-&gt; H -&gt; G has less cost</a:t>
            </a:r>
          </a:p>
          <a:p>
            <a:endParaRPr lang="en-US" dirty="0"/>
          </a:p>
          <a:p>
            <a:r>
              <a:rPr lang="en-US" dirty="0"/>
              <a:t>Similarly, consider that the maze has fences fixed along some of the paths through which the smell can pass. </a:t>
            </a:r>
          </a:p>
        </p:txBody>
      </p:sp>
    </p:spTree>
    <p:extLst>
      <p:ext uri="{BB962C8B-B14F-4D97-AF65-F5344CB8AC3E}">
        <p14:creationId xmlns:p14="http://schemas.microsoft.com/office/powerpoint/2010/main" val="333068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Works well with informed search problems, with fewer steps to reach a goal</a:t>
            </a:r>
          </a:p>
          <a:p>
            <a:pPr lvl="1"/>
            <a:r>
              <a:rPr lang="en-US" dirty="0"/>
              <a:t>more efficient than BFS and DFS algorithms </a:t>
            </a:r>
          </a:p>
          <a:p>
            <a:r>
              <a:rPr lang="en-US" dirty="0"/>
              <a:t>Disadvantages </a:t>
            </a:r>
          </a:p>
          <a:p>
            <a:pPr lvl="1"/>
            <a:r>
              <a:rPr lang="en-US" dirty="0"/>
              <a:t>Can turn into unguided DFS in the worst case.</a:t>
            </a:r>
          </a:p>
          <a:p>
            <a:pPr lvl="2"/>
            <a:r>
              <a:rPr lang="en-US" dirty="0"/>
              <a:t>Can get stuck in a loop like DFS. </a:t>
            </a:r>
          </a:p>
          <a:p>
            <a:pPr lvl="1"/>
            <a:r>
              <a:rPr lang="en-US" dirty="0"/>
              <a:t>This algorithm is not optimal.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58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Performance Measurement 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535987" cy="4810125"/>
          </a:xfrm>
        </p:spPr>
        <p:txBody>
          <a:bodyPr/>
          <a:lstStyle/>
          <a:p>
            <a:r>
              <a:rPr lang="en-US" b="1" dirty="0"/>
              <a:t>Complete ?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NO</a:t>
            </a:r>
            <a:r>
              <a:rPr lang="en-US" altLang="en-US" sz="2400" dirty="0"/>
              <a:t>, GBFS can get stuck in loops</a:t>
            </a:r>
            <a:endParaRPr lang="en-US" sz="2400" dirty="0"/>
          </a:p>
          <a:p>
            <a:r>
              <a:rPr lang="en-US" b="1" dirty="0"/>
              <a:t>Optimal ?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NO, </a:t>
            </a:r>
            <a:r>
              <a:rPr lang="en-US" sz="2400" dirty="0"/>
              <a:t>heuristic value may misguide.</a:t>
            </a:r>
          </a:p>
          <a:p>
            <a:r>
              <a:rPr lang="en-US" b="1" dirty="0"/>
              <a:t>Time ?</a:t>
            </a:r>
          </a:p>
          <a:p>
            <a:pPr lvl="1"/>
            <a:r>
              <a:rPr lang="en-US" sz="2400" dirty="0"/>
              <a:t>The worst case time complexity of Greedy best first search is </a:t>
            </a:r>
            <a:r>
              <a:rPr lang="en-US" sz="2400" dirty="0">
                <a:solidFill>
                  <a:srgbClr val="FF0000"/>
                </a:solidFill>
              </a:rPr>
              <a:t>O(</a:t>
            </a:r>
            <a:r>
              <a:rPr lang="en-US" sz="2400" dirty="0" err="1">
                <a:solidFill>
                  <a:srgbClr val="FF0000"/>
                </a:solidFill>
              </a:rPr>
              <a:t>b</a:t>
            </a:r>
            <a:r>
              <a:rPr lang="en-US" sz="2400" baseline="30000" dirty="0" err="1">
                <a:solidFill>
                  <a:srgbClr val="FF0000"/>
                </a:solidFill>
              </a:rPr>
              <a:t>m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.  Simply O(n)</a:t>
            </a:r>
            <a:endParaRPr lang="en-US" sz="2400" b="1" dirty="0"/>
          </a:p>
          <a:p>
            <a:r>
              <a:rPr lang="en-US" b="1" dirty="0"/>
              <a:t>Space ?</a:t>
            </a:r>
          </a:p>
          <a:p>
            <a:pPr lvl="1"/>
            <a:r>
              <a:rPr lang="en-US" sz="2400" dirty="0"/>
              <a:t>The worst case space complexity of Greedy best first search is </a:t>
            </a:r>
            <a:r>
              <a:rPr lang="en-US" sz="2400" dirty="0">
                <a:solidFill>
                  <a:srgbClr val="FF0000"/>
                </a:solidFill>
              </a:rPr>
              <a:t>O(</a:t>
            </a:r>
            <a:r>
              <a:rPr lang="en-US" sz="2400" dirty="0" err="1">
                <a:solidFill>
                  <a:srgbClr val="FF0000"/>
                </a:solidFill>
              </a:rPr>
              <a:t>b</a:t>
            </a:r>
            <a:r>
              <a:rPr lang="en-US" sz="2400" baseline="30000" dirty="0" err="1">
                <a:solidFill>
                  <a:srgbClr val="FF0000"/>
                </a:solidFill>
              </a:rPr>
              <a:t>m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30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Find the path from S to G using greedy search. The heuristic values h of each node is given below the name of the node.</a:t>
            </a:r>
            <a:r>
              <a:rPr lang="en-US" dirty="0"/>
              <a:t> 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2" y="2133600"/>
            <a:ext cx="7773987" cy="474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54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A*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altLang="en-US" sz="2400" dirty="0"/>
              <a:t>A* (A star) is the most widely known form of Best-First search</a:t>
            </a:r>
            <a:endParaRPr lang="en-US" sz="2400" dirty="0"/>
          </a:p>
          <a:p>
            <a:r>
              <a:rPr lang="en-US" sz="2400" dirty="0"/>
              <a:t>A* Search combines the strengths of uniform-cost search and greedy search. </a:t>
            </a:r>
          </a:p>
          <a:p>
            <a:r>
              <a:rPr lang="en-US" altLang="en-US" sz="2400" dirty="0"/>
              <a:t>It evaluates nodes by combining g(n) and h(n):</a:t>
            </a:r>
          </a:p>
          <a:p>
            <a:pPr lvl="1" eaLnBrk="1" hangingPunct="1"/>
            <a:r>
              <a:rPr lang="en-US" altLang="en-US" sz="2200" dirty="0">
                <a:solidFill>
                  <a:srgbClr val="FF0000"/>
                </a:solidFill>
              </a:rPr>
              <a:t>f(n) = g(n) + h(n)</a:t>
            </a:r>
          </a:p>
          <a:p>
            <a:pPr lvl="1" eaLnBrk="1" hangingPunct="1"/>
            <a:r>
              <a:rPr lang="en-US" altLang="en-US" sz="2200" dirty="0"/>
              <a:t>Where</a:t>
            </a:r>
          </a:p>
          <a:p>
            <a:pPr lvl="2" eaLnBrk="1" hangingPunct="1"/>
            <a:r>
              <a:rPr lang="en-US" altLang="en-US" sz="2200" dirty="0"/>
              <a:t>g(n) = cost so far to reach n (</a:t>
            </a:r>
            <a:r>
              <a:rPr lang="en-US" altLang="en-US" sz="2200" b="1" dirty="0"/>
              <a:t>backward cost</a:t>
            </a:r>
            <a:r>
              <a:rPr lang="en-US" altLang="en-US" sz="2200" dirty="0"/>
              <a:t>, i.e. </a:t>
            </a:r>
            <a:r>
              <a:rPr lang="en-US" sz="2200" dirty="0"/>
              <a:t>UCS cost</a:t>
            </a:r>
            <a:r>
              <a:rPr lang="en-US" altLang="en-US" sz="2200" dirty="0"/>
              <a:t>)</a:t>
            </a:r>
          </a:p>
          <a:p>
            <a:pPr lvl="2" eaLnBrk="1" hangingPunct="1"/>
            <a:r>
              <a:rPr lang="en-US" altLang="en-US" sz="2200" dirty="0"/>
              <a:t>h(n) = estimated cost to goal from n (i.e. </a:t>
            </a:r>
            <a:r>
              <a:rPr lang="en-US" sz="2200" dirty="0"/>
              <a:t>greedy search cost, </a:t>
            </a:r>
            <a:r>
              <a:rPr lang="en-US" sz="2200" b="1" dirty="0"/>
              <a:t>forward cost</a:t>
            </a:r>
            <a:r>
              <a:rPr lang="en-US" altLang="en-US" sz="2200" dirty="0"/>
              <a:t>)</a:t>
            </a:r>
          </a:p>
          <a:p>
            <a:pPr lvl="2" eaLnBrk="1" hangingPunct="1"/>
            <a:r>
              <a:rPr lang="en-US" altLang="en-US" sz="2200" dirty="0"/>
              <a:t>f(n) = estimated total cost of path through n</a:t>
            </a:r>
          </a:p>
          <a:p>
            <a:pPr lvl="2" eaLnBrk="1" hangingPunct="1"/>
            <a:endParaRPr lang="en-US" sz="2000" dirty="0"/>
          </a:p>
          <a:p>
            <a:r>
              <a:rPr lang="en-US" sz="2000" dirty="0"/>
              <a:t>Same algorithm as discussed previously just with a difference of f(n) instead of h(n)</a:t>
            </a:r>
          </a:p>
        </p:txBody>
      </p:sp>
    </p:spTree>
    <p:extLst>
      <p:ext uri="{BB962C8B-B14F-4D97-AF65-F5344CB8AC3E}">
        <p14:creationId xmlns:p14="http://schemas.microsoft.com/office/powerpoint/2010/main" val="748455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A* search is optimal only when for all nodes, the forward cost for a node h(n) underestimates the actual cost h*(n) to reach the goal. This property of </a:t>
                </a:r>
                <a:r>
                  <a:rPr lang="en-US" i="1" dirty="0"/>
                  <a:t>A*</a:t>
                </a:r>
                <a:r>
                  <a:rPr lang="en-US" dirty="0"/>
                  <a:t> heuristic is called </a:t>
                </a:r>
                <a:r>
                  <a:rPr lang="en-US" b="1" dirty="0"/>
                  <a:t>admissibility</a:t>
                </a:r>
                <a:r>
                  <a:rPr lang="en-US" dirty="0"/>
                  <a:t>. 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Admissibility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≤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𝒉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b="1" dirty="0"/>
                  <a:t>Strategy: </a:t>
                </a:r>
                <a:r>
                  <a:rPr lang="en-US" dirty="0"/>
                  <a:t>Choose the node with the lowest f(n) value. 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34" t="-1394" r="-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41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most cost-effective path to reach from start state A to final state G using A* Algorithm.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95744"/>
            <a:ext cx="7010400" cy="466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5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Let’s start with node A. Since A is a starting node, therefore, the value of g(n) for A is zero and from the graph, we get the heuristic value of A is 11, therefore </a:t>
            </a:r>
          </a:p>
          <a:p>
            <a:pPr marL="0" indent="0">
              <a:buNone/>
            </a:pPr>
            <a:r>
              <a:rPr lang="en-US" sz="2400" dirty="0"/>
              <a:t>		f(n) = g(n) + h(n)</a:t>
            </a:r>
          </a:p>
          <a:p>
            <a:pPr marL="0" indent="0">
              <a:buNone/>
            </a:pPr>
            <a:r>
              <a:rPr lang="en-US" sz="2400" dirty="0"/>
              <a:t>		f(n) = 0+ 11 =11</a:t>
            </a:r>
          </a:p>
          <a:p>
            <a:pPr marL="0" indent="0">
              <a:buNone/>
            </a:pPr>
            <a:r>
              <a:rPr lang="en-US" sz="2400" dirty="0"/>
              <a:t>		Thus for A, we can write A=11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Now from A, we can go to point B or point E, so we compute f(n) for each of them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400" b="1" dirty="0"/>
              <a:t>A → B = 2 + 6 = 8</a:t>
            </a:r>
          </a:p>
          <a:p>
            <a:pPr marL="0" indent="0">
              <a:buNone/>
            </a:pPr>
            <a:r>
              <a:rPr lang="en-US" sz="2400" dirty="0"/>
              <a:t>		A → E = 3 + 7 = 10</a:t>
            </a:r>
          </a:p>
          <a:p>
            <a:r>
              <a:rPr lang="en-US" sz="2400" dirty="0"/>
              <a:t>Since the cost for  A → B is less, we move forward with this path and compute the f(n) for the children nodes of B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863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Since there is no path between C and G, the heuristic cost is set infinity or a very high value</a:t>
            </a:r>
          </a:p>
          <a:p>
            <a:pPr marL="0" indent="0">
              <a:buNone/>
            </a:pPr>
            <a:r>
              <a:rPr lang="en-US" sz="2400" dirty="0"/>
              <a:t>		A → B → C = (2 + 1) + 99= 102</a:t>
            </a:r>
          </a:p>
          <a:p>
            <a:pPr marL="0" indent="0">
              <a:buNone/>
            </a:pPr>
            <a:r>
              <a:rPr lang="en-US" sz="2400" dirty="0"/>
              <a:t>		A → B → G = (2 + 9 ) + 0 = </a:t>
            </a:r>
            <a:r>
              <a:rPr lang="en-US" sz="2400" b="1" dirty="0"/>
              <a:t>11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Here the path A → B → G has the least cost but it is still more than the cost of A → E, thus we explore this path further</a:t>
            </a:r>
            <a:br>
              <a:rPr lang="en-US" sz="2400" dirty="0"/>
            </a:br>
            <a:r>
              <a:rPr lang="en-US" sz="2400" dirty="0"/>
              <a:t>		A → E → D = (3 + 6) + 1 = 10</a:t>
            </a:r>
          </a:p>
          <a:p>
            <a:r>
              <a:rPr lang="en-US" sz="2400" dirty="0"/>
              <a:t>Comparing the cost of A → E → D with all the paths we got so far and as this cost is least of all we move forward with this path. And compute the f(n) for the children of D</a:t>
            </a:r>
          </a:p>
          <a:p>
            <a:pPr marL="0" indent="0">
              <a:buNone/>
            </a:pPr>
            <a:r>
              <a:rPr lang="en-US" sz="2400" dirty="0"/>
              <a:t>		A → E → D → G = (3 + 6 + 1) +0 =</a:t>
            </a:r>
            <a:r>
              <a:rPr lang="en-US" sz="2400" b="1" dirty="0"/>
              <a:t>10</a:t>
            </a:r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4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comparing all the paths that lead us to the goal, we conclude that A → E → D → G is the most cost-effective path to get from A to 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04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Pros and Cons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307387" cy="4810125"/>
          </a:xfrm>
        </p:spPr>
        <p:txBody>
          <a:bodyPr/>
          <a:lstStyle/>
          <a:p>
            <a:r>
              <a:rPr lang="en-US" dirty="0"/>
              <a:t>Advantages</a:t>
            </a:r>
          </a:p>
          <a:p>
            <a:pPr lvl="1"/>
            <a:r>
              <a:rPr lang="en-US" sz="2400" dirty="0"/>
              <a:t>Best algorithm than other search algorithms.</a:t>
            </a:r>
          </a:p>
          <a:p>
            <a:pPr lvl="1"/>
            <a:r>
              <a:rPr lang="en-US" sz="2400" dirty="0"/>
              <a:t>Optimal and complete.</a:t>
            </a:r>
          </a:p>
          <a:p>
            <a:pPr lvl="1"/>
            <a:r>
              <a:rPr lang="en-US" sz="2400" dirty="0"/>
              <a:t>Can solve very complex problems</a:t>
            </a:r>
            <a:r>
              <a:rPr lang="en-US" dirty="0"/>
              <a:t>.</a:t>
            </a:r>
          </a:p>
          <a:p>
            <a:r>
              <a:rPr lang="en-US" dirty="0"/>
              <a:t>Disadvantages </a:t>
            </a:r>
          </a:p>
          <a:p>
            <a:pPr lvl="1"/>
            <a:r>
              <a:rPr lang="en-US" sz="2400" dirty="0"/>
              <a:t>It does not always produce the shortest path as it mostly based on heuristics and approximation.</a:t>
            </a:r>
          </a:p>
          <a:p>
            <a:pPr lvl="1"/>
            <a:r>
              <a:rPr lang="en-US" sz="2400" dirty="0"/>
              <a:t>A* search algorithm has some complexity issues.</a:t>
            </a:r>
          </a:p>
          <a:p>
            <a:pPr lvl="1"/>
            <a:r>
              <a:rPr lang="en-US" sz="2400" dirty="0"/>
              <a:t>The main drawback of A* is memory requirement as it keeps all generated nodes in the memory.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68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838200"/>
          </a:xfrm>
        </p:spPr>
        <p:txBody>
          <a:bodyPr/>
          <a:lstStyle/>
          <a:p>
            <a:r>
              <a:rPr lang="en-US" dirty="0"/>
              <a:t>Performance Measurement 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79413" y="1295400"/>
            <a:ext cx="8535987" cy="4810125"/>
          </a:xfrm>
        </p:spPr>
        <p:txBody>
          <a:bodyPr/>
          <a:lstStyle/>
          <a:p>
            <a:r>
              <a:rPr lang="en-US" b="1" dirty="0"/>
              <a:t>Complete ?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YES</a:t>
            </a:r>
            <a:r>
              <a:rPr lang="en-US" altLang="en-US" sz="2400" dirty="0"/>
              <a:t>, with finite branching factor and fixed cost</a:t>
            </a:r>
            <a:endParaRPr lang="en-US" sz="2400" dirty="0"/>
          </a:p>
          <a:p>
            <a:r>
              <a:rPr lang="en-US" b="1" dirty="0"/>
              <a:t>Optimal ?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YES, </a:t>
            </a:r>
            <a:r>
              <a:rPr lang="en-US" sz="2400" dirty="0"/>
              <a:t>with admissible heuristic search.</a:t>
            </a:r>
          </a:p>
          <a:p>
            <a:r>
              <a:rPr lang="en-US" b="1" dirty="0"/>
              <a:t>Time ?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O(</a:t>
            </a:r>
            <a:r>
              <a:rPr lang="en-US" sz="2400" dirty="0" err="1">
                <a:solidFill>
                  <a:srgbClr val="FF0000"/>
                </a:solidFill>
              </a:rPr>
              <a:t>b</a:t>
            </a:r>
            <a:r>
              <a:rPr lang="en-US" sz="2400" baseline="30000" dirty="0" err="1">
                <a:solidFill>
                  <a:srgbClr val="FF0000"/>
                </a:solidFill>
              </a:rPr>
              <a:t>d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. depends on heuristic function, and the number of nodes expanded is exponential to the depth of solution d</a:t>
            </a:r>
            <a:endParaRPr lang="en-US" sz="2400" b="1" dirty="0"/>
          </a:p>
          <a:p>
            <a:r>
              <a:rPr lang="en-US" b="1" dirty="0"/>
              <a:t>Space ?</a:t>
            </a:r>
          </a:p>
          <a:p>
            <a:pPr lvl="1"/>
            <a:r>
              <a:rPr lang="en-US" sz="2400" dirty="0"/>
              <a:t>The worst case space complexity of Greedy best first search is </a:t>
            </a:r>
            <a:r>
              <a:rPr lang="en-US" sz="2400" dirty="0">
                <a:solidFill>
                  <a:srgbClr val="FF0000"/>
                </a:solidFill>
              </a:rPr>
              <a:t>O(</a:t>
            </a:r>
            <a:r>
              <a:rPr lang="en-US" sz="2400" dirty="0" err="1">
                <a:solidFill>
                  <a:srgbClr val="FF0000"/>
                </a:solidFill>
              </a:rPr>
              <a:t>b</a:t>
            </a:r>
            <a:r>
              <a:rPr lang="en-US" sz="2400" baseline="30000" dirty="0" err="1">
                <a:solidFill>
                  <a:srgbClr val="FF0000"/>
                </a:solidFill>
              </a:rPr>
              <a:t>d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379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optimal solution using greedy and A* search.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681" y="1956015"/>
            <a:ext cx="603885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09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Font typeface="Monotype Sorts" pitchFamily="-84" charset="2"/>
              <a:buNone/>
            </a:pPr>
            <a:endParaRPr lang="en-US" altLang="en-US" sz="4000"/>
          </a:p>
          <a:p>
            <a:pPr marL="0" indent="0" algn="ctr">
              <a:buFont typeface="Monotype Sorts" pitchFamily="-84" charset="2"/>
              <a:buNone/>
            </a:pPr>
            <a:endParaRPr lang="en-US" altLang="en-US" sz="4000"/>
          </a:p>
          <a:p>
            <a:pPr marL="0" indent="0" algn="ctr">
              <a:buFont typeface="Monotype Sorts" pitchFamily="-84" charset="2"/>
              <a:buNone/>
            </a:pPr>
            <a:r>
              <a:rPr lang="en-US" altLang="en-US" sz="4000"/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_1genr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e_1genr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_1genr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_1genr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</Template>
  <TotalTime>26000</TotalTime>
  <Words>1230</Words>
  <Application>Microsoft Office PowerPoint</Application>
  <PresentationFormat>On-screen Show (4:3)</PresentationFormat>
  <Paragraphs>279</Paragraphs>
  <Slides>27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ＭＳ Ｐゴシック</vt:lpstr>
      <vt:lpstr>ＭＳ Ｐゴシック</vt:lpstr>
      <vt:lpstr>SimSun</vt:lpstr>
      <vt:lpstr>Arial</vt:lpstr>
      <vt:lpstr>Cambria Math</vt:lpstr>
      <vt:lpstr>Monotype Sorts</vt:lpstr>
      <vt:lpstr>Times New Roman</vt:lpstr>
      <vt:lpstr>e_1genrl</vt:lpstr>
      <vt:lpstr>Artificial Intelligence   </vt:lpstr>
      <vt:lpstr>Outline</vt:lpstr>
      <vt:lpstr>Uninformed Search Algorithms</vt:lpstr>
      <vt:lpstr>Informed Search Algorithms</vt:lpstr>
      <vt:lpstr>Heuristics function</vt:lpstr>
      <vt:lpstr>Contd..</vt:lpstr>
      <vt:lpstr>Pure Heuristic Search</vt:lpstr>
      <vt:lpstr>Informed Search Algorithms</vt:lpstr>
      <vt:lpstr>Greedy best-first search algorithm</vt:lpstr>
      <vt:lpstr>Best first search algorithm</vt:lpstr>
      <vt:lpstr>Example</vt:lpstr>
      <vt:lpstr>PowerPoint Presentation</vt:lpstr>
      <vt:lpstr>Path: A&gt;C&gt;F&gt;G</vt:lpstr>
      <vt:lpstr>Contd..</vt:lpstr>
      <vt:lpstr>Pros and Cons</vt:lpstr>
      <vt:lpstr>Performance Measurement </vt:lpstr>
      <vt:lpstr>Task</vt:lpstr>
      <vt:lpstr>A* Search</vt:lpstr>
      <vt:lpstr>Contd..</vt:lpstr>
      <vt:lpstr>Example</vt:lpstr>
      <vt:lpstr>Solution</vt:lpstr>
      <vt:lpstr>Contd..</vt:lpstr>
      <vt:lpstr>Contd..</vt:lpstr>
      <vt:lpstr>Pros and Cons</vt:lpstr>
      <vt:lpstr>Performance Measurement </vt:lpstr>
      <vt:lpstr>Task</vt:lpstr>
      <vt:lpstr>PowerPoint Presentation</vt:lpstr>
    </vt:vector>
  </TitlesOfParts>
  <Company>Rensselaer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Algebra</dc:title>
  <dc:creator>student</dc:creator>
  <cp:lastModifiedBy>hp</cp:lastModifiedBy>
  <cp:revision>383</cp:revision>
  <dcterms:created xsi:type="dcterms:W3CDTF">2007-01-18T14:32:37Z</dcterms:created>
  <dcterms:modified xsi:type="dcterms:W3CDTF">2025-03-20T05:28:15Z</dcterms:modified>
</cp:coreProperties>
</file>