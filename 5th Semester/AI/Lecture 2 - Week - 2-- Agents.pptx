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5"/>
  </p:notesMasterIdLst>
  <p:sldIdLst>
    <p:sldId id="257" r:id="rId2"/>
    <p:sldId id="341" r:id="rId3"/>
    <p:sldId id="373" r:id="rId4"/>
    <p:sldId id="405" r:id="rId5"/>
    <p:sldId id="403" r:id="rId6"/>
    <p:sldId id="404" r:id="rId7"/>
    <p:sldId id="408" r:id="rId8"/>
    <p:sldId id="377" r:id="rId9"/>
    <p:sldId id="406" r:id="rId10"/>
    <p:sldId id="402" r:id="rId11"/>
    <p:sldId id="375" r:id="rId12"/>
    <p:sldId id="418" r:id="rId13"/>
    <p:sldId id="401" r:id="rId14"/>
    <p:sldId id="376" r:id="rId15"/>
    <p:sldId id="419" r:id="rId16"/>
    <p:sldId id="378" r:id="rId17"/>
    <p:sldId id="420" r:id="rId18"/>
    <p:sldId id="422" r:id="rId19"/>
    <p:sldId id="409" r:id="rId20"/>
    <p:sldId id="410" r:id="rId21"/>
    <p:sldId id="421" r:id="rId22"/>
    <p:sldId id="390" r:id="rId23"/>
    <p:sldId id="391" r:id="rId24"/>
    <p:sldId id="407" r:id="rId25"/>
    <p:sldId id="412" r:id="rId26"/>
    <p:sldId id="413" r:id="rId27"/>
    <p:sldId id="393" r:id="rId28"/>
    <p:sldId id="416" r:id="rId29"/>
    <p:sldId id="417" r:id="rId30"/>
    <p:sldId id="415" r:id="rId31"/>
    <p:sldId id="394" r:id="rId32"/>
    <p:sldId id="396" r:id="rId33"/>
    <p:sldId id="397" r:id="rId34"/>
    <p:sldId id="379" r:id="rId35"/>
    <p:sldId id="380" r:id="rId36"/>
    <p:sldId id="414" r:id="rId37"/>
    <p:sldId id="381" r:id="rId38"/>
    <p:sldId id="388" r:id="rId39"/>
    <p:sldId id="382" r:id="rId40"/>
    <p:sldId id="383" r:id="rId41"/>
    <p:sldId id="384" r:id="rId42"/>
    <p:sldId id="385" r:id="rId43"/>
    <p:sldId id="386" r:id="rId4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6058" autoAdjust="0"/>
  </p:normalViewPr>
  <p:slideViewPr>
    <p:cSldViewPr>
      <p:cViewPr varScale="1">
        <p:scale>
          <a:sx n="67" d="100"/>
          <a:sy n="67" d="100"/>
        </p:scale>
        <p:origin x="1184"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ltLang="zh-CN"/>
          </a:p>
        </p:txBody>
      </p:sp>
      <p:sp>
        <p:nvSpPr>
          <p:cNvPr id="716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6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ltLang="zh-CN"/>
          </a:p>
        </p:txBody>
      </p:sp>
      <p:sp>
        <p:nvSpPr>
          <p:cNvPr id="716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ea typeface="SimSun" panose="02010600030101010101" pitchFamily="2" charset="-122"/>
              </a:defRPr>
            </a:lvl1pPr>
          </a:lstStyle>
          <a:p>
            <a:pPr>
              <a:defRPr/>
            </a:pPr>
            <a:fld id="{33E7A8C9-E367-4B4F-B613-A9E705663DBA}" type="slidenum">
              <a:rPr lang="en-US" altLang="zh-CN"/>
              <a:pPr>
                <a:defRPr/>
              </a:pPr>
              <a:t>‹#›</a:t>
            </a:fld>
            <a:endParaRPr lang="en-US" altLang="zh-CN"/>
          </a:p>
        </p:txBody>
      </p:sp>
    </p:spTree>
    <p:extLst>
      <p:ext uri="{BB962C8B-B14F-4D97-AF65-F5344CB8AC3E}">
        <p14:creationId xmlns:p14="http://schemas.microsoft.com/office/powerpoint/2010/main" val="25131266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a:t>
            </a:fld>
            <a:endParaRPr lang="en-US" altLang="zh-CN"/>
          </a:p>
        </p:txBody>
      </p:sp>
    </p:spTree>
    <p:extLst>
      <p:ext uri="{BB962C8B-B14F-4D97-AF65-F5344CB8AC3E}">
        <p14:creationId xmlns:p14="http://schemas.microsoft.com/office/powerpoint/2010/main" val="156633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4</a:t>
            </a:fld>
            <a:endParaRPr lang="en-US" altLang="zh-CN"/>
          </a:p>
        </p:txBody>
      </p:sp>
    </p:spTree>
    <p:extLst>
      <p:ext uri="{BB962C8B-B14F-4D97-AF65-F5344CB8AC3E}">
        <p14:creationId xmlns:p14="http://schemas.microsoft.com/office/powerpoint/2010/main" val="386609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5</a:t>
            </a:fld>
            <a:endParaRPr lang="en-US" altLang="zh-CN"/>
          </a:p>
        </p:txBody>
      </p:sp>
    </p:spTree>
    <p:extLst>
      <p:ext uri="{BB962C8B-B14F-4D97-AF65-F5344CB8AC3E}">
        <p14:creationId xmlns:p14="http://schemas.microsoft.com/office/powerpoint/2010/main" val="2311280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6</a:t>
            </a:fld>
            <a:endParaRPr lang="en-US" altLang="zh-CN"/>
          </a:p>
        </p:txBody>
      </p:sp>
    </p:spTree>
    <p:extLst>
      <p:ext uri="{BB962C8B-B14F-4D97-AF65-F5344CB8AC3E}">
        <p14:creationId xmlns:p14="http://schemas.microsoft.com/office/powerpoint/2010/main" val="165624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7</a:t>
            </a:fld>
            <a:endParaRPr lang="en-US" altLang="zh-CN"/>
          </a:p>
        </p:txBody>
      </p:sp>
    </p:spTree>
    <p:extLst>
      <p:ext uri="{BB962C8B-B14F-4D97-AF65-F5344CB8AC3E}">
        <p14:creationId xmlns:p14="http://schemas.microsoft.com/office/powerpoint/2010/main" val="796958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9</a:t>
            </a:fld>
            <a:endParaRPr lang="en-US" altLang="zh-CN"/>
          </a:p>
        </p:txBody>
      </p:sp>
    </p:spTree>
    <p:extLst>
      <p:ext uri="{BB962C8B-B14F-4D97-AF65-F5344CB8AC3E}">
        <p14:creationId xmlns:p14="http://schemas.microsoft.com/office/powerpoint/2010/main" val="2507936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10</a:t>
            </a:fld>
            <a:endParaRPr lang="en-US" altLang="zh-CN"/>
          </a:p>
        </p:txBody>
      </p:sp>
    </p:spTree>
    <p:extLst>
      <p:ext uri="{BB962C8B-B14F-4D97-AF65-F5344CB8AC3E}">
        <p14:creationId xmlns:p14="http://schemas.microsoft.com/office/powerpoint/2010/main" val="4231688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Arial" pitchFamily="34" charset="0"/>
                <a:ea typeface="MS PGothic" panose="020B0600070205080204" pitchFamily="34" charset="-128"/>
                <a:cs typeface="ＭＳ Ｐゴシック" charset="0"/>
              </a:rPr>
              <a:t>Applications of intelligent agents</a:t>
            </a:r>
          </a:p>
          <a:p>
            <a:r>
              <a:rPr lang="en-US" sz="1200" b="0" i="0" kern="1200" dirty="0">
                <a:solidFill>
                  <a:schemeClr val="tx1"/>
                </a:solidFill>
                <a:effectLst/>
                <a:latin typeface="Arial" pitchFamily="34" charset="0"/>
                <a:ea typeface="MS PGothic" panose="020B0600070205080204" pitchFamily="34" charset="-128"/>
                <a:cs typeface="ＭＳ Ｐゴシック" charset="0"/>
              </a:rPr>
              <a:t>Intelligent agents in artificial intelligence have been applied in many real-life situations.</a:t>
            </a:r>
          </a:p>
          <a:p>
            <a:r>
              <a:rPr lang="en-US" sz="1200" b="0" i="0" kern="1200" dirty="0">
                <a:solidFill>
                  <a:schemeClr val="tx1"/>
                </a:solidFill>
                <a:effectLst/>
                <a:latin typeface="Arial" pitchFamily="34" charset="0"/>
                <a:ea typeface="MS PGothic" panose="020B0600070205080204" pitchFamily="34" charset="-128"/>
                <a:cs typeface="ＭＳ Ｐゴシック" charset="0"/>
              </a:rPr>
              <a:t>Information search, retrieval, and navigation</a:t>
            </a:r>
          </a:p>
          <a:p>
            <a:r>
              <a:rPr lang="en-US" sz="1200" b="0" i="0" kern="1200" dirty="0">
                <a:solidFill>
                  <a:schemeClr val="tx1"/>
                </a:solidFill>
                <a:effectLst/>
                <a:latin typeface="Arial" pitchFamily="34" charset="0"/>
                <a:ea typeface="MS PGothic" panose="020B0600070205080204" pitchFamily="34" charset="-128"/>
                <a:cs typeface="ＭＳ Ｐゴシック" charset="0"/>
              </a:rPr>
              <a:t>Intelligent agents enhance the access and navigation of information. This is achieved through the search of information using search engines. The internet consists of many data objects that may take users a lot of time to search for a specific data object. Intelligent agents perform this task on behalf of users within a short time.</a:t>
            </a:r>
          </a:p>
          <a:p>
            <a:r>
              <a:rPr lang="en-US" sz="1200" b="0" i="0" kern="1200" dirty="0">
                <a:solidFill>
                  <a:schemeClr val="tx1"/>
                </a:solidFill>
                <a:effectLst/>
                <a:latin typeface="Arial" pitchFamily="34" charset="0"/>
                <a:ea typeface="MS PGothic" panose="020B0600070205080204" pitchFamily="34" charset="-128"/>
                <a:cs typeface="ＭＳ Ｐゴシック" charset="0"/>
              </a:rPr>
              <a:t>Repetitive office activities</a:t>
            </a:r>
          </a:p>
          <a:p>
            <a:r>
              <a:rPr lang="en-US" sz="1200" b="0" i="0" kern="1200" dirty="0">
                <a:solidFill>
                  <a:schemeClr val="tx1"/>
                </a:solidFill>
                <a:effectLst/>
                <a:latin typeface="Arial" pitchFamily="34" charset="0"/>
                <a:ea typeface="MS PGothic" panose="020B0600070205080204" pitchFamily="34" charset="-128"/>
                <a:cs typeface="ＭＳ Ｐゴシック" charset="0"/>
              </a:rPr>
              <a:t>Some companies have automated certain administrative tasks to reduce operating costs. Some of the functional areas that have been automated include customer support and sales. Intelligent agents have also been used to enhance office productivity.</a:t>
            </a:r>
          </a:p>
          <a:p>
            <a:r>
              <a:rPr lang="en-US" sz="1200" b="0" i="0" kern="1200" dirty="0">
                <a:solidFill>
                  <a:schemeClr val="tx1"/>
                </a:solidFill>
                <a:effectLst/>
                <a:latin typeface="Arial" pitchFamily="34" charset="0"/>
                <a:ea typeface="MS PGothic" panose="020B0600070205080204" pitchFamily="34" charset="-128"/>
                <a:cs typeface="ＭＳ Ｐゴシック" charset="0"/>
              </a:rPr>
              <a:t>Medical diagnosis</a:t>
            </a:r>
          </a:p>
          <a:p>
            <a:r>
              <a:rPr lang="en-US" sz="1200" b="0" i="0" kern="1200" dirty="0">
                <a:solidFill>
                  <a:schemeClr val="tx1"/>
                </a:solidFill>
                <a:effectLst/>
                <a:latin typeface="Arial" pitchFamily="34" charset="0"/>
                <a:ea typeface="MS PGothic" panose="020B0600070205080204" pitchFamily="34" charset="-128"/>
                <a:cs typeface="ＭＳ Ｐゴシック" charset="0"/>
              </a:rPr>
              <a:t>Intelligent agents have also been applied in healthcare services to improve the health of patients. In this case, the patient is considered as the environment. The computer keyboard is used as the sensor that receives data on the symptoms of the patient. The intelligent agent uses this information to decide the best course of action. Medical care is given through actuators such as tests and treatments.</a:t>
            </a:r>
          </a:p>
          <a:p>
            <a:r>
              <a:rPr lang="en-US" sz="1200" b="0" i="0" kern="1200" dirty="0">
                <a:solidFill>
                  <a:schemeClr val="tx1"/>
                </a:solidFill>
                <a:effectLst/>
                <a:latin typeface="Arial" pitchFamily="34" charset="0"/>
                <a:ea typeface="MS PGothic" panose="020B0600070205080204" pitchFamily="34" charset="-128"/>
                <a:cs typeface="ＭＳ Ｐゴシック" charset="0"/>
              </a:rPr>
              <a:t>Vacuum cleaning</a:t>
            </a:r>
          </a:p>
          <a:p>
            <a:r>
              <a:rPr lang="en-US" sz="1200" b="0" i="0" kern="1200" dirty="0">
                <a:solidFill>
                  <a:schemeClr val="tx1"/>
                </a:solidFill>
                <a:effectLst/>
                <a:latin typeface="Arial" pitchFamily="34" charset="0"/>
                <a:ea typeface="MS PGothic" panose="020B0600070205080204" pitchFamily="34" charset="-128"/>
                <a:cs typeface="ＭＳ Ｐゴシック" charset="0"/>
              </a:rPr>
              <a:t>AI agents are also used to enhance efficiency and cleanness in vacuum cleaning. In this case, the environment can be a room, table, or carpet. Some of the sensors employed in vacuum cleaning include cameras, bump sensors, and dirt detection sensors. Action is initiated by actuators such as brushes, wheels, and vacuum extractors.</a:t>
            </a:r>
          </a:p>
          <a:p>
            <a:r>
              <a:rPr lang="en-US" sz="1200" b="0" i="0" kern="1200" dirty="0">
                <a:solidFill>
                  <a:schemeClr val="tx1"/>
                </a:solidFill>
                <a:effectLst/>
                <a:latin typeface="Arial" pitchFamily="34" charset="0"/>
                <a:ea typeface="MS PGothic" panose="020B0600070205080204" pitchFamily="34" charset="-128"/>
                <a:cs typeface="ＭＳ Ｐゴシック" charset="0"/>
              </a:rPr>
              <a:t>Autonomous driving</a:t>
            </a:r>
          </a:p>
          <a:p>
            <a:r>
              <a:rPr lang="en-US" sz="1200" b="0" i="0" kern="1200" dirty="0">
                <a:solidFill>
                  <a:schemeClr val="tx1"/>
                </a:solidFill>
                <a:effectLst/>
                <a:latin typeface="Arial" pitchFamily="34" charset="0"/>
                <a:ea typeface="MS PGothic" panose="020B0600070205080204" pitchFamily="34" charset="-128"/>
                <a:cs typeface="ＭＳ Ｐゴシック" charset="0"/>
              </a:rPr>
              <a:t>Intelligent agents enhance the operation of self-driving cars. In autonomous driving, various sensors are employed to collect information from the environment. These include cameras, GPS, and radar. In this application, the environment can be pedestrians, other vehicles, roads, or road signs. Various actuators are used to initiate actions. For example, brakes are used to bring the car to a stop.</a:t>
            </a:r>
          </a:p>
          <a:p>
            <a:r>
              <a:rPr lang="en-US" b="1" u="sng" dirty="0">
                <a:solidFill>
                  <a:srgbClr val="FF0000"/>
                </a:solidFill>
              </a:rPr>
              <a:t>https://www.section.io/engineering-education/intelligent-agents-in-ai/ </a:t>
            </a:r>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13</a:t>
            </a:fld>
            <a:endParaRPr lang="en-US" altLang="zh-CN"/>
          </a:p>
        </p:txBody>
      </p:sp>
    </p:spTree>
    <p:extLst>
      <p:ext uri="{BB962C8B-B14F-4D97-AF65-F5344CB8AC3E}">
        <p14:creationId xmlns:p14="http://schemas.microsoft.com/office/powerpoint/2010/main" val="1821386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14</a:t>
            </a:fld>
            <a:endParaRPr lang="en-US" altLang="zh-CN"/>
          </a:p>
        </p:txBody>
      </p:sp>
    </p:spTree>
    <p:extLst>
      <p:ext uri="{BB962C8B-B14F-4D97-AF65-F5344CB8AC3E}">
        <p14:creationId xmlns:p14="http://schemas.microsoft.com/office/powerpoint/2010/main" val="3988326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15</a:t>
            </a:fld>
            <a:endParaRPr lang="en-US" altLang="zh-CN"/>
          </a:p>
        </p:txBody>
      </p:sp>
    </p:spTree>
    <p:extLst>
      <p:ext uri="{BB962C8B-B14F-4D97-AF65-F5344CB8AC3E}">
        <p14:creationId xmlns:p14="http://schemas.microsoft.com/office/powerpoint/2010/main" val="3614572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16</a:t>
            </a:fld>
            <a:endParaRPr lang="en-US" altLang="zh-CN"/>
          </a:p>
        </p:txBody>
      </p:sp>
    </p:spTree>
    <p:extLst>
      <p:ext uri="{BB962C8B-B14F-4D97-AF65-F5344CB8AC3E}">
        <p14:creationId xmlns:p14="http://schemas.microsoft.com/office/powerpoint/2010/main" val="3078093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17</a:t>
            </a:fld>
            <a:endParaRPr lang="en-US" altLang="zh-CN"/>
          </a:p>
        </p:txBody>
      </p:sp>
    </p:spTree>
    <p:extLst>
      <p:ext uri="{BB962C8B-B14F-4D97-AF65-F5344CB8AC3E}">
        <p14:creationId xmlns:p14="http://schemas.microsoft.com/office/powerpoint/2010/main" val="4053430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18</a:t>
            </a:fld>
            <a:endParaRPr lang="en-US" altLang="zh-CN"/>
          </a:p>
        </p:txBody>
      </p:sp>
    </p:spTree>
    <p:extLst>
      <p:ext uri="{BB962C8B-B14F-4D97-AF65-F5344CB8AC3E}">
        <p14:creationId xmlns:p14="http://schemas.microsoft.com/office/powerpoint/2010/main" val="852989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19</a:t>
            </a:fld>
            <a:endParaRPr lang="en-US" altLang="zh-CN"/>
          </a:p>
        </p:txBody>
      </p:sp>
    </p:spTree>
    <p:extLst>
      <p:ext uri="{BB962C8B-B14F-4D97-AF65-F5344CB8AC3E}">
        <p14:creationId xmlns:p14="http://schemas.microsoft.com/office/powerpoint/2010/main" val="319655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20</a:t>
            </a:fld>
            <a:endParaRPr lang="en-US" altLang="zh-CN"/>
          </a:p>
        </p:txBody>
      </p:sp>
    </p:spTree>
    <p:extLst>
      <p:ext uri="{BB962C8B-B14F-4D97-AF65-F5344CB8AC3E}">
        <p14:creationId xmlns:p14="http://schemas.microsoft.com/office/powerpoint/2010/main" val="814181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21</a:t>
            </a:fld>
            <a:endParaRPr lang="en-US" altLang="zh-CN"/>
          </a:p>
        </p:txBody>
      </p:sp>
    </p:spTree>
    <p:extLst>
      <p:ext uri="{BB962C8B-B14F-4D97-AF65-F5344CB8AC3E}">
        <p14:creationId xmlns:p14="http://schemas.microsoft.com/office/powerpoint/2010/main" val="2508102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DARPA urban challenge 07: </a:t>
            </a:r>
          </a:p>
          <a:p>
            <a:r>
              <a:rPr lang="en-US" dirty="0"/>
              <a:t>http://www.youtube.com/watch?v=SQFEmR50HAk </a:t>
            </a:r>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22</a:t>
            </a:fld>
            <a:endParaRPr lang="en-US" altLang="zh-CN"/>
          </a:p>
        </p:txBody>
      </p:sp>
    </p:spTree>
    <p:extLst>
      <p:ext uri="{BB962C8B-B14F-4D97-AF65-F5344CB8AC3E}">
        <p14:creationId xmlns:p14="http://schemas.microsoft.com/office/powerpoint/2010/main" val="3753903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24</a:t>
            </a:fld>
            <a:endParaRPr lang="en-US" altLang="zh-CN"/>
          </a:p>
        </p:txBody>
      </p:sp>
    </p:spTree>
    <p:extLst>
      <p:ext uri="{BB962C8B-B14F-4D97-AF65-F5344CB8AC3E}">
        <p14:creationId xmlns:p14="http://schemas.microsoft.com/office/powerpoint/2010/main" val="28664973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25</a:t>
            </a:fld>
            <a:endParaRPr lang="en-US" altLang="zh-CN"/>
          </a:p>
        </p:txBody>
      </p:sp>
    </p:spTree>
    <p:extLst>
      <p:ext uri="{BB962C8B-B14F-4D97-AF65-F5344CB8AC3E}">
        <p14:creationId xmlns:p14="http://schemas.microsoft.com/office/powerpoint/2010/main" val="30001775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26</a:t>
            </a:fld>
            <a:endParaRPr lang="en-US" altLang="zh-CN"/>
          </a:p>
        </p:txBody>
      </p:sp>
    </p:spTree>
    <p:extLst>
      <p:ext uri="{BB962C8B-B14F-4D97-AF65-F5344CB8AC3E}">
        <p14:creationId xmlns:p14="http://schemas.microsoft.com/office/powerpoint/2010/main" val="3922669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31</a:t>
            </a:fld>
            <a:endParaRPr lang="en-US" altLang="zh-CN"/>
          </a:p>
        </p:txBody>
      </p:sp>
    </p:spTree>
    <p:extLst>
      <p:ext uri="{BB962C8B-B14F-4D97-AF65-F5344CB8AC3E}">
        <p14:creationId xmlns:p14="http://schemas.microsoft.com/office/powerpoint/2010/main" val="3059246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32</a:t>
            </a:fld>
            <a:endParaRPr lang="en-US" altLang="zh-CN"/>
          </a:p>
        </p:txBody>
      </p:sp>
    </p:spTree>
    <p:extLst>
      <p:ext uri="{BB962C8B-B14F-4D97-AF65-F5344CB8AC3E}">
        <p14:creationId xmlns:p14="http://schemas.microsoft.com/office/powerpoint/2010/main" val="36273819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33</a:t>
            </a:fld>
            <a:endParaRPr lang="en-US" altLang="zh-CN"/>
          </a:p>
        </p:txBody>
      </p:sp>
    </p:spTree>
    <p:extLst>
      <p:ext uri="{BB962C8B-B14F-4D97-AF65-F5344CB8AC3E}">
        <p14:creationId xmlns:p14="http://schemas.microsoft.com/office/powerpoint/2010/main" val="2643591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34</a:t>
            </a:fld>
            <a:endParaRPr lang="en-US" altLang="zh-CN"/>
          </a:p>
        </p:txBody>
      </p:sp>
    </p:spTree>
    <p:extLst>
      <p:ext uri="{BB962C8B-B14F-4D97-AF65-F5344CB8AC3E}">
        <p14:creationId xmlns:p14="http://schemas.microsoft.com/office/powerpoint/2010/main" val="1792290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37</a:t>
            </a:fld>
            <a:endParaRPr lang="en-US" altLang="zh-CN"/>
          </a:p>
        </p:txBody>
      </p:sp>
    </p:spTree>
    <p:extLst>
      <p:ext uri="{BB962C8B-B14F-4D97-AF65-F5344CB8AC3E}">
        <p14:creationId xmlns:p14="http://schemas.microsoft.com/office/powerpoint/2010/main" val="37528860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39</a:t>
            </a:fld>
            <a:endParaRPr lang="en-US" altLang="zh-CN"/>
          </a:p>
        </p:txBody>
      </p:sp>
    </p:spTree>
    <p:extLst>
      <p:ext uri="{BB962C8B-B14F-4D97-AF65-F5344CB8AC3E}">
        <p14:creationId xmlns:p14="http://schemas.microsoft.com/office/powerpoint/2010/main" val="25119323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40</a:t>
            </a:fld>
            <a:endParaRPr lang="en-US" altLang="zh-CN"/>
          </a:p>
        </p:txBody>
      </p:sp>
    </p:spTree>
    <p:extLst>
      <p:ext uri="{BB962C8B-B14F-4D97-AF65-F5344CB8AC3E}">
        <p14:creationId xmlns:p14="http://schemas.microsoft.com/office/powerpoint/2010/main" val="32715856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41</a:t>
            </a:fld>
            <a:endParaRPr lang="en-US" altLang="zh-CN"/>
          </a:p>
        </p:txBody>
      </p:sp>
    </p:spTree>
    <p:extLst>
      <p:ext uri="{BB962C8B-B14F-4D97-AF65-F5344CB8AC3E}">
        <p14:creationId xmlns:p14="http://schemas.microsoft.com/office/powerpoint/2010/main" val="25838029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42</a:t>
            </a:fld>
            <a:endParaRPr lang="en-US" altLang="zh-CN"/>
          </a:p>
        </p:txBody>
      </p:sp>
    </p:spTree>
    <p:extLst>
      <p:ext uri="{BB962C8B-B14F-4D97-AF65-F5344CB8AC3E}">
        <p14:creationId xmlns:p14="http://schemas.microsoft.com/office/powerpoint/2010/main" val="38040402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3E7A8C9-E367-4B4F-B613-A9E705663DBA}" type="slidenum">
              <a:rPr lang="en-US" altLang="zh-CN" smtClean="0"/>
              <a:pPr>
                <a:defRPr/>
              </a:pPr>
              <a:t>43</a:t>
            </a:fld>
            <a:endParaRPr lang="en-US" altLang="zh-CN"/>
          </a:p>
        </p:txBody>
      </p:sp>
    </p:spTree>
    <p:extLst>
      <p:ext uri="{BB962C8B-B14F-4D97-AF65-F5344CB8AC3E}">
        <p14:creationId xmlns:p14="http://schemas.microsoft.com/office/powerpoint/2010/main" val="736665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Tree>
    <p:extLst>
      <p:ext uri="{BB962C8B-B14F-4D97-AF65-F5344CB8AC3E}">
        <p14:creationId xmlns:p14="http://schemas.microsoft.com/office/powerpoint/2010/main" val="2018741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标题 3"/>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87480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8389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379413" y="1295400"/>
            <a:ext cx="4076700" cy="4810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08513" y="1295400"/>
            <a:ext cx="4078287" cy="4810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1708506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3623956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2678326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85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20520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32212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3330759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58769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379413" y="228600"/>
            <a:ext cx="6078537" cy="5876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606434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8305800" cy="838200"/>
          </a:xfrm>
        </p:spPr>
        <p:txBody>
          <a:bodyPr/>
          <a:lstStyle/>
          <a:p>
            <a:r>
              <a:rPr lang="zh-CN" altLang="en-US"/>
              <a:t>单击此处编辑母版标题样式</a:t>
            </a:r>
            <a:endParaRPr lang="en-US"/>
          </a:p>
        </p:txBody>
      </p:sp>
      <p:sp>
        <p:nvSpPr>
          <p:cNvPr id="3" name="文本占位符 2"/>
          <p:cNvSpPr>
            <a:spLocks noGrp="1"/>
          </p:cNvSpPr>
          <p:nvPr>
            <p:ph type="body" sz="half" idx="1"/>
          </p:nvPr>
        </p:nvSpPr>
        <p:spPr>
          <a:xfrm>
            <a:off x="379413" y="1295400"/>
            <a:ext cx="4076700" cy="4810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08513" y="1295400"/>
            <a:ext cx="4078287" cy="4810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930866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8305800" cy="838200"/>
          </a:xfrm>
        </p:spPr>
        <p:txBody>
          <a:bodyPr/>
          <a:lstStyle/>
          <a:p>
            <a:r>
              <a:rPr lang="zh-CN" altLang="en-US"/>
              <a:t>单击此处编辑母版标题样式</a:t>
            </a:r>
            <a:endParaRPr lang="en-US"/>
          </a:p>
        </p:txBody>
      </p:sp>
      <p:sp>
        <p:nvSpPr>
          <p:cNvPr id="3" name="文本占位符 2"/>
          <p:cNvSpPr>
            <a:spLocks noGrp="1"/>
          </p:cNvSpPr>
          <p:nvPr>
            <p:ph type="body" sz="half" idx="1"/>
          </p:nvPr>
        </p:nvSpPr>
        <p:spPr>
          <a:xfrm>
            <a:off x="379413" y="1295400"/>
            <a:ext cx="4076700" cy="4810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quarter" idx="2"/>
          </p:nvPr>
        </p:nvSpPr>
        <p:spPr>
          <a:xfrm>
            <a:off x="4608513" y="1295400"/>
            <a:ext cx="4078287" cy="2328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内容占位符 4"/>
          <p:cNvSpPr>
            <a:spLocks noGrp="1"/>
          </p:cNvSpPr>
          <p:nvPr>
            <p:ph sz="quarter" idx="3"/>
          </p:nvPr>
        </p:nvSpPr>
        <p:spPr>
          <a:xfrm>
            <a:off x="4608513" y="3776663"/>
            <a:ext cx="4078287" cy="23288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Tree>
    <p:extLst>
      <p:ext uri="{BB962C8B-B14F-4D97-AF65-F5344CB8AC3E}">
        <p14:creationId xmlns:p14="http://schemas.microsoft.com/office/powerpoint/2010/main" val="326753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990600" y="6096000"/>
            <a:ext cx="1905000" cy="457200"/>
          </a:xfrm>
        </p:spPr>
        <p:txBody>
          <a:bodyPr rtlCol="0"/>
          <a:lstStyle>
            <a:lvl1pPr>
              <a:defRPr>
                <a:solidFill>
                  <a:schemeClr val="tx1">
                    <a:tint val="75000"/>
                  </a:schemeClr>
                </a:solidFill>
                <a:latin typeface="Times New Roman" charset="0"/>
                <a:ea typeface="ＭＳ Ｐゴシック" charset="0"/>
                <a:cs typeface="+mn-cs"/>
              </a:defRPr>
            </a:lvl1pPr>
          </a:lstStyle>
          <a:p>
            <a:pPr>
              <a:defRPr/>
            </a:pPr>
            <a:endParaRPr lang="en-US"/>
          </a:p>
        </p:txBody>
      </p:sp>
      <p:sp>
        <p:nvSpPr>
          <p:cNvPr id="5" name="Footer Placeholder 4"/>
          <p:cNvSpPr>
            <a:spLocks noGrp="1"/>
          </p:cNvSpPr>
          <p:nvPr>
            <p:ph type="ftr" sz="quarter" idx="11"/>
          </p:nvPr>
        </p:nvSpPr>
        <p:spPr>
          <a:xfrm>
            <a:off x="3429000" y="6096000"/>
            <a:ext cx="2895600" cy="457200"/>
          </a:xfrm>
        </p:spPr>
        <p:txBody>
          <a:bodyPr/>
          <a:lstStyle>
            <a:lvl1pPr>
              <a:defRPr>
                <a:cs typeface="+mn-cs"/>
              </a:defRPr>
            </a:lvl1pPr>
          </a:lstStyle>
          <a:p>
            <a:pPr>
              <a:defRPr/>
            </a:pPr>
            <a:endParaRPr lang="en-US"/>
          </a:p>
        </p:txBody>
      </p:sp>
      <p:sp>
        <p:nvSpPr>
          <p:cNvPr id="6" name="Slide Number Placeholder 5"/>
          <p:cNvSpPr>
            <a:spLocks noGrp="1"/>
          </p:cNvSpPr>
          <p:nvPr>
            <p:ph type="sldNum" sz="quarter" idx="12"/>
          </p:nvPr>
        </p:nvSpPr>
        <p:spPr>
          <a:xfrm>
            <a:off x="6858000" y="60960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037DCF2-CD7A-47DE-80C8-F8C661C24773}" type="slidenum">
              <a:rPr lang="en-US" altLang="en-US"/>
              <a:pPr>
                <a:defRPr/>
              </a:pPr>
              <a:t>‹#›</a:t>
            </a:fld>
            <a:endParaRPr lang="en-US" altLang="en-US"/>
          </a:p>
        </p:txBody>
      </p:sp>
    </p:spTree>
    <p:extLst>
      <p:ext uri="{BB962C8B-B14F-4D97-AF65-F5344CB8AC3E}">
        <p14:creationId xmlns:p14="http://schemas.microsoft.com/office/powerpoint/2010/main" val="4276808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228600"/>
            <a:ext cx="8305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zh-CN"/>
              <a:t>Linear Algebra</a:t>
            </a:r>
          </a:p>
        </p:txBody>
      </p:sp>
      <p:sp>
        <p:nvSpPr>
          <p:cNvPr id="1027" name="Rectangle 3"/>
          <p:cNvSpPr>
            <a:spLocks noGrp="1" noChangeArrowheads="1"/>
          </p:cNvSpPr>
          <p:nvPr>
            <p:ph type="body" idx="1"/>
          </p:nvPr>
        </p:nvSpPr>
        <p:spPr bwMode="auto">
          <a:xfrm>
            <a:off x="379413" y="1295400"/>
            <a:ext cx="8307387"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2" name="Footer Placeholder 1"/>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charset="0"/>
                <a:ea typeface="ＭＳ Ｐゴシック" charset="0"/>
                <a:cs typeface="ＭＳ Ｐゴシック" charset="0"/>
              </a:defRPr>
            </a:lvl1pPr>
          </a:lstStyle>
          <a:p>
            <a:pPr>
              <a:defRPr/>
            </a:pPr>
            <a:r>
              <a:rPr lang="en-US"/>
              <a:t>UET-</a:t>
            </a:r>
            <a:r>
              <a:rPr lang="en-US" err="1"/>
              <a:t>Taxila</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435FE59B-F0AA-4416-B6F8-467EF8ADB25B}" type="datetimeFigureOut">
              <a:rPr lang="en-US" altLang="en-US"/>
              <a:pPr>
                <a:defRPr/>
              </a:pPr>
              <a:t>2/20/2025</a:t>
            </a:fld>
            <a:endParaRPr lang="en-US" altLang="en-US"/>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Lst>
  <p:txStyles>
    <p:titleStyle>
      <a:lvl1pPr algn="ctr" rtl="0" eaLnBrk="0" fontAlgn="base" hangingPunct="0">
        <a:spcBef>
          <a:spcPct val="0"/>
        </a:spcBef>
        <a:spcAft>
          <a:spcPct val="0"/>
        </a:spcAft>
        <a:defRPr sz="3600" b="1">
          <a:solidFill>
            <a:schemeClr val="accent1"/>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3600" b="1">
          <a:solidFill>
            <a:schemeClr val="accent1"/>
          </a:solidFill>
          <a:latin typeface="Arial" panose="020B0604020202020204" pitchFamily="34" charset="0"/>
          <a:ea typeface="MS PGothic" panose="020B0600070205080204" pitchFamily="34" charset="-128"/>
          <a:cs typeface="ＭＳ Ｐゴシック" charset="0"/>
        </a:defRPr>
      </a:lvl2pPr>
      <a:lvl3pPr algn="ctr" rtl="0" eaLnBrk="0" fontAlgn="base" hangingPunct="0">
        <a:spcBef>
          <a:spcPct val="0"/>
        </a:spcBef>
        <a:spcAft>
          <a:spcPct val="0"/>
        </a:spcAft>
        <a:defRPr sz="3600" b="1">
          <a:solidFill>
            <a:schemeClr val="accent1"/>
          </a:solidFill>
          <a:latin typeface="Arial" panose="020B0604020202020204" pitchFamily="34" charset="0"/>
          <a:ea typeface="MS PGothic" panose="020B0600070205080204" pitchFamily="34" charset="-128"/>
          <a:cs typeface="ＭＳ Ｐゴシック" charset="0"/>
        </a:defRPr>
      </a:lvl3pPr>
      <a:lvl4pPr algn="ctr" rtl="0" eaLnBrk="0" fontAlgn="base" hangingPunct="0">
        <a:spcBef>
          <a:spcPct val="0"/>
        </a:spcBef>
        <a:spcAft>
          <a:spcPct val="0"/>
        </a:spcAft>
        <a:defRPr sz="3600" b="1">
          <a:solidFill>
            <a:schemeClr val="accent1"/>
          </a:solidFill>
          <a:latin typeface="Arial" panose="020B0604020202020204" pitchFamily="34" charset="0"/>
          <a:ea typeface="MS PGothic" panose="020B0600070205080204" pitchFamily="34" charset="-128"/>
          <a:cs typeface="ＭＳ Ｐゴシック" charset="0"/>
        </a:defRPr>
      </a:lvl4pPr>
      <a:lvl5pPr algn="ctr" rtl="0" eaLnBrk="0" fontAlgn="base" hangingPunct="0">
        <a:spcBef>
          <a:spcPct val="0"/>
        </a:spcBef>
        <a:spcAft>
          <a:spcPct val="0"/>
        </a:spcAft>
        <a:defRPr sz="3600" b="1">
          <a:solidFill>
            <a:schemeClr val="accent1"/>
          </a:solidFill>
          <a:latin typeface="Arial" panose="020B0604020202020204" pitchFamily="34"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sz="3600" b="1">
          <a:solidFill>
            <a:schemeClr val="accent1"/>
          </a:solidFill>
          <a:latin typeface="Times New Roman" pitchFamily="18" charset="0"/>
        </a:defRPr>
      </a:lvl6pPr>
      <a:lvl7pPr marL="914400" algn="ctr" rtl="0" eaLnBrk="0" fontAlgn="base" hangingPunct="0">
        <a:spcBef>
          <a:spcPct val="0"/>
        </a:spcBef>
        <a:spcAft>
          <a:spcPct val="0"/>
        </a:spcAft>
        <a:defRPr sz="3600" b="1">
          <a:solidFill>
            <a:schemeClr val="accent1"/>
          </a:solidFill>
          <a:latin typeface="Times New Roman" pitchFamily="18" charset="0"/>
        </a:defRPr>
      </a:lvl7pPr>
      <a:lvl8pPr marL="1371600" algn="ctr" rtl="0" eaLnBrk="0" fontAlgn="base" hangingPunct="0">
        <a:spcBef>
          <a:spcPct val="0"/>
        </a:spcBef>
        <a:spcAft>
          <a:spcPct val="0"/>
        </a:spcAft>
        <a:defRPr sz="3600" b="1">
          <a:solidFill>
            <a:schemeClr val="accent1"/>
          </a:solidFill>
          <a:latin typeface="Times New Roman" pitchFamily="18" charset="0"/>
        </a:defRPr>
      </a:lvl8pPr>
      <a:lvl9pPr marL="1828800" algn="ctr" rtl="0" eaLnBrk="0" fontAlgn="base" hangingPunct="0">
        <a:spcBef>
          <a:spcPct val="0"/>
        </a:spcBef>
        <a:spcAft>
          <a:spcPct val="0"/>
        </a:spcAft>
        <a:defRPr sz="3600" b="1">
          <a:solidFill>
            <a:schemeClr val="accent1"/>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SzPct val="75000"/>
        <a:buFont typeface="Monotype Sorts" pitchFamily="-84" charset="2"/>
        <a:buChar char="q"/>
        <a:defRPr sz="28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2"/>
        </a:buClr>
        <a:buSzPct val="75000"/>
        <a:buFont typeface="Monotype Sorts" pitchFamily="-84" charset="2"/>
        <a:buChar char="q"/>
        <a:defRPr sz="28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lr>
          <a:schemeClr val="accent2"/>
        </a:buClr>
        <a:buSzPct val="75000"/>
        <a:buFont typeface="Monotype Sorts" pitchFamily="-84" charset="2"/>
        <a:buChar char="q"/>
        <a:defRPr sz="28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lr>
          <a:schemeClr val="accent2"/>
        </a:buClr>
        <a:buSzPct val="75000"/>
        <a:buFont typeface="Monotype Sorts" pitchFamily="-84" charset="2"/>
        <a:buChar char="q"/>
        <a:defRPr sz="28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lr>
          <a:schemeClr val="accent2"/>
        </a:buClr>
        <a:buSzPct val="75000"/>
        <a:buFont typeface="Monotype Sorts" pitchFamily="-84" charset="2"/>
        <a:buChar char="q"/>
        <a:defRPr sz="2800">
          <a:solidFill>
            <a:schemeClr val="tx1"/>
          </a:solidFill>
          <a:latin typeface="+mn-lt"/>
          <a:ea typeface="MS PGothic" panose="020B0600070205080204" pitchFamily="34" charset="-128"/>
        </a:defRPr>
      </a:lvl5pPr>
      <a:lvl6pPr marL="2514600" indent="-228600" algn="l" rtl="0" eaLnBrk="0" fontAlgn="base" hangingPunct="0">
        <a:spcBef>
          <a:spcPct val="20000"/>
        </a:spcBef>
        <a:spcAft>
          <a:spcPct val="0"/>
        </a:spcAft>
        <a:buClr>
          <a:schemeClr val="accent2"/>
        </a:buClr>
        <a:buSzPct val="75000"/>
        <a:buFont typeface="Monotype Sorts" pitchFamily="2" charset="2"/>
        <a:buChar char="q"/>
        <a:defRPr sz="2800">
          <a:solidFill>
            <a:schemeClr val="tx1"/>
          </a:solidFill>
          <a:latin typeface="+mn-lt"/>
        </a:defRPr>
      </a:lvl6pPr>
      <a:lvl7pPr marL="2971800" indent="-228600" algn="l" rtl="0" eaLnBrk="0" fontAlgn="base" hangingPunct="0">
        <a:spcBef>
          <a:spcPct val="20000"/>
        </a:spcBef>
        <a:spcAft>
          <a:spcPct val="0"/>
        </a:spcAft>
        <a:buClr>
          <a:schemeClr val="accent2"/>
        </a:buClr>
        <a:buSzPct val="75000"/>
        <a:buFont typeface="Monotype Sorts" pitchFamily="2" charset="2"/>
        <a:buChar char="q"/>
        <a:defRPr sz="2800">
          <a:solidFill>
            <a:schemeClr val="tx1"/>
          </a:solidFill>
          <a:latin typeface="+mn-lt"/>
        </a:defRPr>
      </a:lvl7pPr>
      <a:lvl8pPr marL="3429000" indent="-228600" algn="l" rtl="0" eaLnBrk="0" fontAlgn="base" hangingPunct="0">
        <a:spcBef>
          <a:spcPct val="20000"/>
        </a:spcBef>
        <a:spcAft>
          <a:spcPct val="0"/>
        </a:spcAft>
        <a:buClr>
          <a:schemeClr val="accent2"/>
        </a:buClr>
        <a:buSzPct val="75000"/>
        <a:buFont typeface="Monotype Sorts" pitchFamily="2" charset="2"/>
        <a:buChar char="q"/>
        <a:defRPr sz="2800">
          <a:solidFill>
            <a:schemeClr val="tx1"/>
          </a:solidFill>
          <a:latin typeface="+mn-lt"/>
        </a:defRPr>
      </a:lvl8pPr>
      <a:lvl9pPr marL="3886200" indent="-228600" algn="l" rtl="0" eaLnBrk="0" fontAlgn="base" hangingPunct="0">
        <a:spcBef>
          <a:spcPct val="20000"/>
        </a:spcBef>
        <a:spcAft>
          <a:spcPct val="0"/>
        </a:spcAft>
        <a:buClr>
          <a:schemeClr val="accent2"/>
        </a:buClr>
        <a:buSzPct val="75000"/>
        <a:buFont typeface="Monotype Sorts" pitchFamily="2" charset="2"/>
        <a:buChar char="q"/>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a:xfrm>
            <a:off x="419100" y="1676400"/>
            <a:ext cx="8305800" cy="4495800"/>
          </a:xfrm>
        </p:spPr>
        <p:txBody>
          <a:bodyPr/>
          <a:lstStyle/>
          <a:p>
            <a:pPr>
              <a:defRPr/>
            </a:pPr>
            <a:r>
              <a:rPr lang="en-GB" altLang="en-US" sz="2800" dirty="0">
                <a:latin typeface="Goudy Stout" panose="0202090407030B020401" pitchFamily="18" charset="0"/>
              </a:rPr>
              <a:t>Artificial Intelligence</a:t>
            </a:r>
            <a:r>
              <a:rPr lang="en-GB" altLang="en-US" sz="3200" dirty="0"/>
              <a:t/>
            </a:r>
            <a:br>
              <a:rPr lang="en-GB" altLang="en-US" sz="3200" dirty="0"/>
            </a:br>
            <a:r>
              <a:rPr lang="en-US" altLang="zh-CN" sz="3200" u="sng" dirty="0">
                <a:latin typeface="Times New Roman" panose="02020603050405020304" pitchFamily="18" charset="0"/>
                <a:ea typeface="SimSun" panose="02010600030101010101" pitchFamily="2" charset="-122"/>
              </a:rPr>
              <a:t/>
            </a:r>
            <a:br>
              <a:rPr lang="en-US" altLang="zh-CN" sz="3200" u="sng" dirty="0">
                <a:latin typeface="Times New Roman" panose="02020603050405020304" pitchFamily="18" charset="0"/>
                <a:ea typeface="SimSun" panose="02010600030101010101" pitchFamily="2" charset="-122"/>
              </a:rPr>
            </a:br>
            <a:r>
              <a:rPr lang="en-US" altLang="zh-CN" sz="3200">
                <a:latin typeface="Times New Roman" panose="02020603050405020304" pitchFamily="18" charset="0"/>
                <a:ea typeface="SimSun" panose="02010600030101010101" pitchFamily="2" charset="-122"/>
              </a:rPr>
              <a:t/>
            </a:r>
            <a:br>
              <a:rPr lang="en-US" altLang="zh-CN" sz="3200">
                <a:latin typeface="Times New Roman" panose="02020603050405020304" pitchFamily="18" charset="0"/>
                <a:ea typeface="SimSun" panose="02010600030101010101" pitchFamily="2" charset="-122"/>
              </a:rPr>
            </a:br>
            <a:r>
              <a:rPr lang="en-US" altLang="en-US" sz="2000" dirty="0">
                <a:solidFill>
                  <a:schemeClr val="tx1"/>
                </a:solidFill>
              </a:rPr>
              <a:t/>
            </a:r>
            <a:br>
              <a:rPr lang="en-US" altLang="en-US" sz="2000" dirty="0">
                <a:solidFill>
                  <a:schemeClr val="tx1"/>
                </a:solidFill>
              </a:rPr>
            </a:br>
            <a:endParaRPr lang="en-US" altLang="zh-CN" sz="1800" dirty="0">
              <a:solidFill>
                <a:schemeClr val="tx1"/>
              </a:solidFill>
              <a:latin typeface="Times New Roman" panose="02020603050405020304" pitchFamily="18" charset="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defRPr/>
            </a:pPr>
            <a:r>
              <a:rPr lang="en-US" dirty="0">
                <a:solidFill>
                  <a:schemeClr val="tx1"/>
                </a:solidFill>
                <a:latin typeface="+mn-lt"/>
              </a:rPr>
              <a:t>Outline</a:t>
            </a:r>
          </a:p>
        </p:txBody>
      </p:sp>
      <p:sp>
        <p:nvSpPr>
          <p:cNvPr id="3" name="Content Placeholder 2"/>
          <p:cNvSpPr>
            <a:spLocks noGrp="1"/>
          </p:cNvSpPr>
          <p:nvPr>
            <p:ph idx="1"/>
          </p:nvPr>
        </p:nvSpPr>
        <p:spPr>
          <a:xfrm>
            <a:off x="379413" y="1066800"/>
            <a:ext cx="8307387" cy="5038725"/>
          </a:xfrm>
        </p:spPr>
        <p:txBody>
          <a:bodyPr/>
          <a:lstStyle/>
          <a:p>
            <a:pPr marL="671513" lvl="1" indent="-271463" eaLnBrk="1" hangingPunct="1">
              <a:tabLst>
                <a:tab pos="446088" algn="l"/>
              </a:tabLst>
              <a:defRPr/>
            </a:pPr>
            <a:r>
              <a:rPr lang="en-GB" altLang="en-US" sz="3600" dirty="0"/>
              <a:t>Concept of rationality</a:t>
            </a:r>
          </a:p>
          <a:p>
            <a:pPr marL="671513" lvl="1" indent="-271463" eaLnBrk="1" hangingPunct="1">
              <a:tabLst>
                <a:tab pos="446088" algn="l"/>
              </a:tabLst>
              <a:defRPr/>
            </a:pPr>
            <a:r>
              <a:rPr lang="en-US" sz="3600" dirty="0"/>
              <a:t>Rational Agent </a:t>
            </a:r>
            <a:endParaRPr lang="en-GB" altLang="en-US" sz="3600" dirty="0"/>
          </a:p>
          <a:p>
            <a:pPr marL="671513" lvl="1" indent="-271463" eaLnBrk="1" hangingPunct="1">
              <a:tabLst>
                <a:tab pos="446088" algn="l"/>
              </a:tabLst>
              <a:defRPr/>
            </a:pPr>
            <a:r>
              <a:rPr lang="en-GB" altLang="en-US" sz="3600" dirty="0"/>
              <a:t>Agent and environment </a:t>
            </a:r>
            <a:endParaRPr lang="en-US" sz="3600" dirty="0"/>
          </a:p>
          <a:p>
            <a:pPr marL="671513" lvl="1" indent="-271463" eaLnBrk="1" hangingPunct="1">
              <a:tabLst>
                <a:tab pos="446088" algn="l"/>
              </a:tabLst>
              <a:defRPr/>
            </a:pPr>
            <a:r>
              <a:rPr lang="en-US" sz="3600" dirty="0"/>
              <a:t>Structure of Intelligent Agents</a:t>
            </a:r>
          </a:p>
          <a:p>
            <a:pPr marL="671513" lvl="1" indent="-271463" eaLnBrk="1" hangingPunct="1">
              <a:tabLst>
                <a:tab pos="446088" algn="l"/>
              </a:tabLst>
              <a:defRPr/>
            </a:pPr>
            <a:r>
              <a:rPr lang="en-GB" altLang="en-US" sz="3600" dirty="0"/>
              <a:t>Types of Agents</a:t>
            </a:r>
          </a:p>
          <a:p>
            <a:pPr marL="671513" lvl="1" indent="-271463" eaLnBrk="1" hangingPunct="1">
              <a:tabLst>
                <a:tab pos="446088" algn="l"/>
              </a:tabLst>
              <a:defRPr/>
            </a:pPr>
            <a:r>
              <a:rPr lang="en-GB" altLang="en-US" sz="3600" dirty="0"/>
              <a:t>Problems in AI</a:t>
            </a:r>
          </a:p>
          <a:p>
            <a:pPr marL="271463" indent="-271463" eaLnBrk="1" hangingPunct="1">
              <a:tabLst>
                <a:tab pos="446088" algn="l"/>
              </a:tabLst>
              <a:defRPr/>
            </a:pPr>
            <a:endParaRPr lang="en-GB" alt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438400"/>
            <a:ext cx="8305800" cy="1981200"/>
          </a:xfrm>
        </p:spPr>
        <p:txBody>
          <a:bodyPr/>
          <a:lstStyle/>
          <a:p>
            <a:r>
              <a:rPr lang="en-US" dirty="0">
                <a:solidFill>
                  <a:schemeClr val="tx1"/>
                </a:solidFill>
              </a:rPr>
              <a:t>Concept of Rationality</a:t>
            </a:r>
          </a:p>
        </p:txBody>
      </p:sp>
    </p:spTree>
    <p:extLst>
      <p:ext uri="{BB962C8B-B14F-4D97-AF65-F5344CB8AC3E}">
        <p14:creationId xmlns:p14="http://schemas.microsoft.com/office/powerpoint/2010/main" val="1497377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a:t>
            </a:r>
          </a:p>
        </p:txBody>
      </p:sp>
      <p:sp>
        <p:nvSpPr>
          <p:cNvPr id="3" name="Content Placeholder 2"/>
          <p:cNvSpPr>
            <a:spLocks noGrp="1"/>
          </p:cNvSpPr>
          <p:nvPr>
            <p:ph idx="1"/>
          </p:nvPr>
        </p:nvSpPr>
        <p:spPr>
          <a:xfrm>
            <a:off x="379413" y="1295400"/>
            <a:ext cx="8459787" cy="4810125"/>
          </a:xfrm>
        </p:spPr>
        <p:txBody>
          <a:bodyPr/>
          <a:lstStyle/>
          <a:p>
            <a:r>
              <a:rPr lang="en-US" sz="3600" dirty="0">
                <a:latin typeface="+mj-lt"/>
              </a:rPr>
              <a:t>based on or in accordance with reason or logic.</a:t>
            </a:r>
          </a:p>
          <a:p>
            <a:r>
              <a:rPr lang="en-US" sz="3600" dirty="0">
                <a:latin typeface="+mj-lt"/>
              </a:rPr>
              <a:t>Rational meaning: logical / reasoned / reasonable / coherent.</a:t>
            </a:r>
          </a:p>
          <a:p>
            <a:pPr marL="0" indent="0">
              <a:buNone/>
            </a:pPr>
            <a:r>
              <a:rPr lang="en-US" sz="3600" dirty="0">
                <a:latin typeface="+mj-lt"/>
              </a:rPr>
              <a:t/>
            </a:r>
            <a:br>
              <a:rPr lang="en-US" sz="3600" dirty="0">
                <a:latin typeface="+mj-lt"/>
              </a:rPr>
            </a:br>
            <a:endParaRPr lang="en-US" sz="3600" dirty="0">
              <a:latin typeface="+mj-lt"/>
            </a:endParaRPr>
          </a:p>
        </p:txBody>
      </p:sp>
    </p:spTree>
    <p:extLst>
      <p:ext uri="{BB962C8B-B14F-4D97-AF65-F5344CB8AC3E}">
        <p14:creationId xmlns:p14="http://schemas.microsoft.com/office/powerpoint/2010/main" val="55287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 Person</a:t>
            </a:r>
          </a:p>
        </p:txBody>
      </p:sp>
      <p:sp>
        <p:nvSpPr>
          <p:cNvPr id="3" name="Content Placeholder 2"/>
          <p:cNvSpPr>
            <a:spLocks noGrp="1"/>
          </p:cNvSpPr>
          <p:nvPr>
            <p:ph idx="1"/>
          </p:nvPr>
        </p:nvSpPr>
        <p:spPr>
          <a:xfrm>
            <a:off x="379413" y="1295400"/>
            <a:ext cx="8459787" cy="4810125"/>
          </a:xfrm>
        </p:spPr>
        <p:txBody>
          <a:bodyPr/>
          <a:lstStyle/>
          <a:p>
            <a:pPr marL="0" indent="0">
              <a:buNone/>
            </a:pPr>
            <a:r>
              <a:rPr lang="en-US" sz="3600" b="0" i="0" dirty="0">
                <a:effectLst/>
                <a:latin typeface="Google Sans"/>
              </a:rPr>
              <a:t>A rational person is someone sensible and able to make decisions based on intelligent thinking rather than on emotion.  </a:t>
            </a:r>
            <a:r>
              <a:rPr lang="en-US" sz="3600" b="0" i="0" dirty="0">
                <a:solidFill>
                  <a:srgbClr val="FF0000"/>
                </a:solidFill>
                <a:effectLst/>
                <a:latin typeface="Google Sans"/>
              </a:rPr>
              <a:t>(Def from dictionary)</a:t>
            </a:r>
            <a:endParaRPr lang="en-US" sz="3600" dirty="0">
              <a:solidFill>
                <a:srgbClr val="FF0000"/>
              </a:solidFill>
            </a:endParaRPr>
          </a:p>
        </p:txBody>
      </p:sp>
    </p:spTree>
    <p:extLst>
      <p:ext uri="{BB962C8B-B14F-4D97-AF65-F5344CB8AC3E}">
        <p14:creationId xmlns:p14="http://schemas.microsoft.com/office/powerpoint/2010/main" val="59462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Rationality</a:t>
            </a:r>
          </a:p>
        </p:txBody>
      </p:sp>
      <p:sp>
        <p:nvSpPr>
          <p:cNvPr id="3" name="Content Placeholder 2"/>
          <p:cNvSpPr>
            <a:spLocks noGrp="1"/>
          </p:cNvSpPr>
          <p:nvPr>
            <p:ph idx="1"/>
          </p:nvPr>
        </p:nvSpPr>
        <p:spPr>
          <a:xfrm>
            <a:off x="379413" y="1295400"/>
            <a:ext cx="8459787" cy="4810125"/>
          </a:xfrm>
        </p:spPr>
        <p:txBody>
          <a:bodyPr/>
          <a:lstStyle/>
          <a:p>
            <a:pPr marL="0" indent="0">
              <a:buNone/>
            </a:pPr>
            <a:r>
              <a:rPr lang="en-US" sz="3600" b="0" i="0" dirty="0">
                <a:solidFill>
                  <a:srgbClr val="040C28"/>
                </a:solidFill>
                <a:effectLst/>
                <a:latin typeface="Google Sans"/>
              </a:rPr>
              <a:t>The ability to make decisions based on </a:t>
            </a:r>
            <a:r>
              <a:rPr lang="en-US" sz="3600" b="1" i="0" dirty="0">
                <a:solidFill>
                  <a:srgbClr val="040C28"/>
                </a:solidFill>
                <a:effectLst/>
                <a:latin typeface="Google Sans"/>
              </a:rPr>
              <a:t>logical reasoning </a:t>
            </a:r>
            <a:r>
              <a:rPr lang="en-US" sz="3600" b="0" i="0" dirty="0">
                <a:solidFill>
                  <a:srgbClr val="040C28"/>
                </a:solidFill>
                <a:effectLst/>
                <a:latin typeface="Google Sans"/>
              </a:rPr>
              <a:t>and </a:t>
            </a:r>
            <a:r>
              <a:rPr lang="en-US" sz="3600" b="1" i="0" dirty="0">
                <a:solidFill>
                  <a:srgbClr val="040C28"/>
                </a:solidFill>
                <a:effectLst/>
                <a:latin typeface="Google Sans"/>
              </a:rPr>
              <a:t>optimized</a:t>
            </a:r>
            <a:r>
              <a:rPr lang="en-US" sz="3600" b="0" i="0" dirty="0">
                <a:solidFill>
                  <a:srgbClr val="040C28"/>
                </a:solidFill>
                <a:effectLst/>
                <a:latin typeface="Google Sans"/>
              </a:rPr>
              <a:t> </a:t>
            </a:r>
            <a:r>
              <a:rPr lang="en-US" sz="3600" b="1" i="0" dirty="0">
                <a:solidFill>
                  <a:srgbClr val="040C28"/>
                </a:solidFill>
                <a:effectLst/>
                <a:latin typeface="Google Sans"/>
              </a:rPr>
              <a:t>behavior</a:t>
            </a:r>
            <a:r>
              <a:rPr lang="en-US" sz="3600" b="0" i="0" dirty="0">
                <a:solidFill>
                  <a:srgbClr val="040C28"/>
                </a:solidFill>
                <a:effectLst/>
                <a:latin typeface="Google Sans"/>
              </a:rPr>
              <a:t> to achieve some goals, </a:t>
            </a:r>
          </a:p>
          <a:p>
            <a:pPr marL="0" indent="0">
              <a:buNone/>
            </a:pPr>
            <a:r>
              <a:rPr lang="en-US" sz="3600" b="0" i="0" dirty="0">
                <a:solidFill>
                  <a:srgbClr val="040C28"/>
                </a:solidFill>
                <a:effectLst/>
                <a:latin typeface="Google Sans"/>
              </a:rPr>
              <a:t>considering the perception (observation/awareness) of environment.</a:t>
            </a:r>
            <a:endParaRPr lang="en-US" sz="3600" dirty="0"/>
          </a:p>
        </p:txBody>
      </p:sp>
    </p:spTree>
    <p:extLst>
      <p:ext uri="{BB962C8B-B14F-4D97-AF65-F5344CB8AC3E}">
        <p14:creationId xmlns:p14="http://schemas.microsoft.com/office/powerpoint/2010/main" val="1054901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Rationality</a:t>
            </a:r>
          </a:p>
        </p:txBody>
      </p:sp>
      <p:sp>
        <p:nvSpPr>
          <p:cNvPr id="3" name="Content Placeholder 2"/>
          <p:cNvSpPr>
            <a:spLocks noGrp="1"/>
          </p:cNvSpPr>
          <p:nvPr>
            <p:ph idx="1"/>
          </p:nvPr>
        </p:nvSpPr>
        <p:spPr>
          <a:xfrm>
            <a:off x="379413" y="752476"/>
            <a:ext cx="8459787" cy="5353050"/>
          </a:xfrm>
        </p:spPr>
        <p:txBody>
          <a:bodyPr/>
          <a:lstStyle/>
          <a:p>
            <a:r>
              <a:rPr lang="en-US" sz="3200" b="0" i="0" dirty="0">
                <a:effectLst/>
                <a:latin typeface="Google Sans"/>
              </a:rPr>
              <a:t> </a:t>
            </a:r>
            <a:r>
              <a:rPr lang="en-US" sz="3200" dirty="0">
                <a:latin typeface="Google Sans"/>
              </a:rPr>
              <a:t>t</a:t>
            </a:r>
            <a:r>
              <a:rPr lang="en-US" sz="3200" b="0" i="0" dirty="0">
                <a:effectLst/>
                <a:latin typeface="Google Sans"/>
              </a:rPr>
              <a:t>he quality of being guided by reasons or being reasonable. </a:t>
            </a:r>
          </a:p>
          <a:p>
            <a:endParaRPr lang="en-US" sz="3200" b="0" i="0" dirty="0">
              <a:effectLst/>
              <a:latin typeface="Google Sans"/>
            </a:endParaRPr>
          </a:p>
          <a:p>
            <a:r>
              <a:rPr lang="en-US" sz="3200" b="1" i="0" dirty="0">
                <a:effectLst/>
                <a:latin typeface="Google Sans"/>
              </a:rPr>
              <a:t>For example</a:t>
            </a:r>
            <a:r>
              <a:rPr lang="en-US" sz="3200" b="0" i="0" dirty="0">
                <a:effectLst/>
                <a:latin typeface="Google Sans"/>
              </a:rPr>
              <a:t>, a person who acts rationally has good reasons for what they do. </a:t>
            </a:r>
          </a:p>
          <a:p>
            <a:endParaRPr lang="en-US" sz="3200" b="0" i="0" dirty="0">
              <a:effectLst/>
              <a:latin typeface="Google Sans"/>
            </a:endParaRPr>
          </a:p>
          <a:p>
            <a:r>
              <a:rPr lang="en-US" sz="3200" b="0" i="0" dirty="0">
                <a:effectLst/>
                <a:latin typeface="Google Sans"/>
              </a:rPr>
              <a:t>This usually implies that they reflected on the possible consequences of their action and the goal supposed to achieve.</a:t>
            </a:r>
            <a:endParaRPr lang="en-US" sz="3200" dirty="0"/>
          </a:p>
        </p:txBody>
      </p:sp>
    </p:spTree>
    <p:extLst>
      <p:ext uri="{BB962C8B-B14F-4D97-AF65-F5344CB8AC3E}">
        <p14:creationId xmlns:p14="http://schemas.microsoft.com/office/powerpoint/2010/main" val="4104879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Rationality</a:t>
            </a:r>
          </a:p>
        </p:txBody>
      </p:sp>
      <p:sp>
        <p:nvSpPr>
          <p:cNvPr id="3" name="Content Placeholder 2"/>
          <p:cNvSpPr>
            <a:spLocks noGrp="1"/>
          </p:cNvSpPr>
          <p:nvPr>
            <p:ph idx="1"/>
          </p:nvPr>
        </p:nvSpPr>
        <p:spPr>
          <a:xfrm>
            <a:off x="388883" y="752476"/>
            <a:ext cx="8307387" cy="5876924"/>
          </a:xfrm>
        </p:spPr>
        <p:txBody>
          <a:bodyPr/>
          <a:lstStyle/>
          <a:p>
            <a:r>
              <a:rPr lang="en-US" sz="3200" dirty="0">
                <a:latin typeface="+mj-lt"/>
              </a:rPr>
              <a:t>Its nothing but status of being reasonable, sensible, and having good sense of judgment.</a:t>
            </a:r>
          </a:p>
          <a:p>
            <a:r>
              <a:rPr lang="en-US" sz="3200" dirty="0">
                <a:latin typeface="+mj-lt"/>
              </a:rPr>
              <a:t>is concerned with expected actions and results depending upon what the agent has perceived. </a:t>
            </a:r>
          </a:p>
          <a:p>
            <a:endParaRPr lang="en-US" sz="3200" dirty="0">
              <a:latin typeface="+mj-lt"/>
            </a:endParaRPr>
          </a:p>
          <a:p>
            <a:r>
              <a:rPr lang="en-US" sz="3200" dirty="0">
                <a:latin typeface="+mj-lt"/>
              </a:rPr>
              <a:t>Performing actions with the aim of obtaining useful information is an important part of rationality.</a:t>
            </a:r>
          </a:p>
        </p:txBody>
      </p:sp>
    </p:spTree>
    <p:extLst>
      <p:ext uri="{BB962C8B-B14F-4D97-AF65-F5344CB8AC3E}">
        <p14:creationId xmlns:p14="http://schemas.microsoft.com/office/powerpoint/2010/main" val="360267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438400"/>
            <a:ext cx="8305800" cy="1295400"/>
          </a:xfrm>
        </p:spPr>
        <p:txBody>
          <a:bodyPr/>
          <a:lstStyle/>
          <a:p>
            <a:r>
              <a:rPr lang="en-US" dirty="0">
                <a:solidFill>
                  <a:schemeClr val="tx1"/>
                </a:solidFill>
              </a:rPr>
              <a:t>Rational Agents</a:t>
            </a:r>
          </a:p>
        </p:txBody>
      </p:sp>
    </p:spTree>
    <p:extLst>
      <p:ext uri="{BB962C8B-B14F-4D97-AF65-F5344CB8AC3E}">
        <p14:creationId xmlns:p14="http://schemas.microsoft.com/office/powerpoint/2010/main" val="3265136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542" y="-19358"/>
            <a:ext cx="8305800" cy="784123"/>
          </a:xfrm>
        </p:spPr>
        <p:txBody>
          <a:bodyPr/>
          <a:lstStyle/>
          <a:p>
            <a:r>
              <a:rPr lang="en-US" dirty="0"/>
              <a:t>Agent</a:t>
            </a:r>
          </a:p>
        </p:txBody>
      </p:sp>
      <p:sp>
        <p:nvSpPr>
          <p:cNvPr id="3" name="Content Placeholder 2"/>
          <p:cNvSpPr>
            <a:spLocks noGrp="1"/>
          </p:cNvSpPr>
          <p:nvPr>
            <p:ph idx="1"/>
          </p:nvPr>
        </p:nvSpPr>
        <p:spPr>
          <a:xfrm>
            <a:off x="152401" y="838200"/>
            <a:ext cx="8686800" cy="5867400"/>
          </a:xfrm>
        </p:spPr>
        <p:txBody>
          <a:bodyPr/>
          <a:lstStyle/>
          <a:p>
            <a:r>
              <a:rPr lang="en-US" dirty="0">
                <a:latin typeface="+mj-lt"/>
              </a:rPr>
              <a:t>An </a:t>
            </a:r>
            <a:r>
              <a:rPr lang="en-US" b="1" dirty="0">
                <a:latin typeface="+mj-lt"/>
              </a:rPr>
              <a:t>agent</a:t>
            </a:r>
            <a:r>
              <a:rPr lang="en-US" dirty="0">
                <a:latin typeface="+mj-lt"/>
              </a:rPr>
              <a:t> is anything that can perceive (observe / notice) its environment through </a:t>
            </a:r>
            <a:r>
              <a:rPr lang="en-US" b="1" dirty="0">
                <a:latin typeface="+mj-lt"/>
              </a:rPr>
              <a:t>sensors</a:t>
            </a:r>
            <a:r>
              <a:rPr lang="en-US" dirty="0">
                <a:latin typeface="+mj-lt"/>
              </a:rPr>
              <a:t> and acts upon (or respond to) that environment through </a:t>
            </a:r>
            <a:r>
              <a:rPr lang="en-US" b="1" dirty="0">
                <a:latin typeface="+mj-lt"/>
              </a:rPr>
              <a:t>actuators(effectors).</a:t>
            </a:r>
          </a:p>
          <a:p>
            <a:r>
              <a:rPr lang="en-US" dirty="0">
                <a:latin typeface="+mj-lt"/>
              </a:rPr>
              <a:t>An AI system is composed of an agent and its environment. </a:t>
            </a:r>
          </a:p>
          <a:p>
            <a:endParaRPr lang="en-US" dirty="0">
              <a:latin typeface="+mj-lt"/>
            </a:endParaRPr>
          </a:p>
          <a:p>
            <a:endParaRPr lang="en-US" dirty="0">
              <a:latin typeface="+mj-lt"/>
            </a:endParaRPr>
          </a:p>
          <a:p>
            <a:endParaRPr lang="en-US" dirty="0">
              <a:latin typeface="+mj-lt"/>
            </a:endParaRPr>
          </a:p>
          <a:p>
            <a:pPr marL="0" indent="0">
              <a:buNone/>
            </a:pPr>
            <a:endParaRPr lang="en-US" dirty="0">
              <a:latin typeface="+mj-lt"/>
            </a:endParaRPr>
          </a:p>
          <a:p>
            <a:endParaRPr lang="en-US" sz="2000" dirty="0">
              <a:latin typeface="+mj-lt"/>
            </a:endParaRPr>
          </a:p>
          <a:p>
            <a:endParaRPr lang="en-US" dirty="0">
              <a:latin typeface="+mj-lt"/>
            </a:endParaRPr>
          </a:p>
        </p:txBody>
      </p:sp>
      <p:pic>
        <p:nvPicPr>
          <p:cNvPr id="4" name="Picture 3"/>
          <p:cNvPicPr>
            <a:picLocks noChangeAspect="1"/>
          </p:cNvPicPr>
          <p:nvPr/>
        </p:nvPicPr>
        <p:blipFill>
          <a:blip r:embed="rId3"/>
          <a:stretch>
            <a:fillRect/>
          </a:stretch>
        </p:blipFill>
        <p:spPr>
          <a:xfrm>
            <a:off x="4824413" y="3177737"/>
            <a:ext cx="3862387" cy="2842064"/>
          </a:xfrm>
          <a:prstGeom prst="rect">
            <a:avLst/>
          </a:prstGeom>
        </p:spPr>
      </p:pic>
    </p:spTree>
    <p:extLst>
      <p:ext uri="{BB962C8B-B14F-4D97-AF65-F5344CB8AC3E}">
        <p14:creationId xmlns:p14="http://schemas.microsoft.com/office/powerpoint/2010/main" val="62447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Agent</a:t>
            </a:r>
          </a:p>
        </p:txBody>
      </p:sp>
      <p:sp>
        <p:nvSpPr>
          <p:cNvPr id="3" name="Content Placeholder 2"/>
          <p:cNvSpPr>
            <a:spLocks noGrp="1"/>
          </p:cNvSpPr>
          <p:nvPr>
            <p:ph idx="1"/>
          </p:nvPr>
        </p:nvSpPr>
        <p:spPr>
          <a:xfrm>
            <a:off x="379413" y="752476"/>
            <a:ext cx="8307387" cy="5876924"/>
          </a:xfrm>
        </p:spPr>
        <p:txBody>
          <a:bodyPr/>
          <a:lstStyle/>
          <a:p>
            <a:r>
              <a:rPr lang="en-US" sz="3200" dirty="0">
                <a:latin typeface="+mj-lt"/>
              </a:rPr>
              <a:t>An agent can be anything that makes decisions, as a person, firm, machine, or software.</a:t>
            </a:r>
          </a:p>
          <a:p>
            <a:endParaRPr lang="en-US" sz="3200" dirty="0">
              <a:latin typeface="+mj-lt"/>
            </a:endParaRPr>
          </a:p>
          <a:p>
            <a:r>
              <a:rPr lang="en-US" sz="3200" dirty="0">
                <a:latin typeface="+mj-lt"/>
              </a:rPr>
              <a:t>A </a:t>
            </a:r>
            <a:r>
              <a:rPr lang="en-US" sz="3200" b="1" dirty="0">
                <a:latin typeface="+mj-lt"/>
              </a:rPr>
              <a:t>human agent</a:t>
            </a:r>
            <a:r>
              <a:rPr lang="en-US" sz="3200" dirty="0">
                <a:latin typeface="+mj-lt"/>
              </a:rPr>
              <a:t> has sensory organs such as eyes, ears, nose, tongue and skin parallel to the sensors, and other organs such as hands, legs, mouth, for effectors.</a:t>
            </a:r>
          </a:p>
          <a:p>
            <a:endParaRPr lang="en-US" sz="3200" dirty="0">
              <a:latin typeface="+mj-lt"/>
            </a:endParaRPr>
          </a:p>
        </p:txBody>
      </p:sp>
    </p:spTree>
    <p:extLst>
      <p:ext uri="{BB962C8B-B14F-4D97-AF65-F5344CB8AC3E}">
        <p14:creationId xmlns:p14="http://schemas.microsoft.com/office/powerpoint/2010/main" val="201195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Agent</a:t>
            </a:r>
          </a:p>
        </p:txBody>
      </p:sp>
      <p:sp>
        <p:nvSpPr>
          <p:cNvPr id="3" name="Content Placeholder 2"/>
          <p:cNvSpPr>
            <a:spLocks noGrp="1"/>
          </p:cNvSpPr>
          <p:nvPr>
            <p:ph idx="1"/>
          </p:nvPr>
        </p:nvSpPr>
        <p:spPr>
          <a:xfrm>
            <a:off x="379413" y="752476"/>
            <a:ext cx="8307387" cy="5876924"/>
          </a:xfrm>
        </p:spPr>
        <p:txBody>
          <a:bodyPr/>
          <a:lstStyle/>
          <a:p>
            <a:r>
              <a:rPr lang="en-US" sz="3200" dirty="0">
                <a:latin typeface="+mj-lt"/>
              </a:rPr>
              <a:t>A </a:t>
            </a:r>
            <a:r>
              <a:rPr lang="en-US" sz="3200" b="1" dirty="0">
                <a:latin typeface="+mj-lt"/>
              </a:rPr>
              <a:t>robotic agent</a:t>
            </a:r>
            <a:r>
              <a:rPr lang="en-US" sz="3200" dirty="0">
                <a:latin typeface="+mj-lt"/>
              </a:rPr>
              <a:t> replaces cameras and infrared range finders for the sensors, and various motors and actuators for effectors.</a:t>
            </a:r>
          </a:p>
          <a:p>
            <a:endParaRPr lang="en-US" sz="3200" dirty="0">
              <a:latin typeface="+mj-lt"/>
            </a:endParaRPr>
          </a:p>
          <a:p>
            <a:r>
              <a:rPr lang="en-US" sz="3200" dirty="0">
                <a:latin typeface="+mj-lt"/>
              </a:rPr>
              <a:t>A </a:t>
            </a:r>
            <a:r>
              <a:rPr lang="en-US" sz="3200" b="1" dirty="0">
                <a:latin typeface="+mj-lt"/>
              </a:rPr>
              <a:t>software agent</a:t>
            </a:r>
            <a:r>
              <a:rPr lang="en-US" sz="3200" dirty="0">
                <a:latin typeface="+mj-lt"/>
              </a:rPr>
              <a:t> has encoded bit strings as its programs and actions.</a:t>
            </a:r>
          </a:p>
          <a:p>
            <a:endParaRPr lang="en-US" sz="3200" dirty="0">
              <a:latin typeface="+mj-lt"/>
            </a:endParaRPr>
          </a:p>
        </p:txBody>
      </p:sp>
    </p:spTree>
    <p:extLst>
      <p:ext uri="{BB962C8B-B14F-4D97-AF65-F5344CB8AC3E}">
        <p14:creationId xmlns:p14="http://schemas.microsoft.com/office/powerpoint/2010/main" val="2878693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79413" y="0"/>
            <a:ext cx="8305800" cy="838200"/>
          </a:xfrm>
        </p:spPr>
        <p:txBody>
          <a:bodyPr/>
          <a:lstStyle/>
          <a:p>
            <a:r>
              <a:rPr lang="en-US" sz="3200" dirty="0"/>
              <a:t>Some Applications of intelligent agents</a:t>
            </a:r>
          </a:p>
        </p:txBody>
      </p:sp>
      <p:sp>
        <p:nvSpPr>
          <p:cNvPr id="5" name="Content Placeholder 2"/>
          <p:cNvSpPr>
            <a:spLocks noGrp="1"/>
          </p:cNvSpPr>
          <p:nvPr>
            <p:ph idx="1"/>
          </p:nvPr>
        </p:nvSpPr>
        <p:spPr>
          <a:xfrm>
            <a:off x="379413" y="1295400"/>
            <a:ext cx="8307387" cy="4810125"/>
          </a:xfrm>
        </p:spPr>
        <p:txBody>
          <a:bodyPr/>
          <a:lstStyle/>
          <a:p>
            <a:r>
              <a:rPr lang="en-US" sz="3600" dirty="0">
                <a:latin typeface="+mj-lt"/>
              </a:rPr>
              <a:t>Medical diagnosis</a:t>
            </a:r>
          </a:p>
          <a:p>
            <a:r>
              <a:rPr lang="en-US" sz="3600" dirty="0">
                <a:latin typeface="+mj-lt"/>
              </a:rPr>
              <a:t>Vacuum cleaning</a:t>
            </a:r>
          </a:p>
          <a:p>
            <a:r>
              <a:rPr lang="en-US" sz="3600" dirty="0">
                <a:latin typeface="+mj-lt"/>
              </a:rPr>
              <a:t>Autonomous driving</a:t>
            </a:r>
          </a:p>
          <a:p>
            <a:r>
              <a:rPr lang="en-US" sz="3600" dirty="0">
                <a:latin typeface="+mj-lt"/>
              </a:rPr>
              <a:t>Information search, retrieval, and navigation</a:t>
            </a:r>
          </a:p>
          <a:p>
            <a:r>
              <a:rPr lang="en-US" sz="3600" dirty="0">
                <a:latin typeface="+mj-lt"/>
              </a:rPr>
              <a:t>Repetitive office activities and so on…</a:t>
            </a:r>
          </a:p>
          <a:p>
            <a:endParaRPr lang="en-US" sz="3600" dirty="0">
              <a:latin typeface="+mj-lt"/>
            </a:endParaRPr>
          </a:p>
          <a:p>
            <a:endParaRPr lang="en-US" sz="2400" dirty="0">
              <a:latin typeface="+mj-lt"/>
            </a:endParaRPr>
          </a:p>
          <a:p>
            <a:endParaRPr lang="en-US" sz="2400" dirty="0">
              <a:latin typeface="+mj-lt"/>
            </a:endParaRPr>
          </a:p>
        </p:txBody>
      </p:sp>
    </p:spTree>
    <p:extLst>
      <p:ext uri="{BB962C8B-B14F-4D97-AF65-F5344CB8AC3E}">
        <p14:creationId xmlns:p14="http://schemas.microsoft.com/office/powerpoint/2010/main" val="357030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Agent Terminologies</a:t>
            </a:r>
          </a:p>
        </p:txBody>
      </p:sp>
      <p:sp>
        <p:nvSpPr>
          <p:cNvPr id="3" name="Content Placeholder 2"/>
          <p:cNvSpPr>
            <a:spLocks noGrp="1"/>
          </p:cNvSpPr>
          <p:nvPr>
            <p:ph idx="1"/>
          </p:nvPr>
        </p:nvSpPr>
        <p:spPr>
          <a:xfrm>
            <a:off x="379413" y="752476"/>
            <a:ext cx="8307387" cy="5953124"/>
          </a:xfrm>
        </p:spPr>
        <p:txBody>
          <a:bodyPr/>
          <a:lstStyle/>
          <a:p>
            <a:r>
              <a:rPr lang="en-US" sz="3200" b="1" dirty="0">
                <a:latin typeface="+mj-lt"/>
              </a:rPr>
              <a:t>Performance Measure of Agent</a:t>
            </a:r>
            <a:r>
              <a:rPr lang="en-US" sz="3200" dirty="0">
                <a:latin typeface="+mj-lt"/>
              </a:rPr>
              <a:t> − </a:t>
            </a:r>
            <a:r>
              <a:rPr lang="en-US" dirty="0">
                <a:latin typeface="+mj-lt"/>
              </a:rPr>
              <a:t>It is the criteria, which determines how successful an agent is.</a:t>
            </a:r>
          </a:p>
          <a:p>
            <a:endParaRPr lang="en-US" dirty="0">
              <a:latin typeface="+mj-lt"/>
            </a:endParaRPr>
          </a:p>
          <a:p>
            <a:r>
              <a:rPr lang="en-US" sz="3200" b="1" dirty="0">
                <a:latin typeface="+mj-lt"/>
              </a:rPr>
              <a:t>Percept</a:t>
            </a:r>
            <a:r>
              <a:rPr lang="en-US" sz="3200" dirty="0">
                <a:latin typeface="+mj-lt"/>
              </a:rPr>
              <a:t> − </a:t>
            </a:r>
            <a:r>
              <a:rPr lang="en-US" dirty="0">
                <a:latin typeface="+mj-lt"/>
              </a:rPr>
              <a:t>It is agent’s perceptual inputs at a given instance.</a:t>
            </a:r>
          </a:p>
          <a:p>
            <a:endParaRPr lang="en-US" dirty="0">
              <a:latin typeface="+mj-lt"/>
            </a:endParaRPr>
          </a:p>
          <a:p>
            <a:r>
              <a:rPr lang="en-US" sz="3200" b="1" dirty="0">
                <a:latin typeface="+mj-lt"/>
              </a:rPr>
              <a:t>Percept Sequence</a:t>
            </a:r>
            <a:r>
              <a:rPr lang="en-US" sz="3200" dirty="0">
                <a:latin typeface="+mj-lt"/>
              </a:rPr>
              <a:t> − </a:t>
            </a:r>
            <a:r>
              <a:rPr lang="en-US" dirty="0">
                <a:latin typeface="+mj-lt"/>
              </a:rPr>
              <a:t>It is the history of all that an agent has perceived till date.</a:t>
            </a:r>
          </a:p>
          <a:p>
            <a:endParaRPr lang="en-US" dirty="0">
              <a:latin typeface="+mj-lt"/>
            </a:endParaRPr>
          </a:p>
        </p:txBody>
      </p:sp>
    </p:spTree>
    <p:extLst>
      <p:ext uri="{BB962C8B-B14F-4D97-AF65-F5344CB8AC3E}">
        <p14:creationId xmlns:p14="http://schemas.microsoft.com/office/powerpoint/2010/main" val="3249298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Agent Terminologies</a:t>
            </a:r>
          </a:p>
        </p:txBody>
      </p:sp>
      <p:sp>
        <p:nvSpPr>
          <p:cNvPr id="3" name="Content Placeholder 2"/>
          <p:cNvSpPr>
            <a:spLocks noGrp="1"/>
          </p:cNvSpPr>
          <p:nvPr>
            <p:ph idx="1"/>
          </p:nvPr>
        </p:nvSpPr>
        <p:spPr>
          <a:xfrm>
            <a:off x="379413" y="752476"/>
            <a:ext cx="8307387" cy="5953124"/>
          </a:xfrm>
        </p:spPr>
        <p:txBody>
          <a:bodyPr/>
          <a:lstStyle/>
          <a:p>
            <a:r>
              <a:rPr lang="en-US" sz="3200" b="1" dirty="0">
                <a:latin typeface="+mj-lt"/>
              </a:rPr>
              <a:t>Agent Function</a:t>
            </a:r>
            <a:r>
              <a:rPr lang="en-US" sz="3200" dirty="0">
                <a:latin typeface="+mj-lt"/>
              </a:rPr>
              <a:t> − </a:t>
            </a:r>
            <a:r>
              <a:rPr lang="en-US" dirty="0">
                <a:latin typeface="+mj-lt"/>
              </a:rPr>
              <a:t>It is a map from the precept sequence to an action. </a:t>
            </a:r>
          </a:p>
          <a:p>
            <a:endParaRPr lang="en-US" sz="2400" dirty="0">
              <a:latin typeface="+mj-lt"/>
            </a:endParaRPr>
          </a:p>
          <a:p>
            <a:r>
              <a:rPr lang="en-US" sz="3200" b="1" dirty="0">
                <a:latin typeface="+mj-lt"/>
              </a:rPr>
              <a:t>Agent program</a:t>
            </a:r>
            <a:r>
              <a:rPr lang="en-US" sz="3200" dirty="0">
                <a:latin typeface="+mj-lt"/>
              </a:rPr>
              <a:t> − </a:t>
            </a:r>
            <a:r>
              <a:rPr lang="en-US" dirty="0">
                <a:latin typeface="+mj-lt"/>
              </a:rPr>
              <a:t>It is the implementation or execution of the agent function</a:t>
            </a:r>
          </a:p>
          <a:p>
            <a:pPr lvl="1"/>
            <a:r>
              <a:rPr lang="en-US" dirty="0">
                <a:latin typeface="+mj-lt"/>
              </a:rPr>
              <a:t>action that agent performs after any given sequence of percepts.</a:t>
            </a:r>
          </a:p>
          <a:p>
            <a:endParaRPr lang="en-US" dirty="0">
              <a:latin typeface="+mj-lt"/>
            </a:endParaRPr>
          </a:p>
        </p:txBody>
      </p:sp>
    </p:spTree>
    <p:extLst>
      <p:ext uri="{BB962C8B-B14F-4D97-AF65-F5344CB8AC3E}">
        <p14:creationId xmlns:p14="http://schemas.microsoft.com/office/powerpoint/2010/main" val="937574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Rational Agent</a:t>
            </a:r>
          </a:p>
        </p:txBody>
      </p:sp>
      <p:sp>
        <p:nvSpPr>
          <p:cNvPr id="3" name="Content Placeholder 2"/>
          <p:cNvSpPr>
            <a:spLocks noGrp="1"/>
          </p:cNvSpPr>
          <p:nvPr>
            <p:ph idx="1"/>
          </p:nvPr>
        </p:nvSpPr>
        <p:spPr>
          <a:xfrm>
            <a:off x="379413" y="752476"/>
            <a:ext cx="8307387" cy="5800724"/>
          </a:xfrm>
        </p:spPr>
        <p:txBody>
          <a:bodyPr/>
          <a:lstStyle/>
          <a:p>
            <a:endParaRPr lang="en-US" sz="3600" dirty="0">
              <a:latin typeface="+mj-lt"/>
            </a:endParaRPr>
          </a:p>
          <a:p>
            <a:r>
              <a:rPr lang="en-US" sz="3600" dirty="0">
                <a:latin typeface="+mj-lt"/>
              </a:rPr>
              <a:t>is a computer program that uses logical reasoning and the ability to make decisions to determine its following action.</a:t>
            </a:r>
          </a:p>
          <a:p>
            <a:endParaRPr lang="en-US" sz="3600" dirty="0">
              <a:latin typeface="+mj-lt"/>
            </a:endParaRPr>
          </a:p>
        </p:txBody>
      </p:sp>
    </p:spTree>
    <p:extLst>
      <p:ext uri="{BB962C8B-B14F-4D97-AF65-F5344CB8AC3E}">
        <p14:creationId xmlns:p14="http://schemas.microsoft.com/office/powerpoint/2010/main" val="1547128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Rational Agent</a:t>
            </a:r>
          </a:p>
        </p:txBody>
      </p:sp>
      <p:sp>
        <p:nvSpPr>
          <p:cNvPr id="3" name="Content Placeholder 2"/>
          <p:cNvSpPr>
            <a:spLocks noGrp="1"/>
          </p:cNvSpPr>
          <p:nvPr>
            <p:ph idx="1"/>
          </p:nvPr>
        </p:nvSpPr>
        <p:spPr>
          <a:xfrm>
            <a:off x="379413" y="752476"/>
            <a:ext cx="8307387" cy="5800724"/>
          </a:xfrm>
        </p:spPr>
        <p:txBody>
          <a:bodyPr/>
          <a:lstStyle/>
          <a:p>
            <a:r>
              <a:rPr lang="en-US" sz="3600" dirty="0">
                <a:latin typeface="+mj-lt"/>
              </a:rPr>
              <a:t>An excellent example of a rational agent is a chess player. </a:t>
            </a:r>
          </a:p>
          <a:p>
            <a:endParaRPr lang="en-US" sz="3600" dirty="0">
              <a:latin typeface="+mj-lt"/>
            </a:endParaRPr>
          </a:p>
          <a:p>
            <a:r>
              <a:rPr lang="en-US" sz="3600" dirty="0">
                <a:latin typeface="+mj-lt"/>
              </a:rPr>
              <a:t>A chess player can analyze the board and determine which moves will result in the most advantageous outcome for itself. </a:t>
            </a:r>
          </a:p>
          <a:p>
            <a:endParaRPr lang="en-US" sz="3600" dirty="0">
              <a:latin typeface="+mj-lt"/>
            </a:endParaRPr>
          </a:p>
        </p:txBody>
      </p:sp>
    </p:spTree>
    <p:extLst>
      <p:ext uri="{BB962C8B-B14F-4D97-AF65-F5344CB8AC3E}">
        <p14:creationId xmlns:p14="http://schemas.microsoft.com/office/powerpoint/2010/main" val="1718029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Rational Agent</a:t>
            </a:r>
          </a:p>
        </p:txBody>
      </p:sp>
      <p:sp>
        <p:nvSpPr>
          <p:cNvPr id="3" name="Content Placeholder 2"/>
          <p:cNvSpPr>
            <a:spLocks noGrp="1"/>
          </p:cNvSpPr>
          <p:nvPr>
            <p:ph idx="1"/>
          </p:nvPr>
        </p:nvSpPr>
        <p:spPr>
          <a:xfrm>
            <a:off x="379413" y="752476"/>
            <a:ext cx="8307387" cy="5800724"/>
          </a:xfrm>
        </p:spPr>
        <p:txBody>
          <a:bodyPr/>
          <a:lstStyle/>
          <a:p>
            <a:r>
              <a:rPr lang="en-US" sz="3600" dirty="0">
                <a:latin typeface="+mj-lt"/>
              </a:rPr>
              <a:t>It can move one piece over another, move its king out of danger, or attack an opponent's piece.</a:t>
            </a:r>
          </a:p>
          <a:p>
            <a:endParaRPr lang="en-US" sz="3600" dirty="0">
              <a:latin typeface="+mj-lt"/>
            </a:endParaRPr>
          </a:p>
        </p:txBody>
      </p:sp>
    </p:spTree>
    <p:extLst>
      <p:ext uri="{BB962C8B-B14F-4D97-AF65-F5344CB8AC3E}">
        <p14:creationId xmlns:p14="http://schemas.microsoft.com/office/powerpoint/2010/main" val="603962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381000"/>
          </a:xfrm>
        </p:spPr>
        <p:txBody>
          <a:bodyPr/>
          <a:lstStyle/>
          <a:p>
            <a:r>
              <a:rPr lang="en-US" dirty="0"/>
              <a:t>Rational Agent</a:t>
            </a:r>
          </a:p>
        </p:txBody>
      </p:sp>
      <p:sp>
        <p:nvSpPr>
          <p:cNvPr id="3" name="Content Placeholder 2"/>
          <p:cNvSpPr>
            <a:spLocks noGrp="1"/>
          </p:cNvSpPr>
          <p:nvPr>
            <p:ph idx="1"/>
          </p:nvPr>
        </p:nvSpPr>
        <p:spPr>
          <a:xfrm>
            <a:off x="379413" y="609600"/>
            <a:ext cx="8307387" cy="6019800"/>
          </a:xfrm>
        </p:spPr>
        <p:txBody>
          <a:bodyPr/>
          <a:lstStyle/>
          <a:p>
            <a:r>
              <a:rPr lang="en-US" dirty="0">
                <a:latin typeface="+mj-lt"/>
              </a:rPr>
              <a:t>An ideal rational agent is the one, </a:t>
            </a:r>
            <a:r>
              <a:rPr lang="en-US" b="1" dirty="0">
                <a:latin typeface="+mj-lt"/>
              </a:rPr>
              <a:t>which </a:t>
            </a:r>
            <a:r>
              <a:rPr lang="en-US" altLang="en-US" b="1" dirty="0">
                <a:latin typeface="+mj-lt"/>
              </a:rPr>
              <a:t>performs expected actions to maximize its performance measure.</a:t>
            </a:r>
            <a:endParaRPr lang="en-US" altLang="en-US" dirty="0">
              <a:latin typeface="+mj-lt"/>
            </a:endParaRPr>
          </a:p>
          <a:p>
            <a:r>
              <a:rPr lang="en-US" dirty="0">
                <a:latin typeface="+mj-lt"/>
              </a:rPr>
              <a:t>A rational agent always performs right actions, that causes the agent to be most successful in the given percept sequence. </a:t>
            </a:r>
          </a:p>
          <a:p>
            <a:endParaRPr lang="en-US" dirty="0">
              <a:latin typeface="+mj-lt"/>
            </a:endParaRPr>
          </a:p>
          <a:p>
            <a:r>
              <a:rPr lang="en-US" dirty="0">
                <a:latin typeface="+mj-lt"/>
              </a:rPr>
              <a:t>The problem that agent solves is characterized by </a:t>
            </a:r>
            <a:r>
              <a:rPr lang="en-US" b="1" dirty="0">
                <a:latin typeface="+mj-lt"/>
              </a:rPr>
              <a:t>Performance Measure, Environment, Actuators, and Sensors (PEAS).</a:t>
            </a:r>
          </a:p>
          <a:p>
            <a:endParaRPr lang="en-US" dirty="0">
              <a:latin typeface="+mj-lt"/>
            </a:endParaRPr>
          </a:p>
        </p:txBody>
      </p:sp>
    </p:spTree>
    <p:extLst>
      <p:ext uri="{BB962C8B-B14F-4D97-AF65-F5344CB8AC3E}">
        <p14:creationId xmlns:p14="http://schemas.microsoft.com/office/powerpoint/2010/main" val="87770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832" y="0"/>
            <a:ext cx="8305800" cy="838200"/>
          </a:xfrm>
        </p:spPr>
        <p:txBody>
          <a:bodyPr/>
          <a:lstStyle/>
          <a:p>
            <a:r>
              <a:rPr lang="en-US" b="0" dirty="0"/>
              <a:t>Rational Agent</a:t>
            </a:r>
            <a:endParaRPr lang="en-US" dirty="0"/>
          </a:p>
        </p:txBody>
      </p:sp>
      <p:sp>
        <p:nvSpPr>
          <p:cNvPr id="3" name="Content Placeholder 2"/>
          <p:cNvSpPr>
            <a:spLocks noGrp="1"/>
          </p:cNvSpPr>
          <p:nvPr>
            <p:ph idx="1"/>
          </p:nvPr>
        </p:nvSpPr>
        <p:spPr>
          <a:xfrm>
            <a:off x="189707" y="838200"/>
            <a:ext cx="8573293" cy="6000135"/>
          </a:xfrm>
        </p:spPr>
        <p:txBody>
          <a:bodyPr/>
          <a:lstStyle/>
          <a:p>
            <a:r>
              <a:rPr lang="en-US" sz="3200" b="1" dirty="0">
                <a:latin typeface="+mj-lt"/>
              </a:rPr>
              <a:t>A rational agent has four primary characteristics:</a:t>
            </a:r>
          </a:p>
          <a:p>
            <a:r>
              <a:rPr lang="en-US" sz="3200" b="1" dirty="0">
                <a:latin typeface="+mj-lt"/>
              </a:rPr>
              <a:t>Perception: </a:t>
            </a:r>
            <a:r>
              <a:rPr lang="en-US" sz="3200" dirty="0">
                <a:latin typeface="+mj-lt"/>
              </a:rPr>
              <a:t>The ability to perceive the current state of the environment and gather relevant information.</a:t>
            </a:r>
          </a:p>
          <a:p>
            <a:r>
              <a:rPr lang="en-US" sz="3200" b="1" dirty="0">
                <a:latin typeface="+mj-lt"/>
              </a:rPr>
              <a:t>Actuators: </a:t>
            </a:r>
            <a:r>
              <a:rPr lang="en-US" sz="3200" dirty="0">
                <a:latin typeface="+mj-lt"/>
              </a:rPr>
              <a:t>The ability to take actions within the environment to achieve its goals.</a:t>
            </a:r>
          </a:p>
          <a:p>
            <a:endParaRPr lang="en-US" sz="3200" dirty="0">
              <a:latin typeface="+mj-lt"/>
            </a:endParaRPr>
          </a:p>
        </p:txBody>
      </p:sp>
    </p:spTree>
    <p:extLst>
      <p:ext uri="{BB962C8B-B14F-4D97-AF65-F5344CB8AC3E}">
        <p14:creationId xmlns:p14="http://schemas.microsoft.com/office/powerpoint/2010/main" val="1931086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832" y="0"/>
            <a:ext cx="8305800" cy="838200"/>
          </a:xfrm>
        </p:spPr>
        <p:txBody>
          <a:bodyPr/>
          <a:lstStyle/>
          <a:p>
            <a:r>
              <a:rPr lang="en-US" b="0" dirty="0"/>
              <a:t>Rational Agent</a:t>
            </a:r>
            <a:endParaRPr lang="en-US" dirty="0"/>
          </a:p>
        </p:txBody>
      </p:sp>
      <p:sp>
        <p:nvSpPr>
          <p:cNvPr id="3" name="Content Placeholder 2"/>
          <p:cNvSpPr>
            <a:spLocks noGrp="1"/>
          </p:cNvSpPr>
          <p:nvPr>
            <p:ph idx="1"/>
          </p:nvPr>
        </p:nvSpPr>
        <p:spPr>
          <a:xfrm>
            <a:off x="189707" y="838200"/>
            <a:ext cx="8573293" cy="6000135"/>
          </a:xfrm>
        </p:spPr>
        <p:txBody>
          <a:bodyPr/>
          <a:lstStyle/>
          <a:p>
            <a:r>
              <a:rPr lang="en-US" sz="3200" b="1" dirty="0">
                <a:latin typeface="+mj-lt"/>
              </a:rPr>
              <a:t>A rational agent has four primary characteristics:</a:t>
            </a:r>
          </a:p>
          <a:p>
            <a:r>
              <a:rPr lang="en-US" sz="3200" b="1" dirty="0">
                <a:latin typeface="+mj-lt"/>
              </a:rPr>
              <a:t>Performance measure: </a:t>
            </a:r>
            <a:r>
              <a:rPr lang="en-US" sz="3200" dirty="0">
                <a:latin typeface="+mj-lt"/>
              </a:rPr>
              <a:t>A way to evaluate the success or failure of the agent's actions.</a:t>
            </a:r>
          </a:p>
          <a:p>
            <a:r>
              <a:rPr lang="en-US" sz="3200" b="1" dirty="0">
                <a:latin typeface="+mj-lt"/>
              </a:rPr>
              <a:t>Rationality: </a:t>
            </a:r>
            <a:r>
              <a:rPr lang="en-US" sz="3200" dirty="0">
                <a:latin typeface="+mj-lt"/>
              </a:rPr>
              <a:t>The ability to make decisions based on logical reasoning and optimize behavior to achieve its goals, considering its perception of the environment and the performance measure.</a:t>
            </a:r>
          </a:p>
          <a:p>
            <a:endParaRPr lang="en-US" sz="3200" dirty="0">
              <a:latin typeface="+mj-lt"/>
            </a:endParaRPr>
          </a:p>
        </p:txBody>
      </p:sp>
    </p:spTree>
    <p:extLst>
      <p:ext uri="{BB962C8B-B14F-4D97-AF65-F5344CB8AC3E}">
        <p14:creationId xmlns:p14="http://schemas.microsoft.com/office/powerpoint/2010/main" val="1552405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Example1: Taxi driver example</a:t>
            </a:r>
          </a:p>
        </p:txBody>
      </p:sp>
      <p:sp>
        <p:nvSpPr>
          <p:cNvPr id="3" name="Content Placeholder 2"/>
          <p:cNvSpPr>
            <a:spLocks noGrp="1"/>
          </p:cNvSpPr>
          <p:nvPr>
            <p:ph idx="1"/>
          </p:nvPr>
        </p:nvSpPr>
        <p:spPr>
          <a:xfrm>
            <a:off x="379413" y="752476"/>
            <a:ext cx="8459787" cy="5876924"/>
          </a:xfrm>
        </p:spPr>
        <p:txBody>
          <a:bodyPr/>
          <a:lstStyle/>
          <a:p>
            <a:r>
              <a:rPr lang="en-US" b="1" dirty="0">
                <a:latin typeface="+mj-lt"/>
              </a:rPr>
              <a:t>Performance measure </a:t>
            </a:r>
          </a:p>
          <a:p>
            <a:pPr lvl="1"/>
            <a:r>
              <a:rPr lang="en-US" dirty="0">
                <a:latin typeface="+mj-lt"/>
              </a:rPr>
              <a:t>safe, fast, legal, comfortable trip, maximize profits</a:t>
            </a:r>
          </a:p>
          <a:p>
            <a:r>
              <a:rPr lang="en-US" b="1" dirty="0">
                <a:latin typeface="+mj-lt"/>
              </a:rPr>
              <a:t>Environment</a:t>
            </a:r>
          </a:p>
          <a:p>
            <a:pPr lvl="1"/>
            <a:r>
              <a:rPr lang="en-US" dirty="0">
                <a:latin typeface="+mj-lt"/>
              </a:rPr>
              <a:t>roads, other traffic, pedestrians, customers</a:t>
            </a:r>
          </a:p>
          <a:p>
            <a:r>
              <a:rPr lang="en-US" b="1" dirty="0">
                <a:latin typeface="+mj-lt"/>
              </a:rPr>
              <a:t>Actuators</a:t>
            </a:r>
          </a:p>
          <a:p>
            <a:pPr lvl="1"/>
            <a:r>
              <a:rPr lang="en-US" dirty="0">
                <a:latin typeface="+mj-lt"/>
              </a:rPr>
              <a:t>steering, accelerator, brake, signal, horn, display</a:t>
            </a:r>
          </a:p>
          <a:p>
            <a:r>
              <a:rPr lang="en-US" b="1" dirty="0">
                <a:latin typeface="+mj-lt"/>
              </a:rPr>
              <a:t>Sensors</a:t>
            </a:r>
          </a:p>
          <a:p>
            <a:pPr lvl="1"/>
            <a:r>
              <a:rPr lang="en-US" dirty="0">
                <a:latin typeface="+mj-lt"/>
              </a:rPr>
              <a:t>camera, speedometer, GPS, engine sensors, </a:t>
            </a:r>
          </a:p>
        </p:txBody>
      </p:sp>
    </p:spTree>
    <p:extLst>
      <p:ext uri="{BB962C8B-B14F-4D97-AF65-F5344CB8AC3E}">
        <p14:creationId xmlns:p14="http://schemas.microsoft.com/office/powerpoint/2010/main" val="304308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sz="3400" dirty="0"/>
              <a:t>Example 2: Medical Diagnosis System</a:t>
            </a:r>
          </a:p>
        </p:txBody>
      </p:sp>
      <p:sp>
        <p:nvSpPr>
          <p:cNvPr id="3" name="Content Placeholder 2"/>
          <p:cNvSpPr>
            <a:spLocks noGrp="1"/>
          </p:cNvSpPr>
          <p:nvPr>
            <p:ph idx="1"/>
          </p:nvPr>
        </p:nvSpPr>
        <p:spPr>
          <a:xfrm>
            <a:off x="379413" y="838200"/>
            <a:ext cx="8307387" cy="5715000"/>
          </a:xfrm>
        </p:spPr>
        <p:txBody>
          <a:bodyPr/>
          <a:lstStyle/>
          <a:p>
            <a:r>
              <a:rPr lang="en-US" b="1" dirty="0">
                <a:latin typeface="+mj-lt"/>
              </a:rPr>
              <a:t>Performance measure </a:t>
            </a:r>
          </a:p>
          <a:p>
            <a:pPr lvl="1"/>
            <a:r>
              <a:rPr lang="en-US" dirty="0">
                <a:latin typeface="+mj-lt"/>
              </a:rPr>
              <a:t>healthy patient, minimize costs, lawsuits</a:t>
            </a:r>
          </a:p>
          <a:p>
            <a:r>
              <a:rPr lang="en-US" b="1" dirty="0">
                <a:latin typeface="+mj-lt"/>
              </a:rPr>
              <a:t>Environment</a:t>
            </a:r>
          </a:p>
          <a:p>
            <a:pPr lvl="1"/>
            <a:r>
              <a:rPr lang="en-US" dirty="0">
                <a:latin typeface="+mj-lt"/>
              </a:rPr>
              <a:t>patient, hospital, staff </a:t>
            </a:r>
          </a:p>
          <a:p>
            <a:r>
              <a:rPr lang="en-US" b="1" dirty="0">
                <a:latin typeface="+mj-lt"/>
              </a:rPr>
              <a:t>Actuators</a:t>
            </a:r>
          </a:p>
          <a:p>
            <a:pPr lvl="1"/>
            <a:r>
              <a:rPr lang="en-US" dirty="0">
                <a:latin typeface="+mj-lt"/>
              </a:rPr>
              <a:t>display questions, tests, diagnosis, treatments, </a:t>
            </a:r>
          </a:p>
          <a:p>
            <a:r>
              <a:rPr lang="en-US" b="1" dirty="0">
                <a:latin typeface="+mj-lt"/>
              </a:rPr>
              <a:t>Sensors</a:t>
            </a:r>
          </a:p>
          <a:p>
            <a:pPr lvl="1"/>
            <a:r>
              <a:rPr lang="en-US" dirty="0">
                <a:latin typeface="+mj-lt"/>
              </a:rPr>
              <a:t>keyboard entry of symptoms, findings, patient’s answers.</a:t>
            </a:r>
          </a:p>
          <a:p>
            <a:endParaRPr lang="en-US" dirty="0">
              <a:latin typeface="+mj-lt"/>
            </a:endParaRPr>
          </a:p>
        </p:txBody>
      </p:sp>
    </p:spTree>
    <p:extLst>
      <p:ext uri="{BB962C8B-B14F-4D97-AF65-F5344CB8AC3E}">
        <p14:creationId xmlns:p14="http://schemas.microsoft.com/office/powerpoint/2010/main" val="357200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2290"/>
            <a:ext cx="8305800" cy="609600"/>
          </a:xfrm>
        </p:spPr>
        <p:txBody>
          <a:bodyPr/>
          <a:lstStyle/>
          <a:p>
            <a:r>
              <a:rPr lang="en-US" dirty="0"/>
              <a:t>Why Rational Agents?</a:t>
            </a:r>
          </a:p>
        </p:txBody>
      </p:sp>
      <p:sp>
        <p:nvSpPr>
          <p:cNvPr id="3" name="Content Placeholder 2"/>
          <p:cNvSpPr>
            <a:spLocks noGrp="1"/>
          </p:cNvSpPr>
          <p:nvPr>
            <p:ph idx="1"/>
          </p:nvPr>
        </p:nvSpPr>
        <p:spPr>
          <a:xfrm>
            <a:off x="379413" y="621890"/>
            <a:ext cx="8459787" cy="6083710"/>
          </a:xfrm>
        </p:spPr>
        <p:txBody>
          <a:bodyPr/>
          <a:lstStyle/>
          <a:p>
            <a:pPr marL="0" indent="0" algn="l">
              <a:buNone/>
            </a:pPr>
            <a:r>
              <a:rPr lang="en-US" b="1" i="0" dirty="0">
                <a:effectLst/>
                <a:latin typeface="+mj-lt"/>
              </a:rPr>
              <a:t>Rational agents are essential for several reasons:</a:t>
            </a:r>
          </a:p>
          <a:p>
            <a:pPr algn="l">
              <a:buFont typeface="+mj-lt"/>
              <a:buAutoNum type="arabicPeriod"/>
            </a:pPr>
            <a:r>
              <a:rPr lang="en-US" b="1" i="0" dirty="0">
                <a:effectLst/>
                <a:latin typeface="+mj-lt"/>
              </a:rPr>
              <a:t>Real-world applications: </a:t>
            </a:r>
            <a:r>
              <a:rPr lang="en-US" b="0" i="0" dirty="0">
                <a:effectLst/>
                <a:latin typeface="+mj-lt"/>
              </a:rPr>
              <a:t>Rational agents can be used to control autonomous systems such as self-driving cars, robots, or drones, to make financial decisions, or to plan logistics.</a:t>
            </a:r>
          </a:p>
          <a:p>
            <a:pPr algn="l">
              <a:buFont typeface="+mj-lt"/>
              <a:buAutoNum type="arabicPeriod"/>
            </a:pPr>
            <a:endParaRPr lang="en-US" b="0" i="0" dirty="0">
              <a:effectLst/>
              <a:latin typeface="+mj-lt"/>
            </a:endParaRPr>
          </a:p>
          <a:p>
            <a:pPr algn="l">
              <a:buFont typeface="+mj-lt"/>
              <a:buAutoNum type="arabicPeriod"/>
            </a:pPr>
            <a:r>
              <a:rPr lang="en-US" b="1" i="0" dirty="0">
                <a:effectLst/>
                <a:latin typeface="+mj-lt"/>
              </a:rPr>
              <a:t>Optimization: </a:t>
            </a:r>
            <a:r>
              <a:rPr lang="en-US" b="0" i="0" dirty="0">
                <a:effectLst/>
                <a:latin typeface="+mj-lt"/>
              </a:rPr>
              <a:t>Rational agents can optimize their behavior to achieve a specific goal, considering the current state of the environment, the available resources, and the constraints.</a:t>
            </a:r>
          </a:p>
          <a:p>
            <a:endParaRPr lang="en-US" dirty="0">
              <a:latin typeface="+mj-lt"/>
            </a:endParaRPr>
          </a:p>
        </p:txBody>
      </p:sp>
    </p:spTree>
    <p:extLst>
      <p:ext uri="{BB962C8B-B14F-4D97-AF65-F5344CB8AC3E}">
        <p14:creationId xmlns:p14="http://schemas.microsoft.com/office/powerpoint/2010/main" val="3518436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2290"/>
            <a:ext cx="8305800" cy="609600"/>
          </a:xfrm>
        </p:spPr>
        <p:txBody>
          <a:bodyPr/>
          <a:lstStyle/>
          <a:p>
            <a:r>
              <a:rPr lang="en-US" dirty="0"/>
              <a:t>Why Rational Agents?</a:t>
            </a:r>
          </a:p>
        </p:txBody>
      </p:sp>
      <p:sp>
        <p:nvSpPr>
          <p:cNvPr id="3" name="Content Placeholder 2"/>
          <p:cNvSpPr>
            <a:spLocks noGrp="1"/>
          </p:cNvSpPr>
          <p:nvPr>
            <p:ph idx="1"/>
          </p:nvPr>
        </p:nvSpPr>
        <p:spPr>
          <a:xfrm>
            <a:off x="379413" y="621890"/>
            <a:ext cx="8459787" cy="6083710"/>
          </a:xfrm>
        </p:spPr>
        <p:txBody>
          <a:bodyPr/>
          <a:lstStyle/>
          <a:p>
            <a:pPr marL="0" indent="0" algn="l">
              <a:buNone/>
            </a:pPr>
            <a:r>
              <a:rPr lang="en-US" b="1" i="0" dirty="0">
                <a:effectLst/>
                <a:latin typeface="+mj-lt"/>
              </a:rPr>
              <a:t>3. Decision-making: </a:t>
            </a:r>
            <a:r>
              <a:rPr lang="en-US" b="0" i="0" dirty="0">
                <a:effectLst/>
                <a:latin typeface="+mj-lt"/>
              </a:rPr>
              <a:t>Rational agents can make decisions based on logical reasoning and optimize their behavior to achieve their goals, </a:t>
            </a:r>
          </a:p>
          <a:p>
            <a:pPr marL="0" indent="0" algn="l">
              <a:buNone/>
            </a:pPr>
            <a:r>
              <a:rPr lang="en-US" b="0" i="0" dirty="0">
                <a:effectLst/>
                <a:latin typeface="+mj-lt"/>
              </a:rPr>
              <a:t>considering their perception of the environment and the performance measure; </a:t>
            </a:r>
          </a:p>
          <a:p>
            <a:pPr marL="0" indent="0" algn="l">
              <a:buNone/>
            </a:pPr>
            <a:r>
              <a:rPr lang="en-US" b="0" i="0" dirty="0">
                <a:effectLst/>
                <a:latin typeface="+mj-lt"/>
              </a:rPr>
              <a:t>this allows for better </a:t>
            </a:r>
            <a:r>
              <a:rPr lang="en-US" b="0" i="0" u="none" strike="noStrike" dirty="0">
                <a:effectLst/>
                <a:latin typeface="+mj-lt"/>
              </a:rPr>
              <a:t>decision-making.</a:t>
            </a:r>
          </a:p>
          <a:p>
            <a:pPr marL="0" indent="0" algn="l">
              <a:buNone/>
            </a:pPr>
            <a:endParaRPr lang="en-US" b="0" i="0" dirty="0">
              <a:effectLst/>
              <a:latin typeface="+mj-lt"/>
            </a:endParaRPr>
          </a:p>
          <a:p>
            <a:pPr marL="0" indent="0" algn="l">
              <a:buNone/>
            </a:pPr>
            <a:r>
              <a:rPr lang="en-US" b="1" i="0" dirty="0">
                <a:effectLst/>
                <a:latin typeface="+mj-lt"/>
              </a:rPr>
              <a:t>4. Adaptability: </a:t>
            </a:r>
            <a:r>
              <a:rPr lang="en-US" b="0" i="0" dirty="0">
                <a:effectLst/>
                <a:latin typeface="+mj-lt"/>
              </a:rPr>
              <a:t>Rational agents can learn from their environment and adapt their behavior. </a:t>
            </a:r>
          </a:p>
          <a:p>
            <a:pPr marL="0" indent="0" algn="l">
              <a:buNone/>
            </a:pPr>
            <a:r>
              <a:rPr lang="en-US" b="0" i="0" dirty="0">
                <a:effectLst/>
                <a:latin typeface="+mj-lt"/>
              </a:rPr>
              <a:t>This allows them to improve their performance over time.</a:t>
            </a:r>
          </a:p>
          <a:p>
            <a:endParaRPr lang="en-US" dirty="0">
              <a:latin typeface="+mj-lt"/>
            </a:endParaRPr>
          </a:p>
        </p:txBody>
      </p:sp>
    </p:spTree>
    <p:extLst>
      <p:ext uri="{BB962C8B-B14F-4D97-AF65-F5344CB8AC3E}">
        <p14:creationId xmlns:p14="http://schemas.microsoft.com/office/powerpoint/2010/main" val="2399698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413" y="12290"/>
            <a:ext cx="8305800" cy="609600"/>
          </a:xfrm>
        </p:spPr>
        <p:txBody>
          <a:bodyPr/>
          <a:lstStyle/>
          <a:p>
            <a:r>
              <a:rPr lang="en-US" dirty="0"/>
              <a:t>Why Rational Agents?</a:t>
            </a:r>
          </a:p>
        </p:txBody>
      </p:sp>
      <p:sp>
        <p:nvSpPr>
          <p:cNvPr id="3" name="Content Placeholder 2"/>
          <p:cNvSpPr>
            <a:spLocks noGrp="1"/>
          </p:cNvSpPr>
          <p:nvPr>
            <p:ph idx="1"/>
          </p:nvPr>
        </p:nvSpPr>
        <p:spPr>
          <a:xfrm>
            <a:off x="379413" y="621890"/>
            <a:ext cx="8459787" cy="6083710"/>
          </a:xfrm>
        </p:spPr>
        <p:txBody>
          <a:bodyPr/>
          <a:lstStyle/>
          <a:p>
            <a:pPr marL="0" indent="0">
              <a:buNone/>
            </a:pPr>
            <a:r>
              <a:rPr lang="en-US" b="1" dirty="0">
                <a:latin typeface="+mj-lt"/>
              </a:rPr>
              <a:t>5. Autonomy:  </a:t>
            </a:r>
            <a:r>
              <a:rPr lang="en-US" dirty="0">
                <a:latin typeface="+mj-lt"/>
              </a:rPr>
              <a:t>Rational </a:t>
            </a:r>
            <a:r>
              <a:rPr lang="en-US" b="0" i="0" dirty="0">
                <a:effectLst/>
                <a:latin typeface="+mj-lt"/>
              </a:rPr>
              <a:t>agents can operate independently of human intervention. </a:t>
            </a:r>
          </a:p>
          <a:p>
            <a:pPr marL="0" indent="0" algn="l">
              <a:buNone/>
            </a:pPr>
            <a:r>
              <a:rPr lang="en-US" b="0" i="0" dirty="0">
                <a:effectLst/>
                <a:latin typeface="+mj-lt"/>
              </a:rPr>
              <a:t>This can lead to increased efficiency and reduced human error.</a:t>
            </a:r>
          </a:p>
          <a:p>
            <a:pPr marL="0" indent="0" algn="l">
              <a:buNone/>
            </a:pPr>
            <a:endParaRPr lang="en-US" b="0" i="0" dirty="0">
              <a:effectLst/>
              <a:latin typeface="+mj-lt"/>
            </a:endParaRPr>
          </a:p>
          <a:p>
            <a:endParaRPr lang="en-US" dirty="0">
              <a:latin typeface="+mj-lt"/>
            </a:endParaRPr>
          </a:p>
        </p:txBody>
      </p:sp>
    </p:spTree>
    <p:extLst>
      <p:ext uri="{BB962C8B-B14F-4D97-AF65-F5344CB8AC3E}">
        <p14:creationId xmlns:p14="http://schemas.microsoft.com/office/powerpoint/2010/main" val="1446323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3657600"/>
          </a:xfrm>
        </p:spPr>
        <p:txBody>
          <a:bodyPr/>
          <a:lstStyle/>
          <a:p>
            <a:r>
              <a:rPr lang="en-US" dirty="0">
                <a:solidFill>
                  <a:schemeClr val="tx1"/>
                </a:solidFill>
              </a:rPr>
              <a:t>Agent and Environment</a:t>
            </a:r>
          </a:p>
        </p:txBody>
      </p:sp>
    </p:spTree>
    <p:extLst>
      <p:ext uri="{BB962C8B-B14F-4D97-AF65-F5344CB8AC3E}">
        <p14:creationId xmlns:p14="http://schemas.microsoft.com/office/powerpoint/2010/main" val="4105843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33400"/>
          </a:xfrm>
        </p:spPr>
        <p:txBody>
          <a:bodyPr/>
          <a:lstStyle/>
          <a:p>
            <a:r>
              <a:rPr lang="en-US" dirty="0"/>
              <a:t>Agent and Environment</a:t>
            </a:r>
          </a:p>
        </p:txBody>
      </p:sp>
      <p:pic>
        <p:nvPicPr>
          <p:cNvPr id="5" name="Picture 4">
            <a:extLst>
              <a:ext uri="{FF2B5EF4-FFF2-40B4-BE49-F238E27FC236}">
                <a16:creationId xmlns:a16="http://schemas.microsoft.com/office/drawing/2014/main" xmlns="" id="{54C915A0-79B8-DC2F-332B-ECD422563474}"/>
              </a:ext>
            </a:extLst>
          </p:cNvPr>
          <p:cNvPicPr>
            <a:picLocks noChangeAspect="1"/>
          </p:cNvPicPr>
          <p:nvPr/>
        </p:nvPicPr>
        <p:blipFill>
          <a:blip r:embed="rId2"/>
          <a:stretch>
            <a:fillRect/>
          </a:stretch>
        </p:blipFill>
        <p:spPr>
          <a:xfrm>
            <a:off x="381000" y="762000"/>
            <a:ext cx="8389748" cy="5867400"/>
          </a:xfrm>
          <a:prstGeom prst="rect">
            <a:avLst/>
          </a:prstGeom>
        </p:spPr>
      </p:pic>
    </p:spTree>
    <p:extLst>
      <p:ext uri="{BB962C8B-B14F-4D97-AF65-F5344CB8AC3E}">
        <p14:creationId xmlns:p14="http://schemas.microsoft.com/office/powerpoint/2010/main" val="495517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33400"/>
          </a:xfrm>
        </p:spPr>
        <p:txBody>
          <a:bodyPr/>
          <a:lstStyle/>
          <a:p>
            <a:r>
              <a:rPr lang="en-US" dirty="0"/>
              <a:t>Agent and Environment</a:t>
            </a:r>
          </a:p>
        </p:txBody>
      </p:sp>
      <p:pic>
        <p:nvPicPr>
          <p:cNvPr id="4" name="Picture 3">
            <a:extLst>
              <a:ext uri="{FF2B5EF4-FFF2-40B4-BE49-F238E27FC236}">
                <a16:creationId xmlns:a16="http://schemas.microsoft.com/office/drawing/2014/main" xmlns="" id="{F5404749-CE29-F57A-8B1D-61723D1731EE}"/>
              </a:ext>
            </a:extLst>
          </p:cNvPr>
          <p:cNvPicPr>
            <a:picLocks noChangeAspect="1"/>
          </p:cNvPicPr>
          <p:nvPr/>
        </p:nvPicPr>
        <p:blipFill>
          <a:blip r:embed="rId2"/>
          <a:stretch>
            <a:fillRect/>
          </a:stretch>
        </p:blipFill>
        <p:spPr>
          <a:xfrm>
            <a:off x="609600" y="685799"/>
            <a:ext cx="7391400" cy="5870595"/>
          </a:xfrm>
          <a:prstGeom prst="rect">
            <a:avLst/>
          </a:prstGeom>
        </p:spPr>
      </p:pic>
    </p:spTree>
    <p:extLst>
      <p:ext uri="{BB962C8B-B14F-4D97-AF65-F5344CB8AC3E}">
        <p14:creationId xmlns:p14="http://schemas.microsoft.com/office/powerpoint/2010/main" val="2322022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457200"/>
          </a:xfrm>
        </p:spPr>
        <p:txBody>
          <a:bodyPr/>
          <a:lstStyle/>
          <a:p>
            <a:r>
              <a:rPr lang="en-US" dirty="0"/>
              <a:t>Properties of Task Environment</a:t>
            </a:r>
          </a:p>
        </p:txBody>
      </p:sp>
      <p:sp>
        <p:nvSpPr>
          <p:cNvPr id="3" name="Content Placeholder 2"/>
          <p:cNvSpPr>
            <a:spLocks noGrp="1"/>
          </p:cNvSpPr>
          <p:nvPr>
            <p:ph idx="1"/>
          </p:nvPr>
        </p:nvSpPr>
        <p:spPr>
          <a:xfrm>
            <a:off x="379413" y="762000"/>
            <a:ext cx="8307387" cy="5791200"/>
          </a:xfrm>
        </p:spPr>
        <p:txBody>
          <a:bodyPr/>
          <a:lstStyle/>
          <a:p>
            <a:r>
              <a:rPr lang="en-US" b="1" dirty="0">
                <a:latin typeface="+mj-lt"/>
              </a:rPr>
              <a:t>Discrete (vs. continuous)</a:t>
            </a:r>
          </a:p>
          <a:p>
            <a:pPr lvl="1"/>
            <a:r>
              <a:rPr lang="en-US" sz="2400" dirty="0">
                <a:latin typeface="+mj-lt"/>
              </a:rPr>
              <a:t>If a limited number of distinct, clearly defined, states of the environment, the environment is discrete (For example, chess); otherwise it is continuous (For example, driving).</a:t>
            </a:r>
          </a:p>
          <a:p>
            <a:r>
              <a:rPr lang="en-US" b="1" dirty="0">
                <a:latin typeface="+mj-lt"/>
              </a:rPr>
              <a:t>Fully Observable (vs. partially observable)</a:t>
            </a:r>
          </a:p>
          <a:p>
            <a:pPr lvl="1"/>
            <a:r>
              <a:rPr lang="en-US" sz="2400" dirty="0">
                <a:latin typeface="+mj-lt"/>
              </a:rPr>
              <a:t>If it is possible to determine the complete state of the environment at each time point, it is observable e.g. Image Recognition; otherwise it is only partially observable e.g. Self-Driving.</a:t>
            </a:r>
          </a:p>
          <a:p>
            <a:r>
              <a:rPr lang="en-US" b="1" dirty="0">
                <a:latin typeface="+mj-lt"/>
              </a:rPr>
              <a:t>Single agent (vs. </a:t>
            </a:r>
            <a:r>
              <a:rPr lang="en-US" b="1" dirty="0" err="1">
                <a:latin typeface="+mj-lt"/>
              </a:rPr>
              <a:t>multiagent</a:t>
            </a:r>
            <a:r>
              <a:rPr lang="en-US" b="1" dirty="0">
                <a:latin typeface="+mj-lt"/>
              </a:rPr>
              <a:t>)</a:t>
            </a:r>
          </a:p>
          <a:p>
            <a:pPr lvl="1"/>
            <a:r>
              <a:rPr lang="en-US" sz="2400" dirty="0">
                <a:latin typeface="+mj-lt"/>
              </a:rPr>
              <a:t>An agent operating by itself in an environment</a:t>
            </a:r>
          </a:p>
          <a:p>
            <a:endParaRPr lang="en-US" dirty="0">
              <a:latin typeface="+mj-lt"/>
            </a:endParaRPr>
          </a:p>
        </p:txBody>
      </p:sp>
    </p:spTree>
    <p:extLst>
      <p:ext uri="{BB962C8B-B14F-4D97-AF65-F5344CB8AC3E}">
        <p14:creationId xmlns:p14="http://schemas.microsoft.com/office/powerpoint/2010/main" val="291670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304800"/>
          </a:xfrm>
        </p:spPr>
        <p:txBody>
          <a:bodyPr/>
          <a:lstStyle/>
          <a:p>
            <a:r>
              <a:rPr lang="en-US" dirty="0"/>
              <a:t>Contd..</a:t>
            </a:r>
          </a:p>
        </p:txBody>
      </p:sp>
      <p:sp>
        <p:nvSpPr>
          <p:cNvPr id="3" name="Content Placeholder 2"/>
          <p:cNvSpPr>
            <a:spLocks noGrp="1"/>
          </p:cNvSpPr>
          <p:nvPr>
            <p:ph idx="1"/>
          </p:nvPr>
        </p:nvSpPr>
        <p:spPr>
          <a:xfrm>
            <a:off x="379413" y="533400"/>
            <a:ext cx="8307387" cy="5572125"/>
          </a:xfrm>
        </p:spPr>
        <p:txBody>
          <a:bodyPr/>
          <a:lstStyle/>
          <a:p>
            <a:r>
              <a:rPr lang="en-US" b="1" dirty="0">
                <a:latin typeface="+mj-lt"/>
              </a:rPr>
              <a:t>Static (vs. dynamic)</a:t>
            </a:r>
          </a:p>
          <a:p>
            <a:pPr lvl="1"/>
            <a:r>
              <a:rPr lang="en-US" sz="2400" dirty="0">
                <a:latin typeface="+mj-lt"/>
              </a:rPr>
              <a:t>If the environment does not change while an agent is acting, then it is static; otherwise it is dynamic.</a:t>
            </a:r>
          </a:p>
          <a:p>
            <a:r>
              <a:rPr lang="en-US" b="1" dirty="0">
                <a:latin typeface="+mj-lt"/>
              </a:rPr>
              <a:t>Accessible (vs. Inaccessible)</a:t>
            </a:r>
          </a:p>
          <a:p>
            <a:pPr lvl="1"/>
            <a:r>
              <a:rPr lang="en-US" sz="2400" dirty="0">
                <a:latin typeface="+mj-lt"/>
              </a:rPr>
              <a:t>Whether the complete state of the environment is accessible by agent’s sensory apparatus </a:t>
            </a:r>
          </a:p>
          <a:p>
            <a:r>
              <a:rPr lang="en-US" b="1" dirty="0">
                <a:latin typeface="+mj-lt"/>
              </a:rPr>
              <a:t>Deterministic (vs. stochastic)</a:t>
            </a:r>
          </a:p>
          <a:p>
            <a:pPr lvl="1"/>
            <a:r>
              <a:rPr lang="en-US" sz="2400" dirty="0">
                <a:latin typeface="+mj-lt"/>
              </a:rPr>
              <a:t>Whether the next state of the environment is exactly determined by the current state and the actions of the agent</a:t>
            </a:r>
          </a:p>
          <a:p>
            <a:endParaRPr lang="en-US" b="1" dirty="0">
              <a:latin typeface="+mj-lt"/>
            </a:endParaRPr>
          </a:p>
          <a:p>
            <a:endParaRPr lang="en-US" b="1" dirty="0">
              <a:latin typeface="+mj-lt"/>
            </a:endParaRPr>
          </a:p>
        </p:txBody>
      </p:sp>
    </p:spTree>
    <p:extLst>
      <p:ext uri="{BB962C8B-B14F-4D97-AF65-F5344CB8AC3E}">
        <p14:creationId xmlns:p14="http://schemas.microsoft.com/office/powerpoint/2010/main" val="158428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Taxi Driver</a:t>
            </a:r>
          </a:p>
        </p:txBody>
      </p:sp>
      <p:sp>
        <p:nvSpPr>
          <p:cNvPr id="3" name="Content Placeholder 2"/>
          <p:cNvSpPr>
            <a:spLocks noGrp="1"/>
          </p:cNvSpPr>
          <p:nvPr>
            <p:ph idx="1"/>
          </p:nvPr>
        </p:nvSpPr>
        <p:spPr/>
        <p:txBody>
          <a:bodyPr/>
          <a:lstStyle/>
          <a:p>
            <a:r>
              <a:rPr lang="en-US" sz="2000" b="1" dirty="0"/>
              <a:t>Discrete or continuous</a:t>
            </a:r>
          </a:p>
          <a:p>
            <a:pPr lvl="1"/>
            <a:r>
              <a:rPr lang="en-US" sz="2000" dirty="0"/>
              <a:t>Continuous </a:t>
            </a:r>
          </a:p>
          <a:p>
            <a:r>
              <a:rPr lang="en-US" sz="2000" b="1" dirty="0"/>
              <a:t>Fully Observable or partially observable</a:t>
            </a:r>
          </a:p>
          <a:p>
            <a:pPr lvl="1"/>
            <a:r>
              <a:rPr lang="en-US" sz="2000" dirty="0"/>
              <a:t>partially</a:t>
            </a:r>
          </a:p>
          <a:p>
            <a:r>
              <a:rPr lang="en-US" sz="2000" b="1" dirty="0"/>
              <a:t>Single agent or multi-agent</a:t>
            </a:r>
          </a:p>
          <a:p>
            <a:pPr lvl="1"/>
            <a:r>
              <a:rPr lang="en-US" sz="2000" dirty="0"/>
              <a:t>Multi-agent</a:t>
            </a:r>
          </a:p>
          <a:p>
            <a:r>
              <a:rPr lang="en-US" sz="2000" b="1" dirty="0"/>
              <a:t>Static or dynamic</a:t>
            </a:r>
          </a:p>
          <a:p>
            <a:pPr lvl="1"/>
            <a:r>
              <a:rPr lang="en-US" sz="2000" dirty="0"/>
              <a:t>dynamic</a:t>
            </a:r>
          </a:p>
          <a:p>
            <a:r>
              <a:rPr lang="en-US" sz="2000" b="1" dirty="0"/>
              <a:t>Accessible or Inaccessible</a:t>
            </a:r>
          </a:p>
          <a:p>
            <a:pPr lvl="1"/>
            <a:r>
              <a:rPr lang="en-US" sz="2000" dirty="0"/>
              <a:t>Inaccessible</a:t>
            </a:r>
            <a:r>
              <a:rPr lang="en-US" sz="2000" b="1" dirty="0"/>
              <a:t> </a:t>
            </a:r>
          </a:p>
          <a:p>
            <a:r>
              <a:rPr lang="en-US" sz="2000" b="1" dirty="0"/>
              <a:t>Deterministic or stochastic</a:t>
            </a:r>
          </a:p>
          <a:p>
            <a:pPr lvl="1"/>
            <a:r>
              <a:rPr lang="en-US" sz="2000" dirty="0"/>
              <a:t>Stochastic</a:t>
            </a:r>
          </a:p>
          <a:p>
            <a:pPr marL="457200" lvl="1" indent="0">
              <a:buNone/>
            </a:pPr>
            <a:endParaRPr lang="en-US" b="1" dirty="0"/>
          </a:p>
          <a:p>
            <a:endParaRPr lang="en-US" b="1" dirty="0"/>
          </a:p>
          <a:p>
            <a:endParaRPr lang="en-US" b="1" dirty="0"/>
          </a:p>
          <a:p>
            <a:endParaRPr lang="en-US" b="1" dirty="0"/>
          </a:p>
          <a:p>
            <a:endParaRPr lang="en-US" b="1" dirty="0"/>
          </a:p>
          <a:p>
            <a:endParaRPr lang="en-US" b="1" dirty="0"/>
          </a:p>
          <a:p>
            <a:pPr marL="0" indent="0">
              <a:buNone/>
            </a:pPr>
            <a:r>
              <a:rPr lang="en-US" b="1" dirty="0"/>
              <a:t> </a:t>
            </a:r>
            <a:endParaRPr lang="en-US" dirty="0"/>
          </a:p>
        </p:txBody>
      </p:sp>
    </p:spTree>
    <p:extLst>
      <p:ext uri="{BB962C8B-B14F-4D97-AF65-F5344CB8AC3E}">
        <p14:creationId xmlns:p14="http://schemas.microsoft.com/office/powerpoint/2010/main" val="238650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Chess with a clock</a:t>
            </a:r>
          </a:p>
        </p:txBody>
      </p:sp>
      <p:sp>
        <p:nvSpPr>
          <p:cNvPr id="3" name="Content Placeholder 2"/>
          <p:cNvSpPr>
            <a:spLocks noGrp="1"/>
          </p:cNvSpPr>
          <p:nvPr>
            <p:ph idx="1"/>
          </p:nvPr>
        </p:nvSpPr>
        <p:spPr/>
        <p:txBody>
          <a:bodyPr/>
          <a:lstStyle/>
          <a:p>
            <a:r>
              <a:rPr lang="en-US" sz="2000" b="1" dirty="0"/>
              <a:t>Discrete or continuous</a:t>
            </a:r>
          </a:p>
          <a:p>
            <a:pPr lvl="1"/>
            <a:r>
              <a:rPr lang="en-US" sz="2000" dirty="0"/>
              <a:t>Discrete </a:t>
            </a:r>
          </a:p>
          <a:p>
            <a:r>
              <a:rPr lang="en-US" sz="2000" b="1" dirty="0"/>
              <a:t>Fully Observable or partially observable</a:t>
            </a:r>
          </a:p>
          <a:p>
            <a:pPr lvl="1"/>
            <a:r>
              <a:rPr lang="en-US" sz="2000" dirty="0"/>
              <a:t>Fully</a:t>
            </a:r>
          </a:p>
          <a:p>
            <a:r>
              <a:rPr lang="en-US" sz="2000" b="1" dirty="0"/>
              <a:t>Single agent or multi-agent</a:t>
            </a:r>
          </a:p>
          <a:p>
            <a:pPr lvl="1"/>
            <a:r>
              <a:rPr lang="en-US" sz="2000" dirty="0"/>
              <a:t>Multi-agent</a:t>
            </a:r>
          </a:p>
          <a:p>
            <a:r>
              <a:rPr lang="en-US" sz="2000" b="1" dirty="0"/>
              <a:t>Static or dynamic</a:t>
            </a:r>
          </a:p>
          <a:p>
            <a:pPr lvl="1"/>
            <a:r>
              <a:rPr lang="en-US" sz="2000" dirty="0"/>
              <a:t>Semi-dynamic</a:t>
            </a:r>
          </a:p>
          <a:p>
            <a:r>
              <a:rPr lang="en-US" sz="2000" b="1" dirty="0"/>
              <a:t>Accessible or Inaccessible</a:t>
            </a:r>
          </a:p>
          <a:p>
            <a:pPr lvl="1"/>
            <a:r>
              <a:rPr lang="en-US" sz="2000" dirty="0"/>
              <a:t>Accessible</a:t>
            </a:r>
            <a:r>
              <a:rPr lang="en-US" sz="2000" b="1" dirty="0"/>
              <a:t> </a:t>
            </a:r>
          </a:p>
          <a:p>
            <a:r>
              <a:rPr lang="en-US" sz="2000" b="1" dirty="0"/>
              <a:t>Deterministic or stochastic</a:t>
            </a:r>
          </a:p>
          <a:p>
            <a:pPr lvl="1"/>
            <a:r>
              <a:rPr lang="en-US" sz="2000" dirty="0"/>
              <a:t>Deterministic (strategic)</a:t>
            </a:r>
          </a:p>
        </p:txBody>
      </p:sp>
    </p:spTree>
    <p:extLst>
      <p:ext uri="{BB962C8B-B14F-4D97-AF65-F5344CB8AC3E}">
        <p14:creationId xmlns:p14="http://schemas.microsoft.com/office/powerpoint/2010/main" val="141813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305800" cy="523875"/>
          </a:xfrm>
        </p:spPr>
        <p:txBody>
          <a:bodyPr/>
          <a:lstStyle/>
          <a:p>
            <a:r>
              <a:rPr lang="en-US" dirty="0"/>
              <a:t>Structure of Intelligent Agents</a:t>
            </a:r>
          </a:p>
        </p:txBody>
      </p:sp>
      <p:sp>
        <p:nvSpPr>
          <p:cNvPr id="3" name="Content Placeholder 2"/>
          <p:cNvSpPr>
            <a:spLocks noGrp="1"/>
          </p:cNvSpPr>
          <p:nvPr>
            <p:ph idx="1"/>
          </p:nvPr>
        </p:nvSpPr>
        <p:spPr>
          <a:xfrm>
            <a:off x="379413" y="752476"/>
            <a:ext cx="8307387" cy="5800724"/>
          </a:xfrm>
        </p:spPr>
        <p:txBody>
          <a:bodyPr/>
          <a:lstStyle/>
          <a:p>
            <a:r>
              <a:rPr lang="en-US" dirty="0">
                <a:latin typeface="+mj-lt"/>
              </a:rPr>
              <a:t>The IA structure consists of three main parts:</a:t>
            </a:r>
          </a:p>
          <a:p>
            <a:r>
              <a:rPr lang="en-US" b="1" dirty="0">
                <a:latin typeface="+mj-lt"/>
              </a:rPr>
              <a:t>Architecture</a:t>
            </a:r>
            <a:r>
              <a:rPr lang="en-US" dirty="0">
                <a:latin typeface="+mj-lt"/>
              </a:rPr>
              <a:t>: The machinery that an agent executes on. It is a device with sensors and actuators, for example, a robotic car, a camera, a PC</a:t>
            </a:r>
          </a:p>
          <a:p>
            <a:r>
              <a:rPr lang="en-US" b="1" dirty="0">
                <a:latin typeface="+mj-lt"/>
              </a:rPr>
              <a:t>Agent function: </a:t>
            </a:r>
            <a:r>
              <a:rPr lang="en-US" dirty="0">
                <a:latin typeface="+mj-lt"/>
              </a:rPr>
              <a:t>a function in which actions are mapped from a certain percept sequence</a:t>
            </a:r>
          </a:p>
          <a:p>
            <a:r>
              <a:rPr lang="en-US" b="1" dirty="0">
                <a:latin typeface="+mj-lt"/>
              </a:rPr>
              <a:t>Agent Program: </a:t>
            </a:r>
            <a:r>
              <a:rPr lang="en-US" dirty="0">
                <a:latin typeface="+mj-lt"/>
              </a:rPr>
              <a:t>an implementation or execution of an agent function.</a:t>
            </a:r>
          </a:p>
          <a:p>
            <a:r>
              <a:rPr lang="en-US" dirty="0">
                <a:latin typeface="+mj-lt"/>
              </a:rPr>
              <a:t>Normally, Agent’s structure can be viewed as:</a:t>
            </a:r>
          </a:p>
          <a:p>
            <a:r>
              <a:rPr lang="en-US" dirty="0">
                <a:latin typeface="+mj-lt"/>
              </a:rPr>
              <a:t>Agent = Architecture + Agent Program</a:t>
            </a:r>
          </a:p>
          <a:p>
            <a:endParaRPr lang="en-US" dirty="0">
              <a:latin typeface="+mj-lt"/>
            </a:endParaRPr>
          </a:p>
        </p:txBody>
      </p:sp>
    </p:spTree>
    <p:extLst>
      <p:ext uri="{BB962C8B-B14F-4D97-AF65-F5344CB8AC3E}">
        <p14:creationId xmlns:p14="http://schemas.microsoft.com/office/powerpoint/2010/main" val="83531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2819400"/>
            <a:ext cx="8305800" cy="1219200"/>
          </a:xfrm>
        </p:spPr>
        <p:txBody>
          <a:bodyPr/>
          <a:lstStyle/>
          <a:p>
            <a:r>
              <a:rPr lang="en-US" dirty="0">
                <a:solidFill>
                  <a:schemeClr val="tx1"/>
                </a:solidFill>
              </a:rPr>
              <a:t>Types of Agents</a:t>
            </a:r>
          </a:p>
        </p:txBody>
      </p:sp>
    </p:spTree>
    <p:extLst>
      <p:ext uri="{BB962C8B-B14F-4D97-AF65-F5344CB8AC3E}">
        <p14:creationId xmlns:p14="http://schemas.microsoft.com/office/powerpoint/2010/main" val="39711008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Agents</a:t>
            </a:r>
          </a:p>
        </p:txBody>
      </p:sp>
      <p:sp>
        <p:nvSpPr>
          <p:cNvPr id="3" name="Content Placeholder 2"/>
          <p:cNvSpPr>
            <a:spLocks noGrp="1"/>
          </p:cNvSpPr>
          <p:nvPr>
            <p:ph idx="1"/>
          </p:nvPr>
        </p:nvSpPr>
        <p:spPr/>
        <p:txBody>
          <a:bodyPr/>
          <a:lstStyle/>
          <a:p>
            <a:r>
              <a:rPr lang="en-US" dirty="0"/>
              <a:t>Agents can be grouped into five classes based on their degree of perceived intelligence and capability:</a:t>
            </a:r>
          </a:p>
          <a:p>
            <a:pPr lvl="1"/>
            <a:r>
              <a:rPr lang="en-US" dirty="0"/>
              <a:t>Simple Reflex Agents</a:t>
            </a:r>
          </a:p>
          <a:p>
            <a:pPr lvl="1"/>
            <a:r>
              <a:rPr lang="en-US" dirty="0"/>
              <a:t>Model-Based Reflex Agents</a:t>
            </a:r>
          </a:p>
          <a:p>
            <a:pPr lvl="1"/>
            <a:r>
              <a:rPr lang="en-US" dirty="0"/>
              <a:t>Goal-Based Agents</a:t>
            </a:r>
          </a:p>
          <a:p>
            <a:pPr lvl="1"/>
            <a:r>
              <a:rPr lang="en-US" dirty="0"/>
              <a:t>Utility-Based Agents</a:t>
            </a:r>
          </a:p>
          <a:p>
            <a:pPr lvl="1"/>
            <a:r>
              <a:rPr lang="en-US" dirty="0"/>
              <a:t>Learning Agent</a:t>
            </a:r>
          </a:p>
          <a:p>
            <a:endParaRPr lang="en-US" dirty="0"/>
          </a:p>
        </p:txBody>
      </p:sp>
    </p:spTree>
    <p:extLst>
      <p:ext uri="{BB962C8B-B14F-4D97-AF65-F5344CB8AC3E}">
        <p14:creationId xmlns:p14="http://schemas.microsoft.com/office/powerpoint/2010/main" val="546453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 Reflex (reaction/response) Agents</a:t>
            </a:r>
          </a:p>
        </p:txBody>
      </p:sp>
      <p:sp>
        <p:nvSpPr>
          <p:cNvPr id="3" name="Content Placeholder 2"/>
          <p:cNvSpPr>
            <a:spLocks noGrp="1"/>
          </p:cNvSpPr>
          <p:nvPr>
            <p:ph idx="1"/>
          </p:nvPr>
        </p:nvSpPr>
        <p:spPr>
          <a:xfrm>
            <a:off x="379413" y="1295400"/>
            <a:ext cx="8764587" cy="4810125"/>
          </a:xfrm>
        </p:spPr>
        <p:txBody>
          <a:bodyPr/>
          <a:lstStyle/>
          <a:p>
            <a:r>
              <a:rPr lang="en-US" dirty="0"/>
              <a:t>Most basic of the intelligent agents</a:t>
            </a:r>
          </a:p>
          <a:p>
            <a:r>
              <a:rPr lang="en-US" b="1" dirty="0"/>
              <a:t>perform actions based on a current situation (percept)</a:t>
            </a:r>
          </a:p>
          <a:p>
            <a:r>
              <a:rPr lang="en-US" dirty="0"/>
              <a:t>They are rational only if a correct decision is made based on current precept.</a:t>
            </a:r>
          </a:p>
          <a:p>
            <a:r>
              <a:rPr lang="en-US" dirty="0"/>
              <a:t>Their environment is completely observable.</a:t>
            </a:r>
          </a:p>
          <a:p>
            <a:endParaRPr lang="en-US" dirty="0"/>
          </a:p>
          <a:p>
            <a:r>
              <a:rPr lang="en-US" dirty="0"/>
              <a:t>They are built on the </a:t>
            </a:r>
            <a:r>
              <a:rPr lang="en-US" b="1" dirty="0"/>
              <a:t>Condition-Action Rule </a:t>
            </a:r>
            <a:endParaRPr lang="en-US" dirty="0"/>
          </a:p>
          <a:p>
            <a:pPr lvl="1"/>
            <a:r>
              <a:rPr lang="en-US" dirty="0"/>
              <a:t>Perform action if a specific condition is fulfilled </a:t>
            </a:r>
          </a:p>
          <a:p>
            <a:r>
              <a:rPr lang="en-US" dirty="0"/>
              <a:t>Examples: </a:t>
            </a:r>
          </a:p>
          <a:p>
            <a:pPr lvl="1"/>
            <a:r>
              <a:rPr lang="en-US" dirty="0"/>
              <a:t>home thermostat, chess etc.</a:t>
            </a:r>
          </a:p>
          <a:p>
            <a:endParaRPr lang="en-US" dirty="0"/>
          </a:p>
        </p:txBody>
      </p:sp>
    </p:spTree>
    <p:extLst>
      <p:ext uri="{BB962C8B-B14F-4D97-AF65-F5344CB8AC3E}">
        <p14:creationId xmlns:p14="http://schemas.microsoft.com/office/powerpoint/2010/main" val="242285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sp>
        <p:nvSpPr>
          <p:cNvPr id="3" name="Content Placeholder 2"/>
          <p:cNvSpPr>
            <a:spLocks noGrp="1"/>
          </p:cNvSpPr>
          <p:nvPr>
            <p:ph idx="1"/>
          </p:nvPr>
        </p:nvSpPr>
        <p:spPr/>
        <p:txBody>
          <a:bodyPr/>
          <a:lstStyle/>
          <a:p>
            <a:r>
              <a:rPr lang="en-US" dirty="0"/>
              <a:t>Problems with Simple reflex agents are : </a:t>
            </a:r>
          </a:p>
          <a:p>
            <a:pPr lvl="1"/>
            <a:r>
              <a:rPr lang="en-US" dirty="0"/>
              <a:t>Very limited intelligence.</a:t>
            </a:r>
          </a:p>
          <a:p>
            <a:pPr lvl="1"/>
            <a:r>
              <a:rPr lang="en-US" dirty="0"/>
              <a:t>No knowledge of non-perceptual parts of the state.</a:t>
            </a:r>
          </a:p>
          <a:p>
            <a:pPr lvl="1"/>
            <a:r>
              <a:rPr lang="en-US" dirty="0"/>
              <a:t>If there occurs any change in the environment, then the collection of rules need to be updated.</a:t>
            </a:r>
          </a:p>
          <a:p>
            <a:endParaRPr lang="en-US" dirty="0"/>
          </a:p>
        </p:txBody>
      </p:sp>
    </p:spTree>
    <p:extLst>
      <p:ext uri="{BB962C8B-B14F-4D97-AF65-F5344CB8AC3E}">
        <p14:creationId xmlns:p14="http://schemas.microsoft.com/office/powerpoint/2010/main" val="11990318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Model-based reflex agents</a:t>
            </a:r>
            <a:endParaRPr lang="en-US" dirty="0"/>
          </a:p>
        </p:txBody>
      </p:sp>
      <p:sp>
        <p:nvSpPr>
          <p:cNvPr id="3" name="Content Placeholder 2"/>
          <p:cNvSpPr>
            <a:spLocks noGrp="1"/>
          </p:cNvSpPr>
          <p:nvPr>
            <p:ph idx="1"/>
          </p:nvPr>
        </p:nvSpPr>
        <p:spPr>
          <a:xfrm>
            <a:off x="379413" y="1295400"/>
            <a:ext cx="8307387" cy="4810125"/>
          </a:xfrm>
        </p:spPr>
        <p:txBody>
          <a:bodyPr/>
          <a:lstStyle/>
          <a:p>
            <a:r>
              <a:rPr lang="en-US" dirty="0"/>
              <a:t>These agents </a:t>
            </a:r>
            <a:r>
              <a:rPr lang="en-US" b="1" dirty="0"/>
              <a:t>use an internal model that determines the percept history and effect of actions</a:t>
            </a:r>
          </a:p>
          <a:p>
            <a:r>
              <a:rPr lang="en-US" dirty="0"/>
              <a:t>Can work well in a partially observable environment </a:t>
            </a:r>
          </a:p>
          <a:p>
            <a:r>
              <a:rPr lang="en-US" dirty="0"/>
              <a:t>They </a:t>
            </a:r>
            <a:r>
              <a:rPr lang="en-US" b="1" dirty="0"/>
              <a:t>maintain an internal state</a:t>
            </a:r>
            <a:r>
              <a:rPr lang="en-US" dirty="0"/>
              <a:t>.</a:t>
            </a:r>
          </a:p>
          <a:p>
            <a:pPr lvl="1"/>
            <a:r>
              <a:rPr lang="en-US" sz="2400" dirty="0"/>
              <a:t>a representation of unobserved aspects of current state depending on percept history.</a:t>
            </a:r>
            <a:endParaRPr lang="en-US" dirty="0"/>
          </a:p>
          <a:p>
            <a:r>
              <a:rPr lang="en-US" dirty="0"/>
              <a:t>Updating the state requires the information about:</a:t>
            </a:r>
          </a:p>
          <a:p>
            <a:pPr lvl="1"/>
            <a:r>
              <a:rPr lang="en-US" sz="2400" dirty="0"/>
              <a:t>how the world evolves independently from the agent</a:t>
            </a:r>
          </a:p>
          <a:p>
            <a:pPr lvl="1"/>
            <a:r>
              <a:rPr lang="en-US" sz="2400" dirty="0"/>
              <a:t>how the agent’s actions affect the world.</a:t>
            </a:r>
          </a:p>
          <a:p>
            <a:r>
              <a:rPr lang="en-US" dirty="0"/>
              <a:t>Example: self driving car slows down when sees red lights of the front car. Or car changing its line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58535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Goal Based Agents</a:t>
            </a:r>
            <a:endParaRPr lang="en-US" dirty="0"/>
          </a:p>
        </p:txBody>
      </p:sp>
      <p:sp>
        <p:nvSpPr>
          <p:cNvPr id="3" name="Content Placeholder 2"/>
          <p:cNvSpPr>
            <a:spLocks noGrp="1"/>
          </p:cNvSpPr>
          <p:nvPr>
            <p:ph idx="1"/>
          </p:nvPr>
        </p:nvSpPr>
        <p:spPr>
          <a:xfrm>
            <a:off x="379413" y="1295400"/>
            <a:ext cx="8383587" cy="4810125"/>
          </a:xfrm>
        </p:spPr>
        <p:txBody>
          <a:bodyPr/>
          <a:lstStyle/>
          <a:p>
            <a:r>
              <a:rPr lang="en-US" dirty="0"/>
              <a:t>They </a:t>
            </a:r>
            <a:r>
              <a:rPr lang="en-US" b="1" dirty="0"/>
              <a:t>choose their actions to achieve goals</a:t>
            </a:r>
            <a:endParaRPr lang="en-US" dirty="0"/>
          </a:p>
          <a:p>
            <a:r>
              <a:rPr lang="en-US" dirty="0"/>
              <a:t>More flexible and adaptive than reflex agents as goal information is also included</a:t>
            </a:r>
          </a:p>
          <a:p>
            <a:pPr lvl="1"/>
            <a:r>
              <a:rPr lang="en-US" dirty="0"/>
              <a:t>Can change goal without need to “reprogram” rules, for example a new destination for the taxi-driving agent</a:t>
            </a:r>
          </a:p>
          <a:p>
            <a:endParaRPr lang="en-US" dirty="0"/>
          </a:p>
          <a:p>
            <a:r>
              <a:rPr lang="en-US" dirty="0"/>
              <a:t>Example: </a:t>
            </a:r>
            <a:r>
              <a:rPr lang="en-US" sz="2400" b="1" dirty="0"/>
              <a:t>driverless cars </a:t>
            </a:r>
            <a:r>
              <a:rPr lang="en-US" sz="2400" dirty="0"/>
              <a:t>can also be example when they are programmed with an end destination, or goal, in mind. </a:t>
            </a:r>
          </a:p>
          <a:p>
            <a:pPr marL="0" indent="0">
              <a:buNone/>
            </a:pPr>
            <a:r>
              <a:rPr lang="en-US" sz="2400" dirty="0"/>
              <a:t>    The car will then ''think'' and make the right decisions to deliver the passenger where they intended to go. </a:t>
            </a:r>
          </a:p>
          <a:p>
            <a:endParaRPr lang="en-US" dirty="0"/>
          </a:p>
          <a:p>
            <a:endParaRPr lang="en-US" dirty="0"/>
          </a:p>
        </p:txBody>
      </p:sp>
    </p:spTree>
    <p:extLst>
      <p:ext uri="{BB962C8B-B14F-4D97-AF65-F5344CB8AC3E}">
        <p14:creationId xmlns:p14="http://schemas.microsoft.com/office/powerpoint/2010/main" val="184706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Utility Based Agents</a:t>
            </a:r>
            <a:endParaRPr lang="en-US" dirty="0"/>
          </a:p>
        </p:txBody>
      </p:sp>
      <p:sp>
        <p:nvSpPr>
          <p:cNvPr id="3" name="Content Placeholder 2"/>
          <p:cNvSpPr>
            <a:spLocks noGrp="1"/>
          </p:cNvSpPr>
          <p:nvPr>
            <p:ph idx="1"/>
          </p:nvPr>
        </p:nvSpPr>
        <p:spPr>
          <a:xfrm>
            <a:off x="379413" y="1295400"/>
            <a:ext cx="8459787" cy="4810125"/>
          </a:xfrm>
        </p:spPr>
        <p:txBody>
          <a:bodyPr/>
          <a:lstStyle/>
          <a:p>
            <a:r>
              <a:rPr lang="en-US" dirty="0"/>
              <a:t>Like goal-based agents but chooses the action that maximizes the outcome</a:t>
            </a:r>
          </a:p>
          <a:p>
            <a:r>
              <a:rPr lang="en-US" dirty="0"/>
              <a:t>They choose actions based on a </a:t>
            </a:r>
            <a:r>
              <a:rPr lang="en-US" b="1" dirty="0"/>
              <a:t>preference (utility/usefulness)</a:t>
            </a:r>
            <a:r>
              <a:rPr lang="en-US" dirty="0"/>
              <a:t> for each state</a:t>
            </a:r>
          </a:p>
          <a:p>
            <a:pPr lvl="1"/>
            <a:r>
              <a:rPr lang="en-US" dirty="0"/>
              <a:t>Utility describes </a:t>
            </a:r>
            <a:r>
              <a:rPr lang="en-US" b="1" dirty="0"/>
              <a:t>how “happy” the agent is</a:t>
            </a:r>
            <a:endParaRPr lang="en-US" dirty="0"/>
          </a:p>
          <a:p>
            <a:r>
              <a:rPr lang="en-US" dirty="0"/>
              <a:t>Achieving the desired goal is not enough instead look for a quicker, safer, cheaper trip to reach a destination</a:t>
            </a:r>
          </a:p>
          <a:p>
            <a:r>
              <a:rPr lang="en-US" dirty="0"/>
              <a:t>Example: </a:t>
            </a:r>
          </a:p>
          <a:p>
            <a:pPr lvl="1"/>
            <a:r>
              <a:rPr lang="en-US" sz="2000" dirty="0"/>
              <a:t>Price comparison shopping</a:t>
            </a:r>
          </a:p>
          <a:p>
            <a:pPr lvl="1"/>
            <a:r>
              <a:rPr lang="en-US" sz="2000" dirty="0"/>
              <a:t>Bidding on items in an auction (sale)</a:t>
            </a:r>
          </a:p>
          <a:p>
            <a:pPr lvl="1"/>
            <a:r>
              <a:rPr lang="en-US" sz="2000" dirty="0"/>
              <a:t>Evaluating bids in an auction (sale) </a:t>
            </a:r>
          </a:p>
          <a:p>
            <a:endParaRPr lang="en-US" dirty="0"/>
          </a:p>
          <a:p>
            <a:endParaRPr lang="en-US" dirty="0"/>
          </a:p>
        </p:txBody>
      </p:sp>
    </p:spTree>
    <p:extLst>
      <p:ext uri="{BB962C8B-B14F-4D97-AF65-F5344CB8AC3E}">
        <p14:creationId xmlns:p14="http://schemas.microsoft.com/office/powerpoint/2010/main" val="198428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Agent</a:t>
            </a:r>
          </a:p>
        </p:txBody>
      </p:sp>
      <p:sp>
        <p:nvSpPr>
          <p:cNvPr id="3" name="Content Placeholder 2"/>
          <p:cNvSpPr>
            <a:spLocks noGrp="1"/>
          </p:cNvSpPr>
          <p:nvPr>
            <p:ph idx="1"/>
          </p:nvPr>
        </p:nvSpPr>
        <p:spPr/>
        <p:txBody>
          <a:bodyPr/>
          <a:lstStyle/>
          <a:p>
            <a:r>
              <a:rPr lang="en-US" dirty="0"/>
              <a:t>These agents have the capability to learn from their previous experiences </a:t>
            </a:r>
          </a:p>
          <a:p>
            <a:r>
              <a:rPr lang="en-US" dirty="0"/>
              <a:t>It starts to act with basic knowledge, analyze performance, and look for new ways to improve on those tasks, automatically. </a:t>
            </a:r>
          </a:p>
          <a:p>
            <a:r>
              <a:rPr lang="en-US" dirty="0"/>
              <a:t>Example: </a:t>
            </a:r>
            <a:r>
              <a:rPr lang="en-US" sz="2000" dirty="0"/>
              <a:t>self-driving car stuck on the road, will change path next time </a:t>
            </a:r>
          </a:p>
          <a:p>
            <a:pPr marL="0" indent="0">
              <a:buNone/>
            </a:pPr>
            <a:endParaRPr lang="en-US" dirty="0"/>
          </a:p>
        </p:txBody>
      </p:sp>
    </p:spTree>
    <p:extLst>
      <p:ext uri="{BB962C8B-B14F-4D97-AF65-F5344CB8AC3E}">
        <p14:creationId xmlns:p14="http://schemas.microsoft.com/office/powerpoint/2010/main" val="3454992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a:t>Which type of shopping agent will be best?</a:t>
            </a:r>
          </a:p>
        </p:txBody>
      </p:sp>
      <p:sp>
        <p:nvSpPr>
          <p:cNvPr id="3" name="Content Placeholder 2"/>
          <p:cNvSpPr>
            <a:spLocks noGrp="1"/>
          </p:cNvSpPr>
          <p:nvPr>
            <p:ph idx="1"/>
          </p:nvPr>
        </p:nvSpPr>
        <p:spPr/>
        <p:txBody>
          <a:bodyPr/>
          <a:lstStyle/>
          <a:p>
            <a:r>
              <a:rPr lang="en-US" sz="2400" b="1" dirty="0"/>
              <a:t>When Navigating: </a:t>
            </a:r>
            <a:r>
              <a:rPr lang="en-US" sz="2400" dirty="0"/>
              <a:t>Move around store; avoid obstacles</a:t>
            </a:r>
          </a:p>
          <a:p>
            <a:pPr lvl="1"/>
            <a:r>
              <a:rPr lang="en-US" sz="2000" dirty="0"/>
              <a:t>Reflex agent</a:t>
            </a:r>
          </a:p>
          <a:p>
            <a:r>
              <a:rPr lang="en-US" sz="2400" b="1" dirty="0"/>
              <a:t>Gathering: </a:t>
            </a:r>
            <a:r>
              <a:rPr lang="en-US" sz="2400" dirty="0"/>
              <a:t>Find and put into cart groceries it wants, need to induce objects from percepts</a:t>
            </a:r>
          </a:p>
          <a:p>
            <a:pPr lvl="1"/>
            <a:r>
              <a:rPr lang="en-US" sz="2000" dirty="0"/>
              <a:t>Reflex agent: walk and grab items that look good.</a:t>
            </a:r>
          </a:p>
          <a:p>
            <a:pPr lvl="1"/>
            <a:r>
              <a:rPr lang="en-US" sz="2000" dirty="0"/>
              <a:t>Goal-based agent: shopping list.</a:t>
            </a:r>
          </a:p>
          <a:p>
            <a:r>
              <a:rPr lang="en-US" sz="2400" b="1" dirty="0"/>
              <a:t>Menu-planning: </a:t>
            </a:r>
            <a:r>
              <a:rPr lang="en-US" sz="2400" dirty="0"/>
              <a:t>Generate shopping list, modify list if store is out of some item</a:t>
            </a:r>
          </a:p>
          <a:p>
            <a:pPr lvl="1"/>
            <a:r>
              <a:rPr lang="en-US" sz="2000" dirty="0"/>
              <a:t>Goal-based agent: required; what happens when a needed item is not there? Achieve the goal some other way. e.g., no milk cartons: get canned milk or powdered milk.</a:t>
            </a:r>
          </a:p>
          <a:p>
            <a:r>
              <a:rPr lang="en-US" sz="2400" dirty="0"/>
              <a:t>Choosing among alternative brands</a:t>
            </a:r>
          </a:p>
          <a:p>
            <a:pPr lvl="1"/>
            <a:r>
              <a:rPr lang="en-US" sz="2000" dirty="0"/>
              <a:t>Utility-based agent: trade off quality for price</a:t>
            </a:r>
          </a:p>
        </p:txBody>
      </p:sp>
    </p:spTree>
    <p:extLst>
      <p:ext uri="{BB962C8B-B14F-4D97-AF65-F5344CB8AC3E}">
        <p14:creationId xmlns:p14="http://schemas.microsoft.com/office/powerpoint/2010/main" val="221153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e_1genr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254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e_1genr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_1genr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_1genr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_1genr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_1genr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_1genr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_1genr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research</Template>
  <TotalTime>10439</TotalTime>
  <Words>1806</Words>
  <Application>Microsoft Office PowerPoint</Application>
  <PresentationFormat>On-screen Show (4:3)</PresentationFormat>
  <Paragraphs>284</Paragraphs>
  <Slides>43</Slides>
  <Notes>30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MS PGothic</vt:lpstr>
      <vt:lpstr>MS PGothic</vt:lpstr>
      <vt:lpstr>SimSun</vt:lpstr>
      <vt:lpstr>Arial</vt:lpstr>
      <vt:lpstr>Google Sans</vt:lpstr>
      <vt:lpstr>Goudy Stout</vt:lpstr>
      <vt:lpstr>Monotype Sorts</vt:lpstr>
      <vt:lpstr>Times New Roman</vt:lpstr>
      <vt:lpstr>e_1genrl</vt:lpstr>
      <vt:lpstr>Artificial Intelligence    </vt:lpstr>
      <vt:lpstr>Outline</vt:lpstr>
      <vt:lpstr>Concept of Rationality</vt:lpstr>
      <vt:lpstr>Rational</vt:lpstr>
      <vt:lpstr>Rational Person</vt:lpstr>
      <vt:lpstr>Rationality</vt:lpstr>
      <vt:lpstr>Rationality</vt:lpstr>
      <vt:lpstr>Rationality</vt:lpstr>
      <vt:lpstr>Rational Agents</vt:lpstr>
      <vt:lpstr>Agent</vt:lpstr>
      <vt:lpstr>Agent</vt:lpstr>
      <vt:lpstr>Agent</vt:lpstr>
      <vt:lpstr>Some Applications of intelligent agents</vt:lpstr>
      <vt:lpstr>Agent Terminologies</vt:lpstr>
      <vt:lpstr>Agent Terminologies</vt:lpstr>
      <vt:lpstr>Rational Agent</vt:lpstr>
      <vt:lpstr>Rational Agent</vt:lpstr>
      <vt:lpstr>Rational Agent</vt:lpstr>
      <vt:lpstr>Rational Agent</vt:lpstr>
      <vt:lpstr>Rational Agent</vt:lpstr>
      <vt:lpstr>Rational Agent</vt:lpstr>
      <vt:lpstr>Example1: Taxi driver example</vt:lpstr>
      <vt:lpstr>Example 2: Medical Diagnosis System</vt:lpstr>
      <vt:lpstr>Why Rational Agents?</vt:lpstr>
      <vt:lpstr>Why Rational Agents?</vt:lpstr>
      <vt:lpstr>Why Rational Agents?</vt:lpstr>
      <vt:lpstr>Agent and Environment</vt:lpstr>
      <vt:lpstr>Agent and Environment</vt:lpstr>
      <vt:lpstr>Agent and Environment</vt:lpstr>
      <vt:lpstr>Properties of Task Environment</vt:lpstr>
      <vt:lpstr>Contd..</vt:lpstr>
      <vt:lpstr>Example 1: Taxi Driver</vt:lpstr>
      <vt:lpstr>Example 2: Chess with a clock</vt:lpstr>
      <vt:lpstr>Structure of Intelligent Agents</vt:lpstr>
      <vt:lpstr>Types of Agents</vt:lpstr>
      <vt:lpstr>Types of Agents</vt:lpstr>
      <vt:lpstr>Simple Reflex (reaction/response) Agents</vt:lpstr>
      <vt:lpstr>Contd..</vt:lpstr>
      <vt:lpstr>Model-based reflex agents</vt:lpstr>
      <vt:lpstr>Goal Based Agents</vt:lpstr>
      <vt:lpstr>Utility Based Agents</vt:lpstr>
      <vt:lpstr>Learning Agent</vt:lpstr>
      <vt:lpstr>Which type of shopping agent will be best?</vt:lpstr>
    </vt:vector>
  </TitlesOfParts>
  <Company>Rensselaer</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Algebra</dc:title>
  <dc:creator>student</dc:creator>
  <cp:lastModifiedBy>hp</cp:lastModifiedBy>
  <cp:revision>348</cp:revision>
  <dcterms:created xsi:type="dcterms:W3CDTF">2007-01-18T14:32:37Z</dcterms:created>
  <dcterms:modified xsi:type="dcterms:W3CDTF">2025-02-20T09:01:03Z</dcterms:modified>
</cp:coreProperties>
</file>