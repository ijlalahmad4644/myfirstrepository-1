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4"/>
  </p:sldMasterIdLst>
  <p:notesMasterIdLst>
    <p:notesMasterId r:id="rId27"/>
  </p:notesMasterIdLst>
  <p:handoutMasterIdLst>
    <p:handoutMasterId r:id="rId28"/>
  </p:handoutMasterIdLst>
  <p:sldIdLst>
    <p:sldId id="317" r:id="rId5"/>
    <p:sldId id="309" r:id="rId6"/>
    <p:sldId id="318" r:id="rId7"/>
    <p:sldId id="321" r:id="rId8"/>
    <p:sldId id="338" r:id="rId9"/>
    <p:sldId id="319" r:id="rId10"/>
    <p:sldId id="320" r:id="rId11"/>
    <p:sldId id="322" r:id="rId12"/>
    <p:sldId id="328" r:id="rId13"/>
    <p:sldId id="329" r:id="rId14"/>
    <p:sldId id="327" r:id="rId15"/>
    <p:sldId id="323" r:id="rId16"/>
    <p:sldId id="324" r:id="rId17"/>
    <p:sldId id="325" r:id="rId18"/>
    <p:sldId id="326" r:id="rId19"/>
    <p:sldId id="334" r:id="rId20"/>
    <p:sldId id="330" r:id="rId21"/>
    <p:sldId id="333" r:id="rId22"/>
    <p:sldId id="331" r:id="rId23"/>
    <p:sldId id="332" r:id="rId24"/>
    <p:sldId id="335" r:id="rId25"/>
    <p:sldId id="33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94" autoAdjust="0"/>
    <p:restoredTop sz="95405" autoAdjust="0"/>
  </p:normalViewPr>
  <p:slideViewPr>
    <p:cSldViewPr snapToGrid="0">
      <p:cViewPr varScale="1">
        <p:scale>
          <a:sx n="65" d="100"/>
          <a:sy n="65" d="100"/>
        </p:scale>
        <p:origin x="690" y="78"/>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2/13/2025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2/13/2025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3074427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24805381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11696914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32640876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20280819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6319166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32477669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32614381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15</a:t>
            </a:fld>
            <a:endParaRPr lang="en-US" noProof="0" dirty="0"/>
          </a:p>
        </p:txBody>
      </p:sp>
    </p:spTree>
    <p:extLst>
      <p:ext uri="{BB962C8B-B14F-4D97-AF65-F5344CB8AC3E}">
        <p14:creationId xmlns:p14="http://schemas.microsoft.com/office/powerpoint/2010/main" val="6877810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17</a:t>
            </a:fld>
            <a:endParaRPr lang="en-US" noProof="0" dirty="0"/>
          </a:p>
        </p:txBody>
      </p:sp>
    </p:spTree>
    <p:extLst>
      <p:ext uri="{BB962C8B-B14F-4D97-AF65-F5344CB8AC3E}">
        <p14:creationId xmlns:p14="http://schemas.microsoft.com/office/powerpoint/2010/main" val="10374805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19</a:t>
            </a:fld>
            <a:endParaRPr lang="en-US" noProof="0" dirty="0"/>
          </a:p>
        </p:txBody>
      </p:sp>
    </p:spTree>
    <p:extLst>
      <p:ext uri="{BB962C8B-B14F-4D97-AF65-F5344CB8AC3E}">
        <p14:creationId xmlns:p14="http://schemas.microsoft.com/office/powerpoint/2010/main" val="29279236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21</a:t>
            </a:fld>
            <a:endParaRPr lang="en-US" noProof="0" dirty="0"/>
          </a:p>
        </p:txBody>
      </p:sp>
    </p:spTree>
    <p:extLst>
      <p:ext uri="{BB962C8B-B14F-4D97-AF65-F5344CB8AC3E}">
        <p14:creationId xmlns:p14="http://schemas.microsoft.com/office/powerpoint/2010/main" val="24752789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22</a:t>
            </a:fld>
            <a:endParaRPr lang="en-US" noProof="0" dirty="0"/>
          </a:p>
        </p:txBody>
      </p:sp>
    </p:spTree>
    <p:extLst>
      <p:ext uri="{BB962C8B-B14F-4D97-AF65-F5344CB8AC3E}">
        <p14:creationId xmlns:p14="http://schemas.microsoft.com/office/powerpoint/2010/main" val="1630115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dirty="0"/>
              <a:t>Click icon to add picture</a:t>
            </a:r>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 xmlns:adec="http://schemas.microsoft.com/office/drawing/2017/decorative" val="1"/>
              </a:ext>
            </a:extLst>
          </p:cNvPr>
          <p:cNvPicPr>
            <a:picLocks noChangeAspect="1"/>
          </p:cNvPicPr>
          <p:nvPr userDrawn="1"/>
        </p:nvPicPr>
        <p:blipFill>
          <a:blip r:embed="rId2">
            <a:alphaModFix/>
            <a:extLst>
              <a:ext uri="{96DAC541-7B7A-43D3-8B79-37D633B846F1}">
                <asvg:svgBlip xmlns=""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reeform 6">
            <a:extLst>
              <a:ext uri="{FF2B5EF4-FFF2-40B4-BE49-F238E27FC236}">
                <a16:creationId xmlns:a16="http://schemas.microsoft.com/office/drawing/2014/main" id="{A3F1B258-8FBC-06A8-3A1F-466CEEDBBEF2}"/>
              </a:ext>
              <a:ext uri="{C183D7F6-B498-43B3-948B-1728B52AA6E4}">
                <adec:decorative xmlns=""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dirty="0"/>
              <a:t>Click icon to add picture</a:t>
            </a:r>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endParaRPr lang="en-US"/>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3362632"/>
          </a:xfrm>
        </p:spPr>
        <p:txBody>
          <a:bodyPr anchor="ctr"/>
          <a:lstStyle/>
          <a:p>
            <a:r>
              <a:rPr lang="en-US" sz="5400" b="1" dirty="0" smtClean="0">
                <a:latin typeface="Arial Black" panose="020B0A04020102020204" pitchFamily="34" charset="0"/>
              </a:rPr>
              <a:t>Network Cables</a:t>
            </a:r>
            <a:endParaRPr lang="en-US" sz="5400" b="1" dirty="0">
              <a:latin typeface="Arial Black" panose="020B0A04020102020204" pitchFamily="34" charset="0"/>
            </a:endParaRP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914400"/>
          </a:xfrm>
        </p:spPr>
        <p:txBody>
          <a:bodyPr/>
          <a:lstStyle/>
          <a:p>
            <a:pPr algn="ctr"/>
            <a:r>
              <a:rPr lang="en-US" sz="3200" dirty="0" smtClean="0">
                <a:latin typeface="Arial Black" panose="020B0A04020102020204" pitchFamily="34" charset="0"/>
              </a:rPr>
              <a:t>Network cables</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1302387"/>
            <a:ext cx="11631759" cy="4198761"/>
          </a:xfrm>
        </p:spPr>
        <p:txBody>
          <a:bodyPr>
            <a:normAutofit/>
          </a:bodyPr>
          <a:lstStyle/>
          <a:p>
            <a:pPr algn="just"/>
            <a:r>
              <a:rPr lang="en-US" sz="2400" dirty="0">
                <a:latin typeface="Arial Black" panose="020B0A04020102020204" pitchFamily="34" charset="0"/>
              </a:rPr>
              <a:t>Network cables are physical media used to connect computers, servers, switches, and other network devices to transfer data between them. They are a fundamental component of wired network infrastructures. There are several types of network cables, each designed for specific purposes and use case. </a:t>
            </a:r>
            <a:r>
              <a:rPr lang="en-US" sz="2400" dirty="0" smtClean="0">
                <a:latin typeface="Arial Black" panose="020B0A04020102020204" pitchFamily="34" charset="0"/>
              </a:rPr>
              <a:t>Following are the most common types of Network Cables:</a:t>
            </a:r>
          </a:p>
          <a:p>
            <a:pPr lvl="2"/>
            <a:r>
              <a:rPr lang="en-US" sz="2400" dirty="0" smtClean="0">
                <a:solidFill>
                  <a:srgbClr val="FF0000"/>
                </a:solidFill>
                <a:latin typeface="Arial Black" panose="020B0A04020102020204" pitchFamily="34" charset="0"/>
              </a:rPr>
              <a:t>Twisted Pair Cables</a:t>
            </a:r>
          </a:p>
          <a:p>
            <a:pPr lvl="2"/>
            <a:r>
              <a:rPr lang="en-US" sz="2400" dirty="0">
                <a:solidFill>
                  <a:srgbClr val="FF0000"/>
                </a:solidFill>
                <a:latin typeface="Arial Black" panose="020B0A04020102020204" pitchFamily="34" charset="0"/>
              </a:rPr>
              <a:t>Coaxial </a:t>
            </a:r>
            <a:r>
              <a:rPr lang="en-US" sz="2400" dirty="0" smtClean="0">
                <a:solidFill>
                  <a:srgbClr val="FF0000"/>
                </a:solidFill>
                <a:latin typeface="Arial Black" panose="020B0A04020102020204" pitchFamily="34" charset="0"/>
              </a:rPr>
              <a:t>Cables</a:t>
            </a:r>
          </a:p>
          <a:p>
            <a:pPr lvl="2"/>
            <a:r>
              <a:rPr lang="en-US" sz="2400" dirty="0" smtClean="0">
                <a:solidFill>
                  <a:srgbClr val="FF0000"/>
                </a:solidFill>
                <a:latin typeface="Arial Black" panose="020B0A04020102020204" pitchFamily="34" charset="0"/>
              </a:rPr>
              <a:t>Fiber Optic Cables</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a:t>
            </a:fld>
            <a:endParaRPr lang="en-US" dirty="0"/>
          </a:p>
        </p:txBody>
      </p:sp>
    </p:spTree>
    <p:extLst>
      <p:ext uri="{BB962C8B-B14F-4D97-AF65-F5344CB8AC3E}">
        <p14:creationId xmlns:p14="http://schemas.microsoft.com/office/powerpoint/2010/main" val="1966913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544026"/>
          </a:xfrm>
        </p:spPr>
        <p:txBody>
          <a:bodyPr/>
          <a:lstStyle/>
          <a:p>
            <a:pPr algn="ctr"/>
            <a:r>
              <a:rPr lang="en-US" sz="3200" dirty="0" smtClean="0">
                <a:latin typeface="Arial Black" panose="020B0A04020102020204" pitchFamily="34" charset="0"/>
              </a:rPr>
              <a:t>Twisted Pair Cables</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809497"/>
            <a:ext cx="11631759" cy="5473316"/>
          </a:xfrm>
        </p:spPr>
        <p:txBody>
          <a:bodyPr>
            <a:normAutofit/>
          </a:bodyPr>
          <a:lstStyle/>
          <a:p>
            <a:pPr algn="just"/>
            <a:r>
              <a:rPr lang="en-US" sz="2400" dirty="0">
                <a:latin typeface="Arial Black" panose="020B0A04020102020204" pitchFamily="34" charset="0"/>
              </a:rPr>
              <a:t>A twisted pair cable is a type of wiring where two conductors are twisted together to cancel out electromagnetic interference (EMI) from external sources, such as electromagnetic radiation from other cables and noise from other electronic devices. </a:t>
            </a:r>
            <a:endParaRPr lang="en-US" sz="2400" dirty="0" smtClean="0">
              <a:latin typeface="Arial Black" panose="020B0A04020102020204" pitchFamily="34" charset="0"/>
            </a:endParaRPr>
          </a:p>
          <a:p>
            <a:pPr algn="just"/>
            <a:r>
              <a:rPr lang="en-US" sz="2400" dirty="0">
                <a:latin typeface="Arial Black" panose="020B0A04020102020204" pitchFamily="34" charset="0"/>
              </a:rPr>
              <a:t>Twisting the wires reduces interference and crosstalk, improving the quality and speed of data transmission over longer distances.</a:t>
            </a:r>
            <a:endParaRPr lang="en-US" sz="2400" dirty="0" smtClean="0">
              <a:latin typeface="Arial Black" panose="020B0A04020102020204" pitchFamily="34" charset="0"/>
            </a:endParaRPr>
          </a:p>
          <a:p>
            <a:pPr algn="just"/>
            <a:r>
              <a:rPr lang="en-US" sz="2400" dirty="0" smtClean="0">
                <a:latin typeface="Arial Black" panose="020B0A04020102020204" pitchFamily="34" charset="0"/>
              </a:rPr>
              <a:t>Twisted </a:t>
            </a:r>
            <a:r>
              <a:rPr lang="en-US" sz="2400" dirty="0">
                <a:latin typeface="Arial Black" panose="020B0A04020102020204" pitchFamily="34" charset="0"/>
              </a:rPr>
              <a:t>pair cables are commonly used in telecommunication and networking to transmit data</a:t>
            </a:r>
            <a:r>
              <a:rPr lang="en-US" sz="2400" dirty="0" smtClean="0">
                <a:latin typeface="Arial Black" panose="020B0A04020102020204" pitchFamily="34" charset="0"/>
              </a:rPr>
              <a:t>.</a:t>
            </a:r>
          </a:p>
          <a:p>
            <a:pPr algn="just"/>
            <a:r>
              <a:rPr lang="en-US" sz="2400" dirty="0">
                <a:solidFill>
                  <a:srgbClr val="FF0000"/>
                </a:solidFill>
                <a:latin typeface="Arial Black" panose="020B0A04020102020204" pitchFamily="34" charset="0"/>
              </a:rPr>
              <a:t>There are two main types</a:t>
            </a:r>
            <a:r>
              <a:rPr lang="en-US" sz="2400" dirty="0" smtClean="0">
                <a:solidFill>
                  <a:srgbClr val="FF0000"/>
                </a:solidFill>
                <a:latin typeface="Arial Black" panose="020B0A04020102020204" pitchFamily="34" charset="0"/>
              </a:rPr>
              <a:t>:</a:t>
            </a:r>
          </a:p>
          <a:p>
            <a:pPr lvl="1" algn="just"/>
            <a:r>
              <a:rPr lang="en-US" sz="2200" dirty="0" smtClean="0">
                <a:latin typeface="Arial Black" panose="020B0A04020102020204" pitchFamily="34" charset="0"/>
              </a:rPr>
              <a:t>Unshielded </a:t>
            </a:r>
            <a:r>
              <a:rPr lang="en-US" sz="2200" dirty="0">
                <a:latin typeface="Arial Black" panose="020B0A04020102020204" pitchFamily="34" charset="0"/>
              </a:rPr>
              <a:t>Twisted Pair (UTP): The most common form, used in Ethernet cables (like </a:t>
            </a:r>
            <a:r>
              <a:rPr lang="en-US" sz="2200" dirty="0" smtClean="0">
                <a:latin typeface="Arial Black" panose="020B0A04020102020204" pitchFamily="34" charset="0"/>
              </a:rPr>
              <a:t>Cat5e</a:t>
            </a:r>
            <a:r>
              <a:rPr lang="en-US" sz="2200" dirty="0">
                <a:latin typeface="Arial Black" panose="020B0A04020102020204" pitchFamily="34" charset="0"/>
              </a:rPr>
              <a:t>, Cat6), telephone lines, and other data transmission applications</a:t>
            </a:r>
            <a:r>
              <a:rPr lang="en-US" sz="2200" dirty="0" smtClean="0">
                <a:latin typeface="Arial Black" panose="020B0A04020102020204" pitchFamily="34" charset="0"/>
              </a:rPr>
              <a:t>.</a:t>
            </a:r>
          </a:p>
          <a:p>
            <a:pPr lvl="1" algn="just"/>
            <a:r>
              <a:rPr lang="en-US" sz="2200" dirty="0" smtClean="0">
                <a:latin typeface="Arial Black" panose="020B0A04020102020204" pitchFamily="34" charset="0"/>
              </a:rPr>
              <a:t>Shielded </a:t>
            </a:r>
            <a:r>
              <a:rPr lang="en-US" sz="2200" dirty="0">
                <a:latin typeface="Arial Black" panose="020B0A04020102020204" pitchFamily="34" charset="0"/>
              </a:rPr>
              <a:t>Twisted Pair (STP): Includes additional shielding to protect against EMI, offering better performance in environments with high interference.</a:t>
            </a:r>
            <a:endParaRPr lang="en-US" sz="2200"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3</a:t>
            </a:fld>
            <a:endParaRPr lang="en-US" dirty="0"/>
          </a:p>
        </p:txBody>
      </p:sp>
    </p:spTree>
    <p:extLst>
      <p:ext uri="{BB962C8B-B14F-4D97-AF65-F5344CB8AC3E}">
        <p14:creationId xmlns:p14="http://schemas.microsoft.com/office/powerpoint/2010/main" val="34114942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6050083" y="693173"/>
            <a:ext cx="5965133" cy="5353666"/>
          </a:xfrm>
          <a:prstGeom prst="rect">
            <a:avLst/>
          </a:prstGeom>
        </p:spPr>
      </p:pic>
      <p:pic>
        <p:nvPicPr>
          <p:cNvPr id="6" name="Content Placeholder 5"/>
          <p:cNvPicPr>
            <a:picLocks noGrp="1" noChangeAspect="1"/>
          </p:cNvPicPr>
          <p:nvPr>
            <p:ph sz="quarter" idx="13"/>
          </p:nvPr>
        </p:nvPicPr>
        <p:blipFill>
          <a:blip r:embed="rId3"/>
          <a:stretch>
            <a:fillRect/>
          </a:stretch>
        </p:blipFill>
        <p:spPr>
          <a:xfrm>
            <a:off x="280219" y="693174"/>
            <a:ext cx="5663381" cy="5353665"/>
          </a:xfrm>
          <a:prstGeom prst="rect">
            <a:avLst/>
          </a:prstGeom>
        </p:spPr>
      </p:pic>
      <p:sp>
        <p:nvSpPr>
          <p:cNvPr id="5" name="Slide Number Placeholder 4"/>
          <p:cNvSpPr>
            <a:spLocks noGrp="1"/>
          </p:cNvSpPr>
          <p:nvPr>
            <p:ph type="sldNum" sz="quarter" idx="4"/>
          </p:nvPr>
        </p:nvSpPr>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27294566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p:txBody>
          <a:bodyPr/>
          <a:lstStyle/>
          <a:p>
            <a:fld id="{58FB4751-880F-D840-AAA9-3A15815CC996}" type="slidenum">
              <a:rPr lang="en-US" smtClean="0"/>
              <a:pPr/>
              <a:t>5</a:t>
            </a:fld>
            <a:endParaRPr lang="en-US" dirty="0"/>
          </a:p>
        </p:txBody>
      </p:sp>
      <p:pic>
        <p:nvPicPr>
          <p:cNvPr id="3" name="Content Placeholder 2"/>
          <p:cNvPicPr>
            <a:picLocks noGrp="1" noChangeAspect="1"/>
          </p:cNvPicPr>
          <p:nvPr>
            <p:ph sz="quarter" idx="13"/>
          </p:nvPr>
        </p:nvPicPr>
        <p:blipFill>
          <a:blip r:embed="rId2"/>
          <a:stretch>
            <a:fillRect/>
          </a:stretch>
        </p:blipFill>
        <p:spPr>
          <a:xfrm>
            <a:off x="1047135" y="752169"/>
            <a:ext cx="9542207" cy="5324167"/>
          </a:xfrm>
          <a:prstGeom prst="rect">
            <a:avLst/>
          </a:prstGeom>
        </p:spPr>
      </p:pic>
    </p:spTree>
    <p:extLst>
      <p:ext uri="{BB962C8B-B14F-4D97-AF65-F5344CB8AC3E}">
        <p14:creationId xmlns:p14="http://schemas.microsoft.com/office/powerpoint/2010/main" val="29650502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1371599" y="103239"/>
            <a:ext cx="9217741" cy="706258"/>
          </a:xfrm>
        </p:spPr>
        <p:txBody>
          <a:bodyPr/>
          <a:lstStyle/>
          <a:p>
            <a:pPr algn="ctr"/>
            <a:r>
              <a:rPr lang="en-US" dirty="0">
                <a:latin typeface="Arial Black" panose="020B0A04020102020204" pitchFamily="34" charset="0"/>
              </a:rPr>
              <a:t>Twisted Pair Ethernet Cable </a:t>
            </a:r>
            <a:r>
              <a:rPr lang="en-US" dirty="0" smtClean="0">
                <a:latin typeface="Arial Black" panose="020B0A04020102020204" pitchFamily="34" charset="0"/>
              </a:rPr>
              <a:t>Categories</a:t>
            </a:r>
            <a:endParaRPr lang="en-US" dirty="0">
              <a:latin typeface="Arial Black" panose="020B0A04020102020204" pitchFamily="34" charset="0"/>
            </a:endParaRPr>
          </a:p>
        </p:txBody>
      </p:sp>
      <p:graphicFrame>
        <p:nvGraphicFramePr>
          <p:cNvPr id="2" name="Content Placeholder 1"/>
          <p:cNvGraphicFramePr>
            <a:graphicFrameLocks noGrp="1"/>
          </p:cNvGraphicFramePr>
          <p:nvPr>
            <p:ph sz="quarter" idx="10"/>
            <p:extLst>
              <p:ext uri="{D42A27DB-BD31-4B8C-83A1-F6EECF244321}">
                <p14:modId xmlns:p14="http://schemas.microsoft.com/office/powerpoint/2010/main" val="195743880"/>
              </p:ext>
            </p:extLst>
          </p:nvPr>
        </p:nvGraphicFramePr>
        <p:xfrm>
          <a:off x="147483" y="809497"/>
          <a:ext cx="11867733" cy="5582920"/>
        </p:xfrm>
        <a:graphic>
          <a:graphicData uri="http://schemas.openxmlformats.org/drawingml/2006/table">
            <a:tbl>
              <a:tblPr firstRow="1" bandRow="1">
                <a:tableStyleId>{72833802-FEF1-4C79-8D5D-14CF1EAF98D9}</a:tableStyleId>
              </a:tblPr>
              <a:tblGrid>
                <a:gridCol w="1188626">
                  <a:extLst>
                    <a:ext uri="{9D8B030D-6E8A-4147-A177-3AD203B41FA5}">
                      <a16:colId xmlns:a16="http://schemas.microsoft.com/office/drawing/2014/main" val="3431485053"/>
                    </a:ext>
                  </a:extLst>
                </a:gridCol>
                <a:gridCol w="2452788">
                  <a:extLst>
                    <a:ext uri="{9D8B030D-6E8A-4147-A177-3AD203B41FA5}">
                      <a16:colId xmlns:a16="http://schemas.microsoft.com/office/drawing/2014/main" val="3515600552"/>
                    </a:ext>
                  </a:extLst>
                </a:gridCol>
                <a:gridCol w="1655255">
                  <a:extLst>
                    <a:ext uri="{9D8B030D-6E8A-4147-A177-3AD203B41FA5}">
                      <a16:colId xmlns:a16="http://schemas.microsoft.com/office/drawing/2014/main" val="2281535005"/>
                    </a:ext>
                  </a:extLst>
                </a:gridCol>
                <a:gridCol w="2001355">
                  <a:extLst>
                    <a:ext uri="{9D8B030D-6E8A-4147-A177-3AD203B41FA5}">
                      <a16:colId xmlns:a16="http://schemas.microsoft.com/office/drawing/2014/main" val="3793834167"/>
                    </a:ext>
                  </a:extLst>
                </a:gridCol>
                <a:gridCol w="2302310">
                  <a:extLst>
                    <a:ext uri="{9D8B030D-6E8A-4147-A177-3AD203B41FA5}">
                      <a16:colId xmlns:a16="http://schemas.microsoft.com/office/drawing/2014/main" val="2892502136"/>
                    </a:ext>
                  </a:extLst>
                </a:gridCol>
                <a:gridCol w="2267399">
                  <a:extLst>
                    <a:ext uri="{9D8B030D-6E8A-4147-A177-3AD203B41FA5}">
                      <a16:colId xmlns:a16="http://schemas.microsoft.com/office/drawing/2014/main" val="1896568191"/>
                    </a:ext>
                  </a:extLst>
                </a:gridCol>
              </a:tblGrid>
              <a:tr h="370840">
                <a:tc>
                  <a:txBody>
                    <a:bodyPr/>
                    <a:lstStyle/>
                    <a:p>
                      <a:r>
                        <a:rPr lang="en-US" dirty="0" smtClean="0"/>
                        <a:t>Category</a:t>
                      </a:r>
                      <a:endParaRPr lang="en-US" dirty="0"/>
                    </a:p>
                  </a:txBody>
                  <a:tcPr/>
                </a:tc>
                <a:tc>
                  <a:txBody>
                    <a:bodyPr/>
                    <a:lstStyle/>
                    <a:p>
                      <a:r>
                        <a:rPr lang="en-US" dirty="0" smtClean="0"/>
                        <a:t>MAX Speed</a:t>
                      </a:r>
                      <a:endParaRPr lang="en-US" dirty="0"/>
                    </a:p>
                  </a:txBody>
                  <a:tcPr/>
                </a:tc>
                <a:tc>
                  <a:txBody>
                    <a:bodyPr/>
                    <a:lstStyle/>
                    <a:p>
                      <a:r>
                        <a:rPr lang="en-US" dirty="0" smtClean="0"/>
                        <a:t>Bandwidth</a:t>
                      </a:r>
                      <a:endParaRPr lang="en-US" dirty="0"/>
                    </a:p>
                  </a:txBody>
                  <a:tcPr/>
                </a:tc>
                <a:tc>
                  <a:txBody>
                    <a:bodyPr/>
                    <a:lstStyle/>
                    <a:p>
                      <a:r>
                        <a:rPr lang="en-US" dirty="0" smtClean="0"/>
                        <a:t>MAX Distance</a:t>
                      </a:r>
                      <a:endParaRPr lang="en-US" dirty="0"/>
                    </a:p>
                  </a:txBody>
                  <a:tcPr/>
                </a:tc>
                <a:tc>
                  <a:txBody>
                    <a:bodyPr/>
                    <a:lstStyle/>
                    <a:p>
                      <a:r>
                        <a:rPr lang="en-US" dirty="0" smtClean="0"/>
                        <a:t>Cable Types</a:t>
                      </a:r>
                      <a:endParaRPr lang="en-US" dirty="0"/>
                    </a:p>
                  </a:txBody>
                  <a:tcPr/>
                </a:tc>
                <a:tc>
                  <a:txBody>
                    <a:bodyPr/>
                    <a:lstStyle/>
                    <a:p>
                      <a:r>
                        <a:rPr lang="en-US" dirty="0" smtClean="0"/>
                        <a:t>Use Case</a:t>
                      </a:r>
                      <a:endParaRPr lang="en-US" dirty="0"/>
                    </a:p>
                  </a:txBody>
                  <a:tcPr/>
                </a:tc>
                <a:extLst>
                  <a:ext uri="{0D108BD9-81ED-4DB2-BD59-A6C34878D82A}">
                    <a16:rowId xmlns:a16="http://schemas.microsoft.com/office/drawing/2014/main" val="1247928187"/>
                  </a:ext>
                </a:extLst>
              </a:tr>
              <a:tr h="370840">
                <a:tc>
                  <a:txBody>
                    <a:bodyPr/>
                    <a:lstStyle/>
                    <a:p>
                      <a:r>
                        <a:rPr lang="en-US" dirty="0" smtClean="0"/>
                        <a:t>Cat3		</a:t>
                      </a:r>
                      <a:endParaRPr lang="en-US" dirty="0"/>
                    </a:p>
                  </a:txBody>
                  <a:tcPr/>
                </a:tc>
                <a:tc>
                  <a:txBody>
                    <a:bodyPr/>
                    <a:lstStyle/>
                    <a:p>
                      <a:r>
                        <a:rPr lang="en-US" dirty="0" smtClean="0"/>
                        <a:t>10 Mbps (Ethernet)</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16 MHz	</a:t>
                      </a:r>
                    </a:p>
                    <a:p>
                      <a:endParaRPr lang="en-US" dirty="0"/>
                    </a:p>
                  </a:txBody>
                  <a:tcPr/>
                </a:tc>
                <a:tc>
                  <a:txBody>
                    <a:bodyPr/>
                    <a:lstStyle/>
                    <a:p>
                      <a:r>
                        <a:rPr lang="en-US" dirty="0" smtClean="0"/>
                        <a:t>100 meters	</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Unshielded Twisted Pair (UTP)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Early Ethernet, legacy telephone systems</a:t>
                      </a:r>
                    </a:p>
                    <a:p>
                      <a:endParaRPr lang="en-US" dirty="0"/>
                    </a:p>
                  </a:txBody>
                  <a:tcPr/>
                </a:tc>
                <a:extLst>
                  <a:ext uri="{0D108BD9-81ED-4DB2-BD59-A6C34878D82A}">
                    <a16:rowId xmlns:a16="http://schemas.microsoft.com/office/drawing/2014/main" val="3818530093"/>
                  </a:ext>
                </a:extLst>
              </a:tr>
              <a:tr h="370840">
                <a:tc>
                  <a:txBody>
                    <a:bodyPr/>
                    <a:lstStyle/>
                    <a:p>
                      <a:r>
                        <a:rPr kumimoji="0" lang="en-US" sz="1800" b="0" i="0" u="none" strike="noStrike" kern="1200" cap="none" spc="0" normalizeH="0" baseline="0" noProof="0" dirty="0" smtClean="0">
                          <a:ln>
                            <a:noFill/>
                          </a:ln>
                          <a:solidFill>
                            <a:srgbClr val="543E34"/>
                          </a:solidFill>
                          <a:effectLst/>
                          <a:uLnTx/>
                          <a:uFillTx/>
                          <a:latin typeface="Gill Sans Nova Light"/>
                          <a:ea typeface="+mn-ea"/>
                          <a:cs typeface="+mn-cs"/>
                        </a:rPr>
                        <a:t>Cat5</a:t>
                      </a:r>
                      <a:endParaRPr lang="en-US" dirty="0"/>
                    </a:p>
                  </a:txBody>
                  <a:tcPr/>
                </a:tc>
                <a:tc>
                  <a:txBody>
                    <a:bodyPr/>
                    <a:lstStyle/>
                    <a:p>
                      <a:r>
                        <a:rPr lang="en-US" dirty="0" smtClean="0"/>
                        <a:t>100 Mbps (Fast Ethernet)</a:t>
                      </a:r>
                      <a:endParaRPr lang="en-US" dirty="0"/>
                    </a:p>
                  </a:txBody>
                  <a:tcPr/>
                </a:tc>
                <a:tc>
                  <a:txBody>
                    <a:bodyPr/>
                    <a:lstStyle/>
                    <a:p>
                      <a:r>
                        <a:rPr lang="en-US" dirty="0" smtClean="0"/>
                        <a:t>100 MHZ</a:t>
                      </a:r>
                      <a:endParaRPr lang="en-US" dirty="0"/>
                    </a:p>
                  </a:txBody>
                  <a:tcPr/>
                </a:tc>
                <a:tc>
                  <a:txBody>
                    <a:bodyPr/>
                    <a:lstStyle/>
                    <a:p>
                      <a:r>
                        <a:rPr lang="en-US" dirty="0" smtClean="0"/>
                        <a:t>100 meters	</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Unshielded Twisted Pair (UTP)	</a:t>
                      </a:r>
                    </a:p>
                  </a:txBody>
                  <a:tcPr/>
                </a:tc>
                <a:tc>
                  <a:txBody>
                    <a:bodyPr/>
                    <a:lstStyle/>
                    <a:p>
                      <a:r>
                        <a:rPr lang="en-US" dirty="0" smtClean="0"/>
                        <a:t>Legacy Ethernet networks</a:t>
                      </a:r>
                      <a:endParaRPr lang="en-US" dirty="0"/>
                    </a:p>
                  </a:txBody>
                  <a:tcPr/>
                </a:tc>
                <a:extLst>
                  <a:ext uri="{0D108BD9-81ED-4DB2-BD59-A6C34878D82A}">
                    <a16:rowId xmlns:a16="http://schemas.microsoft.com/office/drawing/2014/main" val="14579913"/>
                  </a:ext>
                </a:extLst>
              </a:tr>
              <a:tr h="370840">
                <a:tc>
                  <a:txBody>
                    <a:bodyPr/>
                    <a:lstStyle/>
                    <a:p>
                      <a:r>
                        <a:rPr kumimoji="0" lang="en-US" sz="1800" b="0" i="0" u="none" strike="noStrike" kern="1200" cap="none" spc="0" normalizeH="0" baseline="0" noProof="0" dirty="0" smtClean="0">
                          <a:ln>
                            <a:noFill/>
                          </a:ln>
                          <a:solidFill>
                            <a:srgbClr val="543E34"/>
                          </a:solidFill>
                          <a:effectLst/>
                          <a:uLnTx/>
                          <a:uFillTx/>
                          <a:latin typeface="Gill Sans Nova Light"/>
                          <a:ea typeface="+mn-ea"/>
                          <a:cs typeface="+mn-cs"/>
                        </a:rPr>
                        <a:t>Cat5 e</a:t>
                      </a:r>
                      <a:endParaRPr lang="en-US" dirty="0"/>
                    </a:p>
                  </a:txBody>
                  <a:tcPr/>
                </a:tc>
                <a:tc>
                  <a:txBody>
                    <a:bodyPr/>
                    <a:lstStyle/>
                    <a:p>
                      <a:r>
                        <a:rPr lang="en-US" dirty="0" smtClean="0"/>
                        <a:t>1 Gbps (Gigabit Ethernet)</a:t>
                      </a:r>
                      <a:endParaRPr lang="en-US" dirty="0"/>
                    </a:p>
                  </a:txBody>
                  <a:tcPr/>
                </a:tc>
                <a:tc>
                  <a:txBody>
                    <a:bodyPr/>
                    <a:lstStyle/>
                    <a:p>
                      <a:r>
                        <a:rPr lang="en-US" dirty="0" smtClean="0"/>
                        <a:t>100 MHZ</a:t>
                      </a:r>
                      <a:endParaRPr lang="en-US" dirty="0"/>
                    </a:p>
                  </a:txBody>
                  <a:tcPr/>
                </a:tc>
                <a:tc>
                  <a:txBody>
                    <a:bodyPr/>
                    <a:lstStyle/>
                    <a:p>
                      <a:r>
                        <a:rPr lang="en-US" dirty="0" smtClean="0"/>
                        <a:t>100 meters	</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Unshielded Twisted Pair (UTP)	</a:t>
                      </a:r>
                    </a:p>
                  </a:txBody>
                  <a:tcPr/>
                </a:tc>
                <a:tc>
                  <a:txBody>
                    <a:bodyPr/>
                    <a:lstStyle/>
                    <a:p>
                      <a:r>
                        <a:rPr lang="en-US" dirty="0" smtClean="0"/>
                        <a:t>Common for home and small office networks</a:t>
                      </a:r>
                      <a:endParaRPr lang="en-US" dirty="0"/>
                    </a:p>
                  </a:txBody>
                  <a:tcPr/>
                </a:tc>
                <a:extLst>
                  <a:ext uri="{0D108BD9-81ED-4DB2-BD59-A6C34878D82A}">
                    <a16:rowId xmlns:a16="http://schemas.microsoft.com/office/drawing/2014/main" val="424485335"/>
                  </a:ext>
                </a:extLst>
              </a:tr>
              <a:tr h="370840">
                <a:tc>
                  <a:txBody>
                    <a:bodyPr/>
                    <a:lstStyle/>
                    <a:p>
                      <a:r>
                        <a:rPr lang="en-US" dirty="0" smtClean="0"/>
                        <a:t>Cat6</a:t>
                      </a:r>
                      <a:endParaRPr lang="en-US" dirty="0"/>
                    </a:p>
                  </a:txBody>
                  <a:tcPr/>
                </a:tc>
                <a:tc>
                  <a:txBody>
                    <a:bodyPr/>
                    <a:lstStyle/>
                    <a:p>
                      <a:r>
                        <a:rPr lang="en-US" dirty="0" smtClean="0"/>
                        <a:t>1 Gbps (up to 100 m)</a:t>
                      </a:r>
                      <a:endParaRPr lang="en-US" dirty="0"/>
                    </a:p>
                  </a:txBody>
                  <a:tcPr/>
                </a:tc>
                <a:tc>
                  <a:txBody>
                    <a:bodyPr/>
                    <a:lstStyle/>
                    <a:p>
                      <a:r>
                        <a:rPr lang="en-US" dirty="0" smtClean="0"/>
                        <a:t>250 MHz</a:t>
                      </a:r>
                      <a:endParaRPr lang="en-US" dirty="0"/>
                    </a:p>
                  </a:txBody>
                  <a:tcPr/>
                </a:tc>
                <a:tc>
                  <a:txBody>
                    <a:bodyPr/>
                    <a:lstStyle/>
                    <a:p>
                      <a:r>
                        <a:rPr lang="en-US" dirty="0" smtClean="0"/>
                        <a:t>100 meters (1 Gbps), 55 meters (10 Gbps)</a:t>
                      </a:r>
                      <a:endParaRPr lang="en-US" dirty="0"/>
                    </a:p>
                  </a:txBody>
                  <a:tcPr/>
                </a:tc>
                <a:tc>
                  <a:txBody>
                    <a:bodyPr/>
                    <a:lstStyle/>
                    <a:p>
                      <a:r>
                        <a:rPr lang="en-US" dirty="0" smtClean="0"/>
                        <a:t>UTP or STP</a:t>
                      </a:r>
                      <a:endParaRPr lang="en-US" dirty="0"/>
                    </a:p>
                  </a:txBody>
                  <a:tcPr/>
                </a:tc>
                <a:tc>
                  <a:txBody>
                    <a:bodyPr/>
                    <a:lstStyle/>
                    <a:p>
                      <a:r>
                        <a:rPr lang="en-US" dirty="0" smtClean="0"/>
                        <a:t>Modern networks, small data centers</a:t>
                      </a:r>
                      <a:endParaRPr lang="en-US" dirty="0"/>
                    </a:p>
                  </a:txBody>
                  <a:tcPr/>
                </a:tc>
                <a:extLst>
                  <a:ext uri="{0D108BD9-81ED-4DB2-BD59-A6C34878D82A}">
                    <a16:rowId xmlns:a16="http://schemas.microsoft.com/office/drawing/2014/main" val="3509991576"/>
                  </a:ext>
                </a:extLst>
              </a:tr>
              <a:tr h="370840">
                <a:tc>
                  <a:txBody>
                    <a:bodyPr/>
                    <a:lstStyle/>
                    <a:p>
                      <a:r>
                        <a:rPr lang="en-US" dirty="0" smtClean="0"/>
                        <a:t>Cat6a</a:t>
                      </a:r>
                      <a:endParaRPr lang="en-US" dirty="0"/>
                    </a:p>
                  </a:txBody>
                  <a:tcPr/>
                </a:tc>
                <a:tc>
                  <a:txBody>
                    <a:bodyPr/>
                    <a:lstStyle/>
                    <a:p>
                      <a:r>
                        <a:rPr lang="en-US" dirty="0" smtClean="0"/>
                        <a:t>10 Gbps (Gigabit Ethernet)</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500 MHz</a:t>
                      </a:r>
                    </a:p>
                    <a:p>
                      <a:endParaRPr lang="en-US" dirty="0"/>
                    </a:p>
                  </a:txBody>
                  <a:tcPr/>
                </a:tc>
                <a:tc>
                  <a:txBody>
                    <a:bodyPr/>
                    <a:lstStyle/>
                    <a:p>
                      <a:r>
                        <a:rPr lang="en-US" dirty="0" smtClean="0"/>
                        <a:t>100 meters</a:t>
                      </a:r>
                      <a:endParaRPr lang="en-US" dirty="0"/>
                    </a:p>
                  </a:txBody>
                  <a:tcPr/>
                </a:tc>
                <a:tc>
                  <a:txBody>
                    <a:bodyPr/>
                    <a:lstStyle/>
                    <a:p>
                      <a:r>
                        <a:rPr lang="en-US" dirty="0" smtClean="0"/>
                        <a:t>STP</a:t>
                      </a:r>
                      <a:endParaRPr lang="en-US" dirty="0"/>
                    </a:p>
                  </a:txBody>
                  <a:tcPr/>
                </a:tc>
                <a:tc>
                  <a:txBody>
                    <a:bodyPr/>
                    <a:lstStyle/>
                    <a:p>
                      <a:r>
                        <a:rPr lang="en-US" dirty="0" smtClean="0"/>
                        <a:t>Data centers, high-speed networks</a:t>
                      </a:r>
                      <a:endParaRPr lang="en-US" dirty="0"/>
                    </a:p>
                  </a:txBody>
                  <a:tcPr/>
                </a:tc>
                <a:extLst>
                  <a:ext uri="{0D108BD9-81ED-4DB2-BD59-A6C34878D82A}">
                    <a16:rowId xmlns:a16="http://schemas.microsoft.com/office/drawing/2014/main" val="352400803"/>
                  </a:ext>
                </a:extLst>
              </a:tr>
              <a:tr h="370840">
                <a:tc>
                  <a:txBody>
                    <a:bodyPr/>
                    <a:lstStyle/>
                    <a:p>
                      <a:r>
                        <a:rPr lang="en-US" dirty="0" smtClean="0"/>
                        <a:t>Cat7</a:t>
                      </a:r>
                      <a:endParaRPr lang="en-US" dirty="0"/>
                    </a:p>
                  </a:txBody>
                  <a:tcPr/>
                </a:tc>
                <a:tc>
                  <a:txBody>
                    <a:bodyPr/>
                    <a:lstStyle/>
                    <a:p>
                      <a:r>
                        <a:rPr lang="en-US" dirty="0" smtClean="0"/>
                        <a:t>10 Gbps</a:t>
                      </a:r>
                      <a:endParaRPr lang="en-US" dirty="0"/>
                    </a:p>
                  </a:txBody>
                  <a:tcPr/>
                </a:tc>
                <a:tc>
                  <a:txBody>
                    <a:bodyPr/>
                    <a:lstStyle/>
                    <a:p>
                      <a:r>
                        <a:rPr lang="en-US" dirty="0" smtClean="0"/>
                        <a:t>600 MHZ</a:t>
                      </a:r>
                      <a:endParaRPr lang="en-US" dirty="0"/>
                    </a:p>
                  </a:txBody>
                  <a:tcPr/>
                </a:tc>
                <a:tc>
                  <a:txBody>
                    <a:bodyPr/>
                    <a:lstStyle/>
                    <a:p>
                      <a:r>
                        <a:rPr lang="en-US" dirty="0" smtClean="0"/>
                        <a:t>100 meters</a:t>
                      </a:r>
                      <a:endParaRPr lang="en-US" dirty="0"/>
                    </a:p>
                  </a:txBody>
                  <a:tcPr/>
                </a:tc>
                <a:tc>
                  <a:txBody>
                    <a:bodyPr/>
                    <a:lstStyle/>
                    <a:p>
                      <a:r>
                        <a:rPr lang="en-US" dirty="0" smtClean="0"/>
                        <a:t>Shielded with GG45/TERA connectors</a:t>
                      </a:r>
                      <a:endParaRPr lang="en-US" dirty="0"/>
                    </a:p>
                  </a:txBody>
                  <a:tcPr/>
                </a:tc>
                <a:tc>
                  <a:txBody>
                    <a:bodyPr/>
                    <a:lstStyle/>
                    <a:p>
                      <a:r>
                        <a:rPr lang="en-US" dirty="0" smtClean="0"/>
                        <a:t>High-performance networking environments</a:t>
                      </a:r>
                      <a:endParaRPr lang="en-US" dirty="0"/>
                    </a:p>
                  </a:txBody>
                  <a:tcPr/>
                </a:tc>
                <a:extLst>
                  <a:ext uri="{0D108BD9-81ED-4DB2-BD59-A6C34878D82A}">
                    <a16:rowId xmlns:a16="http://schemas.microsoft.com/office/drawing/2014/main" val="2380275627"/>
                  </a:ext>
                </a:extLst>
              </a:tr>
            </a:tbl>
          </a:graphicData>
        </a:graphic>
      </p:graphicFrame>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a:t>
            </a:fld>
            <a:endParaRPr lang="en-US" dirty="0"/>
          </a:p>
        </p:txBody>
      </p:sp>
    </p:spTree>
    <p:extLst>
      <p:ext uri="{BB962C8B-B14F-4D97-AF65-F5344CB8AC3E}">
        <p14:creationId xmlns:p14="http://schemas.microsoft.com/office/powerpoint/2010/main" val="33212428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398207" y="103239"/>
            <a:ext cx="11208774" cy="706258"/>
          </a:xfrm>
        </p:spPr>
        <p:txBody>
          <a:bodyPr/>
          <a:lstStyle/>
          <a:p>
            <a:pPr algn="ctr"/>
            <a:r>
              <a:rPr lang="en-US" dirty="0">
                <a:latin typeface="Arial Black" panose="020B0A04020102020204" pitchFamily="34" charset="0"/>
              </a:rPr>
              <a:t>Twisted Pair Ethernet Cable </a:t>
            </a:r>
            <a:r>
              <a:rPr lang="en-US" dirty="0" smtClean="0">
                <a:latin typeface="Arial Black" panose="020B0A04020102020204" pitchFamily="34" charset="0"/>
              </a:rPr>
              <a:t>Categories (</a:t>
            </a:r>
            <a:r>
              <a:rPr lang="en-US" dirty="0" smtClean="0">
                <a:solidFill>
                  <a:srgbClr val="FF0000"/>
                </a:solidFill>
                <a:latin typeface="Arial Black" panose="020B0A04020102020204" pitchFamily="34" charset="0"/>
              </a:rPr>
              <a:t>Cont.</a:t>
            </a:r>
            <a:r>
              <a:rPr lang="en-US" dirty="0" smtClean="0">
                <a:latin typeface="Arial Black" panose="020B0A04020102020204" pitchFamily="34" charset="0"/>
              </a:rPr>
              <a:t>)</a:t>
            </a:r>
            <a:endParaRPr lang="en-US" dirty="0">
              <a:latin typeface="Arial Black" panose="020B0A04020102020204" pitchFamily="34" charset="0"/>
            </a:endParaRPr>
          </a:p>
        </p:txBody>
      </p:sp>
      <p:graphicFrame>
        <p:nvGraphicFramePr>
          <p:cNvPr id="2" name="Content Placeholder 1"/>
          <p:cNvGraphicFramePr>
            <a:graphicFrameLocks noGrp="1"/>
          </p:cNvGraphicFramePr>
          <p:nvPr>
            <p:ph sz="quarter" idx="10"/>
            <p:extLst>
              <p:ext uri="{D42A27DB-BD31-4B8C-83A1-F6EECF244321}">
                <p14:modId xmlns:p14="http://schemas.microsoft.com/office/powerpoint/2010/main" val="3915881146"/>
              </p:ext>
            </p:extLst>
          </p:nvPr>
        </p:nvGraphicFramePr>
        <p:xfrm>
          <a:off x="147483" y="1001225"/>
          <a:ext cx="11867733" cy="2199640"/>
        </p:xfrm>
        <a:graphic>
          <a:graphicData uri="http://schemas.openxmlformats.org/drawingml/2006/table">
            <a:tbl>
              <a:tblPr firstRow="1" bandRow="1">
                <a:tableStyleId>{72833802-FEF1-4C79-8D5D-14CF1EAF98D9}</a:tableStyleId>
              </a:tblPr>
              <a:tblGrid>
                <a:gridCol w="1188626">
                  <a:extLst>
                    <a:ext uri="{9D8B030D-6E8A-4147-A177-3AD203B41FA5}">
                      <a16:colId xmlns:a16="http://schemas.microsoft.com/office/drawing/2014/main" val="3431485053"/>
                    </a:ext>
                  </a:extLst>
                </a:gridCol>
                <a:gridCol w="2452788">
                  <a:extLst>
                    <a:ext uri="{9D8B030D-6E8A-4147-A177-3AD203B41FA5}">
                      <a16:colId xmlns:a16="http://schemas.microsoft.com/office/drawing/2014/main" val="3515600552"/>
                    </a:ext>
                  </a:extLst>
                </a:gridCol>
                <a:gridCol w="1655255">
                  <a:extLst>
                    <a:ext uri="{9D8B030D-6E8A-4147-A177-3AD203B41FA5}">
                      <a16:colId xmlns:a16="http://schemas.microsoft.com/office/drawing/2014/main" val="2281535005"/>
                    </a:ext>
                  </a:extLst>
                </a:gridCol>
                <a:gridCol w="2001355">
                  <a:extLst>
                    <a:ext uri="{9D8B030D-6E8A-4147-A177-3AD203B41FA5}">
                      <a16:colId xmlns:a16="http://schemas.microsoft.com/office/drawing/2014/main" val="3793834167"/>
                    </a:ext>
                  </a:extLst>
                </a:gridCol>
                <a:gridCol w="2302310">
                  <a:extLst>
                    <a:ext uri="{9D8B030D-6E8A-4147-A177-3AD203B41FA5}">
                      <a16:colId xmlns:a16="http://schemas.microsoft.com/office/drawing/2014/main" val="2892502136"/>
                    </a:ext>
                  </a:extLst>
                </a:gridCol>
                <a:gridCol w="2267399">
                  <a:extLst>
                    <a:ext uri="{9D8B030D-6E8A-4147-A177-3AD203B41FA5}">
                      <a16:colId xmlns:a16="http://schemas.microsoft.com/office/drawing/2014/main" val="1896568191"/>
                    </a:ext>
                  </a:extLst>
                </a:gridCol>
              </a:tblGrid>
              <a:tr h="370840">
                <a:tc>
                  <a:txBody>
                    <a:bodyPr/>
                    <a:lstStyle/>
                    <a:p>
                      <a:r>
                        <a:rPr lang="en-US" dirty="0" smtClean="0"/>
                        <a:t>Category</a:t>
                      </a:r>
                      <a:endParaRPr lang="en-US" dirty="0"/>
                    </a:p>
                  </a:txBody>
                  <a:tcPr/>
                </a:tc>
                <a:tc>
                  <a:txBody>
                    <a:bodyPr/>
                    <a:lstStyle/>
                    <a:p>
                      <a:r>
                        <a:rPr lang="en-US" dirty="0" smtClean="0"/>
                        <a:t>MAX Speed</a:t>
                      </a:r>
                      <a:endParaRPr lang="en-US" dirty="0"/>
                    </a:p>
                  </a:txBody>
                  <a:tcPr/>
                </a:tc>
                <a:tc>
                  <a:txBody>
                    <a:bodyPr/>
                    <a:lstStyle/>
                    <a:p>
                      <a:r>
                        <a:rPr lang="en-US" dirty="0" smtClean="0"/>
                        <a:t>Bandwidth</a:t>
                      </a:r>
                      <a:endParaRPr lang="en-US" dirty="0"/>
                    </a:p>
                  </a:txBody>
                  <a:tcPr/>
                </a:tc>
                <a:tc>
                  <a:txBody>
                    <a:bodyPr/>
                    <a:lstStyle/>
                    <a:p>
                      <a:r>
                        <a:rPr lang="en-US" dirty="0" smtClean="0"/>
                        <a:t>MAX Distance</a:t>
                      </a:r>
                      <a:endParaRPr lang="en-US" dirty="0"/>
                    </a:p>
                  </a:txBody>
                  <a:tcPr/>
                </a:tc>
                <a:tc>
                  <a:txBody>
                    <a:bodyPr/>
                    <a:lstStyle/>
                    <a:p>
                      <a:r>
                        <a:rPr lang="en-US" dirty="0" smtClean="0"/>
                        <a:t>Cable Types</a:t>
                      </a:r>
                      <a:endParaRPr lang="en-US" dirty="0"/>
                    </a:p>
                  </a:txBody>
                  <a:tcPr/>
                </a:tc>
                <a:tc>
                  <a:txBody>
                    <a:bodyPr/>
                    <a:lstStyle/>
                    <a:p>
                      <a:r>
                        <a:rPr lang="en-US" dirty="0" smtClean="0"/>
                        <a:t>Use Case</a:t>
                      </a:r>
                      <a:endParaRPr lang="en-US" dirty="0"/>
                    </a:p>
                  </a:txBody>
                  <a:tcPr/>
                </a:tc>
                <a:extLst>
                  <a:ext uri="{0D108BD9-81ED-4DB2-BD59-A6C34878D82A}">
                    <a16:rowId xmlns:a16="http://schemas.microsoft.com/office/drawing/2014/main" val="1247928187"/>
                  </a:ext>
                </a:extLst>
              </a:tr>
              <a:tr h="370840">
                <a:tc>
                  <a:txBody>
                    <a:bodyPr/>
                    <a:lstStyle/>
                    <a:p>
                      <a:r>
                        <a:rPr lang="en-US" dirty="0" smtClean="0"/>
                        <a:t>Cat7a</a:t>
                      </a:r>
                      <a:endParaRPr lang="en-US" dirty="0"/>
                    </a:p>
                  </a:txBody>
                  <a:tcPr/>
                </a:tc>
                <a:tc>
                  <a:txBody>
                    <a:bodyPr/>
                    <a:lstStyle/>
                    <a:p>
                      <a:r>
                        <a:rPr lang="en-US" dirty="0" smtClean="0"/>
                        <a:t>40 Gbps (short distances)</a:t>
                      </a:r>
                      <a:endParaRPr lang="en-US" dirty="0"/>
                    </a:p>
                  </a:txBody>
                  <a:tcPr/>
                </a:tc>
                <a:tc>
                  <a:txBody>
                    <a:bodyPr/>
                    <a:lstStyle/>
                    <a:p>
                      <a:r>
                        <a:rPr lang="en-US" dirty="0" smtClean="0"/>
                        <a:t>1000 MHZ</a:t>
                      </a:r>
                      <a:endParaRPr lang="en-US" dirty="0"/>
                    </a:p>
                  </a:txBody>
                  <a:tcPr/>
                </a:tc>
                <a:tc>
                  <a:txBody>
                    <a:bodyPr/>
                    <a:lstStyle/>
                    <a:p>
                      <a:r>
                        <a:rPr lang="en-US" dirty="0" smtClean="0"/>
                        <a:t>100 meters (lower speeds), shorter for higher</a:t>
                      </a:r>
                      <a:endParaRPr lang="en-US" dirty="0"/>
                    </a:p>
                  </a:txBody>
                  <a:tcPr/>
                </a:tc>
                <a:tc>
                  <a:txBody>
                    <a:bodyPr/>
                    <a:lstStyle/>
                    <a:p>
                      <a:r>
                        <a:rPr lang="en-US" dirty="0" smtClean="0"/>
                        <a:t>Shielded with GG45/TERA connectors</a:t>
                      </a:r>
                      <a:endParaRPr lang="en-US" dirty="0"/>
                    </a:p>
                  </a:txBody>
                  <a:tcPr/>
                </a:tc>
                <a:tc>
                  <a:txBody>
                    <a:bodyPr/>
                    <a:lstStyle/>
                    <a:p>
                      <a:r>
                        <a:rPr lang="en-US" dirty="0" smtClean="0"/>
                        <a:t>High-end data centers, specialized uses</a:t>
                      </a:r>
                      <a:endParaRPr lang="en-US" dirty="0"/>
                    </a:p>
                  </a:txBody>
                  <a:tcPr/>
                </a:tc>
                <a:extLst>
                  <a:ext uri="{0D108BD9-81ED-4DB2-BD59-A6C34878D82A}">
                    <a16:rowId xmlns:a16="http://schemas.microsoft.com/office/drawing/2014/main" val="3818530093"/>
                  </a:ext>
                </a:extLst>
              </a:tr>
              <a:tr h="370840">
                <a:tc>
                  <a:txBody>
                    <a:bodyPr/>
                    <a:lstStyle/>
                    <a:p>
                      <a:r>
                        <a:rPr lang="en-US" dirty="0" smtClean="0"/>
                        <a:t>Cat8</a:t>
                      </a:r>
                      <a:endParaRPr lang="en-US" dirty="0"/>
                    </a:p>
                  </a:txBody>
                  <a:tcPr/>
                </a:tc>
                <a:tc>
                  <a:txBody>
                    <a:bodyPr/>
                    <a:lstStyle/>
                    <a:p>
                      <a:r>
                        <a:rPr lang="en-US" dirty="0" smtClean="0"/>
                        <a:t>25-40 Gbps</a:t>
                      </a:r>
                      <a:endParaRPr lang="en-US" dirty="0"/>
                    </a:p>
                  </a:txBody>
                  <a:tcPr/>
                </a:tc>
                <a:tc>
                  <a:txBody>
                    <a:bodyPr/>
                    <a:lstStyle/>
                    <a:p>
                      <a:r>
                        <a:rPr lang="en-US" dirty="0" smtClean="0"/>
                        <a:t>2000 MHZ</a:t>
                      </a:r>
                      <a:endParaRPr lang="en-US" dirty="0"/>
                    </a:p>
                  </a:txBody>
                  <a:tcPr/>
                </a:tc>
                <a:tc>
                  <a:txBody>
                    <a:bodyPr/>
                    <a:lstStyle/>
                    <a:p>
                      <a:r>
                        <a:rPr lang="en-US" dirty="0" smtClean="0"/>
                        <a:t>30 meters</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Shielded Twisted Pair (STP)</a:t>
                      </a:r>
                    </a:p>
                  </a:txBody>
                  <a:tcPr/>
                </a:tc>
                <a:tc>
                  <a:txBody>
                    <a:bodyPr/>
                    <a:lstStyle/>
                    <a:p>
                      <a:r>
                        <a:rPr lang="en-US" dirty="0" smtClean="0"/>
                        <a:t>Data centers, short-range high-speed connections</a:t>
                      </a:r>
                      <a:endParaRPr lang="en-US" dirty="0"/>
                    </a:p>
                  </a:txBody>
                  <a:tcPr/>
                </a:tc>
                <a:extLst>
                  <a:ext uri="{0D108BD9-81ED-4DB2-BD59-A6C34878D82A}">
                    <a16:rowId xmlns:a16="http://schemas.microsoft.com/office/drawing/2014/main" val="14579913"/>
                  </a:ext>
                </a:extLst>
              </a:tr>
            </a:tbl>
          </a:graphicData>
        </a:graphic>
      </p:graphicFrame>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a:t>
            </a:fld>
            <a:endParaRPr lang="en-US" dirty="0"/>
          </a:p>
        </p:txBody>
      </p:sp>
    </p:spTree>
    <p:extLst>
      <p:ext uri="{BB962C8B-B14F-4D97-AF65-F5344CB8AC3E}">
        <p14:creationId xmlns:p14="http://schemas.microsoft.com/office/powerpoint/2010/main" val="61655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544026"/>
          </a:xfrm>
        </p:spPr>
        <p:txBody>
          <a:bodyPr/>
          <a:lstStyle/>
          <a:p>
            <a:pPr algn="ctr"/>
            <a:r>
              <a:rPr lang="en-US" dirty="0">
                <a:latin typeface="Arial Black" panose="020B0A04020102020204" pitchFamily="34" charset="0"/>
              </a:rPr>
              <a:t>T568A </a:t>
            </a:r>
            <a:r>
              <a:rPr lang="en-US" dirty="0" smtClean="0">
                <a:latin typeface="Arial Black" panose="020B0A04020102020204" pitchFamily="34" charset="0"/>
              </a:rPr>
              <a:t>&amp; T568B Standard</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809497"/>
            <a:ext cx="11631759" cy="5473316"/>
          </a:xfrm>
        </p:spPr>
        <p:txBody>
          <a:bodyPr>
            <a:normAutofit/>
          </a:bodyPr>
          <a:lstStyle/>
          <a:p>
            <a:pPr algn="just"/>
            <a:r>
              <a:rPr lang="en-US" sz="2400" dirty="0">
                <a:latin typeface="Arial Black" panose="020B0A04020102020204" pitchFamily="34" charset="0"/>
              </a:rPr>
              <a:t>T568A and T568B are two standards for wiring Ethernet cables (specifically, twisted-pair copper cables like Cat5e, Cat6, etc.) and define the pinout (wire arrangement) for connecting to RJ45 connectors. These standards are defined by the TIA/EIA (Telecommunications Industry Association/Electronic Industries Alliance) under the TIA/EIA-568 standard. The main difference between them lies in the order of wire pairs in the connector, even though both achieve the same performance for </a:t>
            </a:r>
            <a:r>
              <a:rPr lang="en-US" sz="2400" dirty="0" smtClean="0">
                <a:latin typeface="Arial Black" panose="020B0A04020102020204" pitchFamily="34" charset="0"/>
              </a:rPr>
              <a:t>Ethernet.</a:t>
            </a:r>
            <a:endParaRPr lang="en-US" sz="2200"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8</a:t>
            </a:fld>
            <a:endParaRPr lang="en-US" dirty="0"/>
          </a:p>
        </p:txBody>
      </p:sp>
    </p:spTree>
    <p:extLst>
      <p:ext uri="{BB962C8B-B14F-4D97-AF65-F5344CB8AC3E}">
        <p14:creationId xmlns:p14="http://schemas.microsoft.com/office/powerpoint/2010/main" val="28583806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544026"/>
          </a:xfrm>
        </p:spPr>
        <p:txBody>
          <a:bodyPr/>
          <a:lstStyle/>
          <a:p>
            <a:pPr algn="ctr"/>
            <a:r>
              <a:rPr lang="en-US" dirty="0">
                <a:latin typeface="Arial Black" panose="020B0A04020102020204" pitchFamily="34" charset="0"/>
              </a:rPr>
              <a:t>T568A </a:t>
            </a:r>
            <a:r>
              <a:rPr lang="en-US" dirty="0" smtClean="0">
                <a:latin typeface="Arial Black" panose="020B0A04020102020204" pitchFamily="34" charset="0"/>
              </a:rPr>
              <a:t>Standard</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809497"/>
            <a:ext cx="11631759" cy="5694542"/>
          </a:xfrm>
        </p:spPr>
        <p:txBody>
          <a:bodyPr>
            <a:normAutofit/>
          </a:bodyPr>
          <a:lstStyle/>
          <a:p>
            <a:pPr algn="just"/>
            <a:r>
              <a:rPr lang="en-US" sz="2400" dirty="0">
                <a:latin typeface="Arial Black" panose="020B0A04020102020204" pitchFamily="34" charset="0"/>
              </a:rPr>
              <a:t>The T568A wiring standard was originally intended to be the primary standard for Ethernet wiring, particularly in residential and government installations. It is still widely used in homes and older installations because of its compatibility with both voice (telephone) and data applications</a:t>
            </a:r>
            <a:r>
              <a:rPr lang="en-US" sz="2400" dirty="0" smtClean="0">
                <a:latin typeface="Arial Black" panose="020B0A04020102020204" pitchFamily="34" charset="0"/>
              </a:rPr>
              <a:t>.</a:t>
            </a:r>
          </a:p>
          <a:p>
            <a:pPr algn="just"/>
            <a:r>
              <a:rPr lang="en-US" sz="2200" dirty="0">
                <a:latin typeface="Arial Black" panose="020B0A04020102020204" pitchFamily="34" charset="0"/>
              </a:rPr>
              <a:t>T568A Pinout (Wire Color Arrangement)Here is the pinout for the T568A standard</a:t>
            </a:r>
            <a:r>
              <a:rPr lang="en-US" sz="2200" dirty="0" smtClean="0">
                <a:latin typeface="Arial Black" panose="020B0A04020102020204" pitchFamily="34" charset="0"/>
              </a:rPr>
              <a:t>:</a:t>
            </a:r>
          </a:p>
          <a:p>
            <a:pPr algn="just"/>
            <a:endParaRPr lang="en-US" sz="2200"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9</a:t>
            </a:fld>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1457646652"/>
              </p:ext>
            </p:extLst>
          </p:nvPr>
        </p:nvGraphicFramePr>
        <p:xfrm>
          <a:off x="2253226" y="3256388"/>
          <a:ext cx="8127999" cy="3337560"/>
        </p:xfrm>
        <a:graphic>
          <a:graphicData uri="http://schemas.openxmlformats.org/drawingml/2006/table">
            <a:tbl>
              <a:tblPr firstRow="1" bandRow="1">
                <a:tableStyleId>{775DCB02-9BB8-47FD-8907-85C794F793BA}</a:tableStyleId>
              </a:tblPr>
              <a:tblGrid>
                <a:gridCol w="1197897">
                  <a:extLst>
                    <a:ext uri="{9D8B030D-6E8A-4147-A177-3AD203B41FA5}">
                      <a16:colId xmlns:a16="http://schemas.microsoft.com/office/drawing/2014/main" val="2014356953"/>
                    </a:ext>
                  </a:extLst>
                </a:gridCol>
                <a:gridCol w="3038167">
                  <a:extLst>
                    <a:ext uri="{9D8B030D-6E8A-4147-A177-3AD203B41FA5}">
                      <a16:colId xmlns:a16="http://schemas.microsoft.com/office/drawing/2014/main" val="568041697"/>
                    </a:ext>
                  </a:extLst>
                </a:gridCol>
                <a:gridCol w="3891935">
                  <a:extLst>
                    <a:ext uri="{9D8B030D-6E8A-4147-A177-3AD203B41FA5}">
                      <a16:colId xmlns:a16="http://schemas.microsoft.com/office/drawing/2014/main" val="1036054952"/>
                    </a:ext>
                  </a:extLst>
                </a:gridCol>
              </a:tblGrid>
              <a:tr h="370840">
                <a:tc>
                  <a:txBody>
                    <a:bodyPr/>
                    <a:lstStyle/>
                    <a:p>
                      <a:r>
                        <a:rPr lang="en-US" dirty="0" smtClean="0"/>
                        <a:t>Pin</a:t>
                      </a:r>
                      <a:endParaRPr lang="en-US" dirty="0"/>
                    </a:p>
                  </a:txBody>
                  <a:tcPr/>
                </a:tc>
                <a:tc>
                  <a:txBody>
                    <a:bodyPr/>
                    <a:lstStyle/>
                    <a:p>
                      <a:r>
                        <a:rPr lang="en-US" dirty="0" smtClean="0"/>
                        <a:t>Color</a:t>
                      </a:r>
                      <a:endParaRPr lang="en-US" dirty="0"/>
                    </a:p>
                  </a:txBody>
                  <a:tcPr/>
                </a:tc>
                <a:tc>
                  <a:txBody>
                    <a:bodyPr/>
                    <a:lstStyle/>
                    <a:p>
                      <a:r>
                        <a:rPr lang="en-US" dirty="0" smtClean="0"/>
                        <a:t>Wire Pair</a:t>
                      </a:r>
                      <a:endParaRPr lang="en-US" dirty="0"/>
                    </a:p>
                  </a:txBody>
                  <a:tcPr/>
                </a:tc>
                <a:extLst>
                  <a:ext uri="{0D108BD9-81ED-4DB2-BD59-A6C34878D82A}">
                    <a16:rowId xmlns:a16="http://schemas.microsoft.com/office/drawing/2014/main" val="2384663879"/>
                  </a:ext>
                </a:extLst>
              </a:tr>
              <a:tr h="370840">
                <a:tc>
                  <a:txBody>
                    <a:bodyPr/>
                    <a:lstStyle/>
                    <a:p>
                      <a:r>
                        <a:rPr lang="en-US" dirty="0" smtClean="0"/>
                        <a:t>Pin 1</a:t>
                      </a:r>
                      <a:endParaRPr lang="en-US" dirty="0"/>
                    </a:p>
                  </a:txBody>
                  <a:tcPr/>
                </a:tc>
                <a:tc>
                  <a:txBody>
                    <a:bodyPr/>
                    <a:lstStyle/>
                    <a:p>
                      <a:r>
                        <a:rPr lang="en-US" dirty="0" smtClean="0"/>
                        <a:t>White/Green</a:t>
                      </a:r>
                      <a:endParaRPr lang="en-US" dirty="0"/>
                    </a:p>
                  </a:txBody>
                  <a:tcPr/>
                </a:tc>
                <a:tc>
                  <a:txBody>
                    <a:bodyPr/>
                    <a:lstStyle/>
                    <a:p>
                      <a:r>
                        <a:rPr lang="en-US" dirty="0" smtClean="0"/>
                        <a:t>Pair 3 (TX+)</a:t>
                      </a:r>
                      <a:endParaRPr lang="en-US" dirty="0"/>
                    </a:p>
                  </a:txBody>
                  <a:tcPr/>
                </a:tc>
                <a:extLst>
                  <a:ext uri="{0D108BD9-81ED-4DB2-BD59-A6C34878D82A}">
                    <a16:rowId xmlns:a16="http://schemas.microsoft.com/office/drawing/2014/main" val="23135323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rgbClr val="543E34"/>
                          </a:solidFill>
                          <a:effectLst/>
                          <a:uLnTx/>
                          <a:uFillTx/>
                          <a:latin typeface="Gill Sans Nova Light"/>
                          <a:ea typeface="+mn-ea"/>
                          <a:cs typeface="+mn-cs"/>
                        </a:rPr>
                        <a:t>Pin 2</a:t>
                      </a: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a:txBody>
                  <a:tcPr/>
                </a:tc>
                <a:tc>
                  <a:txBody>
                    <a:bodyPr/>
                    <a:lstStyle/>
                    <a:p>
                      <a:r>
                        <a:rPr lang="en-US" dirty="0" smtClean="0"/>
                        <a:t>Green</a:t>
                      </a:r>
                      <a:endParaRPr lang="en-US" dirty="0"/>
                    </a:p>
                  </a:txBody>
                  <a:tcPr/>
                </a:tc>
                <a:tc>
                  <a:txBody>
                    <a:bodyPr/>
                    <a:lstStyle/>
                    <a:p>
                      <a:r>
                        <a:rPr lang="en-US" dirty="0" smtClean="0"/>
                        <a:t>Pair 3 (TX-)</a:t>
                      </a:r>
                      <a:endParaRPr lang="en-US" dirty="0"/>
                    </a:p>
                  </a:txBody>
                  <a:tcPr/>
                </a:tc>
                <a:extLst>
                  <a:ext uri="{0D108BD9-81ED-4DB2-BD59-A6C34878D82A}">
                    <a16:rowId xmlns:a16="http://schemas.microsoft.com/office/drawing/2014/main" val="134311149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rgbClr val="543E34"/>
                          </a:solidFill>
                          <a:effectLst/>
                          <a:uLnTx/>
                          <a:uFillTx/>
                          <a:latin typeface="Gill Sans Nova Light"/>
                          <a:ea typeface="+mn-ea"/>
                          <a:cs typeface="+mn-cs"/>
                        </a:rPr>
                        <a:t>Pin 3</a:t>
                      </a: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a:txBody>
                  <a:tcPr/>
                </a:tc>
                <a:tc>
                  <a:txBody>
                    <a:bodyPr/>
                    <a:lstStyle/>
                    <a:p>
                      <a:r>
                        <a:rPr lang="en-US" dirty="0" smtClean="0"/>
                        <a:t>White/Orange</a:t>
                      </a:r>
                      <a:endParaRPr lang="en-US" dirty="0"/>
                    </a:p>
                  </a:txBody>
                  <a:tcPr/>
                </a:tc>
                <a:tc>
                  <a:txBody>
                    <a:bodyPr/>
                    <a:lstStyle/>
                    <a:p>
                      <a:r>
                        <a:rPr lang="en-US" dirty="0" smtClean="0"/>
                        <a:t>Pair 2 (RX+)</a:t>
                      </a:r>
                      <a:endParaRPr lang="en-US" dirty="0"/>
                    </a:p>
                  </a:txBody>
                  <a:tcPr/>
                </a:tc>
                <a:extLst>
                  <a:ext uri="{0D108BD9-81ED-4DB2-BD59-A6C34878D82A}">
                    <a16:rowId xmlns:a16="http://schemas.microsoft.com/office/drawing/2014/main" val="326498900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rgbClr val="543E34"/>
                          </a:solidFill>
                          <a:effectLst/>
                          <a:uLnTx/>
                          <a:uFillTx/>
                          <a:latin typeface="Gill Sans Nova Light"/>
                          <a:ea typeface="+mn-ea"/>
                          <a:cs typeface="+mn-cs"/>
                        </a:rPr>
                        <a:t>Pin 4</a:t>
                      </a: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a:txBody>
                  <a:tcPr/>
                </a:tc>
                <a:tc>
                  <a:txBody>
                    <a:bodyPr/>
                    <a:lstStyle/>
                    <a:p>
                      <a:r>
                        <a:rPr lang="en-US" dirty="0" smtClean="0"/>
                        <a:t>Blue</a:t>
                      </a:r>
                      <a:endParaRPr lang="en-US" dirty="0"/>
                    </a:p>
                  </a:txBody>
                  <a:tcPr/>
                </a:tc>
                <a:tc>
                  <a:txBody>
                    <a:bodyPr/>
                    <a:lstStyle/>
                    <a:p>
                      <a:r>
                        <a:rPr lang="en-US" dirty="0" smtClean="0"/>
                        <a:t>Pair 1 (Unused, </a:t>
                      </a:r>
                      <a:r>
                        <a:rPr lang="en-US" dirty="0" err="1" smtClean="0"/>
                        <a:t>PoE</a:t>
                      </a:r>
                      <a:r>
                        <a:rPr lang="en-US" dirty="0" smtClean="0"/>
                        <a:t>)</a:t>
                      </a:r>
                      <a:endParaRPr lang="en-US" dirty="0"/>
                    </a:p>
                  </a:txBody>
                  <a:tcPr/>
                </a:tc>
                <a:extLst>
                  <a:ext uri="{0D108BD9-81ED-4DB2-BD59-A6C34878D82A}">
                    <a16:rowId xmlns:a16="http://schemas.microsoft.com/office/drawing/2014/main" val="19376819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rgbClr val="543E34"/>
                          </a:solidFill>
                          <a:effectLst/>
                          <a:uLnTx/>
                          <a:uFillTx/>
                          <a:latin typeface="Gill Sans Nova Light"/>
                          <a:ea typeface="+mn-ea"/>
                          <a:cs typeface="+mn-cs"/>
                        </a:rPr>
                        <a:t>Pin 5</a:t>
                      </a: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a:txBody>
                  <a:tcPr/>
                </a:tc>
                <a:tc>
                  <a:txBody>
                    <a:bodyPr/>
                    <a:lstStyle/>
                    <a:p>
                      <a:r>
                        <a:rPr lang="en-US" dirty="0" smtClean="0"/>
                        <a:t>White/Blue</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Pair 1 (Unused, </a:t>
                      </a:r>
                      <a:r>
                        <a:rPr lang="en-US" dirty="0" err="1" smtClean="0"/>
                        <a:t>PoE</a:t>
                      </a:r>
                      <a:r>
                        <a:rPr lang="en-US" dirty="0" smtClean="0"/>
                        <a:t>)</a:t>
                      </a:r>
                    </a:p>
                  </a:txBody>
                  <a:tcPr/>
                </a:tc>
                <a:extLst>
                  <a:ext uri="{0D108BD9-81ED-4DB2-BD59-A6C34878D82A}">
                    <a16:rowId xmlns:a16="http://schemas.microsoft.com/office/drawing/2014/main" val="55432822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rgbClr val="543E34"/>
                          </a:solidFill>
                          <a:effectLst/>
                          <a:uLnTx/>
                          <a:uFillTx/>
                          <a:latin typeface="Gill Sans Nova Light"/>
                          <a:ea typeface="+mn-ea"/>
                          <a:cs typeface="+mn-cs"/>
                        </a:rPr>
                        <a:t>Pin 6</a:t>
                      </a: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Orange</a:t>
                      </a:r>
                    </a:p>
                  </a:txBody>
                  <a:tcPr/>
                </a:tc>
                <a:tc>
                  <a:txBody>
                    <a:bodyPr/>
                    <a:lstStyle/>
                    <a:p>
                      <a:r>
                        <a:rPr lang="en-US" dirty="0" smtClean="0"/>
                        <a:t>Pair 2 (RX-)</a:t>
                      </a:r>
                      <a:endParaRPr lang="en-US" dirty="0"/>
                    </a:p>
                  </a:txBody>
                  <a:tcPr/>
                </a:tc>
                <a:extLst>
                  <a:ext uri="{0D108BD9-81ED-4DB2-BD59-A6C34878D82A}">
                    <a16:rowId xmlns:a16="http://schemas.microsoft.com/office/drawing/2014/main" val="318844349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rgbClr val="543E34"/>
                          </a:solidFill>
                          <a:effectLst/>
                          <a:uLnTx/>
                          <a:uFillTx/>
                          <a:latin typeface="Gill Sans Nova Light"/>
                          <a:ea typeface="+mn-ea"/>
                          <a:cs typeface="+mn-cs"/>
                        </a:rPr>
                        <a:t>Pin 7</a:t>
                      </a: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a:txBody>
                  <a:tcPr/>
                </a:tc>
                <a:tc>
                  <a:txBody>
                    <a:bodyPr/>
                    <a:lstStyle/>
                    <a:p>
                      <a:r>
                        <a:rPr lang="en-US" dirty="0" smtClean="0"/>
                        <a:t>White/Brown</a:t>
                      </a:r>
                      <a:endParaRPr lang="en-US" dirty="0"/>
                    </a:p>
                  </a:txBody>
                  <a:tcPr/>
                </a:tc>
                <a:tc>
                  <a:txBody>
                    <a:bodyPr/>
                    <a:lstStyle/>
                    <a:p>
                      <a:r>
                        <a:rPr lang="en-US" dirty="0" smtClean="0"/>
                        <a:t>Unused</a:t>
                      </a:r>
                      <a:endParaRPr lang="en-US" dirty="0"/>
                    </a:p>
                  </a:txBody>
                  <a:tcPr/>
                </a:tc>
                <a:extLst>
                  <a:ext uri="{0D108BD9-81ED-4DB2-BD59-A6C34878D82A}">
                    <a16:rowId xmlns:a16="http://schemas.microsoft.com/office/drawing/2014/main" val="346030533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rgbClr val="543E34"/>
                          </a:solidFill>
                          <a:effectLst/>
                          <a:uLnTx/>
                          <a:uFillTx/>
                          <a:latin typeface="Gill Sans Nova Light"/>
                          <a:ea typeface="+mn-ea"/>
                          <a:cs typeface="+mn-cs"/>
                        </a:rPr>
                        <a:t>Pin 8</a:t>
                      </a: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a:txBody>
                  <a:tcPr/>
                </a:tc>
                <a:tc>
                  <a:txBody>
                    <a:bodyPr/>
                    <a:lstStyle/>
                    <a:p>
                      <a:r>
                        <a:rPr lang="en-US" dirty="0" smtClean="0"/>
                        <a:t>Brown</a:t>
                      </a:r>
                      <a:endParaRPr lang="en-US" dirty="0"/>
                    </a:p>
                  </a:txBody>
                  <a:tcPr/>
                </a:tc>
                <a:tc>
                  <a:txBody>
                    <a:bodyPr/>
                    <a:lstStyle/>
                    <a:p>
                      <a:r>
                        <a:rPr lang="en-US" dirty="0" smtClean="0"/>
                        <a:t>Unused</a:t>
                      </a:r>
                      <a:endParaRPr lang="en-US" dirty="0"/>
                    </a:p>
                  </a:txBody>
                  <a:tcPr/>
                </a:tc>
                <a:extLst>
                  <a:ext uri="{0D108BD9-81ED-4DB2-BD59-A6C34878D82A}">
                    <a16:rowId xmlns:a16="http://schemas.microsoft.com/office/drawing/2014/main" val="635741940"/>
                  </a:ext>
                </a:extLst>
              </a:tr>
            </a:tbl>
          </a:graphicData>
        </a:graphic>
      </p:graphicFrame>
    </p:spTree>
    <p:extLst>
      <p:ext uri="{BB962C8B-B14F-4D97-AF65-F5344CB8AC3E}">
        <p14:creationId xmlns:p14="http://schemas.microsoft.com/office/powerpoint/2010/main" val="39299346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544026"/>
          </a:xfrm>
        </p:spPr>
        <p:txBody>
          <a:bodyPr/>
          <a:lstStyle/>
          <a:p>
            <a:pPr algn="ctr"/>
            <a:r>
              <a:rPr lang="en-US" dirty="0" smtClean="0">
                <a:latin typeface="Arial Black" panose="020B0A04020102020204" pitchFamily="34" charset="0"/>
              </a:rPr>
              <a:t>T568B Standard</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809497"/>
            <a:ext cx="11631759" cy="5694542"/>
          </a:xfrm>
        </p:spPr>
        <p:txBody>
          <a:bodyPr>
            <a:normAutofit/>
          </a:bodyPr>
          <a:lstStyle/>
          <a:p>
            <a:pPr algn="just"/>
            <a:r>
              <a:rPr lang="en-US" sz="2400" dirty="0">
                <a:latin typeface="Arial Black" panose="020B0A04020102020204" pitchFamily="34" charset="0"/>
              </a:rPr>
              <a:t>The T568B standard is more widely used in commercial and modern Ethernet installations due to its historical adoption in business and IT infrastructure. While it offers the same performance as T568A, many businesses prefer it due to familiarity and widespread usage</a:t>
            </a:r>
            <a:r>
              <a:rPr lang="en-US" sz="2400" dirty="0" smtClean="0">
                <a:latin typeface="Arial Black" panose="020B0A04020102020204" pitchFamily="34" charset="0"/>
              </a:rPr>
              <a:t>.</a:t>
            </a:r>
          </a:p>
          <a:p>
            <a:pPr algn="just"/>
            <a:r>
              <a:rPr lang="en-US" sz="2200" dirty="0" smtClean="0">
                <a:latin typeface="Arial Black" panose="020B0A04020102020204" pitchFamily="34" charset="0"/>
              </a:rPr>
              <a:t>T568B </a:t>
            </a:r>
            <a:r>
              <a:rPr lang="en-US" sz="2200" dirty="0">
                <a:latin typeface="Arial Black" panose="020B0A04020102020204" pitchFamily="34" charset="0"/>
              </a:rPr>
              <a:t>Pinout (Wire Color Arrangement</a:t>
            </a:r>
            <a:r>
              <a:rPr lang="en-US" sz="2200" dirty="0" smtClean="0">
                <a:latin typeface="Arial Black" panose="020B0A04020102020204" pitchFamily="34" charset="0"/>
              </a:rPr>
              <a:t>)</a:t>
            </a:r>
          </a:p>
          <a:p>
            <a:pPr lvl="1" algn="just"/>
            <a:r>
              <a:rPr lang="en-US" sz="2000" dirty="0" smtClean="0">
                <a:latin typeface="Arial Black" panose="020B0A04020102020204" pitchFamily="34" charset="0"/>
              </a:rPr>
              <a:t>Here </a:t>
            </a:r>
            <a:r>
              <a:rPr lang="en-US" sz="2000" dirty="0">
                <a:latin typeface="Arial Black" panose="020B0A04020102020204" pitchFamily="34" charset="0"/>
              </a:rPr>
              <a:t>is the pinout for the </a:t>
            </a:r>
            <a:r>
              <a:rPr lang="en-US" sz="2000" dirty="0" smtClean="0">
                <a:latin typeface="Arial Black" panose="020B0A04020102020204" pitchFamily="34" charset="0"/>
              </a:rPr>
              <a:t>T568B </a:t>
            </a:r>
            <a:r>
              <a:rPr lang="en-US" sz="2000" dirty="0">
                <a:latin typeface="Arial Black" panose="020B0A04020102020204" pitchFamily="34" charset="0"/>
              </a:rPr>
              <a:t>standard</a:t>
            </a:r>
            <a:r>
              <a:rPr lang="en-US" sz="2000" dirty="0" smtClean="0">
                <a:latin typeface="Arial Black" panose="020B0A04020102020204" pitchFamily="34" charset="0"/>
              </a:rPr>
              <a:t>:</a:t>
            </a:r>
          </a:p>
          <a:p>
            <a:pPr algn="just"/>
            <a:endParaRPr lang="en-US" sz="2200"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10</a:t>
            </a:fld>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1409871947"/>
              </p:ext>
            </p:extLst>
          </p:nvPr>
        </p:nvGraphicFramePr>
        <p:xfrm>
          <a:off x="2253226" y="3256388"/>
          <a:ext cx="8127999" cy="3337560"/>
        </p:xfrm>
        <a:graphic>
          <a:graphicData uri="http://schemas.openxmlformats.org/drawingml/2006/table">
            <a:tbl>
              <a:tblPr firstRow="1" bandRow="1">
                <a:tableStyleId>{775DCB02-9BB8-47FD-8907-85C794F793BA}</a:tableStyleId>
              </a:tblPr>
              <a:tblGrid>
                <a:gridCol w="1197897">
                  <a:extLst>
                    <a:ext uri="{9D8B030D-6E8A-4147-A177-3AD203B41FA5}">
                      <a16:colId xmlns:a16="http://schemas.microsoft.com/office/drawing/2014/main" val="2014356953"/>
                    </a:ext>
                  </a:extLst>
                </a:gridCol>
                <a:gridCol w="3038167">
                  <a:extLst>
                    <a:ext uri="{9D8B030D-6E8A-4147-A177-3AD203B41FA5}">
                      <a16:colId xmlns:a16="http://schemas.microsoft.com/office/drawing/2014/main" val="568041697"/>
                    </a:ext>
                  </a:extLst>
                </a:gridCol>
                <a:gridCol w="3891935">
                  <a:extLst>
                    <a:ext uri="{9D8B030D-6E8A-4147-A177-3AD203B41FA5}">
                      <a16:colId xmlns:a16="http://schemas.microsoft.com/office/drawing/2014/main" val="1036054952"/>
                    </a:ext>
                  </a:extLst>
                </a:gridCol>
              </a:tblGrid>
              <a:tr h="370840">
                <a:tc>
                  <a:txBody>
                    <a:bodyPr/>
                    <a:lstStyle/>
                    <a:p>
                      <a:r>
                        <a:rPr lang="en-US" dirty="0" smtClean="0"/>
                        <a:t>Pin</a:t>
                      </a:r>
                      <a:endParaRPr lang="en-US" dirty="0"/>
                    </a:p>
                  </a:txBody>
                  <a:tcPr/>
                </a:tc>
                <a:tc>
                  <a:txBody>
                    <a:bodyPr/>
                    <a:lstStyle/>
                    <a:p>
                      <a:r>
                        <a:rPr lang="en-US" dirty="0" smtClean="0"/>
                        <a:t>Color</a:t>
                      </a:r>
                      <a:endParaRPr lang="en-US" dirty="0"/>
                    </a:p>
                  </a:txBody>
                  <a:tcPr/>
                </a:tc>
                <a:tc>
                  <a:txBody>
                    <a:bodyPr/>
                    <a:lstStyle/>
                    <a:p>
                      <a:r>
                        <a:rPr lang="en-US" dirty="0" smtClean="0"/>
                        <a:t>Wire Pair</a:t>
                      </a:r>
                      <a:endParaRPr lang="en-US" dirty="0"/>
                    </a:p>
                  </a:txBody>
                  <a:tcPr/>
                </a:tc>
                <a:extLst>
                  <a:ext uri="{0D108BD9-81ED-4DB2-BD59-A6C34878D82A}">
                    <a16:rowId xmlns:a16="http://schemas.microsoft.com/office/drawing/2014/main" val="2384663879"/>
                  </a:ext>
                </a:extLst>
              </a:tr>
              <a:tr h="370840">
                <a:tc>
                  <a:txBody>
                    <a:bodyPr/>
                    <a:lstStyle/>
                    <a:p>
                      <a:r>
                        <a:rPr lang="en-US" dirty="0" smtClean="0"/>
                        <a:t>Pin 1</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White/Orange</a:t>
                      </a:r>
                    </a:p>
                  </a:txBody>
                  <a:tcPr/>
                </a:tc>
                <a:tc>
                  <a:txBody>
                    <a:bodyPr/>
                    <a:lstStyle/>
                    <a:p>
                      <a:r>
                        <a:rPr lang="en-US" dirty="0" smtClean="0"/>
                        <a:t>Pair 2 (TX+)</a:t>
                      </a:r>
                      <a:endParaRPr lang="en-US" dirty="0"/>
                    </a:p>
                  </a:txBody>
                  <a:tcPr/>
                </a:tc>
                <a:extLst>
                  <a:ext uri="{0D108BD9-81ED-4DB2-BD59-A6C34878D82A}">
                    <a16:rowId xmlns:a16="http://schemas.microsoft.com/office/drawing/2014/main" val="23135323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rgbClr val="543E34"/>
                          </a:solidFill>
                          <a:effectLst/>
                          <a:uLnTx/>
                          <a:uFillTx/>
                          <a:latin typeface="Gill Sans Nova Light"/>
                          <a:ea typeface="+mn-ea"/>
                          <a:cs typeface="+mn-cs"/>
                        </a:rPr>
                        <a:t>Pin 2</a:t>
                      </a: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Orange</a:t>
                      </a:r>
                    </a:p>
                  </a:txBody>
                  <a:tcPr/>
                </a:tc>
                <a:tc>
                  <a:txBody>
                    <a:bodyPr/>
                    <a:lstStyle/>
                    <a:p>
                      <a:r>
                        <a:rPr lang="en-US" dirty="0" smtClean="0"/>
                        <a:t>Pair 2 (TX-)</a:t>
                      </a:r>
                      <a:endParaRPr lang="en-US" dirty="0"/>
                    </a:p>
                  </a:txBody>
                  <a:tcPr/>
                </a:tc>
                <a:extLst>
                  <a:ext uri="{0D108BD9-81ED-4DB2-BD59-A6C34878D82A}">
                    <a16:rowId xmlns:a16="http://schemas.microsoft.com/office/drawing/2014/main" val="134311149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rgbClr val="543E34"/>
                          </a:solidFill>
                          <a:effectLst/>
                          <a:uLnTx/>
                          <a:uFillTx/>
                          <a:latin typeface="Gill Sans Nova Light"/>
                          <a:ea typeface="+mn-ea"/>
                          <a:cs typeface="+mn-cs"/>
                        </a:rPr>
                        <a:t>Pin 3</a:t>
                      </a: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a:txBody>
                  <a:tcPr/>
                </a:tc>
                <a:tc>
                  <a:txBody>
                    <a:bodyPr/>
                    <a:lstStyle/>
                    <a:p>
                      <a:r>
                        <a:rPr lang="en-US" dirty="0" smtClean="0"/>
                        <a:t>White/Green</a:t>
                      </a:r>
                      <a:endParaRPr lang="en-US" dirty="0"/>
                    </a:p>
                  </a:txBody>
                  <a:tcPr/>
                </a:tc>
                <a:tc>
                  <a:txBody>
                    <a:bodyPr/>
                    <a:lstStyle/>
                    <a:p>
                      <a:r>
                        <a:rPr lang="en-US" dirty="0" smtClean="0"/>
                        <a:t>Pair 3 (RX+)</a:t>
                      </a:r>
                      <a:endParaRPr lang="en-US" dirty="0"/>
                    </a:p>
                  </a:txBody>
                  <a:tcPr/>
                </a:tc>
                <a:extLst>
                  <a:ext uri="{0D108BD9-81ED-4DB2-BD59-A6C34878D82A}">
                    <a16:rowId xmlns:a16="http://schemas.microsoft.com/office/drawing/2014/main" val="326498900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rgbClr val="543E34"/>
                          </a:solidFill>
                          <a:effectLst/>
                          <a:uLnTx/>
                          <a:uFillTx/>
                          <a:latin typeface="Gill Sans Nova Light"/>
                          <a:ea typeface="+mn-ea"/>
                          <a:cs typeface="+mn-cs"/>
                        </a:rPr>
                        <a:t>Pin 4</a:t>
                      </a: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a:txBody>
                  <a:tcPr/>
                </a:tc>
                <a:tc>
                  <a:txBody>
                    <a:bodyPr/>
                    <a:lstStyle/>
                    <a:p>
                      <a:r>
                        <a:rPr lang="en-US" dirty="0" smtClean="0"/>
                        <a:t>Blue</a:t>
                      </a:r>
                      <a:endParaRPr lang="en-US" dirty="0"/>
                    </a:p>
                  </a:txBody>
                  <a:tcPr/>
                </a:tc>
                <a:tc>
                  <a:txBody>
                    <a:bodyPr/>
                    <a:lstStyle/>
                    <a:p>
                      <a:r>
                        <a:rPr lang="en-US" dirty="0" smtClean="0"/>
                        <a:t>Pair 1 (Unused, </a:t>
                      </a:r>
                      <a:r>
                        <a:rPr lang="en-US" dirty="0" err="1" smtClean="0"/>
                        <a:t>PoE</a:t>
                      </a:r>
                      <a:r>
                        <a:rPr lang="en-US" dirty="0" smtClean="0"/>
                        <a:t>)</a:t>
                      </a:r>
                      <a:endParaRPr lang="en-US" dirty="0"/>
                    </a:p>
                  </a:txBody>
                  <a:tcPr/>
                </a:tc>
                <a:extLst>
                  <a:ext uri="{0D108BD9-81ED-4DB2-BD59-A6C34878D82A}">
                    <a16:rowId xmlns:a16="http://schemas.microsoft.com/office/drawing/2014/main" val="19376819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rgbClr val="543E34"/>
                          </a:solidFill>
                          <a:effectLst/>
                          <a:uLnTx/>
                          <a:uFillTx/>
                          <a:latin typeface="Gill Sans Nova Light"/>
                          <a:ea typeface="+mn-ea"/>
                          <a:cs typeface="+mn-cs"/>
                        </a:rPr>
                        <a:t>Pin 5</a:t>
                      </a: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a:txBody>
                  <a:tcPr/>
                </a:tc>
                <a:tc>
                  <a:txBody>
                    <a:bodyPr/>
                    <a:lstStyle/>
                    <a:p>
                      <a:r>
                        <a:rPr lang="en-US" dirty="0" smtClean="0"/>
                        <a:t>White/Blue</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Pair 1 (Unused, </a:t>
                      </a:r>
                      <a:r>
                        <a:rPr lang="en-US" dirty="0" err="1" smtClean="0"/>
                        <a:t>PoE</a:t>
                      </a:r>
                      <a:r>
                        <a:rPr lang="en-US" dirty="0" smtClean="0"/>
                        <a:t>)</a:t>
                      </a:r>
                    </a:p>
                  </a:txBody>
                  <a:tcPr/>
                </a:tc>
                <a:extLst>
                  <a:ext uri="{0D108BD9-81ED-4DB2-BD59-A6C34878D82A}">
                    <a16:rowId xmlns:a16="http://schemas.microsoft.com/office/drawing/2014/main" val="55432822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rgbClr val="543E34"/>
                          </a:solidFill>
                          <a:effectLst/>
                          <a:uLnTx/>
                          <a:uFillTx/>
                          <a:latin typeface="Gill Sans Nova Light"/>
                          <a:ea typeface="+mn-ea"/>
                          <a:cs typeface="+mn-cs"/>
                        </a:rPr>
                        <a:t>Pin 6</a:t>
                      </a: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Green</a:t>
                      </a:r>
                    </a:p>
                  </a:txBody>
                  <a:tcPr/>
                </a:tc>
                <a:tc>
                  <a:txBody>
                    <a:bodyPr/>
                    <a:lstStyle/>
                    <a:p>
                      <a:r>
                        <a:rPr lang="en-US" dirty="0" smtClean="0"/>
                        <a:t>Pair 3 (RX-)</a:t>
                      </a:r>
                      <a:endParaRPr lang="en-US" dirty="0"/>
                    </a:p>
                  </a:txBody>
                  <a:tcPr/>
                </a:tc>
                <a:extLst>
                  <a:ext uri="{0D108BD9-81ED-4DB2-BD59-A6C34878D82A}">
                    <a16:rowId xmlns:a16="http://schemas.microsoft.com/office/drawing/2014/main" val="318844349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rgbClr val="543E34"/>
                          </a:solidFill>
                          <a:effectLst/>
                          <a:uLnTx/>
                          <a:uFillTx/>
                          <a:latin typeface="Gill Sans Nova Light"/>
                          <a:ea typeface="+mn-ea"/>
                          <a:cs typeface="+mn-cs"/>
                        </a:rPr>
                        <a:t>Pin 7</a:t>
                      </a: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a:txBody>
                  <a:tcPr/>
                </a:tc>
                <a:tc>
                  <a:txBody>
                    <a:bodyPr/>
                    <a:lstStyle/>
                    <a:p>
                      <a:r>
                        <a:rPr lang="en-US" dirty="0" smtClean="0"/>
                        <a:t>White/Brown</a:t>
                      </a:r>
                      <a:endParaRPr lang="en-US" dirty="0"/>
                    </a:p>
                  </a:txBody>
                  <a:tcPr/>
                </a:tc>
                <a:tc>
                  <a:txBody>
                    <a:bodyPr/>
                    <a:lstStyle/>
                    <a:p>
                      <a:r>
                        <a:rPr lang="en-US" dirty="0" smtClean="0"/>
                        <a:t>Pair 4 Unused</a:t>
                      </a:r>
                      <a:endParaRPr lang="en-US" dirty="0"/>
                    </a:p>
                  </a:txBody>
                  <a:tcPr/>
                </a:tc>
                <a:extLst>
                  <a:ext uri="{0D108BD9-81ED-4DB2-BD59-A6C34878D82A}">
                    <a16:rowId xmlns:a16="http://schemas.microsoft.com/office/drawing/2014/main" val="346030533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rgbClr val="543E34"/>
                          </a:solidFill>
                          <a:effectLst/>
                          <a:uLnTx/>
                          <a:uFillTx/>
                          <a:latin typeface="Gill Sans Nova Light"/>
                          <a:ea typeface="+mn-ea"/>
                          <a:cs typeface="+mn-cs"/>
                        </a:rPr>
                        <a:t>Pin 8</a:t>
                      </a: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a:txBody>
                  <a:tcPr/>
                </a:tc>
                <a:tc>
                  <a:txBody>
                    <a:bodyPr/>
                    <a:lstStyle/>
                    <a:p>
                      <a:r>
                        <a:rPr lang="en-US" dirty="0" smtClean="0"/>
                        <a:t>Brown</a:t>
                      </a:r>
                      <a:endParaRPr lang="en-US" dirty="0"/>
                    </a:p>
                  </a:txBody>
                  <a:tcPr/>
                </a:tc>
                <a:tc>
                  <a:txBody>
                    <a:bodyPr/>
                    <a:lstStyle/>
                    <a:p>
                      <a:r>
                        <a:rPr lang="en-US" dirty="0" smtClean="0"/>
                        <a:t>Pair 4 Unused</a:t>
                      </a:r>
                      <a:endParaRPr lang="en-US" dirty="0"/>
                    </a:p>
                  </a:txBody>
                  <a:tcPr/>
                </a:tc>
                <a:extLst>
                  <a:ext uri="{0D108BD9-81ED-4DB2-BD59-A6C34878D82A}">
                    <a16:rowId xmlns:a16="http://schemas.microsoft.com/office/drawing/2014/main" val="635741940"/>
                  </a:ext>
                </a:extLst>
              </a:tr>
            </a:tbl>
          </a:graphicData>
        </a:graphic>
      </p:graphicFrame>
    </p:spTree>
    <p:extLst>
      <p:ext uri="{BB962C8B-B14F-4D97-AF65-F5344CB8AC3E}">
        <p14:creationId xmlns:p14="http://schemas.microsoft.com/office/powerpoint/2010/main" val="14189540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544026"/>
          </a:xfrm>
        </p:spPr>
        <p:txBody>
          <a:bodyPr/>
          <a:lstStyle/>
          <a:p>
            <a:pPr algn="ctr"/>
            <a:r>
              <a:rPr lang="en-US" dirty="0">
                <a:latin typeface="Arial Black" panose="020B0A04020102020204" pitchFamily="34" charset="0"/>
              </a:rPr>
              <a:t>Straight-Through Cable</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809497"/>
            <a:ext cx="11631759" cy="5473316"/>
          </a:xfrm>
        </p:spPr>
        <p:txBody>
          <a:bodyPr>
            <a:normAutofit lnSpcReduction="10000"/>
          </a:bodyPr>
          <a:lstStyle/>
          <a:p>
            <a:pPr algn="just"/>
            <a:r>
              <a:rPr lang="en-US" sz="2400" dirty="0">
                <a:latin typeface="Arial Black" panose="020B0A04020102020204" pitchFamily="34" charset="0"/>
              </a:rPr>
              <a:t>A straight-through cable is the most commonly used Ethernet cable for connecting different types of devices</a:t>
            </a:r>
            <a:r>
              <a:rPr lang="en-US" sz="2400" dirty="0" smtClean="0">
                <a:latin typeface="Arial Black" panose="020B0A04020102020204" pitchFamily="34" charset="0"/>
              </a:rPr>
              <a:t>.</a:t>
            </a:r>
          </a:p>
          <a:p>
            <a:pPr algn="just"/>
            <a:r>
              <a:rPr lang="en-US" sz="2400" dirty="0">
                <a:solidFill>
                  <a:srgbClr val="FF0000"/>
                </a:solidFill>
                <a:latin typeface="Arial Black" panose="020B0A04020102020204" pitchFamily="34" charset="0"/>
              </a:rPr>
              <a:t>Purpose</a:t>
            </a:r>
            <a:r>
              <a:rPr lang="en-US" sz="2400" dirty="0" smtClean="0">
                <a:solidFill>
                  <a:srgbClr val="FF0000"/>
                </a:solidFill>
                <a:latin typeface="Arial Black" panose="020B0A04020102020204" pitchFamily="34" charset="0"/>
              </a:rPr>
              <a:t>: </a:t>
            </a:r>
            <a:r>
              <a:rPr lang="en-US" sz="2400" dirty="0" smtClean="0">
                <a:latin typeface="Arial Black" panose="020B0A04020102020204" pitchFamily="34" charset="0"/>
              </a:rPr>
              <a:t>Used </a:t>
            </a:r>
            <a:r>
              <a:rPr lang="en-US" sz="2400" dirty="0">
                <a:latin typeface="Arial Black" panose="020B0A04020102020204" pitchFamily="34" charset="0"/>
              </a:rPr>
              <a:t>to connect different types of devices, such as a computer to a switch or router, or a router to a modem</a:t>
            </a:r>
            <a:r>
              <a:rPr lang="en-US" sz="2400" dirty="0" smtClean="0">
                <a:latin typeface="Arial Black" panose="020B0A04020102020204" pitchFamily="34" charset="0"/>
              </a:rPr>
              <a:t>.</a:t>
            </a:r>
          </a:p>
          <a:p>
            <a:pPr algn="just"/>
            <a:r>
              <a:rPr lang="en-US" sz="2400" dirty="0" smtClean="0">
                <a:solidFill>
                  <a:srgbClr val="FF0000"/>
                </a:solidFill>
                <a:latin typeface="Arial Black" panose="020B0A04020102020204" pitchFamily="34" charset="0"/>
              </a:rPr>
              <a:t>Wiring </a:t>
            </a:r>
            <a:r>
              <a:rPr lang="en-US" sz="2400" dirty="0">
                <a:solidFill>
                  <a:srgbClr val="FF0000"/>
                </a:solidFill>
                <a:latin typeface="Arial Black" panose="020B0A04020102020204" pitchFamily="34" charset="0"/>
              </a:rPr>
              <a:t>Standard</a:t>
            </a:r>
            <a:r>
              <a:rPr lang="en-US" sz="2400" dirty="0" smtClean="0">
                <a:latin typeface="Arial Black" panose="020B0A04020102020204" pitchFamily="34" charset="0"/>
              </a:rPr>
              <a:t>: Both </a:t>
            </a:r>
            <a:r>
              <a:rPr lang="en-US" sz="2400" dirty="0">
                <a:latin typeface="Arial Black" panose="020B0A04020102020204" pitchFamily="34" charset="0"/>
              </a:rPr>
              <a:t>ends use the same wiring standard, either T568A or T568B</a:t>
            </a:r>
            <a:r>
              <a:rPr lang="en-US" sz="2400" dirty="0" smtClean="0">
                <a:latin typeface="Arial Black" panose="020B0A04020102020204" pitchFamily="34" charset="0"/>
              </a:rPr>
              <a:t>.</a:t>
            </a:r>
          </a:p>
          <a:p>
            <a:pPr lvl="1" algn="just"/>
            <a:r>
              <a:rPr lang="en-US" sz="2200" dirty="0" smtClean="0">
                <a:latin typeface="Arial Black" panose="020B0A04020102020204" pitchFamily="34" charset="0"/>
              </a:rPr>
              <a:t>T568A</a:t>
            </a:r>
            <a:r>
              <a:rPr lang="en-US" sz="2200" dirty="0">
                <a:latin typeface="Arial Black" panose="020B0A04020102020204" pitchFamily="34" charset="0"/>
              </a:rPr>
              <a:t>: Pin configuration at both ends follows the T568A standard</a:t>
            </a:r>
            <a:r>
              <a:rPr lang="en-US" sz="2200" dirty="0" smtClean="0">
                <a:latin typeface="Arial Black" panose="020B0A04020102020204" pitchFamily="34" charset="0"/>
              </a:rPr>
              <a:t>.</a:t>
            </a:r>
          </a:p>
          <a:p>
            <a:pPr lvl="1" algn="just"/>
            <a:r>
              <a:rPr lang="en-US" sz="2200" dirty="0" smtClean="0">
                <a:latin typeface="Arial Black" panose="020B0A04020102020204" pitchFamily="34" charset="0"/>
              </a:rPr>
              <a:t>T568B</a:t>
            </a:r>
            <a:r>
              <a:rPr lang="en-US" sz="2200" dirty="0">
                <a:latin typeface="Arial Black" panose="020B0A04020102020204" pitchFamily="34" charset="0"/>
              </a:rPr>
              <a:t>: Pin configuration at both ends follows the T568B standard</a:t>
            </a:r>
            <a:r>
              <a:rPr lang="en-US" sz="2200" dirty="0" smtClean="0">
                <a:latin typeface="Arial Black" panose="020B0A04020102020204" pitchFamily="34" charset="0"/>
              </a:rPr>
              <a:t>.</a:t>
            </a:r>
          </a:p>
          <a:p>
            <a:pPr algn="just"/>
            <a:r>
              <a:rPr lang="en-US" sz="2200" dirty="0">
                <a:solidFill>
                  <a:srgbClr val="FF0000"/>
                </a:solidFill>
                <a:latin typeface="Arial Black" panose="020B0A04020102020204" pitchFamily="34" charset="0"/>
              </a:rPr>
              <a:t>Pin </a:t>
            </a:r>
            <a:r>
              <a:rPr lang="en-US" sz="2200" dirty="0" smtClean="0">
                <a:solidFill>
                  <a:srgbClr val="FF0000"/>
                </a:solidFill>
                <a:latin typeface="Arial Black" panose="020B0A04020102020204" pitchFamily="34" charset="0"/>
              </a:rPr>
              <a:t>Configuration: </a:t>
            </a:r>
            <a:r>
              <a:rPr lang="en-US" sz="2200" dirty="0" smtClean="0">
                <a:latin typeface="Arial Black" panose="020B0A04020102020204" pitchFamily="34" charset="0"/>
              </a:rPr>
              <a:t>For </a:t>
            </a:r>
            <a:r>
              <a:rPr lang="en-US" sz="2200" dirty="0">
                <a:latin typeface="Arial Black" panose="020B0A04020102020204" pitchFamily="34" charset="0"/>
              </a:rPr>
              <a:t>both ends (same for T568A or T568B</a:t>
            </a:r>
            <a:r>
              <a:rPr lang="en-US" sz="2200" dirty="0" smtClean="0">
                <a:latin typeface="Arial Black" panose="020B0A04020102020204" pitchFamily="34" charset="0"/>
              </a:rPr>
              <a:t>):</a:t>
            </a:r>
          </a:p>
          <a:p>
            <a:pPr lvl="1" algn="just"/>
            <a:r>
              <a:rPr lang="en-US" sz="2000" dirty="0" smtClean="0">
                <a:latin typeface="Arial Black" panose="020B0A04020102020204" pitchFamily="34" charset="0"/>
              </a:rPr>
              <a:t>Pin </a:t>
            </a:r>
            <a:r>
              <a:rPr lang="en-US" sz="2000" dirty="0">
                <a:latin typeface="Arial Black" panose="020B0A04020102020204" pitchFamily="34" charset="0"/>
              </a:rPr>
              <a:t>1 (Transmit) connects to Pin 1 (Receive</a:t>
            </a:r>
            <a:r>
              <a:rPr lang="en-US" sz="2000" dirty="0" smtClean="0">
                <a:latin typeface="Arial Black" panose="020B0A04020102020204" pitchFamily="34" charset="0"/>
              </a:rPr>
              <a:t>)</a:t>
            </a:r>
          </a:p>
          <a:p>
            <a:pPr lvl="1" algn="just"/>
            <a:r>
              <a:rPr lang="en-US" sz="2000" dirty="0" smtClean="0">
                <a:latin typeface="Arial Black" panose="020B0A04020102020204" pitchFamily="34" charset="0"/>
              </a:rPr>
              <a:t>Pin </a:t>
            </a:r>
            <a:r>
              <a:rPr lang="en-US" sz="2000" dirty="0">
                <a:latin typeface="Arial Black" panose="020B0A04020102020204" pitchFamily="34" charset="0"/>
              </a:rPr>
              <a:t>2 (Transmit) connects to Pin 2 (Receive</a:t>
            </a:r>
            <a:r>
              <a:rPr lang="en-US" sz="2000" dirty="0" smtClean="0">
                <a:latin typeface="Arial Black" panose="020B0A04020102020204" pitchFamily="34" charset="0"/>
              </a:rPr>
              <a:t>)</a:t>
            </a:r>
          </a:p>
          <a:p>
            <a:pPr lvl="1" algn="just"/>
            <a:r>
              <a:rPr lang="en-US" sz="2000" dirty="0" smtClean="0">
                <a:latin typeface="Arial Black" panose="020B0A04020102020204" pitchFamily="34" charset="0"/>
              </a:rPr>
              <a:t>Pin </a:t>
            </a:r>
            <a:r>
              <a:rPr lang="en-US" sz="2000" dirty="0">
                <a:latin typeface="Arial Black" panose="020B0A04020102020204" pitchFamily="34" charset="0"/>
              </a:rPr>
              <a:t>3 (Receive) connects to Pin 3 (Transmit</a:t>
            </a:r>
            <a:r>
              <a:rPr lang="en-US" sz="2000" dirty="0" smtClean="0">
                <a:latin typeface="Arial Black" panose="020B0A04020102020204" pitchFamily="34" charset="0"/>
              </a:rPr>
              <a:t>)</a:t>
            </a:r>
          </a:p>
          <a:p>
            <a:pPr lvl="1" algn="just"/>
            <a:r>
              <a:rPr lang="en-US" sz="2000" dirty="0" smtClean="0">
                <a:latin typeface="Arial Black" panose="020B0A04020102020204" pitchFamily="34" charset="0"/>
              </a:rPr>
              <a:t>Pin </a:t>
            </a:r>
            <a:r>
              <a:rPr lang="en-US" sz="2000" dirty="0">
                <a:latin typeface="Arial Black" panose="020B0A04020102020204" pitchFamily="34" charset="0"/>
              </a:rPr>
              <a:t>6 (Receive) connects to Pin 6 (Transmit</a:t>
            </a:r>
            <a:r>
              <a:rPr lang="en-US" sz="2000" dirty="0" smtClean="0">
                <a:latin typeface="Arial Black" panose="020B0A04020102020204" pitchFamily="34" charset="0"/>
              </a:rPr>
              <a:t>)</a:t>
            </a:r>
          </a:p>
          <a:p>
            <a:pPr algn="just"/>
            <a:r>
              <a:rPr lang="en-US" sz="2200" dirty="0" smtClean="0">
                <a:solidFill>
                  <a:srgbClr val="FF0000"/>
                </a:solidFill>
                <a:latin typeface="Arial Black" panose="020B0A04020102020204" pitchFamily="34" charset="0"/>
              </a:rPr>
              <a:t>Use </a:t>
            </a:r>
            <a:r>
              <a:rPr lang="en-US" sz="2200" dirty="0">
                <a:solidFill>
                  <a:srgbClr val="FF0000"/>
                </a:solidFill>
                <a:latin typeface="Arial Black" panose="020B0A04020102020204" pitchFamily="34" charset="0"/>
              </a:rPr>
              <a:t>Cases</a:t>
            </a:r>
            <a:r>
              <a:rPr lang="en-US" sz="2200" dirty="0" smtClean="0">
                <a:solidFill>
                  <a:srgbClr val="FF0000"/>
                </a:solidFill>
                <a:latin typeface="Arial Black" panose="020B0A04020102020204" pitchFamily="34" charset="0"/>
              </a:rPr>
              <a:t>: </a:t>
            </a:r>
            <a:r>
              <a:rPr lang="en-US" sz="2200" dirty="0" smtClean="0">
                <a:latin typeface="Arial Black" panose="020B0A04020102020204" pitchFamily="34" charset="0"/>
              </a:rPr>
              <a:t>PC </a:t>
            </a:r>
            <a:r>
              <a:rPr lang="en-US" sz="2200" dirty="0">
                <a:latin typeface="Arial Black" panose="020B0A04020102020204" pitchFamily="34" charset="0"/>
              </a:rPr>
              <a:t>to </a:t>
            </a:r>
            <a:r>
              <a:rPr lang="en-US" sz="2200" dirty="0" smtClean="0">
                <a:latin typeface="Arial Black" panose="020B0A04020102020204" pitchFamily="34" charset="0"/>
              </a:rPr>
              <a:t>Switch/Hub/Router</a:t>
            </a:r>
          </a:p>
          <a:p>
            <a:pPr lvl="4" algn="just"/>
            <a:r>
              <a:rPr lang="en-US" sz="2200" dirty="0" smtClean="0">
                <a:latin typeface="Arial Black" panose="020B0A04020102020204" pitchFamily="34" charset="0"/>
              </a:rPr>
              <a:t>Router </a:t>
            </a:r>
            <a:r>
              <a:rPr lang="en-US" sz="2200" dirty="0">
                <a:latin typeface="Arial Black" panose="020B0A04020102020204" pitchFamily="34" charset="0"/>
              </a:rPr>
              <a:t>to Modem</a:t>
            </a:r>
            <a:endParaRPr lang="en-US" sz="2200"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11</a:t>
            </a:fld>
            <a:endParaRPr lang="en-US" dirty="0"/>
          </a:p>
        </p:txBody>
      </p:sp>
    </p:spTree>
    <p:extLst>
      <p:ext uri="{BB962C8B-B14F-4D97-AF65-F5344CB8AC3E}">
        <p14:creationId xmlns:p14="http://schemas.microsoft.com/office/powerpoint/2010/main" val="38910536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80219" y="1047135"/>
            <a:ext cx="10913807" cy="5324168"/>
          </a:xfrm>
          <a:prstGeom prst="rect">
            <a:avLst/>
          </a:prstGeom>
        </p:spPr>
      </p:pic>
      <p:sp>
        <p:nvSpPr>
          <p:cNvPr id="5" name="Slide Number Placeholder 4"/>
          <p:cNvSpPr>
            <a:spLocks noGrp="1"/>
          </p:cNvSpPr>
          <p:nvPr>
            <p:ph type="sldNum" sz="quarter" idx="4"/>
          </p:nvPr>
        </p:nvSpPr>
        <p:spPr/>
        <p:txBody>
          <a:bodyPr/>
          <a:lstStyle/>
          <a:p>
            <a:fld id="{58FB4751-880F-D840-AAA9-3A15815CC996}" type="slidenum">
              <a:rPr lang="en-US" smtClean="0"/>
              <a:pPr/>
              <a:t>12</a:t>
            </a:fld>
            <a:endParaRPr lang="en-US" dirty="0"/>
          </a:p>
        </p:txBody>
      </p:sp>
      <p:sp>
        <p:nvSpPr>
          <p:cNvPr id="2" name="TextBox 1"/>
          <p:cNvSpPr txBox="1"/>
          <p:nvPr/>
        </p:nvSpPr>
        <p:spPr>
          <a:xfrm>
            <a:off x="2802193" y="236844"/>
            <a:ext cx="6282813" cy="646331"/>
          </a:xfrm>
          <a:prstGeom prst="rect">
            <a:avLst/>
          </a:prstGeom>
          <a:noFill/>
        </p:spPr>
        <p:txBody>
          <a:bodyPr wrap="square" rtlCol="0">
            <a:spAutoFit/>
          </a:bodyPr>
          <a:lstStyle/>
          <a:p>
            <a:r>
              <a:rPr lang="en-US" sz="3600" b="1" dirty="0" smtClean="0"/>
              <a:t>Straight Through Cable</a:t>
            </a:r>
            <a:endParaRPr lang="en-US" sz="3600" b="1" dirty="0"/>
          </a:p>
        </p:txBody>
      </p:sp>
    </p:spTree>
    <p:extLst>
      <p:ext uri="{BB962C8B-B14F-4D97-AF65-F5344CB8AC3E}">
        <p14:creationId xmlns:p14="http://schemas.microsoft.com/office/powerpoint/2010/main" val="29735130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544026"/>
          </a:xfrm>
        </p:spPr>
        <p:txBody>
          <a:bodyPr/>
          <a:lstStyle/>
          <a:p>
            <a:pPr algn="ctr"/>
            <a:r>
              <a:rPr lang="en-US" dirty="0" smtClean="0">
                <a:latin typeface="Arial Black" panose="020B0A04020102020204" pitchFamily="34" charset="0"/>
              </a:rPr>
              <a:t>Crossover </a:t>
            </a:r>
            <a:r>
              <a:rPr lang="en-US" dirty="0">
                <a:latin typeface="Arial Black" panose="020B0A04020102020204" pitchFamily="34" charset="0"/>
              </a:rPr>
              <a:t>Cable</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809497"/>
            <a:ext cx="11631759" cy="5473316"/>
          </a:xfrm>
        </p:spPr>
        <p:txBody>
          <a:bodyPr>
            <a:normAutofit fontScale="92500" lnSpcReduction="10000"/>
          </a:bodyPr>
          <a:lstStyle/>
          <a:p>
            <a:pPr algn="just"/>
            <a:r>
              <a:rPr lang="en-US" sz="2400" dirty="0">
                <a:latin typeface="Arial Black" panose="020B0A04020102020204" pitchFamily="34" charset="0"/>
              </a:rPr>
              <a:t>A crossover cable is used to connect two similar devices directly without the need for a switch or hub</a:t>
            </a:r>
            <a:r>
              <a:rPr lang="en-US" sz="2400" dirty="0" smtClean="0">
                <a:latin typeface="Arial Black" panose="020B0A04020102020204" pitchFamily="34" charset="0"/>
              </a:rPr>
              <a:t>.</a:t>
            </a:r>
          </a:p>
          <a:p>
            <a:pPr algn="just"/>
            <a:r>
              <a:rPr lang="en-US" sz="2400" dirty="0">
                <a:solidFill>
                  <a:srgbClr val="FF0000"/>
                </a:solidFill>
                <a:latin typeface="Arial Black" panose="020B0A04020102020204" pitchFamily="34" charset="0"/>
              </a:rPr>
              <a:t>Purpose</a:t>
            </a:r>
            <a:r>
              <a:rPr lang="en-US" sz="2400" dirty="0" smtClean="0">
                <a:solidFill>
                  <a:srgbClr val="FF0000"/>
                </a:solidFill>
                <a:latin typeface="Arial Black" panose="020B0A04020102020204" pitchFamily="34" charset="0"/>
              </a:rPr>
              <a:t>: </a:t>
            </a:r>
            <a:r>
              <a:rPr lang="en-US" sz="2400" dirty="0">
                <a:latin typeface="Arial Black" panose="020B0A04020102020204" pitchFamily="34" charset="0"/>
              </a:rPr>
              <a:t>Used to connect similar devices, such as computer-to-computer, switch-to-switch, or router-to-router without an intermediary </a:t>
            </a:r>
            <a:r>
              <a:rPr lang="en-US" sz="2400" dirty="0" smtClean="0">
                <a:latin typeface="Arial Black" panose="020B0A04020102020204" pitchFamily="34" charset="0"/>
              </a:rPr>
              <a:t>device.</a:t>
            </a:r>
          </a:p>
          <a:p>
            <a:pPr algn="just"/>
            <a:r>
              <a:rPr lang="en-US" sz="2400" dirty="0" smtClean="0">
                <a:solidFill>
                  <a:srgbClr val="FF0000"/>
                </a:solidFill>
                <a:latin typeface="Arial Black" panose="020B0A04020102020204" pitchFamily="34" charset="0"/>
              </a:rPr>
              <a:t>Wiring </a:t>
            </a:r>
            <a:r>
              <a:rPr lang="en-US" sz="2400" dirty="0">
                <a:solidFill>
                  <a:srgbClr val="FF0000"/>
                </a:solidFill>
                <a:latin typeface="Arial Black" panose="020B0A04020102020204" pitchFamily="34" charset="0"/>
              </a:rPr>
              <a:t>Standard</a:t>
            </a:r>
            <a:r>
              <a:rPr lang="en-US" sz="2400" dirty="0">
                <a:latin typeface="Arial Black" panose="020B0A04020102020204" pitchFamily="34" charset="0"/>
              </a:rPr>
              <a:t>: One end follows the T568A standard, and the other end follows the T568B standard.</a:t>
            </a:r>
            <a:endParaRPr lang="en-US" sz="2400" dirty="0" smtClean="0">
              <a:latin typeface="Arial Black" panose="020B0A04020102020204" pitchFamily="34" charset="0"/>
            </a:endParaRPr>
          </a:p>
          <a:p>
            <a:pPr algn="just"/>
            <a:r>
              <a:rPr lang="en-US" sz="2200" dirty="0" smtClean="0">
                <a:solidFill>
                  <a:srgbClr val="FF0000"/>
                </a:solidFill>
                <a:latin typeface="Arial Black" panose="020B0A04020102020204" pitchFamily="34" charset="0"/>
              </a:rPr>
              <a:t>Pin Configuration:</a:t>
            </a:r>
            <a:endParaRPr lang="en-US" sz="2200" dirty="0" smtClean="0">
              <a:latin typeface="Arial Black" panose="020B0A04020102020204" pitchFamily="34" charset="0"/>
            </a:endParaRPr>
          </a:p>
          <a:p>
            <a:pPr lvl="1" algn="just"/>
            <a:r>
              <a:rPr lang="en-US" sz="2000" dirty="0">
                <a:latin typeface="Arial Black" panose="020B0A04020102020204" pitchFamily="34" charset="0"/>
              </a:rPr>
              <a:t>T568A end</a:t>
            </a:r>
            <a:r>
              <a:rPr lang="en-US" sz="2000" dirty="0" smtClean="0">
                <a:latin typeface="Arial Black" panose="020B0A04020102020204" pitchFamily="34" charset="0"/>
              </a:rPr>
              <a:t>: </a:t>
            </a:r>
          </a:p>
          <a:p>
            <a:pPr lvl="2" algn="just"/>
            <a:r>
              <a:rPr lang="en-US" sz="1800" dirty="0" smtClean="0">
                <a:latin typeface="Arial Black" panose="020B0A04020102020204" pitchFamily="34" charset="0"/>
              </a:rPr>
              <a:t>Pin </a:t>
            </a:r>
            <a:r>
              <a:rPr lang="en-US" sz="1800" dirty="0">
                <a:latin typeface="Arial Black" panose="020B0A04020102020204" pitchFamily="34" charset="0"/>
              </a:rPr>
              <a:t>1 (Transmit) connects to Pin 3 (Receive</a:t>
            </a:r>
            <a:r>
              <a:rPr lang="en-US" sz="1800" dirty="0" smtClean="0">
                <a:latin typeface="Arial Black" panose="020B0A04020102020204" pitchFamily="34" charset="0"/>
              </a:rPr>
              <a:t>)</a:t>
            </a:r>
          </a:p>
          <a:p>
            <a:pPr lvl="2" algn="just"/>
            <a:r>
              <a:rPr lang="en-US" sz="1800" dirty="0" smtClean="0">
                <a:latin typeface="Arial Black" panose="020B0A04020102020204" pitchFamily="34" charset="0"/>
              </a:rPr>
              <a:t>Pin </a:t>
            </a:r>
            <a:r>
              <a:rPr lang="en-US" sz="1800" dirty="0">
                <a:latin typeface="Arial Black" panose="020B0A04020102020204" pitchFamily="34" charset="0"/>
              </a:rPr>
              <a:t>2 (Transmit) connects to Pin 6 (Receive</a:t>
            </a:r>
            <a:r>
              <a:rPr lang="en-US" sz="1800" dirty="0" smtClean="0">
                <a:latin typeface="Arial Black" panose="020B0A04020102020204" pitchFamily="34" charset="0"/>
              </a:rPr>
              <a:t>)</a:t>
            </a:r>
          </a:p>
          <a:p>
            <a:pPr lvl="2" algn="just"/>
            <a:r>
              <a:rPr lang="en-US" sz="1800" dirty="0" smtClean="0">
                <a:latin typeface="Arial Black" panose="020B0A04020102020204" pitchFamily="34" charset="0"/>
              </a:rPr>
              <a:t>Pin </a:t>
            </a:r>
            <a:r>
              <a:rPr lang="en-US" sz="1800" dirty="0">
                <a:latin typeface="Arial Black" panose="020B0A04020102020204" pitchFamily="34" charset="0"/>
              </a:rPr>
              <a:t>3 (Receive) connects to Pin 1 (Transmit</a:t>
            </a:r>
            <a:r>
              <a:rPr lang="en-US" sz="1800" dirty="0" smtClean="0">
                <a:latin typeface="Arial Black" panose="020B0A04020102020204" pitchFamily="34" charset="0"/>
              </a:rPr>
              <a:t>)</a:t>
            </a:r>
          </a:p>
          <a:p>
            <a:pPr lvl="2" algn="just"/>
            <a:r>
              <a:rPr lang="en-US" sz="1800" dirty="0" smtClean="0">
                <a:latin typeface="Arial Black" panose="020B0A04020102020204" pitchFamily="34" charset="0"/>
              </a:rPr>
              <a:t>Pin </a:t>
            </a:r>
            <a:r>
              <a:rPr lang="en-US" sz="1800" dirty="0">
                <a:latin typeface="Arial Black" panose="020B0A04020102020204" pitchFamily="34" charset="0"/>
              </a:rPr>
              <a:t>6 (Receive) connects to Pin 2 (Transmit</a:t>
            </a:r>
            <a:r>
              <a:rPr lang="en-US" sz="1800" dirty="0" smtClean="0">
                <a:latin typeface="Arial Black" panose="020B0A04020102020204" pitchFamily="34" charset="0"/>
              </a:rPr>
              <a:t>)</a:t>
            </a:r>
          </a:p>
          <a:p>
            <a:pPr lvl="1" algn="just"/>
            <a:r>
              <a:rPr lang="en-US" sz="2200" dirty="0" smtClean="0">
                <a:solidFill>
                  <a:srgbClr val="FF0000"/>
                </a:solidFill>
                <a:latin typeface="Arial Black" panose="020B0A04020102020204" pitchFamily="34" charset="0"/>
              </a:rPr>
              <a:t>Use </a:t>
            </a:r>
            <a:r>
              <a:rPr lang="en-US" sz="2200" dirty="0">
                <a:solidFill>
                  <a:srgbClr val="FF0000"/>
                </a:solidFill>
                <a:latin typeface="Arial Black" panose="020B0A04020102020204" pitchFamily="34" charset="0"/>
              </a:rPr>
              <a:t>Cases</a:t>
            </a:r>
            <a:r>
              <a:rPr lang="en-US" sz="2200" dirty="0" smtClean="0">
                <a:solidFill>
                  <a:srgbClr val="FF0000"/>
                </a:solidFill>
                <a:latin typeface="Arial Black" panose="020B0A04020102020204" pitchFamily="34" charset="0"/>
              </a:rPr>
              <a:t>: </a:t>
            </a:r>
          </a:p>
          <a:p>
            <a:pPr lvl="4" algn="just"/>
            <a:r>
              <a:rPr lang="en-US" sz="1800" dirty="0" smtClean="0">
                <a:latin typeface="Arial Black" panose="020B0A04020102020204" pitchFamily="34" charset="0"/>
              </a:rPr>
              <a:t>PC </a:t>
            </a:r>
            <a:r>
              <a:rPr lang="en-US" sz="1800" dirty="0">
                <a:latin typeface="Arial Black" panose="020B0A04020102020204" pitchFamily="34" charset="0"/>
              </a:rPr>
              <a:t>to </a:t>
            </a:r>
            <a:r>
              <a:rPr lang="en-US" sz="1800" dirty="0" smtClean="0">
                <a:latin typeface="Arial Black" panose="020B0A04020102020204" pitchFamily="34" charset="0"/>
              </a:rPr>
              <a:t>PC</a:t>
            </a:r>
          </a:p>
          <a:p>
            <a:pPr lvl="4" algn="just"/>
            <a:r>
              <a:rPr lang="en-US" sz="2200" dirty="0" smtClean="0">
                <a:latin typeface="Arial Black" panose="020B0A04020102020204" pitchFamily="34" charset="0"/>
              </a:rPr>
              <a:t>Switch to Switch</a:t>
            </a:r>
          </a:p>
          <a:p>
            <a:pPr lvl="4" algn="just"/>
            <a:r>
              <a:rPr lang="en-US" sz="2200" dirty="0" smtClean="0">
                <a:latin typeface="Arial Black" panose="020B0A04020102020204" pitchFamily="34" charset="0"/>
              </a:rPr>
              <a:t>Router to Router</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13</a:t>
            </a:fld>
            <a:endParaRPr lang="en-US" dirty="0"/>
          </a:p>
        </p:txBody>
      </p:sp>
    </p:spTree>
    <p:extLst>
      <p:ext uri="{BB962C8B-B14F-4D97-AF65-F5344CB8AC3E}">
        <p14:creationId xmlns:p14="http://schemas.microsoft.com/office/powerpoint/2010/main" val="35694897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462694" y="1047135"/>
            <a:ext cx="10548857" cy="5324168"/>
          </a:xfrm>
          <a:prstGeom prst="rect">
            <a:avLst/>
          </a:prstGeom>
        </p:spPr>
      </p:pic>
      <p:sp>
        <p:nvSpPr>
          <p:cNvPr id="5" name="Slide Number Placeholder 4"/>
          <p:cNvSpPr>
            <a:spLocks noGrp="1"/>
          </p:cNvSpPr>
          <p:nvPr>
            <p:ph type="sldNum" sz="quarter" idx="4"/>
          </p:nvPr>
        </p:nvSpPr>
        <p:spPr/>
        <p:txBody>
          <a:bodyPr/>
          <a:lstStyle/>
          <a:p>
            <a:fld id="{58FB4751-880F-D840-AAA9-3A15815CC996}" type="slidenum">
              <a:rPr lang="en-US" smtClean="0"/>
              <a:pPr/>
              <a:t>14</a:t>
            </a:fld>
            <a:endParaRPr lang="en-US" dirty="0"/>
          </a:p>
        </p:txBody>
      </p:sp>
      <p:sp>
        <p:nvSpPr>
          <p:cNvPr id="2" name="TextBox 1"/>
          <p:cNvSpPr txBox="1"/>
          <p:nvPr/>
        </p:nvSpPr>
        <p:spPr>
          <a:xfrm>
            <a:off x="2802193" y="236844"/>
            <a:ext cx="6282813" cy="646331"/>
          </a:xfrm>
          <a:prstGeom prst="rect">
            <a:avLst/>
          </a:prstGeom>
          <a:noFill/>
        </p:spPr>
        <p:txBody>
          <a:bodyPr wrap="square" rtlCol="0">
            <a:spAutoFit/>
          </a:bodyPr>
          <a:lstStyle/>
          <a:p>
            <a:r>
              <a:rPr lang="en-US" sz="3600" b="1" dirty="0" smtClean="0"/>
              <a:t>Crossover Cable</a:t>
            </a:r>
            <a:endParaRPr lang="en-US" sz="3600" b="1" dirty="0"/>
          </a:p>
        </p:txBody>
      </p:sp>
    </p:spTree>
    <p:extLst>
      <p:ext uri="{BB962C8B-B14F-4D97-AF65-F5344CB8AC3E}">
        <p14:creationId xmlns:p14="http://schemas.microsoft.com/office/powerpoint/2010/main" val="7917670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544026"/>
          </a:xfrm>
        </p:spPr>
        <p:txBody>
          <a:bodyPr/>
          <a:lstStyle/>
          <a:p>
            <a:pPr algn="ctr"/>
            <a:r>
              <a:rPr lang="en-US" dirty="0" smtClean="0">
                <a:latin typeface="Arial Black" panose="020B0A04020102020204" pitchFamily="34" charset="0"/>
              </a:rPr>
              <a:t>Rollover Cable (Console cable)</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809497"/>
            <a:ext cx="11631759" cy="5966206"/>
          </a:xfrm>
        </p:spPr>
        <p:txBody>
          <a:bodyPr>
            <a:normAutofit fontScale="92500" lnSpcReduction="10000"/>
          </a:bodyPr>
          <a:lstStyle/>
          <a:p>
            <a:pPr algn="just"/>
            <a:r>
              <a:rPr lang="en-US" sz="2400" dirty="0">
                <a:latin typeface="Arial Black" panose="020B0A04020102020204" pitchFamily="34" charset="0"/>
              </a:rPr>
              <a:t>A rollover cable is used to connect a computer to a router or switch's console port, typically for administrative </a:t>
            </a:r>
            <a:r>
              <a:rPr lang="en-US" sz="2400" dirty="0" smtClean="0">
                <a:latin typeface="Arial Black" panose="020B0A04020102020204" pitchFamily="34" charset="0"/>
              </a:rPr>
              <a:t>purposes.</a:t>
            </a:r>
          </a:p>
          <a:p>
            <a:pPr algn="just"/>
            <a:r>
              <a:rPr lang="en-US" sz="2400" dirty="0">
                <a:solidFill>
                  <a:srgbClr val="FF0000"/>
                </a:solidFill>
                <a:latin typeface="Arial Black" panose="020B0A04020102020204" pitchFamily="34" charset="0"/>
              </a:rPr>
              <a:t>Purpose</a:t>
            </a:r>
            <a:r>
              <a:rPr lang="en-US" sz="2400" dirty="0" smtClean="0">
                <a:solidFill>
                  <a:srgbClr val="FF0000"/>
                </a:solidFill>
                <a:latin typeface="Arial Black" panose="020B0A04020102020204" pitchFamily="34" charset="0"/>
              </a:rPr>
              <a:t>: </a:t>
            </a:r>
            <a:r>
              <a:rPr lang="en-US" sz="2400" dirty="0">
                <a:latin typeface="Arial Black" panose="020B0A04020102020204" pitchFamily="34" charset="0"/>
              </a:rPr>
              <a:t>Used for connecting a computer to the console port of networking devices, such as Cisco routers or switches for configuration </a:t>
            </a:r>
            <a:r>
              <a:rPr lang="en-US" sz="2400" dirty="0" smtClean="0">
                <a:latin typeface="Arial Black" panose="020B0A04020102020204" pitchFamily="34" charset="0"/>
              </a:rPr>
              <a:t>purposes.</a:t>
            </a:r>
          </a:p>
          <a:p>
            <a:pPr algn="just"/>
            <a:r>
              <a:rPr lang="en-US" sz="2400" dirty="0" smtClean="0">
                <a:solidFill>
                  <a:srgbClr val="FF0000"/>
                </a:solidFill>
                <a:latin typeface="Arial Black" panose="020B0A04020102020204" pitchFamily="34" charset="0"/>
              </a:rPr>
              <a:t>Wiring </a:t>
            </a:r>
            <a:r>
              <a:rPr lang="en-US" sz="2400" dirty="0">
                <a:solidFill>
                  <a:srgbClr val="FF0000"/>
                </a:solidFill>
                <a:latin typeface="Arial Black" panose="020B0A04020102020204" pitchFamily="34" charset="0"/>
              </a:rPr>
              <a:t>Standard</a:t>
            </a:r>
            <a:r>
              <a:rPr lang="en-US" sz="2400" dirty="0">
                <a:latin typeface="Arial Black" panose="020B0A04020102020204" pitchFamily="34" charset="0"/>
              </a:rPr>
              <a:t>: The pins on one end are completely reversed from the other </a:t>
            </a:r>
            <a:r>
              <a:rPr lang="en-US" sz="2400" dirty="0" smtClean="0">
                <a:latin typeface="Arial Black" panose="020B0A04020102020204" pitchFamily="34" charset="0"/>
              </a:rPr>
              <a:t>end.</a:t>
            </a:r>
          </a:p>
          <a:p>
            <a:pPr algn="just"/>
            <a:r>
              <a:rPr lang="en-US" sz="2200" dirty="0" smtClean="0">
                <a:solidFill>
                  <a:srgbClr val="FF0000"/>
                </a:solidFill>
                <a:latin typeface="Arial Black" panose="020B0A04020102020204" pitchFamily="34" charset="0"/>
              </a:rPr>
              <a:t>Pin Configuration:</a:t>
            </a:r>
            <a:endParaRPr lang="en-US" sz="2200" dirty="0" smtClean="0">
              <a:latin typeface="Arial Black" panose="020B0A04020102020204" pitchFamily="34" charset="0"/>
            </a:endParaRPr>
          </a:p>
          <a:p>
            <a:pPr lvl="1" algn="just"/>
            <a:r>
              <a:rPr lang="en-US" sz="2000" dirty="0">
                <a:latin typeface="Arial Black" panose="020B0A04020102020204" pitchFamily="34" charset="0"/>
              </a:rPr>
              <a:t>T568A end</a:t>
            </a:r>
            <a:r>
              <a:rPr lang="en-US" sz="2000" dirty="0" smtClean="0">
                <a:latin typeface="Arial Black" panose="020B0A04020102020204" pitchFamily="34" charset="0"/>
              </a:rPr>
              <a:t>: </a:t>
            </a:r>
          </a:p>
          <a:p>
            <a:pPr lvl="2" algn="just"/>
            <a:r>
              <a:rPr lang="en-US" sz="1800" dirty="0">
                <a:latin typeface="Arial Black" panose="020B0A04020102020204" pitchFamily="34" charset="0"/>
              </a:rPr>
              <a:t>Pin 1 connects to Pin </a:t>
            </a:r>
            <a:r>
              <a:rPr lang="en-US" sz="1800" dirty="0" smtClean="0">
                <a:latin typeface="Arial Black" panose="020B0A04020102020204" pitchFamily="34" charset="0"/>
              </a:rPr>
              <a:t>8</a:t>
            </a:r>
          </a:p>
          <a:p>
            <a:pPr lvl="2" algn="just"/>
            <a:r>
              <a:rPr lang="en-US" sz="1800" dirty="0" smtClean="0">
                <a:latin typeface="Arial Black" panose="020B0A04020102020204" pitchFamily="34" charset="0"/>
              </a:rPr>
              <a:t>Pin </a:t>
            </a:r>
            <a:r>
              <a:rPr lang="en-US" sz="1800" dirty="0">
                <a:latin typeface="Arial Black" panose="020B0A04020102020204" pitchFamily="34" charset="0"/>
              </a:rPr>
              <a:t>2 connects to Pin </a:t>
            </a:r>
            <a:r>
              <a:rPr lang="en-US" sz="1800" dirty="0" smtClean="0">
                <a:latin typeface="Arial Black" panose="020B0A04020102020204" pitchFamily="34" charset="0"/>
              </a:rPr>
              <a:t>7</a:t>
            </a:r>
          </a:p>
          <a:p>
            <a:pPr lvl="2" algn="just"/>
            <a:r>
              <a:rPr lang="en-US" sz="1800" dirty="0" smtClean="0">
                <a:latin typeface="Arial Black" panose="020B0A04020102020204" pitchFamily="34" charset="0"/>
              </a:rPr>
              <a:t>Pin </a:t>
            </a:r>
            <a:r>
              <a:rPr lang="en-US" sz="1800" dirty="0">
                <a:latin typeface="Arial Black" panose="020B0A04020102020204" pitchFamily="34" charset="0"/>
              </a:rPr>
              <a:t>3 connects to Pin </a:t>
            </a:r>
            <a:r>
              <a:rPr lang="en-US" sz="1800" dirty="0" smtClean="0">
                <a:latin typeface="Arial Black" panose="020B0A04020102020204" pitchFamily="34" charset="0"/>
              </a:rPr>
              <a:t>6</a:t>
            </a:r>
          </a:p>
          <a:p>
            <a:pPr lvl="2" algn="just"/>
            <a:r>
              <a:rPr lang="en-US" sz="1800" dirty="0" smtClean="0">
                <a:latin typeface="Arial Black" panose="020B0A04020102020204" pitchFamily="34" charset="0"/>
              </a:rPr>
              <a:t>Pin </a:t>
            </a:r>
            <a:r>
              <a:rPr lang="en-US" sz="1800" dirty="0">
                <a:latin typeface="Arial Black" panose="020B0A04020102020204" pitchFamily="34" charset="0"/>
              </a:rPr>
              <a:t>4 connects to Pin </a:t>
            </a:r>
            <a:r>
              <a:rPr lang="en-US" sz="1800" dirty="0" smtClean="0">
                <a:latin typeface="Arial Black" panose="020B0A04020102020204" pitchFamily="34" charset="0"/>
              </a:rPr>
              <a:t>5</a:t>
            </a:r>
          </a:p>
          <a:p>
            <a:pPr lvl="2" algn="just"/>
            <a:r>
              <a:rPr lang="en-US" sz="1800" dirty="0" smtClean="0">
                <a:latin typeface="Arial Black" panose="020B0A04020102020204" pitchFamily="34" charset="0"/>
              </a:rPr>
              <a:t>Pin </a:t>
            </a:r>
            <a:r>
              <a:rPr lang="en-US" sz="1800" dirty="0">
                <a:latin typeface="Arial Black" panose="020B0A04020102020204" pitchFamily="34" charset="0"/>
              </a:rPr>
              <a:t>5 connects to Pin </a:t>
            </a:r>
            <a:r>
              <a:rPr lang="en-US" sz="1800" dirty="0" smtClean="0">
                <a:latin typeface="Arial Black" panose="020B0A04020102020204" pitchFamily="34" charset="0"/>
              </a:rPr>
              <a:t>4</a:t>
            </a:r>
          </a:p>
          <a:p>
            <a:pPr lvl="2" algn="just"/>
            <a:r>
              <a:rPr lang="en-US" sz="1800" dirty="0" smtClean="0">
                <a:latin typeface="Arial Black" panose="020B0A04020102020204" pitchFamily="34" charset="0"/>
              </a:rPr>
              <a:t>Pin </a:t>
            </a:r>
            <a:r>
              <a:rPr lang="en-US" sz="1800" dirty="0">
                <a:latin typeface="Arial Black" panose="020B0A04020102020204" pitchFamily="34" charset="0"/>
              </a:rPr>
              <a:t>6 connects to Pin </a:t>
            </a:r>
            <a:r>
              <a:rPr lang="en-US" sz="1800" dirty="0" smtClean="0">
                <a:latin typeface="Arial Black" panose="020B0A04020102020204" pitchFamily="34" charset="0"/>
              </a:rPr>
              <a:t>3</a:t>
            </a:r>
          </a:p>
          <a:p>
            <a:pPr lvl="2" algn="just"/>
            <a:r>
              <a:rPr lang="en-US" sz="1800" dirty="0" smtClean="0">
                <a:latin typeface="Arial Black" panose="020B0A04020102020204" pitchFamily="34" charset="0"/>
              </a:rPr>
              <a:t>Pin </a:t>
            </a:r>
            <a:r>
              <a:rPr lang="en-US" sz="1800" dirty="0">
                <a:latin typeface="Arial Black" panose="020B0A04020102020204" pitchFamily="34" charset="0"/>
              </a:rPr>
              <a:t>7 connects to Pin </a:t>
            </a:r>
            <a:r>
              <a:rPr lang="en-US" sz="1800" dirty="0" smtClean="0">
                <a:latin typeface="Arial Black" panose="020B0A04020102020204" pitchFamily="34" charset="0"/>
              </a:rPr>
              <a:t>2</a:t>
            </a:r>
          </a:p>
          <a:p>
            <a:pPr lvl="2" algn="just"/>
            <a:r>
              <a:rPr lang="en-US" sz="1800" dirty="0" smtClean="0">
                <a:latin typeface="Arial Black" panose="020B0A04020102020204" pitchFamily="34" charset="0"/>
              </a:rPr>
              <a:t>Pin </a:t>
            </a:r>
            <a:r>
              <a:rPr lang="en-US" sz="1800" dirty="0">
                <a:latin typeface="Arial Black" panose="020B0A04020102020204" pitchFamily="34" charset="0"/>
              </a:rPr>
              <a:t>8 connects to Pin </a:t>
            </a:r>
            <a:r>
              <a:rPr lang="en-US" sz="1800" dirty="0" smtClean="0">
                <a:latin typeface="Arial Black" panose="020B0A04020102020204" pitchFamily="34" charset="0"/>
              </a:rPr>
              <a:t>1</a:t>
            </a:r>
          </a:p>
          <a:p>
            <a:pPr algn="just"/>
            <a:r>
              <a:rPr lang="en-US" sz="2600" dirty="0" smtClean="0">
                <a:solidFill>
                  <a:srgbClr val="FF0000"/>
                </a:solidFill>
                <a:latin typeface="Arial Black" panose="020B0A04020102020204" pitchFamily="34" charset="0"/>
              </a:rPr>
              <a:t>Use </a:t>
            </a:r>
            <a:r>
              <a:rPr lang="en-US" sz="2600" dirty="0">
                <a:solidFill>
                  <a:srgbClr val="FF0000"/>
                </a:solidFill>
                <a:latin typeface="Arial Black" panose="020B0A04020102020204" pitchFamily="34" charset="0"/>
              </a:rPr>
              <a:t>Cases</a:t>
            </a:r>
            <a:r>
              <a:rPr lang="en-US" sz="2600" dirty="0" smtClean="0">
                <a:solidFill>
                  <a:srgbClr val="FF0000"/>
                </a:solidFill>
                <a:latin typeface="Arial Black" panose="020B0A04020102020204" pitchFamily="34" charset="0"/>
              </a:rPr>
              <a:t>: </a:t>
            </a:r>
          </a:p>
          <a:p>
            <a:pPr lvl="2" algn="just"/>
            <a:r>
              <a:rPr lang="en-US" sz="2000" dirty="0">
                <a:latin typeface="Arial Black" panose="020B0A04020102020204" pitchFamily="34" charset="0"/>
              </a:rPr>
              <a:t>Computer to Router/Switch Console </a:t>
            </a:r>
            <a:r>
              <a:rPr lang="en-US" sz="2000" dirty="0" smtClean="0">
                <a:latin typeface="Arial Black" panose="020B0A04020102020204" pitchFamily="34" charset="0"/>
              </a:rPr>
              <a:t>Port</a:t>
            </a:r>
            <a:endParaRPr lang="en-US" sz="2400"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15</a:t>
            </a:fld>
            <a:endParaRPr lang="en-US" dirty="0"/>
          </a:p>
        </p:txBody>
      </p:sp>
    </p:spTree>
    <p:extLst>
      <p:ext uri="{BB962C8B-B14F-4D97-AF65-F5344CB8AC3E}">
        <p14:creationId xmlns:p14="http://schemas.microsoft.com/office/powerpoint/2010/main" val="14848099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p:txBody>
          <a:bodyPr/>
          <a:lstStyle/>
          <a:p>
            <a:fld id="{58FB4751-880F-D840-AAA9-3A15815CC996}" type="slidenum">
              <a:rPr lang="en-US" smtClean="0"/>
              <a:pPr/>
              <a:t>16</a:t>
            </a:fld>
            <a:endParaRPr lang="en-US" dirty="0"/>
          </a:p>
        </p:txBody>
      </p:sp>
      <p:sp>
        <p:nvSpPr>
          <p:cNvPr id="2" name="TextBox 1"/>
          <p:cNvSpPr txBox="1"/>
          <p:nvPr/>
        </p:nvSpPr>
        <p:spPr>
          <a:xfrm>
            <a:off x="3598606" y="354831"/>
            <a:ext cx="6282813" cy="646331"/>
          </a:xfrm>
          <a:prstGeom prst="rect">
            <a:avLst/>
          </a:prstGeom>
          <a:noFill/>
        </p:spPr>
        <p:txBody>
          <a:bodyPr wrap="square" rtlCol="0">
            <a:spAutoFit/>
          </a:bodyPr>
          <a:lstStyle/>
          <a:p>
            <a:r>
              <a:rPr lang="en-US" sz="3600" b="1" dirty="0" smtClean="0"/>
              <a:t>Rollover Cable</a:t>
            </a:r>
            <a:endParaRPr lang="en-US" sz="3600" b="1" dirty="0"/>
          </a:p>
        </p:txBody>
      </p:sp>
      <p:pic>
        <p:nvPicPr>
          <p:cNvPr id="4" name="Content Placeholder 3"/>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723899" y="1224117"/>
            <a:ext cx="10439400" cy="4970206"/>
          </a:xfrm>
        </p:spPr>
      </p:pic>
    </p:spTree>
    <p:extLst>
      <p:ext uri="{BB962C8B-B14F-4D97-AF65-F5344CB8AC3E}">
        <p14:creationId xmlns:p14="http://schemas.microsoft.com/office/powerpoint/2010/main" val="42164423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544026"/>
          </a:xfrm>
        </p:spPr>
        <p:txBody>
          <a:bodyPr/>
          <a:lstStyle/>
          <a:p>
            <a:pPr algn="ctr"/>
            <a:r>
              <a:rPr lang="en-US" dirty="0" smtClean="0">
                <a:latin typeface="Arial Black" panose="020B0A04020102020204" pitchFamily="34" charset="0"/>
              </a:rPr>
              <a:t>Fiber Optic Cable</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809497"/>
            <a:ext cx="11631759" cy="5966206"/>
          </a:xfrm>
        </p:spPr>
        <p:txBody>
          <a:bodyPr>
            <a:normAutofit/>
          </a:bodyPr>
          <a:lstStyle/>
          <a:p>
            <a:pPr algn="just"/>
            <a:r>
              <a:rPr lang="en-US" sz="2400" dirty="0">
                <a:latin typeface="Arial Black" panose="020B0A04020102020204" pitchFamily="34" charset="0"/>
              </a:rPr>
              <a:t>Fiber optic cables use light to transmit data and offer higher speeds and longer distances compared to copper </a:t>
            </a:r>
            <a:r>
              <a:rPr lang="en-US" sz="2400" dirty="0" smtClean="0">
                <a:latin typeface="Arial Black" panose="020B0A04020102020204" pitchFamily="34" charset="0"/>
              </a:rPr>
              <a:t>cables.</a:t>
            </a:r>
          </a:p>
          <a:p>
            <a:pPr algn="just"/>
            <a:r>
              <a:rPr lang="en-US" sz="2400" dirty="0">
                <a:solidFill>
                  <a:srgbClr val="FF0000"/>
                </a:solidFill>
                <a:latin typeface="Arial Black" panose="020B0A04020102020204" pitchFamily="34" charset="0"/>
              </a:rPr>
              <a:t>Single-mode Fiber (SMF): </a:t>
            </a:r>
            <a:r>
              <a:rPr lang="en-US" sz="2400" dirty="0">
                <a:latin typeface="Arial Black" panose="020B0A04020102020204" pitchFamily="34" charset="0"/>
              </a:rPr>
              <a:t>Description: Single-mode fiber has a smaller core (about 9 microns in diameter) and is used for long-distance transmission, such as in WANs (Wide Area Networks) or undersea cables. It typically supports distances up to 40 kilometers or more</a:t>
            </a:r>
            <a:r>
              <a:rPr lang="en-US" sz="2400" dirty="0" smtClean="0">
                <a:latin typeface="Arial Black" panose="020B0A04020102020204" pitchFamily="34" charset="0"/>
              </a:rPr>
              <a:t>.</a:t>
            </a:r>
          </a:p>
          <a:p>
            <a:pPr algn="just"/>
            <a:r>
              <a:rPr lang="en-US" sz="2400" dirty="0" smtClean="0">
                <a:solidFill>
                  <a:srgbClr val="FF0000"/>
                </a:solidFill>
                <a:latin typeface="Arial Black" panose="020B0A04020102020204" pitchFamily="34" charset="0"/>
              </a:rPr>
              <a:t>Use </a:t>
            </a:r>
            <a:r>
              <a:rPr lang="en-US" sz="2400" dirty="0">
                <a:solidFill>
                  <a:srgbClr val="FF0000"/>
                </a:solidFill>
                <a:latin typeface="Arial Black" panose="020B0A04020102020204" pitchFamily="34" charset="0"/>
              </a:rPr>
              <a:t>Cases: </a:t>
            </a:r>
            <a:r>
              <a:rPr lang="en-US" sz="2400" dirty="0">
                <a:latin typeface="Arial Black" panose="020B0A04020102020204" pitchFamily="34" charset="0"/>
              </a:rPr>
              <a:t>Long-distance communication, telecommunications, and backbone networks</a:t>
            </a:r>
            <a:r>
              <a:rPr lang="en-US" sz="2400" dirty="0" smtClean="0">
                <a:latin typeface="Arial Black" panose="020B0A04020102020204" pitchFamily="34" charset="0"/>
              </a:rPr>
              <a:t>.</a:t>
            </a:r>
          </a:p>
          <a:p>
            <a:pPr algn="just"/>
            <a:r>
              <a:rPr lang="en-US" sz="2200" dirty="0">
                <a:solidFill>
                  <a:srgbClr val="FF0000"/>
                </a:solidFill>
                <a:latin typeface="Arial Black" panose="020B0A04020102020204" pitchFamily="34" charset="0"/>
              </a:rPr>
              <a:t>Multi-mode Fiber (MMF)Description: </a:t>
            </a:r>
            <a:r>
              <a:rPr lang="en-US" sz="2200" dirty="0" smtClean="0">
                <a:latin typeface="Arial Black" panose="020B0A04020102020204" pitchFamily="34" charset="0"/>
              </a:rPr>
              <a:t>Multi-mode </a:t>
            </a:r>
            <a:r>
              <a:rPr lang="en-US" sz="2200" dirty="0">
                <a:latin typeface="Arial Black" panose="020B0A04020102020204" pitchFamily="34" charset="0"/>
              </a:rPr>
              <a:t>fiber has a larger core (50–62.5 microns) and is used for shorter distances, typically up to 500 meters. It is more affordable than single-mode fiber and is commonly used in LANs and data centers</a:t>
            </a:r>
            <a:r>
              <a:rPr lang="en-US" sz="2200" dirty="0" smtClean="0">
                <a:latin typeface="Arial Black" panose="020B0A04020102020204" pitchFamily="34" charset="0"/>
              </a:rPr>
              <a:t>.</a:t>
            </a:r>
          </a:p>
          <a:p>
            <a:pPr algn="just"/>
            <a:r>
              <a:rPr lang="en-US" sz="2200" dirty="0" smtClean="0">
                <a:solidFill>
                  <a:srgbClr val="FF0000"/>
                </a:solidFill>
                <a:latin typeface="Arial Black" panose="020B0A04020102020204" pitchFamily="34" charset="0"/>
              </a:rPr>
              <a:t>Use </a:t>
            </a:r>
            <a:r>
              <a:rPr lang="en-US" sz="2200" dirty="0">
                <a:solidFill>
                  <a:srgbClr val="FF0000"/>
                </a:solidFill>
                <a:latin typeface="Arial Black" panose="020B0A04020102020204" pitchFamily="34" charset="0"/>
              </a:rPr>
              <a:t>Cases: </a:t>
            </a:r>
            <a:r>
              <a:rPr lang="en-US" sz="2200" dirty="0">
                <a:latin typeface="Arial Black" panose="020B0A04020102020204" pitchFamily="34" charset="0"/>
              </a:rPr>
              <a:t>Short-distance communication, high-speed data transmission in LAN environments.</a:t>
            </a:r>
            <a:endParaRPr lang="en-US" sz="2400"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17</a:t>
            </a:fld>
            <a:endParaRPr lang="en-US" dirty="0"/>
          </a:p>
        </p:txBody>
      </p:sp>
    </p:spTree>
    <p:extLst>
      <p:ext uri="{BB962C8B-B14F-4D97-AF65-F5344CB8AC3E}">
        <p14:creationId xmlns:p14="http://schemas.microsoft.com/office/powerpoint/2010/main" val="98412261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p:txBody>
          <a:bodyPr/>
          <a:lstStyle/>
          <a:p>
            <a:fld id="{58FB4751-880F-D840-AAA9-3A15815CC996}" type="slidenum">
              <a:rPr lang="en-US" smtClean="0"/>
              <a:pPr/>
              <a:t>18</a:t>
            </a:fld>
            <a:endParaRPr lang="en-US" dirty="0"/>
          </a:p>
        </p:txBody>
      </p:sp>
      <p:sp>
        <p:nvSpPr>
          <p:cNvPr id="2" name="TextBox 1"/>
          <p:cNvSpPr txBox="1"/>
          <p:nvPr/>
        </p:nvSpPr>
        <p:spPr>
          <a:xfrm>
            <a:off x="2802193" y="236844"/>
            <a:ext cx="6282813" cy="646331"/>
          </a:xfrm>
          <a:prstGeom prst="rect">
            <a:avLst/>
          </a:prstGeom>
          <a:noFill/>
        </p:spPr>
        <p:txBody>
          <a:bodyPr wrap="square" rtlCol="0">
            <a:spAutoFit/>
          </a:bodyPr>
          <a:lstStyle/>
          <a:p>
            <a:pPr algn="ctr"/>
            <a:r>
              <a:rPr lang="en-US" sz="3600" b="1" smtClean="0"/>
              <a:t>Fiber optic </a:t>
            </a:r>
            <a:r>
              <a:rPr lang="en-US" sz="3600" b="1" dirty="0" smtClean="0"/>
              <a:t>Cable</a:t>
            </a:r>
            <a:endParaRPr lang="en-US" sz="3600" b="1" dirty="0"/>
          </a:p>
        </p:txBody>
      </p:sp>
      <p:sp>
        <p:nvSpPr>
          <p:cNvPr id="3" name="Content Placeholder 2"/>
          <p:cNvSpPr>
            <a:spLocks noGrp="1"/>
          </p:cNvSpPr>
          <p:nvPr>
            <p:ph sz="quarter" idx="13"/>
          </p:nvPr>
        </p:nvSpPr>
        <p:spPr/>
        <p:txBody>
          <a:bodyPr/>
          <a:lstStyle/>
          <a:p>
            <a:endParaRPr lang="en-US"/>
          </a:p>
        </p:txBody>
      </p:sp>
      <p:pic>
        <p:nvPicPr>
          <p:cNvPr id="6" name="Picture 5"/>
          <p:cNvPicPr>
            <a:picLocks noChangeAspect="1"/>
          </p:cNvPicPr>
          <p:nvPr/>
        </p:nvPicPr>
        <p:blipFill>
          <a:blip r:embed="rId2"/>
          <a:stretch>
            <a:fillRect/>
          </a:stretch>
        </p:blipFill>
        <p:spPr>
          <a:xfrm>
            <a:off x="511277" y="1143000"/>
            <a:ext cx="6037007" cy="4476135"/>
          </a:xfrm>
          <a:prstGeom prst="rect">
            <a:avLst/>
          </a:prstGeom>
        </p:spPr>
      </p:pic>
      <p:pic>
        <p:nvPicPr>
          <p:cNvPr id="7" name="Picture 6"/>
          <p:cNvPicPr>
            <a:picLocks noChangeAspect="1"/>
          </p:cNvPicPr>
          <p:nvPr/>
        </p:nvPicPr>
        <p:blipFill>
          <a:blip r:embed="rId3"/>
          <a:stretch>
            <a:fillRect/>
          </a:stretch>
        </p:blipFill>
        <p:spPr>
          <a:xfrm>
            <a:off x="7085986" y="1143000"/>
            <a:ext cx="4727472" cy="4476135"/>
          </a:xfrm>
          <a:prstGeom prst="rect">
            <a:avLst/>
          </a:prstGeom>
        </p:spPr>
      </p:pic>
    </p:spTree>
    <p:extLst>
      <p:ext uri="{BB962C8B-B14F-4D97-AF65-F5344CB8AC3E}">
        <p14:creationId xmlns:p14="http://schemas.microsoft.com/office/powerpoint/2010/main" val="304608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544026"/>
          </a:xfrm>
        </p:spPr>
        <p:txBody>
          <a:bodyPr/>
          <a:lstStyle/>
          <a:p>
            <a:pPr algn="ctr"/>
            <a:r>
              <a:rPr lang="en-US" dirty="0">
                <a:latin typeface="Arial Black" panose="020B0A04020102020204" pitchFamily="34" charset="0"/>
              </a:rPr>
              <a:t>Coaxial Cables</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809497"/>
            <a:ext cx="11631759" cy="5966206"/>
          </a:xfrm>
        </p:spPr>
        <p:txBody>
          <a:bodyPr>
            <a:normAutofit/>
          </a:bodyPr>
          <a:lstStyle/>
          <a:p>
            <a:pPr algn="just"/>
            <a:r>
              <a:rPr lang="en-US" sz="2400" dirty="0">
                <a:solidFill>
                  <a:srgbClr val="FF0000"/>
                </a:solidFill>
                <a:latin typeface="Arial Black" panose="020B0A04020102020204" pitchFamily="34" charset="0"/>
              </a:rPr>
              <a:t>Description: </a:t>
            </a:r>
            <a:r>
              <a:rPr lang="en-US" sz="2400" dirty="0">
                <a:latin typeface="Arial Black" panose="020B0A04020102020204" pitchFamily="34" charset="0"/>
              </a:rPr>
              <a:t>Coax, short for coaxial, is a type of cable used to transmit data, the internet, video and voice communications. A coax cable is made up of an aluminum and copper shield with an outer plastic jacket (see below) with the dielectric insulator helping to minimize signal loss. </a:t>
            </a:r>
            <a:endParaRPr lang="en-US" sz="2400" dirty="0" smtClean="0">
              <a:latin typeface="Arial Black" panose="020B0A04020102020204" pitchFamily="34" charset="0"/>
            </a:endParaRPr>
          </a:p>
          <a:p>
            <a:pPr algn="just"/>
            <a:r>
              <a:rPr lang="en-US" sz="2400" dirty="0" smtClean="0">
                <a:latin typeface="Arial Black" panose="020B0A04020102020204" pitchFamily="34" charset="0"/>
              </a:rPr>
              <a:t>Coaxial </a:t>
            </a:r>
            <a:r>
              <a:rPr lang="en-US" sz="2400" dirty="0">
                <a:latin typeface="Arial Black" panose="020B0A04020102020204" pitchFamily="34" charset="0"/>
              </a:rPr>
              <a:t>cables have a central conductor made of copper, surrounded by an insulating layer, a metallic shield, and an outer insulating layer. These cables are used for high-frequency signal transmission</a:t>
            </a:r>
            <a:r>
              <a:rPr lang="en-US" sz="2400" dirty="0" smtClean="0">
                <a:latin typeface="Arial Black" panose="020B0A04020102020204" pitchFamily="34" charset="0"/>
              </a:rPr>
              <a:t>.</a:t>
            </a:r>
          </a:p>
          <a:p>
            <a:pPr algn="just"/>
            <a:r>
              <a:rPr lang="en-US" sz="2400" dirty="0" smtClean="0">
                <a:solidFill>
                  <a:srgbClr val="FF0000"/>
                </a:solidFill>
                <a:latin typeface="Arial Black" panose="020B0A04020102020204" pitchFamily="34" charset="0"/>
              </a:rPr>
              <a:t>Use </a:t>
            </a:r>
            <a:r>
              <a:rPr lang="en-US" sz="2400" dirty="0">
                <a:solidFill>
                  <a:srgbClr val="FF0000"/>
                </a:solidFill>
                <a:latin typeface="Arial Black" panose="020B0A04020102020204" pitchFamily="34" charset="0"/>
              </a:rPr>
              <a:t>Cases: </a:t>
            </a:r>
            <a:r>
              <a:rPr lang="en-US" sz="2400" dirty="0">
                <a:latin typeface="Arial Black" panose="020B0A04020102020204" pitchFamily="34" charset="0"/>
              </a:rPr>
              <a:t>Cable TV, internet connections (e.g., DOCSIS standards), and older networking protocols (e.g., Ethernet over coax</a:t>
            </a:r>
            <a:r>
              <a:rPr lang="en-US" sz="2400" dirty="0" smtClean="0">
                <a:latin typeface="Arial Black" panose="020B0A04020102020204" pitchFamily="34" charset="0"/>
              </a:rPr>
              <a:t>).</a:t>
            </a:r>
          </a:p>
          <a:p>
            <a:pPr algn="just"/>
            <a:r>
              <a:rPr lang="en-US" sz="2400" dirty="0" smtClean="0">
                <a:solidFill>
                  <a:srgbClr val="FF0000"/>
                </a:solidFill>
                <a:latin typeface="Arial Black" panose="020B0A04020102020204" pitchFamily="34" charset="0"/>
              </a:rPr>
              <a:t>Types:</a:t>
            </a:r>
            <a:r>
              <a:rPr lang="en-US" sz="2400" dirty="0" smtClean="0">
                <a:latin typeface="Arial Black" panose="020B0A04020102020204" pitchFamily="34" charset="0"/>
              </a:rPr>
              <a:t>RG-6</a:t>
            </a:r>
            <a:r>
              <a:rPr lang="en-US" sz="2400" dirty="0">
                <a:latin typeface="Arial Black" panose="020B0A04020102020204" pitchFamily="34" charset="0"/>
              </a:rPr>
              <a:t>: Common for cable TV and internet connections.RG-59: Used in older analog video and CCTV systems.</a:t>
            </a:r>
            <a:endParaRPr lang="en-US" sz="2400"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19</a:t>
            </a:fld>
            <a:endParaRPr lang="en-US" dirty="0"/>
          </a:p>
        </p:txBody>
      </p:sp>
    </p:spTree>
    <p:extLst>
      <p:ext uri="{BB962C8B-B14F-4D97-AF65-F5344CB8AC3E}">
        <p14:creationId xmlns:p14="http://schemas.microsoft.com/office/powerpoint/2010/main" val="399033851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p:txBody>
          <a:bodyPr/>
          <a:lstStyle/>
          <a:p>
            <a:fld id="{58FB4751-880F-D840-AAA9-3A15815CC996}" type="slidenum">
              <a:rPr lang="en-US" smtClean="0"/>
              <a:pPr/>
              <a:t>20</a:t>
            </a:fld>
            <a:endParaRPr lang="en-US" dirty="0"/>
          </a:p>
        </p:txBody>
      </p:sp>
      <p:sp>
        <p:nvSpPr>
          <p:cNvPr id="2" name="TextBox 1"/>
          <p:cNvSpPr txBox="1"/>
          <p:nvPr/>
        </p:nvSpPr>
        <p:spPr>
          <a:xfrm>
            <a:off x="2802193" y="236844"/>
            <a:ext cx="6282813" cy="646331"/>
          </a:xfrm>
          <a:prstGeom prst="rect">
            <a:avLst/>
          </a:prstGeom>
          <a:noFill/>
        </p:spPr>
        <p:txBody>
          <a:bodyPr wrap="square" rtlCol="0">
            <a:spAutoFit/>
          </a:bodyPr>
          <a:lstStyle/>
          <a:p>
            <a:pPr algn="ctr"/>
            <a:r>
              <a:rPr lang="en-US" sz="3600" b="1" dirty="0" smtClean="0"/>
              <a:t>Coaxial Cable</a:t>
            </a:r>
            <a:endParaRPr lang="en-US" sz="3600" b="1" dirty="0"/>
          </a:p>
        </p:txBody>
      </p:sp>
      <p:sp>
        <p:nvSpPr>
          <p:cNvPr id="3" name="Content Placeholder 2"/>
          <p:cNvSpPr>
            <a:spLocks noGrp="1"/>
          </p:cNvSpPr>
          <p:nvPr>
            <p:ph sz="quarter" idx="13"/>
          </p:nvPr>
        </p:nvSpPr>
        <p:spPr/>
        <p:txBody>
          <a:bodyPr/>
          <a:lstStyle/>
          <a:p>
            <a:endParaRPr lang="en-US"/>
          </a:p>
        </p:txBody>
      </p:sp>
      <p:pic>
        <p:nvPicPr>
          <p:cNvPr id="4" name="Picture 3"/>
          <p:cNvPicPr>
            <a:picLocks noChangeAspect="1"/>
          </p:cNvPicPr>
          <p:nvPr/>
        </p:nvPicPr>
        <p:blipFill>
          <a:blip r:embed="rId2"/>
          <a:stretch>
            <a:fillRect/>
          </a:stretch>
        </p:blipFill>
        <p:spPr>
          <a:xfrm>
            <a:off x="801116" y="1097987"/>
            <a:ext cx="10284965" cy="5056620"/>
          </a:xfrm>
          <a:prstGeom prst="rect">
            <a:avLst/>
          </a:prstGeom>
        </p:spPr>
      </p:pic>
    </p:spTree>
    <p:extLst>
      <p:ext uri="{BB962C8B-B14F-4D97-AF65-F5344CB8AC3E}">
        <p14:creationId xmlns:p14="http://schemas.microsoft.com/office/powerpoint/2010/main" val="29628906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544026"/>
          </a:xfrm>
        </p:spPr>
        <p:txBody>
          <a:bodyPr/>
          <a:lstStyle/>
          <a:p>
            <a:pPr algn="ctr"/>
            <a:r>
              <a:rPr lang="en-US" dirty="0" smtClean="0">
                <a:latin typeface="Arial Black" panose="020B0A04020102020204" pitchFamily="34" charset="0"/>
              </a:rPr>
              <a:t>Ethernet Standards</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809497"/>
            <a:ext cx="11631759" cy="5966206"/>
          </a:xfrm>
        </p:spPr>
        <p:txBody>
          <a:bodyPr>
            <a:normAutofit/>
          </a:bodyPr>
          <a:lstStyle/>
          <a:p>
            <a:pPr algn="just"/>
            <a:r>
              <a:rPr lang="en-US" sz="2400" dirty="0">
                <a:solidFill>
                  <a:srgbClr val="FF0000"/>
                </a:solidFill>
                <a:latin typeface="Arial Black" panose="020B0A04020102020204" pitchFamily="34" charset="0"/>
              </a:rPr>
              <a:t>Description: </a:t>
            </a:r>
            <a:r>
              <a:rPr lang="en-US" sz="2400" dirty="0">
                <a:latin typeface="Arial Black" panose="020B0A04020102020204" pitchFamily="34" charset="0"/>
              </a:rPr>
              <a:t>Fast Ethernet and Gigabit Ethernet are two different Ethernet standards that define the speed of data transmission in a network. Each standard has its own specifications for speed, cabling, and use cases</a:t>
            </a:r>
            <a:r>
              <a:rPr lang="en-US" sz="2400" dirty="0" smtClean="0">
                <a:latin typeface="Arial Black" panose="020B0A04020102020204" pitchFamily="34" charset="0"/>
              </a:rPr>
              <a:t>.</a:t>
            </a:r>
          </a:p>
          <a:p>
            <a:pPr algn="just"/>
            <a:r>
              <a:rPr lang="en-US" sz="2400" dirty="0">
                <a:solidFill>
                  <a:srgbClr val="FF0000"/>
                </a:solidFill>
                <a:latin typeface="Arial Black" panose="020B0A04020102020204" pitchFamily="34" charset="0"/>
              </a:rPr>
              <a:t>Fast </a:t>
            </a:r>
            <a:r>
              <a:rPr lang="en-US" sz="2400" dirty="0" smtClean="0">
                <a:solidFill>
                  <a:srgbClr val="FF0000"/>
                </a:solidFill>
                <a:latin typeface="Arial Black" panose="020B0A04020102020204" pitchFamily="34" charset="0"/>
              </a:rPr>
              <a:t>Ethernet</a:t>
            </a:r>
          </a:p>
          <a:p>
            <a:pPr lvl="1" algn="just"/>
            <a:r>
              <a:rPr lang="en-US" sz="2200" dirty="0" smtClean="0">
                <a:latin typeface="Arial Black" panose="020B0A04020102020204" pitchFamily="34" charset="0"/>
              </a:rPr>
              <a:t>Fast </a:t>
            </a:r>
            <a:r>
              <a:rPr lang="en-US" sz="2200" dirty="0">
                <a:latin typeface="Arial Black" panose="020B0A04020102020204" pitchFamily="34" charset="0"/>
              </a:rPr>
              <a:t>Ethernet is an Ethernet standard that supports data transfer rates of up to 100 Mbps. It is a step up from the original Ethernet standard, which supported only 10 Mbps</a:t>
            </a:r>
            <a:r>
              <a:rPr lang="en-US" sz="2200" dirty="0" smtClean="0">
                <a:latin typeface="Arial Black" panose="020B0A04020102020204" pitchFamily="34" charset="0"/>
              </a:rPr>
              <a:t>.</a:t>
            </a:r>
          </a:p>
          <a:p>
            <a:pPr lvl="1" algn="just"/>
            <a:r>
              <a:rPr lang="en-US" sz="2200" dirty="0" smtClean="0">
                <a:latin typeface="Arial Black" panose="020B0A04020102020204" pitchFamily="34" charset="0"/>
              </a:rPr>
              <a:t>Key </a:t>
            </a:r>
            <a:r>
              <a:rPr lang="en-US" sz="2200" dirty="0">
                <a:latin typeface="Arial Black" panose="020B0A04020102020204" pitchFamily="34" charset="0"/>
              </a:rPr>
              <a:t>Features of Fast Ethernet</a:t>
            </a:r>
            <a:r>
              <a:rPr lang="en-US" sz="2200" dirty="0" smtClean="0">
                <a:latin typeface="Arial Black" panose="020B0A04020102020204" pitchFamily="34" charset="0"/>
              </a:rPr>
              <a:t>:</a:t>
            </a:r>
          </a:p>
          <a:p>
            <a:pPr lvl="2" algn="just"/>
            <a:r>
              <a:rPr lang="en-US" sz="2000" dirty="0" smtClean="0">
                <a:solidFill>
                  <a:srgbClr val="FF0000"/>
                </a:solidFill>
                <a:latin typeface="Arial Black" panose="020B0A04020102020204" pitchFamily="34" charset="0"/>
              </a:rPr>
              <a:t>Speed</a:t>
            </a:r>
            <a:r>
              <a:rPr lang="en-US" sz="2000" dirty="0">
                <a:latin typeface="Arial Black" panose="020B0A04020102020204" pitchFamily="34" charset="0"/>
              </a:rPr>
              <a:t>: Up to 100 Mbps</a:t>
            </a:r>
            <a:r>
              <a:rPr lang="en-US" sz="2000" dirty="0" smtClean="0">
                <a:latin typeface="Arial Black" panose="020B0A04020102020204" pitchFamily="34" charset="0"/>
              </a:rPr>
              <a:t>.</a:t>
            </a:r>
          </a:p>
          <a:p>
            <a:pPr lvl="2" algn="just"/>
            <a:r>
              <a:rPr lang="en-US" sz="2000" dirty="0" smtClean="0">
                <a:solidFill>
                  <a:srgbClr val="FF0000"/>
                </a:solidFill>
                <a:latin typeface="Arial Black" panose="020B0A04020102020204" pitchFamily="34" charset="0"/>
              </a:rPr>
              <a:t>IEEE </a:t>
            </a:r>
            <a:r>
              <a:rPr lang="en-US" sz="2000" dirty="0">
                <a:solidFill>
                  <a:srgbClr val="FF0000"/>
                </a:solidFill>
                <a:latin typeface="Arial Black" panose="020B0A04020102020204" pitchFamily="34" charset="0"/>
              </a:rPr>
              <a:t>Standard</a:t>
            </a:r>
            <a:r>
              <a:rPr lang="en-US" sz="2000" dirty="0">
                <a:latin typeface="Arial Black" panose="020B0A04020102020204" pitchFamily="34" charset="0"/>
              </a:rPr>
              <a:t>: Defined under IEEE 802.3u</a:t>
            </a:r>
            <a:r>
              <a:rPr lang="en-US" sz="2000" dirty="0" smtClean="0">
                <a:latin typeface="Arial Black" panose="020B0A04020102020204" pitchFamily="34" charset="0"/>
              </a:rPr>
              <a:t>.</a:t>
            </a:r>
          </a:p>
          <a:p>
            <a:pPr lvl="2" algn="just"/>
            <a:r>
              <a:rPr lang="en-US" sz="2000" dirty="0" smtClean="0">
                <a:solidFill>
                  <a:srgbClr val="FF0000"/>
                </a:solidFill>
                <a:latin typeface="Arial Black" panose="020B0A04020102020204" pitchFamily="34" charset="0"/>
              </a:rPr>
              <a:t>Cable </a:t>
            </a:r>
            <a:r>
              <a:rPr lang="en-US" sz="2000" dirty="0">
                <a:solidFill>
                  <a:srgbClr val="FF0000"/>
                </a:solidFill>
                <a:latin typeface="Arial Black" panose="020B0A04020102020204" pitchFamily="34" charset="0"/>
              </a:rPr>
              <a:t>Types</a:t>
            </a:r>
            <a:r>
              <a:rPr lang="en-US" sz="2000" dirty="0">
                <a:latin typeface="Arial Black" panose="020B0A04020102020204" pitchFamily="34" charset="0"/>
              </a:rPr>
              <a:t>: Typically uses Cat5 or Cat5e twisted-pair Ethernet cables with RJ45 connectors, but can also work over fiber optic cables</a:t>
            </a:r>
            <a:r>
              <a:rPr lang="en-US" sz="2000" dirty="0" smtClean="0">
                <a:latin typeface="Arial Black" panose="020B0A04020102020204" pitchFamily="34" charset="0"/>
              </a:rPr>
              <a:t>.</a:t>
            </a:r>
          </a:p>
          <a:p>
            <a:pPr lvl="2" algn="just"/>
            <a:r>
              <a:rPr lang="en-US" sz="2000" dirty="0" smtClean="0">
                <a:solidFill>
                  <a:srgbClr val="FF0000"/>
                </a:solidFill>
                <a:latin typeface="Arial Black" panose="020B0A04020102020204" pitchFamily="34" charset="0"/>
              </a:rPr>
              <a:t>Duplex </a:t>
            </a:r>
            <a:r>
              <a:rPr lang="en-US" sz="2000" dirty="0">
                <a:solidFill>
                  <a:srgbClr val="FF0000"/>
                </a:solidFill>
                <a:latin typeface="Arial Black" panose="020B0A04020102020204" pitchFamily="34" charset="0"/>
              </a:rPr>
              <a:t>Modes: </a:t>
            </a:r>
            <a:r>
              <a:rPr lang="en-US" sz="2000" dirty="0">
                <a:latin typeface="Arial Black" panose="020B0A04020102020204" pitchFamily="34" charset="0"/>
              </a:rPr>
              <a:t>Supports both half-duplex (shared bandwidth) and full-duplex (dedicated bandwidth) modes</a:t>
            </a:r>
            <a:r>
              <a:rPr lang="en-US" sz="2000" dirty="0" smtClean="0">
                <a:latin typeface="Arial Black" panose="020B0A04020102020204" pitchFamily="34" charset="0"/>
              </a:rPr>
              <a:t>. </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21</a:t>
            </a:fld>
            <a:endParaRPr lang="en-US" dirty="0"/>
          </a:p>
        </p:txBody>
      </p:sp>
    </p:spTree>
    <p:extLst>
      <p:ext uri="{BB962C8B-B14F-4D97-AF65-F5344CB8AC3E}">
        <p14:creationId xmlns:p14="http://schemas.microsoft.com/office/powerpoint/2010/main" val="17080736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544026"/>
          </a:xfrm>
        </p:spPr>
        <p:txBody>
          <a:bodyPr/>
          <a:lstStyle/>
          <a:p>
            <a:pPr algn="ctr"/>
            <a:r>
              <a:rPr lang="en-US" dirty="0" smtClean="0">
                <a:latin typeface="Arial Black" panose="020B0A04020102020204" pitchFamily="34" charset="0"/>
              </a:rPr>
              <a:t>Gigabit Ethernet Standards</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6" y="809497"/>
            <a:ext cx="11631759" cy="5966206"/>
          </a:xfrm>
        </p:spPr>
        <p:txBody>
          <a:bodyPr>
            <a:normAutofit/>
          </a:bodyPr>
          <a:lstStyle/>
          <a:p>
            <a:pPr algn="just"/>
            <a:r>
              <a:rPr lang="en-US" sz="2400" dirty="0">
                <a:solidFill>
                  <a:srgbClr val="FF0000"/>
                </a:solidFill>
                <a:latin typeface="Arial Black" panose="020B0A04020102020204" pitchFamily="34" charset="0"/>
              </a:rPr>
              <a:t>Description: </a:t>
            </a:r>
            <a:r>
              <a:rPr lang="en-US" sz="2400" dirty="0">
                <a:latin typeface="Arial Black" panose="020B0A04020102020204" pitchFamily="34" charset="0"/>
              </a:rPr>
              <a:t>Gigabit Ethernet is a faster Ethernet standard that supports data transfer rates of 1 </a:t>
            </a:r>
            <a:r>
              <a:rPr lang="en-US" sz="2400" dirty="0" err="1">
                <a:latin typeface="Arial Black" panose="020B0A04020102020204" pitchFamily="34" charset="0"/>
              </a:rPr>
              <a:t>Gbps</a:t>
            </a:r>
            <a:r>
              <a:rPr lang="en-US" sz="2400" dirty="0">
                <a:latin typeface="Arial Black" panose="020B0A04020102020204" pitchFamily="34" charset="0"/>
              </a:rPr>
              <a:t> (1000 Mbps), which is 10 times faster than Fast Ethernet. It is now the most widely used standard for home networks, business LANs, and data centers..</a:t>
            </a:r>
            <a:endParaRPr lang="en-US" sz="2400" dirty="0" smtClean="0">
              <a:latin typeface="Arial Black" panose="020B0A04020102020204" pitchFamily="34" charset="0"/>
            </a:endParaRPr>
          </a:p>
          <a:p>
            <a:pPr algn="just"/>
            <a:r>
              <a:rPr lang="en-US" sz="2400" dirty="0" smtClean="0">
                <a:latin typeface="Arial Black" panose="020B0A04020102020204" pitchFamily="34" charset="0"/>
              </a:rPr>
              <a:t>Key </a:t>
            </a:r>
            <a:r>
              <a:rPr lang="en-US" sz="2400" dirty="0">
                <a:latin typeface="Arial Black" panose="020B0A04020102020204" pitchFamily="34" charset="0"/>
              </a:rPr>
              <a:t>Features of Fast Ethernet</a:t>
            </a:r>
            <a:r>
              <a:rPr lang="en-US" sz="2400" dirty="0" smtClean="0">
                <a:latin typeface="Arial Black" panose="020B0A04020102020204" pitchFamily="34" charset="0"/>
              </a:rPr>
              <a:t>:</a:t>
            </a:r>
          </a:p>
          <a:p>
            <a:pPr lvl="2" algn="just"/>
            <a:r>
              <a:rPr lang="en-US" sz="2000" dirty="0" smtClean="0">
                <a:solidFill>
                  <a:srgbClr val="FF0000"/>
                </a:solidFill>
                <a:latin typeface="Arial Black" panose="020B0A04020102020204" pitchFamily="34" charset="0"/>
              </a:rPr>
              <a:t>Speed</a:t>
            </a:r>
            <a:r>
              <a:rPr lang="en-US" sz="2000" dirty="0">
                <a:latin typeface="Arial Black" panose="020B0A04020102020204" pitchFamily="34" charset="0"/>
              </a:rPr>
              <a:t>: Up to 1 </a:t>
            </a:r>
            <a:r>
              <a:rPr lang="en-US" sz="2000" dirty="0" err="1">
                <a:latin typeface="Arial Black" panose="020B0A04020102020204" pitchFamily="34" charset="0"/>
              </a:rPr>
              <a:t>Gbps</a:t>
            </a:r>
            <a:r>
              <a:rPr lang="en-US" sz="2000" dirty="0">
                <a:latin typeface="Arial Black" panose="020B0A04020102020204" pitchFamily="34" charset="0"/>
              </a:rPr>
              <a:t> (1000 Mbps</a:t>
            </a:r>
            <a:r>
              <a:rPr lang="en-US" sz="2000" dirty="0" smtClean="0">
                <a:latin typeface="Arial Black" panose="020B0A04020102020204" pitchFamily="34" charset="0"/>
              </a:rPr>
              <a:t>).</a:t>
            </a:r>
          </a:p>
          <a:p>
            <a:pPr lvl="2" algn="just"/>
            <a:r>
              <a:rPr lang="en-US" sz="2000" dirty="0" smtClean="0">
                <a:solidFill>
                  <a:srgbClr val="FF0000"/>
                </a:solidFill>
                <a:latin typeface="Arial Black" panose="020B0A04020102020204" pitchFamily="34" charset="0"/>
              </a:rPr>
              <a:t>IEEE </a:t>
            </a:r>
            <a:r>
              <a:rPr lang="en-US" sz="2000" dirty="0">
                <a:solidFill>
                  <a:srgbClr val="FF0000"/>
                </a:solidFill>
                <a:latin typeface="Arial Black" panose="020B0A04020102020204" pitchFamily="34" charset="0"/>
              </a:rPr>
              <a:t>Standard</a:t>
            </a:r>
            <a:r>
              <a:rPr lang="en-US" sz="2000" dirty="0">
                <a:latin typeface="Arial Black" panose="020B0A04020102020204" pitchFamily="34" charset="0"/>
              </a:rPr>
              <a:t>: Defined under IEEE 802.3ab (for copper) and IEEE 802.3z (for fiber</a:t>
            </a:r>
            <a:r>
              <a:rPr lang="en-US" sz="2000" dirty="0" smtClean="0">
                <a:latin typeface="Arial Black" panose="020B0A04020102020204" pitchFamily="34" charset="0"/>
              </a:rPr>
              <a:t>).</a:t>
            </a:r>
          </a:p>
          <a:p>
            <a:pPr lvl="2" algn="just"/>
            <a:r>
              <a:rPr lang="en-US" sz="2000" dirty="0" smtClean="0">
                <a:solidFill>
                  <a:srgbClr val="FF0000"/>
                </a:solidFill>
                <a:latin typeface="Arial Black" panose="020B0A04020102020204" pitchFamily="34" charset="0"/>
              </a:rPr>
              <a:t>Cable </a:t>
            </a:r>
            <a:r>
              <a:rPr lang="en-US" sz="2000" dirty="0">
                <a:solidFill>
                  <a:srgbClr val="FF0000"/>
                </a:solidFill>
                <a:latin typeface="Arial Black" panose="020B0A04020102020204" pitchFamily="34" charset="0"/>
              </a:rPr>
              <a:t>Types</a:t>
            </a:r>
            <a:r>
              <a:rPr lang="en-US" sz="2000" dirty="0">
                <a:latin typeface="Arial Black" panose="020B0A04020102020204" pitchFamily="34" charset="0"/>
              </a:rPr>
              <a:t>: </a:t>
            </a:r>
            <a:endParaRPr lang="en-US" sz="2000" dirty="0" smtClean="0">
              <a:latin typeface="Arial Black" panose="020B0A04020102020204" pitchFamily="34" charset="0"/>
            </a:endParaRPr>
          </a:p>
          <a:p>
            <a:pPr lvl="3" algn="just"/>
            <a:r>
              <a:rPr lang="en-US" sz="1800" dirty="0" smtClean="0">
                <a:latin typeface="Arial Black" panose="020B0A04020102020204" pitchFamily="34" charset="0"/>
              </a:rPr>
              <a:t>For </a:t>
            </a:r>
            <a:r>
              <a:rPr lang="en-US" sz="1800" dirty="0">
                <a:latin typeface="Arial Black" panose="020B0A04020102020204" pitchFamily="34" charset="0"/>
              </a:rPr>
              <a:t>copper wiring, typically uses Cat5e, Cat6, or higher cables</a:t>
            </a:r>
            <a:r>
              <a:rPr lang="en-US" sz="1800" dirty="0" smtClean="0">
                <a:latin typeface="Arial Black" panose="020B0A04020102020204" pitchFamily="34" charset="0"/>
              </a:rPr>
              <a:t>.</a:t>
            </a:r>
          </a:p>
          <a:p>
            <a:pPr lvl="3" algn="just"/>
            <a:r>
              <a:rPr lang="en-US" sz="1800" dirty="0" smtClean="0">
                <a:latin typeface="Arial Black" panose="020B0A04020102020204" pitchFamily="34" charset="0"/>
              </a:rPr>
              <a:t>For </a:t>
            </a:r>
            <a:r>
              <a:rPr lang="en-US" sz="1800" dirty="0">
                <a:latin typeface="Arial Black" panose="020B0A04020102020204" pitchFamily="34" charset="0"/>
              </a:rPr>
              <a:t>fiber optic wiring, it uses 1000BASE-LX (single-mode fiber) or 1000BASE-SX (multi-mode fiber)..</a:t>
            </a:r>
            <a:endParaRPr lang="en-US" sz="1800" dirty="0" smtClean="0">
              <a:latin typeface="Arial Black" panose="020B0A04020102020204" pitchFamily="34" charset="0"/>
            </a:endParaRPr>
          </a:p>
          <a:p>
            <a:pPr lvl="2" algn="just"/>
            <a:r>
              <a:rPr lang="en-US" sz="2000" dirty="0" smtClean="0">
                <a:solidFill>
                  <a:srgbClr val="FF0000"/>
                </a:solidFill>
                <a:latin typeface="Arial Black" panose="020B0A04020102020204" pitchFamily="34" charset="0"/>
              </a:rPr>
              <a:t>Duplex </a:t>
            </a:r>
            <a:r>
              <a:rPr lang="en-US" sz="2000" dirty="0">
                <a:solidFill>
                  <a:srgbClr val="FF0000"/>
                </a:solidFill>
                <a:latin typeface="Arial Black" panose="020B0A04020102020204" pitchFamily="34" charset="0"/>
              </a:rPr>
              <a:t>Modes: </a:t>
            </a:r>
            <a:r>
              <a:rPr lang="en-US" sz="2000" dirty="0">
                <a:latin typeface="Arial Black" panose="020B0A04020102020204" pitchFamily="34" charset="0"/>
              </a:rPr>
              <a:t>Operates in full-duplex mode, meaning it can send and receive data simultaneously, effectively achieving 2 </a:t>
            </a:r>
            <a:r>
              <a:rPr lang="en-US" sz="2000" dirty="0" err="1">
                <a:latin typeface="Arial Black" panose="020B0A04020102020204" pitchFamily="34" charset="0"/>
              </a:rPr>
              <a:t>Gbps</a:t>
            </a:r>
            <a:r>
              <a:rPr lang="en-US" sz="2000" dirty="0">
                <a:latin typeface="Arial Black" panose="020B0A04020102020204" pitchFamily="34" charset="0"/>
              </a:rPr>
              <a:t> throughput (1 </a:t>
            </a:r>
            <a:r>
              <a:rPr lang="en-US" sz="2000" dirty="0" err="1">
                <a:latin typeface="Arial Black" panose="020B0A04020102020204" pitchFamily="34" charset="0"/>
              </a:rPr>
              <a:t>Gbps</a:t>
            </a:r>
            <a:r>
              <a:rPr lang="en-US" sz="2000" dirty="0">
                <a:latin typeface="Arial Black" panose="020B0A04020102020204" pitchFamily="34" charset="0"/>
              </a:rPr>
              <a:t> in each direction</a:t>
            </a:r>
            <a:r>
              <a:rPr lang="en-US" sz="2000" dirty="0" smtClean="0">
                <a:latin typeface="Arial Black" panose="020B0A04020102020204" pitchFamily="34" charset="0"/>
              </a:rPr>
              <a:t>). </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22</a:t>
            </a:fld>
            <a:endParaRPr lang="en-US" dirty="0"/>
          </a:p>
        </p:txBody>
      </p:sp>
    </p:spTree>
    <p:extLst>
      <p:ext uri="{BB962C8B-B14F-4D97-AF65-F5344CB8AC3E}">
        <p14:creationId xmlns:p14="http://schemas.microsoft.com/office/powerpoint/2010/main" val="196653523"/>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1806</Words>
  <Application>Microsoft Office PowerPoint</Application>
  <PresentationFormat>Widescreen</PresentationFormat>
  <Paragraphs>251</Paragraphs>
  <Slides>22</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Arial Black</vt:lpstr>
      <vt:lpstr>Calibri</vt:lpstr>
      <vt:lpstr>Courier New</vt:lpstr>
      <vt:lpstr>Gill Sans Nova Light</vt:lpstr>
      <vt:lpstr>Sagona Book</vt:lpstr>
      <vt:lpstr>Custom</vt:lpstr>
      <vt:lpstr>Network Cables</vt:lpstr>
      <vt:lpstr>Network cables</vt:lpstr>
      <vt:lpstr>Twisted Pair Cables</vt:lpstr>
      <vt:lpstr>PowerPoint Presentation</vt:lpstr>
      <vt:lpstr>PowerPoint Presentation</vt:lpstr>
      <vt:lpstr>Twisted Pair Ethernet Cable Categories</vt:lpstr>
      <vt:lpstr>Twisted Pair Ethernet Cable Categories (Cont.)</vt:lpstr>
      <vt:lpstr>T568A &amp; T568B Standard</vt:lpstr>
      <vt:lpstr>T568A Standard</vt:lpstr>
      <vt:lpstr>T568B Standard</vt:lpstr>
      <vt:lpstr>Straight-Through Cable</vt:lpstr>
      <vt:lpstr>PowerPoint Presentation</vt:lpstr>
      <vt:lpstr>Crossover Cable</vt:lpstr>
      <vt:lpstr>PowerPoint Presentation</vt:lpstr>
      <vt:lpstr>Rollover Cable (Console cable)</vt:lpstr>
      <vt:lpstr>PowerPoint Presentation</vt:lpstr>
      <vt:lpstr>Fiber Optic Cable</vt:lpstr>
      <vt:lpstr>PowerPoint Presentation</vt:lpstr>
      <vt:lpstr>Coaxial Cables</vt:lpstr>
      <vt:lpstr>PowerPoint Presentation</vt:lpstr>
      <vt:lpstr>Ethernet Standards</vt:lpstr>
      <vt:lpstr>Gigabit Ethernet Standards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2023-12-12T20:05:16Z</dcterms:created>
  <dcterms:modified xsi:type="dcterms:W3CDTF">2025-02-13T06:57:43Z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