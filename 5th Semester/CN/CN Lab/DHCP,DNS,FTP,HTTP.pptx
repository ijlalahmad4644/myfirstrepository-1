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25"/>
  </p:notesMasterIdLst>
  <p:handoutMasterIdLst>
    <p:handoutMasterId r:id="rId26"/>
  </p:handoutMasterIdLst>
  <p:sldIdLst>
    <p:sldId id="317" r:id="rId5"/>
    <p:sldId id="309" r:id="rId6"/>
    <p:sldId id="318" r:id="rId7"/>
    <p:sldId id="339" r:id="rId8"/>
    <p:sldId id="340" r:id="rId9"/>
    <p:sldId id="341" r:id="rId10"/>
    <p:sldId id="342" r:id="rId11"/>
    <p:sldId id="343" r:id="rId12"/>
    <p:sldId id="352" r:id="rId13"/>
    <p:sldId id="350" r:id="rId14"/>
    <p:sldId id="351" r:id="rId15"/>
    <p:sldId id="344" r:id="rId16"/>
    <p:sldId id="345" r:id="rId17"/>
    <p:sldId id="346" r:id="rId18"/>
    <p:sldId id="347" r:id="rId19"/>
    <p:sldId id="348" r:id="rId20"/>
    <p:sldId id="353" r:id="rId21"/>
    <p:sldId id="354" r:id="rId22"/>
    <p:sldId id="356" r:id="rId23"/>
    <p:sldId id="3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94" autoAdjust="0"/>
    <p:restoredTop sz="95405" autoAdjust="0"/>
  </p:normalViewPr>
  <p:slideViewPr>
    <p:cSldViewPr snapToGrid="0">
      <p:cViewPr varScale="1">
        <p:scale>
          <a:sx n="65" d="100"/>
          <a:sy n="65" d="100"/>
        </p:scale>
        <p:origin x="690" y="7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10/8/2024</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10/8/2024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3074427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815201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544109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4089743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434608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503696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454146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603844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412027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844014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895399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975051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4076630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31957289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3563973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3164627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147327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2536174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dirty="0"/>
              <a:t>Click icon to add picture</a:t>
            </a:r>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 xmlns:adec="http://schemas.microsoft.com/office/drawing/2017/decorative" val="1"/>
              </a:ext>
            </a:extLst>
          </p:cNvPr>
          <p:cNvPicPr>
            <a:picLocks noChangeAspect="1"/>
          </p:cNvPicPr>
          <p:nvPr userDrawn="1"/>
        </p:nvPicPr>
        <p:blipFill>
          <a:blip r:embed="rId2">
            <a:alphaModFix/>
            <a:extLst>
              <a:ext uri="{96DAC541-7B7A-43D3-8B79-37D633B846F1}">
                <asvg:svgBlip xmlns=""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6">
            <a:extLst>
              <a:ext uri="{FF2B5EF4-FFF2-40B4-BE49-F238E27FC236}">
                <a16:creationId xmlns:a16="http://schemas.microsoft.com/office/drawing/2014/main" id="{A3F1B258-8FBC-06A8-3A1F-466CEEDBBEF2}"/>
              </a:ext>
              <a:ext uri="{C183D7F6-B498-43B3-948B-1728B52AA6E4}">
                <adec:decorative xmlns=""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dirty="0"/>
              <a:t>Click icon to add picture</a:t>
            </a:r>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endParaRPr lang="en-US"/>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www.example.com/"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www.example.com/"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www.example.com/"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NULL" TargetMode="External"/><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hyperlink" Target="NUL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3362632"/>
          </a:xfrm>
        </p:spPr>
        <p:txBody>
          <a:bodyPr anchor="ctr"/>
          <a:lstStyle/>
          <a:p>
            <a:r>
              <a:rPr lang="en-US" sz="5400" b="1" dirty="0" smtClean="0">
                <a:latin typeface="Arial Black" panose="020B0A04020102020204" pitchFamily="34" charset="0"/>
              </a:rPr>
              <a:t>DHCP,DNS,HTTP &amp; FTP</a:t>
            </a:r>
            <a:endParaRPr lang="en-US" sz="5400" b="1" dirty="0">
              <a:latin typeface="Arial Black" panose="020B0A04020102020204" pitchFamily="34"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693174"/>
          </a:xfrm>
        </p:spPr>
        <p:txBody>
          <a:bodyPr/>
          <a:lstStyle/>
          <a:p>
            <a:pPr algn="ctr"/>
            <a:r>
              <a:rPr lang="en-US" sz="3200" dirty="0" smtClean="0">
                <a:latin typeface="Arial Black" panose="020B0A04020102020204" pitchFamily="34" charset="0"/>
              </a:rPr>
              <a:t>DHCP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7" y="987868"/>
            <a:ext cx="11631759" cy="4891936"/>
          </a:xfrm>
        </p:spPr>
        <p:txBody>
          <a:bodyPr>
            <a:normAutofit/>
          </a:bodyPr>
          <a:lstStyle/>
          <a:p>
            <a:pPr algn="just"/>
            <a:r>
              <a:rPr lang="en-US" sz="2400" dirty="0" smtClean="0">
                <a:solidFill>
                  <a:srgbClr val="FF0000"/>
                </a:solidFill>
                <a:latin typeface="Arial Black" panose="020B0A04020102020204" pitchFamily="34" charset="0"/>
              </a:rPr>
              <a:t>Definition</a:t>
            </a:r>
          </a:p>
          <a:p>
            <a:pPr lvl="1" algn="just"/>
            <a:r>
              <a:rPr lang="en-US" sz="2200" dirty="0" smtClean="0">
                <a:latin typeface="Arial Black" panose="020B0A04020102020204" pitchFamily="34" charset="0"/>
              </a:rPr>
              <a:t>DHCP </a:t>
            </a:r>
            <a:r>
              <a:rPr lang="en-US" sz="2200" dirty="0">
                <a:latin typeface="Arial Black" panose="020B0A04020102020204" pitchFamily="34" charset="0"/>
              </a:rPr>
              <a:t>is a network management protocol used to automatically assign IP addresses and other configuration settings (e.g., subnet mask, gateway, DNS) to devices (hosts) on a network, allowing them to communicate with other IP networks</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Purpose</a:t>
            </a:r>
          </a:p>
          <a:p>
            <a:pPr lvl="2"/>
            <a:r>
              <a:rPr lang="en-US" sz="2400" dirty="0">
                <a:latin typeface="Arial Black" panose="020B0A04020102020204" pitchFamily="34" charset="0"/>
              </a:rPr>
              <a:t>To automate the process of assigning IP addresses and manage IP allocation dynamically without requiring manual configuration</a:t>
            </a:r>
            <a:r>
              <a:rPr lang="en-US" sz="2400" dirty="0" smtClean="0">
                <a:latin typeface="Arial Black" panose="020B0A04020102020204" pitchFamily="34" charset="0"/>
              </a:rPr>
              <a:t>.</a:t>
            </a:r>
          </a:p>
          <a:p>
            <a:pPr lvl="2"/>
            <a:r>
              <a:rPr lang="en-US" sz="2400" dirty="0">
                <a:latin typeface="Arial Black" panose="020B0A04020102020204" pitchFamily="34" charset="0"/>
              </a:rPr>
              <a:t>Used in dynamic environments where devices join and leave the network frequently (e.g., corporate networks, Wi-Fi networks).Simplifies network administration by automating IP management.</a:t>
            </a:r>
          </a:p>
          <a:p>
            <a:pPr lvl="2"/>
            <a:endParaRPr lang="en-US" sz="24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Working of DHCP </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6"/>
            <a:ext cx="11631759" cy="5812529"/>
          </a:xfrm>
        </p:spPr>
        <p:txBody>
          <a:bodyPr>
            <a:normAutofit lnSpcReduction="10000"/>
          </a:bodyPr>
          <a:lstStyle/>
          <a:p>
            <a:pPr algn="just"/>
            <a:r>
              <a:rPr lang="en-US" sz="2400" dirty="0">
                <a:solidFill>
                  <a:srgbClr val="FF0000"/>
                </a:solidFill>
                <a:latin typeface="Arial Black" panose="020B0A04020102020204" pitchFamily="34" charset="0"/>
              </a:rPr>
              <a:t>Working</a:t>
            </a:r>
          </a:p>
          <a:p>
            <a:pPr lvl="1" algn="just"/>
            <a:r>
              <a:rPr lang="en-US" sz="2200" dirty="0">
                <a:latin typeface="Arial Black" panose="020B0A04020102020204" pitchFamily="34" charset="0"/>
              </a:rPr>
              <a:t>The DHCP process involves four key steps, often referred to as DORA:</a:t>
            </a:r>
          </a:p>
          <a:p>
            <a:pPr algn="just"/>
            <a:r>
              <a:rPr lang="en-US" sz="2400" dirty="0" smtClean="0">
                <a:solidFill>
                  <a:srgbClr val="FF0000"/>
                </a:solidFill>
                <a:latin typeface="Arial Black" panose="020B0A04020102020204" pitchFamily="34" charset="0"/>
              </a:rPr>
              <a:t>Discovery:</a:t>
            </a:r>
          </a:p>
          <a:p>
            <a:pPr lvl="1" algn="just"/>
            <a:r>
              <a:rPr lang="en-US" sz="2200" dirty="0" smtClean="0">
                <a:latin typeface="Arial Black" panose="020B0A04020102020204" pitchFamily="34" charset="0"/>
              </a:rPr>
              <a:t>When </a:t>
            </a:r>
            <a:r>
              <a:rPr lang="en-US" sz="2200" dirty="0">
                <a:latin typeface="Arial Black" panose="020B0A04020102020204" pitchFamily="34" charset="0"/>
              </a:rPr>
              <a:t>a new device (e.g., a computer or mobile device) connects to the network, it sends a DHCP Discover message as a broadcast to all devices in the subnet</a:t>
            </a:r>
            <a:r>
              <a:rPr lang="en-US" sz="2200" dirty="0" smtClean="0">
                <a:latin typeface="Arial Black" panose="020B0A04020102020204" pitchFamily="34" charset="0"/>
              </a:rPr>
              <a:t>. This </a:t>
            </a:r>
            <a:r>
              <a:rPr lang="en-US" sz="2200" dirty="0">
                <a:latin typeface="Arial Black" panose="020B0A04020102020204" pitchFamily="34" charset="0"/>
              </a:rPr>
              <a:t>message is sent to identify any available DHCP servers</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Offer:</a:t>
            </a:r>
          </a:p>
          <a:p>
            <a:pPr lvl="1" algn="just"/>
            <a:r>
              <a:rPr lang="en-US" sz="2200" dirty="0" smtClean="0">
                <a:latin typeface="Arial Black" panose="020B0A04020102020204" pitchFamily="34" charset="0"/>
              </a:rPr>
              <a:t>Upon </a:t>
            </a:r>
            <a:r>
              <a:rPr lang="en-US" sz="2200" dirty="0">
                <a:latin typeface="Arial Black" panose="020B0A04020102020204" pitchFamily="34" charset="0"/>
              </a:rPr>
              <a:t>receiving the Discover message, all DHCP servers on the network respond with a DHCP Offer message</a:t>
            </a:r>
            <a:r>
              <a:rPr lang="en-US" sz="2200" dirty="0" smtClean="0">
                <a:latin typeface="Arial Black" panose="020B0A04020102020204" pitchFamily="34" charset="0"/>
              </a:rPr>
              <a:t>. This </a:t>
            </a:r>
            <a:r>
              <a:rPr lang="en-US" sz="2200" dirty="0">
                <a:latin typeface="Arial Black" panose="020B0A04020102020204" pitchFamily="34" charset="0"/>
              </a:rPr>
              <a:t>message contains an available IP address and other configuration settings such as subnet mask, lease time, and the default gateway</a:t>
            </a:r>
            <a:r>
              <a:rPr lang="en-US" sz="2200" dirty="0" smtClean="0">
                <a:latin typeface="Arial Black" panose="020B0A04020102020204" pitchFamily="34" charset="0"/>
              </a:rPr>
              <a:t>.</a:t>
            </a:r>
          </a:p>
          <a:p>
            <a:pPr algn="just"/>
            <a:r>
              <a:rPr lang="en-US" sz="2200" dirty="0">
                <a:solidFill>
                  <a:srgbClr val="FF0000"/>
                </a:solidFill>
                <a:latin typeface="Arial Black" panose="020B0A04020102020204" pitchFamily="34" charset="0"/>
              </a:rPr>
              <a:t>Request</a:t>
            </a:r>
            <a:r>
              <a:rPr lang="en-US" sz="22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client reviews the offers and responds to a particular DHCP server with a DHCP Request message, indicating its intention to accept the offered IP address</a:t>
            </a:r>
            <a:r>
              <a:rPr lang="en-US" sz="2200" dirty="0" smtClean="0">
                <a:latin typeface="Arial Black" panose="020B0A04020102020204" pitchFamily="34" charset="0"/>
              </a:rPr>
              <a:t>. This </a:t>
            </a:r>
            <a:r>
              <a:rPr lang="en-US" sz="2200" dirty="0">
                <a:latin typeface="Arial Black" panose="020B0A04020102020204" pitchFamily="34" charset="0"/>
              </a:rPr>
              <a:t>request message is broadcast again to ensure that all DHCP servers are aware of the selected server and IP address.</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34114942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Working of DHCP </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7" y="809497"/>
            <a:ext cx="11631759" cy="5473316"/>
          </a:xfrm>
        </p:spPr>
        <p:txBody>
          <a:bodyPr>
            <a:normAutofit/>
          </a:bodyPr>
          <a:lstStyle/>
          <a:p>
            <a:pPr algn="just"/>
            <a:r>
              <a:rPr lang="en-US" sz="2400" dirty="0">
                <a:solidFill>
                  <a:srgbClr val="FF0000"/>
                </a:solidFill>
                <a:latin typeface="Arial Black" panose="020B0A04020102020204" pitchFamily="34" charset="0"/>
              </a:rPr>
              <a:t>Acknowledge</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selected DHCP server responds with a DHCP Acknowledgement (ACK) message</a:t>
            </a:r>
            <a:r>
              <a:rPr lang="en-US" sz="2200" dirty="0" smtClean="0">
                <a:latin typeface="Arial Black" panose="020B0A04020102020204" pitchFamily="34" charset="0"/>
              </a:rPr>
              <a:t>. This </a:t>
            </a:r>
            <a:r>
              <a:rPr lang="en-US" sz="2200" dirty="0">
                <a:latin typeface="Arial Black" panose="020B0A04020102020204" pitchFamily="34" charset="0"/>
              </a:rPr>
              <a:t>message confirms the lease of the IP address and provides all necessary configuration details</a:t>
            </a:r>
            <a:r>
              <a:rPr lang="en-US" sz="2200" dirty="0" smtClean="0">
                <a:latin typeface="Arial Black" panose="020B0A04020102020204" pitchFamily="34" charset="0"/>
              </a:rPr>
              <a:t>. If </a:t>
            </a:r>
            <a:r>
              <a:rPr lang="en-US" sz="2200" dirty="0">
                <a:latin typeface="Arial Black" panose="020B0A04020102020204" pitchFamily="34" charset="0"/>
              </a:rPr>
              <a:t>the server cannot fulfill the request, it will respond with a DHCP NACK message</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Additional </a:t>
            </a:r>
            <a:r>
              <a:rPr lang="en-US" sz="2400" dirty="0">
                <a:solidFill>
                  <a:srgbClr val="FF0000"/>
                </a:solidFill>
                <a:latin typeface="Arial Black" panose="020B0A04020102020204" pitchFamily="34" charset="0"/>
              </a:rPr>
              <a:t>Features</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Lease </a:t>
            </a:r>
            <a:r>
              <a:rPr lang="en-US" sz="2200" dirty="0">
                <a:latin typeface="Arial Black" panose="020B0A04020102020204" pitchFamily="34" charset="0"/>
              </a:rPr>
              <a:t>Time: Each IP address is leased for a specified duration. Once the lease expires, the client must either renew the lease or request a new IP address</a:t>
            </a:r>
            <a:r>
              <a:rPr lang="en-US" sz="2200" dirty="0" smtClean="0">
                <a:latin typeface="Arial Black" panose="020B0A04020102020204" pitchFamily="34" charset="0"/>
              </a:rPr>
              <a:t>.</a:t>
            </a:r>
          </a:p>
          <a:p>
            <a:pPr lvl="1" algn="just"/>
            <a:r>
              <a:rPr lang="en-US" sz="2200" dirty="0" smtClean="0">
                <a:latin typeface="Arial Black" panose="020B0A04020102020204" pitchFamily="34" charset="0"/>
              </a:rPr>
              <a:t>DHCP </a:t>
            </a:r>
            <a:r>
              <a:rPr lang="en-US" sz="2200" dirty="0">
                <a:latin typeface="Arial Black" panose="020B0A04020102020204" pitchFamily="34" charset="0"/>
              </a:rPr>
              <a:t>Relay: If the DHCP server is not on the same network segment, a DHCP Relay Agent is used to forward DHCP messages between the client and server</a:t>
            </a:r>
            <a:r>
              <a:rPr lang="en-US" sz="2200" dirty="0" smtClean="0">
                <a:latin typeface="Arial Black" panose="020B0A04020102020204" pitchFamily="34" charset="0"/>
              </a:rPr>
              <a:t>.</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551507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66916" y="103239"/>
            <a:ext cx="9217741" cy="560439"/>
          </a:xfrm>
        </p:spPr>
        <p:txBody>
          <a:bodyPr/>
          <a:lstStyle/>
          <a:p>
            <a:pPr algn="ctr"/>
            <a:r>
              <a:rPr lang="en-US" sz="3200" dirty="0" smtClean="0">
                <a:latin typeface="Arial Black" panose="020B0A04020102020204" pitchFamily="34" charset="0"/>
              </a:rPr>
              <a:t>DNS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7" y="663678"/>
            <a:ext cx="11631759" cy="5787835"/>
          </a:xfrm>
        </p:spPr>
        <p:txBody>
          <a:bodyPr>
            <a:normAutofit fontScale="92500"/>
          </a:bodyPr>
          <a:lstStyle/>
          <a:p>
            <a:pPr algn="just"/>
            <a:r>
              <a:rPr lang="en-US" sz="2400" dirty="0" smtClean="0">
                <a:solidFill>
                  <a:srgbClr val="FF0000"/>
                </a:solidFill>
                <a:latin typeface="Arial Black" panose="020B0A04020102020204" pitchFamily="34" charset="0"/>
              </a:rPr>
              <a:t>Definition</a:t>
            </a:r>
          </a:p>
          <a:p>
            <a:pPr marL="457200" lvl="1" indent="0" algn="just">
              <a:buNone/>
            </a:pPr>
            <a:r>
              <a:rPr lang="en-US" sz="2400" dirty="0">
                <a:latin typeface="Arial Black" panose="020B0A04020102020204" pitchFamily="34" charset="0"/>
              </a:rPr>
              <a:t>DNS is an Internet service that translates human-readable domain names (e.g., www.example.com) into IP addresses (e.g., 192.168.1.1) that computers use to identify each other on the </a:t>
            </a:r>
            <a:r>
              <a:rPr lang="en-US" sz="2400" dirty="0" smtClean="0">
                <a:latin typeface="Arial Black" panose="020B0A04020102020204" pitchFamily="34" charset="0"/>
              </a:rPr>
              <a:t>network.</a:t>
            </a:r>
          </a:p>
          <a:p>
            <a:pPr algn="just"/>
            <a:r>
              <a:rPr lang="en-US" sz="2400" dirty="0" smtClean="0">
                <a:solidFill>
                  <a:srgbClr val="FF0000"/>
                </a:solidFill>
                <a:latin typeface="Arial Black" panose="020B0A04020102020204" pitchFamily="34" charset="0"/>
              </a:rPr>
              <a:t>Basic Component</a:t>
            </a:r>
          </a:p>
          <a:p>
            <a:pPr lvl="2"/>
            <a:r>
              <a:rPr lang="en-US" sz="2400" dirty="0">
                <a:latin typeface="Arial Black" panose="020B0A04020102020204" pitchFamily="34" charset="0"/>
              </a:rPr>
              <a:t>Domain Name: Human-readable name (e.g., </a:t>
            </a:r>
            <a:r>
              <a:rPr lang="en-US" sz="2400" dirty="0">
                <a:latin typeface="Arial Black" panose="020B0A04020102020204" pitchFamily="34" charset="0"/>
                <a:hlinkClick r:id="rId3"/>
              </a:rPr>
              <a:t>www.example.com</a:t>
            </a:r>
            <a:r>
              <a:rPr lang="en-US" sz="2400" dirty="0" smtClean="0">
                <a:latin typeface="Arial Black" panose="020B0A04020102020204" pitchFamily="34" charset="0"/>
              </a:rPr>
              <a:t>).</a:t>
            </a:r>
          </a:p>
          <a:p>
            <a:pPr lvl="2"/>
            <a:r>
              <a:rPr lang="en-US" sz="2400" dirty="0" smtClean="0">
                <a:latin typeface="Arial Black" panose="020B0A04020102020204" pitchFamily="34" charset="0"/>
              </a:rPr>
              <a:t>IP </a:t>
            </a:r>
            <a:r>
              <a:rPr lang="en-US" sz="2400" dirty="0">
                <a:latin typeface="Arial Black" panose="020B0A04020102020204" pitchFamily="34" charset="0"/>
              </a:rPr>
              <a:t>Address: Unique address for a device or resource on a network (e.g., 192.0.2.1 for IPv4 or 2001:db8::1 for IPv6</a:t>
            </a:r>
            <a:r>
              <a:rPr lang="en-US" sz="2400" dirty="0" smtClean="0">
                <a:latin typeface="Arial Black" panose="020B0A04020102020204" pitchFamily="34" charset="0"/>
              </a:rPr>
              <a:t>).</a:t>
            </a:r>
          </a:p>
          <a:p>
            <a:pPr lvl="2"/>
            <a:r>
              <a:rPr lang="en-US" sz="2400" dirty="0" smtClean="0">
                <a:latin typeface="Arial Black" panose="020B0A04020102020204" pitchFamily="34" charset="0"/>
              </a:rPr>
              <a:t>DNS </a:t>
            </a:r>
            <a:r>
              <a:rPr lang="en-US" sz="2400" dirty="0">
                <a:latin typeface="Arial Black" panose="020B0A04020102020204" pitchFamily="34" charset="0"/>
              </a:rPr>
              <a:t>Resolver: Client-side service (usually run by the ISP or operating system) that receives DNS queries from user devices</a:t>
            </a:r>
            <a:r>
              <a:rPr lang="en-US" sz="2400" dirty="0" smtClean="0">
                <a:latin typeface="Arial Black" panose="020B0A04020102020204" pitchFamily="34" charset="0"/>
              </a:rPr>
              <a:t>.</a:t>
            </a:r>
          </a:p>
          <a:p>
            <a:pPr lvl="2"/>
            <a:r>
              <a:rPr lang="en-US" sz="2400" dirty="0" smtClean="0">
                <a:latin typeface="Arial Black" panose="020B0A04020102020204" pitchFamily="34" charset="0"/>
              </a:rPr>
              <a:t>Root </a:t>
            </a:r>
            <a:r>
              <a:rPr lang="en-US" sz="2400" dirty="0">
                <a:latin typeface="Arial Black" panose="020B0A04020102020204" pitchFamily="34" charset="0"/>
              </a:rPr>
              <a:t>Server: The first step in translating domain names; holds information about top-level domain (TLD) servers</a:t>
            </a:r>
            <a:r>
              <a:rPr lang="en-US" sz="2400" dirty="0" smtClean="0">
                <a:latin typeface="Arial Black" panose="020B0A04020102020204" pitchFamily="34" charset="0"/>
              </a:rPr>
              <a:t>.</a:t>
            </a:r>
          </a:p>
          <a:p>
            <a:pPr lvl="2"/>
            <a:r>
              <a:rPr lang="en-US" sz="2400" dirty="0" smtClean="0">
                <a:latin typeface="Arial Black" panose="020B0A04020102020204" pitchFamily="34" charset="0"/>
              </a:rPr>
              <a:t>TLD </a:t>
            </a:r>
            <a:r>
              <a:rPr lang="en-US" sz="2400" dirty="0">
                <a:latin typeface="Arial Black" panose="020B0A04020102020204" pitchFamily="34" charset="0"/>
              </a:rPr>
              <a:t>(Top-Level Domain) Server: Manages information for domains within the TLD (e.g., .com, .org, </a:t>
            </a:r>
            <a:r>
              <a:rPr lang="en-US" sz="2400" dirty="0" err="1">
                <a:latin typeface="Arial Black" panose="020B0A04020102020204" pitchFamily="34" charset="0"/>
              </a:rPr>
              <a:t>.net</a:t>
            </a:r>
            <a:r>
              <a:rPr lang="en-US" sz="2400" dirty="0" smtClean="0">
                <a:latin typeface="Arial Black" panose="020B0A04020102020204" pitchFamily="34" charset="0"/>
              </a:rPr>
              <a:t>).</a:t>
            </a:r>
          </a:p>
          <a:p>
            <a:pPr lvl="2"/>
            <a:r>
              <a:rPr lang="en-US" sz="2400" dirty="0" smtClean="0">
                <a:latin typeface="Arial Black" panose="020B0A04020102020204" pitchFamily="34" charset="0"/>
              </a:rPr>
              <a:t>Authoritative </a:t>
            </a:r>
            <a:r>
              <a:rPr lang="en-US" sz="2400" dirty="0">
                <a:latin typeface="Arial Black" panose="020B0A04020102020204" pitchFamily="34" charset="0"/>
              </a:rPr>
              <a:t>DNS Server: Holds the actual DNS records for a specific domain.</a:t>
            </a:r>
            <a:endParaRPr lang="en-US" sz="24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49921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Working of DNS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6"/>
            <a:ext cx="11631759" cy="5812529"/>
          </a:xfrm>
        </p:spPr>
        <p:txBody>
          <a:bodyPr>
            <a:normAutofit/>
          </a:bodyPr>
          <a:lstStyle/>
          <a:p>
            <a:pPr algn="just"/>
            <a:r>
              <a:rPr lang="en-US" sz="2400" dirty="0">
                <a:solidFill>
                  <a:srgbClr val="FF0000"/>
                </a:solidFill>
                <a:latin typeface="Arial Black" panose="020B0A04020102020204" pitchFamily="34" charset="0"/>
              </a:rPr>
              <a:t>Working</a:t>
            </a:r>
          </a:p>
          <a:p>
            <a:pPr lvl="1" algn="just"/>
            <a:r>
              <a:rPr lang="en-US" sz="2200" dirty="0">
                <a:latin typeface="Arial Black" panose="020B0A04020102020204" pitchFamily="34" charset="0"/>
              </a:rPr>
              <a:t>The DNS resolution process involves several steps, transforming a domain name into an IP </a:t>
            </a:r>
            <a:r>
              <a:rPr lang="en-US" sz="2200" dirty="0" smtClean="0">
                <a:latin typeface="Arial Black" panose="020B0A04020102020204" pitchFamily="34" charset="0"/>
              </a:rPr>
              <a:t>address</a:t>
            </a:r>
            <a:endParaRPr lang="en-US" sz="2200" dirty="0">
              <a:latin typeface="Arial Black" panose="020B0A04020102020204" pitchFamily="34" charset="0"/>
            </a:endParaRPr>
          </a:p>
          <a:p>
            <a:pPr algn="just"/>
            <a:r>
              <a:rPr lang="en-US" sz="2400" dirty="0">
                <a:solidFill>
                  <a:srgbClr val="FF0000"/>
                </a:solidFill>
                <a:latin typeface="Arial Black" panose="020B0A04020102020204" pitchFamily="34" charset="0"/>
              </a:rPr>
              <a:t>Client Query</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When </a:t>
            </a:r>
            <a:r>
              <a:rPr lang="en-US" sz="2200" dirty="0">
                <a:latin typeface="Arial Black" panose="020B0A04020102020204" pitchFamily="34" charset="0"/>
              </a:rPr>
              <a:t>a user types a URL into a browser (e.g., www.example.com), the client sends a DNS Query to the local DNS server, known as a recursive resolver</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Recursive </a:t>
            </a:r>
            <a:r>
              <a:rPr lang="en-US" sz="2400" dirty="0">
                <a:solidFill>
                  <a:srgbClr val="FF0000"/>
                </a:solidFill>
                <a:latin typeface="Arial Black" panose="020B0A04020102020204" pitchFamily="34" charset="0"/>
              </a:rPr>
              <a:t>Resolver</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resolver checks its local cache to see if it has the IP address for www.example.com.If found, it returns the IP address to the client. If not, it forwards the query to a root DNS server</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Root </a:t>
            </a:r>
            <a:r>
              <a:rPr lang="en-US" sz="2400" dirty="0">
                <a:solidFill>
                  <a:srgbClr val="FF0000"/>
                </a:solidFill>
                <a:latin typeface="Arial Black" panose="020B0A04020102020204" pitchFamily="34" charset="0"/>
              </a:rPr>
              <a:t>Server</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root server responds with a reference to a Top-Level Domain (TLD) server (e.g., .com, .org).</a:t>
            </a:r>
            <a:endParaRPr lang="en-US" sz="20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6735708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Working of DNS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6"/>
            <a:ext cx="11631759" cy="5812529"/>
          </a:xfrm>
        </p:spPr>
        <p:txBody>
          <a:bodyPr>
            <a:normAutofit/>
          </a:bodyPr>
          <a:lstStyle/>
          <a:p>
            <a:pPr algn="just"/>
            <a:r>
              <a:rPr lang="en-US" sz="2400" dirty="0">
                <a:solidFill>
                  <a:srgbClr val="FF0000"/>
                </a:solidFill>
                <a:latin typeface="Arial Black" panose="020B0A04020102020204" pitchFamily="34" charset="0"/>
              </a:rPr>
              <a:t>TLD Server</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resolver sends a query to the TLD server, which responds with the IP address of the Authoritative Name Server for the specific domain (example.com</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Authoritative </a:t>
            </a:r>
            <a:r>
              <a:rPr lang="en-US" sz="2400" dirty="0">
                <a:solidFill>
                  <a:srgbClr val="FF0000"/>
                </a:solidFill>
                <a:latin typeface="Arial Black" panose="020B0A04020102020204" pitchFamily="34" charset="0"/>
              </a:rPr>
              <a:t>Name Server</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resolver contacts the authoritative server, which responds with the IP address of the desired website (</a:t>
            </a:r>
            <a:r>
              <a:rPr lang="en-US" sz="2200" dirty="0">
                <a:latin typeface="Arial Black" panose="020B0A04020102020204" pitchFamily="34" charset="0"/>
                <a:hlinkClick r:id="rId3"/>
              </a:rPr>
              <a:t>www.example.com</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Response </a:t>
            </a:r>
            <a:r>
              <a:rPr lang="en-US" sz="2400" dirty="0">
                <a:solidFill>
                  <a:srgbClr val="FF0000"/>
                </a:solidFill>
                <a:latin typeface="Arial Black" panose="020B0A04020102020204" pitchFamily="34" charset="0"/>
              </a:rPr>
              <a:t>to the Client</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resolver returns the IP address to the client, and the client’s browser initiates a connection to the server at that IP address to retrieve the web page</a:t>
            </a:r>
            <a:r>
              <a:rPr lang="en-US" sz="2200" dirty="0" smtClean="0">
                <a:latin typeface="Arial Black" panose="020B0A04020102020204" pitchFamily="34" charset="0"/>
              </a:rPr>
              <a:t>.</a:t>
            </a:r>
          </a:p>
          <a:p>
            <a:pPr algn="just"/>
            <a:r>
              <a:rPr lang="en-US" sz="2400" dirty="0">
                <a:solidFill>
                  <a:srgbClr val="FF0000"/>
                </a:solidFill>
                <a:latin typeface="Arial Black" panose="020B0A04020102020204" pitchFamily="34" charset="0"/>
              </a:rPr>
              <a:t>Caching:</a:t>
            </a:r>
          </a:p>
          <a:p>
            <a:pPr lvl="1" algn="just"/>
            <a:r>
              <a:rPr lang="en-US" sz="2200" dirty="0" smtClean="0">
                <a:latin typeface="Arial Black" panose="020B0A04020102020204" pitchFamily="34" charset="0"/>
              </a:rPr>
              <a:t>Each </a:t>
            </a:r>
            <a:r>
              <a:rPr lang="en-US" sz="2200" dirty="0">
                <a:latin typeface="Arial Black" panose="020B0A04020102020204" pitchFamily="34" charset="0"/>
              </a:rPr>
              <a:t>DNS server and client caches the resolved IP addresses for a specific Time-To-Live (TTL) period</a:t>
            </a:r>
            <a:r>
              <a:rPr lang="en-US" sz="2200" dirty="0" smtClean="0">
                <a:latin typeface="Arial Black" panose="020B0A04020102020204" pitchFamily="34" charset="0"/>
              </a:rPr>
              <a:t>. This </a:t>
            </a:r>
            <a:r>
              <a:rPr lang="en-US" sz="2200" dirty="0">
                <a:latin typeface="Arial Black" panose="020B0A04020102020204" pitchFamily="34" charset="0"/>
              </a:rPr>
              <a:t>caching reduces the number of DNS queries for frequently visited websites, improving performance.</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15454543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693174"/>
          </a:xfrm>
        </p:spPr>
        <p:txBody>
          <a:bodyPr/>
          <a:lstStyle/>
          <a:p>
            <a:pPr algn="ctr"/>
            <a:r>
              <a:rPr lang="en-US" sz="3200" dirty="0" smtClean="0">
                <a:latin typeface="Arial Black" panose="020B0A04020102020204" pitchFamily="34" charset="0"/>
              </a:rPr>
              <a:t>HTTP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7" y="987868"/>
            <a:ext cx="11631759" cy="4891936"/>
          </a:xfrm>
        </p:spPr>
        <p:txBody>
          <a:bodyPr>
            <a:normAutofit lnSpcReduction="10000"/>
          </a:bodyPr>
          <a:lstStyle/>
          <a:p>
            <a:pPr algn="just"/>
            <a:r>
              <a:rPr lang="en-US" sz="2400" dirty="0" smtClean="0">
                <a:solidFill>
                  <a:srgbClr val="FF0000"/>
                </a:solidFill>
                <a:latin typeface="Arial Black" panose="020B0A04020102020204" pitchFamily="34" charset="0"/>
              </a:rPr>
              <a:t>Definition</a:t>
            </a:r>
          </a:p>
          <a:p>
            <a:pPr lvl="2" algn="just"/>
            <a:r>
              <a:rPr lang="en-US" sz="2200" dirty="0">
                <a:latin typeface="Arial Black" panose="020B0A04020102020204" pitchFamily="34" charset="0"/>
              </a:rPr>
              <a:t>HTTP (Hypertext Transfer Protocol) is an application layer protocol used for transmitting hypermedia (such as text, images, and videos) over the internet. It serves as the foundation for data communication on the World Wide Web, enabling the transfer of resources such as HTML documents, CSS stylesheets, and JavaScript files between a client (e.g., a web browser) and a server</a:t>
            </a:r>
            <a:r>
              <a:rPr lang="en-US" sz="2200" dirty="0" smtClean="0">
                <a:latin typeface="Arial Black" panose="020B0A04020102020204" pitchFamily="34" charset="0"/>
              </a:rPr>
              <a:t>.</a:t>
            </a:r>
          </a:p>
          <a:p>
            <a:pPr algn="just"/>
            <a:r>
              <a:rPr lang="en-US" sz="2600" dirty="0" smtClean="0">
                <a:solidFill>
                  <a:srgbClr val="FF0000"/>
                </a:solidFill>
                <a:latin typeface="Arial Black" panose="020B0A04020102020204" pitchFamily="34" charset="0"/>
              </a:rPr>
              <a:t>Purpose</a:t>
            </a:r>
          </a:p>
          <a:p>
            <a:pPr lvl="2"/>
            <a:r>
              <a:rPr lang="en-US" sz="2200" dirty="0">
                <a:latin typeface="Arial Black" panose="020B0A04020102020204" pitchFamily="34" charset="0"/>
              </a:rPr>
              <a:t>HTTP allows clients to request web resources from servers and display them to users</a:t>
            </a:r>
            <a:r>
              <a:rPr lang="en-US" sz="2200" dirty="0" smtClean="0">
                <a:latin typeface="Arial Black" panose="020B0A04020102020204" pitchFamily="34" charset="0"/>
              </a:rPr>
              <a:t>.</a:t>
            </a:r>
          </a:p>
          <a:p>
            <a:pPr lvl="2"/>
            <a:r>
              <a:rPr lang="en-US" sz="2200" dirty="0" smtClean="0">
                <a:latin typeface="Arial Black" panose="020B0A04020102020204" pitchFamily="34" charset="0"/>
              </a:rPr>
              <a:t>It </a:t>
            </a:r>
            <a:r>
              <a:rPr lang="en-US" sz="2200" dirty="0">
                <a:latin typeface="Arial Black" panose="020B0A04020102020204" pitchFamily="34" charset="0"/>
              </a:rPr>
              <a:t>enables communication between web clients (browsers) and web servers</a:t>
            </a:r>
            <a:r>
              <a:rPr lang="en-US" sz="2200" dirty="0" smtClean="0">
                <a:latin typeface="Arial Black" panose="020B0A04020102020204" pitchFamily="34" charset="0"/>
              </a:rPr>
              <a:t>.</a:t>
            </a:r>
          </a:p>
          <a:p>
            <a:pPr lvl="2"/>
            <a:r>
              <a:rPr lang="en-US" sz="2200" dirty="0" smtClean="0">
                <a:latin typeface="Arial Black" panose="020B0A04020102020204" pitchFamily="34" charset="0"/>
              </a:rPr>
              <a:t>Facilitates </a:t>
            </a:r>
            <a:r>
              <a:rPr lang="en-US" sz="2200" dirty="0">
                <a:latin typeface="Arial Black" panose="020B0A04020102020204" pitchFamily="34" charset="0"/>
              </a:rPr>
              <a:t>the retrieval of interlinked resources using URLs (Uniform Resource Locators).</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1318910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899651" y="111792"/>
            <a:ext cx="9217741" cy="544026"/>
          </a:xfrm>
        </p:spPr>
        <p:txBody>
          <a:bodyPr/>
          <a:lstStyle/>
          <a:p>
            <a:pPr algn="ctr"/>
            <a:r>
              <a:rPr lang="en-US" sz="3200" dirty="0" smtClean="0">
                <a:latin typeface="Arial Black" panose="020B0A04020102020204" pitchFamily="34" charset="0"/>
              </a:rPr>
              <a:t>HTTP Vs HTTPs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655818"/>
            <a:ext cx="11631759" cy="5877717"/>
          </a:xfrm>
        </p:spPr>
        <p:txBody>
          <a:bodyPr>
            <a:normAutofit/>
          </a:bodyPr>
          <a:lstStyle/>
          <a:p>
            <a:pPr lvl="1" algn="just"/>
            <a:r>
              <a:rPr lang="en-US" sz="2400" dirty="0">
                <a:solidFill>
                  <a:srgbClr val="FF0000"/>
                </a:solidFill>
                <a:latin typeface="Arial Black" panose="020B0A04020102020204" pitchFamily="34" charset="0"/>
              </a:rPr>
              <a:t>HTTP: </a:t>
            </a:r>
            <a:r>
              <a:rPr lang="en-US" sz="2400" dirty="0">
                <a:latin typeface="Arial Black" panose="020B0A04020102020204" pitchFamily="34" charset="0"/>
              </a:rPr>
              <a:t>Data is sent in plaintext, making it vulnerable to interception and eavesdropping</a:t>
            </a:r>
            <a:r>
              <a:rPr lang="en-US" sz="2400" dirty="0" smtClean="0">
                <a:latin typeface="Arial Black" panose="020B0A04020102020204" pitchFamily="34" charset="0"/>
              </a:rPr>
              <a:t>.</a:t>
            </a:r>
          </a:p>
          <a:p>
            <a:pPr lvl="1" algn="just"/>
            <a:r>
              <a:rPr lang="en-US" sz="2400" dirty="0" smtClean="0">
                <a:solidFill>
                  <a:srgbClr val="FF0000"/>
                </a:solidFill>
                <a:latin typeface="Arial Black" panose="020B0A04020102020204" pitchFamily="34" charset="0"/>
              </a:rPr>
              <a:t>HTTPS</a:t>
            </a:r>
            <a:r>
              <a:rPr lang="en-US" sz="2400" dirty="0">
                <a:solidFill>
                  <a:srgbClr val="FF0000"/>
                </a:solidFill>
                <a:latin typeface="Arial Black" panose="020B0A04020102020204" pitchFamily="34" charset="0"/>
              </a:rPr>
              <a:t>: </a:t>
            </a:r>
            <a:r>
              <a:rPr lang="en-US" sz="2400" dirty="0">
                <a:latin typeface="Arial Black" panose="020B0A04020102020204" pitchFamily="34" charset="0"/>
              </a:rPr>
              <a:t>An extension of HTTP that uses SSL/TLS encryption to secure communication between the client and server, ensuring data privacy </a:t>
            </a:r>
            <a:r>
              <a:rPr lang="en-US" sz="2400" dirty="0" smtClean="0">
                <a:latin typeface="Arial Black" panose="020B0A04020102020204" pitchFamily="34" charset="0"/>
              </a:rPr>
              <a:t>and</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1992598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693174"/>
          </a:xfrm>
        </p:spPr>
        <p:txBody>
          <a:bodyPr/>
          <a:lstStyle/>
          <a:p>
            <a:pPr algn="ctr"/>
            <a:r>
              <a:rPr lang="en-US" sz="3200" dirty="0" smtClean="0">
                <a:latin typeface="Arial Black" panose="020B0A04020102020204" pitchFamily="34" charset="0"/>
              </a:rPr>
              <a:t>Feature of HTTP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7" y="987867"/>
            <a:ext cx="11631759" cy="5530919"/>
          </a:xfrm>
        </p:spPr>
        <p:txBody>
          <a:bodyPr>
            <a:normAutofit/>
          </a:bodyPr>
          <a:lstStyle/>
          <a:p>
            <a:pPr algn="just"/>
            <a:r>
              <a:rPr lang="en-US" sz="2400" dirty="0" smtClean="0">
                <a:solidFill>
                  <a:srgbClr val="FF0000"/>
                </a:solidFill>
                <a:latin typeface="Arial Black" panose="020B0A04020102020204" pitchFamily="34" charset="0"/>
              </a:rPr>
              <a:t>Stateless</a:t>
            </a:r>
          </a:p>
          <a:p>
            <a:pPr lvl="2" algn="just"/>
            <a:r>
              <a:rPr lang="en-US" sz="2200" dirty="0">
                <a:latin typeface="Arial Black" panose="020B0A04020102020204" pitchFamily="34" charset="0"/>
              </a:rPr>
              <a:t>HTTP is a stateless protocol, meaning each request is independent and has no knowledge of previous requests</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While </a:t>
            </a:r>
            <a:r>
              <a:rPr lang="en-US" sz="2200" dirty="0">
                <a:latin typeface="Arial Black" panose="020B0A04020102020204" pitchFamily="34" charset="0"/>
              </a:rPr>
              <a:t>statelessness simplifies the server’s design, it complicates the management of user sessions. As a result, mechanisms like cookies, sessions, or tokens are used to maintain </a:t>
            </a:r>
            <a:r>
              <a:rPr lang="en-US" sz="2200" dirty="0" smtClean="0">
                <a:latin typeface="Arial Black" panose="020B0A04020102020204" pitchFamily="34" charset="0"/>
              </a:rPr>
              <a:t>state.</a:t>
            </a:r>
          </a:p>
          <a:p>
            <a:pPr algn="just"/>
            <a:r>
              <a:rPr lang="en-US" sz="2600" dirty="0" smtClean="0">
                <a:solidFill>
                  <a:srgbClr val="FF0000"/>
                </a:solidFill>
                <a:latin typeface="Arial Black" panose="020B0A04020102020204" pitchFamily="34" charset="0"/>
              </a:rPr>
              <a:t>Connectionless</a:t>
            </a:r>
          </a:p>
          <a:p>
            <a:pPr lvl="2"/>
            <a:r>
              <a:rPr lang="en-US" sz="2400" dirty="0">
                <a:latin typeface="Arial Black" panose="020B0A04020102020204" pitchFamily="34" charset="0"/>
              </a:rPr>
              <a:t>HTTP operates in a connectionless manner, where a client initiates a request, and once the server sends a response, the connection is closed</a:t>
            </a:r>
            <a:r>
              <a:rPr lang="en-US" sz="2400" dirty="0" smtClean="0">
                <a:latin typeface="Arial Black" panose="020B0A04020102020204" pitchFamily="34" charset="0"/>
              </a:rPr>
              <a:t>.</a:t>
            </a:r>
          </a:p>
          <a:p>
            <a:pPr lvl="2"/>
            <a:r>
              <a:rPr lang="en-US" sz="2400" dirty="0" smtClean="0">
                <a:latin typeface="Arial Black" panose="020B0A04020102020204" pitchFamily="34" charset="0"/>
              </a:rPr>
              <a:t>This </a:t>
            </a:r>
            <a:r>
              <a:rPr lang="en-US" sz="2400" dirty="0">
                <a:latin typeface="Arial Black" panose="020B0A04020102020204" pitchFamily="34" charset="0"/>
              </a:rPr>
              <a:t>reduces resource utilization but requires a new </a:t>
            </a:r>
            <a:r>
              <a:rPr lang="en-US" sz="2400" dirty="0" smtClean="0">
                <a:latin typeface="Arial Black" panose="020B0A04020102020204" pitchFamily="34" charset="0"/>
              </a:rPr>
              <a:t>connection </a:t>
            </a:r>
            <a:r>
              <a:rPr lang="en-US" sz="2400" dirty="0">
                <a:latin typeface="Arial Black" panose="020B0A04020102020204" pitchFamily="34" charset="0"/>
              </a:rPr>
              <a:t>for each request</a:t>
            </a:r>
            <a:r>
              <a:rPr lang="en-US" sz="2400" dirty="0" smtClean="0">
                <a:latin typeface="Arial Black" panose="020B0A04020102020204" pitchFamily="34" charset="0"/>
              </a:rPr>
              <a:t>.</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658881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693174"/>
          </a:xfrm>
        </p:spPr>
        <p:txBody>
          <a:bodyPr/>
          <a:lstStyle/>
          <a:p>
            <a:pPr algn="ctr"/>
            <a:r>
              <a:rPr lang="en-US" sz="3200" dirty="0" smtClean="0">
                <a:latin typeface="Arial Black" panose="020B0A04020102020204" pitchFamily="34" charset="0"/>
              </a:rPr>
              <a:t>Feature of HTTP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7" y="987867"/>
            <a:ext cx="11631759" cy="5530919"/>
          </a:xfrm>
        </p:spPr>
        <p:txBody>
          <a:bodyPr>
            <a:normAutofit/>
          </a:bodyPr>
          <a:lstStyle/>
          <a:p>
            <a:pPr algn="just"/>
            <a:r>
              <a:rPr lang="en-US" sz="2400" dirty="0">
                <a:solidFill>
                  <a:srgbClr val="FF0000"/>
                </a:solidFill>
                <a:latin typeface="Arial Black" panose="020B0A04020102020204" pitchFamily="34" charset="0"/>
              </a:rPr>
              <a:t>Request-Response Model</a:t>
            </a:r>
            <a:r>
              <a:rPr lang="en-US" sz="2400" dirty="0" smtClean="0">
                <a:solidFill>
                  <a:srgbClr val="FF0000"/>
                </a:solidFill>
                <a:latin typeface="Arial Black" panose="020B0A04020102020204" pitchFamily="34" charset="0"/>
              </a:rPr>
              <a:t>:</a:t>
            </a:r>
          </a:p>
          <a:p>
            <a:pPr lvl="1" algn="just"/>
            <a:r>
              <a:rPr lang="en-US" sz="2200" dirty="0">
                <a:latin typeface="Arial Black" panose="020B0A04020102020204" pitchFamily="34" charset="0"/>
              </a:rPr>
              <a:t>HTTP follows a request-response communication model, where the client sends a request, and the server responds with the requested resource.</a:t>
            </a:r>
            <a:endParaRPr lang="en-US" sz="2200" dirty="0" smtClean="0">
              <a:latin typeface="Arial Black" panose="020B0A04020102020204" pitchFamily="34" charset="0"/>
            </a:endParaRPr>
          </a:p>
          <a:p>
            <a:pPr algn="just"/>
            <a:r>
              <a:rPr lang="en-US" sz="2600" dirty="0">
                <a:solidFill>
                  <a:srgbClr val="FF0000"/>
                </a:solidFill>
                <a:latin typeface="Arial Black" panose="020B0A04020102020204" pitchFamily="34" charset="0"/>
              </a:rPr>
              <a:t>Media Independence</a:t>
            </a:r>
            <a:r>
              <a:rPr lang="en-US" sz="2600" dirty="0" smtClean="0">
                <a:solidFill>
                  <a:srgbClr val="FF0000"/>
                </a:solidFill>
                <a:latin typeface="Arial Black" panose="020B0A04020102020204" pitchFamily="34" charset="0"/>
              </a:rPr>
              <a:t>:</a:t>
            </a:r>
          </a:p>
          <a:p>
            <a:pPr lvl="1" algn="just"/>
            <a:r>
              <a:rPr lang="en-US" sz="2200" dirty="0">
                <a:latin typeface="Arial Black" panose="020B0A04020102020204" pitchFamily="34" charset="0"/>
              </a:rPr>
              <a:t>HTTP can transfer any type of data, as long as both the client and server understand the </a:t>
            </a:r>
            <a:r>
              <a:rPr lang="en-US" sz="2200" dirty="0" smtClean="0">
                <a:latin typeface="Arial Black" panose="020B0A04020102020204" pitchFamily="34" charset="0"/>
              </a:rPr>
              <a:t>format.</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2568938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Working of HTTP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6"/>
            <a:ext cx="11631759" cy="5812529"/>
          </a:xfrm>
        </p:spPr>
        <p:txBody>
          <a:bodyPr>
            <a:normAutofit/>
          </a:bodyPr>
          <a:lstStyle/>
          <a:p>
            <a:pPr algn="just"/>
            <a:r>
              <a:rPr lang="en-US" sz="2400" dirty="0">
                <a:solidFill>
                  <a:srgbClr val="FF0000"/>
                </a:solidFill>
                <a:latin typeface="Arial Black" panose="020B0A04020102020204" pitchFamily="34" charset="0"/>
              </a:rPr>
              <a:t>Working</a:t>
            </a:r>
          </a:p>
          <a:p>
            <a:pPr lvl="1" algn="just"/>
            <a:r>
              <a:rPr lang="en-US" sz="2200" dirty="0">
                <a:latin typeface="Arial Black" panose="020B0A04020102020204" pitchFamily="34" charset="0"/>
              </a:rPr>
              <a:t>HTTP communication involves a series of request-response exchanges between the client and server. Here’s a step-by-step explanation of how HTTP operates</a:t>
            </a:r>
            <a:r>
              <a:rPr lang="en-US" sz="2200" dirty="0" smtClean="0">
                <a:latin typeface="Arial Black" panose="020B0A04020102020204" pitchFamily="34" charset="0"/>
              </a:rPr>
              <a:t>:</a:t>
            </a:r>
          </a:p>
          <a:p>
            <a:pPr algn="just"/>
            <a:r>
              <a:rPr lang="en-US" sz="2600" dirty="0">
                <a:solidFill>
                  <a:srgbClr val="FF0000"/>
                </a:solidFill>
                <a:latin typeface="Arial Black" panose="020B0A04020102020204" pitchFamily="34" charset="0"/>
              </a:rPr>
              <a:t>Client Initiates Request</a:t>
            </a:r>
            <a:r>
              <a:rPr lang="en-US" sz="2600" dirty="0" smtClean="0">
                <a:solidFill>
                  <a:srgbClr val="FF0000"/>
                </a:solidFill>
                <a:latin typeface="Arial Black" panose="020B0A04020102020204" pitchFamily="34" charset="0"/>
              </a:rPr>
              <a:t>:</a:t>
            </a:r>
          </a:p>
          <a:p>
            <a:pPr lvl="1" algn="just"/>
            <a:r>
              <a:rPr lang="en-US" sz="2400" dirty="0" smtClean="0">
                <a:latin typeface="Arial Black" panose="020B0A04020102020204" pitchFamily="34" charset="0"/>
              </a:rPr>
              <a:t>When </a:t>
            </a:r>
            <a:r>
              <a:rPr lang="en-US" sz="2400" dirty="0">
                <a:latin typeface="Arial Black" panose="020B0A04020102020204" pitchFamily="34" charset="0"/>
              </a:rPr>
              <a:t>a user types a URL into the browser (e.g., http://</a:t>
            </a:r>
            <a:r>
              <a:rPr lang="en-US" sz="2400" dirty="0" smtClean="0">
                <a:latin typeface="Arial Black" panose="020B0A04020102020204" pitchFamily="34" charset="0"/>
              </a:rPr>
              <a:t>www.example.com), </a:t>
            </a:r>
            <a:r>
              <a:rPr lang="en-US" sz="2400" dirty="0">
                <a:latin typeface="Arial Black" panose="020B0A04020102020204" pitchFamily="34" charset="0"/>
              </a:rPr>
              <a:t>the browser parses the URL into its components</a:t>
            </a:r>
            <a:r>
              <a:rPr lang="en-US" sz="2400" dirty="0" smtClean="0">
                <a:latin typeface="Arial Black" panose="020B0A04020102020204" pitchFamily="34" charset="0"/>
              </a:rPr>
              <a:t>:</a:t>
            </a:r>
          </a:p>
          <a:p>
            <a:pPr lvl="2" algn="just"/>
            <a:r>
              <a:rPr lang="en-US" sz="2200" dirty="0" smtClean="0">
                <a:latin typeface="Arial Black" panose="020B0A04020102020204" pitchFamily="34" charset="0"/>
              </a:rPr>
              <a:t>Protocol</a:t>
            </a:r>
            <a:r>
              <a:rPr lang="en-US" sz="2200" dirty="0">
                <a:latin typeface="Arial Black" panose="020B0A04020102020204" pitchFamily="34" charset="0"/>
              </a:rPr>
              <a:t>: </a:t>
            </a:r>
            <a:r>
              <a:rPr lang="en-US" sz="2200" dirty="0" smtClean="0">
                <a:latin typeface="Arial Black" panose="020B0A04020102020204" pitchFamily="34" charset="0"/>
              </a:rPr>
              <a:t>http</a:t>
            </a:r>
          </a:p>
          <a:p>
            <a:pPr lvl="2" algn="just"/>
            <a:r>
              <a:rPr lang="en-US" sz="2200" dirty="0" smtClean="0">
                <a:latin typeface="Arial Black" panose="020B0A04020102020204" pitchFamily="34" charset="0"/>
              </a:rPr>
              <a:t>Host</a:t>
            </a:r>
            <a:r>
              <a:rPr lang="en-US" sz="2200" dirty="0">
                <a:latin typeface="Arial Black" panose="020B0A04020102020204" pitchFamily="34" charset="0"/>
              </a:rPr>
              <a:t>: </a:t>
            </a:r>
            <a:r>
              <a:rPr lang="en-US" sz="2200" dirty="0" smtClean="0">
                <a:latin typeface="Arial Black" panose="020B0A04020102020204" pitchFamily="34" charset="0"/>
                <a:hlinkClick r:id="rId3"/>
              </a:rPr>
              <a:t>www.example.com</a:t>
            </a:r>
            <a:endParaRPr lang="en-US" sz="2200" dirty="0" smtClean="0">
              <a:latin typeface="Arial Black" panose="020B0A04020102020204" pitchFamily="34" charset="0"/>
            </a:endParaRPr>
          </a:p>
          <a:p>
            <a:pPr lvl="2" algn="just"/>
            <a:r>
              <a:rPr lang="en-US" sz="2200" dirty="0" smtClean="0">
                <a:latin typeface="Arial Black" panose="020B0A04020102020204" pitchFamily="34" charset="0"/>
              </a:rPr>
              <a:t>Path</a:t>
            </a:r>
            <a:r>
              <a:rPr lang="en-US" sz="2200" dirty="0">
                <a:latin typeface="Arial Black" panose="020B0A04020102020204" pitchFamily="34" charset="0"/>
              </a:rPr>
              <a:t>: / (default home page)The browser establishes a TCP connection to the server (using port 80 for HTTP or port 443 for HTTPS).</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1344104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899651" y="111792"/>
            <a:ext cx="9217741" cy="544026"/>
          </a:xfrm>
        </p:spPr>
        <p:txBody>
          <a:bodyPr/>
          <a:lstStyle/>
          <a:p>
            <a:pPr algn="ctr"/>
            <a:r>
              <a:rPr lang="en-US" sz="3200" dirty="0" smtClean="0">
                <a:latin typeface="Arial Black" panose="020B0A04020102020204" pitchFamily="34" charset="0"/>
              </a:rPr>
              <a:t>Working of HTTP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655818"/>
            <a:ext cx="11631759" cy="5877717"/>
          </a:xfrm>
        </p:spPr>
        <p:txBody>
          <a:bodyPr>
            <a:normAutofit fontScale="92500" lnSpcReduction="20000"/>
          </a:bodyPr>
          <a:lstStyle/>
          <a:p>
            <a:pPr algn="just"/>
            <a:r>
              <a:rPr lang="en-US" sz="2600" dirty="0" smtClean="0">
                <a:solidFill>
                  <a:srgbClr val="FF0000"/>
                </a:solidFill>
                <a:latin typeface="Arial Black" panose="020B0A04020102020204" pitchFamily="34" charset="0"/>
              </a:rPr>
              <a:t>Sending </a:t>
            </a:r>
            <a:r>
              <a:rPr lang="en-US" sz="2600" dirty="0">
                <a:solidFill>
                  <a:srgbClr val="FF0000"/>
                </a:solidFill>
                <a:latin typeface="Arial Black" panose="020B0A04020102020204" pitchFamily="34" charset="0"/>
              </a:rPr>
              <a:t>an HTTP Request</a:t>
            </a:r>
            <a:r>
              <a:rPr lang="en-US" sz="2600" dirty="0" smtClean="0">
                <a:solidFill>
                  <a:srgbClr val="FF0000"/>
                </a:solidFill>
                <a:latin typeface="Arial Black" panose="020B0A04020102020204" pitchFamily="34" charset="0"/>
              </a:rPr>
              <a:t>:</a:t>
            </a:r>
          </a:p>
          <a:p>
            <a:pPr lvl="1" algn="just"/>
            <a:r>
              <a:rPr lang="en-US" sz="2400" dirty="0" smtClean="0">
                <a:latin typeface="Arial Black" panose="020B0A04020102020204" pitchFamily="34" charset="0"/>
              </a:rPr>
              <a:t>The </a:t>
            </a:r>
            <a:r>
              <a:rPr lang="en-US" sz="2400" dirty="0">
                <a:latin typeface="Arial Black" panose="020B0A04020102020204" pitchFamily="34" charset="0"/>
              </a:rPr>
              <a:t>client sends an HTTP request message to the server. An HTTP request consists of the following components</a:t>
            </a:r>
            <a:r>
              <a:rPr lang="en-US" sz="2400" dirty="0" smtClean="0">
                <a:latin typeface="Arial Black" panose="020B0A04020102020204" pitchFamily="34" charset="0"/>
              </a:rPr>
              <a:t>:</a:t>
            </a:r>
          </a:p>
          <a:p>
            <a:pPr lvl="2" algn="just"/>
            <a:r>
              <a:rPr lang="en-US" sz="2200" dirty="0" smtClean="0">
                <a:solidFill>
                  <a:srgbClr val="00B0F0"/>
                </a:solidFill>
                <a:latin typeface="Arial Black" panose="020B0A04020102020204" pitchFamily="34" charset="0"/>
              </a:rPr>
              <a:t>Request </a:t>
            </a:r>
            <a:r>
              <a:rPr lang="en-US" sz="2200" dirty="0">
                <a:solidFill>
                  <a:srgbClr val="00B0F0"/>
                </a:solidFill>
                <a:latin typeface="Arial Black" panose="020B0A04020102020204" pitchFamily="34" charset="0"/>
              </a:rPr>
              <a:t>Line: </a:t>
            </a:r>
            <a:r>
              <a:rPr lang="en-US" sz="2200" dirty="0">
                <a:latin typeface="Arial Black" panose="020B0A04020102020204" pitchFamily="34" charset="0"/>
              </a:rPr>
              <a:t>Contains the HTTP method, the requested resource, and the HTTP version</a:t>
            </a:r>
            <a:r>
              <a:rPr lang="en-US" sz="2200" dirty="0" smtClean="0">
                <a:latin typeface="Arial Black" panose="020B0A04020102020204" pitchFamily="34" charset="0"/>
              </a:rPr>
              <a:t>.</a:t>
            </a:r>
          </a:p>
          <a:p>
            <a:pPr lvl="3" algn="just"/>
            <a:r>
              <a:rPr lang="en-US" dirty="0">
                <a:latin typeface="Arial Black" panose="020B0A04020102020204" pitchFamily="34" charset="0"/>
              </a:rPr>
              <a:t>GET /index.html HTTP/1.1</a:t>
            </a:r>
          </a:p>
          <a:p>
            <a:pPr lvl="2" algn="just"/>
            <a:r>
              <a:rPr lang="en-US" sz="2200" dirty="0">
                <a:solidFill>
                  <a:srgbClr val="00B0F0"/>
                </a:solidFill>
                <a:latin typeface="Arial Black" panose="020B0A04020102020204" pitchFamily="34" charset="0"/>
              </a:rPr>
              <a:t>Headers: </a:t>
            </a:r>
            <a:r>
              <a:rPr lang="en-US" sz="2200" dirty="0">
                <a:latin typeface="Arial Black" panose="020B0A04020102020204" pitchFamily="34" charset="0"/>
              </a:rPr>
              <a:t>Provide additional information about the request, such as the browser type, accepted content types, etc</a:t>
            </a:r>
            <a:r>
              <a:rPr lang="en-US" sz="2200" dirty="0" smtClean="0">
                <a:latin typeface="Arial Black" panose="020B0A04020102020204" pitchFamily="34" charset="0"/>
              </a:rPr>
              <a:t>.</a:t>
            </a:r>
          </a:p>
          <a:p>
            <a:pPr lvl="3" algn="just"/>
            <a:r>
              <a:rPr lang="en-US" sz="2000" dirty="0">
                <a:latin typeface="Arial Black" panose="020B0A04020102020204" pitchFamily="34" charset="0"/>
              </a:rPr>
              <a:t>Host: www.example.com</a:t>
            </a:r>
          </a:p>
          <a:p>
            <a:pPr lvl="3" algn="just"/>
            <a:r>
              <a:rPr lang="en-US" sz="2000" dirty="0">
                <a:latin typeface="Arial Black" panose="020B0A04020102020204" pitchFamily="34" charset="0"/>
              </a:rPr>
              <a:t>User-Agent: Mozilla/5.0</a:t>
            </a:r>
          </a:p>
          <a:p>
            <a:pPr lvl="3" algn="just"/>
            <a:r>
              <a:rPr lang="en-US" sz="2000" dirty="0">
                <a:latin typeface="Arial Black" panose="020B0A04020102020204" pitchFamily="34" charset="0"/>
              </a:rPr>
              <a:t>Accept: text/html</a:t>
            </a:r>
          </a:p>
          <a:p>
            <a:pPr lvl="1" algn="just"/>
            <a:r>
              <a:rPr lang="en-US" sz="2400" dirty="0">
                <a:solidFill>
                  <a:srgbClr val="FF0000"/>
                </a:solidFill>
                <a:latin typeface="Arial Black" panose="020B0A04020102020204" pitchFamily="34" charset="0"/>
              </a:rPr>
              <a:t>Server Processes the Request</a:t>
            </a:r>
            <a:r>
              <a:rPr lang="en-US" sz="2400" dirty="0" smtClean="0">
                <a:solidFill>
                  <a:srgbClr val="FF0000"/>
                </a:solidFill>
                <a:latin typeface="Arial Black" panose="020B0A04020102020204" pitchFamily="34" charset="0"/>
              </a:rPr>
              <a:t>:</a:t>
            </a:r>
          </a:p>
          <a:p>
            <a:pPr lvl="2" algn="just"/>
            <a:r>
              <a:rPr lang="en-US" sz="2200" dirty="0" smtClean="0">
                <a:latin typeface="Arial Black" panose="020B0A04020102020204" pitchFamily="34" charset="0"/>
              </a:rPr>
              <a:t>The </a:t>
            </a:r>
            <a:r>
              <a:rPr lang="en-US" sz="2200" dirty="0">
                <a:latin typeface="Arial Black" panose="020B0A04020102020204" pitchFamily="34" charset="0"/>
              </a:rPr>
              <a:t>server receives the HTTP request and determines the requested resource (e.g., an HTML file, image, or API endpoint</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It </a:t>
            </a:r>
            <a:r>
              <a:rPr lang="en-US" sz="2200" dirty="0">
                <a:latin typeface="Arial Black" panose="020B0A04020102020204" pitchFamily="34" charset="0"/>
              </a:rPr>
              <a:t>processes the request, generates a response, and sends it back to the client</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Sending </a:t>
            </a:r>
            <a:r>
              <a:rPr lang="en-US" sz="2200" dirty="0">
                <a:latin typeface="Arial Black" panose="020B0A04020102020204" pitchFamily="34" charset="0"/>
              </a:rPr>
              <a:t>an HTTP Response</a:t>
            </a:r>
            <a:r>
              <a:rPr lang="en-US" sz="2200" dirty="0" smtClean="0">
                <a:latin typeface="Arial Black" panose="020B0A04020102020204" pitchFamily="34" charset="0"/>
              </a:rPr>
              <a:t>: The </a:t>
            </a:r>
            <a:r>
              <a:rPr lang="en-US" sz="2200" dirty="0">
                <a:latin typeface="Arial Black" panose="020B0A04020102020204" pitchFamily="34" charset="0"/>
              </a:rPr>
              <a:t>server’s HTTP response message consists of</a:t>
            </a:r>
            <a:r>
              <a:rPr lang="en-US" sz="2200" dirty="0" smtClean="0">
                <a:latin typeface="Arial Black" panose="020B0A04020102020204" pitchFamily="34" charset="0"/>
              </a:rPr>
              <a:t>:</a:t>
            </a:r>
          </a:p>
          <a:p>
            <a:pPr lvl="3" algn="just"/>
            <a:r>
              <a:rPr lang="en-US" sz="2000" dirty="0" smtClean="0">
                <a:latin typeface="Arial Black" panose="020B0A04020102020204" pitchFamily="34" charset="0"/>
              </a:rPr>
              <a:t>Status </a:t>
            </a:r>
            <a:r>
              <a:rPr lang="en-US" sz="2000" dirty="0">
                <a:latin typeface="Arial Black" panose="020B0A04020102020204" pitchFamily="34" charset="0"/>
              </a:rPr>
              <a:t>Line: Contains the HTTP version, a status code, and a status </a:t>
            </a:r>
            <a:r>
              <a:rPr lang="en-US" sz="2000" dirty="0" smtClean="0">
                <a:latin typeface="Arial Black" panose="020B0A04020102020204" pitchFamily="34" charset="0"/>
              </a:rPr>
              <a:t>message</a:t>
            </a:r>
          </a:p>
          <a:p>
            <a:pPr lvl="3" algn="just"/>
            <a:r>
              <a:rPr lang="en-US" sz="2000" dirty="0">
                <a:latin typeface="Arial Black" panose="020B0A04020102020204" pitchFamily="34" charset="0"/>
              </a:rPr>
              <a:t>HTTP/1.1 200 </a:t>
            </a:r>
            <a:r>
              <a:rPr lang="en-US" sz="2000" dirty="0" smtClean="0">
                <a:latin typeface="Arial Black" panose="020B0A04020102020204" pitchFamily="34" charset="0"/>
              </a:rPr>
              <a:t>OK</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12448501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899651" y="111792"/>
            <a:ext cx="9217741" cy="544026"/>
          </a:xfrm>
        </p:spPr>
        <p:txBody>
          <a:bodyPr/>
          <a:lstStyle/>
          <a:p>
            <a:pPr algn="ctr"/>
            <a:r>
              <a:rPr lang="en-US" sz="3200" dirty="0" smtClean="0">
                <a:latin typeface="Arial Black" panose="020B0A04020102020204" pitchFamily="34" charset="0"/>
              </a:rPr>
              <a:t>Working of HTTP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655818"/>
            <a:ext cx="11631759" cy="5877717"/>
          </a:xfrm>
        </p:spPr>
        <p:txBody>
          <a:bodyPr>
            <a:normAutofit/>
          </a:bodyPr>
          <a:lstStyle/>
          <a:p>
            <a:pPr algn="just"/>
            <a:r>
              <a:rPr lang="en-US" sz="2600" dirty="0">
                <a:solidFill>
                  <a:srgbClr val="FF0000"/>
                </a:solidFill>
                <a:latin typeface="Arial Black" panose="020B0A04020102020204" pitchFamily="34" charset="0"/>
              </a:rPr>
              <a:t>Client Receives and Processes the </a:t>
            </a:r>
            <a:r>
              <a:rPr lang="en-US" sz="2600" dirty="0" smtClean="0">
                <a:solidFill>
                  <a:srgbClr val="FF0000"/>
                </a:solidFill>
                <a:latin typeface="Arial Black" panose="020B0A04020102020204" pitchFamily="34" charset="0"/>
              </a:rPr>
              <a:t>Response:</a:t>
            </a:r>
          </a:p>
          <a:p>
            <a:pPr lvl="1" algn="just"/>
            <a:r>
              <a:rPr lang="en-US" sz="2400" dirty="0">
                <a:latin typeface="Arial Black" panose="020B0A04020102020204" pitchFamily="34" charset="0"/>
              </a:rPr>
              <a:t>The client (browser) receives the response and processes it according to the headers</a:t>
            </a:r>
            <a:r>
              <a:rPr lang="en-US" sz="2400" dirty="0" smtClean="0">
                <a:latin typeface="Arial Black" panose="020B0A04020102020204" pitchFamily="34" charset="0"/>
              </a:rPr>
              <a:t>.</a:t>
            </a:r>
          </a:p>
          <a:p>
            <a:pPr lvl="1" algn="just"/>
            <a:r>
              <a:rPr lang="en-US" sz="2400" dirty="0" smtClean="0">
                <a:latin typeface="Arial Black" panose="020B0A04020102020204" pitchFamily="34" charset="0"/>
              </a:rPr>
              <a:t>If </a:t>
            </a:r>
            <a:r>
              <a:rPr lang="en-US" sz="2400" dirty="0">
                <a:latin typeface="Arial Black" panose="020B0A04020102020204" pitchFamily="34" charset="0"/>
              </a:rPr>
              <a:t>the content is an HTML file, the browser renders the page and may send additional HTTP requests for embedded resources (e.g., CSS files, JavaScript, and images</a:t>
            </a:r>
            <a:r>
              <a:rPr lang="en-US" sz="2400" dirty="0" smtClean="0">
                <a:latin typeface="Arial Black" panose="020B0A04020102020204" pitchFamily="34" charset="0"/>
              </a:rPr>
              <a:t>).</a:t>
            </a:r>
            <a:endParaRPr lang="en-US" sz="2000" dirty="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34775456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899651" y="111792"/>
            <a:ext cx="9217741" cy="544026"/>
          </a:xfrm>
        </p:spPr>
        <p:txBody>
          <a:bodyPr/>
          <a:lstStyle/>
          <a:p>
            <a:pPr algn="ctr"/>
            <a:r>
              <a:rPr lang="en-US" sz="3200" dirty="0" smtClean="0">
                <a:latin typeface="Arial Black" panose="020B0A04020102020204" pitchFamily="34" charset="0"/>
              </a:rPr>
              <a:t>HTTP Status Code</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655818"/>
            <a:ext cx="11631759" cy="5877717"/>
          </a:xfrm>
        </p:spPr>
        <p:txBody>
          <a:bodyPr>
            <a:normAutofit/>
          </a:bodyPr>
          <a:lstStyle/>
          <a:p>
            <a:pPr marL="457200" lvl="1" indent="0" algn="just">
              <a:buNone/>
            </a:pPr>
            <a:r>
              <a:rPr lang="en-US" sz="2400" dirty="0">
                <a:latin typeface="Arial Black" panose="020B0A04020102020204" pitchFamily="34" charset="0"/>
              </a:rPr>
              <a:t>The status codes in the HTTP response indicate whether the request was successful or encountered an issue. These are categorized into five groups</a:t>
            </a:r>
            <a:r>
              <a:rPr lang="en-US" sz="2400" dirty="0" smtClean="0">
                <a:latin typeface="Arial Black" panose="020B0A04020102020204" pitchFamily="34" charset="0"/>
              </a:rPr>
              <a:t>:</a:t>
            </a:r>
          </a:p>
          <a:p>
            <a:pPr lvl="1" algn="just"/>
            <a:r>
              <a:rPr lang="en-US" sz="2400" dirty="0" smtClean="0">
                <a:solidFill>
                  <a:srgbClr val="FF0000"/>
                </a:solidFill>
                <a:latin typeface="Arial Black" panose="020B0A04020102020204" pitchFamily="34" charset="0"/>
              </a:rPr>
              <a:t>1xx </a:t>
            </a:r>
            <a:r>
              <a:rPr lang="en-US" sz="2400" dirty="0">
                <a:solidFill>
                  <a:srgbClr val="FF0000"/>
                </a:solidFill>
                <a:latin typeface="Arial Black" panose="020B0A04020102020204" pitchFamily="34" charset="0"/>
              </a:rPr>
              <a:t>(Informational</a:t>
            </a:r>
            <a:r>
              <a:rPr lang="en-US" sz="2400" dirty="0" smtClean="0">
                <a:solidFill>
                  <a:srgbClr val="FF0000"/>
                </a:solidFill>
                <a:latin typeface="Arial Black" panose="020B0A04020102020204" pitchFamily="34" charset="0"/>
              </a:rPr>
              <a:t>):</a:t>
            </a:r>
          </a:p>
          <a:p>
            <a:pPr lvl="2" algn="just"/>
            <a:r>
              <a:rPr lang="en-US" sz="2200" dirty="0" smtClean="0">
                <a:latin typeface="Arial Black" panose="020B0A04020102020204" pitchFamily="34" charset="0"/>
              </a:rPr>
              <a:t>100 </a:t>
            </a:r>
            <a:r>
              <a:rPr lang="en-US" sz="2200" dirty="0">
                <a:latin typeface="Arial Black" panose="020B0A04020102020204" pitchFamily="34" charset="0"/>
              </a:rPr>
              <a:t>Continue: Indicates that the server has received the initial part of the request and the client can continue</a:t>
            </a:r>
            <a:r>
              <a:rPr lang="en-US" sz="2200" dirty="0" smtClean="0">
                <a:latin typeface="Arial Black" panose="020B0A04020102020204" pitchFamily="34" charset="0"/>
              </a:rPr>
              <a:t>.</a:t>
            </a:r>
          </a:p>
          <a:p>
            <a:pPr lvl="1" algn="just"/>
            <a:r>
              <a:rPr lang="en-US" sz="2400" dirty="0" smtClean="0">
                <a:solidFill>
                  <a:srgbClr val="FF0000"/>
                </a:solidFill>
                <a:latin typeface="Arial Black" panose="020B0A04020102020204" pitchFamily="34" charset="0"/>
              </a:rPr>
              <a:t>2xx </a:t>
            </a:r>
            <a:r>
              <a:rPr lang="en-US" sz="2400" dirty="0">
                <a:solidFill>
                  <a:srgbClr val="FF0000"/>
                </a:solidFill>
                <a:latin typeface="Arial Black" panose="020B0A04020102020204" pitchFamily="34" charset="0"/>
              </a:rPr>
              <a:t>(Successful</a:t>
            </a:r>
            <a:r>
              <a:rPr lang="en-US" sz="2400" dirty="0" smtClean="0">
                <a:solidFill>
                  <a:srgbClr val="FF0000"/>
                </a:solidFill>
                <a:latin typeface="Arial Black" panose="020B0A04020102020204" pitchFamily="34" charset="0"/>
              </a:rPr>
              <a:t>):</a:t>
            </a:r>
          </a:p>
          <a:p>
            <a:pPr lvl="2" algn="just"/>
            <a:r>
              <a:rPr lang="en-US" sz="2200" dirty="0" smtClean="0">
                <a:latin typeface="Arial Black" panose="020B0A04020102020204" pitchFamily="34" charset="0"/>
              </a:rPr>
              <a:t>200 </a:t>
            </a:r>
            <a:r>
              <a:rPr lang="en-US" sz="2200" dirty="0">
                <a:latin typeface="Arial Black" panose="020B0A04020102020204" pitchFamily="34" charset="0"/>
              </a:rPr>
              <a:t>OK: The request was successful, and the server returned the requested resource</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201 </a:t>
            </a:r>
            <a:r>
              <a:rPr lang="en-US" sz="2200" dirty="0">
                <a:latin typeface="Arial Black" panose="020B0A04020102020204" pitchFamily="34" charset="0"/>
              </a:rPr>
              <a:t>Created: The request was successful, and a new resource was created</a:t>
            </a:r>
            <a:r>
              <a:rPr lang="en-US" sz="2200" dirty="0" smtClean="0">
                <a:latin typeface="Arial Black" panose="020B0A04020102020204" pitchFamily="34" charset="0"/>
              </a:rPr>
              <a:t>.</a:t>
            </a:r>
          </a:p>
          <a:p>
            <a:pPr lvl="1" algn="just"/>
            <a:r>
              <a:rPr lang="en-US" sz="2400" dirty="0">
                <a:solidFill>
                  <a:srgbClr val="FF0000"/>
                </a:solidFill>
                <a:latin typeface="Arial Black" panose="020B0A04020102020204" pitchFamily="34" charset="0"/>
              </a:rPr>
              <a:t>3xx (Redirection</a:t>
            </a:r>
            <a:r>
              <a:rPr lang="en-US" sz="2400" dirty="0" smtClean="0">
                <a:solidFill>
                  <a:srgbClr val="FF0000"/>
                </a:solidFill>
                <a:latin typeface="Arial Black" panose="020B0A04020102020204" pitchFamily="34" charset="0"/>
              </a:rPr>
              <a:t>):</a:t>
            </a:r>
          </a:p>
          <a:p>
            <a:pPr lvl="2" algn="just"/>
            <a:r>
              <a:rPr lang="en-US" sz="2200" dirty="0" smtClean="0">
                <a:latin typeface="Arial Black" panose="020B0A04020102020204" pitchFamily="34" charset="0"/>
              </a:rPr>
              <a:t>301 </a:t>
            </a:r>
            <a:r>
              <a:rPr lang="en-US" sz="2200" dirty="0">
                <a:latin typeface="Arial Black" panose="020B0A04020102020204" pitchFamily="34" charset="0"/>
              </a:rPr>
              <a:t>Moved Permanently: The resource has been moved to a new URL permanently</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302 </a:t>
            </a:r>
            <a:r>
              <a:rPr lang="en-US" sz="2200" dirty="0">
                <a:latin typeface="Arial Black" panose="020B0A04020102020204" pitchFamily="34" charset="0"/>
              </a:rPr>
              <a:t>Found: The resource is temporarily located at a different URL.</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18459696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899651" y="111792"/>
            <a:ext cx="9217741" cy="544026"/>
          </a:xfrm>
        </p:spPr>
        <p:txBody>
          <a:bodyPr/>
          <a:lstStyle/>
          <a:p>
            <a:pPr algn="ctr"/>
            <a:r>
              <a:rPr lang="en-US" sz="3200" dirty="0" smtClean="0">
                <a:latin typeface="Arial Black" panose="020B0A04020102020204" pitchFamily="34" charset="0"/>
              </a:rPr>
              <a:t>HTTP Status Code</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655818"/>
            <a:ext cx="11631759" cy="5877717"/>
          </a:xfrm>
        </p:spPr>
        <p:txBody>
          <a:bodyPr>
            <a:normAutofit/>
          </a:bodyPr>
          <a:lstStyle/>
          <a:p>
            <a:pPr lvl="1" algn="just"/>
            <a:r>
              <a:rPr lang="en-US" sz="2400" dirty="0" smtClean="0">
                <a:solidFill>
                  <a:srgbClr val="FF0000"/>
                </a:solidFill>
                <a:latin typeface="Arial Black" panose="020B0A04020102020204" pitchFamily="34" charset="0"/>
              </a:rPr>
              <a:t>4xx (Client Error):</a:t>
            </a:r>
          </a:p>
          <a:p>
            <a:pPr lvl="2" algn="just"/>
            <a:r>
              <a:rPr lang="en-US" sz="2200" dirty="0">
                <a:latin typeface="Arial Black" panose="020B0A04020102020204" pitchFamily="34" charset="0"/>
              </a:rPr>
              <a:t>400 Bad Request: The server cannot process the request due to malformed syntax</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401 </a:t>
            </a:r>
            <a:r>
              <a:rPr lang="en-US" sz="2200" dirty="0">
                <a:latin typeface="Arial Black" panose="020B0A04020102020204" pitchFamily="34" charset="0"/>
              </a:rPr>
              <a:t>Unauthorized: The client must authenticate itself to get the requested response</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404 </a:t>
            </a:r>
            <a:r>
              <a:rPr lang="en-US" sz="2200" dirty="0">
                <a:latin typeface="Arial Black" panose="020B0A04020102020204" pitchFamily="34" charset="0"/>
              </a:rPr>
              <a:t>Not Found: The requested resource could not be found on the </a:t>
            </a:r>
            <a:r>
              <a:rPr lang="en-US" sz="2200" dirty="0" smtClean="0">
                <a:latin typeface="Arial Black" panose="020B0A04020102020204" pitchFamily="34" charset="0"/>
              </a:rPr>
              <a:t>server.</a:t>
            </a:r>
          </a:p>
          <a:p>
            <a:pPr lvl="1" algn="just"/>
            <a:r>
              <a:rPr lang="en-US" sz="2400" dirty="0">
                <a:solidFill>
                  <a:srgbClr val="FF0000"/>
                </a:solidFill>
                <a:latin typeface="Arial Black" panose="020B0A04020102020204" pitchFamily="34" charset="0"/>
              </a:rPr>
              <a:t>5</a:t>
            </a:r>
            <a:r>
              <a:rPr lang="en-US" sz="2400" dirty="0" smtClean="0">
                <a:solidFill>
                  <a:srgbClr val="FF0000"/>
                </a:solidFill>
                <a:latin typeface="Arial Black" panose="020B0A04020102020204" pitchFamily="34" charset="0"/>
              </a:rPr>
              <a:t>xx (Server Error):</a:t>
            </a:r>
          </a:p>
          <a:p>
            <a:pPr lvl="2" algn="just"/>
            <a:r>
              <a:rPr lang="en-US" sz="2200" dirty="0">
                <a:latin typeface="Arial Black" panose="020B0A04020102020204" pitchFamily="34" charset="0"/>
              </a:rPr>
              <a:t>500 Internal Server Error: The server encountered an unexpected condition that prevented it from fulfilling the request</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503 </a:t>
            </a:r>
            <a:r>
              <a:rPr lang="en-US" sz="2200" dirty="0">
                <a:latin typeface="Arial Black" panose="020B0A04020102020204" pitchFamily="34" charset="0"/>
              </a:rPr>
              <a:t>Service Unavailable: The server is currently unable to handle the request due to temporary overloading or maintenance</a:t>
            </a:r>
            <a:r>
              <a:rPr lang="en-US" sz="2200" dirty="0" smtClean="0">
                <a:latin typeface="Arial Black" panose="020B0A04020102020204" pitchFamily="34" charset="0"/>
              </a:rPr>
              <a:t>.</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3819513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693174"/>
          </a:xfrm>
        </p:spPr>
        <p:txBody>
          <a:bodyPr/>
          <a:lstStyle/>
          <a:p>
            <a:pPr algn="ctr"/>
            <a:r>
              <a:rPr lang="en-US" sz="3200" dirty="0" smtClean="0">
                <a:latin typeface="Arial Black" panose="020B0A04020102020204" pitchFamily="34" charset="0"/>
              </a:rPr>
              <a:t>FTP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7" y="987868"/>
            <a:ext cx="11631759" cy="4891936"/>
          </a:xfrm>
        </p:spPr>
        <p:txBody>
          <a:bodyPr>
            <a:normAutofit/>
          </a:bodyPr>
          <a:lstStyle/>
          <a:p>
            <a:pPr algn="just"/>
            <a:r>
              <a:rPr lang="en-US" sz="2400" dirty="0" smtClean="0">
                <a:solidFill>
                  <a:srgbClr val="FF0000"/>
                </a:solidFill>
                <a:latin typeface="Arial Black" panose="020B0A04020102020204" pitchFamily="34" charset="0"/>
              </a:rPr>
              <a:t>Definition</a:t>
            </a:r>
          </a:p>
          <a:p>
            <a:pPr lvl="2" algn="just"/>
            <a:r>
              <a:rPr lang="en-US" sz="2200" dirty="0">
                <a:latin typeface="Arial Black" panose="020B0A04020102020204" pitchFamily="34" charset="0"/>
              </a:rPr>
              <a:t>FTP is a standard network protocol used to transfer files between a client and server over a TCP-based network, such as the internet or an intranet</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Purpose</a:t>
            </a:r>
          </a:p>
          <a:p>
            <a:pPr lvl="2"/>
            <a:r>
              <a:rPr lang="en-US" sz="2200" dirty="0">
                <a:latin typeface="Arial Black" panose="020B0A04020102020204" pitchFamily="34" charset="0"/>
              </a:rPr>
              <a:t>To enable users to upload and download files from remote servers</a:t>
            </a:r>
            <a:r>
              <a:rPr lang="en-US" sz="2200" dirty="0" smtClean="0">
                <a:latin typeface="Arial Black" panose="020B0A04020102020204" pitchFamily="34" charset="0"/>
              </a:rPr>
              <a:t>.</a:t>
            </a:r>
          </a:p>
          <a:p>
            <a:pPr lvl="2"/>
            <a:r>
              <a:rPr lang="en-US" sz="2200" dirty="0" smtClean="0">
                <a:latin typeface="Arial Black" panose="020B0A04020102020204" pitchFamily="34" charset="0"/>
              </a:rPr>
              <a:t>Often </a:t>
            </a:r>
            <a:r>
              <a:rPr lang="en-US" sz="2200" dirty="0">
                <a:latin typeface="Arial Black" panose="020B0A04020102020204" pitchFamily="34" charset="0"/>
              </a:rPr>
              <a:t>used for transferring large files, website management, and remote backups.</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633348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Working of FTP</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6"/>
            <a:ext cx="11631759" cy="5812529"/>
          </a:xfrm>
        </p:spPr>
        <p:txBody>
          <a:bodyPr>
            <a:normAutofit/>
          </a:bodyPr>
          <a:lstStyle/>
          <a:p>
            <a:pPr algn="just"/>
            <a:r>
              <a:rPr lang="en-US" sz="2400" dirty="0">
                <a:solidFill>
                  <a:srgbClr val="FF0000"/>
                </a:solidFill>
                <a:latin typeface="Arial Black" panose="020B0A04020102020204" pitchFamily="34" charset="0"/>
              </a:rPr>
              <a:t>Working</a:t>
            </a:r>
          </a:p>
          <a:p>
            <a:pPr lvl="1" algn="just"/>
            <a:r>
              <a:rPr lang="en-US" sz="2200" dirty="0">
                <a:latin typeface="Arial Black" panose="020B0A04020102020204" pitchFamily="34" charset="0"/>
              </a:rPr>
              <a:t>The FTP protocol works using a client-server architecture. It employs two separate channels for communication:</a:t>
            </a:r>
            <a:endParaRPr lang="en-US" sz="2200" dirty="0" smtClean="0">
              <a:latin typeface="Arial Black" panose="020B0A04020102020204" pitchFamily="34" charset="0"/>
            </a:endParaRPr>
          </a:p>
          <a:p>
            <a:pPr lvl="1" algn="just"/>
            <a:r>
              <a:rPr lang="en-US" sz="2400" dirty="0" smtClean="0">
                <a:solidFill>
                  <a:srgbClr val="FF0000"/>
                </a:solidFill>
                <a:latin typeface="Arial Black" panose="020B0A04020102020204" pitchFamily="34" charset="0"/>
              </a:rPr>
              <a:t>Control Connection:</a:t>
            </a:r>
          </a:p>
          <a:p>
            <a:pPr lvl="2" algn="just"/>
            <a:r>
              <a:rPr lang="en-US" sz="2200" dirty="0">
                <a:latin typeface="Arial Black" panose="020B0A04020102020204" pitchFamily="34" charset="0"/>
              </a:rPr>
              <a:t>This connection is established over TCP port 21</a:t>
            </a:r>
            <a:r>
              <a:rPr lang="en-US" sz="2200" dirty="0" smtClean="0">
                <a:latin typeface="Arial Black" panose="020B0A04020102020204" pitchFamily="34" charset="0"/>
              </a:rPr>
              <a:t>.</a:t>
            </a:r>
          </a:p>
          <a:p>
            <a:pPr lvl="2" algn="just"/>
            <a:r>
              <a:rPr lang="en-US" sz="2200" dirty="0" smtClean="0">
                <a:latin typeface="Arial Black" panose="020B0A04020102020204" pitchFamily="34" charset="0"/>
              </a:rPr>
              <a:t>It </a:t>
            </a:r>
            <a:r>
              <a:rPr lang="en-US" sz="2200" dirty="0">
                <a:latin typeface="Arial Black" panose="020B0A04020102020204" pitchFamily="34" charset="0"/>
              </a:rPr>
              <a:t>is used for sending commands from the client to the server and receiving server responses</a:t>
            </a:r>
            <a:r>
              <a:rPr lang="en-US" sz="2200" dirty="0" smtClean="0">
                <a:latin typeface="Arial Black" panose="020B0A04020102020204" pitchFamily="34" charset="0"/>
              </a:rPr>
              <a:t>.</a:t>
            </a:r>
          </a:p>
          <a:p>
            <a:pPr lvl="2" algn="just"/>
            <a:r>
              <a:rPr lang="en-US" sz="2000" dirty="0" smtClean="0">
                <a:latin typeface="Arial Black" panose="020B0A04020102020204" pitchFamily="34" charset="0"/>
              </a:rPr>
              <a:t>Examples </a:t>
            </a:r>
            <a:r>
              <a:rPr lang="en-US" sz="2000" dirty="0">
                <a:latin typeface="Arial Black" panose="020B0A04020102020204" pitchFamily="34" charset="0"/>
              </a:rPr>
              <a:t>of FTP commands: USER (username), PASS (password), LIST (list files), STOR (upload file), and RETR (download file</a:t>
            </a:r>
            <a:r>
              <a:rPr lang="en-US" sz="2000" dirty="0" smtClean="0">
                <a:latin typeface="Arial Black" panose="020B0A04020102020204" pitchFamily="34" charset="0"/>
              </a:rPr>
              <a:t>).</a:t>
            </a:r>
          </a:p>
          <a:p>
            <a:pPr lvl="1" algn="just"/>
            <a:r>
              <a:rPr lang="en-US" sz="2200" dirty="0" smtClean="0">
                <a:solidFill>
                  <a:srgbClr val="FF0000"/>
                </a:solidFill>
                <a:latin typeface="Arial Black" panose="020B0A04020102020204" pitchFamily="34" charset="0"/>
              </a:rPr>
              <a:t>Data </a:t>
            </a:r>
            <a:r>
              <a:rPr lang="en-US" sz="2200" dirty="0">
                <a:solidFill>
                  <a:srgbClr val="FF0000"/>
                </a:solidFill>
                <a:latin typeface="Arial Black" panose="020B0A04020102020204" pitchFamily="34" charset="0"/>
              </a:rPr>
              <a:t>Connection:</a:t>
            </a:r>
          </a:p>
          <a:p>
            <a:pPr lvl="2" algn="just"/>
            <a:r>
              <a:rPr lang="en-US" sz="2000" dirty="0">
                <a:latin typeface="Arial Black" panose="020B0A04020102020204" pitchFamily="34" charset="0"/>
              </a:rPr>
              <a:t>A separate data channel is established to transfer files</a:t>
            </a:r>
            <a:r>
              <a:rPr lang="en-US" sz="2000" dirty="0" smtClean="0">
                <a:latin typeface="Arial Black" panose="020B0A04020102020204" pitchFamily="34" charset="0"/>
              </a:rPr>
              <a:t>.</a:t>
            </a:r>
          </a:p>
          <a:p>
            <a:pPr lvl="2" algn="just"/>
            <a:r>
              <a:rPr lang="en-US" sz="2000" dirty="0" smtClean="0">
                <a:latin typeface="Arial Black" panose="020B0A04020102020204" pitchFamily="34" charset="0"/>
              </a:rPr>
              <a:t>FTP </a:t>
            </a:r>
            <a:r>
              <a:rPr lang="en-US" sz="2000" dirty="0">
                <a:latin typeface="Arial Black" panose="020B0A04020102020204" pitchFamily="34" charset="0"/>
              </a:rPr>
              <a:t>uses port 20 by default for the data channel, but this can vary based on the mode of connection</a:t>
            </a:r>
            <a:r>
              <a:rPr lang="en-US" sz="2000" dirty="0" smtClean="0">
                <a:latin typeface="Arial Black" panose="020B0A04020102020204" pitchFamily="34" charset="0"/>
              </a:rPr>
              <a:t>.</a:t>
            </a:r>
            <a:endParaRPr lang="en-US" sz="2000" dirty="0">
              <a:latin typeface="Arial Black" panose="020B0A04020102020204" pitchFamily="34" charset="0"/>
            </a:endParaRPr>
          </a:p>
          <a:p>
            <a:pPr lvl="1" algn="just"/>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2012278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FTP Process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6"/>
            <a:ext cx="11631759" cy="5812529"/>
          </a:xfrm>
        </p:spPr>
        <p:txBody>
          <a:bodyPr>
            <a:normAutofit/>
          </a:bodyPr>
          <a:lstStyle/>
          <a:p>
            <a:pPr algn="just"/>
            <a:r>
              <a:rPr lang="en-US" sz="2400" dirty="0">
                <a:solidFill>
                  <a:srgbClr val="FF0000"/>
                </a:solidFill>
                <a:latin typeface="Arial Black" panose="020B0A04020102020204" pitchFamily="34" charset="0"/>
              </a:rPr>
              <a:t>Connection Establishment</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client establishes a control connection by sending a USER command followed by a PASS command for authentication</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Command </a:t>
            </a:r>
            <a:r>
              <a:rPr lang="en-US" sz="2400" dirty="0">
                <a:solidFill>
                  <a:srgbClr val="FF0000"/>
                </a:solidFill>
                <a:latin typeface="Arial Black" panose="020B0A04020102020204" pitchFamily="34" charset="0"/>
              </a:rPr>
              <a:t>Transmission</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Commands </a:t>
            </a:r>
            <a:r>
              <a:rPr lang="en-US" sz="2200" dirty="0">
                <a:latin typeface="Arial Black" panose="020B0A04020102020204" pitchFamily="34" charset="0"/>
              </a:rPr>
              <a:t>such as LIST (to list files) or CWD (change working directory) are sent over the control channel</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Data </a:t>
            </a:r>
            <a:r>
              <a:rPr lang="en-US" sz="2400" dirty="0">
                <a:solidFill>
                  <a:srgbClr val="FF0000"/>
                </a:solidFill>
                <a:latin typeface="Arial Black" panose="020B0A04020102020204" pitchFamily="34" charset="0"/>
              </a:rPr>
              <a:t>Transfer</a:t>
            </a:r>
            <a:r>
              <a:rPr lang="en-US" sz="2400" dirty="0" smtClean="0">
                <a:solidFill>
                  <a:srgbClr val="FF0000"/>
                </a:solidFill>
                <a:latin typeface="Arial Black" panose="020B0A04020102020204" pitchFamily="34" charset="0"/>
              </a:rPr>
              <a:t>: </a:t>
            </a:r>
          </a:p>
          <a:p>
            <a:pPr lvl="1" algn="just"/>
            <a:r>
              <a:rPr lang="en-US" sz="2200" dirty="0" smtClean="0">
                <a:latin typeface="Arial Black" panose="020B0A04020102020204" pitchFamily="34" charset="0"/>
              </a:rPr>
              <a:t>The </a:t>
            </a:r>
            <a:r>
              <a:rPr lang="en-US" sz="2200" dirty="0">
                <a:latin typeface="Arial Black" panose="020B0A04020102020204" pitchFamily="34" charset="0"/>
              </a:rPr>
              <a:t>client sends a command like STOR (store/upload) or RETR (retrieve/download) to initiate a file transfer over the data connection</a:t>
            </a:r>
            <a:r>
              <a:rPr lang="en-US" sz="22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Closing </a:t>
            </a:r>
            <a:r>
              <a:rPr lang="en-US" sz="2400" dirty="0">
                <a:solidFill>
                  <a:srgbClr val="FF0000"/>
                </a:solidFill>
                <a:latin typeface="Arial Black" panose="020B0A04020102020204" pitchFamily="34" charset="0"/>
              </a:rPr>
              <a:t>the Connection</a:t>
            </a:r>
            <a:r>
              <a:rPr lang="en-US" sz="2400" dirty="0" smtClean="0">
                <a:solidFill>
                  <a:srgbClr val="FF0000"/>
                </a:solidFill>
                <a:latin typeface="Arial Black" panose="020B0A04020102020204" pitchFamily="34" charset="0"/>
              </a:rPr>
              <a:t>:</a:t>
            </a:r>
            <a:r>
              <a:rPr lang="en-US" sz="2400" dirty="0" smtClean="0">
                <a:latin typeface="Arial Black" panose="020B0A04020102020204" pitchFamily="34" charset="0"/>
              </a:rPr>
              <a:t> </a:t>
            </a:r>
          </a:p>
          <a:p>
            <a:pPr lvl="1" algn="just"/>
            <a:r>
              <a:rPr lang="en-US" sz="2200" dirty="0" smtClean="0">
                <a:latin typeface="Arial Black" panose="020B0A04020102020204" pitchFamily="34" charset="0"/>
              </a:rPr>
              <a:t>Once </a:t>
            </a:r>
            <a:r>
              <a:rPr lang="en-US" sz="2200" dirty="0">
                <a:latin typeface="Arial Black" panose="020B0A04020102020204" pitchFamily="34" charset="0"/>
              </a:rPr>
              <a:t>the file transfer is complete, the data connection is closed, but the control connection remains active until the client issues a QUIT command.</a:t>
            </a:r>
            <a:endParaRPr lang="en-US" sz="20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41415499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FTP Commands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6"/>
            <a:ext cx="11631759" cy="5812529"/>
          </a:xfrm>
        </p:spPr>
        <p:txBody>
          <a:bodyPr>
            <a:normAutofit/>
          </a:bodyPr>
          <a:lstStyle/>
          <a:p>
            <a:pPr algn="just"/>
            <a:r>
              <a:rPr lang="en-US" sz="2400" dirty="0" smtClean="0">
                <a:latin typeface="Arial Black" panose="020B0A04020102020204" pitchFamily="34" charset="0"/>
              </a:rPr>
              <a:t>ftp </a:t>
            </a:r>
            <a:r>
              <a:rPr lang="en-US" sz="2400" dirty="0">
                <a:latin typeface="Arial Black" panose="020B0A04020102020204" pitchFamily="34" charset="0"/>
              </a:rPr>
              <a:t>[server IP address]: Connect to the FTP </a:t>
            </a:r>
            <a:endParaRPr lang="en-US" sz="2400" dirty="0" smtClean="0">
              <a:latin typeface="Arial Black" panose="020B0A04020102020204" pitchFamily="34" charset="0"/>
            </a:endParaRPr>
          </a:p>
          <a:p>
            <a:pPr lvl="2" algn="just"/>
            <a:r>
              <a:rPr lang="en-US" sz="2000" dirty="0" smtClean="0">
                <a:latin typeface="Arial Black" panose="020B0A04020102020204" pitchFamily="34" charset="0"/>
                <a:hlinkClick r:id="rId3" invalidUrl="ftp://ftp 192.168.1.1/"/>
              </a:rPr>
              <a:t>ftp </a:t>
            </a:r>
            <a:r>
              <a:rPr lang="en-US" sz="2000" dirty="0">
                <a:latin typeface="Arial Black" panose="020B0A04020102020204" pitchFamily="34" charset="0"/>
                <a:hlinkClick r:id="rId4" invalidUrl="ftp://ftp 192.168.1.1/"/>
              </a:rPr>
              <a:t>192.168.1.1</a:t>
            </a:r>
            <a:r>
              <a:rPr lang="en-US" sz="2000" dirty="0" smtClean="0">
                <a:latin typeface="Arial Black" panose="020B0A04020102020204" pitchFamily="34" charset="0"/>
              </a:rPr>
              <a:t>.</a:t>
            </a:r>
          </a:p>
          <a:p>
            <a:pPr algn="just"/>
            <a:r>
              <a:rPr lang="en-US" sz="2400" dirty="0">
                <a:latin typeface="Arial Black" panose="020B0A04020102020204" pitchFamily="34" charset="0"/>
              </a:rPr>
              <a:t>username and password: Enter the credentials for the FTP server</a:t>
            </a:r>
            <a:r>
              <a:rPr lang="en-US" sz="2400" dirty="0" smtClean="0">
                <a:latin typeface="Arial Black" panose="020B0A04020102020204" pitchFamily="34" charset="0"/>
              </a:rPr>
              <a:t>.</a:t>
            </a:r>
          </a:p>
          <a:p>
            <a:pPr algn="just"/>
            <a:r>
              <a:rPr lang="en-US" sz="2400" dirty="0" err="1">
                <a:latin typeface="Arial Black" panose="020B0A04020102020204" pitchFamily="34" charset="0"/>
              </a:rPr>
              <a:t>dir</a:t>
            </a:r>
            <a:r>
              <a:rPr lang="en-US" sz="2400" dirty="0">
                <a:latin typeface="Arial Black" panose="020B0A04020102020204" pitchFamily="34" charset="0"/>
              </a:rPr>
              <a:t>: List the files and directories in the current directory on the FTP server</a:t>
            </a:r>
            <a:r>
              <a:rPr lang="en-US" sz="2400" dirty="0" smtClean="0">
                <a:latin typeface="Arial Black" panose="020B0A04020102020204" pitchFamily="34" charset="0"/>
              </a:rPr>
              <a:t>.</a:t>
            </a:r>
          </a:p>
          <a:p>
            <a:pPr lvl="2" algn="just"/>
            <a:r>
              <a:rPr lang="en-US" sz="2000" dirty="0" smtClean="0">
                <a:latin typeface="Arial Black" panose="020B0A04020102020204" pitchFamily="34" charset="0"/>
              </a:rPr>
              <a:t>DIR</a:t>
            </a:r>
          </a:p>
          <a:p>
            <a:pPr algn="just"/>
            <a:r>
              <a:rPr lang="en-US" sz="2400" dirty="0">
                <a:latin typeface="Arial Black" panose="020B0A04020102020204" pitchFamily="34" charset="0"/>
              </a:rPr>
              <a:t>cd [</a:t>
            </a:r>
            <a:r>
              <a:rPr lang="en-US" sz="2400" dirty="0" err="1">
                <a:latin typeface="Arial Black" panose="020B0A04020102020204" pitchFamily="34" charset="0"/>
              </a:rPr>
              <a:t>directory_name</a:t>
            </a:r>
            <a:r>
              <a:rPr lang="en-US" sz="2400" dirty="0">
                <a:latin typeface="Arial Black" panose="020B0A04020102020204" pitchFamily="34" charset="0"/>
              </a:rPr>
              <a:t>]: Change to a different directory on the server</a:t>
            </a:r>
            <a:r>
              <a:rPr lang="en-US" sz="2400" dirty="0" smtClean="0">
                <a:latin typeface="Arial Black" panose="020B0A04020102020204" pitchFamily="34" charset="0"/>
              </a:rPr>
              <a:t>.</a:t>
            </a:r>
          </a:p>
          <a:p>
            <a:pPr lvl="2" algn="just"/>
            <a:r>
              <a:rPr lang="en-US" sz="2000" dirty="0" smtClean="0">
                <a:latin typeface="Arial Black" panose="020B0A04020102020204" pitchFamily="34" charset="0"/>
              </a:rPr>
              <a:t>Cd uploads</a:t>
            </a:r>
          </a:p>
          <a:p>
            <a:pPr algn="just"/>
            <a:r>
              <a:rPr lang="en-US" sz="2400" dirty="0">
                <a:latin typeface="Arial Black" panose="020B0A04020102020204" pitchFamily="34" charset="0"/>
              </a:rPr>
              <a:t>get [filename]: Download a file from the FTP server to the local machine</a:t>
            </a:r>
            <a:r>
              <a:rPr lang="en-US" sz="2400" dirty="0" smtClean="0">
                <a:latin typeface="Arial Black" panose="020B0A04020102020204" pitchFamily="34" charset="0"/>
              </a:rPr>
              <a:t>.</a:t>
            </a:r>
          </a:p>
          <a:p>
            <a:pPr lvl="2" algn="just"/>
            <a:r>
              <a:rPr lang="en-US" sz="2000" dirty="0">
                <a:latin typeface="Arial Black" panose="020B0A04020102020204" pitchFamily="34" charset="0"/>
              </a:rPr>
              <a:t>ftp&gt; get file1.txt</a:t>
            </a:r>
          </a:p>
          <a:p>
            <a:pPr algn="just"/>
            <a:r>
              <a:rPr lang="en-US" sz="2400" dirty="0">
                <a:latin typeface="Arial Black" panose="020B0A04020102020204" pitchFamily="34" charset="0"/>
              </a:rPr>
              <a:t>put [filename]: Upload a file from the local machine to the FTP server</a:t>
            </a:r>
            <a:r>
              <a:rPr lang="en-US" sz="2400" dirty="0" smtClean="0">
                <a:latin typeface="Arial Black" panose="020B0A04020102020204" pitchFamily="34" charset="0"/>
              </a:rPr>
              <a:t>.</a:t>
            </a:r>
          </a:p>
          <a:p>
            <a:pPr lvl="2" algn="ctr"/>
            <a:r>
              <a:rPr lang="en-US" sz="2000" dirty="0">
                <a:latin typeface="Arial Black" panose="020B0A04020102020204" pitchFamily="34" charset="0"/>
              </a:rPr>
              <a:t>ftp&gt; put file2.txt</a:t>
            </a:r>
          </a:p>
          <a:p>
            <a:pPr marL="914400" lvl="2" indent="0" algn="just">
              <a:buNone/>
            </a:pPr>
            <a:endParaRPr lang="en-US" sz="20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4281119945"/>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2037</Words>
  <Application>Microsoft Office PowerPoint</Application>
  <PresentationFormat>Widescreen</PresentationFormat>
  <Paragraphs>193</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Arial Black</vt:lpstr>
      <vt:lpstr>Calibri</vt:lpstr>
      <vt:lpstr>Courier New</vt:lpstr>
      <vt:lpstr>Gill Sans Nova Light</vt:lpstr>
      <vt:lpstr>Sagona Book</vt:lpstr>
      <vt:lpstr>Custom</vt:lpstr>
      <vt:lpstr>DHCP,DNS,HTTP &amp; FTP</vt:lpstr>
      <vt:lpstr>DHCP</vt:lpstr>
      <vt:lpstr>Working of DHCP </vt:lpstr>
      <vt:lpstr>Working of DHCP </vt:lpstr>
      <vt:lpstr>DNS</vt:lpstr>
      <vt:lpstr>Working of DNS</vt:lpstr>
      <vt:lpstr>Working of DNS</vt:lpstr>
      <vt:lpstr>HTTP</vt:lpstr>
      <vt:lpstr>HTTP Vs HTTPs</vt:lpstr>
      <vt:lpstr>Feature of HTTP</vt:lpstr>
      <vt:lpstr>Feature of HTTP</vt:lpstr>
      <vt:lpstr>Working of HTTP</vt:lpstr>
      <vt:lpstr>Working of HTTP</vt:lpstr>
      <vt:lpstr>Working of HTTP</vt:lpstr>
      <vt:lpstr>HTTP Status Code</vt:lpstr>
      <vt:lpstr>HTTP Status Code</vt:lpstr>
      <vt:lpstr>FTP</vt:lpstr>
      <vt:lpstr>Working of FTP</vt:lpstr>
      <vt:lpstr>FTP Process</vt:lpstr>
      <vt:lpstr>FTP Commands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2023-12-12T20:05:16Z</dcterms:created>
  <dcterms:modified xsi:type="dcterms:W3CDTF">2024-10-08T07:07:07Z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