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4"/>
  </p:sldMasterIdLst>
  <p:notesMasterIdLst>
    <p:notesMasterId r:id="rId27"/>
  </p:notesMasterIdLst>
  <p:handoutMasterIdLst>
    <p:handoutMasterId r:id="rId28"/>
  </p:handoutMasterIdLst>
  <p:sldIdLst>
    <p:sldId id="317" r:id="rId5"/>
    <p:sldId id="309" r:id="rId6"/>
    <p:sldId id="332" r:id="rId7"/>
    <p:sldId id="333" r:id="rId8"/>
    <p:sldId id="334" r:id="rId9"/>
    <p:sldId id="335" r:id="rId10"/>
    <p:sldId id="336" r:id="rId11"/>
    <p:sldId id="318" r:id="rId12"/>
    <p:sldId id="319" r:id="rId13"/>
    <p:sldId id="320" r:id="rId14"/>
    <p:sldId id="322" r:id="rId15"/>
    <p:sldId id="321" r:id="rId16"/>
    <p:sldId id="323" r:id="rId17"/>
    <p:sldId id="324" r:id="rId18"/>
    <p:sldId id="326" r:id="rId19"/>
    <p:sldId id="327" r:id="rId20"/>
    <p:sldId id="328" r:id="rId21"/>
    <p:sldId id="325" r:id="rId22"/>
    <p:sldId id="329" r:id="rId23"/>
    <p:sldId id="337" r:id="rId24"/>
    <p:sldId id="330" r:id="rId25"/>
    <p:sldId id="33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94" autoAdjust="0"/>
    <p:restoredTop sz="95405" autoAdjust="0"/>
  </p:normalViewPr>
  <p:slideViewPr>
    <p:cSldViewPr snapToGrid="0">
      <p:cViewPr varScale="1">
        <p:scale>
          <a:sx n="65" d="100"/>
          <a:sy n="65" d="100"/>
        </p:scale>
        <p:origin x="690" y="78"/>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9/24/2024</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9/24/2024</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30600051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202808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1627061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9355550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33648666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23022559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4239903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16159823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31036627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30662676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29554360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14</a:t>
            </a:fld>
            <a:endParaRPr lang="en-US" noProof="0" dirty="0"/>
          </a:p>
        </p:txBody>
      </p:sp>
    </p:spTree>
    <p:extLst>
      <p:ext uri="{BB962C8B-B14F-4D97-AF65-F5344CB8AC3E}">
        <p14:creationId xmlns:p14="http://schemas.microsoft.com/office/powerpoint/2010/main" val="22335815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15</a:t>
            </a:fld>
            <a:endParaRPr lang="en-US" noProof="0" dirty="0"/>
          </a:p>
        </p:txBody>
      </p:sp>
    </p:spTree>
    <p:extLst>
      <p:ext uri="{BB962C8B-B14F-4D97-AF65-F5344CB8AC3E}">
        <p14:creationId xmlns:p14="http://schemas.microsoft.com/office/powerpoint/2010/main" val="5501194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16</a:t>
            </a:fld>
            <a:endParaRPr lang="en-US" noProof="0" dirty="0"/>
          </a:p>
        </p:txBody>
      </p:sp>
    </p:spTree>
    <p:extLst>
      <p:ext uri="{BB962C8B-B14F-4D97-AF65-F5344CB8AC3E}">
        <p14:creationId xmlns:p14="http://schemas.microsoft.com/office/powerpoint/2010/main" val="41015499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17</a:t>
            </a:fld>
            <a:endParaRPr lang="en-US" noProof="0" dirty="0"/>
          </a:p>
        </p:txBody>
      </p:sp>
    </p:spTree>
    <p:extLst>
      <p:ext uri="{BB962C8B-B14F-4D97-AF65-F5344CB8AC3E}">
        <p14:creationId xmlns:p14="http://schemas.microsoft.com/office/powerpoint/2010/main" val="33854613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18</a:t>
            </a:fld>
            <a:endParaRPr lang="en-US" noProof="0" dirty="0"/>
          </a:p>
        </p:txBody>
      </p:sp>
    </p:spTree>
    <p:extLst>
      <p:ext uri="{BB962C8B-B14F-4D97-AF65-F5344CB8AC3E}">
        <p14:creationId xmlns:p14="http://schemas.microsoft.com/office/powerpoint/2010/main" val="41492700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19</a:t>
            </a:fld>
            <a:endParaRPr lang="en-US" noProof="0" dirty="0"/>
          </a:p>
        </p:txBody>
      </p:sp>
    </p:spTree>
    <p:extLst>
      <p:ext uri="{BB962C8B-B14F-4D97-AF65-F5344CB8AC3E}">
        <p14:creationId xmlns:p14="http://schemas.microsoft.com/office/powerpoint/2010/main" val="41690276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20</a:t>
            </a:fld>
            <a:endParaRPr lang="en-US" noProof="0" dirty="0"/>
          </a:p>
        </p:txBody>
      </p:sp>
    </p:spTree>
    <p:extLst>
      <p:ext uri="{BB962C8B-B14F-4D97-AF65-F5344CB8AC3E}">
        <p14:creationId xmlns:p14="http://schemas.microsoft.com/office/powerpoint/2010/main" val="25741310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21</a:t>
            </a:fld>
            <a:endParaRPr lang="en-US" noProof="0" dirty="0"/>
          </a:p>
        </p:txBody>
      </p:sp>
    </p:spTree>
    <p:extLst>
      <p:ext uri="{BB962C8B-B14F-4D97-AF65-F5344CB8AC3E}">
        <p14:creationId xmlns:p14="http://schemas.microsoft.com/office/powerpoint/2010/main" val="34788633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22</a:t>
            </a:fld>
            <a:endParaRPr lang="en-US" noProof="0" dirty="0"/>
          </a:p>
        </p:txBody>
      </p:sp>
    </p:spTree>
    <p:extLst>
      <p:ext uri="{BB962C8B-B14F-4D97-AF65-F5344CB8AC3E}">
        <p14:creationId xmlns:p14="http://schemas.microsoft.com/office/powerpoint/2010/main" val="1456936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dirty="0"/>
              <a:t>Click icon to add picture</a:t>
            </a:r>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 xmlns:adec="http://schemas.microsoft.com/office/drawing/2017/decorative" val="1"/>
              </a:ext>
            </a:extLst>
          </p:cNvPr>
          <p:cNvPicPr>
            <a:picLocks noChangeAspect="1"/>
          </p:cNvPicPr>
          <p:nvPr userDrawn="1"/>
        </p:nvPicPr>
        <p:blipFill>
          <a:blip r:embed="rId2">
            <a:alphaModFix/>
            <a:extLst>
              <a:ext uri="{96DAC541-7B7A-43D3-8B79-37D633B846F1}">
                <asvg:svgBlip xmlns=""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reeform 6">
            <a:extLst>
              <a:ext uri="{FF2B5EF4-FFF2-40B4-BE49-F238E27FC236}">
                <a16:creationId xmlns:a16="http://schemas.microsoft.com/office/drawing/2014/main" id="{A3F1B258-8FBC-06A8-3A1F-466CEEDBBEF2}"/>
              </a:ext>
              <a:ext uri="{C183D7F6-B498-43B3-948B-1728B52AA6E4}">
                <adec:decorative xmlns=""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dirty="0"/>
              <a:t>Click icon to add picture</a:t>
            </a:r>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endParaRPr lang="en-US"/>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3362632"/>
          </a:xfrm>
        </p:spPr>
        <p:txBody>
          <a:bodyPr anchor="ctr"/>
          <a:lstStyle/>
          <a:p>
            <a:r>
              <a:rPr lang="en-US" sz="5400" b="1" dirty="0" smtClean="0">
                <a:latin typeface="Arial Black" panose="020B0A04020102020204" pitchFamily="34" charset="0"/>
              </a:rPr>
              <a:t>IP ADDRESSES</a:t>
            </a:r>
            <a:endParaRPr lang="en-US" sz="5400" b="1" dirty="0">
              <a:latin typeface="Arial Black" panose="020B0A04020102020204" pitchFamily="34" charset="0"/>
            </a:endParaRP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7419" y="265471"/>
            <a:ext cx="9217741" cy="914400"/>
          </a:xfrm>
        </p:spPr>
        <p:txBody>
          <a:bodyPr/>
          <a:lstStyle/>
          <a:p>
            <a:pPr algn="ctr"/>
            <a:r>
              <a:rPr lang="en-US" sz="3200" dirty="0" smtClean="0">
                <a:latin typeface="Arial Black" panose="020B0A04020102020204" pitchFamily="34" charset="0"/>
              </a:rPr>
              <a:t>What is an IP Address</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83457" y="1302387"/>
            <a:ext cx="10781072" cy="5025366"/>
          </a:xfrm>
        </p:spPr>
        <p:txBody>
          <a:bodyPr>
            <a:normAutofit/>
          </a:bodyPr>
          <a:lstStyle/>
          <a:p>
            <a:r>
              <a:rPr lang="en-US" dirty="0">
                <a:latin typeface="Arial Black" panose="020B0A04020102020204" pitchFamily="34" charset="0"/>
              </a:rPr>
              <a:t>An IP (Internet Protocol) address is a unique identifier assigned to each device connected to a network that uses the Internet Protocol for communication. </a:t>
            </a:r>
            <a:endParaRPr lang="en-US" dirty="0" smtClean="0">
              <a:latin typeface="Arial Black" panose="020B0A04020102020204" pitchFamily="34" charset="0"/>
            </a:endParaRPr>
          </a:p>
          <a:p>
            <a:r>
              <a:rPr lang="en-US" dirty="0" smtClean="0">
                <a:latin typeface="Arial Black" panose="020B0A04020102020204" pitchFamily="34" charset="0"/>
              </a:rPr>
              <a:t>It </a:t>
            </a:r>
            <a:r>
              <a:rPr lang="en-US" dirty="0">
                <a:latin typeface="Arial Black" panose="020B0A04020102020204" pitchFamily="34" charset="0"/>
              </a:rPr>
              <a:t>serves two primary functions: </a:t>
            </a:r>
            <a:endParaRPr lang="en-US" dirty="0" smtClean="0">
              <a:latin typeface="Arial Black" panose="020B0A04020102020204" pitchFamily="34" charset="0"/>
            </a:endParaRPr>
          </a:p>
          <a:p>
            <a:pPr lvl="1"/>
            <a:r>
              <a:rPr lang="en-US" dirty="0">
                <a:latin typeface="Arial Black" panose="020B0A04020102020204" pitchFamily="34" charset="0"/>
              </a:rPr>
              <a:t>I</a:t>
            </a:r>
            <a:r>
              <a:rPr lang="en-US" dirty="0" smtClean="0">
                <a:latin typeface="Arial Black" panose="020B0A04020102020204" pitchFamily="34" charset="0"/>
              </a:rPr>
              <a:t>dentifying </a:t>
            </a:r>
            <a:r>
              <a:rPr lang="en-US" dirty="0">
                <a:latin typeface="Arial Black" panose="020B0A04020102020204" pitchFamily="34" charset="0"/>
              </a:rPr>
              <a:t>the host or network interface </a:t>
            </a:r>
            <a:endParaRPr lang="en-US" dirty="0" smtClean="0">
              <a:latin typeface="Arial Black" panose="020B0A04020102020204" pitchFamily="34" charset="0"/>
            </a:endParaRPr>
          </a:p>
          <a:p>
            <a:pPr lvl="1"/>
            <a:r>
              <a:rPr lang="en-US" dirty="0">
                <a:latin typeface="Arial Black" panose="020B0A04020102020204" pitchFamily="34" charset="0"/>
              </a:rPr>
              <a:t>P</a:t>
            </a:r>
            <a:r>
              <a:rPr lang="en-US" dirty="0" smtClean="0">
                <a:latin typeface="Arial Black" panose="020B0A04020102020204" pitchFamily="34" charset="0"/>
              </a:rPr>
              <a:t>roviding </a:t>
            </a:r>
            <a:r>
              <a:rPr lang="en-US" dirty="0">
                <a:latin typeface="Arial Black" panose="020B0A04020102020204" pitchFamily="34" charset="0"/>
              </a:rPr>
              <a:t>the location of the host in the network</a:t>
            </a:r>
            <a:r>
              <a:rPr lang="en-US" dirty="0" smtClean="0">
                <a:latin typeface="Arial Black" panose="020B0A04020102020204" pitchFamily="34" charset="0"/>
              </a:rPr>
              <a:t>.</a:t>
            </a:r>
          </a:p>
          <a:p>
            <a:r>
              <a:rPr lang="en-US" dirty="0" smtClean="0">
                <a:latin typeface="Arial Black" panose="020B0A04020102020204" pitchFamily="34" charset="0"/>
              </a:rPr>
              <a:t>Two versions of an IP Addresses </a:t>
            </a:r>
          </a:p>
          <a:p>
            <a:pPr lvl="1"/>
            <a:r>
              <a:rPr lang="en-US" dirty="0" smtClean="0">
                <a:latin typeface="Arial Black" panose="020B0A04020102020204" pitchFamily="34" charset="0"/>
              </a:rPr>
              <a:t>IPV4 – </a:t>
            </a:r>
            <a:r>
              <a:rPr lang="en-US" sz="2800" dirty="0" smtClean="0">
                <a:latin typeface="Arial Black" panose="020B0A04020102020204" pitchFamily="34" charset="0"/>
              </a:rPr>
              <a:t>4,294,967296</a:t>
            </a:r>
            <a:r>
              <a:rPr lang="en-US" dirty="0" smtClean="0">
                <a:latin typeface="Arial Black" panose="020B0A04020102020204" pitchFamily="34" charset="0"/>
              </a:rPr>
              <a:t> (Total no. of addresses)</a:t>
            </a:r>
          </a:p>
          <a:p>
            <a:pPr lvl="1"/>
            <a:r>
              <a:rPr lang="en-US" dirty="0" smtClean="0">
                <a:latin typeface="Arial Black" panose="020B0A04020102020204" pitchFamily="34" charset="0"/>
              </a:rPr>
              <a:t>IPV6</a:t>
            </a:r>
          </a:p>
          <a:p>
            <a:r>
              <a:rPr lang="en-US" dirty="0" smtClean="0">
                <a:latin typeface="Arial Black" panose="020B0A04020102020204" pitchFamily="34" charset="0"/>
              </a:rPr>
              <a:t>IPv4:Format</a:t>
            </a:r>
            <a:r>
              <a:rPr lang="en-US" dirty="0">
                <a:latin typeface="Arial Black" panose="020B0A04020102020204" pitchFamily="34" charset="0"/>
              </a:rPr>
              <a:t>: </a:t>
            </a:r>
            <a:r>
              <a:rPr lang="en-US" dirty="0" err="1">
                <a:latin typeface="Arial Black" panose="020B0A04020102020204" pitchFamily="34" charset="0"/>
              </a:rPr>
              <a:t>xxx.xxx.xxx.xxx</a:t>
            </a:r>
            <a:r>
              <a:rPr lang="en-US" dirty="0">
                <a:latin typeface="Arial Black" panose="020B0A04020102020204" pitchFamily="34" charset="0"/>
              </a:rPr>
              <a:t>, where each xxx can range from 0 to 255.Example: </a:t>
            </a:r>
            <a:r>
              <a:rPr lang="en-US" sz="2800" dirty="0" smtClean="0">
                <a:latin typeface="Arial Black" panose="020B0A04020102020204" pitchFamily="34" charset="0"/>
              </a:rPr>
              <a:t>192.168.1.1</a:t>
            </a:r>
          </a:p>
          <a:p>
            <a:r>
              <a:rPr lang="en-US" dirty="0">
                <a:latin typeface="Arial Black" panose="020B0A04020102020204" pitchFamily="34" charset="0"/>
              </a:rPr>
              <a:t>IPv6 Format: 2001:0db8:85a3:0000:0000:8a2e:0370:7334</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a:t>
            </a:fld>
            <a:endParaRPr lang="en-US" dirty="0"/>
          </a:p>
        </p:txBody>
      </p:sp>
    </p:spTree>
    <p:extLst>
      <p:ext uri="{BB962C8B-B14F-4D97-AF65-F5344CB8AC3E}">
        <p14:creationId xmlns:p14="http://schemas.microsoft.com/office/powerpoint/2010/main" val="1966913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1165122" y="265471"/>
            <a:ext cx="7534656" cy="914400"/>
          </a:xfrm>
        </p:spPr>
        <p:txBody>
          <a:bodyPr/>
          <a:lstStyle/>
          <a:p>
            <a:r>
              <a:rPr lang="en-US" sz="3200" dirty="0" smtClean="0">
                <a:latin typeface="Arial Black" panose="020B0A04020102020204" pitchFamily="34" charset="0"/>
              </a:rPr>
              <a:t>Management of an IP Addresses</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870154" y="1331189"/>
            <a:ext cx="10781072" cy="4848385"/>
          </a:xfrm>
        </p:spPr>
        <p:txBody>
          <a:bodyPr>
            <a:normAutofit/>
          </a:bodyPr>
          <a:lstStyle/>
          <a:p>
            <a:r>
              <a:rPr lang="en-US" dirty="0">
                <a:latin typeface="Arial Black" panose="020B0A04020102020204" pitchFamily="34" charset="0"/>
              </a:rPr>
              <a:t>The management and assignment of IP addresses are handled by a hierarchical system of organizations that operate at different levels, from global to local. Here's how IP address management works</a:t>
            </a:r>
            <a:r>
              <a:rPr lang="en-US" dirty="0" smtClean="0">
                <a:latin typeface="Arial Black" panose="020B0A04020102020204" pitchFamily="34" charset="0"/>
              </a:rPr>
              <a:t>:</a:t>
            </a:r>
          </a:p>
          <a:p>
            <a:r>
              <a:rPr lang="en-US" dirty="0">
                <a:solidFill>
                  <a:srgbClr val="FF0000"/>
                </a:solidFill>
                <a:latin typeface="Arial Black" panose="020B0A04020102020204" pitchFamily="34" charset="0"/>
              </a:rPr>
              <a:t>Internet Assigned Numbers Authority (IANA</a:t>
            </a:r>
            <a:r>
              <a:rPr lang="en-US" dirty="0" smtClean="0">
                <a:solidFill>
                  <a:srgbClr val="FF0000"/>
                </a:solidFill>
                <a:latin typeface="Arial Black" panose="020B0A04020102020204" pitchFamily="34" charset="0"/>
              </a:rPr>
              <a:t>)</a:t>
            </a:r>
          </a:p>
          <a:p>
            <a:pPr lvl="1"/>
            <a:r>
              <a:rPr lang="en-US" dirty="0">
                <a:latin typeface="Arial Black" panose="020B0A04020102020204" pitchFamily="34" charset="0"/>
              </a:rPr>
              <a:t>Role: </a:t>
            </a:r>
            <a:endParaRPr lang="en-US" dirty="0" smtClean="0">
              <a:latin typeface="Arial Black" panose="020B0A04020102020204" pitchFamily="34" charset="0"/>
            </a:endParaRPr>
          </a:p>
          <a:p>
            <a:pPr lvl="2"/>
            <a:r>
              <a:rPr lang="en-US" dirty="0" smtClean="0">
                <a:latin typeface="Arial Black" panose="020B0A04020102020204" pitchFamily="34" charset="0"/>
              </a:rPr>
              <a:t>IANA </a:t>
            </a:r>
            <a:r>
              <a:rPr lang="en-US" dirty="0">
                <a:latin typeface="Arial Black" panose="020B0A04020102020204" pitchFamily="34" charset="0"/>
              </a:rPr>
              <a:t>is a department of the Internet Corporation for Assigned Names and Numbers (ICANN), which is responsible for coordinating global IP address allocation, as well as the management of the DNS root zone, and other critical aspects of the internet's infrastructure</a:t>
            </a:r>
            <a:r>
              <a:rPr lang="en-US" dirty="0" smtClean="0">
                <a:latin typeface="Arial Black" panose="020B0A04020102020204" pitchFamily="34" charset="0"/>
              </a:rPr>
              <a:t>.</a:t>
            </a:r>
          </a:p>
          <a:p>
            <a:pPr lvl="1"/>
            <a:r>
              <a:rPr lang="en-US" dirty="0">
                <a:latin typeface="Arial Black" panose="020B0A04020102020204" pitchFamily="34" charset="0"/>
              </a:rPr>
              <a:t>Responsibilities</a:t>
            </a:r>
            <a:r>
              <a:rPr lang="en-US" dirty="0" smtClean="0">
                <a:latin typeface="Arial Black" panose="020B0A04020102020204" pitchFamily="34" charset="0"/>
              </a:rPr>
              <a:t>:</a:t>
            </a:r>
          </a:p>
          <a:p>
            <a:pPr lvl="2"/>
            <a:r>
              <a:rPr lang="en-US" dirty="0" smtClean="0">
                <a:latin typeface="Arial Black" panose="020B0A04020102020204" pitchFamily="34" charset="0"/>
              </a:rPr>
              <a:t>Allocates </a:t>
            </a:r>
            <a:r>
              <a:rPr lang="en-US" dirty="0">
                <a:latin typeface="Arial Black" panose="020B0A04020102020204" pitchFamily="34" charset="0"/>
              </a:rPr>
              <a:t>large blocks of IP addresses to Regional Internet Registries (RIRs</a:t>
            </a:r>
            <a:r>
              <a:rPr lang="en-US" dirty="0" smtClean="0">
                <a:latin typeface="Arial Black" panose="020B0A04020102020204" pitchFamily="34" charset="0"/>
              </a:rPr>
              <a:t>).</a:t>
            </a:r>
          </a:p>
          <a:p>
            <a:pPr lvl="2"/>
            <a:r>
              <a:rPr lang="en-US" dirty="0" smtClean="0">
                <a:latin typeface="Arial Black" panose="020B0A04020102020204" pitchFamily="34" charset="0"/>
              </a:rPr>
              <a:t>Manages </a:t>
            </a:r>
            <a:r>
              <a:rPr lang="en-US" dirty="0">
                <a:latin typeface="Arial Black" panose="020B0A04020102020204" pitchFamily="34" charset="0"/>
              </a:rPr>
              <a:t>IP address space for both IPv4 and IPv6</a:t>
            </a:r>
            <a:r>
              <a:rPr lang="en-US" dirty="0" smtClean="0">
                <a:latin typeface="Arial Black" panose="020B0A04020102020204" pitchFamily="34" charset="0"/>
              </a:rPr>
              <a:t>.</a:t>
            </a:r>
          </a:p>
          <a:p>
            <a:pPr lvl="2"/>
            <a:r>
              <a:rPr lang="en-US" dirty="0" smtClean="0">
                <a:latin typeface="Arial Black" panose="020B0A04020102020204" pitchFamily="34" charset="0"/>
              </a:rPr>
              <a:t>Oversees </a:t>
            </a:r>
            <a:r>
              <a:rPr lang="en-US" dirty="0">
                <a:latin typeface="Arial Black" panose="020B0A04020102020204" pitchFamily="34" charset="0"/>
              </a:rPr>
              <a:t>the distribution of other internet numbers, such as Autonomous System Numbers (ASNs).</a:t>
            </a:r>
            <a:endParaRPr lang="en-US"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3</a:t>
            </a:fld>
            <a:endParaRPr lang="en-US" dirty="0"/>
          </a:p>
        </p:txBody>
      </p:sp>
    </p:spTree>
    <p:extLst>
      <p:ext uri="{BB962C8B-B14F-4D97-AF65-F5344CB8AC3E}">
        <p14:creationId xmlns:p14="http://schemas.microsoft.com/office/powerpoint/2010/main" val="3348278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1165122" y="265471"/>
            <a:ext cx="7534656" cy="914400"/>
          </a:xfrm>
        </p:spPr>
        <p:txBody>
          <a:bodyPr/>
          <a:lstStyle/>
          <a:p>
            <a:r>
              <a:rPr lang="en-US" sz="3200" dirty="0" smtClean="0">
                <a:latin typeface="Arial Black" panose="020B0A04020102020204" pitchFamily="34" charset="0"/>
              </a:rPr>
              <a:t>Management of an IP Addresses</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870154" y="1331189"/>
            <a:ext cx="10781072" cy="4548615"/>
          </a:xfrm>
        </p:spPr>
        <p:txBody>
          <a:bodyPr>
            <a:normAutofit/>
          </a:bodyPr>
          <a:lstStyle/>
          <a:p>
            <a:r>
              <a:rPr lang="en-US" dirty="0">
                <a:solidFill>
                  <a:srgbClr val="FF0000"/>
                </a:solidFill>
                <a:latin typeface="Arial Black" panose="020B0A04020102020204" pitchFamily="34" charset="0"/>
              </a:rPr>
              <a:t>Regional Internet Registries (RIRs</a:t>
            </a:r>
            <a:r>
              <a:rPr lang="en-US" dirty="0" smtClean="0">
                <a:solidFill>
                  <a:srgbClr val="FF0000"/>
                </a:solidFill>
                <a:latin typeface="Arial Black" panose="020B0A04020102020204" pitchFamily="34" charset="0"/>
              </a:rPr>
              <a:t>)</a:t>
            </a:r>
          </a:p>
          <a:p>
            <a:r>
              <a:rPr lang="en-US" dirty="0" smtClean="0">
                <a:latin typeface="Arial Black" panose="020B0A04020102020204" pitchFamily="34" charset="0"/>
              </a:rPr>
              <a:t>Role</a:t>
            </a:r>
            <a:r>
              <a:rPr lang="en-US" dirty="0">
                <a:latin typeface="Arial Black" panose="020B0A04020102020204" pitchFamily="34" charset="0"/>
              </a:rPr>
              <a:t>: </a:t>
            </a:r>
            <a:endParaRPr lang="en-US" dirty="0" smtClean="0">
              <a:latin typeface="Arial Black" panose="020B0A04020102020204" pitchFamily="34" charset="0"/>
            </a:endParaRPr>
          </a:p>
          <a:p>
            <a:pPr marL="914400" lvl="2" indent="0">
              <a:buNone/>
            </a:pPr>
            <a:r>
              <a:rPr lang="en-US" dirty="0" smtClean="0">
                <a:latin typeface="Arial Black" panose="020B0A04020102020204" pitchFamily="34" charset="0"/>
              </a:rPr>
              <a:t>RIRs </a:t>
            </a:r>
            <a:r>
              <a:rPr lang="en-US" dirty="0">
                <a:latin typeface="Arial Black" panose="020B0A04020102020204" pitchFamily="34" charset="0"/>
              </a:rPr>
              <a:t>are organizations that manage the allocation and registration of IP addresses within specific regions of the world. There are five RIRs, each serving a different region.</a:t>
            </a:r>
            <a:endParaRPr lang="en-US" dirty="0" smtClean="0">
              <a:latin typeface="Arial Black" panose="020B0A04020102020204" pitchFamily="34" charset="0"/>
            </a:endParaRPr>
          </a:p>
          <a:p>
            <a:r>
              <a:rPr lang="en-US" dirty="0">
                <a:solidFill>
                  <a:srgbClr val="FF0000"/>
                </a:solidFill>
                <a:latin typeface="Arial Black" panose="020B0A04020102020204" pitchFamily="34" charset="0"/>
              </a:rPr>
              <a:t>Responsibilities</a:t>
            </a:r>
            <a:r>
              <a:rPr lang="en-US" dirty="0" smtClean="0">
                <a:solidFill>
                  <a:srgbClr val="FF0000"/>
                </a:solidFill>
                <a:latin typeface="Arial Black" panose="020B0A04020102020204" pitchFamily="34" charset="0"/>
              </a:rPr>
              <a:t>:</a:t>
            </a:r>
          </a:p>
          <a:p>
            <a:pPr lvl="2"/>
            <a:r>
              <a:rPr lang="en-US" dirty="0">
                <a:latin typeface="Arial Black" panose="020B0A04020102020204" pitchFamily="34" charset="0"/>
              </a:rPr>
              <a:t>Receive large blocks of IP addresses from IANA and allocate smaller blocks to ISPs, data centers, and other organizations within their region</a:t>
            </a:r>
            <a:r>
              <a:rPr lang="en-US" dirty="0" smtClean="0">
                <a:latin typeface="Arial Black" panose="020B0A04020102020204" pitchFamily="34" charset="0"/>
              </a:rPr>
              <a:t>.</a:t>
            </a:r>
          </a:p>
          <a:p>
            <a:pPr lvl="2"/>
            <a:r>
              <a:rPr lang="en-US" dirty="0" smtClean="0">
                <a:latin typeface="Arial Black" panose="020B0A04020102020204" pitchFamily="34" charset="0"/>
              </a:rPr>
              <a:t>Maintain </a:t>
            </a:r>
            <a:r>
              <a:rPr lang="en-US" dirty="0">
                <a:latin typeface="Arial Black" panose="020B0A04020102020204" pitchFamily="34" charset="0"/>
              </a:rPr>
              <a:t>databases of IP address allocations and registrations, ensuring that IP address assignments are properly documented</a:t>
            </a:r>
            <a:r>
              <a:rPr lang="en-US" dirty="0" smtClean="0">
                <a:latin typeface="Arial Black" panose="020B0A04020102020204" pitchFamily="34" charset="0"/>
              </a:rPr>
              <a:t>.</a:t>
            </a:r>
          </a:p>
          <a:p>
            <a:pPr lvl="2"/>
            <a:r>
              <a:rPr lang="en-US" dirty="0" smtClean="0">
                <a:latin typeface="Arial Black" panose="020B0A04020102020204" pitchFamily="34" charset="0"/>
              </a:rPr>
              <a:t>Provide </a:t>
            </a:r>
            <a:r>
              <a:rPr lang="en-US" dirty="0">
                <a:latin typeface="Arial Black" panose="020B0A04020102020204" pitchFamily="34" charset="0"/>
              </a:rPr>
              <a:t>services like WHOIS, which allows the public to look up who owns a particular IP address.</a:t>
            </a:r>
            <a:endParaRPr lang="en-US"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1522979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1165122" y="265471"/>
            <a:ext cx="7534656" cy="914400"/>
          </a:xfrm>
        </p:spPr>
        <p:txBody>
          <a:bodyPr/>
          <a:lstStyle/>
          <a:p>
            <a:r>
              <a:rPr lang="en-US" sz="3200" dirty="0" smtClean="0">
                <a:latin typeface="Arial Black" panose="020B0A04020102020204" pitchFamily="34" charset="0"/>
              </a:rPr>
              <a:t>Management of an IP Addresses</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870154" y="1331189"/>
            <a:ext cx="10781072" cy="3624269"/>
          </a:xfrm>
        </p:spPr>
        <p:txBody>
          <a:bodyPr>
            <a:normAutofit lnSpcReduction="10000"/>
          </a:bodyPr>
          <a:lstStyle/>
          <a:p>
            <a:pPr marL="0" indent="0">
              <a:buNone/>
            </a:pPr>
            <a:r>
              <a:rPr lang="en-US" sz="2400" dirty="0" smtClean="0">
                <a:solidFill>
                  <a:srgbClr val="FF0000"/>
                </a:solidFill>
                <a:latin typeface="Arial Black" panose="020B0A04020102020204" pitchFamily="34" charset="0"/>
              </a:rPr>
              <a:t>The Five RIRs</a:t>
            </a:r>
          </a:p>
          <a:p>
            <a:r>
              <a:rPr lang="en-US" dirty="0">
                <a:solidFill>
                  <a:srgbClr val="92D050"/>
                </a:solidFill>
                <a:latin typeface="Arial Black" panose="020B0A04020102020204" pitchFamily="34" charset="0"/>
              </a:rPr>
              <a:t>ARIN (American Registry for Internet Numbers)</a:t>
            </a:r>
            <a:r>
              <a:rPr lang="en-US" dirty="0">
                <a:latin typeface="Arial Black" panose="020B0A04020102020204" pitchFamily="34" charset="0"/>
              </a:rPr>
              <a:t>: Covers the United States, Canada, and parts of the Caribbean</a:t>
            </a:r>
            <a:r>
              <a:rPr lang="en-US" dirty="0" smtClean="0">
                <a:latin typeface="Arial Black" panose="020B0A04020102020204" pitchFamily="34" charset="0"/>
              </a:rPr>
              <a:t>.</a:t>
            </a:r>
          </a:p>
          <a:p>
            <a:r>
              <a:rPr lang="en-US" dirty="0">
                <a:solidFill>
                  <a:srgbClr val="92D050"/>
                </a:solidFill>
                <a:latin typeface="Arial Black" panose="020B0A04020102020204" pitchFamily="34" charset="0"/>
              </a:rPr>
              <a:t>RIPE NCC (</a:t>
            </a:r>
            <a:r>
              <a:rPr lang="en-US" dirty="0" err="1">
                <a:solidFill>
                  <a:srgbClr val="92D050"/>
                </a:solidFill>
                <a:latin typeface="Arial Black" panose="020B0A04020102020204" pitchFamily="34" charset="0"/>
              </a:rPr>
              <a:t>Réseaux</a:t>
            </a:r>
            <a:r>
              <a:rPr lang="en-US" dirty="0">
                <a:solidFill>
                  <a:srgbClr val="92D050"/>
                </a:solidFill>
                <a:latin typeface="Arial Black" panose="020B0A04020102020204" pitchFamily="34" charset="0"/>
              </a:rPr>
              <a:t> IP </a:t>
            </a:r>
            <a:r>
              <a:rPr lang="en-US" dirty="0" err="1">
                <a:solidFill>
                  <a:srgbClr val="92D050"/>
                </a:solidFill>
                <a:latin typeface="Arial Black" panose="020B0A04020102020204" pitchFamily="34" charset="0"/>
              </a:rPr>
              <a:t>Européens</a:t>
            </a:r>
            <a:r>
              <a:rPr lang="en-US" dirty="0">
                <a:solidFill>
                  <a:srgbClr val="92D050"/>
                </a:solidFill>
                <a:latin typeface="Arial Black" panose="020B0A04020102020204" pitchFamily="34" charset="0"/>
              </a:rPr>
              <a:t> Network Coordination Centre)</a:t>
            </a:r>
            <a:r>
              <a:rPr lang="en-US" dirty="0">
                <a:latin typeface="Arial Black" panose="020B0A04020102020204" pitchFamily="34" charset="0"/>
              </a:rPr>
              <a:t>: Covers Europe, the Middle East, and parts of Central Asia</a:t>
            </a:r>
            <a:r>
              <a:rPr lang="en-US" dirty="0" smtClean="0">
                <a:latin typeface="Arial Black" panose="020B0A04020102020204" pitchFamily="34" charset="0"/>
              </a:rPr>
              <a:t>.</a:t>
            </a:r>
          </a:p>
          <a:p>
            <a:r>
              <a:rPr lang="en-US" dirty="0" smtClean="0">
                <a:solidFill>
                  <a:srgbClr val="92D050"/>
                </a:solidFill>
                <a:latin typeface="Arial Black" panose="020B0A04020102020204" pitchFamily="34" charset="0"/>
              </a:rPr>
              <a:t>APNIC </a:t>
            </a:r>
            <a:r>
              <a:rPr lang="en-US" dirty="0">
                <a:solidFill>
                  <a:srgbClr val="92D050"/>
                </a:solidFill>
                <a:latin typeface="Arial Black" panose="020B0A04020102020204" pitchFamily="34" charset="0"/>
              </a:rPr>
              <a:t>(Asia-Pacific Network Information Centre): </a:t>
            </a:r>
            <a:r>
              <a:rPr lang="en-US" dirty="0">
                <a:latin typeface="Arial Black" panose="020B0A04020102020204" pitchFamily="34" charset="0"/>
              </a:rPr>
              <a:t>Covers Asia and the Pacific region</a:t>
            </a:r>
            <a:r>
              <a:rPr lang="en-US" dirty="0" smtClean="0">
                <a:latin typeface="Arial Black" panose="020B0A04020102020204" pitchFamily="34" charset="0"/>
              </a:rPr>
              <a:t>.</a:t>
            </a:r>
          </a:p>
          <a:p>
            <a:r>
              <a:rPr lang="en-US" dirty="0" smtClean="0">
                <a:solidFill>
                  <a:srgbClr val="92D050"/>
                </a:solidFill>
                <a:latin typeface="Arial Black" panose="020B0A04020102020204" pitchFamily="34" charset="0"/>
              </a:rPr>
              <a:t>LACNIC </a:t>
            </a:r>
            <a:r>
              <a:rPr lang="en-US" dirty="0">
                <a:solidFill>
                  <a:srgbClr val="92D050"/>
                </a:solidFill>
                <a:latin typeface="Arial Black" panose="020B0A04020102020204" pitchFamily="34" charset="0"/>
              </a:rPr>
              <a:t>(Latin American and Caribbean Internet Addresses Registry): </a:t>
            </a:r>
            <a:r>
              <a:rPr lang="en-US" dirty="0">
                <a:latin typeface="Arial Black" panose="020B0A04020102020204" pitchFamily="34" charset="0"/>
              </a:rPr>
              <a:t>Covers Latin America and parts of the Caribbean</a:t>
            </a:r>
            <a:r>
              <a:rPr lang="en-US" dirty="0" smtClean="0">
                <a:latin typeface="Arial Black" panose="020B0A04020102020204" pitchFamily="34" charset="0"/>
              </a:rPr>
              <a:t>.</a:t>
            </a:r>
          </a:p>
          <a:p>
            <a:r>
              <a:rPr lang="en-US" dirty="0" smtClean="0">
                <a:solidFill>
                  <a:srgbClr val="92D050"/>
                </a:solidFill>
                <a:latin typeface="Arial Black" panose="020B0A04020102020204" pitchFamily="34" charset="0"/>
              </a:rPr>
              <a:t>AFRINIC </a:t>
            </a:r>
            <a:r>
              <a:rPr lang="en-US" dirty="0">
                <a:solidFill>
                  <a:srgbClr val="92D050"/>
                </a:solidFill>
                <a:latin typeface="Arial Black" panose="020B0A04020102020204" pitchFamily="34" charset="0"/>
              </a:rPr>
              <a:t>(African Network Information Centre): </a:t>
            </a:r>
            <a:r>
              <a:rPr lang="en-US" dirty="0">
                <a:latin typeface="Arial Black" panose="020B0A04020102020204" pitchFamily="34" charset="0"/>
              </a:rPr>
              <a:t>Covers Africa and parts of the Indian Ocean region.</a:t>
            </a:r>
            <a:endParaRPr lang="en-US"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a:t>
            </a:fld>
            <a:endParaRPr lang="en-US" dirty="0"/>
          </a:p>
        </p:txBody>
      </p:sp>
    </p:spTree>
    <p:extLst>
      <p:ext uri="{BB962C8B-B14F-4D97-AF65-F5344CB8AC3E}">
        <p14:creationId xmlns:p14="http://schemas.microsoft.com/office/powerpoint/2010/main" val="985987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22671" y="265471"/>
            <a:ext cx="7977107" cy="914400"/>
          </a:xfrm>
        </p:spPr>
        <p:txBody>
          <a:bodyPr/>
          <a:lstStyle/>
          <a:p>
            <a:r>
              <a:rPr lang="en-US" sz="3200" dirty="0" smtClean="0">
                <a:latin typeface="Arial Black" panose="020B0A04020102020204" pitchFamily="34" charset="0"/>
              </a:rPr>
              <a:t>Management of an IP Addresses</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870154" y="1331189"/>
            <a:ext cx="10781072" cy="4140463"/>
          </a:xfrm>
        </p:spPr>
        <p:txBody>
          <a:bodyPr>
            <a:normAutofit/>
          </a:bodyPr>
          <a:lstStyle/>
          <a:p>
            <a:pPr marL="0" indent="0">
              <a:buNone/>
            </a:pPr>
            <a:r>
              <a:rPr lang="en-US" sz="2400" dirty="0" smtClean="0">
                <a:solidFill>
                  <a:srgbClr val="FF0000"/>
                </a:solidFill>
                <a:latin typeface="Arial Black" panose="020B0A04020102020204" pitchFamily="34" charset="0"/>
              </a:rPr>
              <a:t>Internet </a:t>
            </a:r>
            <a:r>
              <a:rPr lang="en-US" sz="2400" dirty="0">
                <a:solidFill>
                  <a:srgbClr val="FF0000"/>
                </a:solidFill>
                <a:latin typeface="Arial Black" panose="020B0A04020102020204" pitchFamily="34" charset="0"/>
              </a:rPr>
              <a:t>Service Providers (ISPs</a:t>
            </a:r>
            <a:r>
              <a:rPr lang="en-US" sz="2400" dirty="0" smtClean="0">
                <a:solidFill>
                  <a:srgbClr val="FF0000"/>
                </a:solidFill>
                <a:latin typeface="Arial Black" panose="020B0A04020102020204" pitchFamily="34" charset="0"/>
              </a:rPr>
              <a:t>)</a:t>
            </a:r>
          </a:p>
          <a:p>
            <a:pPr marL="0" indent="0">
              <a:buNone/>
            </a:pPr>
            <a:r>
              <a:rPr lang="en-US" dirty="0">
                <a:latin typeface="Arial Black" panose="020B0A04020102020204" pitchFamily="34" charset="0"/>
              </a:rPr>
              <a:t>Role: </a:t>
            </a:r>
            <a:endParaRPr lang="en-US" dirty="0" smtClean="0">
              <a:latin typeface="Arial Black" panose="020B0A04020102020204" pitchFamily="34" charset="0"/>
            </a:endParaRPr>
          </a:p>
          <a:p>
            <a:pPr marL="0" indent="0">
              <a:buNone/>
            </a:pPr>
            <a:r>
              <a:rPr lang="en-US" dirty="0" smtClean="0">
                <a:latin typeface="Arial Black" panose="020B0A04020102020204" pitchFamily="34" charset="0"/>
              </a:rPr>
              <a:t>ISPs </a:t>
            </a:r>
            <a:r>
              <a:rPr lang="en-US" dirty="0">
                <a:latin typeface="Arial Black" panose="020B0A04020102020204" pitchFamily="34" charset="0"/>
              </a:rPr>
              <a:t>are companies that provide internet access to end-users (both individuals and businesses). They are assigned blocks of IP addresses by the RIRs</a:t>
            </a:r>
            <a:r>
              <a:rPr lang="en-US" dirty="0" smtClean="0">
                <a:latin typeface="Arial Black" panose="020B0A04020102020204" pitchFamily="34" charset="0"/>
              </a:rPr>
              <a:t>.</a:t>
            </a:r>
          </a:p>
          <a:p>
            <a:pPr marL="0" indent="0">
              <a:buNone/>
            </a:pPr>
            <a:r>
              <a:rPr lang="en-US" dirty="0" smtClean="0">
                <a:latin typeface="Arial Black" panose="020B0A04020102020204" pitchFamily="34" charset="0"/>
              </a:rPr>
              <a:t>Responsibilities: </a:t>
            </a:r>
          </a:p>
          <a:p>
            <a:pPr lvl="1"/>
            <a:r>
              <a:rPr lang="en-US" dirty="0" smtClean="0">
                <a:latin typeface="Arial Black" panose="020B0A04020102020204" pitchFamily="34" charset="0"/>
              </a:rPr>
              <a:t>Allocate </a:t>
            </a:r>
            <a:r>
              <a:rPr lang="en-US" dirty="0">
                <a:latin typeface="Arial Black" panose="020B0A04020102020204" pitchFamily="34" charset="0"/>
              </a:rPr>
              <a:t>IP addresses to their customers, either dynamically (changing with each connection) or statically (fixed for a particular customer</a:t>
            </a:r>
            <a:r>
              <a:rPr lang="en-US" dirty="0" smtClean="0">
                <a:latin typeface="Arial Black" panose="020B0A04020102020204" pitchFamily="34" charset="0"/>
              </a:rPr>
              <a:t>).</a:t>
            </a:r>
          </a:p>
          <a:p>
            <a:pPr lvl="1"/>
            <a:r>
              <a:rPr lang="en-US" dirty="0" smtClean="0">
                <a:latin typeface="Arial Black" panose="020B0A04020102020204" pitchFamily="34" charset="0"/>
              </a:rPr>
              <a:t>Manage </a:t>
            </a:r>
            <a:r>
              <a:rPr lang="en-US" dirty="0">
                <a:latin typeface="Arial Black" panose="020B0A04020102020204" pitchFamily="34" charset="0"/>
              </a:rPr>
              <a:t>the routing of IP traffic for their customers using the IP addresses they've been assigned</a:t>
            </a:r>
            <a:r>
              <a:rPr lang="en-US" dirty="0" smtClean="0">
                <a:latin typeface="Arial Black" panose="020B0A04020102020204" pitchFamily="34" charset="0"/>
              </a:rPr>
              <a:t>.</a:t>
            </a:r>
          </a:p>
          <a:p>
            <a:pPr lvl="1"/>
            <a:r>
              <a:rPr lang="en-US" dirty="0" smtClean="0">
                <a:latin typeface="Arial Black" panose="020B0A04020102020204" pitchFamily="34" charset="0"/>
              </a:rPr>
              <a:t>Sometimes </a:t>
            </a:r>
            <a:r>
              <a:rPr lang="en-US" dirty="0">
                <a:latin typeface="Arial Black" panose="020B0A04020102020204" pitchFamily="34" charset="0"/>
              </a:rPr>
              <a:t>further subdivide their IP address blocks and assign smaller subnets to organizations or large customers.</a:t>
            </a:r>
            <a:endParaRPr lang="en-US"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a:t>
            </a:fld>
            <a:endParaRPr lang="en-US" dirty="0"/>
          </a:p>
        </p:txBody>
      </p:sp>
    </p:spTree>
    <p:extLst>
      <p:ext uri="{BB962C8B-B14F-4D97-AF65-F5344CB8AC3E}">
        <p14:creationId xmlns:p14="http://schemas.microsoft.com/office/powerpoint/2010/main" val="3780666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1165122" y="265471"/>
            <a:ext cx="7534656" cy="914400"/>
          </a:xfrm>
        </p:spPr>
        <p:txBody>
          <a:bodyPr/>
          <a:lstStyle/>
          <a:p>
            <a:r>
              <a:rPr lang="en-US" sz="3200" dirty="0" smtClean="0">
                <a:latin typeface="Arial Black" panose="020B0A04020102020204" pitchFamily="34" charset="0"/>
              </a:rPr>
              <a:t>Management of an IP Addresses</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870154" y="1331189"/>
            <a:ext cx="10781072" cy="4140463"/>
          </a:xfrm>
        </p:spPr>
        <p:txBody>
          <a:bodyPr>
            <a:normAutofit/>
          </a:bodyPr>
          <a:lstStyle/>
          <a:p>
            <a:pPr marL="0" indent="0">
              <a:buNone/>
            </a:pPr>
            <a:r>
              <a:rPr lang="en-US" sz="2400" dirty="0" smtClean="0">
                <a:solidFill>
                  <a:srgbClr val="FF0000"/>
                </a:solidFill>
                <a:latin typeface="Arial Black" panose="020B0A04020102020204" pitchFamily="34" charset="0"/>
              </a:rPr>
              <a:t>End-User Organizations</a:t>
            </a:r>
          </a:p>
          <a:p>
            <a:pPr marL="0" indent="0">
              <a:buNone/>
            </a:pPr>
            <a:r>
              <a:rPr lang="en-US" dirty="0" smtClean="0">
                <a:latin typeface="Arial Black" panose="020B0A04020102020204" pitchFamily="34" charset="0"/>
              </a:rPr>
              <a:t>Role</a:t>
            </a:r>
            <a:r>
              <a:rPr lang="en-US" dirty="0">
                <a:latin typeface="Arial Black" panose="020B0A04020102020204" pitchFamily="34" charset="0"/>
              </a:rPr>
              <a:t>: </a:t>
            </a:r>
            <a:endParaRPr lang="en-US" dirty="0" smtClean="0">
              <a:latin typeface="Arial Black" panose="020B0A04020102020204" pitchFamily="34" charset="0"/>
            </a:endParaRPr>
          </a:p>
          <a:p>
            <a:pPr marL="0" indent="0">
              <a:buNone/>
            </a:pPr>
            <a:r>
              <a:rPr lang="en-US" dirty="0">
                <a:latin typeface="Arial Black" panose="020B0A04020102020204" pitchFamily="34" charset="0"/>
              </a:rPr>
              <a:t>These are businesses, institutions, or individuals who receive IP address assignments from their ISPs or directly from the RIRs if they require large blocks of IP addresses (e.g., large enterprises, data centers</a:t>
            </a:r>
            <a:r>
              <a:rPr lang="en-US" dirty="0" smtClean="0">
                <a:latin typeface="Arial Black" panose="020B0A04020102020204" pitchFamily="34" charset="0"/>
              </a:rPr>
              <a:t>).</a:t>
            </a:r>
          </a:p>
          <a:p>
            <a:pPr marL="0" indent="0">
              <a:buNone/>
            </a:pPr>
            <a:r>
              <a:rPr lang="en-US" dirty="0" smtClean="0">
                <a:latin typeface="Arial Black" panose="020B0A04020102020204" pitchFamily="34" charset="0"/>
              </a:rPr>
              <a:t>Responsibilities: </a:t>
            </a:r>
          </a:p>
          <a:p>
            <a:pPr lvl="1"/>
            <a:r>
              <a:rPr lang="en-US" dirty="0">
                <a:latin typeface="Arial Black" panose="020B0A04020102020204" pitchFamily="34" charset="0"/>
              </a:rPr>
              <a:t>Use the assigned IP addresses to manage their internal networks</a:t>
            </a:r>
            <a:r>
              <a:rPr lang="en-US" dirty="0" smtClean="0">
                <a:latin typeface="Arial Black" panose="020B0A04020102020204" pitchFamily="34" charset="0"/>
              </a:rPr>
              <a:t>.</a:t>
            </a:r>
          </a:p>
          <a:p>
            <a:pPr lvl="1"/>
            <a:r>
              <a:rPr lang="en-US" dirty="0" smtClean="0">
                <a:latin typeface="Arial Black" panose="020B0A04020102020204" pitchFamily="34" charset="0"/>
              </a:rPr>
              <a:t>Configure </a:t>
            </a:r>
            <a:r>
              <a:rPr lang="en-US" dirty="0">
                <a:latin typeface="Arial Black" panose="020B0A04020102020204" pitchFamily="34" charset="0"/>
              </a:rPr>
              <a:t>their network devices (e.g., routers, servers) to use the assigned IP addresses</a:t>
            </a:r>
            <a:r>
              <a:rPr lang="en-US" dirty="0" smtClean="0">
                <a:latin typeface="Arial Black" panose="020B0A04020102020204" pitchFamily="34" charset="0"/>
              </a:rPr>
              <a:t>.</a:t>
            </a:r>
          </a:p>
          <a:p>
            <a:pPr lvl="1"/>
            <a:r>
              <a:rPr lang="en-US" dirty="0" smtClean="0">
                <a:latin typeface="Arial Black" panose="020B0A04020102020204" pitchFamily="34" charset="0"/>
              </a:rPr>
              <a:t>Ensure </a:t>
            </a:r>
            <a:r>
              <a:rPr lang="en-US" dirty="0">
                <a:latin typeface="Arial Black" panose="020B0A04020102020204" pitchFamily="34" charset="0"/>
              </a:rPr>
              <a:t>proper security and management of the IP addresses within their network.</a:t>
            </a:r>
            <a:endParaRPr lang="en-US"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a:t>
            </a:fld>
            <a:endParaRPr lang="en-US" dirty="0"/>
          </a:p>
        </p:txBody>
      </p:sp>
    </p:spTree>
    <p:extLst>
      <p:ext uri="{BB962C8B-B14F-4D97-AF65-F5344CB8AC3E}">
        <p14:creationId xmlns:p14="http://schemas.microsoft.com/office/powerpoint/2010/main" val="3420796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1165122" y="265471"/>
            <a:ext cx="7534656" cy="914400"/>
          </a:xfrm>
        </p:spPr>
        <p:txBody>
          <a:bodyPr/>
          <a:lstStyle/>
          <a:p>
            <a:pPr algn="ctr"/>
            <a:r>
              <a:rPr lang="en-US" sz="3200" dirty="0" smtClean="0">
                <a:latin typeface="Arial Black" panose="020B0A04020102020204" pitchFamily="34" charset="0"/>
              </a:rPr>
              <a:t>IP Address Classes</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530941" y="1331189"/>
            <a:ext cx="11238271" cy="3565276"/>
          </a:xfrm>
        </p:spPr>
        <p:txBody>
          <a:bodyPr/>
          <a:lstStyle/>
          <a:p>
            <a:pPr marL="0" indent="0">
              <a:buNone/>
            </a:pPr>
            <a:r>
              <a:rPr lang="en-US" sz="2800" u="sng" dirty="0" smtClean="0">
                <a:solidFill>
                  <a:srgbClr val="00B0F0"/>
                </a:solidFill>
                <a:latin typeface="Arial Black" panose="020B0A04020102020204" pitchFamily="34" charset="0"/>
              </a:rPr>
              <a:t>Reason for Dividing IP Addresses into Classes</a:t>
            </a:r>
          </a:p>
          <a:p>
            <a:r>
              <a:rPr lang="en-US" dirty="0" smtClean="0">
                <a:solidFill>
                  <a:srgbClr val="FF0000"/>
                </a:solidFill>
                <a:latin typeface="Arial Black" panose="020B0A04020102020204" pitchFamily="34" charset="0"/>
              </a:rPr>
              <a:t>Simplification </a:t>
            </a:r>
            <a:r>
              <a:rPr lang="en-US" dirty="0">
                <a:solidFill>
                  <a:srgbClr val="FF0000"/>
                </a:solidFill>
                <a:latin typeface="Arial Black" panose="020B0A04020102020204" pitchFamily="34" charset="0"/>
              </a:rPr>
              <a:t>of Address </a:t>
            </a:r>
            <a:r>
              <a:rPr lang="en-US" dirty="0" smtClean="0">
                <a:solidFill>
                  <a:srgbClr val="FF0000"/>
                </a:solidFill>
                <a:latin typeface="Arial Black" panose="020B0A04020102020204" pitchFamily="34" charset="0"/>
              </a:rPr>
              <a:t>Allocation Purpose</a:t>
            </a:r>
            <a:r>
              <a:rPr lang="en-US" dirty="0">
                <a:solidFill>
                  <a:srgbClr val="FF0000"/>
                </a:solidFill>
                <a:latin typeface="Arial Black" panose="020B0A04020102020204" pitchFamily="34" charset="0"/>
              </a:rPr>
              <a:t>: </a:t>
            </a:r>
            <a:endParaRPr lang="en-US" dirty="0" smtClean="0">
              <a:solidFill>
                <a:srgbClr val="FF0000"/>
              </a:solidFill>
              <a:latin typeface="Arial Black" panose="020B0A04020102020204" pitchFamily="34" charset="0"/>
            </a:endParaRPr>
          </a:p>
          <a:p>
            <a:pPr lvl="1"/>
            <a:r>
              <a:rPr lang="en-US" dirty="0" smtClean="0">
                <a:latin typeface="Arial Black" panose="020B0A04020102020204" pitchFamily="34" charset="0"/>
              </a:rPr>
              <a:t>By </a:t>
            </a:r>
            <a:r>
              <a:rPr lang="en-US" dirty="0">
                <a:latin typeface="Arial Black" panose="020B0A04020102020204" pitchFamily="34" charset="0"/>
              </a:rPr>
              <a:t>categorizing IP addresses into different classes (A, B, C, D, and E), the system allowed for the easy allocation of IP addresses based on the size of the network. </a:t>
            </a:r>
            <a:endParaRPr lang="en-US" dirty="0" smtClean="0">
              <a:latin typeface="Arial Black" panose="020B0A04020102020204" pitchFamily="34" charset="0"/>
            </a:endParaRPr>
          </a:p>
          <a:p>
            <a:pPr lvl="1"/>
            <a:r>
              <a:rPr lang="en-US" dirty="0" smtClean="0">
                <a:latin typeface="Arial Black" panose="020B0A04020102020204" pitchFamily="34" charset="0"/>
              </a:rPr>
              <a:t>Different </a:t>
            </a:r>
            <a:r>
              <a:rPr lang="en-US" dirty="0">
                <a:latin typeface="Arial Black" panose="020B0A04020102020204" pitchFamily="34" charset="0"/>
              </a:rPr>
              <a:t>classes were designed to accommodate networks of varying sizes, from very large networks to small ones</a:t>
            </a:r>
            <a:r>
              <a:rPr lang="en-US" dirty="0" smtClean="0">
                <a:latin typeface="Arial Black" panose="020B0A04020102020204" pitchFamily="34" charset="0"/>
              </a:rPr>
              <a:t>.</a:t>
            </a:r>
          </a:p>
          <a:p>
            <a:r>
              <a:rPr lang="en-US" dirty="0" smtClean="0">
                <a:solidFill>
                  <a:srgbClr val="FF0000"/>
                </a:solidFill>
                <a:latin typeface="Arial Black" panose="020B0A04020102020204" pitchFamily="34" charset="0"/>
              </a:rPr>
              <a:t>Outcome</a:t>
            </a:r>
            <a:r>
              <a:rPr lang="en-US" dirty="0">
                <a:solidFill>
                  <a:srgbClr val="FF0000"/>
                </a:solidFill>
                <a:latin typeface="Arial Black" panose="020B0A04020102020204" pitchFamily="34" charset="0"/>
              </a:rPr>
              <a:t>: </a:t>
            </a:r>
            <a:r>
              <a:rPr lang="en-US" dirty="0">
                <a:latin typeface="Arial Black" panose="020B0A04020102020204" pitchFamily="34" charset="0"/>
              </a:rPr>
              <a:t>This made the process of assigning IP addresses more straightforward for network administrators and allowed for consistent and easy-to-understand routing protocols.</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8</a:t>
            </a:fld>
            <a:endParaRPr lang="en-US" dirty="0"/>
          </a:p>
        </p:txBody>
      </p:sp>
    </p:spTree>
    <p:extLst>
      <p:ext uri="{BB962C8B-B14F-4D97-AF65-F5344CB8AC3E}">
        <p14:creationId xmlns:p14="http://schemas.microsoft.com/office/powerpoint/2010/main" val="3232390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1165122" y="265471"/>
            <a:ext cx="7534656" cy="914400"/>
          </a:xfrm>
        </p:spPr>
        <p:txBody>
          <a:bodyPr/>
          <a:lstStyle/>
          <a:p>
            <a:pPr algn="ctr"/>
            <a:r>
              <a:rPr lang="en-US" sz="3200" dirty="0" smtClean="0">
                <a:latin typeface="Arial Black" panose="020B0A04020102020204" pitchFamily="34" charset="0"/>
              </a:rPr>
              <a:t>IP Address Classes (Cont.)</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530941" y="1331189"/>
            <a:ext cx="11238271" cy="4287946"/>
          </a:xfrm>
        </p:spPr>
        <p:txBody>
          <a:bodyPr/>
          <a:lstStyle/>
          <a:p>
            <a:r>
              <a:rPr lang="en-US" dirty="0">
                <a:solidFill>
                  <a:srgbClr val="FF0000"/>
                </a:solidFill>
                <a:latin typeface="Arial Black" panose="020B0A04020102020204" pitchFamily="34" charset="0"/>
              </a:rPr>
              <a:t>Optimized IP Address Utilization: </a:t>
            </a:r>
            <a:endParaRPr lang="en-US" dirty="0" smtClean="0">
              <a:solidFill>
                <a:srgbClr val="FF0000"/>
              </a:solidFill>
              <a:latin typeface="Arial Black" panose="020B0A04020102020204" pitchFamily="34" charset="0"/>
            </a:endParaRPr>
          </a:p>
          <a:p>
            <a:pPr lvl="1"/>
            <a:r>
              <a:rPr lang="en-US" dirty="0">
                <a:latin typeface="Arial Black" panose="020B0A04020102020204" pitchFamily="34" charset="0"/>
              </a:rPr>
              <a:t>Different classes of IP addresses were created to ensure that IP address space could be efficiently used</a:t>
            </a:r>
            <a:r>
              <a:rPr lang="en-US" dirty="0" smtClean="0">
                <a:latin typeface="Arial Black" panose="020B0A04020102020204" pitchFamily="34" charset="0"/>
              </a:rPr>
              <a:t>.</a:t>
            </a:r>
          </a:p>
          <a:p>
            <a:pPr lvl="2"/>
            <a:r>
              <a:rPr lang="en-US" dirty="0" smtClean="0">
                <a:latin typeface="Arial Black" panose="020B0A04020102020204" pitchFamily="34" charset="0"/>
              </a:rPr>
              <a:t>Class </a:t>
            </a:r>
            <a:r>
              <a:rPr lang="en-US" dirty="0">
                <a:latin typeface="Arial Black" panose="020B0A04020102020204" pitchFamily="34" charset="0"/>
              </a:rPr>
              <a:t>A, with fewer networks but more hosts per network, was meant for very large organizations</a:t>
            </a:r>
            <a:r>
              <a:rPr lang="en-US" dirty="0" smtClean="0">
                <a:latin typeface="Arial Black" panose="020B0A04020102020204" pitchFamily="34" charset="0"/>
              </a:rPr>
              <a:t>.</a:t>
            </a:r>
          </a:p>
          <a:p>
            <a:pPr lvl="2"/>
            <a:r>
              <a:rPr lang="en-US" dirty="0" smtClean="0">
                <a:latin typeface="Arial Black" panose="020B0A04020102020204" pitchFamily="34" charset="0"/>
              </a:rPr>
              <a:t>Class </a:t>
            </a:r>
            <a:r>
              <a:rPr lang="en-US" dirty="0">
                <a:latin typeface="Arial Black" panose="020B0A04020102020204" pitchFamily="34" charset="0"/>
              </a:rPr>
              <a:t>B, with a moderate number of networks and hosts, was meant for medium-sized organizations</a:t>
            </a:r>
            <a:r>
              <a:rPr lang="en-US" dirty="0" smtClean="0">
                <a:latin typeface="Arial Black" panose="020B0A04020102020204" pitchFamily="34" charset="0"/>
              </a:rPr>
              <a:t>.</a:t>
            </a:r>
          </a:p>
          <a:p>
            <a:pPr lvl="2"/>
            <a:r>
              <a:rPr lang="en-US" dirty="0" smtClean="0">
                <a:latin typeface="Arial Black" panose="020B0A04020102020204" pitchFamily="34" charset="0"/>
              </a:rPr>
              <a:t>Class </a:t>
            </a:r>
            <a:r>
              <a:rPr lang="en-US" dirty="0">
                <a:latin typeface="Arial Black" panose="020B0A04020102020204" pitchFamily="34" charset="0"/>
              </a:rPr>
              <a:t>C, with many networks but fewer hosts per network, was meant for smaller organizations</a:t>
            </a:r>
            <a:r>
              <a:rPr lang="en-US" dirty="0" smtClean="0">
                <a:latin typeface="Arial Black" panose="020B0A04020102020204" pitchFamily="34" charset="0"/>
              </a:rPr>
              <a:t>.</a:t>
            </a:r>
          </a:p>
          <a:p>
            <a:r>
              <a:rPr lang="en-US" dirty="0" smtClean="0">
                <a:solidFill>
                  <a:srgbClr val="FF0000"/>
                </a:solidFill>
                <a:latin typeface="Arial Black" panose="020B0A04020102020204" pitchFamily="34" charset="0"/>
              </a:rPr>
              <a:t>Outcome</a:t>
            </a:r>
            <a:r>
              <a:rPr lang="en-US" dirty="0">
                <a:solidFill>
                  <a:srgbClr val="FF0000"/>
                </a:solidFill>
                <a:latin typeface="Arial Black" panose="020B0A04020102020204" pitchFamily="34" charset="0"/>
              </a:rPr>
              <a:t>: </a:t>
            </a:r>
            <a:r>
              <a:rPr lang="en-US" dirty="0">
                <a:latin typeface="Arial Black" panose="020B0A04020102020204" pitchFamily="34" charset="0"/>
              </a:rPr>
              <a:t>This made the process of assigning IP addresses more straightforward for network administrators and allowed for consistent and easy-to-understand routing protocols.</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9</a:t>
            </a:fld>
            <a:endParaRPr lang="en-US" dirty="0"/>
          </a:p>
        </p:txBody>
      </p:sp>
    </p:spTree>
    <p:extLst>
      <p:ext uri="{BB962C8B-B14F-4D97-AF65-F5344CB8AC3E}">
        <p14:creationId xmlns:p14="http://schemas.microsoft.com/office/powerpoint/2010/main" val="512916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1165121" y="265471"/>
            <a:ext cx="9011265" cy="648929"/>
          </a:xfrm>
        </p:spPr>
        <p:txBody>
          <a:bodyPr/>
          <a:lstStyle/>
          <a:p>
            <a:pPr algn="ctr"/>
            <a:r>
              <a:rPr lang="en-US" sz="3200" dirty="0" smtClean="0">
                <a:latin typeface="Arial Black" panose="020B0A04020102020204" pitchFamily="34" charset="0"/>
              </a:rPr>
              <a:t>IP </a:t>
            </a:r>
            <a:r>
              <a:rPr lang="en-US" dirty="0">
                <a:latin typeface="Arial Black" panose="020B0A04020102020204" pitchFamily="34" charset="0"/>
              </a:rPr>
              <a:t>Address Classes (Cont.)</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530941" y="914400"/>
            <a:ext cx="11238271" cy="5132439"/>
          </a:xfrm>
        </p:spPr>
        <p:txBody>
          <a:bodyPr>
            <a:normAutofit/>
          </a:bodyPr>
          <a:lstStyle/>
          <a:p>
            <a:r>
              <a:rPr lang="en-US" dirty="0">
                <a:solidFill>
                  <a:srgbClr val="FF0000"/>
                </a:solidFill>
                <a:latin typeface="Arial Black" panose="020B0A04020102020204" pitchFamily="34" charset="0"/>
              </a:rPr>
              <a:t>Simplification of Routing: </a:t>
            </a:r>
            <a:endParaRPr lang="en-US" dirty="0" smtClean="0">
              <a:solidFill>
                <a:srgbClr val="FF0000"/>
              </a:solidFill>
              <a:latin typeface="Arial Black" panose="020B0A04020102020204" pitchFamily="34" charset="0"/>
            </a:endParaRPr>
          </a:p>
          <a:p>
            <a:pPr lvl="1"/>
            <a:r>
              <a:rPr lang="en-US" dirty="0">
                <a:solidFill>
                  <a:srgbClr val="FF0000"/>
                </a:solidFill>
                <a:latin typeface="Arial Black" panose="020B0A04020102020204" pitchFamily="34" charset="0"/>
              </a:rPr>
              <a:t>Purpose: </a:t>
            </a:r>
            <a:r>
              <a:rPr lang="en-US" dirty="0">
                <a:latin typeface="Arial Black" panose="020B0A04020102020204" pitchFamily="34" charset="0"/>
              </a:rPr>
              <a:t>The class system made routing simpler because routers could easily determine the network part of an IP address by looking at its class. This made routing decisions faster and more efficient</a:t>
            </a:r>
            <a:r>
              <a:rPr lang="en-US" dirty="0" smtClean="0">
                <a:latin typeface="Arial Black" panose="020B0A04020102020204" pitchFamily="34" charset="0"/>
              </a:rPr>
              <a:t>.</a:t>
            </a:r>
          </a:p>
          <a:p>
            <a:pPr marL="457200" lvl="1" indent="0">
              <a:buNone/>
            </a:pPr>
            <a:endParaRPr lang="en-US" dirty="0" smtClean="0">
              <a:latin typeface="Arial Black" panose="020B0A04020102020204" pitchFamily="34" charset="0"/>
            </a:endParaRPr>
          </a:p>
          <a:p>
            <a:pPr lvl="1"/>
            <a:r>
              <a:rPr lang="en-US" dirty="0" smtClean="0">
                <a:solidFill>
                  <a:srgbClr val="FF0000"/>
                </a:solidFill>
                <a:latin typeface="Arial Black" panose="020B0A04020102020204" pitchFamily="34" charset="0"/>
              </a:rPr>
              <a:t>Outcome</a:t>
            </a:r>
            <a:r>
              <a:rPr lang="en-US" dirty="0">
                <a:solidFill>
                  <a:srgbClr val="FF0000"/>
                </a:solidFill>
                <a:latin typeface="Arial Black" panose="020B0A04020102020204" pitchFamily="34" charset="0"/>
              </a:rPr>
              <a:t>: </a:t>
            </a:r>
            <a:r>
              <a:rPr lang="en-US" dirty="0">
                <a:latin typeface="Arial Black" panose="020B0A04020102020204" pitchFamily="34" charset="0"/>
              </a:rPr>
              <a:t>By knowing the class of an IP address, routers could quickly identify the network portion of the address and route packets to the correct network without needing complex </a:t>
            </a:r>
            <a:r>
              <a:rPr lang="en-US" dirty="0" smtClean="0">
                <a:latin typeface="Arial Black" panose="020B0A04020102020204" pitchFamily="34" charset="0"/>
              </a:rPr>
              <a:t>calculations.</a:t>
            </a:r>
          </a:p>
          <a:p>
            <a:r>
              <a:rPr lang="en-US" dirty="0">
                <a:solidFill>
                  <a:srgbClr val="FF0000"/>
                </a:solidFill>
                <a:latin typeface="Arial Black" panose="020B0A04020102020204" pitchFamily="34" charset="0"/>
              </a:rPr>
              <a:t>Support for Different Types of </a:t>
            </a:r>
            <a:r>
              <a:rPr lang="en-US" dirty="0" smtClean="0">
                <a:solidFill>
                  <a:srgbClr val="FF0000"/>
                </a:solidFill>
                <a:latin typeface="Arial Black" panose="020B0A04020102020204" pitchFamily="34" charset="0"/>
              </a:rPr>
              <a:t>Communication</a:t>
            </a:r>
          </a:p>
          <a:p>
            <a:pPr lvl="1"/>
            <a:r>
              <a:rPr lang="en-US" dirty="0" smtClean="0">
                <a:solidFill>
                  <a:srgbClr val="FF0000"/>
                </a:solidFill>
                <a:latin typeface="Arial Black" panose="020B0A04020102020204" pitchFamily="34" charset="0"/>
              </a:rPr>
              <a:t>Purpose</a:t>
            </a:r>
            <a:r>
              <a:rPr lang="en-US" dirty="0">
                <a:solidFill>
                  <a:srgbClr val="FF0000"/>
                </a:solidFill>
                <a:latin typeface="Arial Black" panose="020B0A04020102020204" pitchFamily="34" charset="0"/>
              </a:rPr>
              <a:t>: </a:t>
            </a:r>
            <a:r>
              <a:rPr lang="en-US" dirty="0">
                <a:latin typeface="Arial Black" panose="020B0A04020102020204" pitchFamily="34" charset="0"/>
              </a:rPr>
              <a:t>The classes also supported different types of communication</a:t>
            </a:r>
            <a:r>
              <a:rPr lang="en-US" dirty="0" smtClean="0">
                <a:latin typeface="Arial Black" panose="020B0A04020102020204" pitchFamily="34" charset="0"/>
              </a:rPr>
              <a:t>:</a:t>
            </a:r>
          </a:p>
          <a:p>
            <a:pPr lvl="2"/>
            <a:r>
              <a:rPr lang="en-US" dirty="0" smtClean="0">
                <a:latin typeface="Arial Black" panose="020B0A04020102020204" pitchFamily="34" charset="0"/>
              </a:rPr>
              <a:t>Class </a:t>
            </a:r>
            <a:r>
              <a:rPr lang="en-US" dirty="0">
                <a:latin typeface="Arial Black" panose="020B0A04020102020204" pitchFamily="34" charset="0"/>
              </a:rPr>
              <a:t>D addresses were reserved for multicast, which is used to send data to a group of destinations</a:t>
            </a:r>
            <a:r>
              <a:rPr lang="en-US" dirty="0" smtClean="0">
                <a:latin typeface="Arial Black" panose="020B0A04020102020204" pitchFamily="34" charset="0"/>
              </a:rPr>
              <a:t>.</a:t>
            </a:r>
          </a:p>
          <a:p>
            <a:pPr lvl="2"/>
            <a:r>
              <a:rPr lang="en-US" dirty="0" smtClean="0">
                <a:latin typeface="Arial Black" panose="020B0A04020102020204" pitchFamily="34" charset="0"/>
              </a:rPr>
              <a:t>Class </a:t>
            </a:r>
            <a:r>
              <a:rPr lang="en-US" dirty="0">
                <a:latin typeface="Arial Black" panose="020B0A04020102020204" pitchFamily="34" charset="0"/>
              </a:rPr>
              <a:t>E addresses were reserved for experimental use, ensuring that there was room for growth and new technologies</a:t>
            </a:r>
            <a:r>
              <a:rPr lang="en-US" dirty="0" smtClean="0">
                <a:latin typeface="Arial Black" panose="020B0A04020102020204" pitchFamily="34" charset="0"/>
              </a:rPr>
              <a:t>.</a:t>
            </a:r>
          </a:p>
          <a:p>
            <a:r>
              <a:rPr lang="en-US" dirty="0" smtClean="0">
                <a:solidFill>
                  <a:srgbClr val="FF0000"/>
                </a:solidFill>
                <a:latin typeface="Arial Black" panose="020B0A04020102020204" pitchFamily="34" charset="0"/>
              </a:rPr>
              <a:t>Outcome</a:t>
            </a:r>
            <a:r>
              <a:rPr lang="en-US" dirty="0">
                <a:solidFill>
                  <a:srgbClr val="FF0000"/>
                </a:solidFill>
                <a:latin typeface="Arial Black" panose="020B0A04020102020204" pitchFamily="34" charset="0"/>
              </a:rPr>
              <a:t>:</a:t>
            </a:r>
            <a:r>
              <a:rPr lang="en-US" dirty="0">
                <a:latin typeface="Arial Black" panose="020B0A04020102020204" pitchFamily="34" charset="0"/>
              </a:rPr>
              <a:t> This categorization allowed the internet to support different types of data transmission, like broadcasting to multiple recipients, which is important for applications like streaming and conferencing.</a:t>
            </a:r>
            <a:endParaRPr lang="en-US"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10</a:t>
            </a:fld>
            <a:endParaRPr lang="en-US" dirty="0"/>
          </a:p>
        </p:txBody>
      </p:sp>
    </p:spTree>
    <p:extLst>
      <p:ext uri="{BB962C8B-B14F-4D97-AF65-F5344CB8AC3E}">
        <p14:creationId xmlns:p14="http://schemas.microsoft.com/office/powerpoint/2010/main" val="3732239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1165122" y="265471"/>
            <a:ext cx="7534656" cy="914400"/>
          </a:xfrm>
        </p:spPr>
        <p:txBody>
          <a:bodyPr/>
          <a:lstStyle/>
          <a:p>
            <a:pPr algn="ctr"/>
            <a:r>
              <a:rPr lang="en-US" dirty="0" smtClean="0">
                <a:latin typeface="Arial Black" panose="020B0A04020102020204" pitchFamily="34" charset="0"/>
              </a:rPr>
              <a:t>Classes of an IPV4 </a:t>
            </a:r>
            <a:r>
              <a:rPr lang="en-US" dirty="0">
                <a:latin typeface="Arial Black" panose="020B0A04020102020204" pitchFamily="34" charset="0"/>
              </a:rPr>
              <a:t>Address</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530941" y="1331189"/>
            <a:ext cx="11238271" cy="4037224"/>
          </a:xfrm>
        </p:spPr>
        <p:txBody>
          <a:bodyPr/>
          <a:lstStyle/>
          <a:p>
            <a:r>
              <a:rPr lang="en-US" dirty="0" smtClean="0">
                <a:solidFill>
                  <a:srgbClr val="FF0000"/>
                </a:solidFill>
                <a:latin typeface="Arial Black" panose="020B0A04020102020204" pitchFamily="34" charset="0"/>
              </a:rPr>
              <a:t>Class </a:t>
            </a:r>
            <a:r>
              <a:rPr lang="en-US" dirty="0">
                <a:solidFill>
                  <a:srgbClr val="FF0000"/>
                </a:solidFill>
                <a:latin typeface="Arial Black" panose="020B0A04020102020204" pitchFamily="34" charset="0"/>
              </a:rPr>
              <a:t>A</a:t>
            </a:r>
            <a:r>
              <a:rPr lang="en-US" dirty="0" smtClean="0">
                <a:solidFill>
                  <a:srgbClr val="FF0000"/>
                </a:solidFill>
                <a:latin typeface="Arial Black" panose="020B0A04020102020204" pitchFamily="34" charset="0"/>
              </a:rPr>
              <a:t>:</a:t>
            </a:r>
          </a:p>
          <a:p>
            <a:pPr lvl="1"/>
            <a:r>
              <a:rPr lang="en-US" dirty="0" smtClean="0">
                <a:latin typeface="Arial Black" panose="020B0A04020102020204" pitchFamily="34" charset="0"/>
              </a:rPr>
              <a:t>First </a:t>
            </a:r>
            <a:r>
              <a:rPr lang="en-US" dirty="0">
                <a:latin typeface="Arial Black" panose="020B0A04020102020204" pitchFamily="34" charset="0"/>
              </a:rPr>
              <a:t>Octet Range: 1.0.0.0 to </a:t>
            </a:r>
            <a:r>
              <a:rPr lang="en-US" dirty="0" smtClean="0">
                <a:latin typeface="Arial Black" panose="020B0A04020102020204" pitchFamily="34" charset="0"/>
              </a:rPr>
              <a:t>126.0.0.0</a:t>
            </a:r>
          </a:p>
          <a:p>
            <a:pPr lvl="1"/>
            <a:r>
              <a:rPr lang="en-US" dirty="0" smtClean="0">
                <a:latin typeface="Arial Black" panose="020B0A04020102020204" pitchFamily="34" charset="0"/>
              </a:rPr>
              <a:t>Default </a:t>
            </a:r>
            <a:r>
              <a:rPr lang="en-US" dirty="0">
                <a:latin typeface="Arial Black" panose="020B0A04020102020204" pitchFamily="34" charset="0"/>
              </a:rPr>
              <a:t>Subnet Mask: </a:t>
            </a:r>
            <a:r>
              <a:rPr lang="en-US" dirty="0" smtClean="0">
                <a:latin typeface="Arial Black" panose="020B0A04020102020204" pitchFamily="34" charset="0"/>
              </a:rPr>
              <a:t>255.0.0.0</a:t>
            </a:r>
          </a:p>
          <a:p>
            <a:pPr lvl="1"/>
            <a:r>
              <a:rPr lang="en-US" dirty="0" smtClean="0">
                <a:latin typeface="Arial Black" panose="020B0A04020102020204" pitchFamily="34" charset="0"/>
              </a:rPr>
              <a:t>Network </a:t>
            </a:r>
            <a:r>
              <a:rPr lang="en-US" dirty="0">
                <a:latin typeface="Arial Black" panose="020B0A04020102020204" pitchFamily="34" charset="0"/>
              </a:rPr>
              <a:t>ID Bits: 8 </a:t>
            </a:r>
            <a:r>
              <a:rPr lang="en-US" dirty="0" smtClean="0">
                <a:latin typeface="Arial Black" panose="020B0A04020102020204" pitchFamily="34" charset="0"/>
              </a:rPr>
              <a:t>bits</a:t>
            </a:r>
          </a:p>
          <a:p>
            <a:pPr lvl="1"/>
            <a:r>
              <a:rPr lang="en-US" dirty="0" smtClean="0">
                <a:latin typeface="Arial Black" panose="020B0A04020102020204" pitchFamily="34" charset="0"/>
              </a:rPr>
              <a:t>Host </a:t>
            </a:r>
            <a:r>
              <a:rPr lang="en-US" dirty="0">
                <a:latin typeface="Arial Black" panose="020B0A04020102020204" pitchFamily="34" charset="0"/>
              </a:rPr>
              <a:t>ID Bits: 24 </a:t>
            </a:r>
            <a:r>
              <a:rPr lang="en-US" dirty="0" smtClean="0">
                <a:latin typeface="Arial Black" panose="020B0A04020102020204" pitchFamily="34" charset="0"/>
              </a:rPr>
              <a:t>bits</a:t>
            </a:r>
          </a:p>
          <a:p>
            <a:pPr lvl="1"/>
            <a:r>
              <a:rPr lang="en-US" dirty="0" smtClean="0">
                <a:latin typeface="Arial Black" panose="020B0A04020102020204" pitchFamily="34" charset="0"/>
              </a:rPr>
              <a:t>Total </a:t>
            </a:r>
            <a:r>
              <a:rPr lang="en-US" dirty="0">
                <a:latin typeface="Arial Black" panose="020B0A04020102020204" pitchFamily="34" charset="0"/>
              </a:rPr>
              <a:t>Networks: 2^7 = 128 (but only 126 are usable because 0.0.0.0 and 127.0.0.0 are reserved</a:t>
            </a:r>
            <a:r>
              <a:rPr lang="en-US" dirty="0" smtClean="0">
                <a:latin typeface="Arial Black" panose="020B0A04020102020204" pitchFamily="34" charset="0"/>
              </a:rPr>
              <a:t>)</a:t>
            </a:r>
          </a:p>
          <a:p>
            <a:pPr lvl="1"/>
            <a:r>
              <a:rPr lang="en-US" dirty="0" smtClean="0">
                <a:latin typeface="Arial Black" panose="020B0A04020102020204" pitchFamily="34" charset="0"/>
              </a:rPr>
              <a:t>Total </a:t>
            </a:r>
            <a:r>
              <a:rPr lang="en-US" dirty="0">
                <a:latin typeface="Arial Black" panose="020B0A04020102020204" pitchFamily="34" charset="0"/>
              </a:rPr>
              <a:t>Hosts per Network: 2^24 - 2 = </a:t>
            </a:r>
            <a:r>
              <a:rPr lang="en-US" dirty="0" smtClean="0">
                <a:latin typeface="Arial Black" panose="020B0A04020102020204" pitchFamily="34" charset="0"/>
              </a:rPr>
              <a:t>16,777,214</a:t>
            </a:r>
          </a:p>
          <a:p>
            <a:pPr lvl="1"/>
            <a:r>
              <a:rPr lang="en-US" dirty="0" smtClean="0">
                <a:latin typeface="Arial Black" panose="020B0A04020102020204" pitchFamily="34" charset="0"/>
              </a:rPr>
              <a:t>Use </a:t>
            </a:r>
            <a:r>
              <a:rPr lang="en-US" dirty="0">
                <a:latin typeface="Arial Black" panose="020B0A04020102020204" pitchFamily="34" charset="0"/>
              </a:rPr>
              <a:t>Case: Large networks with many devices (e.g., large organizations</a:t>
            </a:r>
            <a:r>
              <a:rPr lang="en-US" dirty="0" smtClean="0">
                <a:latin typeface="Arial Black" panose="020B0A04020102020204" pitchFamily="34" charset="0"/>
              </a:rPr>
              <a:t>).</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11</a:t>
            </a:fld>
            <a:endParaRPr lang="en-US" dirty="0"/>
          </a:p>
        </p:txBody>
      </p:sp>
    </p:spTree>
    <p:extLst>
      <p:ext uri="{BB962C8B-B14F-4D97-AF65-F5344CB8AC3E}">
        <p14:creationId xmlns:p14="http://schemas.microsoft.com/office/powerpoint/2010/main" val="521780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1165122" y="265471"/>
            <a:ext cx="7534656" cy="914400"/>
          </a:xfrm>
        </p:spPr>
        <p:txBody>
          <a:bodyPr/>
          <a:lstStyle/>
          <a:p>
            <a:pPr algn="ctr"/>
            <a:r>
              <a:rPr lang="en-US" dirty="0" smtClean="0">
                <a:latin typeface="Arial Black" panose="020B0A04020102020204" pitchFamily="34" charset="0"/>
              </a:rPr>
              <a:t>Classes of an IPV4 </a:t>
            </a:r>
            <a:r>
              <a:rPr lang="en-US" dirty="0">
                <a:latin typeface="Arial Black" panose="020B0A04020102020204" pitchFamily="34" charset="0"/>
              </a:rPr>
              <a:t>Address</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530941" y="1331189"/>
            <a:ext cx="11238271" cy="4037224"/>
          </a:xfrm>
        </p:spPr>
        <p:txBody>
          <a:bodyPr/>
          <a:lstStyle/>
          <a:p>
            <a:r>
              <a:rPr lang="en-US" dirty="0" smtClean="0">
                <a:solidFill>
                  <a:srgbClr val="FF0000"/>
                </a:solidFill>
                <a:latin typeface="Arial Black" panose="020B0A04020102020204" pitchFamily="34" charset="0"/>
              </a:rPr>
              <a:t>Class B:</a:t>
            </a:r>
          </a:p>
          <a:p>
            <a:pPr lvl="1"/>
            <a:r>
              <a:rPr lang="en-US" dirty="0">
                <a:latin typeface="Arial Black" panose="020B0A04020102020204" pitchFamily="34" charset="0"/>
              </a:rPr>
              <a:t>First Octet Range: 128.0.0.0 to </a:t>
            </a:r>
            <a:r>
              <a:rPr lang="en-US" dirty="0" smtClean="0">
                <a:latin typeface="Arial Black" panose="020B0A04020102020204" pitchFamily="34" charset="0"/>
              </a:rPr>
              <a:t>191.255.0.0</a:t>
            </a:r>
          </a:p>
          <a:p>
            <a:pPr lvl="1"/>
            <a:r>
              <a:rPr lang="en-US" dirty="0" smtClean="0">
                <a:latin typeface="Arial Black" panose="020B0A04020102020204" pitchFamily="34" charset="0"/>
              </a:rPr>
              <a:t>Default </a:t>
            </a:r>
            <a:r>
              <a:rPr lang="en-US" dirty="0">
                <a:latin typeface="Arial Black" panose="020B0A04020102020204" pitchFamily="34" charset="0"/>
              </a:rPr>
              <a:t>Subnet Mask: </a:t>
            </a:r>
            <a:r>
              <a:rPr lang="en-US" dirty="0" smtClean="0">
                <a:latin typeface="Arial Black" panose="020B0A04020102020204" pitchFamily="34" charset="0"/>
              </a:rPr>
              <a:t>255.255.0.0</a:t>
            </a:r>
          </a:p>
          <a:p>
            <a:pPr lvl="1"/>
            <a:r>
              <a:rPr lang="en-US" dirty="0" smtClean="0">
                <a:latin typeface="Arial Black" panose="020B0A04020102020204" pitchFamily="34" charset="0"/>
              </a:rPr>
              <a:t>Network </a:t>
            </a:r>
            <a:r>
              <a:rPr lang="en-US" dirty="0">
                <a:latin typeface="Arial Black" panose="020B0A04020102020204" pitchFamily="34" charset="0"/>
              </a:rPr>
              <a:t>ID Bits: 16 </a:t>
            </a:r>
            <a:r>
              <a:rPr lang="en-US" dirty="0" smtClean="0">
                <a:latin typeface="Arial Black" panose="020B0A04020102020204" pitchFamily="34" charset="0"/>
              </a:rPr>
              <a:t>bits</a:t>
            </a:r>
          </a:p>
          <a:p>
            <a:pPr lvl="1"/>
            <a:r>
              <a:rPr lang="en-US" dirty="0" smtClean="0">
                <a:latin typeface="Arial Black" panose="020B0A04020102020204" pitchFamily="34" charset="0"/>
              </a:rPr>
              <a:t>Host </a:t>
            </a:r>
            <a:r>
              <a:rPr lang="en-US" dirty="0">
                <a:latin typeface="Arial Black" panose="020B0A04020102020204" pitchFamily="34" charset="0"/>
              </a:rPr>
              <a:t>ID Bits: 16 </a:t>
            </a:r>
            <a:r>
              <a:rPr lang="en-US" dirty="0" smtClean="0">
                <a:latin typeface="Arial Black" panose="020B0A04020102020204" pitchFamily="34" charset="0"/>
              </a:rPr>
              <a:t>bits</a:t>
            </a:r>
          </a:p>
          <a:p>
            <a:pPr lvl="1"/>
            <a:r>
              <a:rPr lang="en-US" dirty="0" smtClean="0">
                <a:latin typeface="Arial Black" panose="020B0A04020102020204" pitchFamily="34" charset="0"/>
              </a:rPr>
              <a:t>Total </a:t>
            </a:r>
            <a:r>
              <a:rPr lang="en-US" dirty="0">
                <a:latin typeface="Arial Black" panose="020B0A04020102020204" pitchFamily="34" charset="0"/>
              </a:rPr>
              <a:t>Networks: 2^14 = 16,384Total Hosts per Network: 2^16 - 2 = </a:t>
            </a:r>
            <a:r>
              <a:rPr lang="en-US" dirty="0" smtClean="0">
                <a:latin typeface="Arial Black" panose="020B0A04020102020204" pitchFamily="34" charset="0"/>
              </a:rPr>
              <a:t>65,534</a:t>
            </a:r>
          </a:p>
          <a:p>
            <a:pPr lvl="1"/>
            <a:r>
              <a:rPr lang="en-US" dirty="0" smtClean="0">
                <a:latin typeface="Arial Black" panose="020B0A04020102020204" pitchFamily="34" charset="0"/>
              </a:rPr>
              <a:t>Use </a:t>
            </a:r>
            <a:r>
              <a:rPr lang="en-US" dirty="0">
                <a:latin typeface="Arial Black" panose="020B0A04020102020204" pitchFamily="34" charset="0"/>
              </a:rPr>
              <a:t>Case: Medium-sized networks (e.g., universities, enterprises).</a:t>
            </a:r>
            <a:endParaRPr lang="en-US"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12</a:t>
            </a:fld>
            <a:endParaRPr lang="en-US" dirty="0"/>
          </a:p>
        </p:txBody>
      </p:sp>
    </p:spTree>
    <p:extLst>
      <p:ext uri="{BB962C8B-B14F-4D97-AF65-F5344CB8AC3E}">
        <p14:creationId xmlns:p14="http://schemas.microsoft.com/office/powerpoint/2010/main" val="3275966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1165122" y="265471"/>
            <a:ext cx="7534656" cy="914400"/>
          </a:xfrm>
        </p:spPr>
        <p:txBody>
          <a:bodyPr/>
          <a:lstStyle/>
          <a:p>
            <a:pPr algn="ctr"/>
            <a:r>
              <a:rPr lang="en-US" dirty="0" smtClean="0">
                <a:latin typeface="Arial Black" panose="020B0A04020102020204" pitchFamily="34" charset="0"/>
              </a:rPr>
              <a:t>Classes of an IPV4 </a:t>
            </a:r>
            <a:r>
              <a:rPr lang="en-US" dirty="0">
                <a:latin typeface="Arial Black" panose="020B0A04020102020204" pitchFamily="34" charset="0"/>
              </a:rPr>
              <a:t>Address</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530941" y="1331189"/>
            <a:ext cx="11238271" cy="4037224"/>
          </a:xfrm>
        </p:spPr>
        <p:txBody>
          <a:bodyPr/>
          <a:lstStyle/>
          <a:p>
            <a:r>
              <a:rPr lang="en-US" dirty="0" smtClean="0">
                <a:solidFill>
                  <a:srgbClr val="FF0000"/>
                </a:solidFill>
                <a:latin typeface="Arial Black" panose="020B0A04020102020204" pitchFamily="34" charset="0"/>
              </a:rPr>
              <a:t>Class C:</a:t>
            </a:r>
          </a:p>
          <a:p>
            <a:pPr lvl="1"/>
            <a:r>
              <a:rPr lang="en-US" dirty="0">
                <a:latin typeface="Arial Black" panose="020B0A04020102020204" pitchFamily="34" charset="0"/>
              </a:rPr>
              <a:t>First Octet Range: 192.0.0.0 to </a:t>
            </a:r>
            <a:r>
              <a:rPr lang="en-US" dirty="0" smtClean="0">
                <a:latin typeface="Arial Black" panose="020B0A04020102020204" pitchFamily="34" charset="0"/>
              </a:rPr>
              <a:t>223.255.255.0</a:t>
            </a:r>
          </a:p>
          <a:p>
            <a:pPr lvl="1"/>
            <a:r>
              <a:rPr lang="en-US" dirty="0" smtClean="0">
                <a:latin typeface="Arial Black" panose="020B0A04020102020204" pitchFamily="34" charset="0"/>
              </a:rPr>
              <a:t>Default </a:t>
            </a:r>
            <a:r>
              <a:rPr lang="en-US" dirty="0">
                <a:latin typeface="Arial Black" panose="020B0A04020102020204" pitchFamily="34" charset="0"/>
              </a:rPr>
              <a:t>Subnet Mask: </a:t>
            </a:r>
            <a:r>
              <a:rPr lang="en-US" dirty="0" smtClean="0">
                <a:latin typeface="Arial Black" panose="020B0A04020102020204" pitchFamily="34" charset="0"/>
              </a:rPr>
              <a:t>255.255.255.0</a:t>
            </a:r>
          </a:p>
          <a:p>
            <a:pPr lvl="1"/>
            <a:r>
              <a:rPr lang="en-US" dirty="0" smtClean="0">
                <a:latin typeface="Arial Black" panose="020B0A04020102020204" pitchFamily="34" charset="0"/>
              </a:rPr>
              <a:t>Network </a:t>
            </a:r>
            <a:r>
              <a:rPr lang="en-US" dirty="0">
                <a:latin typeface="Arial Black" panose="020B0A04020102020204" pitchFamily="34" charset="0"/>
              </a:rPr>
              <a:t>ID Bits: 24 </a:t>
            </a:r>
            <a:r>
              <a:rPr lang="en-US" dirty="0" smtClean="0">
                <a:latin typeface="Arial Black" panose="020B0A04020102020204" pitchFamily="34" charset="0"/>
              </a:rPr>
              <a:t>bits</a:t>
            </a:r>
          </a:p>
          <a:p>
            <a:pPr lvl="1"/>
            <a:r>
              <a:rPr lang="en-US" dirty="0" smtClean="0">
                <a:latin typeface="Arial Black" panose="020B0A04020102020204" pitchFamily="34" charset="0"/>
              </a:rPr>
              <a:t>Host </a:t>
            </a:r>
            <a:r>
              <a:rPr lang="en-US" dirty="0">
                <a:latin typeface="Arial Black" panose="020B0A04020102020204" pitchFamily="34" charset="0"/>
              </a:rPr>
              <a:t>ID Bits: 8 </a:t>
            </a:r>
            <a:r>
              <a:rPr lang="en-US" dirty="0" smtClean="0">
                <a:latin typeface="Arial Black" panose="020B0A04020102020204" pitchFamily="34" charset="0"/>
              </a:rPr>
              <a:t>bits</a:t>
            </a:r>
          </a:p>
          <a:p>
            <a:pPr lvl="1"/>
            <a:r>
              <a:rPr lang="en-US" dirty="0" smtClean="0">
                <a:latin typeface="Arial Black" panose="020B0A04020102020204" pitchFamily="34" charset="0"/>
              </a:rPr>
              <a:t>Total </a:t>
            </a:r>
            <a:r>
              <a:rPr lang="en-US" dirty="0">
                <a:latin typeface="Arial Black" panose="020B0A04020102020204" pitchFamily="34" charset="0"/>
              </a:rPr>
              <a:t>Networks: 2^21 = 2,097,152Total Hosts per Network: 2^8 - 2 = </a:t>
            </a:r>
            <a:r>
              <a:rPr lang="en-US" dirty="0" smtClean="0">
                <a:latin typeface="Arial Black" panose="020B0A04020102020204" pitchFamily="34" charset="0"/>
              </a:rPr>
              <a:t>254</a:t>
            </a:r>
          </a:p>
          <a:p>
            <a:pPr lvl="1"/>
            <a:r>
              <a:rPr lang="en-US" dirty="0" smtClean="0">
                <a:latin typeface="Arial Black" panose="020B0A04020102020204" pitchFamily="34" charset="0"/>
              </a:rPr>
              <a:t>Use </a:t>
            </a:r>
            <a:r>
              <a:rPr lang="en-US" dirty="0">
                <a:latin typeface="Arial Black" panose="020B0A04020102020204" pitchFamily="34" charset="0"/>
              </a:rPr>
              <a:t>Case: Small networks (e.g., small businesses, home networks).</a:t>
            </a:r>
            <a:endParaRPr lang="en-US"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13</a:t>
            </a:fld>
            <a:endParaRPr lang="en-US" dirty="0"/>
          </a:p>
        </p:txBody>
      </p:sp>
    </p:spTree>
    <p:extLst>
      <p:ext uri="{BB962C8B-B14F-4D97-AF65-F5344CB8AC3E}">
        <p14:creationId xmlns:p14="http://schemas.microsoft.com/office/powerpoint/2010/main" val="1968938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1165122" y="265471"/>
            <a:ext cx="7534656" cy="914400"/>
          </a:xfrm>
        </p:spPr>
        <p:txBody>
          <a:bodyPr/>
          <a:lstStyle/>
          <a:p>
            <a:pPr algn="ctr"/>
            <a:r>
              <a:rPr lang="en-US" dirty="0" smtClean="0">
                <a:latin typeface="Arial Black" panose="020B0A04020102020204" pitchFamily="34" charset="0"/>
              </a:rPr>
              <a:t>Classes of an IPV4 </a:t>
            </a:r>
            <a:r>
              <a:rPr lang="en-US" dirty="0">
                <a:latin typeface="Arial Black" panose="020B0A04020102020204" pitchFamily="34" charset="0"/>
              </a:rPr>
              <a:t>Address</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530941" y="1331189"/>
            <a:ext cx="11238271" cy="4037224"/>
          </a:xfrm>
        </p:spPr>
        <p:txBody>
          <a:bodyPr/>
          <a:lstStyle/>
          <a:p>
            <a:r>
              <a:rPr lang="en-US" dirty="0" smtClean="0">
                <a:solidFill>
                  <a:srgbClr val="FF0000"/>
                </a:solidFill>
                <a:latin typeface="Arial Black" panose="020B0A04020102020204" pitchFamily="34" charset="0"/>
              </a:rPr>
              <a:t>Class D:</a:t>
            </a:r>
          </a:p>
          <a:p>
            <a:pPr lvl="1"/>
            <a:r>
              <a:rPr lang="en-US" dirty="0">
                <a:latin typeface="Arial Black" panose="020B0A04020102020204" pitchFamily="34" charset="0"/>
              </a:rPr>
              <a:t>First Octet Range: 224.0.0.0 to </a:t>
            </a:r>
            <a:r>
              <a:rPr lang="en-US" dirty="0" smtClean="0">
                <a:latin typeface="Arial Black" panose="020B0A04020102020204" pitchFamily="34" charset="0"/>
              </a:rPr>
              <a:t>239.255.255.255</a:t>
            </a:r>
          </a:p>
          <a:p>
            <a:pPr lvl="1"/>
            <a:r>
              <a:rPr lang="en-US" dirty="0" smtClean="0">
                <a:latin typeface="Arial Black" panose="020B0A04020102020204" pitchFamily="34" charset="0"/>
              </a:rPr>
              <a:t>Use </a:t>
            </a:r>
            <a:r>
              <a:rPr lang="en-US" dirty="0">
                <a:latin typeface="Arial Black" panose="020B0A04020102020204" pitchFamily="34" charset="0"/>
              </a:rPr>
              <a:t>Case: Used for multicasting; IP addresses in this range are not assigned to individual devices but to groups of devices</a:t>
            </a:r>
            <a:r>
              <a:rPr lang="en-US" dirty="0" smtClean="0">
                <a:latin typeface="Arial Black" panose="020B0A04020102020204" pitchFamily="34" charset="0"/>
              </a:rPr>
              <a:t>.</a:t>
            </a:r>
          </a:p>
          <a:p>
            <a:pPr marL="457200" lvl="1" indent="0">
              <a:buNone/>
            </a:pPr>
            <a:endParaRPr lang="en-US" dirty="0" smtClean="0">
              <a:latin typeface="Arial Black" panose="020B0A04020102020204" pitchFamily="34" charset="0"/>
            </a:endParaRPr>
          </a:p>
          <a:p>
            <a:r>
              <a:rPr lang="en-US" dirty="0">
                <a:solidFill>
                  <a:srgbClr val="FF0000"/>
                </a:solidFill>
                <a:latin typeface="Arial Black" panose="020B0A04020102020204" pitchFamily="34" charset="0"/>
              </a:rPr>
              <a:t>Class </a:t>
            </a:r>
            <a:r>
              <a:rPr lang="en-US" dirty="0" smtClean="0">
                <a:solidFill>
                  <a:srgbClr val="FF0000"/>
                </a:solidFill>
                <a:latin typeface="Arial Black" panose="020B0A04020102020204" pitchFamily="34" charset="0"/>
              </a:rPr>
              <a:t>E:</a:t>
            </a:r>
          </a:p>
          <a:p>
            <a:pPr lvl="1"/>
            <a:r>
              <a:rPr lang="en-US" dirty="0">
                <a:latin typeface="Arial Black" panose="020B0A04020102020204" pitchFamily="34" charset="0"/>
              </a:rPr>
              <a:t>First Octet Range: 240.0.0.0 to </a:t>
            </a:r>
            <a:r>
              <a:rPr lang="en-US" dirty="0" smtClean="0">
                <a:latin typeface="Arial Black" panose="020B0A04020102020204" pitchFamily="34" charset="0"/>
              </a:rPr>
              <a:t>255.255.255.255</a:t>
            </a:r>
          </a:p>
          <a:p>
            <a:pPr lvl="1"/>
            <a:r>
              <a:rPr lang="en-US" dirty="0" smtClean="0">
                <a:latin typeface="Arial Black" panose="020B0A04020102020204" pitchFamily="34" charset="0"/>
              </a:rPr>
              <a:t>Use </a:t>
            </a:r>
            <a:r>
              <a:rPr lang="en-US" dirty="0">
                <a:latin typeface="Arial Black" panose="020B0A04020102020204" pitchFamily="34" charset="0"/>
              </a:rPr>
              <a:t>Case: Reserved for experimental purposes and is not used in general networking.</a:t>
            </a:r>
          </a:p>
          <a:p>
            <a:endParaRPr lang="en-US"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14</a:t>
            </a:fld>
            <a:endParaRPr lang="en-US" dirty="0"/>
          </a:p>
        </p:txBody>
      </p:sp>
    </p:spTree>
    <p:extLst>
      <p:ext uri="{BB962C8B-B14F-4D97-AF65-F5344CB8AC3E}">
        <p14:creationId xmlns:p14="http://schemas.microsoft.com/office/powerpoint/2010/main" val="3002155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1165122" y="265471"/>
            <a:ext cx="7534656" cy="914400"/>
          </a:xfrm>
        </p:spPr>
        <p:txBody>
          <a:bodyPr/>
          <a:lstStyle/>
          <a:p>
            <a:pPr algn="ctr"/>
            <a:r>
              <a:rPr lang="en-US" dirty="0" smtClean="0">
                <a:latin typeface="Arial Black" panose="020B0A04020102020204" pitchFamily="34" charset="0"/>
              </a:rPr>
              <a:t>What is Subnet Mask</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530941" y="1331188"/>
            <a:ext cx="11238271" cy="4405935"/>
          </a:xfrm>
        </p:spPr>
        <p:txBody>
          <a:bodyPr/>
          <a:lstStyle/>
          <a:p>
            <a:pPr lvl="1"/>
            <a:r>
              <a:rPr lang="en-US" dirty="0" smtClean="0">
                <a:latin typeface="Arial Black" panose="020B0A04020102020204" pitchFamily="34" charset="0"/>
              </a:rPr>
              <a:t>A </a:t>
            </a:r>
            <a:r>
              <a:rPr lang="en-US" dirty="0">
                <a:latin typeface="Arial Black" panose="020B0A04020102020204" pitchFamily="34" charset="0"/>
              </a:rPr>
              <a:t>subnet mask is a 32-bit number used in IP networks to divide an IP address into two parts: </a:t>
            </a:r>
            <a:endParaRPr lang="en-US" dirty="0" smtClean="0">
              <a:latin typeface="Arial Black" panose="020B0A04020102020204" pitchFamily="34" charset="0"/>
            </a:endParaRPr>
          </a:p>
          <a:p>
            <a:pPr lvl="2"/>
            <a:r>
              <a:rPr lang="en-US" dirty="0" smtClean="0">
                <a:latin typeface="Arial Black" panose="020B0A04020102020204" pitchFamily="34" charset="0"/>
              </a:rPr>
              <a:t>the </a:t>
            </a:r>
            <a:r>
              <a:rPr lang="en-US" dirty="0">
                <a:latin typeface="Arial Black" panose="020B0A04020102020204" pitchFamily="34" charset="0"/>
              </a:rPr>
              <a:t>network ID and the host ID. </a:t>
            </a:r>
            <a:endParaRPr lang="en-US" dirty="0" smtClean="0">
              <a:latin typeface="Arial Black" panose="020B0A04020102020204" pitchFamily="34" charset="0"/>
            </a:endParaRPr>
          </a:p>
          <a:p>
            <a:pPr lvl="1"/>
            <a:r>
              <a:rPr lang="en-US" dirty="0" smtClean="0">
                <a:latin typeface="Arial Black" panose="020B0A04020102020204" pitchFamily="34" charset="0"/>
              </a:rPr>
              <a:t>The </a:t>
            </a:r>
            <a:r>
              <a:rPr lang="en-US" dirty="0">
                <a:latin typeface="Arial Black" panose="020B0A04020102020204" pitchFamily="34" charset="0"/>
              </a:rPr>
              <a:t>subnet mask helps determine which portion of the IP address identifies the network and which portion identifies the specific device (host) within that network</a:t>
            </a:r>
            <a:r>
              <a:rPr lang="en-US" dirty="0" smtClean="0">
                <a:latin typeface="Arial Black" panose="020B0A04020102020204" pitchFamily="34" charset="0"/>
              </a:rPr>
              <a:t>.</a:t>
            </a:r>
          </a:p>
          <a:p>
            <a:pPr lvl="1"/>
            <a:r>
              <a:rPr lang="en-US" dirty="0">
                <a:latin typeface="Arial Black" panose="020B0A04020102020204" pitchFamily="34" charset="0"/>
              </a:rPr>
              <a:t> Routers use the subnet mask to route traffic to the correct network</a:t>
            </a:r>
          </a:p>
          <a:p>
            <a:pPr lvl="1"/>
            <a:r>
              <a:rPr lang="en-US" dirty="0">
                <a:latin typeface="Arial Black" panose="020B0A04020102020204" pitchFamily="34" charset="0"/>
              </a:rPr>
              <a:t>Like an IP address, a subnet mask is also written in the dotted-decimal format, e.g., 255.255.255.0</a:t>
            </a:r>
            <a:r>
              <a:rPr lang="en-US" dirty="0" smtClean="0">
                <a:latin typeface="Arial Black" panose="020B0A04020102020204" pitchFamily="34" charset="0"/>
              </a:rPr>
              <a:t>.</a:t>
            </a:r>
          </a:p>
          <a:p>
            <a:pPr lvl="1"/>
            <a:r>
              <a:rPr lang="en-US" dirty="0" smtClean="0">
                <a:latin typeface="Arial Black" panose="020B0A04020102020204" pitchFamily="34" charset="0"/>
              </a:rPr>
              <a:t>The </a:t>
            </a:r>
            <a:r>
              <a:rPr lang="en-US" dirty="0">
                <a:latin typeface="Arial Black" panose="020B0A04020102020204" pitchFamily="34" charset="0"/>
              </a:rPr>
              <a:t>subnet mask has a series of consecutive 1 bits followed by a series of 0 bits</a:t>
            </a:r>
            <a:r>
              <a:rPr lang="en-US" dirty="0" smtClean="0">
                <a:latin typeface="Arial Black" panose="020B0A04020102020204" pitchFamily="34" charset="0"/>
              </a:rPr>
              <a:t>.</a:t>
            </a:r>
          </a:p>
          <a:p>
            <a:pPr lvl="1"/>
            <a:r>
              <a:rPr lang="en-US" dirty="0" smtClean="0">
                <a:latin typeface="Arial Black" panose="020B0A04020102020204" pitchFamily="34" charset="0"/>
              </a:rPr>
              <a:t>The </a:t>
            </a:r>
            <a:r>
              <a:rPr lang="en-US" dirty="0">
                <a:latin typeface="Arial Black" panose="020B0A04020102020204" pitchFamily="34" charset="0"/>
              </a:rPr>
              <a:t>1 bits represent the network portion of the IP address</a:t>
            </a:r>
            <a:r>
              <a:rPr lang="en-US" dirty="0" smtClean="0">
                <a:latin typeface="Arial Black" panose="020B0A04020102020204" pitchFamily="34" charset="0"/>
              </a:rPr>
              <a:t>.</a:t>
            </a:r>
          </a:p>
          <a:p>
            <a:pPr lvl="1"/>
            <a:r>
              <a:rPr lang="en-US" dirty="0" smtClean="0">
                <a:latin typeface="Arial Black" panose="020B0A04020102020204" pitchFamily="34" charset="0"/>
              </a:rPr>
              <a:t>The </a:t>
            </a:r>
            <a:r>
              <a:rPr lang="en-US" dirty="0">
                <a:latin typeface="Arial Black" panose="020B0A04020102020204" pitchFamily="34" charset="0"/>
              </a:rPr>
              <a:t>0 bits represent the host portion.</a:t>
            </a:r>
            <a:endParaRPr lang="en-US"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15</a:t>
            </a:fld>
            <a:endParaRPr lang="en-US" dirty="0"/>
          </a:p>
        </p:txBody>
      </p:sp>
    </p:spTree>
    <p:extLst>
      <p:ext uri="{BB962C8B-B14F-4D97-AF65-F5344CB8AC3E}">
        <p14:creationId xmlns:p14="http://schemas.microsoft.com/office/powerpoint/2010/main" val="42236452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1165122" y="265471"/>
            <a:ext cx="7534656" cy="914400"/>
          </a:xfrm>
        </p:spPr>
        <p:txBody>
          <a:bodyPr/>
          <a:lstStyle/>
          <a:p>
            <a:pPr algn="ctr"/>
            <a:r>
              <a:rPr lang="en-US" dirty="0" smtClean="0">
                <a:latin typeface="Arial Black" panose="020B0A04020102020204" pitchFamily="34" charset="0"/>
              </a:rPr>
              <a:t>Network ID Vs Host ID</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530941" y="1331188"/>
            <a:ext cx="11238271" cy="4405935"/>
          </a:xfrm>
        </p:spPr>
        <p:txBody>
          <a:bodyPr/>
          <a:lstStyle/>
          <a:p>
            <a:r>
              <a:rPr lang="en-US" dirty="0">
                <a:solidFill>
                  <a:srgbClr val="FF0000"/>
                </a:solidFill>
                <a:latin typeface="Arial Black" panose="020B0A04020102020204" pitchFamily="34" charset="0"/>
              </a:rPr>
              <a:t>Network ID (Network Portion):</a:t>
            </a:r>
          </a:p>
          <a:p>
            <a:pPr lvl="1"/>
            <a:r>
              <a:rPr lang="en-US" dirty="0">
                <a:latin typeface="Arial Black" panose="020B0A04020102020204" pitchFamily="34" charset="0"/>
              </a:rPr>
              <a:t>Definition: The network ID is the portion of an IP address that identifies a specific network within a larger network (like the internet). It is derived by applying the subnet mask to the IP address</a:t>
            </a:r>
            <a:r>
              <a:rPr lang="en-US" dirty="0" smtClean="0">
                <a:latin typeface="Arial Black" panose="020B0A04020102020204" pitchFamily="34" charset="0"/>
              </a:rPr>
              <a:t>.</a:t>
            </a:r>
          </a:p>
          <a:p>
            <a:pPr lvl="1"/>
            <a:r>
              <a:rPr lang="en-US" dirty="0" smtClean="0">
                <a:latin typeface="Arial Black" panose="020B0A04020102020204" pitchFamily="34" charset="0"/>
              </a:rPr>
              <a:t>How </a:t>
            </a:r>
            <a:r>
              <a:rPr lang="en-US" dirty="0">
                <a:latin typeface="Arial Black" panose="020B0A04020102020204" pitchFamily="34" charset="0"/>
              </a:rPr>
              <a:t>it Works: When an IP address is logically </a:t>
            </a:r>
            <a:r>
              <a:rPr lang="en-US" dirty="0" err="1">
                <a:latin typeface="Arial Black" panose="020B0A04020102020204" pitchFamily="34" charset="0"/>
              </a:rPr>
              <a:t>ANDed</a:t>
            </a:r>
            <a:r>
              <a:rPr lang="en-US" dirty="0">
                <a:latin typeface="Arial Black" panose="020B0A04020102020204" pitchFamily="34" charset="0"/>
              </a:rPr>
              <a:t> with a subnet mask, the result is the network ID. For example, if the IP address is 192.168.1.10 and the subnet mask is 255.255.255.0, the network ID would be 192.168.1.0</a:t>
            </a:r>
            <a:r>
              <a:rPr lang="en-US" dirty="0" smtClean="0">
                <a:latin typeface="Arial Black" panose="020B0A04020102020204" pitchFamily="34" charset="0"/>
              </a:rPr>
              <a:t>.</a:t>
            </a:r>
          </a:p>
          <a:p>
            <a:pPr lvl="1"/>
            <a:r>
              <a:rPr lang="en-US" dirty="0" smtClean="0">
                <a:latin typeface="Arial Black" panose="020B0A04020102020204" pitchFamily="34" charset="0"/>
              </a:rPr>
              <a:t>Purpose</a:t>
            </a:r>
            <a:r>
              <a:rPr lang="en-US" dirty="0">
                <a:latin typeface="Arial Black" panose="020B0A04020102020204" pitchFamily="34" charset="0"/>
              </a:rPr>
              <a:t>: The network ID is used by routers to determine the path that data should take to reach the correct destination network.</a:t>
            </a:r>
            <a:endParaRPr lang="en-US"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16</a:t>
            </a:fld>
            <a:endParaRPr lang="en-US" dirty="0"/>
          </a:p>
        </p:txBody>
      </p:sp>
    </p:spTree>
    <p:extLst>
      <p:ext uri="{BB962C8B-B14F-4D97-AF65-F5344CB8AC3E}">
        <p14:creationId xmlns:p14="http://schemas.microsoft.com/office/powerpoint/2010/main" val="31706799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1165122" y="265471"/>
            <a:ext cx="7534656" cy="914400"/>
          </a:xfrm>
        </p:spPr>
        <p:txBody>
          <a:bodyPr/>
          <a:lstStyle/>
          <a:p>
            <a:pPr algn="ctr"/>
            <a:r>
              <a:rPr lang="en-US" dirty="0" smtClean="0">
                <a:latin typeface="Arial Black" panose="020B0A04020102020204" pitchFamily="34" charset="0"/>
              </a:rPr>
              <a:t>Network ID Vs Host ID</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530941" y="1331188"/>
            <a:ext cx="11238271" cy="4405935"/>
          </a:xfrm>
        </p:spPr>
        <p:txBody>
          <a:bodyPr/>
          <a:lstStyle/>
          <a:p>
            <a:r>
              <a:rPr lang="en-US" dirty="0" smtClean="0">
                <a:solidFill>
                  <a:srgbClr val="FF0000"/>
                </a:solidFill>
                <a:latin typeface="Arial Black" panose="020B0A04020102020204" pitchFamily="34" charset="0"/>
              </a:rPr>
              <a:t>Host </a:t>
            </a:r>
            <a:r>
              <a:rPr lang="en-US" dirty="0">
                <a:solidFill>
                  <a:srgbClr val="FF0000"/>
                </a:solidFill>
                <a:latin typeface="Arial Black" panose="020B0A04020102020204" pitchFamily="34" charset="0"/>
              </a:rPr>
              <a:t>ID </a:t>
            </a:r>
            <a:r>
              <a:rPr lang="en-US" dirty="0" smtClean="0">
                <a:solidFill>
                  <a:srgbClr val="FF0000"/>
                </a:solidFill>
                <a:latin typeface="Arial Black" panose="020B0A04020102020204" pitchFamily="34" charset="0"/>
              </a:rPr>
              <a:t>(Host </a:t>
            </a:r>
            <a:r>
              <a:rPr lang="en-US" dirty="0">
                <a:solidFill>
                  <a:srgbClr val="FF0000"/>
                </a:solidFill>
                <a:latin typeface="Arial Black" panose="020B0A04020102020204" pitchFamily="34" charset="0"/>
              </a:rPr>
              <a:t>Portion):</a:t>
            </a:r>
          </a:p>
          <a:p>
            <a:pPr lvl="1"/>
            <a:r>
              <a:rPr lang="en-US" dirty="0">
                <a:latin typeface="Arial Black" panose="020B0A04020102020204" pitchFamily="34" charset="0"/>
              </a:rPr>
              <a:t>Definition: The host ID is the part of the IP address that identifies a specific device (or host) on the network</a:t>
            </a:r>
            <a:r>
              <a:rPr lang="en-US" dirty="0" smtClean="0">
                <a:latin typeface="Arial Black" panose="020B0A04020102020204" pitchFamily="34" charset="0"/>
              </a:rPr>
              <a:t>.</a:t>
            </a:r>
          </a:p>
          <a:p>
            <a:pPr lvl="1"/>
            <a:r>
              <a:rPr lang="en-US" dirty="0" smtClean="0">
                <a:latin typeface="Arial Black" panose="020B0A04020102020204" pitchFamily="34" charset="0"/>
              </a:rPr>
              <a:t>How </a:t>
            </a:r>
            <a:r>
              <a:rPr lang="en-US" dirty="0">
                <a:latin typeface="Arial Black" panose="020B0A04020102020204" pitchFamily="34" charset="0"/>
              </a:rPr>
              <a:t>it Works: The host ID is determined by the bits of the IP address that are not covered by the subnet mask. Continuing with the previous example, 192.168.1.10 in the network 192.168.1.0 has a host ID of 10</a:t>
            </a:r>
            <a:r>
              <a:rPr lang="en-US" dirty="0" smtClean="0">
                <a:latin typeface="Arial Black" panose="020B0A04020102020204" pitchFamily="34" charset="0"/>
              </a:rPr>
              <a:t>.</a:t>
            </a:r>
          </a:p>
          <a:p>
            <a:pPr lvl="1"/>
            <a:r>
              <a:rPr lang="en-US" dirty="0" smtClean="0">
                <a:latin typeface="Arial Black" panose="020B0A04020102020204" pitchFamily="34" charset="0"/>
              </a:rPr>
              <a:t>Purpose</a:t>
            </a:r>
            <a:r>
              <a:rPr lang="en-US" dirty="0">
                <a:latin typeface="Arial Black" panose="020B0A04020102020204" pitchFamily="34" charset="0"/>
              </a:rPr>
              <a:t>: The host ID is unique within its network and is used to route data to the correct device within that network.</a:t>
            </a:r>
            <a:endParaRPr lang="en-US"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17</a:t>
            </a:fld>
            <a:endParaRPr lang="en-US" dirty="0"/>
          </a:p>
        </p:txBody>
      </p:sp>
    </p:spTree>
    <p:extLst>
      <p:ext uri="{BB962C8B-B14F-4D97-AF65-F5344CB8AC3E}">
        <p14:creationId xmlns:p14="http://schemas.microsoft.com/office/powerpoint/2010/main" val="2620927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1165122" y="265471"/>
            <a:ext cx="7534656" cy="914400"/>
          </a:xfrm>
        </p:spPr>
        <p:txBody>
          <a:bodyPr/>
          <a:lstStyle/>
          <a:p>
            <a:pPr algn="ctr"/>
            <a:r>
              <a:rPr lang="en-US" dirty="0" smtClean="0">
                <a:latin typeface="Arial Black" panose="020B0A04020102020204" pitchFamily="34" charset="0"/>
              </a:rPr>
              <a:t>Private &amp; Public IP Addresses</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530941" y="1331188"/>
            <a:ext cx="11238271" cy="4548615"/>
          </a:xfrm>
        </p:spPr>
        <p:txBody>
          <a:bodyPr>
            <a:normAutofit/>
          </a:bodyPr>
          <a:lstStyle/>
          <a:p>
            <a:r>
              <a:rPr lang="en-US" dirty="0" smtClean="0">
                <a:solidFill>
                  <a:srgbClr val="FF0000"/>
                </a:solidFill>
                <a:latin typeface="Arial Black" panose="020B0A04020102020204" pitchFamily="34" charset="0"/>
              </a:rPr>
              <a:t>Public IP Address:</a:t>
            </a:r>
          </a:p>
          <a:p>
            <a:pPr lvl="1"/>
            <a:r>
              <a:rPr lang="en-US" dirty="0">
                <a:latin typeface="Arial Black" panose="020B0A04020102020204" pitchFamily="34" charset="0"/>
              </a:rPr>
              <a:t>Assigned by the Internet Assigned Numbers Authority (IANA) and are unique across the entire internet. These are used for communication over the internet.</a:t>
            </a:r>
            <a:endParaRPr lang="en-US" dirty="0" smtClean="0">
              <a:latin typeface="Arial Black" panose="020B0A04020102020204" pitchFamily="34" charset="0"/>
            </a:endParaRPr>
          </a:p>
          <a:p>
            <a:r>
              <a:rPr lang="en-US" dirty="0" smtClean="0">
                <a:solidFill>
                  <a:srgbClr val="FF0000"/>
                </a:solidFill>
                <a:latin typeface="Arial Black" panose="020B0A04020102020204" pitchFamily="34" charset="0"/>
              </a:rPr>
              <a:t>Private IP Address:</a:t>
            </a:r>
          </a:p>
          <a:p>
            <a:pPr lvl="1"/>
            <a:r>
              <a:rPr lang="en-US" dirty="0">
                <a:latin typeface="Arial Black" panose="020B0A04020102020204" pitchFamily="34" charset="0"/>
              </a:rPr>
              <a:t>Reserved for use within private networks and are not routable on the internet. These include</a:t>
            </a:r>
            <a:r>
              <a:rPr lang="en-US" dirty="0" smtClean="0">
                <a:latin typeface="Arial Black" panose="020B0A04020102020204" pitchFamily="34" charset="0"/>
              </a:rPr>
              <a:t>:</a:t>
            </a:r>
          </a:p>
          <a:p>
            <a:pPr lvl="2"/>
            <a:r>
              <a:rPr lang="en-US" dirty="0" smtClean="0">
                <a:latin typeface="Arial Black" panose="020B0A04020102020204" pitchFamily="34" charset="0"/>
              </a:rPr>
              <a:t>Class </a:t>
            </a:r>
            <a:r>
              <a:rPr lang="en-US" dirty="0">
                <a:latin typeface="Arial Black" panose="020B0A04020102020204" pitchFamily="34" charset="0"/>
              </a:rPr>
              <a:t>A: 10.0.0.0 to </a:t>
            </a:r>
            <a:r>
              <a:rPr lang="en-US" dirty="0" smtClean="0">
                <a:latin typeface="Arial Black" panose="020B0A04020102020204" pitchFamily="34" charset="0"/>
              </a:rPr>
              <a:t>10.255.255.255</a:t>
            </a:r>
          </a:p>
          <a:p>
            <a:pPr lvl="2"/>
            <a:r>
              <a:rPr lang="en-US" dirty="0" smtClean="0">
                <a:latin typeface="Arial Black" panose="020B0A04020102020204" pitchFamily="34" charset="0"/>
              </a:rPr>
              <a:t>Class </a:t>
            </a:r>
            <a:r>
              <a:rPr lang="en-US" dirty="0">
                <a:latin typeface="Arial Black" panose="020B0A04020102020204" pitchFamily="34" charset="0"/>
              </a:rPr>
              <a:t>B: 172.16.0.0 to </a:t>
            </a:r>
            <a:r>
              <a:rPr lang="en-US" dirty="0" smtClean="0">
                <a:latin typeface="Arial Black" panose="020B0A04020102020204" pitchFamily="34" charset="0"/>
              </a:rPr>
              <a:t>172.31.255.255</a:t>
            </a:r>
          </a:p>
          <a:p>
            <a:pPr lvl="2"/>
            <a:r>
              <a:rPr lang="en-US" dirty="0" smtClean="0">
                <a:latin typeface="Arial Black" panose="020B0A04020102020204" pitchFamily="34" charset="0"/>
              </a:rPr>
              <a:t>Class </a:t>
            </a:r>
            <a:r>
              <a:rPr lang="en-US" dirty="0">
                <a:latin typeface="Arial Black" panose="020B0A04020102020204" pitchFamily="34" charset="0"/>
              </a:rPr>
              <a:t>C: 192.168.0.0 to </a:t>
            </a:r>
            <a:r>
              <a:rPr lang="en-US" dirty="0" smtClean="0">
                <a:latin typeface="Arial Black" panose="020B0A04020102020204" pitchFamily="34" charset="0"/>
              </a:rPr>
              <a:t>192.168.255.255</a:t>
            </a:r>
          </a:p>
          <a:p>
            <a:r>
              <a:rPr lang="en-US" dirty="0" smtClean="0">
                <a:solidFill>
                  <a:srgbClr val="FF0000"/>
                </a:solidFill>
                <a:latin typeface="Arial Black" panose="020B0A04020102020204" pitchFamily="34" charset="0"/>
              </a:rPr>
              <a:t>Special </a:t>
            </a:r>
            <a:r>
              <a:rPr lang="en-US" dirty="0">
                <a:solidFill>
                  <a:srgbClr val="FF0000"/>
                </a:solidFill>
                <a:latin typeface="Arial Black" panose="020B0A04020102020204" pitchFamily="34" charset="0"/>
              </a:rPr>
              <a:t>IP </a:t>
            </a:r>
            <a:r>
              <a:rPr lang="en-US" dirty="0" smtClean="0">
                <a:solidFill>
                  <a:srgbClr val="FF0000"/>
                </a:solidFill>
                <a:latin typeface="Arial Black" panose="020B0A04020102020204" pitchFamily="34" charset="0"/>
              </a:rPr>
              <a:t>Addresses</a:t>
            </a:r>
          </a:p>
          <a:p>
            <a:pPr lvl="1"/>
            <a:r>
              <a:rPr lang="en-US" dirty="0" smtClean="0">
                <a:latin typeface="Arial Black" panose="020B0A04020102020204" pitchFamily="34" charset="0"/>
              </a:rPr>
              <a:t>Loopback </a:t>
            </a:r>
            <a:r>
              <a:rPr lang="en-US" dirty="0">
                <a:latin typeface="Arial Black" panose="020B0A04020102020204" pitchFamily="34" charset="0"/>
              </a:rPr>
              <a:t>Address: 127.0.0.1 is used for testing purposes within a host</a:t>
            </a:r>
            <a:r>
              <a:rPr lang="en-US" dirty="0" smtClean="0">
                <a:latin typeface="Arial Black" panose="020B0A04020102020204" pitchFamily="34" charset="0"/>
              </a:rPr>
              <a:t>.</a:t>
            </a:r>
          </a:p>
          <a:p>
            <a:pPr lvl="1"/>
            <a:r>
              <a:rPr lang="en-US" dirty="0" smtClean="0">
                <a:latin typeface="Arial Black" panose="020B0A04020102020204" pitchFamily="34" charset="0"/>
              </a:rPr>
              <a:t>Broadcast </a:t>
            </a:r>
            <a:r>
              <a:rPr lang="en-US" dirty="0">
                <a:latin typeface="Arial Black" panose="020B0A04020102020204" pitchFamily="34" charset="0"/>
              </a:rPr>
              <a:t>Address: Sends data to all hosts on a network. E.g., 192.168.1.255 for a Class C network.</a:t>
            </a:r>
            <a:endParaRPr lang="en-US"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18</a:t>
            </a:fld>
            <a:endParaRPr lang="en-US" dirty="0"/>
          </a:p>
        </p:txBody>
      </p:sp>
    </p:spTree>
    <p:extLst>
      <p:ext uri="{BB962C8B-B14F-4D97-AF65-F5344CB8AC3E}">
        <p14:creationId xmlns:p14="http://schemas.microsoft.com/office/powerpoint/2010/main" val="839281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1563329" y="265471"/>
            <a:ext cx="8493301" cy="530942"/>
          </a:xfrm>
        </p:spPr>
        <p:txBody>
          <a:bodyPr/>
          <a:lstStyle/>
          <a:p>
            <a:pPr algn="ctr"/>
            <a:r>
              <a:rPr lang="en-US" dirty="0" smtClean="0">
                <a:latin typeface="Arial Black" panose="020B0A04020102020204" pitchFamily="34" charset="0"/>
              </a:rPr>
              <a:t>Class full Vs Classless Addresses</a:t>
            </a:r>
            <a:endParaRPr lang="en-US" dirty="0">
              <a:latin typeface="Arial Black" panose="020B0A04020102020204" pitchFamily="34" charset="0"/>
            </a:endParaRPr>
          </a:p>
        </p:txBody>
      </p:sp>
      <p:graphicFrame>
        <p:nvGraphicFramePr>
          <p:cNvPr id="2" name="Content Placeholder 1"/>
          <p:cNvGraphicFramePr>
            <a:graphicFrameLocks noGrp="1"/>
          </p:cNvGraphicFramePr>
          <p:nvPr>
            <p:ph sz="quarter" idx="10"/>
            <p:extLst>
              <p:ext uri="{D42A27DB-BD31-4B8C-83A1-F6EECF244321}">
                <p14:modId xmlns:p14="http://schemas.microsoft.com/office/powerpoint/2010/main" val="2292230179"/>
              </p:ext>
            </p:extLst>
          </p:nvPr>
        </p:nvGraphicFramePr>
        <p:xfrm>
          <a:off x="445008" y="845524"/>
          <a:ext cx="11570208" cy="5763355"/>
        </p:xfrm>
        <a:graphic>
          <a:graphicData uri="http://schemas.openxmlformats.org/drawingml/2006/table">
            <a:tbl>
              <a:tblPr firstRow="1" bandRow="1">
                <a:tableStyleId>{21E4AEA4-8DFA-4A89-87EB-49C32662AFE0}</a:tableStyleId>
              </a:tblPr>
              <a:tblGrid>
                <a:gridCol w="2017973">
                  <a:extLst>
                    <a:ext uri="{9D8B030D-6E8A-4147-A177-3AD203B41FA5}">
                      <a16:colId xmlns:a16="http://schemas.microsoft.com/office/drawing/2014/main" val="1048672181"/>
                    </a:ext>
                  </a:extLst>
                </a:gridCol>
                <a:gridCol w="4660490">
                  <a:extLst>
                    <a:ext uri="{9D8B030D-6E8A-4147-A177-3AD203B41FA5}">
                      <a16:colId xmlns:a16="http://schemas.microsoft.com/office/drawing/2014/main" val="2043676570"/>
                    </a:ext>
                  </a:extLst>
                </a:gridCol>
                <a:gridCol w="4891745">
                  <a:extLst>
                    <a:ext uri="{9D8B030D-6E8A-4147-A177-3AD203B41FA5}">
                      <a16:colId xmlns:a16="http://schemas.microsoft.com/office/drawing/2014/main" val="2815129481"/>
                    </a:ext>
                  </a:extLst>
                </a:gridCol>
              </a:tblGrid>
              <a:tr h="409218">
                <a:tc>
                  <a:txBody>
                    <a:bodyPr/>
                    <a:lstStyle/>
                    <a:p>
                      <a:r>
                        <a:rPr lang="en-US" dirty="0" smtClean="0"/>
                        <a:t>Aspect</a:t>
                      </a:r>
                      <a:endParaRPr lang="en-US" dirty="0"/>
                    </a:p>
                  </a:txBody>
                  <a:tcPr/>
                </a:tc>
                <a:tc>
                  <a:txBody>
                    <a:bodyPr/>
                    <a:lstStyle/>
                    <a:p>
                      <a:r>
                        <a:rPr lang="en-US" dirty="0" smtClean="0"/>
                        <a:t>Class Full</a:t>
                      </a:r>
                      <a:endParaRPr lang="en-US" dirty="0"/>
                    </a:p>
                  </a:txBody>
                  <a:tcPr/>
                </a:tc>
                <a:tc>
                  <a:txBody>
                    <a:bodyPr/>
                    <a:lstStyle/>
                    <a:p>
                      <a:r>
                        <a:rPr lang="en-US" dirty="0" smtClean="0"/>
                        <a:t>Classless</a:t>
                      </a:r>
                      <a:endParaRPr lang="en-US" dirty="0"/>
                    </a:p>
                  </a:txBody>
                  <a:tcPr/>
                </a:tc>
                <a:extLst>
                  <a:ext uri="{0D108BD9-81ED-4DB2-BD59-A6C34878D82A}">
                    <a16:rowId xmlns:a16="http://schemas.microsoft.com/office/drawing/2014/main" val="680254206"/>
                  </a:ext>
                </a:extLst>
              </a:tr>
              <a:tr h="1311740">
                <a:tc>
                  <a:txBody>
                    <a:bodyPr/>
                    <a:lstStyle/>
                    <a:p>
                      <a:pPr algn="l"/>
                      <a:r>
                        <a:rPr lang="en-US" dirty="0" smtClean="0">
                          <a:latin typeface="Arial Rounded MT Bold" panose="020F0704030504030204" pitchFamily="34" charset="0"/>
                        </a:rPr>
                        <a:t>Address Structure		</a:t>
                      </a:r>
                      <a:endParaRPr lang="en-US" dirty="0">
                        <a:latin typeface="Arial Rounded MT Bold" panose="020F0704030504030204" pitchFamily="34" charset="0"/>
                      </a:endParaRPr>
                    </a:p>
                  </a:txBody>
                  <a:tcPr/>
                </a:tc>
                <a:tc>
                  <a:txBody>
                    <a:bodyPr/>
                    <a:lstStyle/>
                    <a:p>
                      <a:pPr algn="l"/>
                      <a:r>
                        <a:rPr lang="en-US" dirty="0" smtClean="0">
                          <a:latin typeface="Arial Rounded MT Bold" panose="020F0704030504030204" pitchFamily="34" charset="0"/>
                        </a:rPr>
                        <a:t>Divides addresses into fixed classes (A, B, C, D, E).</a:t>
                      </a:r>
                      <a:endParaRPr lang="en-US" dirty="0">
                        <a:latin typeface="Arial Rounded MT Bold" panose="020F07040305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latin typeface="Arial Rounded MT Bold" panose="020F0704030504030204" pitchFamily="34" charset="0"/>
                        </a:rPr>
                        <a:t>No fixed classes; network and host portions are defined by a variable-length subnet mask.</a:t>
                      </a:r>
                    </a:p>
                    <a:p>
                      <a:pPr algn="l"/>
                      <a:endParaRPr lang="en-US" dirty="0">
                        <a:latin typeface="Arial Rounded MT Bold" panose="020F0704030504030204" pitchFamily="34" charset="0"/>
                      </a:endParaRPr>
                    </a:p>
                  </a:txBody>
                  <a:tcPr/>
                </a:tc>
                <a:extLst>
                  <a:ext uri="{0D108BD9-81ED-4DB2-BD59-A6C34878D82A}">
                    <a16:rowId xmlns:a16="http://schemas.microsoft.com/office/drawing/2014/main" val="3834577086"/>
                  </a:ext>
                </a:extLst>
              </a:tr>
              <a:tr h="706322">
                <a:tc>
                  <a:txBody>
                    <a:bodyPr/>
                    <a:lstStyle/>
                    <a:p>
                      <a:pPr algn="l"/>
                      <a:r>
                        <a:rPr lang="en-US" dirty="0" smtClean="0">
                          <a:latin typeface="Arial Rounded MT Bold" panose="020F0704030504030204" pitchFamily="34" charset="0"/>
                        </a:rPr>
                        <a:t>Network Boundary		</a:t>
                      </a:r>
                      <a:endParaRPr lang="en-US" dirty="0">
                        <a:latin typeface="Arial Rounded MT Bold" panose="020F0704030504030204" pitchFamily="34" charset="0"/>
                      </a:endParaRPr>
                    </a:p>
                  </a:txBody>
                  <a:tcPr/>
                </a:tc>
                <a:tc>
                  <a:txBody>
                    <a:bodyPr/>
                    <a:lstStyle/>
                    <a:p>
                      <a:pPr algn="l"/>
                      <a:r>
                        <a:rPr lang="en-US" dirty="0" smtClean="0">
                          <a:latin typeface="Arial Rounded MT Bold" panose="020F0704030504030204" pitchFamily="34" charset="0"/>
                        </a:rPr>
                        <a:t>Fixed based on address class (e.g., /8, /16, /24).</a:t>
                      </a:r>
                      <a:endParaRPr lang="en-US" dirty="0">
                        <a:latin typeface="Arial Rounded MT Bold" panose="020F07040305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latin typeface="Arial Rounded MT Bold" panose="020F0704030504030204" pitchFamily="34" charset="0"/>
                        </a:rPr>
                        <a:t>Variable, based on subnet mask (e.g., /12, /28, etc.).</a:t>
                      </a:r>
                    </a:p>
                  </a:txBody>
                  <a:tcPr/>
                </a:tc>
                <a:extLst>
                  <a:ext uri="{0D108BD9-81ED-4DB2-BD59-A6C34878D82A}">
                    <a16:rowId xmlns:a16="http://schemas.microsoft.com/office/drawing/2014/main" val="122657227"/>
                  </a:ext>
                </a:extLst>
              </a:tr>
              <a:tr h="706322">
                <a:tc>
                  <a:txBody>
                    <a:bodyPr/>
                    <a:lstStyle/>
                    <a:p>
                      <a:pPr algn="l"/>
                      <a:r>
                        <a:rPr lang="en-US" dirty="0" smtClean="0">
                          <a:latin typeface="Arial Rounded MT Bold" panose="020F0704030504030204" pitchFamily="34" charset="0"/>
                        </a:rPr>
                        <a:t>Routing Protocols</a:t>
                      </a:r>
                      <a:endParaRPr lang="en-US" dirty="0">
                        <a:latin typeface="Arial Rounded MT Bold" panose="020F0704030504030204" pitchFamily="34" charset="0"/>
                      </a:endParaRPr>
                    </a:p>
                  </a:txBody>
                  <a:tcPr/>
                </a:tc>
                <a:tc>
                  <a:txBody>
                    <a:bodyPr/>
                    <a:lstStyle/>
                    <a:p>
                      <a:pPr algn="l"/>
                      <a:r>
                        <a:rPr lang="en-US" dirty="0" smtClean="0">
                          <a:latin typeface="Arial Rounded MT Bold" panose="020F0704030504030204" pitchFamily="34" charset="0"/>
                        </a:rPr>
                        <a:t>Uses </a:t>
                      </a:r>
                      <a:r>
                        <a:rPr lang="en-US" dirty="0" err="1" smtClean="0">
                          <a:latin typeface="Arial Rounded MT Bold" panose="020F0704030504030204" pitchFamily="34" charset="0"/>
                        </a:rPr>
                        <a:t>classful</a:t>
                      </a:r>
                      <a:r>
                        <a:rPr lang="en-US" dirty="0" smtClean="0">
                          <a:latin typeface="Arial Rounded MT Bold" panose="020F0704030504030204" pitchFamily="34" charset="0"/>
                        </a:rPr>
                        <a:t> routing protocols (e.g., RIP v1).</a:t>
                      </a:r>
                      <a:endParaRPr lang="en-US" dirty="0">
                        <a:latin typeface="Arial Rounded MT Bold" panose="020F0704030504030204" pitchFamily="34" charset="0"/>
                      </a:endParaRPr>
                    </a:p>
                  </a:txBody>
                  <a:tcPr/>
                </a:tc>
                <a:tc>
                  <a:txBody>
                    <a:bodyPr/>
                    <a:lstStyle/>
                    <a:p>
                      <a:pPr algn="l"/>
                      <a:r>
                        <a:rPr lang="en-US" dirty="0" smtClean="0">
                          <a:latin typeface="Arial Rounded MT Bold" panose="020F0704030504030204" pitchFamily="34" charset="0"/>
                        </a:rPr>
                        <a:t>Uses classless routing protocols (e.g., OSPF, RIP v2).</a:t>
                      </a:r>
                      <a:endParaRPr lang="en-US" dirty="0">
                        <a:latin typeface="Arial Rounded MT Bold" panose="020F0704030504030204" pitchFamily="34" charset="0"/>
                      </a:endParaRPr>
                    </a:p>
                  </a:txBody>
                  <a:tcPr/>
                </a:tc>
                <a:extLst>
                  <a:ext uri="{0D108BD9-81ED-4DB2-BD59-A6C34878D82A}">
                    <a16:rowId xmlns:a16="http://schemas.microsoft.com/office/drawing/2014/main" val="142658408"/>
                  </a:ext>
                </a:extLst>
              </a:tr>
              <a:tr h="706322">
                <a:tc>
                  <a:txBody>
                    <a:bodyPr/>
                    <a:lstStyle/>
                    <a:p>
                      <a:pPr algn="l"/>
                      <a:r>
                        <a:rPr lang="en-US" sz="1800" kern="1200" dirty="0" smtClean="0">
                          <a:latin typeface="Arial Rounded MT Bold" panose="020F0704030504030204" pitchFamily="34" charset="0"/>
                        </a:rPr>
                        <a:t>IP</a:t>
                      </a:r>
                      <a:r>
                        <a:rPr lang="en-US" dirty="0" smtClean="0">
                          <a:latin typeface="Arial Rounded MT Bold" panose="020F0704030504030204" pitchFamily="34" charset="0"/>
                        </a:rPr>
                        <a:t> </a:t>
                      </a:r>
                      <a:r>
                        <a:rPr lang="en-US" sz="1800" kern="1200" dirty="0" smtClean="0">
                          <a:latin typeface="Arial Rounded MT Bold" panose="020F0704030504030204" pitchFamily="34" charset="0"/>
                        </a:rPr>
                        <a:t>Address Efficiency</a:t>
                      </a:r>
                      <a:endParaRPr lang="en-US" sz="1800" kern="1200" dirty="0">
                        <a:solidFill>
                          <a:schemeClr val="tx1"/>
                        </a:solidFill>
                        <a:latin typeface="Arial Rounded MT Bold" panose="020F0704030504030204" pitchFamily="34" charset="0"/>
                        <a:ea typeface="+mn-ea"/>
                        <a:cs typeface="+mn-cs"/>
                      </a:endParaRPr>
                    </a:p>
                  </a:txBody>
                  <a:tcPr/>
                </a:tc>
                <a:tc>
                  <a:txBody>
                    <a:bodyPr/>
                    <a:lstStyle/>
                    <a:p>
                      <a:pPr algn="l"/>
                      <a:r>
                        <a:rPr lang="en-US" dirty="0" smtClean="0">
                          <a:latin typeface="Arial Rounded MT Bold" panose="020F0704030504030204" pitchFamily="34" charset="0"/>
                        </a:rPr>
                        <a:t>Less efficient; can lead to wasted IP addresses.</a:t>
                      </a:r>
                      <a:endParaRPr lang="en-US" dirty="0">
                        <a:latin typeface="Arial Rounded MT Bold" panose="020F0704030504030204" pitchFamily="34" charset="0"/>
                      </a:endParaRPr>
                    </a:p>
                  </a:txBody>
                  <a:tcPr/>
                </a:tc>
                <a:tc>
                  <a:txBody>
                    <a:bodyPr/>
                    <a:lstStyle/>
                    <a:p>
                      <a:pPr algn="l"/>
                      <a:r>
                        <a:rPr lang="en-US" dirty="0" smtClean="0">
                          <a:latin typeface="Arial Rounded MT Bold" panose="020F0704030504030204" pitchFamily="34" charset="0"/>
                        </a:rPr>
                        <a:t>More efficient; allows precise allocation of address space.</a:t>
                      </a:r>
                      <a:endParaRPr lang="en-US" dirty="0">
                        <a:latin typeface="Arial Rounded MT Bold" panose="020F0704030504030204" pitchFamily="34" charset="0"/>
                      </a:endParaRPr>
                    </a:p>
                  </a:txBody>
                  <a:tcPr/>
                </a:tc>
                <a:extLst>
                  <a:ext uri="{0D108BD9-81ED-4DB2-BD59-A6C34878D82A}">
                    <a16:rowId xmlns:a16="http://schemas.microsoft.com/office/drawing/2014/main" val="475477638"/>
                  </a:ext>
                </a:extLst>
              </a:tr>
              <a:tr h="1009031">
                <a:tc>
                  <a:txBody>
                    <a:bodyPr/>
                    <a:lstStyle/>
                    <a:p>
                      <a:pPr algn="l"/>
                      <a:r>
                        <a:rPr lang="en-US" dirty="0" smtClean="0">
                          <a:latin typeface="Arial Rounded MT Bold" panose="020F0704030504030204" pitchFamily="34" charset="0"/>
                        </a:rPr>
                        <a:t>Flexibility	</a:t>
                      </a:r>
                      <a:endParaRPr lang="en-US" dirty="0">
                        <a:latin typeface="Arial Rounded MT Bold" panose="020F07040305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latin typeface="Arial Rounded MT Bold" panose="020F0704030504030204" pitchFamily="34" charset="0"/>
                        </a:rPr>
                        <a:t>Limited; constrained by class boundaries.	</a:t>
                      </a:r>
                    </a:p>
                    <a:p>
                      <a:pPr algn="l"/>
                      <a:endParaRPr lang="en-US" dirty="0">
                        <a:latin typeface="Arial Rounded MT Bold" panose="020F07040305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latin typeface="Arial Rounded MT Bold" panose="020F0704030504030204" pitchFamily="34" charset="0"/>
                        </a:rPr>
                        <a:t>Highly flexible; supports VLSM and more efficient </a:t>
                      </a:r>
                      <a:r>
                        <a:rPr lang="en-US" dirty="0" err="1" smtClean="0">
                          <a:latin typeface="Arial Rounded MT Bold" panose="020F0704030504030204" pitchFamily="34" charset="0"/>
                        </a:rPr>
                        <a:t>subnetting</a:t>
                      </a:r>
                      <a:r>
                        <a:rPr lang="en-US" dirty="0" smtClean="0">
                          <a:latin typeface="Arial Rounded MT Bold" panose="020F0704030504030204" pitchFamily="34" charset="0"/>
                        </a:rPr>
                        <a:t>.</a:t>
                      </a:r>
                    </a:p>
                    <a:p>
                      <a:pPr algn="l"/>
                      <a:endParaRPr lang="en-US" dirty="0">
                        <a:latin typeface="Arial Rounded MT Bold" panose="020F0704030504030204" pitchFamily="34" charset="0"/>
                      </a:endParaRPr>
                    </a:p>
                  </a:txBody>
                  <a:tcPr/>
                </a:tc>
                <a:extLst>
                  <a:ext uri="{0D108BD9-81ED-4DB2-BD59-A6C34878D82A}">
                    <a16:rowId xmlns:a16="http://schemas.microsoft.com/office/drawing/2014/main" val="1458601209"/>
                  </a:ext>
                </a:extLst>
              </a:tr>
              <a:tr h="706322">
                <a:tc>
                  <a:txBody>
                    <a:bodyPr/>
                    <a:lstStyle/>
                    <a:p>
                      <a:pPr algn="l"/>
                      <a:r>
                        <a:rPr lang="en-US" dirty="0" smtClean="0">
                          <a:latin typeface="Arial Rounded MT Bold" panose="020F0704030504030204" pitchFamily="34" charset="0"/>
                        </a:rPr>
                        <a:t>CIDR Notation</a:t>
                      </a:r>
                      <a:endParaRPr lang="en-US" dirty="0">
                        <a:latin typeface="Arial Rounded MT Bold" panose="020F0704030504030204" pitchFamily="34" charset="0"/>
                      </a:endParaRPr>
                    </a:p>
                  </a:txBody>
                  <a:tcPr/>
                </a:tc>
                <a:tc>
                  <a:txBody>
                    <a:bodyPr/>
                    <a:lstStyle/>
                    <a:p>
                      <a:pPr algn="l"/>
                      <a:r>
                        <a:rPr lang="en-US" dirty="0" smtClean="0">
                          <a:latin typeface="Arial Rounded MT Bold" panose="020F0704030504030204" pitchFamily="34" charset="0"/>
                        </a:rPr>
                        <a:t>Not applicable.</a:t>
                      </a:r>
                      <a:endParaRPr lang="en-US" dirty="0">
                        <a:latin typeface="Arial Rounded MT Bold" panose="020F0704030504030204" pitchFamily="34" charset="0"/>
                      </a:endParaRPr>
                    </a:p>
                  </a:txBody>
                  <a:tcPr/>
                </a:tc>
                <a:tc>
                  <a:txBody>
                    <a:bodyPr/>
                    <a:lstStyle/>
                    <a:p>
                      <a:pPr algn="l"/>
                      <a:r>
                        <a:rPr lang="fr-FR" dirty="0" smtClean="0">
                          <a:latin typeface="Arial Rounded MT Bold" panose="020F0704030504030204" pitchFamily="34" charset="0"/>
                        </a:rPr>
                        <a:t>Uses CIDR notation (</a:t>
                      </a:r>
                      <a:r>
                        <a:rPr lang="fr-FR" dirty="0" err="1" smtClean="0">
                          <a:latin typeface="Arial Rounded MT Bold" panose="020F0704030504030204" pitchFamily="34" charset="0"/>
                        </a:rPr>
                        <a:t>e.g</a:t>
                      </a:r>
                      <a:r>
                        <a:rPr lang="fr-FR" dirty="0" smtClean="0">
                          <a:latin typeface="Arial Rounded MT Bold" panose="020F0704030504030204" pitchFamily="34" charset="0"/>
                        </a:rPr>
                        <a:t>., 192.168.1.0/24).</a:t>
                      </a:r>
                      <a:endParaRPr lang="en-US" dirty="0">
                        <a:latin typeface="Arial Rounded MT Bold" panose="020F0704030504030204" pitchFamily="34" charset="0"/>
                      </a:endParaRPr>
                    </a:p>
                  </a:txBody>
                  <a:tcPr/>
                </a:tc>
                <a:extLst>
                  <a:ext uri="{0D108BD9-81ED-4DB2-BD59-A6C34878D82A}">
                    <a16:rowId xmlns:a16="http://schemas.microsoft.com/office/drawing/2014/main" val="2574452527"/>
                  </a:ext>
                </a:extLst>
              </a:tr>
            </a:tbl>
          </a:graphicData>
        </a:graphic>
      </p:graphicFrame>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19</a:t>
            </a:fld>
            <a:endParaRPr lang="en-US" dirty="0"/>
          </a:p>
        </p:txBody>
      </p:sp>
    </p:spTree>
    <p:extLst>
      <p:ext uri="{BB962C8B-B14F-4D97-AF65-F5344CB8AC3E}">
        <p14:creationId xmlns:p14="http://schemas.microsoft.com/office/powerpoint/2010/main" val="29368767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1165122" y="265471"/>
            <a:ext cx="7534656" cy="914400"/>
          </a:xfrm>
        </p:spPr>
        <p:txBody>
          <a:bodyPr/>
          <a:lstStyle/>
          <a:p>
            <a:pPr algn="ctr"/>
            <a:r>
              <a:rPr lang="en-US" dirty="0" smtClean="0">
                <a:latin typeface="Arial Black" panose="020B0A04020102020204" pitchFamily="34" charset="0"/>
              </a:rPr>
              <a:t>Subnetting</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530941" y="1331188"/>
            <a:ext cx="11238271" cy="4548615"/>
          </a:xfrm>
        </p:spPr>
        <p:txBody>
          <a:bodyPr>
            <a:normAutofit/>
          </a:bodyPr>
          <a:lstStyle/>
          <a:p>
            <a:pPr lvl="1"/>
            <a:r>
              <a:rPr lang="en-US" dirty="0" smtClean="0">
                <a:latin typeface="Arial Black" panose="020B0A04020102020204" pitchFamily="34" charset="0"/>
              </a:rPr>
              <a:t>Subnetting </a:t>
            </a:r>
            <a:r>
              <a:rPr lang="en-US" dirty="0">
                <a:latin typeface="Arial Black" panose="020B0A04020102020204" pitchFamily="34" charset="0"/>
              </a:rPr>
              <a:t>is the process of dividing a larger network into smaller, more manageable sub-networks (subnets). </a:t>
            </a:r>
            <a:endParaRPr lang="en-US" dirty="0" smtClean="0">
              <a:latin typeface="Arial Black" panose="020B0A04020102020204" pitchFamily="34" charset="0"/>
            </a:endParaRPr>
          </a:p>
          <a:p>
            <a:pPr lvl="1"/>
            <a:r>
              <a:rPr lang="en-US" dirty="0" smtClean="0">
                <a:latin typeface="Arial Black" panose="020B0A04020102020204" pitchFamily="34" charset="0"/>
              </a:rPr>
              <a:t>This </a:t>
            </a:r>
            <a:r>
              <a:rPr lang="en-US" dirty="0">
                <a:latin typeface="Arial Black" panose="020B0A04020102020204" pitchFamily="34" charset="0"/>
              </a:rPr>
              <a:t>is done by adjusting the subnet mask to create more network bits, reducing the number of bits available for hosts</a:t>
            </a:r>
            <a:r>
              <a:rPr lang="en-US" dirty="0" smtClean="0">
                <a:latin typeface="Arial Black" panose="020B0A04020102020204" pitchFamily="34" charset="0"/>
              </a:rPr>
              <a:t>.</a:t>
            </a:r>
          </a:p>
          <a:p>
            <a:pPr lvl="1"/>
            <a:r>
              <a:rPr lang="en-US" dirty="0" smtClean="0">
                <a:latin typeface="Arial Black" panose="020B0A04020102020204" pitchFamily="34" charset="0"/>
              </a:rPr>
              <a:t>For </a:t>
            </a:r>
            <a:r>
              <a:rPr lang="en-US" dirty="0">
                <a:latin typeface="Arial Black" panose="020B0A04020102020204" pitchFamily="34" charset="0"/>
              </a:rPr>
              <a:t>instance, if you have a Class C network (192.168.1.0/24), you can create subnets by extending the subnet mask beyond the default 255.255.255.0. </a:t>
            </a:r>
            <a:endParaRPr lang="en-US" dirty="0" smtClean="0">
              <a:latin typeface="Arial Black" panose="020B0A04020102020204" pitchFamily="34" charset="0"/>
            </a:endParaRPr>
          </a:p>
          <a:p>
            <a:pPr lvl="1"/>
            <a:r>
              <a:rPr lang="en-US" dirty="0" smtClean="0">
                <a:latin typeface="Arial Black" panose="020B0A04020102020204" pitchFamily="34" charset="0"/>
              </a:rPr>
              <a:t>A </a:t>
            </a:r>
            <a:r>
              <a:rPr lang="en-US" dirty="0">
                <a:latin typeface="Arial Black" panose="020B0A04020102020204" pitchFamily="34" charset="0"/>
              </a:rPr>
              <a:t>subnet mask of 255.255.255.128 would split the network into two subnets:192.168.1.0/25 (Hosts: 1-126)192.168.1.128/25 (Hosts: 129-254)</a:t>
            </a:r>
            <a:endParaRPr lang="en-US"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20</a:t>
            </a:fld>
            <a:endParaRPr lang="en-US" dirty="0"/>
          </a:p>
        </p:txBody>
      </p:sp>
    </p:spTree>
    <p:extLst>
      <p:ext uri="{BB962C8B-B14F-4D97-AF65-F5344CB8AC3E}">
        <p14:creationId xmlns:p14="http://schemas.microsoft.com/office/powerpoint/2010/main" val="1732201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1165122" y="265471"/>
            <a:ext cx="7534656" cy="501445"/>
          </a:xfrm>
        </p:spPr>
        <p:txBody>
          <a:bodyPr/>
          <a:lstStyle/>
          <a:p>
            <a:pPr algn="ctr"/>
            <a:r>
              <a:rPr lang="en-US" dirty="0" smtClean="0">
                <a:latin typeface="Arial Black" panose="020B0A04020102020204" pitchFamily="34" charset="0"/>
              </a:rPr>
              <a:t>Why Subnetting??</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530941" y="766916"/>
            <a:ext cx="11238271" cy="5574890"/>
          </a:xfrm>
        </p:spPr>
        <p:txBody>
          <a:bodyPr>
            <a:normAutofit/>
          </a:bodyPr>
          <a:lstStyle/>
          <a:p>
            <a:r>
              <a:rPr lang="en-US" sz="2400" dirty="0" smtClean="0">
                <a:solidFill>
                  <a:srgbClr val="FF0000"/>
                </a:solidFill>
                <a:latin typeface="Arial Black" panose="020B0A04020102020204" pitchFamily="34" charset="0"/>
              </a:rPr>
              <a:t>Efficient </a:t>
            </a:r>
            <a:r>
              <a:rPr lang="en-US" sz="2400" dirty="0">
                <a:solidFill>
                  <a:srgbClr val="FF0000"/>
                </a:solidFill>
                <a:latin typeface="Arial Black" panose="020B0A04020102020204" pitchFamily="34" charset="0"/>
              </a:rPr>
              <a:t>IP Address </a:t>
            </a:r>
            <a:r>
              <a:rPr lang="en-US" sz="2400" dirty="0" smtClean="0">
                <a:solidFill>
                  <a:srgbClr val="FF0000"/>
                </a:solidFill>
                <a:latin typeface="Arial Black" panose="020B0A04020102020204" pitchFamily="34" charset="0"/>
              </a:rPr>
              <a:t>Management</a:t>
            </a:r>
          </a:p>
          <a:p>
            <a:pPr lvl="1"/>
            <a:r>
              <a:rPr lang="en-US" dirty="0" smtClean="0">
                <a:solidFill>
                  <a:srgbClr val="FF0000"/>
                </a:solidFill>
                <a:latin typeface="Arial Black" panose="020B0A04020102020204" pitchFamily="34" charset="0"/>
              </a:rPr>
              <a:t>Avoiding </a:t>
            </a:r>
            <a:r>
              <a:rPr lang="en-US" dirty="0">
                <a:solidFill>
                  <a:srgbClr val="FF0000"/>
                </a:solidFill>
                <a:latin typeface="Arial Black" panose="020B0A04020102020204" pitchFamily="34" charset="0"/>
              </a:rPr>
              <a:t>Waste</a:t>
            </a:r>
            <a:r>
              <a:rPr lang="en-US" dirty="0">
                <a:latin typeface="Arial Black" panose="020B0A04020102020204" pitchFamily="34" charset="0"/>
              </a:rPr>
              <a:t>: Without </a:t>
            </a:r>
            <a:r>
              <a:rPr lang="en-US" dirty="0" err="1">
                <a:latin typeface="Arial Black" panose="020B0A04020102020204" pitchFamily="34" charset="0"/>
              </a:rPr>
              <a:t>subnetting</a:t>
            </a:r>
            <a:r>
              <a:rPr lang="en-US" dirty="0">
                <a:latin typeface="Arial Black" panose="020B0A04020102020204" pitchFamily="34" charset="0"/>
              </a:rPr>
              <a:t>, a single network might have more IP addresses than needed, leading to wastage. For example, a Class A network (10.0.0.0/8) has over 16 million IP addresses, far more than most organizations need. Subnetting allows the network to be divided into smaller subnets, each with a more appropriate number of IP addresses</a:t>
            </a:r>
            <a:r>
              <a:rPr lang="en-US" dirty="0" smtClean="0">
                <a:latin typeface="Arial Black" panose="020B0A04020102020204" pitchFamily="34" charset="0"/>
              </a:rPr>
              <a:t>.</a:t>
            </a:r>
          </a:p>
          <a:p>
            <a:pPr lvl="1"/>
            <a:r>
              <a:rPr lang="en-US" dirty="0" smtClean="0">
                <a:solidFill>
                  <a:srgbClr val="FF0000"/>
                </a:solidFill>
                <a:latin typeface="Arial Black" panose="020B0A04020102020204" pitchFamily="34" charset="0"/>
              </a:rPr>
              <a:t>Better </a:t>
            </a:r>
            <a:r>
              <a:rPr lang="en-US" dirty="0">
                <a:solidFill>
                  <a:srgbClr val="FF0000"/>
                </a:solidFill>
                <a:latin typeface="Arial Black" panose="020B0A04020102020204" pitchFamily="34" charset="0"/>
              </a:rPr>
              <a:t>Utilization</a:t>
            </a:r>
            <a:r>
              <a:rPr lang="en-US" dirty="0">
                <a:latin typeface="Arial Black" panose="020B0A04020102020204" pitchFamily="34" charset="0"/>
              </a:rPr>
              <a:t>: Subnetting enables the precise allocation of IP addresses to different departments or locations within an organization, ensuring that no IP </a:t>
            </a:r>
            <a:r>
              <a:rPr lang="en-US" dirty="0" smtClean="0">
                <a:latin typeface="Arial Black" panose="020B0A04020102020204" pitchFamily="34" charset="0"/>
              </a:rPr>
              <a:t>addresses </a:t>
            </a:r>
            <a:r>
              <a:rPr lang="en-US" dirty="0">
                <a:latin typeface="Arial Black" panose="020B0A04020102020204" pitchFamily="34" charset="0"/>
              </a:rPr>
              <a:t>are left unused</a:t>
            </a:r>
            <a:r>
              <a:rPr lang="en-US" dirty="0" smtClean="0">
                <a:latin typeface="Arial Black" panose="020B0A04020102020204" pitchFamily="34" charset="0"/>
              </a:rPr>
              <a:t>.</a:t>
            </a:r>
          </a:p>
          <a:p>
            <a:r>
              <a:rPr lang="en-US" sz="2400" dirty="0">
                <a:solidFill>
                  <a:srgbClr val="FF0000"/>
                </a:solidFill>
                <a:latin typeface="Arial Black" panose="020B0A04020102020204" pitchFamily="34" charset="0"/>
              </a:rPr>
              <a:t>Improved Network </a:t>
            </a:r>
            <a:r>
              <a:rPr lang="en-US" sz="2400" dirty="0" smtClean="0">
                <a:solidFill>
                  <a:srgbClr val="FF0000"/>
                </a:solidFill>
                <a:latin typeface="Arial Black" panose="020B0A04020102020204" pitchFamily="34" charset="0"/>
              </a:rPr>
              <a:t>Performance</a:t>
            </a:r>
          </a:p>
          <a:p>
            <a:pPr lvl="1"/>
            <a:r>
              <a:rPr lang="en-US" dirty="0">
                <a:solidFill>
                  <a:srgbClr val="FF0000"/>
                </a:solidFill>
                <a:latin typeface="Arial Black" panose="020B0A04020102020204" pitchFamily="34" charset="0"/>
              </a:rPr>
              <a:t>Reduced Broadcast Traffic</a:t>
            </a:r>
            <a:r>
              <a:rPr lang="en-US" dirty="0">
                <a:latin typeface="Arial Black" panose="020B0A04020102020204" pitchFamily="34" charset="0"/>
              </a:rPr>
              <a:t>: In a network, broadcast traffic is sent to all devices within that network. As the network grows, so does the broadcast traffic, which can slow down the entire network. Subnetting reduces the size of each network segment, thus limiting broadcast traffic to smaller areas and improving overall network performance</a:t>
            </a:r>
            <a:r>
              <a:rPr lang="en-US" dirty="0" smtClean="0">
                <a:latin typeface="Arial Black" panose="020B0A04020102020204" pitchFamily="34" charset="0"/>
              </a:rPr>
              <a:t>.</a:t>
            </a:r>
          </a:p>
          <a:p>
            <a:pPr lvl="1"/>
            <a:r>
              <a:rPr lang="en-US" dirty="0" smtClean="0">
                <a:solidFill>
                  <a:srgbClr val="FF0000"/>
                </a:solidFill>
                <a:latin typeface="Arial Black" panose="020B0A04020102020204" pitchFamily="34" charset="0"/>
              </a:rPr>
              <a:t>Optimized Routing</a:t>
            </a:r>
            <a:r>
              <a:rPr lang="en-US" dirty="0" smtClean="0">
                <a:latin typeface="Arial Black" panose="020B0A04020102020204" pitchFamily="34" charset="0"/>
              </a:rPr>
              <a:t>: Smaller </a:t>
            </a:r>
            <a:r>
              <a:rPr lang="en-US" dirty="0">
                <a:latin typeface="Arial Black" panose="020B0A04020102020204" pitchFamily="34" charset="0"/>
              </a:rPr>
              <a:t>subnets mean that routers can more efficiently manage and route traffic. When a router receives a packet, it can quickly determine the destination subnet and route the packet accordingly, reducing latency and improving network speed.</a:t>
            </a:r>
            <a:endParaRPr lang="en-US"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21</a:t>
            </a:fld>
            <a:endParaRPr lang="en-US" dirty="0"/>
          </a:p>
        </p:txBody>
      </p:sp>
    </p:spTree>
    <p:extLst>
      <p:ext uri="{BB962C8B-B14F-4D97-AF65-F5344CB8AC3E}">
        <p14:creationId xmlns:p14="http://schemas.microsoft.com/office/powerpoint/2010/main" val="13899473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1165122" y="265471"/>
            <a:ext cx="7534656" cy="501445"/>
          </a:xfrm>
        </p:spPr>
        <p:txBody>
          <a:bodyPr/>
          <a:lstStyle/>
          <a:p>
            <a:pPr algn="ctr"/>
            <a:r>
              <a:rPr lang="en-US" dirty="0" smtClean="0">
                <a:latin typeface="Arial Black" panose="020B0A04020102020204" pitchFamily="34" charset="0"/>
              </a:rPr>
              <a:t>Why Subnetting??</a:t>
            </a:r>
            <a:endParaRPr lang="en-US" dirty="0">
              <a:latin typeface="Arial Black" panose="020B0A04020102020204" pitchFamily="34"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530941" y="766916"/>
            <a:ext cx="11238271" cy="5574890"/>
          </a:xfrm>
        </p:spPr>
        <p:txBody>
          <a:bodyPr>
            <a:normAutofit/>
          </a:bodyPr>
          <a:lstStyle/>
          <a:p>
            <a:r>
              <a:rPr lang="en-US" sz="2400" dirty="0">
                <a:solidFill>
                  <a:srgbClr val="FF0000"/>
                </a:solidFill>
                <a:latin typeface="Arial Black" panose="020B0A04020102020204" pitchFamily="34" charset="0"/>
              </a:rPr>
              <a:t>Simplified Network </a:t>
            </a:r>
            <a:r>
              <a:rPr lang="en-US" sz="2400" dirty="0" smtClean="0">
                <a:solidFill>
                  <a:srgbClr val="FF0000"/>
                </a:solidFill>
                <a:latin typeface="Arial Black" panose="020B0A04020102020204" pitchFamily="34" charset="0"/>
              </a:rPr>
              <a:t>Management</a:t>
            </a:r>
          </a:p>
          <a:p>
            <a:pPr lvl="1"/>
            <a:r>
              <a:rPr lang="en-US" dirty="0">
                <a:latin typeface="Arial Black" panose="020B0A04020102020204" pitchFamily="34" charset="0"/>
              </a:rPr>
              <a:t>Logical Grouping: Subnetting helps organize the network logically, grouping devices based on departments, functions, or locations. This logical structure simplifies network management, troubleshooting, and maintenance</a:t>
            </a:r>
            <a:r>
              <a:rPr lang="en-US" dirty="0" smtClean="0">
                <a:latin typeface="Arial Black" panose="020B0A04020102020204" pitchFamily="34" charset="0"/>
              </a:rPr>
              <a:t>.</a:t>
            </a:r>
          </a:p>
          <a:p>
            <a:pPr lvl="1"/>
            <a:r>
              <a:rPr lang="en-US" dirty="0" smtClean="0">
                <a:latin typeface="Arial Black" panose="020B0A04020102020204" pitchFamily="34" charset="0"/>
              </a:rPr>
              <a:t>Scalability</a:t>
            </a:r>
            <a:r>
              <a:rPr lang="en-US" dirty="0">
                <a:latin typeface="Arial Black" panose="020B0A04020102020204" pitchFamily="34" charset="0"/>
              </a:rPr>
              <a:t>: As an organization grows, </a:t>
            </a:r>
            <a:r>
              <a:rPr lang="en-US" dirty="0" err="1">
                <a:latin typeface="Arial Black" panose="020B0A04020102020204" pitchFamily="34" charset="0"/>
              </a:rPr>
              <a:t>subnetting</a:t>
            </a:r>
            <a:r>
              <a:rPr lang="en-US" dirty="0">
                <a:latin typeface="Arial Black" panose="020B0A04020102020204" pitchFamily="34" charset="0"/>
              </a:rPr>
              <a:t> allows for easier network expansion. New subnets can be added without disrupting the existing network, providing a flexible and scalable network infrastructure</a:t>
            </a:r>
            <a:r>
              <a:rPr lang="en-US" dirty="0" smtClean="0">
                <a:latin typeface="Arial Black" panose="020B0A04020102020204" pitchFamily="34" charset="0"/>
              </a:rPr>
              <a:t>.</a:t>
            </a:r>
          </a:p>
          <a:p>
            <a:r>
              <a:rPr lang="en-US" sz="2600" dirty="0" smtClean="0">
                <a:solidFill>
                  <a:srgbClr val="FF0000"/>
                </a:solidFill>
                <a:latin typeface="Arial Black" panose="020B0A04020102020204" pitchFamily="34" charset="0"/>
              </a:rPr>
              <a:t>Reduced Network Congestion</a:t>
            </a:r>
          </a:p>
          <a:p>
            <a:pPr marL="457200" lvl="1" indent="0">
              <a:buNone/>
            </a:pPr>
            <a:r>
              <a:rPr lang="en-US" dirty="0">
                <a:latin typeface="Arial Black" panose="020B0A04020102020204" pitchFamily="34" charset="0"/>
              </a:rPr>
              <a:t>Smaller Collision Domains: In networks using technologies like Ethernet, </a:t>
            </a:r>
            <a:r>
              <a:rPr lang="en-US" dirty="0" err="1">
                <a:latin typeface="Arial Black" panose="020B0A04020102020204" pitchFamily="34" charset="0"/>
              </a:rPr>
              <a:t>subnetting</a:t>
            </a:r>
            <a:r>
              <a:rPr lang="en-US" dirty="0">
                <a:latin typeface="Arial Black" panose="020B0A04020102020204" pitchFamily="34" charset="0"/>
              </a:rPr>
              <a:t> reduces the size of collision domains (areas where packet collisions can occur). Smaller collision domains lead to fewer collisions, reducing network congestion and improving data transmission efficiency.</a:t>
            </a:r>
            <a:endParaRPr lang="en-US" dirty="0" smtClean="0">
              <a:latin typeface="Arial Black" panose="020B0A04020102020204" pitchFamily="34" charset="0"/>
            </a:endParaRP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22</a:t>
            </a:fld>
            <a:endParaRPr lang="en-US" dirty="0"/>
          </a:p>
        </p:txBody>
      </p:sp>
    </p:spTree>
    <p:extLst>
      <p:ext uri="{BB962C8B-B14F-4D97-AF65-F5344CB8AC3E}">
        <p14:creationId xmlns:p14="http://schemas.microsoft.com/office/powerpoint/2010/main" val="1278167675"/>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2342</Words>
  <Application>Microsoft Office PowerPoint</Application>
  <PresentationFormat>Widescreen</PresentationFormat>
  <Paragraphs>220</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Arial Black</vt:lpstr>
      <vt:lpstr>Arial Rounded MT Bold</vt:lpstr>
      <vt:lpstr>Calibri</vt:lpstr>
      <vt:lpstr>Courier New</vt:lpstr>
      <vt:lpstr>Gill Sans Nova Light</vt:lpstr>
      <vt:lpstr>Sagona Book</vt:lpstr>
      <vt:lpstr>Custom</vt:lpstr>
      <vt:lpstr>IP ADDRESSES</vt:lpstr>
      <vt:lpstr>What is an IP Address</vt:lpstr>
      <vt:lpstr>Management of an IP Addresses</vt:lpstr>
      <vt:lpstr>Management of an IP Addresses</vt:lpstr>
      <vt:lpstr>Management of an IP Addresses</vt:lpstr>
      <vt:lpstr>Management of an IP Addresses</vt:lpstr>
      <vt:lpstr>Management of an IP Addresses</vt:lpstr>
      <vt:lpstr>IP Address Classes</vt:lpstr>
      <vt:lpstr>IP Address Classes (Cont.)</vt:lpstr>
      <vt:lpstr>IP Address Classes (Cont.)</vt:lpstr>
      <vt:lpstr>Classes of an IPV4 Address</vt:lpstr>
      <vt:lpstr>Classes of an IPV4 Address</vt:lpstr>
      <vt:lpstr>Classes of an IPV4 Address</vt:lpstr>
      <vt:lpstr>Classes of an IPV4 Address</vt:lpstr>
      <vt:lpstr>What is Subnet Mask</vt:lpstr>
      <vt:lpstr>Network ID Vs Host ID</vt:lpstr>
      <vt:lpstr>Network ID Vs Host ID</vt:lpstr>
      <vt:lpstr>Private &amp; Public IP Addresses</vt:lpstr>
      <vt:lpstr>Class full Vs Classless Addresses</vt:lpstr>
      <vt:lpstr>Subnetting</vt:lpstr>
      <vt:lpstr>Why Subnetting??</vt:lpstr>
      <vt:lpstr>Why Subnetting??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2023-12-12T20:05:16Z</dcterms:created>
  <dcterms:modified xsi:type="dcterms:W3CDTF">2024-09-24T07:23:16Z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