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1" r:id="rId3"/>
    <p:sldId id="257" r:id="rId4"/>
    <p:sldId id="270" r:id="rId5"/>
    <p:sldId id="271" r:id="rId6"/>
    <p:sldId id="258" r:id="rId7"/>
    <p:sldId id="272" r:id="rId8"/>
    <p:sldId id="273" r:id="rId9"/>
    <p:sldId id="274" r:id="rId10"/>
    <p:sldId id="278" r:id="rId11"/>
    <p:sldId id="279" r:id="rId12"/>
    <p:sldId id="275" r:id="rId13"/>
    <p:sldId id="276" r:id="rId14"/>
    <p:sldId id="277" r:id="rId15"/>
    <p:sldId id="265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 Extra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804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7502" y="5590237"/>
            <a:ext cx="14099416" cy="140994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757394" y="7522582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8573918" y="3143201"/>
            <a:ext cx="9146584" cy="5246370"/>
            <a:chOff x="0" y="0"/>
            <a:chExt cx="7981950" cy="4578350"/>
          </a:xfrm>
        </p:grpSpPr>
        <p:sp>
          <p:nvSpPr>
            <p:cNvPr id="20" name="Freeform 20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t="-3261" b="-3261"/>
              </a:stretch>
            </a:blipFill>
          </p:spPr>
        </p:sp>
      </p:grpSp>
      <p:sp>
        <p:nvSpPr>
          <p:cNvPr id="25" name="Rectangle 24"/>
          <p:cNvSpPr/>
          <p:nvPr/>
        </p:nvSpPr>
        <p:spPr>
          <a:xfrm>
            <a:off x="980650" y="4585362"/>
            <a:ext cx="579204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 smtClean="0"/>
              <a:t>Just-In-Time Manufacturing</a:t>
            </a:r>
            <a:endParaRPr lang="en-US" sz="6000" b="1" dirty="0"/>
          </a:p>
        </p:txBody>
      </p:sp>
      <p:sp>
        <p:nvSpPr>
          <p:cNvPr id="26" name="Rectangle 25"/>
          <p:cNvSpPr/>
          <p:nvPr/>
        </p:nvSpPr>
        <p:spPr>
          <a:xfrm>
            <a:off x="5410200" y="344824"/>
            <a:ext cx="73580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 smtClean="0"/>
              <a:t>Presentation</a:t>
            </a:r>
            <a:endParaRPr lang="en-US" sz="9600" b="1" dirty="0"/>
          </a:p>
        </p:txBody>
      </p:sp>
      <p:sp>
        <p:nvSpPr>
          <p:cNvPr id="27" name="Rectangle 26"/>
          <p:cNvSpPr/>
          <p:nvPr/>
        </p:nvSpPr>
        <p:spPr>
          <a:xfrm>
            <a:off x="1006050" y="2875237"/>
            <a:ext cx="42512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 smtClean="0"/>
              <a:t>Topic</a:t>
            </a:r>
            <a:endParaRPr lang="en-US" sz="8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143500"/>
          </a:xfrm>
          <a:custGeom>
            <a:avLst/>
            <a:gdLst/>
            <a:ahLst/>
            <a:cxnLst/>
            <a:rect l="l" t="t" r="r" b="b"/>
            <a:pathLst>
              <a:path w="18288000" h="51435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406" b="-6448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273448" y="2590556"/>
            <a:ext cx="11552885" cy="5829544"/>
            <a:chOff x="0" y="0"/>
            <a:chExt cx="3042735" cy="1344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42735" cy="1344760"/>
            </a:xfrm>
            <a:custGeom>
              <a:avLst/>
              <a:gdLst/>
              <a:ahLst/>
              <a:cxnLst/>
              <a:rect l="l" t="t" r="r" b="b"/>
              <a:pathLst>
                <a:path w="3042735" h="1344760">
                  <a:moveTo>
                    <a:pt x="0" y="0"/>
                  </a:moveTo>
                  <a:lnTo>
                    <a:pt x="3042735" y="0"/>
                  </a:lnTo>
                  <a:lnTo>
                    <a:pt x="3042735" y="1344760"/>
                  </a:lnTo>
                  <a:lnTo>
                    <a:pt x="0" y="134476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42735" cy="138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48200" y="2903493"/>
            <a:ext cx="9144000" cy="4206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Group Members</a:t>
            </a:r>
          </a:p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Abdul </a:t>
            </a:r>
            <a:r>
              <a:rPr lang="en-US" sz="5854" dirty="0" err="1" smtClean="0">
                <a:solidFill>
                  <a:srgbClr val="FDFDFD"/>
                </a:solidFill>
                <a:latin typeface="Open Sans Extra Bold"/>
              </a:rPr>
              <a:t>Rafay</a:t>
            </a: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 </a:t>
            </a:r>
            <a:r>
              <a:rPr lang="en-US" sz="5854" dirty="0" err="1" smtClean="0">
                <a:solidFill>
                  <a:srgbClr val="FDFDFD"/>
                </a:solidFill>
                <a:latin typeface="Open Sans Extra Bold"/>
              </a:rPr>
              <a:t>Abbasi</a:t>
            </a: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/>
            </a:r>
            <a:br>
              <a:rPr lang="en-US" sz="5854" dirty="0" smtClean="0">
                <a:solidFill>
                  <a:srgbClr val="FDFDFD"/>
                </a:solidFill>
                <a:latin typeface="Open Sans Extra Bold"/>
              </a:rPr>
            </a:b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Ijlal Ahmad</a:t>
            </a:r>
          </a:p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M </a:t>
            </a:r>
            <a:r>
              <a:rPr lang="en-US" sz="5854" dirty="0" err="1" smtClean="0">
                <a:solidFill>
                  <a:srgbClr val="FDFDFD"/>
                </a:solidFill>
                <a:latin typeface="Open Sans Extra Bold"/>
              </a:rPr>
              <a:t>Atif</a:t>
            </a: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 </a:t>
            </a:r>
            <a:r>
              <a:rPr lang="en-US" sz="5854" dirty="0" err="1" smtClean="0">
                <a:solidFill>
                  <a:srgbClr val="FDFDFD"/>
                </a:solidFill>
                <a:latin typeface="Open Sans Extra Bold"/>
              </a:rPr>
              <a:t>Sajjad</a:t>
            </a:r>
            <a:endParaRPr lang="en-US" sz="5854" dirty="0">
              <a:solidFill>
                <a:srgbClr val="FDFDFD"/>
              </a:solidFill>
              <a:latin typeface="Open San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7824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    </a:t>
            </a:r>
            <a:r>
              <a:rPr lang="en-US" sz="4000" dirty="0" err="1" smtClean="0">
                <a:solidFill>
                  <a:srgbClr val="051D40"/>
                </a:solidFill>
                <a:latin typeface="Open Sans Extra Bold"/>
              </a:rPr>
              <a:t>Introdution</a:t>
            </a: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 to JIT Manufacturing</a:t>
            </a:r>
          </a:p>
          <a:p>
            <a:pPr algn="l">
              <a:spcBef>
                <a:spcPct val="0"/>
              </a:spcBef>
            </a:pPr>
            <a:endParaRPr lang="en-US" sz="4000" b="1" dirty="0" smtClean="0">
              <a:solidFill>
                <a:srgbClr val="051D40"/>
              </a:solidFill>
              <a:latin typeface="Open Sans Extra Bold"/>
            </a:endParaRPr>
          </a:p>
          <a:p>
            <a:pPr>
              <a:spcBef>
                <a:spcPct val="0"/>
              </a:spcBef>
            </a:pP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/>
          <p:cNvSpPr/>
          <p:nvPr/>
        </p:nvSpPr>
        <p:spPr>
          <a:xfrm>
            <a:off x="1517559" y="2628900"/>
            <a:ext cx="8769441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51D40"/>
                </a:solidFill>
                <a:latin typeface="Open Sans Extra Bold"/>
              </a:rPr>
              <a:t>Definition: </a:t>
            </a:r>
          </a:p>
          <a:p>
            <a:r>
              <a:rPr lang="en-US" sz="2800" dirty="0" smtClean="0"/>
              <a:t>Just-In-Time </a:t>
            </a:r>
            <a:r>
              <a:rPr lang="en-US" sz="2800" dirty="0"/>
              <a:t>(JIT) is a production strategy that aligns raw material orders with production schedules, minimizing inventory and waste</a:t>
            </a:r>
            <a:r>
              <a:rPr lang="en-US" sz="2800" dirty="0" smtClean="0"/>
              <a:t>.-</a:t>
            </a:r>
          </a:p>
          <a:p>
            <a:endParaRPr lang="en-US" sz="2800" dirty="0"/>
          </a:p>
          <a:p>
            <a:r>
              <a:rPr lang="en-US" sz="3200" b="1" dirty="0" smtClean="0"/>
              <a:t>Goal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To </a:t>
            </a:r>
            <a:r>
              <a:rPr lang="en-US" sz="2800" dirty="0"/>
              <a:t>reduce production costs, improve lead time, and increase product quality.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227" y="2287429"/>
            <a:ext cx="7890868" cy="4418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    How JIT Manufacturing </a:t>
            </a: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Works</a:t>
            </a:r>
            <a:endParaRPr lang="en-US" sz="4000" b="1" dirty="0" smtClean="0">
              <a:solidFill>
                <a:srgbClr val="051D40"/>
              </a:solidFill>
              <a:latin typeface="Open Sans Extra Bold"/>
            </a:endParaRPr>
          </a:p>
          <a:p>
            <a:pPr>
              <a:spcBef>
                <a:spcPct val="0"/>
              </a:spcBef>
            </a:pP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34800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7" r="-2387"/>
            </a:stretch>
          </a:blipFill>
        </p:spPr>
      </p:sp>
      <p:sp>
        <p:nvSpPr>
          <p:cNvPr id="34" name="Rectangle 33"/>
          <p:cNvSpPr/>
          <p:nvPr/>
        </p:nvSpPr>
        <p:spPr>
          <a:xfrm>
            <a:off x="1517559" y="2628900"/>
            <a:ext cx="8769441" cy="8340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Kanban </a:t>
            </a:r>
            <a:r>
              <a:rPr lang="en-US" sz="2800" b="1" dirty="0"/>
              <a:t>System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visual system for managing production workflows and inventory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Continuous </a:t>
            </a:r>
            <a:r>
              <a:rPr lang="en-US" sz="2800" b="1" dirty="0"/>
              <a:t>Improvement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Focus </a:t>
            </a:r>
            <a:r>
              <a:rPr lang="en-US" sz="2800" dirty="0"/>
              <a:t>on eliminating waste and improving efficiency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 smtClean="0"/>
              <a:t>Role </a:t>
            </a:r>
            <a:r>
              <a:rPr lang="en-US" sz="2800" b="1" dirty="0"/>
              <a:t>of Workers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Each </a:t>
            </a:r>
            <a:r>
              <a:rPr lang="en-US" sz="2800" dirty="0"/>
              <a:t>worker is responsible for quality and efficiency in their tasks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Preventative </a:t>
            </a:r>
            <a:r>
              <a:rPr lang="en-US" sz="2800" b="1" dirty="0"/>
              <a:t>Maintenance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Ensures </a:t>
            </a:r>
            <a:r>
              <a:rPr lang="en-US" sz="2800" dirty="0"/>
              <a:t>machinery and equipment remain operational to avoid delays.</a:t>
            </a:r>
            <a:endParaRPr lang="en-US" sz="2800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4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Steps </a:t>
            </a: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to Implement JIT </a:t>
            </a: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      Manufacturing</a:t>
            </a:r>
            <a:endParaRPr lang="en-US" sz="4000" b="1" dirty="0" smtClean="0">
              <a:solidFill>
                <a:srgbClr val="051D40"/>
              </a:solidFill>
              <a:latin typeface="Open Sans Extra Bold"/>
            </a:endParaRPr>
          </a:p>
          <a:p>
            <a:pPr>
              <a:spcBef>
                <a:spcPct val="0"/>
              </a:spcBef>
            </a:pP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/>
          <p:cNvSpPr/>
          <p:nvPr/>
        </p:nvSpPr>
        <p:spPr>
          <a:xfrm>
            <a:off x="1517559" y="2628900"/>
            <a:ext cx="8769441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Demand Forecasting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Understand </a:t>
            </a:r>
            <a:r>
              <a:rPr lang="en-US" sz="2800" dirty="0"/>
              <a:t>future material </a:t>
            </a:r>
            <a:r>
              <a:rPr lang="en-US" sz="2800" dirty="0" smtClean="0"/>
              <a:t>needs.</a:t>
            </a:r>
          </a:p>
          <a:p>
            <a:endParaRPr lang="en-US" sz="2800" dirty="0"/>
          </a:p>
          <a:p>
            <a:r>
              <a:rPr lang="en-US" sz="2800" b="1" dirty="0" smtClean="0"/>
              <a:t>Capacity </a:t>
            </a:r>
            <a:r>
              <a:rPr lang="en-US" sz="2800" b="1" dirty="0"/>
              <a:t>Planning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Ensure </a:t>
            </a:r>
            <a:r>
              <a:rPr lang="en-US" sz="2800" dirty="0"/>
              <a:t>production capacity aligns with product demand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Supplier </a:t>
            </a:r>
            <a:r>
              <a:rPr lang="en-US" sz="2800" b="1" dirty="0"/>
              <a:t>Relationships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Develop </a:t>
            </a:r>
            <a:r>
              <a:rPr lang="en-US" sz="2800" dirty="0"/>
              <a:t>strong, reliable relationships with </a:t>
            </a:r>
            <a:r>
              <a:rPr lang="en-US" sz="2800" dirty="0" smtClean="0"/>
              <a:t>suppliers.</a:t>
            </a:r>
          </a:p>
          <a:p>
            <a:endParaRPr lang="en-US" sz="2800" dirty="0"/>
          </a:p>
          <a:p>
            <a:r>
              <a:rPr lang="en-US" sz="2800" b="1" dirty="0" smtClean="0"/>
              <a:t>Efficient Workflows:</a:t>
            </a:r>
          </a:p>
          <a:p>
            <a:r>
              <a:rPr lang="en-US" sz="2800" dirty="0" smtClean="0"/>
              <a:t>Optimize </a:t>
            </a:r>
            <a:r>
              <a:rPr lang="en-US" sz="2800" dirty="0"/>
              <a:t>production space and workflows to minimize waste.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570" y="2047845"/>
            <a:ext cx="816800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3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143500"/>
          </a:xfrm>
          <a:custGeom>
            <a:avLst/>
            <a:gdLst/>
            <a:ahLst/>
            <a:cxnLst/>
            <a:rect l="l" t="t" r="r" b="b"/>
            <a:pathLst>
              <a:path w="18288000" h="51435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406" b="-6448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67558" y="2590556"/>
            <a:ext cx="11552885" cy="5105887"/>
            <a:chOff x="0" y="0"/>
            <a:chExt cx="3042735" cy="1344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42735" cy="1344760"/>
            </a:xfrm>
            <a:custGeom>
              <a:avLst/>
              <a:gdLst/>
              <a:ahLst/>
              <a:cxnLst/>
              <a:rect l="l" t="t" r="r" b="b"/>
              <a:pathLst>
                <a:path w="3042735" h="1344760">
                  <a:moveTo>
                    <a:pt x="0" y="0"/>
                  </a:moveTo>
                  <a:lnTo>
                    <a:pt x="3042735" y="0"/>
                  </a:lnTo>
                  <a:lnTo>
                    <a:pt x="3042735" y="1344760"/>
                  </a:lnTo>
                  <a:lnTo>
                    <a:pt x="0" y="134476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42735" cy="138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69838" y="2903493"/>
            <a:ext cx="5748323" cy="9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Ijlal Ahmad</a:t>
            </a:r>
            <a:endParaRPr lang="en-US" sz="5854" dirty="0">
              <a:solidFill>
                <a:srgbClr val="FDFDFD"/>
              </a:solidFill>
              <a:latin typeface="Open Sans Extra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798293" y="571500"/>
            <a:ext cx="1014190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Key </a:t>
            </a: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Considerations for JIT Implementation</a:t>
            </a:r>
            <a:endParaRPr lang="en-US" sz="4000" b="1" dirty="0" smtClean="0">
              <a:solidFill>
                <a:srgbClr val="051D40"/>
              </a:solidFill>
              <a:latin typeface="Open Sans Extra Bold"/>
            </a:endParaRPr>
          </a:p>
          <a:p>
            <a:pPr>
              <a:spcBef>
                <a:spcPct val="0"/>
              </a:spcBef>
            </a:pP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/>
          <p:cNvSpPr/>
          <p:nvPr/>
        </p:nvSpPr>
        <p:spPr>
          <a:xfrm>
            <a:off x="1517559" y="2628900"/>
            <a:ext cx="876944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Supply </a:t>
            </a:r>
            <a:r>
              <a:rPr lang="en-US" sz="2800" b="1" dirty="0"/>
              <a:t>Chain Management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Build </a:t>
            </a:r>
            <a:r>
              <a:rPr lang="en-US" sz="2800" dirty="0"/>
              <a:t>efficient transportation and communication </a:t>
            </a:r>
            <a:r>
              <a:rPr lang="en-US" sz="2800" dirty="0" smtClean="0"/>
              <a:t>methods.</a:t>
            </a:r>
          </a:p>
          <a:p>
            <a:endParaRPr lang="en-US" sz="2800" b="1" dirty="0"/>
          </a:p>
          <a:p>
            <a:r>
              <a:rPr lang="en-US" sz="2800" b="1" dirty="0" smtClean="0"/>
              <a:t>Lead Time:</a:t>
            </a:r>
          </a:p>
          <a:p>
            <a:r>
              <a:rPr lang="en-US" sz="2800" dirty="0" smtClean="0"/>
              <a:t>Know </a:t>
            </a:r>
            <a:r>
              <a:rPr lang="en-US" sz="2800" dirty="0"/>
              <a:t>the time it takes from production start to finish</a:t>
            </a:r>
            <a:r>
              <a:rPr lang="en-US" sz="2800" dirty="0" smtClean="0"/>
              <a:t>.</a:t>
            </a:r>
          </a:p>
          <a:p>
            <a:endParaRPr lang="en-US" sz="2800" b="1" dirty="0"/>
          </a:p>
          <a:p>
            <a:r>
              <a:rPr lang="en-US" sz="2800" b="1" dirty="0" smtClean="0"/>
              <a:t>Waste </a:t>
            </a:r>
            <a:r>
              <a:rPr lang="en-US" sz="2800" b="1" dirty="0"/>
              <a:t>Reduction</a:t>
            </a:r>
            <a:r>
              <a:rPr lang="en-US" sz="2800" b="1" dirty="0" smtClean="0"/>
              <a:t>: </a:t>
            </a:r>
            <a:r>
              <a:rPr lang="en-US" sz="2800" dirty="0"/>
              <a:t>Focus on eliminating non-value-added processes.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60" y="1433274"/>
            <a:ext cx="7620000" cy="592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7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 JIT </a:t>
            </a: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Manufacturing vs. Lean </a:t>
            </a: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       Manufacturing</a:t>
            </a:r>
            <a:endParaRPr lang="en-US" sz="4000" b="1" dirty="0" smtClean="0">
              <a:solidFill>
                <a:srgbClr val="051D40"/>
              </a:solidFill>
              <a:latin typeface="Open Sans Extra Bold"/>
            </a:endParaRPr>
          </a:p>
          <a:p>
            <a:pPr>
              <a:spcBef>
                <a:spcPct val="0"/>
              </a:spcBef>
            </a:pP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/>
          <p:cNvSpPr/>
          <p:nvPr/>
        </p:nvSpPr>
        <p:spPr>
          <a:xfrm>
            <a:off x="1517559" y="2628900"/>
            <a:ext cx="876944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JIT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Focuses </a:t>
            </a:r>
            <a:r>
              <a:rPr lang="en-US" sz="2800" dirty="0"/>
              <a:t>specifically on inventory and material requirements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Lean </a:t>
            </a:r>
            <a:r>
              <a:rPr lang="en-US" sz="2800" b="1" dirty="0"/>
              <a:t>Manufacturing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Broader </a:t>
            </a:r>
            <a:r>
              <a:rPr lang="en-US" sz="2800" dirty="0"/>
              <a:t>process aimed at overall efficiency, continuous improvement, and waste reduction.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990" y="1332834"/>
            <a:ext cx="8671473" cy="662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1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Benefits of JIT Manufacturing</a:t>
            </a:r>
            <a:endParaRPr lang="en-US" sz="4000" b="1" dirty="0" smtClean="0">
              <a:solidFill>
                <a:srgbClr val="051D40"/>
              </a:solidFill>
              <a:latin typeface="Open Sans Extra Bold"/>
            </a:endParaRPr>
          </a:p>
          <a:p>
            <a:pPr>
              <a:spcBef>
                <a:spcPct val="0"/>
              </a:spcBef>
            </a:pP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/>
          <p:cNvSpPr/>
          <p:nvPr/>
        </p:nvSpPr>
        <p:spPr>
          <a:xfrm>
            <a:off x="1517559" y="2628900"/>
            <a:ext cx="8769441" cy="790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Reduced </a:t>
            </a:r>
            <a:r>
              <a:rPr lang="en-US" sz="2800" b="1" dirty="0"/>
              <a:t>Inventory Costs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No </a:t>
            </a:r>
            <a:r>
              <a:rPr lang="en-US" sz="2800" dirty="0"/>
              <a:t>need to store excess materials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Lower </a:t>
            </a:r>
            <a:r>
              <a:rPr lang="en-US" sz="2800" b="1" dirty="0"/>
              <a:t>Labor Costs</a:t>
            </a:r>
            <a:r>
              <a:rPr lang="en-US" sz="2800" dirty="0" smtClean="0"/>
              <a:t>: </a:t>
            </a:r>
            <a:r>
              <a:rPr lang="en-US" sz="2800" dirty="0"/>
              <a:t>Less downtime and more efficient </a:t>
            </a:r>
            <a:r>
              <a:rPr lang="en-US" sz="2800" dirty="0" smtClean="0"/>
              <a:t>production.</a:t>
            </a:r>
          </a:p>
          <a:p>
            <a:endParaRPr lang="en-US" sz="2800" dirty="0" smtClean="0"/>
          </a:p>
          <a:p>
            <a:r>
              <a:rPr lang="en-US" sz="2800" b="1" dirty="0" smtClean="0"/>
              <a:t>Faster </a:t>
            </a:r>
            <a:r>
              <a:rPr lang="en-US" sz="2800" b="1" dirty="0"/>
              <a:t>Production</a:t>
            </a:r>
            <a:r>
              <a:rPr lang="en-US" sz="2800" b="1" dirty="0" smtClean="0"/>
              <a:t>: </a:t>
            </a:r>
            <a:r>
              <a:rPr lang="en-US" sz="2800" dirty="0" smtClean="0"/>
              <a:t>Shorter </a:t>
            </a:r>
            <a:r>
              <a:rPr lang="en-US" sz="2800" dirty="0"/>
              <a:t>lead times and quicker product cycles</a:t>
            </a:r>
            <a:r>
              <a:rPr lang="en-US" sz="2800" dirty="0" smtClean="0"/>
              <a:t>. </a:t>
            </a:r>
          </a:p>
          <a:p>
            <a:endParaRPr lang="en-US" sz="2800" dirty="0" smtClean="0"/>
          </a:p>
          <a:p>
            <a:r>
              <a:rPr lang="en-US" sz="2800" b="1" dirty="0" smtClean="0"/>
              <a:t>Improved </a:t>
            </a:r>
            <a:r>
              <a:rPr lang="en-US" sz="2800" b="1" dirty="0"/>
              <a:t>Product Quality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Reduced </a:t>
            </a:r>
            <a:r>
              <a:rPr lang="en-US" sz="2800" dirty="0"/>
              <a:t>defects and rework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Cost </a:t>
            </a:r>
            <a:r>
              <a:rPr lang="en-US" sz="2800" b="1" dirty="0"/>
              <a:t>Efficiency</a:t>
            </a:r>
            <a:r>
              <a:rPr lang="en-US" sz="2800" b="1" dirty="0" smtClean="0"/>
              <a:t>: </a:t>
            </a:r>
            <a:r>
              <a:rPr lang="en-US" sz="2800" dirty="0"/>
              <a:t>Save on space, storage, and energy.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443" y="3238499"/>
            <a:ext cx="8443651" cy="471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5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  Challenges of JIT </a:t>
            </a: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Manufacturing</a:t>
            </a: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Rectangle 33"/>
          <p:cNvSpPr/>
          <p:nvPr/>
        </p:nvSpPr>
        <p:spPr>
          <a:xfrm>
            <a:off x="1517559" y="2628900"/>
            <a:ext cx="876944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Supplier </a:t>
            </a:r>
            <a:r>
              <a:rPr lang="en-US" sz="2800" b="1" dirty="0"/>
              <a:t>Dependency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Risks </a:t>
            </a:r>
            <a:r>
              <a:rPr lang="en-US" sz="2800" dirty="0"/>
              <a:t>if suppliers fail to deliver on time.-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b="1" dirty="0" smtClean="0"/>
              <a:t>Demand </a:t>
            </a:r>
            <a:r>
              <a:rPr lang="en-US" sz="2800" b="1" dirty="0"/>
              <a:t>Fluctuations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Inaccurate forecasts can disrupt production.-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b="1" dirty="0" smtClean="0"/>
              <a:t>Risk </a:t>
            </a:r>
            <a:r>
              <a:rPr lang="en-US" sz="2800" b="1" dirty="0"/>
              <a:t>of </a:t>
            </a:r>
            <a:r>
              <a:rPr lang="en-US" sz="2800" b="1" dirty="0" err="1"/>
              <a:t>Stockouts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Insufficient </a:t>
            </a:r>
            <a:r>
              <a:rPr lang="en-US" sz="2800" dirty="0"/>
              <a:t>raw materials can halt production if not managed carefully.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409" y="1494699"/>
            <a:ext cx="9068686" cy="509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5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143500"/>
          </a:xfrm>
          <a:custGeom>
            <a:avLst/>
            <a:gdLst/>
            <a:ahLst/>
            <a:cxnLst/>
            <a:rect l="l" t="t" r="r" b="b"/>
            <a:pathLst>
              <a:path w="18288000" h="51435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406" b="-6448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217" y="9258300"/>
            <a:ext cx="18476217" cy="1028700"/>
            <a:chOff x="0" y="0"/>
            <a:chExt cx="4866164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66164" cy="270933"/>
            </a:xfrm>
            <a:custGeom>
              <a:avLst/>
              <a:gdLst/>
              <a:ahLst/>
              <a:cxnLst/>
              <a:rect l="l" t="t" r="r" b="b"/>
              <a:pathLst>
                <a:path w="4866164" h="270933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67558" y="2590556"/>
            <a:ext cx="11552885" cy="5105887"/>
            <a:chOff x="0" y="0"/>
            <a:chExt cx="3042735" cy="1344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42735" cy="1344760"/>
            </a:xfrm>
            <a:custGeom>
              <a:avLst/>
              <a:gdLst/>
              <a:ahLst/>
              <a:cxnLst/>
              <a:rect l="l" t="t" r="r" b="b"/>
              <a:pathLst>
                <a:path w="3042735" h="1344760">
                  <a:moveTo>
                    <a:pt x="0" y="0"/>
                  </a:moveTo>
                  <a:lnTo>
                    <a:pt x="3042735" y="0"/>
                  </a:lnTo>
                  <a:lnTo>
                    <a:pt x="3042735" y="1344760"/>
                  </a:lnTo>
                  <a:lnTo>
                    <a:pt x="0" y="1344760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42735" cy="138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69838" y="2903493"/>
            <a:ext cx="5748323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endParaRPr lang="en-US" sz="5854" dirty="0" smtClean="0">
              <a:solidFill>
                <a:srgbClr val="FDFDFD"/>
              </a:solidFill>
              <a:latin typeface="Open Sans Extra Bold"/>
            </a:endParaRPr>
          </a:p>
          <a:p>
            <a:pPr algn="ctr">
              <a:lnSpc>
                <a:spcPts val="8195"/>
              </a:lnSpc>
              <a:spcBef>
                <a:spcPct val="0"/>
              </a:spcBef>
            </a:pPr>
            <a:r>
              <a:rPr lang="en-US" sz="5854" dirty="0" smtClean="0">
                <a:solidFill>
                  <a:srgbClr val="FDFDFD"/>
                </a:solidFill>
                <a:latin typeface="Open Sans Extra Bold"/>
              </a:rPr>
              <a:t>M </a:t>
            </a:r>
            <a:r>
              <a:rPr lang="en-US" sz="5854" dirty="0" err="1">
                <a:solidFill>
                  <a:srgbClr val="FDFDFD"/>
                </a:solidFill>
                <a:latin typeface="Open Sans Extra Bold"/>
              </a:rPr>
              <a:t>Atif</a:t>
            </a:r>
            <a:r>
              <a:rPr lang="en-US" sz="5854" dirty="0">
                <a:solidFill>
                  <a:srgbClr val="FDFDFD"/>
                </a:solidFill>
                <a:latin typeface="Open Sans Extra Bold"/>
              </a:rPr>
              <a:t> </a:t>
            </a:r>
            <a:r>
              <a:rPr lang="en-US" sz="5854" dirty="0" err="1">
                <a:solidFill>
                  <a:srgbClr val="FDFDFD"/>
                </a:solidFill>
                <a:latin typeface="Open Sans Extra Bold"/>
              </a:rPr>
              <a:t>Sajjad</a:t>
            </a:r>
            <a:endParaRPr lang="en-US" sz="5854" dirty="0">
              <a:solidFill>
                <a:srgbClr val="FDFDFD"/>
              </a:solidFill>
              <a:latin typeface="Open Sans Extra Bold"/>
            </a:endParaRPr>
          </a:p>
          <a:p>
            <a:pPr marL="0" lvl="0" indent="0" algn="ctr">
              <a:lnSpc>
                <a:spcPts val="8195"/>
              </a:lnSpc>
              <a:spcBef>
                <a:spcPct val="0"/>
              </a:spcBef>
            </a:pPr>
            <a:endParaRPr lang="en-US" sz="5854" dirty="0">
              <a:solidFill>
                <a:srgbClr val="FDFDFD"/>
              </a:solidFill>
              <a:latin typeface="Open San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11118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 Best Practices for JIT Manufacturing</a:t>
            </a: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34800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7" r="-2387"/>
            </a:stretch>
          </a:blipFill>
        </p:spPr>
      </p:sp>
      <p:sp>
        <p:nvSpPr>
          <p:cNvPr id="34" name="Rectangle 33"/>
          <p:cNvSpPr/>
          <p:nvPr/>
        </p:nvSpPr>
        <p:spPr>
          <a:xfrm>
            <a:off x="1517559" y="2628900"/>
            <a:ext cx="8769441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Build </a:t>
            </a:r>
            <a:r>
              <a:rPr lang="en-US" sz="2800" b="1" dirty="0"/>
              <a:t>Strong Supplier Relationships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Ensure </a:t>
            </a:r>
            <a:r>
              <a:rPr lang="en-US" sz="2800" dirty="0"/>
              <a:t>reliable delivery of materials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Work in Small Batches</a:t>
            </a:r>
            <a:r>
              <a:rPr lang="en-US" sz="2800" dirty="0" smtClean="0"/>
              <a:t>:</a:t>
            </a:r>
          </a:p>
          <a:p>
            <a:r>
              <a:rPr lang="en-US" sz="2800" dirty="0" smtClean="0"/>
              <a:t>Helps </a:t>
            </a:r>
            <a:r>
              <a:rPr lang="en-US" sz="2800" dirty="0"/>
              <a:t>reduce storage needs </a:t>
            </a:r>
            <a:r>
              <a:rPr lang="en-US" sz="2800" dirty="0" smtClean="0"/>
              <a:t>and </a:t>
            </a:r>
            <a:r>
              <a:rPr lang="en-US" sz="2800" dirty="0"/>
              <a:t>improves quality control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 smtClean="0"/>
              <a:t>Backward </a:t>
            </a:r>
            <a:r>
              <a:rPr lang="en-US" sz="2800" b="1" dirty="0"/>
              <a:t>Scheduling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Ensure </a:t>
            </a:r>
            <a:r>
              <a:rPr lang="en-US" sz="2800" dirty="0"/>
              <a:t>raw materials and production schedules align with customer demand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Effective </a:t>
            </a:r>
            <a:r>
              <a:rPr lang="en-US" sz="2800" b="1" dirty="0"/>
              <a:t>Communication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Use </a:t>
            </a:r>
            <a:r>
              <a:rPr lang="en-US" sz="2800" dirty="0"/>
              <a:t>centralized platforms for real-time updates.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11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 </a:t>
            </a:r>
            <a:r>
              <a:rPr lang="en-US" sz="4000" dirty="0" err="1">
                <a:solidFill>
                  <a:srgbClr val="051D40"/>
                </a:solidFill>
                <a:latin typeface="Open Sans Extra Bold"/>
              </a:rPr>
              <a:t>ProjectManager</a:t>
            </a: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 for JIT </a:t>
            </a:r>
            <a:r>
              <a:rPr lang="en-US" sz="4000" dirty="0" smtClean="0">
                <a:solidFill>
                  <a:srgbClr val="051D40"/>
                </a:solidFill>
                <a:latin typeface="Open Sans Extra Bold"/>
              </a:rPr>
              <a:t>Manufacturing</a:t>
            </a: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34800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7" r="-2387"/>
            </a:stretch>
          </a:blipFill>
        </p:spPr>
      </p:sp>
      <p:sp>
        <p:nvSpPr>
          <p:cNvPr id="34" name="Rectangle 33"/>
          <p:cNvSpPr/>
          <p:nvPr/>
        </p:nvSpPr>
        <p:spPr>
          <a:xfrm>
            <a:off x="1517559" y="2628900"/>
            <a:ext cx="8769441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Kanban </a:t>
            </a:r>
            <a:r>
              <a:rPr lang="en-US" sz="2800" b="1" dirty="0"/>
              <a:t>Boards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Streamline </a:t>
            </a:r>
            <a:r>
              <a:rPr lang="en-US" sz="2800" dirty="0"/>
              <a:t>production with visual task tracking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Gantt </a:t>
            </a:r>
            <a:r>
              <a:rPr lang="en-US" sz="2800" b="1" dirty="0"/>
              <a:t>Charts</a:t>
            </a:r>
            <a:r>
              <a:rPr lang="en-US" sz="2800" b="1" dirty="0" smtClean="0"/>
              <a:t>: </a:t>
            </a:r>
          </a:p>
          <a:p>
            <a:r>
              <a:rPr lang="en-US" sz="2800" dirty="0" smtClean="0"/>
              <a:t>Plan </a:t>
            </a:r>
            <a:r>
              <a:rPr lang="en-US" sz="2800" dirty="0"/>
              <a:t>and visualize production schedules</a:t>
            </a:r>
            <a:r>
              <a:rPr lang="en-US" sz="2800" dirty="0" smtClean="0"/>
              <a:t>.</a:t>
            </a:r>
          </a:p>
          <a:p>
            <a:endParaRPr lang="en-US" sz="2800" b="1" dirty="0"/>
          </a:p>
          <a:p>
            <a:r>
              <a:rPr lang="en-US" sz="2800" b="1" dirty="0" smtClean="0"/>
              <a:t>Real-Time </a:t>
            </a:r>
            <a:r>
              <a:rPr lang="en-US" sz="2800" b="1" dirty="0"/>
              <a:t>Dashboards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Track </a:t>
            </a:r>
            <a:r>
              <a:rPr lang="en-US" sz="2800" dirty="0"/>
              <a:t>progress and monitor production health</a:t>
            </a:r>
            <a:r>
              <a:rPr lang="en-US" sz="2800" dirty="0" smtClean="0"/>
              <a:t>.</a:t>
            </a:r>
          </a:p>
          <a:p>
            <a:endParaRPr lang="en-US" sz="2800" b="1" dirty="0"/>
          </a:p>
          <a:p>
            <a:r>
              <a:rPr lang="en-US" sz="2800" b="1" dirty="0" smtClean="0"/>
              <a:t>Collaboration </a:t>
            </a:r>
            <a:r>
              <a:rPr lang="en-US" sz="2800" b="1" dirty="0"/>
              <a:t>Tools</a:t>
            </a:r>
            <a:r>
              <a:rPr lang="en-US" sz="2800" b="1" dirty="0" smtClean="0"/>
              <a:t>: </a:t>
            </a:r>
            <a:r>
              <a:rPr lang="en-US" sz="2800" dirty="0"/>
              <a:t>Ensure seamless communication across departments.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4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8293" y="571500"/>
            <a:ext cx="101419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051D40"/>
                </a:solidFill>
                <a:latin typeface="Open Sans Extra Bold"/>
              </a:rPr>
              <a:t> Conclusion</a:t>
            </a:r>
            <a:endParaRPr lang="en-US" sz="3200" dirty="0" smtClean="0">
              <a:solidFill>
                <a:srgbClr val="051D40"/>
              </a:solidFill>
              <a:latin typeface="Open Sans Extr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2514600" y="-1867766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34800" y="447246"/>
            <a:ext cx="5972616" cy="9392508"/>
          </a:xfrm>
          <a:custGeom>
            <a:avLst/>
            <a:gdLst/>
            <a:ahLst/>
            <a:cxnLst/>
            <a:rect l="l" t="t" r="r" b="b"/>
            <a:pathLst>
              <a:path w="5972616" h="9392508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7" r="-2387"/>
            </a:stretch>
          </a:blipFill>
        </p:spPr>
      </p:sp>
      <p:sp>
        <p:nvSpPr>
          <p:cNvPr id="34" name="Rectangle 33"/>
          <p:cNvSpPr/>
          <p:nvPr/>
        </p:nvSpPr>
        <p:spPr>
          <a:xfrm>
            <a:off x="1517559" y="2628900"/>
            <a:ext cx="8769441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Summary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JIT </a:t>
            </a:r>
            <a:r>
              <a:rPr lang="en-US" sz="2800" dirty="0"/>
              <a:t>manufacturing optimizes production by reducing waste and improving efficiency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</a:p>
          <a:p>
            <a:r>
              <a:rPr lang="en-US" sz="2800" b="1" dirty="0" smtClean="0"/>
              <a:t>Key </a:t>
            </a:r>
            <a:r>
              <a:rPr lang="en-US" sz="2800" b="1" dirty="0"/>
              <a:t>Takeaway</a:t>
            </a:r>
            <a:r>
              <a:rPr lang="en-US" sz="2800" dirty="0" smtClean="0"/>
              <a:t>: </a:t>
            </a:r>
            <a:r>
              <a:rPr lang="en-US" sz="2800" dirty="0"/>
              <a:t>Successful implementation requires accurate forecasting, strong supplier relationships, and effective communication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r>
              <a:rPr lang="en-US" sz="2800" b="1" dirty="0" smtClean="0"/>
              <a:t>Call </a:t>
            </a:r>
            <a:r>
              <a:rPr lang="en-US" sz="2800" b="1" dirty="0"/>
              <a:t>to Action</a:t>
            </a:r>
            <a:r>
              <a:rPr lang="en-US" sz="2800" b="1" dirty="0" smtClean="0"/>
              <a:t>:</a:t>
            </a:r>
          </a:p>
          <a:p>
            <a:r>
              <a:rPr lang="en-US" sz="2800" dirty="0" smtClean="0"/>
              <a:t>Explore </a:t>
            </a:r>
            <a:r>
              <a:rPr lang="en-US" sz="2800" dirty="0"/>
              <a:t>tools like </a:t>
            </a:r>
            <a:r>
              <a:rPr lang="en-US" sz="2800" dirty="0" err="1"/>
              <a:t>ProjectManager</a:t>
            </a:r>
            <a:r>
              <a:rPr lang="en-US" sz="2800" dirty="0"/>
              <a:t> to help streamline your JIT manufacturing process.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4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061529" y="2937389"/>
            <a:ext cx="12164941" cy="4412223"/>
            <a:chOff x="0" y="0"/>
            <a:chExt cx="3203935" cy="1162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32775" y="3267746"/>
            <a:ext cx="11622449" cy="227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0"/>
              </a:lnSpc>
              <a:spcBef>
                <a:spcPct val="0"/>
              </a:spcBef>
            </a:pPr>
            <a:r>
              <a:rPr lang="en-US" sz="13257" dirty="0" smtClean="0">
                <a:solidFill>
                  <a:srgbClr val="FFFFFF"/>
                </a:solidFill>
                <a:latin typeface="Open Sans Extra Bold"/>
              </a:rPr>
              <a:t>Thank You</a:t>
            </a:r>
            <a:endParaRPr lang="en-US" sz="13257" dirty="0">
              <a:solidFill>
                <a:srgbClr val="FFFFFF"/>
              </a:solidFill>
              <a:latin typeface="Open Sans Extra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494</Words>
  <Application>Microsoft Office PowerPoint</Application>
  <PresentationFormat>Custom</PresentationFormat>
  <Paragraphs>163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Open Sans Extra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uZaIr kHaN</dc:creator>
  <cp:lastModifiedBy>PMYLS</cp:lastModifiedBy>
  <cp:revision>28</cp:revision>
  <dcterms:created xsi:type="dcterms:W3CDTF">2006-08-16T00:00:00Z</dcterms:created>
  <dcterms:modified xsi:type="dcterms:W3CDTF">2024-11-29T09:05:45Z</dcterms:modified>
  <dc:identifier>DAGHX0nDQXc</dc:identifier>
</cp:coreProperties>
</file>