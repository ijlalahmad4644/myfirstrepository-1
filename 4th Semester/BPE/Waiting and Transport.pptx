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9CA2-BD3D-4203-80BD-45E43FE1F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A487B-F6E8-4DD3-BAF8-EF7C82A78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572CC-2FC7-47AB-96AA-D13130E75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8DF16-3ADA-4500-8C46-4DB9172B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86650-C5D4-4664-97CA-09C847BF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8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290E-1A9A-4CA0-BA0A-6F77F004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5767B-D1B7-466B-92AF-8CF432897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25436-E7A9-43B8-B4D0-62BEE294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7E6D9-D0C6-451F-883D-8AA1EB1C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16B55-A0D2-454A-A435-AA3787E2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9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4B00-1500-4814-AC59-AE1D1C711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24753-2CC3-48DA-B4D8-E969A0182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24DD4-933A-4DBD-81A9-9F862157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C774C-B559-48B4-B047-98B63391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DB5B3-232E-442C-98AC-D295C05C5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8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902D-69D5-43B5-9D32-95FF4AD5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CBDB2-6CD5-4691-A7B7-7C2E1EA96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3AAA0-5961-4B14-9887-0953CC802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A40A1-44F0-4C89-98F3-7105CA3F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15107-9C56-4655-83A8-586583D3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11BEC-1339-4A5E-A492-8387E703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43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01F8-3E6D-4288-85E2-80FAE101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288F6-15C7-460E-8056-939AF6E6C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1251B-4C0E-4160-8B23-45BEC9F9A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03AF4-6EBD-4DF7-9945-A6204432E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8B1B3-6FD3-4CE9-B466-74E18D065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F4695D-3EDF-45AD-B462-C3618C3A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27C84-64AD-4950-99AF-ED9E7D7B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557B8-D99D-4D38-91AE-147F6725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5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4A5C-8115-4DB4-B307-8AE52F34E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6D3E3-8B2A-4145-9A0E-CF4E988B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5B2C5-EE21-4A71-A534-2DACE252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33041-6544-4342-89D0-96CD30DD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38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A7A5A-21B9-4169-BD23-A3E055CE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511E31-154B-4726-A97C-623CF0AB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8CC99-886B-4258-B143-4F7BBC99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9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0C13F-D2BB-4997-BE08-08701B72F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0687-F14E-4963-86A4-52ECF3EC3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3997B-39AB-4CB4-B15A-9A62C2044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CC7F3-893F-485C-BF77-020E2CD5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71EE3-3856-4CD9-AB99-571DCC263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5A202-F144-4462-8D09-911501B2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6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AE7C-17CF-4696-BD37-89478E1C1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21A16-679A-4067-8B58-C313DC77D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5FBE7-2366-46A8-97F8-2A3551679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E656B-82D1-4483-AAE6-91C0F825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A6302-D60C-41E9-993F-5990C84DB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E1DB8-35B0-4556-92E3-59FC17B2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0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48767-FBF6-4655-A88C-35FE8EEF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B0377-3501-4331-9034-B54BBF0FC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5ACEA-4A76-4F55-8A92-0645E329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73AAA-1AF0-4F4A-BECA-011C6E7AC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75AAC-E34A-42D2-9B0F-329DE2B7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3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8A359-4691-406E-A38E-A9E853FD1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246D1-D502-4153-8660-95B006CA8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808F6-E032-4124-AA73-761030B3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740E1-0980-4C06-859E-6BDED6AA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8FFEE-A42B-468C-907B-579173A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6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7EC4C7-D53F-4ECB-9E69-ECF7D6D1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D4C12-4D88-4499-AE8B-74FEE5C7B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C3129-E6B5-471A-AB80-E144815AF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0CB68-AA3D-424B-9F05-DEDD8925FEE0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D6A95-3FD8-4724-A008-0BF890ED3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FAF73-E783-49D7-B886-3BDA9BCF8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7D58D-A581-4434-8316-528187F39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69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1A31-5447-4F28-853D-0060A6D77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1083212"/>
          </a:xfrm>
        </p:spPr>
        <p:txBody>
          <a:bodyPr/>
          <a:lstStyle/>
          <a:p>
            <a:r>
              <a:rPr lang="en-US" dirty="0"/>
              <a:t>Waiting and Transport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A35B7-A2B7-40A6-ACB3-ABA9673DC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0498"/>
            <a:ext cx="9144000" cy="5507502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Waiting and Transport are two of the eight wastes (MUDA) in Business Process Excellence (BPE) and Lean Manufacturing.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*Waiting:*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_Definition:_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Unnecessary delays or idle time in processes, resulting in wasted time and resources.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_Types of Waiting:_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Idle time due to equipment downtime</a:t>
            </a:r>
          </a:p>
          <a:p>
            <a:r>
              <a:rPr lang="en-US" dirty="0"/>
              <a:t>2. Waiting for materials or information</a:t>
            </a:r>
          </a:p>
          <a:p>
            <a:r>
              <a:rPr lang="en-US" dirty="0"/>
              <a:t>3. Queues and bottlenecks</a:t>
            </a:r>
          </a:p>
          <a:p>
            <a:r>
              <a:rPr lang="en-US" dirty="0"/>
              <a:t>4. Excessive setup and changeover times</a:t>
            </a:r>
          </a:p>
          <a:p>
            <a:r>
              <a:rPr lang="en-US" dirty="0"/>
              <a:t>5. Waiting for approvals or decisions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01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F7DAA-CFCC-4C53-BEA0-A8113671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85BE0-6911-40B6-A7F3-DF416121E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_Causes of Waiting:_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Inefficient processes</a:t>
            </a:r>
          </a:p>
          <a:p>
            <a:r>
              <a:rPr lang="en-US" dirty="0"/>
              <a:t>2. Lack of standardization</a:t>
            </a:r>
          </a:p>
          <a:p>
            <a:r>
              <a:rPr lang="en-US" dirty="0"/>
              <a:t>3. Insufficient training</a:t>
            </a:r>
          </a:p>
          <a:p>
            <a:r>
              <a:rPr lang="en-US" dirty="0"/>
              <a:t>4. Poor communication</a:t>
            </a:r>
          </a:p>
          <a:p>
            <a:r>
              <a:rPr lang="en-US" dirty="0"/>
              <a:t>5. Inadequate resources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5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4A31-B5F4-4221-9D8C-46E43D14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C32EB-9486-4EB7-9D79-8DAC9AC1B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_Consequences of Waiting:_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Reduced productivity</a:t>
            </a:r>
          </a:p>
          <a:p>
            <a:r>
              <a:rPr lang="en-US" dirty="0"/>
              <a:t>2. Increased lead times</a:t>
            </a:r>
          </a:p>
          <a:p>
            <a:r>
              <a:rPr lang="en-US" dirty="0"/>
              <a:t>3. Decreased customer satisfaction</a:t>
            </a:r>
          </a:p>
          <a:p>
            <a:r>
              <a:rPr lang="en-US" dirty="0"/>
              <a:t>4. Increased costs</a:t>
            </a:r>
          </a:p>
          <a:p>
            <a:r>
              <a:rPr lang="en-US" dirty="0"/>
              <a:t>5. Reduced quality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2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7F4EE-98D6-4966-B1EB-CDAA3BCA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8AB4D-388C-4C64-8D4F-B8ADC749B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Transport:*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_Definition:_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Unnecessary movement of materials, products, or information, resulting in wasted time, resources, and increased risk of damage.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_Types of Transport:_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Excessive material handling</a:t>
            </a:r>
          </a:p>
          <a:p>
            <a:r>
              <a:rPr lang="en-US" dirty="0"/>
              <a:t>2. Unnecessary movement between processes</a:t>
            </a:r>
          </a:p>
          <a:p>
            <a:r>
              <a:rPr lang="en-US" dirty="0"/>
              <a:t>3. Long distances between workstations</a:t>
            </a:r>
          </a:p>
          <a:p>
            <a:r>
              <a:rPr lang="en-US" dirty="0"/>
              <a:t>4. Inefficient supply chain management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26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D93D-144E-48E9-99C7-73E95E9F2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32AAC-AF3B-4F26-BED9-3D4082E6B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_Causes of Transport:_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Poor facility layout</a:t>
            </a:r>
          </a:p>
          <a:p>
            <a:r>
              <a:rPr lang="en-US" dirty="0"/>
              <a:t>2. Inefficient process design</a:t>
            </a:r>
          </a:p>
          <a:p>
            <a:r>
              <a:rPr lang="en-US" dirty="0"/>
              <a:t>3. Lack of standardization</a:t>
            </a:r>
          </a:p>
          <a:p>
            <a:r>
              <a:rPr lang="en-US" dirty="0"/>
              <a:t>4. Insufficient training</a:t>
            </a:r>
          </a:p>
          <a:p>
            <a:r>
              <a:rPr lang="en-US" dirty="0"/>
              <a:t>5. Inadequate technology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49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7E353-A664-4228-9074-ABDB9011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38AA5-96F1-4ACA-B72A-FFEA3DCF6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_Consequences of Transport:_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Increased costs</a:t>
            </a:r>
          </a:p>
          <a:p>
            <a:r>
              <a:rPr lang="en-US" dirty="0"/>
              <a:t>2. Reduced productivity</a:t>
            </a:r>
          </a:p>
          <a:p>
            <a:r>
              <a:rPr lang="en-US" dirty="0"/>
              <a:t>3. Increased risk of damage</a:t>
            </a:r>
          </a:p>
          <a:p>
            <a:r>
              <a:rPr lang="en-US" dirty="0"/>
              <a:t>4. Decreased quality</a:t>
            </a:r>
          </a:p>
          <a:p>
            <a:r>
              <a:rPr lang="en-US" dirty="0"/>
              <a:t>5. Increased lead times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83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392D-5B80-4A9D-B91E-E92FD4122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0D52-971A-4340-AEAE-59A821808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Solutions:*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Implement Just-In-Time (JIT) production</a:t>
            </a:r>
          </a:p>
          <a:p>
            <a:r>
              <a:rPr lang="en-US" dirty="0"/>
              <a:t>2. Improve process efficiency</a:t>
            </a:r>
          </a:p>
          <a:p>
            <a:r>
              <a:rPr lang="en-US" dirty="0"/>
              <a:t>3. Standardize processes</a:t>
            </a:r>
          </a:p>
          <a:p>
            <a:r>
              <a:rPr lang="en-US" dirty="0"/>
              <a:t>4. Reduce setup and changeover times</a:t>
            </a:r>
          </a:p>
          <a:p>
            <a:r>
              <a:rPr lang="en-US" dirty="0"/>
              <a:t>5. Implement pull production</a:t>
            </a:r>
          </a:p>
          <a:p>
            <a:r>
              <a:rPr lang="en-US" dirty="0"/>
              <a:t>6. Optimize facility layout</a:t>
            </a:r>
          </a:p>
          <a:p>
            <a:r>
              <a:rPr lang="en-US" dirty="0"/>
              <a:t>7. Implement total productive maintenance (TPM)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61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B21E-2CFC-4CD2-825C-7EBF91713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C334-32DF-47CE-A6DF-2E685E469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_BPE Tools:_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Value Stream Mapping (VSM)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Fishbone Diagrams</a:t>
            </a:r>
          </a:p>
          <a:p>
            <a:r>
              <a:rPr lang="en-US" dirty="0"/>
              <a:t>4. Pareto Analysis</a:t>
            </a:r>
          </a:p>
          <a:p>
            <a:r>
              <a:rPr lang="en-US" dirty="0"/>
              <a:t>5. Six Thinking Hats</a:t>
            </a:r>
          </a:p>
          <a:p>
            <a:r>
              <a:rPr lang="en-US" dirty="0"/>
              <a:t>6. Kanban</a:t>
            </a:r>
          </a:p>
          <a:p>
            <a:r>
              <a:rPr lang="en-US" dirty="0"/>
              <a:t>7. Continuous Improvement (Kaizen)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688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DE86-4370-48C8-AE79-E765EEB2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067FD-4783-4945-8C27-48549D47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Metrics:*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Lead Time</a:t>
            </a:r>
          </a:p>
          <a:p>
            <a:r>
              <a:rPr lang="en-US" dirty="0"/>
              <a:t>2. Cycle Time</a:t>
            </a:r>
          </a:p>
          <a:p>
            <a:r>
              <a:rPr lang="en-US" dirty="0"/>
              <a:t>3. Throughput</a:t>
            </a:r>
          </a:p>
          <a:p>
            <a:r>
              <a:rPr lang="en-US" dirty="0"/>
              <a:t>4. Inventory Turns</a:t>
            </a:r>
          </a:p>
          <a:p>
            <a:r>
              <a:rPr lang="en-US" dirty="0"/>
              <a:t>5. Transport Distance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378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B675-5304-4000-9914-07764F71F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8D2B8-1FF6-4362-BA7F-2F53B3B81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Industry Applications:*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Manufacturing</a:t>
            </a:r>
          </a:p>
          <a:p>
            <a:r>
              <a:rPr lang="en-US" dirty="0"/>
              <a:t>2. Healthcare</a:t>
            </a:r>
          </a:p>
          <a:p>
            <a:r>
              <a:rPr lang="en-US" dirty="0"/>
              <a:t>3. Service industries</a:t>
            </a:r>
          </a:p>
          <a:p>
            <a:r>
              <a:rPr lang="en-US" dirty="0"/>
              <a:t>4. Logistics and transportation</a:t>
            </a:r>
          </a:p>
          <a:p>
            <a:r>
              <a:rPr lang="en-US" dirty="0"/>
              <a:t>5. Technology and software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40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415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Waiting and Transport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Waiting and Transport</dc:title>
  <dc:creator>user</dc:creator>
  <cp:lastModifiedBy>user</cp:lastModifiedBy>
  <cp:revision>11</cp:revision>
  <dcterms:created xsi:type="dcterms:W3CDTF">2024-12-01T15:57:49Z</dcterms:created>
  <dcterms:modified xsi:type="dcterms:W3CDTF">2024-12-01T16:05:26Z</dcterms:modified>
</cp:coreProperties>
</file>