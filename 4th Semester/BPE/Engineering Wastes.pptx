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61" r:id="rId5"/>
    <p:sldId id="258" r:id="rId6"/>
    <p:sldId id="262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2" d="100"/>
          <a:sy n="82" d="100"/>
        </p:scale>
        <p:origin x="27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FFF3C-AA39-4FC3-B688-C0132EF19C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741BB5-B21A-46FC-9F32-1E48F1325D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E1A16-8B47-4CB0-8D42-D1109EBFE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98242-9ACE-46FC-A85E-804455C1BE6B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AC365-2A4D-491A-AAAC-893CEDD89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DA11B-3451-4A56-A0F7-041FA1C58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B491D-4252-466B-87D0-E224AFC0A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371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EEC21-00BF-494F-ACE4-AFE933F2C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CBEF5-2CC8-4711-A421-EABDA99B6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825FB-37F9-4688-AADB-6C91C3885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98242-9ACE-46FC-A85E-804455C1BE6B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5975C-2E5C-443B-9EA2-7B8F6624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A1FD2-BEF9-41A1-BF4B-D4D2AF018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B491D-4252-466B-87D0-E224AFC0A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810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7DF57-7409-48C0-B6A8-BF6D25A38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5A0FD-F58C-4FCD-8D4F-9AF8A7DB3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28990-6DF2-4A9F-9F07-8E9B038EE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98242-9ACE-46FC-A85E-804455C1BE6B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FEFD7-CD08-41FE-A065-491BECAB4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71146-E015-41DA-AEB1-20F0F05F7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B491D-4252-466B-87D0-E224AFC0A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374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0C73B-1B6C-45CE-9C8A-5DCE22DF6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4646C-A6CB-4EDE-A571-F852AE0424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51EBBF-9CA1-4E3F-8CF9-A037BD24F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B2D96B-42F7-49B5-8D8D-DB16BC5F0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98242-9ACE-46FC-A85E-804455C1BE6B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DE32A-E726-4D38-9F0B-E47DDEBE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79506-A94E-48DB-8689-1E8826145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B491D-4252-466B-87D0-E224AFC0A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48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B3C0D-7139-4021-BE17-1C1EA9952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75565-52CC-40A4-B872-AF82F303A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5127BC-3D51-4BD0-91ED-05985344A5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D7E5B5-29F2-4A97-A3F2-CF8EC01B3A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4B31E7-4EF7-4D5B-B0DE-3772B07824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C451D9-E704-4DC8-B9CE-D2A7ED374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98242-9ACE-46FC-A85E-804455C1BE6B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A8CB20-A52F-4D61-931C-8D1CB24FB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81F515-C5CD-4197-BAAE-DFA861C0F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B491D-4252-466B-87D0-E224AFC0A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799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BC7E-C0EA-4053-9F01-CA3BF14C9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794AE2-3B87-4351-ACD6-D64D7A4AA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98242-9ACE-46FC-A85E-804455C1BE6B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9E2FD-85FD-4D6B-836D-C2B66BAEC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4F30A7-03CF-4EF4-9FFC-8D973AEED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B491D-4252-466B-87D0-E224AFC0A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67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1AE3A5-7B42-4937-8DA5-525E8D34F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98242-9ACE-46FC-A85E-804455C1BE6B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9E4D30-61CE-4A2F-822C-50ECA760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BA90A-2F51-4C56-BE2B-41E94A3E6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B491D-4252-466B-87D0-E224AFC0A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834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DC25E-BCF0-4851-8566-FF33752C1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95C43-B1F5-455E-95B0-D51E8DB51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8B98F-A34C-4465-BE1C-CE5DEF5BE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531D9A-1CD5-433F-AC47-95A50BE0F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98242-9ACE-46FC-A85E-804455C1BE6B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F6E3A-CC50-4982-B831-B829860EA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839DF9-BA68-46D6-A235-F677FF0AE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B491D-4252-466B-87D0-E224AFC0A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020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4AA3B-D641-4D38-839C-5E156A625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C5BE01-82FD-4D8B-9457-D18682078C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C2DCB-5F9D-4A6D-BF1F-B2BD80DE4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D7997-1392-47A7-87C2-36980FD96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98242-9ACE-46FC-A85E-804455C1BE6B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A4F78-7630-43A9-B752-6F4022735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844BB7-71F1-489B-BAB1-D21BCC28C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B491D-4252-466B-87D0-E224AFC0A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275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5314B-A001-46D7-B669-53A0C0500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F064A0-0A08-4EFA-B51F-90472BEACA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C9581-BD5E-4F66-A70F-1A73BFD7E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98242-9ACE-46FC-A85E-804455C1BE6B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01237-6451-4D13-B78E-875945CED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8C615-2F48-4DAC-9011-2631A4049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B491D-4252-466B-87D0-E224AFC0A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64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26ACF4-B758-42FE-BB65-340BAAEE25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DDA4C-00B7-4072-9FE8-C9BCB0A1DE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FAF60-23FD-482A-B2B1-77C20224E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98242-9ACE-46FC-A85E-804455C1BE6B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DF823-3E04-4551-B22C-0B957381D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466A6-5A3F-4F5A-BC3C-C66F480E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B491D-4252-466B-87D0-E224AFC0A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95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DEB09D-019D-4428-9E42-3E0F32DB9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84EC4-BB37-4AA9-A330-80527E7AF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5221F-53AA-4177-978B-F718316BB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98242-9ACE-46FC-A85E-804455C1BE6B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F4BE-722E-4969-B15D-D18FC5C12C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75888-6399-45FC-9793-77F07BD650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BB491D-4252-466B-87D0-E224AFC0A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001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0EF8F-62DA-46E7-9DEE-B5D833129E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90033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Engineering Wastes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0C9440-DFC5-40FE-A7CB-399494334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900332"/>
            <a:ext cx="12192000" cy="5957668"/>
          </a:xfrm>
        </p:spPr>
        <p:txBody>
          <a:bodyPr>
            <a:normAutofit/>
          </a:bodyPr>
          <a:lstStyle/>
          <a:p>
            <a:endParaRPr lang="en-US" sz="3600" dirty="0"/>
          </a:p>
          <a:p>
            <a:endParaRPr lang="en-US" sz="3600" dirty="0"/>
          </a:p>
          <a:p>
            <a:r>
              <a:rPr lang="en-US" sz="3600" dirty="0"/>
              <a:t>Engineering wastes, also known as "Engineering MUDA," refer to inefficiencies and non-value-added activities in engineering processes.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636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64C0C-606C-4927-B90F-CD7C96111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813"/>
            <a:ext cx="10515600" cy="88626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Types of Engineering Wastes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EDBCF-E890-4ADA-9FCE-3F48E96CA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55076"/>
            <a:ext cx="12192000" cy="580292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1. Overdesign: Designing products or processes with excessive complexity or features.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2. Rework: Revising or redoing designs due to errors or changes.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3. Waiting: Idle time due to dependencies, lack of information, or resources.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4. Motion: Unnecessary movement of people, materials, or information.</a:t>
            </a:r>
            <a:br>
              <a:rPr lang="en-US" dirty="0"/>
            </a:br>
            <a:endParaRPr lang="en-US" dirty="0"/>
          </a:p>
          <a:p>
            <a:r>
              <a:rPr lang="en-US" dirty="0"/>
              <a:t>5. Inventory: Excess design documentation, unnecessary data storage.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6. Overproduction: Creating more designs or documentation than needed.</a:t>
            </a:r>
            <a:br>
              <a:rPr lang="en-US" dirty="0"/>
            </a:br>
            <a:endParaRPr lang="en-US" dirty="0"/>
          </a:p>
          <a:p>
            <a:r>
              <a:rPr lang="en-US" dirty="0"/>
              <a:t>7. Defects: Errors or flaws in design, leading to rework or scrap.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863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60853-39EF-4F02-A4C7-B49633640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39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Causes of Engineering Wastes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94034-8955-4D80-8860-153508CB0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15926"/>
            <a:ext cx="12192000" cy="5361037"/>
          </a:xfrm>
        </p:spPr>
        <p:txBody>
          <a:bodyPr>
            <a:normAutofit/>
          </a:bodyPr>
          <a:lstStyle/>
          <a:p>
            <a:r>
              <a:rPr lang="en-US" dirty="0"/>
              <a:t>1. Poor communication</a:t>
            </a:r>
          </a:p>
          <a:p>
            <a:r>
              <a:rPr lang="en-US" dirty="0"/>
              <a:t>2. Inadequate requirements gathering</a:t>
            </a:r>
          </a:p>
          <a:p>
            <a:r>
              <a:rPr lang="en-US" dirty="0"/>
              <a:t>3. Insufficient design standards</a:t>
            </a:r>
          </a:p>
          <a:p>
            <a:r>
              <a:rPr lang="en-US" dirty="0"/>
              <a:t>4. Lack of process standardization</a:t>
            </a:r>
          </a:p>
          <a:p>
            <a:r>
              <a:rPr lang="en-US" dirty="0"/>
              <a:t>5. Inefficient tools and software</a:t>
            </a:r>
          </a:p>
          <a:p>
            <a:r>
              <a:rPr lang="en-US" dirty="0"/>
              <a:t>6. Inadequate training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968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81B0B-51F5-477B-B9E0-BD691B71B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8473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Consequences of Engineering Wastes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010F3-A017-4F67-83E7-5E9D6B0E5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84738"/>
            <a:ext cx="12192000" cy="5873262"/>
          </a:xfrm>
        </p:spPr>
        <p:txBody>
          <a:bodyPr>
            <a:normAutofit/>
          </a:bodyPr>
          <a:lstStyle/>
          <a:p>
            <a:r>
              <a:rPr lang="en-US" dirty="0"/>
              <a:t>1. Increased development time and costs</a:t>
            </a:r>
          </a:p>
          <a:p>
            <a:r>
              <a:rPr lang="en-US" dirty="0"/>
              <a:t>2. Reduced product quality</a:t>
            </a:r>
          </a:p>
          <a:p>
            <a:r>
              <a:rPr lang="en-US" dirty="0"/>
              <a:t>3. Decreased customer satisfaction</a:t>
            </a:r>
          </a:p>
          <a:p>
            <a:r>
              <a:rPr lang="en-US" dirty="0"/>
              <a:t>4. Higher maintenance costs</a:t>
            </a:r>
          </a:p>
          <a:p>
            <a:r>
              <a:rPr lang="en-US" dirty="0"/>
              <a:t>5. Reduced competitiveness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746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1AEA6-FBA6-433E-A33E-3B22C1879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53550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Lean Engineering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85E14-2A59-4E38-BCEB-83CB11DE9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56603"/>
            <a:ext cx="12192000" cy="5220360"/>
          </a:xfrm>
        </p:spPr>
        <p:txBody>
          <a:bodyPr>
            <a:normAutofit/>
          </a:bodyPr>
          <a:lstStyle/>
          <a:p>
            <a:r>
              <a:rPr lang="en-US" dirty="0"/>
              <a:t>1. Design for Manufacturability (DFM)</a:t>
            </a:r>
          </a:p>
          <a:p>
            <a:r>
              <a:rPr lang="en-US" dirty="0"/>
              <a:t>2. Design for Assembly (DFA)</a:t>
            </a:r>
          </a:p>
          <a:p>
            <a:r>
              <a:rPr lang="en-US" dirty="0"/>
              <a:t>3. Design for Quality (DFQ)</a:t>
            </a:r>
          </a:p>
          <a:p>
            <a:r>
              <a:rPr lang="en-US" dirty="0"/>
              <a:t>4. Design for Cost (DFC)</a:t>
            </a:r>
          </a:p>
          <a:p>
            <a:r>
              <a:rPr lang="en-US" dirty="0"/>
              <a:t>5. Value Engineering (VE)</a:t>
            </a:r>
          </a:p>
          <a:p>
            <a:r>
              <a:rPr lang="en-US" dirty="0"/>
              <a:t>6. Set-Based Design (SBD)</a:t>
            </a:r>
          </a:p>
          <a:p>
            <a:r>
              <a:rPr lang="en-US" dirty="0"/>
              <a:t>7. Modular Design</a:t>
            </a:r>
          </a:p>
        </p:txBody>
      </p:sp>
    </p:spTree>
    <p:extLst>
      <p:ext uri="{BB962C8B-B14F-4D97-AF65-F5344CB8AC3E}">
        <p14:creationId xmlns:p14="http://schemas.microsoft.com/office/powerpoint/2010/main" val="2917865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BDBBF-1505-40BC-96F4-7A735FF23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97279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Tools and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F833E-F35C-49E5-A548-CF923E814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97280"/>
            <a:ext cx="12192000" cy="576071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Value Stream Mapping (VSM)</a:t>
            </a:r>
          </a:p>
          <a:p>
            <a:r>
              <a:rPr lang="en-US" dirty="0"/>
              <a:t>2. Root Cause Analysis (RCA)</a:t>
            </a:r>
          </a:p>
          <a:p>
            <a:r>
              <a:rPr lang="en-US" dirty="0"/>
              <a:t>3. Fishbone Diagrams</a:t>
            </a:r>
          </a:p>
          <a:p>
            <a:r>
              <a:rPr lang="en-US" dirty="0"/>
              <a:t>4. Pareto Analysis</a:t>
            </a:r>
          </a:p>
          <a:p>
            <a:r>
              <a:rPr lang="en-US" dirty="0"/>
              <a:t>5. Six Thinking Hats</a:t>
            </a:r>
          </a:p>
          <a:p>
            <a:r>
              <a:rPr lang="en-US" dirty="0"/>
              <a:t>6. TRIZ (Theory of Inventive Problem Solving)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151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88912-E589-479A-B897-304E89CB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66799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599AC-D301-483D-808C-4D8FA0363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6800"/>
            <a:ext cx="12192000" cy="57912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Standardize design processes</a:t>
            </a:r>
          </a:p>
          <a:p>
            <a:r>
              <a:rPr lang="en-US" dirty="0"/>
              <a:t>2. Implement design reuse</a:t>
            </a:r>
          </a:p>
          <a:p>
            <a:r>
              <a:rPr lang="en-US" dirty="0"/>
              <a:t>3. Encourage collaboration</a:t>
            </a:r>
          </a:p>
          <a:p>
            <a:r>
              <a:rPr lang="en-US" dirty="0"/>
              <a:t>4. Use design automation tools</a:t>
            </a:r>
          </a:p>
          <a:p>
            <a:r>
              <a:rPr lang="en-US" dirty="0"/>
              <a:t>5. Continuously review and refine designs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395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327</Words>
  <Application>Microsoft Office PowerPoint</Application>
  <PresentationFormat>Widescreen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Engineering Wastes</vt:lpstr>
      <vt:lpstr>Types of Engineering Wastes</vt:lpstr>
      <vt:lpstr>Causes of Engineering Wastes</vt:lpstr>
      <vt:lpstr>Consequences of Engineering Wastes</vt:lpstr>
      <vt:lpstr>Lean Engineering Strategies</vt:lpstr>
      <vt:lpstr>Tools and Techniques</vt:lpstr>
      <vt:lpstr>Best Practices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14</cp:revision>
  <dcterms:created xsi:type="dcterms:W3CDTF">2024-12-01T14:23:50Z</dcterms:created>
  <dcterms:modified xsi:type="dcterms:W3CDTF">2024-12-02T09:23:31Z</dcterms:modified>
</cp:coreProperties>
</file>