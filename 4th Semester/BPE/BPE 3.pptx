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BCF69-A784-DFBE-9BE2-DCF762F7D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DB6D0-79F8-0A3D-C529-F3ED1E543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37E07-DCF0-CDD5-03B7-72DA7F84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07912-A7E0-5538-6130-BC44B299F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FAB42-1704-21C7-6CFB-29ED57219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070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5666-5E2D-C625-EFB0-005502AA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C8804-7378-8C00-A59A-2F59209D8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ADB2F-F95D-DAAE-0B12-89BB6825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C09CB-A6AC-3ECF-1DEF-2CBD4DD9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E4FE2-4256-53FB-9B63-9F4FD149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647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516F-C4CD-7674-521E-0F491CC3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66367-7C02-6ADB-AB26-DF30D6680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E403-7E87-4B43-8BCF-A21491DE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5C3EC-1084-1CF0-BBD7-0F834CF3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277F2-DB43-D459-26BF-A5380A93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5730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5E74-E42B-E502-A470-A92BC55AF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0C12-2190-EB5E-0737-7165DADB5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18517-19C3-37D4-A768-257BB0C9F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98ED6-AC62-C8D0-0CBE-313D0CC0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0EE37-6F8F-8853-5447-F229548B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7F820-5C84-13B8-6569-31F1CA9FD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172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F04B-A28D-AD28-8064-3A2063D1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B125C-763D-62DE-C676-0B9EFA14C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51A6C-D78F-274F-FB28-8320B8B0A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003D1-9F19-028C-B088-875EEEF69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C8C25-8FE7-EE81-BB23-A7D30B2D6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C17FE7-75C3-66F9-38D9-107EE8BE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65624-B279-729B-7E39-8CB82BA8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68554-39EA-63A1-DB27-08182C80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4371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81E1-7E92-58AD-B890-6B6C8163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42E80-599D-AE58-5305-997061FA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249DE-F8D5-C35D-C095-2EAE9B46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CB4E0-4F11-B4EF-A2AE-3C4CFF7BF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130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72E15-139C-8DF4-B32A-70039EAC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3AD5F-D5C0-9D43-25C3-3806466C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58865-2473-ABDB-F354-24DA66C2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661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78C9-1F09-15CD-542F-7ECCDB1B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9F71B-43D6-0AA7-D8A9-71D127666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3F50C-5AE6-C9E1-4B40-491E48A7E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60913-ECB3-5475-E26F-D964D70A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71510-DC22-46DE-B158-42AC20B7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D4FE-0506-B4DC-9E40-FCC0CBEC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4087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49EC-40BE-D25F-328C-55330031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C6A70-188D-538B-9ED0-EF82096CC6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D52DC-98D3-6FFB-CA1C-A377EA09A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5A91F-532F-6BE1-5EE6-4D1C1231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10239-D57C-1D50-6901-C736E4AE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7E850-4516-9EB0-B80D-39EEBB847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2342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BBA7-2028-20BF-52E4-81BB95C0D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5E5D2-4047-63A8-E0AE-52AE52CB0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982C9-ADF1-FD7E-5ADC-C3462461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CADC4-DC81-9E25-FF70-F8E1196E4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4C5DE-6260-5106-7569-2D364661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8434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0F4E0-1A52-96CB-5493-0AD1D5C16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58416-6C46-3FF1-E1A0-FBC1E9A01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CB869-5722-98F8-AB4B-080F8C1C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C3A41-E6FA-C94D-62DB-E36AE323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9E75E-CCD4-56D4-2A61-739AE828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382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CD6D1-E2D4-C81B-3B18-AB17B430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4B59D-B508-AF7B-6660-70BBAED0C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F82BA-B990-3B4B-4759-CD35BEFB0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71DF8-8243-467E-AEE5-B7E2780A903E}" type="datetimeFigureOut">
              <a:rPr lang="en-PK" smtClean="0"/>
              <a:t>18/09/2024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2CD57-3E89-4C3F-9BEA-2CE610B54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1526D-A54B-4C84-A9D7-51AEB60D6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174AC-5DCE-4463-9F4A-33B23D35415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796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1F30-9C58-5A35-FCEA-622013798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63599"/>
          </a:xfrm>
        </p:spPr>
        <p:txBody>
          <a:bodyPr>
            <a:noAutofit/>
          </a:bodyPr>
          <a:lstStyle/>
          <a:p>
            <a:br>
              <a:rPr lang="en-US" sz="6600" b="1" dirty="0">
                <a:highlight>
                  <a:srgbClr val="FFFF00"/>
                </a:highlight>
              </a:rPr>
            </a:br>
            <a:br>
              <a:rPr lang="en-US" sz="6600" b="1" dirty="0">
                <a:highlight>
                  <a:srgbClr val="FFFF00"/>
                </a:highlight>
              </a:rPr>
            </a:br>
            <a:br>
              <a:rPr lang="en-US" sz="6600" b="1" dirty="0">
                <a:highlight>
                  <a:srgbClr val="FFFF00"/>
                </a:highlight>
              </a:rPr>
            </a:br>
            <a:r>
              <a:rPr lang="en-US" sz="6600" b="1" dirty="0">
                <a:highlight>
                  <a:srgbClr val="FFFF00"/>
                </a:highlight>
              </a:rPr>
              <a:t>BPE Concepts</a:t>
            </a:r>
            <a:endParaRPr lang="en-PK" sz="6600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F2BEB-760B-A73A-ED91-7846964C0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41401"/>
            <a:ext cx="12192000" cy="5816598"/>
          </a:xfrm>
        </p:spPr>
        <p:txBody>
          <a:bodyPr>
            <a:noAutofit/>
          </a:bodyPr>
          <a:lstStyle/>
          <a:p>
            <a:r>
              <a:rPr lang="en-US" sz="2200" dirty="0"/>
              <a:t>Business Process Engineering (BPE) and Business Process Improvement (BPI) are crucial for organizations seeking to optimize performance, enhance efficiency, and drive innovation. Here's an introduction to key concepts and techniques:</a:t>
            </a:r>
          </a:p>
          <a:p>
            <a:r>
              <a:rPr lang="en-US" sz="2200" dirty="0"/>
              <a:t>1. *Process*: A series of activities that transform inputs into outputs.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2. *Process Mapping*: Visual representation of processes to identify areas for improvement.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3. *Process Analysis*: Examination of processes to understand dynamics and identify inefficiencies.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4. *Process Design*: Creation of new or improved processes to meet business objectives.</a:t>
            </a:r>
          </a:p>
          <a:p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5. *Process Implementation*: Execution of new or improved processes.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/>
              <a:t>6. *Process Monitoring and Evaluation*: Continuous assessment of process performance.</a:t>
            </a:r>
          </a:p>
          <a:p>
            <a:br>
              <a:rPr lang="en-US" sz="2200" dirty="0"/>
            </a:br>
            <a:endParaRPr lang="en-PK" sz="2200" dirty="0"/>
          </a:p>
        </p:txBody>
      </p:sp>
    </p:spTree>
    <p:extLst>
      <p:ext uri="{BB962C8B-B14F-4D97-AF65-F5344CB8AC3E}">
        <p14:creationId xmlns:p14="http://schemas.microsoft.com/office/powerpoint/2010/main" val="272302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45FD-5D54-C70F-486D-FC762E5D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38864"/>
          </a:xfrm>
        </p:spPr>
        <p:txBody>
          <a:bodyPr>
            <a:normAutofit/>
          </a:bodyPr>
          <a:lstStyle/>
          <a:p>
            <a:pPr algn="ctr"/>
            <a:r>
              <a:rPr kumimoji="0" lang="en-PK" altLang="en-PK" sz="60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BPI Techniques:</a:t>
            </a:r>
            <a:endParaRPr lang="en-PK" sz="6000" b="1" dirty="0">
              <a:highlight>
                <a:srgbClr val="FFFF00"/>
              </a:highligh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C10EAF-41EE-0380-C5AB-17DE15CF69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76412" y="3818414"/>
          <a:ext cx="8639175" cy="365760"/>
        </p:xfrm>
        <a:graphic>
          <a:graphicData uri="http://schemas.openxmlformats.org/drawingml/2006/table">
            <a:tbl>
              <a:tblPr/>
              <a:tblGrid>
                <a:gridCol w="419100">
                  <a:extLst>
                    <a:ext uri="{9D8B030D-6E8A-4147-A177-3AD203B41FA5}">
                      <a16:colId xmlns:a16="http://schemas.microsoft.com/office/drawing/2014/main" val="1988399208"/>
                    </a:ext>
                  </a:extLst>
                </a:gridCol>
                <a:gridCol w="8220075">
                  <a:extLst>
                    <a:ext uri="{9D8B030D-6E8A-4147-A177-3AD203B41FA5}">
                      <a16:colId xmlns:a16="http://schemas.microsoft.com/office/drawing/2014/main" val="3959190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PK">
                        <a:effectLst/>
                      </a:endParaRPr>
                    </a:p>
                  </a:txBody>
                  <a:tcPr marL="152400" marR="152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"/>
                        </a:rPr>
                        <a:t>ReplyForward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100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836F059-FB95-B468-58C2-A9A3CDDE4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936052"/>
            <a:ext cx="12192000" cy="60016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*Lean*: Elimination of waste and maximization of value.</a:t>
            </a:r>
            <a:b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*Six Sigma*: Data-driven approach to quality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*Re-engineering*: Radical redesign of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7D3151-245B-4C00-C5E6-254C868F2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8983663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66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4506-066D-4C65-FF1F-A5D62CBF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9147"/>
          </a:xfrm>
        </p:spPr>
        <p:txBody>
          <a:bodyPr/>
          <a:lstStyle/>
          <a:p>
            <a:pPr algn="ctr"/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BPI Techniques</a:t>
            </a:r>
            <a:r>
              <a:rPr kumimoji="0" lang="en-US" altLang="en-PK" sz="4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PK" sz="44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kumimoji="0" lang="en-US" altLang="en-PK" sz="4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2B1CE-F968-41E9-9BAC-D6E53090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91381"/>
            <a:ext cx="12192000" cy="5085582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*Continuous Improvement*: Ongoing efforts to enhance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*Benchmarking*: Comparison with industry best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*Process Automation*: Use of technology to streamline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 *Change Management*: Management of organizational 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 *Performance Metrics*: Measurement of process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PK" altLang="en-PK" sz="28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51796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66A1-B0E5-1F53-BC4B-0452A239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0154"/>
          </a:xfrm>
        </p:spPr>
        <p:txBody>
          <a:bodyPr/>
          <a:lstStyle/>
          <a:p>
            <a:pPr algn="ctr"/>
            <a:r>
              <a:rPr kumimoji="0" lang="en-PK" altLang="en-PK" sz="4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BPI Techniques</a:t>
            </a:r>
            <a:r>
              <a:rPr kumimoji="0" lang="en-US" altLang="en-PK" sz="4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PK" sz="4400" b="1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kumimoji="0" lang="en-US" altLang="en-PK" sz="4400" b="1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DA5F3-D56B-F63A-CE9C-0602AC323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1884"/>
            <a:ext cx="12192000" cy="579611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 applying these concepts and techniques, organizations can achieve: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Improved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Enhanced 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Increased productivity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Reduced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Improved quality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Increased innovation</a:t>
            </a:r>
            <a:endParaRPr kumimoji="0" lang="en-US" altLang="en-PK" sz="3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en-PK" altLang="en-PK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Remember, BPE and BPI are ongoing efforts that require commitment, collaboration, and a customer-centric approach.</a:t>
            </a:r>
          </a:p>
          <a:p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44325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E524-738E-9628-B732-C86142CED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Efficiency, effectiveness, and productivity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28068-BBB5-5AD0-CE9B-B210822DE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>
            <a:normAutofit/>
          </a:bodyPr>
          <a:lstStyle/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Efficiency, effectiveness, and productivity are crucial concepts in business, closely linked to an organization's success and competitiveness.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*Efficiency*:- Refers to the optimal use of resources (time, money, materials) to achieve goals.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Minimizes waste and reduces costs.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Importance: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- Reduces costs and enhances profitability.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- Improves resource allocation.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- Enhances competitiveness.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2980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B662-4033-ACEE-7376-B6D13C2F0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238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Effectiveness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A681-EEBC-20DD-2654-29DD07BC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83110"/>
            <a:ext cx="12019935" cy="5574889"/>
          </a:xfrm>
        </p:spPr>
        <p:txBody>
          <a:bodyPr>
            <a:normAutofit fontScale="92500" lnSpcReduction="10000"/>
          </a:bodyPr>
          <a:lstStyle/>
          <a:p>
            <a:r>
              <a:rPr lang="en-US" sz="4800" dirty="0"/>
              <a:t>- Refers to the achievement of desired goals and outcomes.</a:t>
            </a:r>
          </a:p>
          <a:p>
            <a:r>
              <a:rPr lang="en-US" sz="4800" dirty="0"/>
              <a:t>- Focuses on doing the right things.</a:t>
            </a:r>
          </a:p>
          <a:p>
            <a:r>
              <a:rPr lang="en-US" sz="4800" dirty="0"/>
              <a:t>- Importance:</a:t>
            </a:r>
          </a:p>
          <a:p>
            <a:r>
              <a:rPr lang="en-US" sz="4800" dirty="0"/>
              <a:t>    - Ensures alignment with strategic objectives.</a:t>
            </a:r>
          </a:p>
          <a:p>
            <a:r>
              <a:rPr lang="en-US" sz="4800" dirty="0"/>
              <a:t>    - Enhances customer satisfaction.</a:t>
            </a:r>
          </a:p>
          <a:p>
            <a:r>
              <a:rPr lang="en-US" sz="4800" dirty="0"/>
              <a:t>    - Drives business growth.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4935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1F3A-90AB-91D9-062E-6402D80AF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38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0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Productivity</a:t>
            </a:r>
            <a:endParaRPr lang="en-PK" sz="66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BD994-49BB-A90B-2023-233050E3B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9870"/>
            <a:ext cx="12192000" cy="5678129"/>
          </a:xfrm>
        </p:spPr>
        <p:txBody>
          <a:bodyPr>
            <a:normAutofit/>
          </a:bodyPr>
          <a:lstStyle/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Refers to the output generated per unit of input (resource).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Measures the efficiency and effectiveness of processes.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 Importance: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- Drives economic growth.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- Enhances competitiveness.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- Improves standard of living.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8548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83EF-00C3-271A-8B55-2CA95376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Relevance in Business: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A4E34-1742-FBCB-02E0-915D794C2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0594"/>
            <a:ext cx="12192000" cy="5427406"/>
          </a:xfrm>
        </p:spPr>
        <p:txBody>
          <a:bodyPr>
            <a:normAutofit fontScale="85000" lnSpcReduction="20000"/>
          </a:bodyPr>
          <a:lstStyle/>
          <a:p>
            <a:pPr algn="l"/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*Cost reduction*: Efficiency and productivity help minimize costs, enhancing profitability.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*Competitive advantage*: Effective and efficient processes differentiate businesses from competitors.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*Customer satisfaction*: Effectiveness ensures meeting customer needs, driving loyalty and retention.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*Innovation*: Productivity and efficiency create room for innovation, driving business growth.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*Sustainability*: Efficient use of resources contributes to environmental sustainability.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6. *Employee engagement*: Efficient processes and effective goals enhance employee motivation and productivity.</a:t>
            </a:r>
          </a:p>
          <a:p>
            <a:pPr algn="l"/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 focusing on efficiency, effectiveness, and productivity, businesses can achieve sustainable growth, competitiveness, and success.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222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593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   BPE Concepts</vt:lpstr>
      <vt:lpstr>BPI Techniques:</vt:lpstr>
      <vt:lpstr>BPI Techniques(Cont)</vt:lpstr>
      <vt:lpstr>BPI Techniques(Cont)</vt:lpstr>
      <vt:lpstr>Efficiency, effectiveness, and productivity</vt:lpstr>
      <vt:lpstr>Effectiveness</vt:lpstr>
      <vt:lpstr>Productivity</vt:lpstr>
      <vt:lpstr>Relevance in Business: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16</cp:revision>
  <dcterms:created xsi:type="dcterms:W3CDTF">2024-09-10T15:50:21Z</dcterms:created>
  <dcterms:modified xsi:type="dcterms:W3CDTF">2024-09-18T12:00:47Z</dcterms:modified>
</cp:coreProperties>
</file>