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</p:sldIdLst>
  <p:sldSz cx="14630400" cy="8229600"/>
  <p:notesSz cx="8229600" cy="14630400"/>
  <p:embeddedFontLst>
    <p:embeddedFont>
      <p:font typeface="Instrument Sans Medium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Instrument Sans Semi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7"/>
    <a:srgbClr val="2D2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461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763500" y="7251700"/>
            <a:ext cx="1765300" cy="863600"/>
          </a:xfrm>
          <a:prstGeom prst="rect">
            <a:avLst/>
          </a:prstGeom>
          <a:solidFill>
            <a:srgbClr val="2D2D3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93800" y="762000"/>
            <a:ext cx="114808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chemeClr val="bg1">
                    <a:lumMod val="95000"/>
                  </a:schemeClr>
                </a:solidFill>
              </a:rPr>
              <a:t>	</a:t>
            </a:r>
          </a:p>
          <a:p>
            <a:r>
              <a:rPr lang="en-US" sz="5400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sz="5400" dirty="0" smtClean="0">
                <a:solidFill>
                  <a:schemeClr val="bg1">
                    <a:lumMod val="95000"/>
                  </a:schemeClr>
                </a:solidFill>
              </a:rPr>
              <a:t>	Understanding Organization </a:t>
            </a:r>
          </a:p>
          <a:p>
            <a:endParaRPr lang="en-US" dirty="0" smtClean="0">
              <a:solidFill>
                <a:schemeClr val="bg1">
                  <a:lumMod val="95000"/>
                </a:schemeClr>
              </a:solidFill>
            </a:endParaRPr>
          </a:p>
          <a:p>
            <a:endParaRPr lang="en-US" sz="3600" dirty="0" smtClean="0">
              <a:solidFill>
                <a:schemeClr val="bg1">
                  <a:lumMod val="95000"/>
                </a:schemeClr>
              </a:solidFill>
            </a:endParaRPr>
          </a:p>
          <a:p>
            <a:endParaRPr lang="en-US" sz="3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3600" dirty="0" smtClean="0">
                <a:solidFill>
                  <a:schemeClr val="bg1">
                    <a:lumMod val="95000"/>
                  </a:schemeClr>
                </a:solidFill>
              </a:rPr>
              <a:t>	Presented By:</a:t>
            </a:r>
          </a:p>
          <a:p>
            <a:endParaRPr lang="en-US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				</a:t>
            </a: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</a:rPr>
              <a:t>Shahek Khan</a:t>
            </a:r>
          </a:p>
          <a:p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</a:rPr>
              <a:t>				</a:t>
            </a:r>
            <a:r>
              <a:rPr lang="en-US" sz="2400" dirty="0" err="1" smtClean="0">
                <a:solidFill>
                  <a:schemeClr val="bg1">
                    <a:lumMod val="95000"/>
                  </a:schemeClr>
                </a:solidFill>
              </a:rPr>
              <a:t>Abida</a:t>
            </a: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 smtClean="0">
                <a:solidFill>
                  <a:schemeClr val="bg1">
                    <a:lumMod val="95000"/>
                  </a:schemeClr>
                </a:solidFill>
              </a:rPr>
              <a:t>Batool</a:t>
            </a: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  <a:p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</a:rPr>
              <a:t>				Samran </a:t>
            </a:r>
            <a:r>
              <a:rPr lang="en-US" sz="2400" dirty="0" err="1" smtClean="0">
                <a:solidFill>
                  <a:schemeClr val="bg1">
                    <a:lumMod val="95000"/>
                  </a:schemeClr>
                </a:solidFill>
              </a:rPr>
              <a:t>Saleem</a:t>
            </a:r>
            <a:endParaRPr lang="en-US" sz="2400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</a:rPr>
              <a:t>				</a:t>
            </a:r>
            <a:r>
              <a:rPr lang="en-US" sz="2400" dirty="0" err="1" smtClean="0">
                <a:solidFill>
                  <a:schemeClr val="bg1">
                    <a:lumMod val="95000"/>
                  </a:schemeClr>
                </a:solidFill>
              </a:rPr>
              <a:t>Maira</a:t>
            </a: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 smtClean="0">
                <a:solidFill>
                  <a:schemeClr val="bg1">
                    <a:lumMod val="95000"/>
                  </a:schemeClr>
                </a:solidFill>
              </a:rPr>
              <a:t>Kanwal</a:t>
            </a: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700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Understanding Business Organization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presentation provides a comprehensive overview of business organization, examining both traditional and contemporary perspectives. We'll delve into the structure, processes, and strategies that define successful organizations.</a:t>
            </a:r>
            <a:endParaRPr lang="en-US" sz="1750" dirty="0"/>
          </a:p>
        </p:txBody>
      </p:sp>
      <p:sp>
        <p:nvSpPr>
          <p:cNvPr id="5" name="Rectangle 4"/>
          <p:cNvSpPr/>
          <p:nvPr/>
        </p:nvSpPr>
        <p:spPr>
          <a:xfrm>
            <a:off x="12763500" y="7251700"/>
            <a:ext cx="1765300" cy="863600"/>
          </a:xfrm>
          <a:prstGeom prst="rect">
            <a:avLst/>
          </a:prstGeom>
          <a:solidFill>
            <a:srgbClr val="2D2D3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696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Traditional View of an Organization's Structure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51496"/>
            <a:ext cx="29354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Hierarchical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9326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traditional view emphasizes a clear chain of command, with authority flowing from top to bottom.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4351496"/>
            <a:ext cx="32585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Functional Departments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9326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Organizations are typically divided into departments, each specializing in a specific area.</a:t>
            </a:r>
            <a:endParaRPr lang="en-US" sz="1750" dirty="0"/>
          </a:p>
        </p:txBody>
      </p:sp>
      <p:sp>
        <p:nvSpPr>
          <p:cNvPr id="7" name="Rectangle 6"/>
          <p:cNvSpPr/>
          <p:nvPr/>
        </p:nvSpPr>
        <p:spPr>
          <a:xfrm>
            <a:off x="12763500" y="7251700"/>
            <a:ext cx="1765300" cy="863600"/>
          </a:xfrm>
          <a:prstGeom prst="rect">
            <a:avLst/>
          </a:prstGeom>
          <a:solidFill>
            <a:srgbClr val="2D2D3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98795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Systems View of an Organization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34903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Interconnected Processes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systems view focuses on how different parts of an organization work together as a system.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 emphasizes the flow of information and resources through various processes.</a:t>
            </a:r>
            <a:endParaRPr lang="en-US" sz="1750" dirty="0"/>
          </a:p>
        </p:txBody>
      </p:sp>
      <p:sp>
        <p:nvSpPr>
          <p:cNvPr id="7" name="Rectangle 6"/>
          <p:cNvSpPr/>
          <p:nvPr/>
        </p:nvSpPr>
        <p:spPr>
          <a:xfrm>
            <a:off x="12763500" y="7251700"/>
            <a:ext cx="1765300" cy="863600"/>
          </a:xfrm>
          <a:prstGeom prst="rect">
            <a:avLst/>
          </a:prstGeom>
          <a:solidFill>
            <a:srgbClr val="2D2D3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165" y="752594"/>
            <a:ext cx="7651671" cy="199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Business Process Management (BPM): Strategy and the Enterprise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6165" y="3071217"/>
            <a:ext cx="3719274" cy="1925717"/>
          </a:xfrm>
          <a:prstGeom prst="roundRect">
            <a:avLst>
              <a:gd name="adj" fmla="val 465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6907" y="3291959"/>
            <a:ext cx="3066455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50" dirty="0" smtClean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Alignment with Strategy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66907" y="3752850"/>
            <a:ext cx="3277791" cy="1023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BPM ensures business processes support the organization's strategic goals.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78561" y="3071217"/>
            <a:ext cx="3719274" cy="1925717"/>
          </a:xfrm>
          <a:prstGeom prst="roundRect">
            <a:avLst>
              <a:gd name="adj" fmla="val 465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9303" y="3291959"/>
            <a:ext cx="269378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Optimization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4899303" y="3752850"/>
            <a:ext cx="3277791" cy="1023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BPM identifies and eliminates inefficiencies, improving speed and quality.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6165" y="5210056"/>
            <a:ext cx="3719274" cy="2266831"/>
          </a:xfrm>
          <a:prstGeom prst="roundRect">
            <a:avLst>
              <a:gd name="adj" fmla="val 395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6907" y="5430798"/>
            <a:ext cx="3215997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Continuous Improvement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966907" y="5891689"/>
            <a:ext cx="3277791" cy="1023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BPM fosters a culture of ongoing analysis and enhancement of processes.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4678561" y="5210056"/>
            <a:ext cx="3719274" cy="2266831"/>
          </a:xfrm>
          <a:prstGeom prst="roundRect">
            <a:avLst>
              <a:gd name="adj" fmla="val 395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9303" y="5430798"/>
            <a:ext cx="2909292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Technology Integration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4899303" y="5891689"/>
            <a:ext cx="3277791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BPM leverages technology to automate and streamline processes, enhancing efficiency and effectiveness.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9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415" y="513398"/>
            <a:ext cx="7837170" cy="1166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50"/>
              </a:lnSpc>
              <a:buNone/>
            </a:pPr>
            <a:r>
              <a:rPr lang="en-US" sz="3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Modeling and Diagramming Business Processes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922020" y="1960245"/>
            <a:ext cx="22860" cy="5758339"/>
          </a:xfrm>
          <a:prstGeom prst="roundRect">
            <a:avLst>
              <a:gd name="adj" fmla="val 343028"/>
            </a:avLst>
          </a:prstGeom>
          <a:solidFill>
            <a:srgbClr val="56565B"/>
          </a:solidFill>
          <a:ln/>
        </p:spPr>
      </p:sp>
      <p:sp>
        <p:nvSpPr>
          <p:cNvPr id="5" name="Shape 2"/>
          <p:cNvSpPr/>
          <p:nvPr/>
        </p:nvSpPr>
        <p:spPr>
          <a:xfrm>
            <a:off x="1120616" y="2368868"/>
            <a:ext cx="653415" cy="22860"/>
          </a:xfrm>
          <a:prstGeom prst="roundRect">
            <a:avLst>
              <a:gd name="adj" fmla="val 343028"/>
            </a:avLst>
          </a:prstGeom>
          <a:solidFill>
            <a:srgbClr val="56565B"/>
          </a:solidFill>
          <a:ln/>
        </p:spPr>
      </p:sp>
      <p:sp>
        <p:nvSpPr>
          <p:cNvPr id="6" name="Shape 3"/>
          <p:cNvSpPr/>
          <p:nvPr/>
        </p:nvSpPr>
        <p:spPr>
          <a:xfrm>
            <a:off x="723424" y="2170271"/>
            <a:ext cx="420053" cy="420053"/>
          </a:xfrm>
          <a:prstGeom prst="roundRect">
            <a:avLst>
              <a:gd name="adj" fmla="val 18668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9158" y="2240280"/>
            <a:ext cx="108466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60245" y="2146935"/>
            <a:ext cx="2385179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Identification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60245" y="2550557"/>
            <a:ext cx="6530340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 and define the key processes within the organization.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120616" y="3631168"/>
            <a:ext cx="653415" cy="22860"/>
          </a:xfrm>
          <a:prstGeom prst="roundRect">
            <a:avLst>
              <a:gd name="adj" fmla="val 343028"/>
            </a:avLst>
          </a:prstGeom>
          <a:solidFill>
            <a:srgbClr val="56565B"/>
          </a:solidFill>
          <a:ln/>
        </p:spPr>
      </p:sp>
      <p:sp>
        <p:nvSpPr>
          <p:cNvPr id="11" name="Shape 8"/>
          <p:cNvSpPr/>
          <p:nvPr/>
        </p:nvSpPr>
        <p:spPr>
          <a:xfrm>
            <a:off x="723424" y="3432572"/>
            <a:ext cx="420053" cy="420053"/>
          </a:xfrm>
          <a:prstGeom prst="roundRect">
            <a:avLst>
              <a:gd name="adj" fmla="val 18668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5345" y="3502581"/>
            <a:ext cx="156091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960245" y="3409236"/>
            <a:ext cx="233374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Mapping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960245" y="3812858"/>
            <a:ext cx="6530340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visual representations of the process flow, including steps and decision points.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120616" y="5192078"/>
            <a:ext cx="653415" cy="22860"/>
          </a:xfrm>
          <a:prstGeom prst="roundRect">
            <a:avLst>
              <a:gd name="adj" fmla="val 343028"/>
            </a:avLst>
          </a:prstGeom>
          <a:solidFill>
            <a:srgbClr val="56565B"/>
          </a:solidFill>
          <a:ln/>
        </p:spPr>
      </p:sp>
      <p:sp>
        <p:nvSpPr>
          <p:cNvPr id="16" name="Shape 13"/>
          <p:cNvSpPr/>
          <p:nvPr/>
        </p:nvSpPr>
        <p:spPr>
          <a:xfrm>
            <a:off x="723424" y="4993481"/>
            <a:ext cx="420053" cy="420053"/>
          </a:xfrm>
          <a:prstGeom prst="roundRect">
            <a:avLst>
              <a:gd name="adj" fmla="val 18668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368" y="5063490"/>
            <a:ext cx="16216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960245" y="4970145"/>
            <a:ext cx="233374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Analysis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960245" y="5373767"/>
            <a:ext cx="6530340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Evaluate process efficiency, identify bottlenecks, and areas for improvement.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1120616" y="6752987"/>
            <a:ext cx="653415" cy="22860"/>
          </a:xfrm>
          <a:prstGeom prst="roundRect">
            <a:avLst>
              <a:gd name="adj" fmla="val 343028"/>
            </a:avLst>
          </a:prstGeom>
          <a:solidFill>
            <a:srgbClr val="56565B"/>
          </a:solidFill>
          <a:ln/>
        </p:spPr>
      </p:sp>
      <p:sp>
        <p:nvSpPr>
          <p:cNvPr id="21" name="Shape 18"/>
          <p:cNvSpPr/>
          <p:nvPr/>
        </p:nvSpPr>
        <p:spPr>
          <a:xfrm>
            <a:off x="723424" y="6554391"/>
            <a:ext cx="420053" cy="420053"/>
          </a:xfrm>
          <a:prstGeom prst="roundRect">
            <a:avLst>
              <a:gd name="adj" fmla="val 18668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7249" y="6624399"/>
            <a:ext cx="17228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960245" y="6531054"/>
            <a:ext cx="264997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Documentation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960245" y="6934676"/>
            <a:ext cx="6530340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Document the process in a clear and concise manner, including procedures and guidelines.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219" y="616387"/>
            <a:ext cx="7929563" cy="1084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250"/>
              </a:lnSpc>
              <a:buNone/>
            </a:pPr>
            <a:r>
              <a:rPr lang="en-US" sz="34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Identifying and Mapping Key Business Processes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960721"/>
            <a:ext cx="433626" cy="4336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7219" y="2567821"/>
            <a:ext cx="2217182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Identification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07219" y="2942868"/>
            <a:ext cx="7929563" cy="555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Start by identifying the key processes that drive the organization's success. These are the core activities that contribute to the overall goals and objectives.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4018359"/>
            <a:ext cx="433626" cy="4336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7219" y="4625459"/>
            <a:ext cx="216860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Mapping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607219" y="5000506"/>
            <a:ext cx="7929563" cy="555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a visual representation of the process flow, documenting each step, decision point, and interaction between different departments.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6075998"/>
            <a:ext cx="433626" cy="4336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7219" y="6683097"/>
            <a:ext cx="216860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Analysis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607219" y="7058144"/>
            <a:ext cx="7929563" cy="555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Analyze the mapped processes to identify bottlenecks, inefficiencies, and areas for improvement. This helps understand how the process works and where it can be optimized.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689" y="932378"/>
            <a:ext cx="12050792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Optimizing and Automating Business Processes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50689" y="2031683"/>
            <a:ext cx="1641038" cy="1235988"/>
          </a:xfrm>
          <a:prstGeom prst="roundRect">
            <a:avLst>
              <a:gd name="adj" fmla="val 728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741" y="2435185"/>
            <a:ext cx="103823" cy="428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606159" y="2246114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Analysis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606159" y="2709982"/>
            <a:ext cx="5661065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 areas for improvement and potential automation.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2498884" y="3252430"/>
            <a:ext cx="11273671" cy="15240"/>
          </a:xfrm>
          <a:prstGeom prst="roundRect">
            <a:avLst>
              <a:gd name="adj" fmla="val 591178"/>
            </a:avLst>
          </a:prstGeom>
          <a:solidFill>
            <a:srgbClr val="56565B"/>
          </a:solidFill>
          <a:ln/>
        </p:spPr>
      </p:sp>
      <p:sp>
        <p:nvSpPr>
          <p:cNvPr id="8" name="Shape 6"/>
          <p:cNvSpPr/>
          <p:nvPr/>
        </p:nvSpPr>
        <p:spPr>
          <a:xfrm>
            <a:off x="750689" y="3374827"/>
            <a:ext cx="3282196" cy="1235988"/>
          </a:xfrm>
          <a:prstGeom prst="roundRect">
            <a:avLst>
              <a:gd name="adj" fmla="val 728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2741" y="3778329"/>
            <a:ext cx="149304" cy="428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247317" y="3589258"/>
            <a:ext cx="2726531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Technology Selection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247317" y="4053126"/>
            <a:ext cx="5502831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Choose the right tools and platforms to automate tasks.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140041" y="4595574"/>
            <a:ext cx="9632513" cy="15240"/>
          </a:xfrm>
          <a:prstGeom prst="roundRect">
            <a:avLst>
              <a:gd name="adj" fmla="val 591178"/>
            </a:avLst>
          </a:prstGeom>
          <a:solidFill>
            <a:srgbClr val="56565B"/>
          </a:solidFill>
          <a:ln/>
        </p:spPr>
      </p:sp>
      <p:sp>
        <p:nvSpPr>
          <p:cNvPr id="13" name="Shape 11"/>
          <p:cNvSpPr/>
          <p:nvPr/>
        </p:nvSpPr>
        <p:spPr>
          <a:xfrm>
            <a:off x="750689" y="4717971"/>
            <a:ext cx="4923353" cy="1235988"/>
          </a:xfrm>
          <a:prstGeom prst="roundRect">
            <a:avLst>
              <a:gd name="adj" fmla="val 728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741" y="5121473"/>
            <a:ext cx="155258" cy="428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888474" y="4932402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888474" y="5396270"/>
            <a:ext cx="741354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 automation solutions and integrate them with existing systems.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781199" y="5938718"/>
            <a:ext cx="7991356" cy="15240"/>
          </a:xfrm>
          <a:prstGeom prst="roundRect">
            <a:avLst>
              <a:gd name="adj" fmla="val 591178"/>
            </a:avLst>
          </a:prstGeom>
          <a:solidFill>
            <a:srgbClr val="56565B"/>
          </a:solidFill>
          <a:ln/>
        </p:spPr>
      </p:sp>
      <p:sp>
        <p:nvSpPr>
          <p:cNvPr id="18" name="Shape 16"/>
          <p:cNvSpPr/>
          <p:nvPr/>
        </p:nvSpPr>
        <p:spPr>
          <a:xfrm>
            <a:off x="750689" y="6061115"/>
            <a:ext cx="6564511" cy="1235988"/>
          </a:xfrm>
          <a:prstGeom prst="roundRect">
            <a:avLst>
              <a:gd name="adj" fmla="val 728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741" y="6464618"/>
            <a:ext cx="164902" cy="428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529632" y="6275546"/>
            <a:ext cx="2921675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Continuous Monitoring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529632" y="6739414"/>
            <a:ext cx="580489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performance, identify issues, and make adjustments.</a:t>
            </a:r>
            <a:endParaRPr lang="en-US" sz="1650" dirty="0"/>
          </a:p>
        </p:txBody>
      </p:sp>
      <p:sp>
        <p:nvSpPr>
          <p:cNvPr id="22" name="Rectangle 21"/>
          <p:cNvSpPr/>
          <p:nvPr/>
        </p:nvSpPr>
        <p:spPr>
          <a:xfrm>
            <a:off x="12763500" y="7251700"/>
            <a:ext cx="1765300" cy="863600"/>
          </a:xfrm>
          <a:prstGeom prst="rect">
            <a:avLst/>
          </a:prstGeom>
          <a:solidFill>
            <a:srgbClr val="2D2D3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439" y="807601"/>
            <a:ext cx="12644914" cy="585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Aligning Business Processes with Organizational Strategy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109" y="1767483"/>
            <a:ext cx="1648182" cy="13785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39897" y="2448044"/>
            <a:ext cx="90607" cy="374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996577" y="2104549"/>
            <a:ext cx="2341007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Strategic Goals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996577" y="2509361"/>
            <a:ext cx="5343287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Define the overall direction and objectives of the organization.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856083" y="3159800"/>
            <a:ext cx="9072086" cy="11430"/>
          </a:xfrm>
          <a:prstGeom prst="roundRect">
            <a:avLst>
              <a:gd name="adj" fmla="val 688202"/>
            </a:avLst>
          </a:prstGeom>
          <a:solidFill>
            <a:srgbClr val="56565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959" y="3192780"/>
            <a:ext cx="3296483" cy="13785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9895" y="3694748"/>
            <a:ext cx="130493" cy="374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820728" y="3529846"/>
            <a:ext cx="2341007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Design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820728" y="3934658"/>
            <a:ext cx="7400092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Align processes with strategic objectives, ensuring they contribute to achieving goals.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680234" y="4585097"/>
            <a:ext cx="8247936" cy="11430"/>
          </a:xfrm>
          <a:prstGeom prst="roundRect">
            <a:avLst>
              <a:gd name="adj" fmla="val 688202"/>
            </a:avLst>
          </a:prstGeom>
          <a:solidFill>
            <a:srgbClr val="56565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2808" y="4618077"/>
            <a:ext cx="4944785" cy="13785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17394" y="5120045"/>
            <a:ext cx="135612" cy="374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644878" y="4805362"/>
            <a:ext cx="3027640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Performance Measurement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644878" y="5210175"/>
            <a:ext cx="7142798" cy="59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process performance against strategic targets, making necessary adjustments.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504384" y="6010394"/>
            <a:ext cx="7423785" cy="11430"/>
          </a:xfrm>
          <a:prstGeom prst="roundRect">
            <a:avLst>
              <a:gd name="adj" fmla="val 688202"/>
            </a:avLst>
          </a:prstGeom>
          <a:solidFill>
            <a:srgbClr val="56565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658" y="6043374"/>
            <a:ext cx="6593086" cy="13785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13108" y="6545342"/>
            <a:ext cx="144066" cy="374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7469029" y="6230660"/>
            <a:ext cx="2825115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Continuous Improvement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469029" y="6635472"/>
            <a:ext cx="6318647" cy="59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Regularly review and optimize processes to ensure alignment with evolving strategies.</a:t>
            </a:r>
            <a:endParaRPr lang="en-US" sz="1450" dirty="0"/>
          </a:p>
        </p:txBody>
      </p:sp>
      <p:sp>
        <p:nvSpPr>
          <p:cNvPr id="22" name="Rectangle 21"/>
          <p:cNvSpPr/>
          <p:nvPr/>
        </p:nvSpPr>
        <p:spPr>
          <a:xfrm>
            <a:off x="12763500" y="7251700"/>
            <a:ext cx="1765300" cy="863600"/>
          </a:xfrm>
          <a:prstGeom prst="rect">
            <a:avLst/>
          </a:prstGeom>
          <a:solidFill>
            <a:srgbClr val="2D2D3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3393" y="925592"/>
            <a:ext cx="7730014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Building a Culture of Continuous Process Improvement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193393" y="2592110"/>
            <a:ext cx="3713440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787515" y="3511153"/>
            <a:ext cx="2525078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Empowerment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193393" y="3947993"/>
            <a:ext cx="3713440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Encourage employees to identify and propose process improvements.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209848" y="2592110"/>
            <a:ext cx="3713559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0804088" y="3511153"/>
            <a:ext cx="2525078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Collaboration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209848" y="3947993"/>
            <a:ext cx="3713559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Foster a culture of open communication and teamwork.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193393" y="5301496"/>
            <a:ext cx="3713440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6787515" y="6220539"/>
            <a:ext cx="2525078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Feedback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193393" y="6657380"/>
            <a:ext cx="3713440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Regularly gather and act on feedback to refine processes.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209848" y="5301496"/>
            <a:ext cx="3713559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10804088" y="6220539"/>
            <a:ext cx="2525078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Training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209848" y="6657380"/>
            <a:ext cx="3713559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Invest in training and development to enhance process skills.</a:t>
            </a:r>
            <a:endParaRPr lang="en-US" sz="1550" dirty="0"/>
          </a:p>
        </p:txBody>
      </p:sp>
      <p:sp>
        <p:nvSpPr>
          <p:cNvPr id="16" name="Rectangle 15"/>
          <p:cNvSpPr/>
          <p:nvPr/>
        </p:nvSpPr>
        <p:spPr>
          <a:xfrm>
            <a:off x="12763500" y="7251700"/>
            <a:ext cx="1765300" cy="863600"/>
          </a:xfrm>
          <a:prstGeom prst="rect">
            <a:avLst/>
          </a:prstGeom>
          <a:solidFill>
            <a:srgbClr val="2D2D3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117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Leveraging Technology to Enhance Business Processes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32359"/>
            <a:ext cx="1030129" cy="10301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8893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79720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 repetitive tasks, improving efficiency and freeing up staff for more strategic work.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3632359"/>
            <a:ext cx="1030129" cy="10301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704" y="48893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Cloud Computing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4704" y="5379720"/>
            <a:ext cx="41208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 data and applications from anywhere, enhancing collaboration and flexibility.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738" y="3632359"/>
            <a:ext cx="1030129" cy="10301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8893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Analytics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5379720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Gain insights from data, enabling informed decision-making and process optimization.</a:t>
            </a:r>
            <a:endParaRPr lang="en-US" sz="1750" dirty="0"/>
          </a:p>
        </p:txBody>
      </p:sp>
      <p:sp>
        <p:nvSpPr>
          <p:cNvPr id="12" name="Rectangle 11"/>
          <p:cNvSpPr/>
          <p:nvPr/>
        </p:nvSpPr>
        <p:spPr>
          <a:xfrm>
            <a:off x="12763500" y="7251700"/>
            <a:ext cx="1765300" cy="863600"/>
          </a:xfrm>
          <a:prstGeom prst="rect">
            <a:avLst/>
          </a:prstGeom>
          <a:solidFill>
            <a:srgbClr val="2D2D3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41800" y="3378200"/>
            <a:ext cx="5981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chemeClr val="bg1">
                    <a:lumMod val="95000"/>
                  </a:schemeClr>
                </a:solidFill>
              </a:rPr>
              <a:t>Thank you!</a:t>
            </a:r>
            <a:endParaRPr lang="en-US" sz="9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763500" y="7251700"/>
            <a:ext cx="1765300" cy="863600"/>
          </a:xfrm>
          <a:prstGeom prst="rect">
            <a:avLst/>
          </a:prstGeom>
          <a:solidFill>
            <a:srgbClr val="2D2D3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41800" y="3378200"/>
            <a:ext cx="5981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chemeClr val="bg1">
                    <a:lumMod val="95000"/>
                  </a:schemeClr>
                </a:solidFill>
              </a:rPr>
              <a:t>Thank you!</a:t>
            </a:r>
            <a:endParaRPr lang="en-US" sz="9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763500" y="7251700"/>
            <a:ext cx="1765300" cy="863600"/>
          </a:xfrm>
          <a:prstGeom prst="rect">
            <a:avLst/>
          </a:prstGeom>
          <a:solidFill>
            <a:srgbClr val="2D2D3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18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576</Words>
  <Application>Microsoft Office PowerPoint</Application>
  <PresentationFormat>Custom</PresentationFormat>
  <Paragraphs>110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Instrument Sans Medium</vt:lpstr>
      <vt:lpstr>Calibri</vt:lpstr>
      <vt:lpstr>Instrument Sans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samran</cp:lastModifiedBy>
  <cp:revision>5</cp:revision>
  <dcterms:created xsi:type="dcterms:W3CDTF">2024-10-10T16:05:14Z</dcterms:created>
  <dcterms:modified xsi:type="dcterms:W3CDTF">2024-10-11T09:42:51Z</dcterms:modified>
</cp:coreProperties>
</file>