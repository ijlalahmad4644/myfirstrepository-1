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232A-9765-4E6B-91FC-D8D4562B0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F16DD-58E1-43B9-B948-75391C9EE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E0217-9BE6-47F2-92D3-A35E5FDA2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844C-9939-4CC4-99DA-A201C7C1FFE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77EE3-C369-4197-94B1-0376A4CAB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84641-34AE-4141-9EBA-05FD2393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C7458-D692-45BE-9D2D-A8DD62DB7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13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DBCB5-0F93-4D14-B970-EEB7B7A2A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02325-29FD-4CE2-A629-18CC4AB9C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76D87-E55A-456F-BC08-CE837E1F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844C-9939-4CC4-99DA-A201C7C1FFE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9BC7E-46EC-4587-B93E-993263E4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1723F-8082-4787-AE5D-6B0C2D99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C7458-D692-45BE-9D2D-A8DD62DB7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24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BD7B-8658-49E2-82B3-8B85952FE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CC4C5-3423-428F-A8A6-3497A2D57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6C834-A654-4571-AC79-0D38D726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844C-9939-4CC4-99DA-A201C7C1FFE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48B6D-EE81-4F93-9614-11D6140A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27D4A-1F93-4D08-9A64-E0ABCB4B3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C7458-D692-45BE-9D2D-A8DD62DB7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0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9A15E-0290-4CB0-BA0C-3A42C84E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04D57-781B-4D64-932A-9E14F169F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D07B4-446E-4526-B9CF-261785837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E8470-B082-476D-9CE7-11884A7C7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844C-9939-4CC4-99DA-A201C7C1FFE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476C9-43D5-4B76-8059-0FBFBBFFA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2E261-838C-4227-9C63-80EF2B26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C7458-D692-45BE-9D2D-A8DD62DB7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75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277B1-04B1-46F2-863F-FC6E7154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6A81D-C8E2-4F08-835B-B1746C403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2390E-0983-4F10-A770-67DDEC84E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39714-41DD-423D-9009-94A176D560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DF70F2-A0A7-4321-9498-48EE0D9F4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21E03-F72C-44B7-9D39-DCAA4139E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844C-9939-4CC4-99DA-A201C7C1FFE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04FB21-1FC6-42D9-A269-105EEBBD8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60D53E-89CC-40D7-83E9-28BB3B42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C7458-D692-45BE-9D2D-A8DD62DB7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06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CCF54-E5A4-4A2A-B330-F9E066C33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69E876-A74F-460C-A24C-EF1BEEF9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844C-9939-4CC4-99DA-A201C7C1FFE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7E3F63-255F-4926-A92E-C0EE0FD92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26B80-438E-46A3-A5F7-4EFB49294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C7458-D692-45BE-9D2D-A8DD62DB7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3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2C9953-BA6A-40D9-A81A-29F21DFB6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844C-9939-4CC4-99DA-A201C7C1FFE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82B5F-C723-42AA-8C22-42EFA035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0C656-E58E-4438-B9CB-33AACF21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C7458-D692-45BE-9D2D-A8DD62DB7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0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DACC3-BD64-4FED-BC1E-C562E906F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2F0B8-DA76-46A2-86D9-7EF03DD9F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D4F19-2D9B-4B87-8DC7-292259784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90CF2-476F-4C73-B383-2C10E6F3D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844C-9939-4CC4-99DA-A201C7C1FFE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152C5-CBF8-4268-9F7B-113D35D3D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414DB-F885-4BD0-A0AB-887BE2F9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C7458-D692-45BE-9D2D-A8DD62DB7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0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A5C30-7F6A-46E4-BD32-3A31459DB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F0F2D8-3EE8-4D80-AD0F-A76FF210D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2E4A3-8554-4F85-AE19-0BF661A4F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6E05-4DD7-481C-8850-57D4F60B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844C-9939-4CC4-99DA-A201C7C1FFE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EF2B0-F7F5-4B29-BA3C-831DF3B9D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2363D-1187-4715-B580-64D7F105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C7458-D692-45BE-9D2D-A8DD62DB7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43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98A8-AE3C-4964-AB2E-42AC8D517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73E6D-529F-442A-A648-B70E3DA3E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83884-3342-493F-94FC-E069255EA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844C-9939-4CC4-99DA-A201C7C1FFE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5488B-52E4-42BC-AB0B-1C2F509D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1C04B-574F-45F0-A4B2-2C600A5BA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C7458-D692-45BE-9D2D-A8DD62DB7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41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99BD2-801E-453E-B3BA-6FA3B880B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12E86-00F4-4293-B3C3-A55C523EA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255F7-46A1-4D7E-949E-5BEE83C96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844C-9939-4CC4-99DA-A201C7C1FFE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13FF9-02A6-48DB-AD1B-8D70A41BD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751E6-8F5E-45C5-AD35-03792988B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C7458-D692-45BE-9D2D-A8DD62DB7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0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1DA495-3386-4D5C-A5E2-3CA0B7724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FE0BC-3BCF-4F0A-B805-B42B3CA08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ACBB6-182F-4551-B3C3-395BAB9F9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9844C-9939-4CC4-99DA-A201C7C1FFE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DBD-EEA3-4940-8D6F-D640A1D03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58054-6D86-4820-B8C5-EEA321E6D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C7458-D692-45BE-9D2D-A8DD62DB7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50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13007-644C-4140-92B9-769E5F3B4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5355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Influence 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151273-DA14-4FCA-84EF-494906954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05243"/>
            <a:ext cx="12192000" cy="5099538"/>
          </a:xfrm>
        </p:spPr>
        <p:txBody>
          <a:bodyPr>
            <a:normAutofit lnSpcReduction="10000"/>
          </a:bodyPr>
          <a:lstStyle/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Influence Diagrams are visual representations of decision-making processes, illustrating relationships between variables, decisions, and outcomes.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270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A7E18-1EDB-4AA2-8CBD-3E7AB249B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81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56E8E-ED15-4923-ADC1-0588DCB1E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8129"/>
            <a:ext cx="12192000" cy="53188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_Nodes_: Represent variables, decisions, or outcomes</a:t>
            </a:r>
          </a:p>
          <a:p>
            <a:r>
              <a:rPr lang="en-US" dirty="0"/>
              <a:t>2. _Arrows_: Indicate influence or causality between nodes</a:t>
            </a:r>
          </a:p>
          <a:p>
            <a:r>
              <a:rPr lang="en-US" dirty="0"/>
              <a:t>3. _Decision Nodes_: Represent choices or actions</a:t>
            </a:r>
          </a:p>
          <a:p>
            <a:r>
              <a:rPr lang="en-US" dirty="0"/>
              <a:t>4. _Chance Nodes_: Represent uncertain events or outcomes</a:t>
            </a:r>
          </a:p>
          <a:p>
            <a:r>
              <a:rPr lang="en-US" dirty="0"/>
              <a:t>5. _Value Nodes_: Represent objectives or outcomes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040E-BBAC-4B50-BDA4-635DAEF11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1134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Types of Influence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5E32B-2020-4EA9-9DF0-9CB2F05C4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8468"/>
            <a:ext cx="12192000" cy="52484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Decision Influence Diagrams (DID)</a:t>
            </a:r>
          </a:p>
          <a:p>
            <a:r>
              <a:rPr lang="en-US" dirty="0"/>
              <a:t>2. Causal Influence Diagrams (CID)</a:t>
            </a:r>
          </a:p>
          <a:p>
            <a:r>
              <a:rPr lang="en-US" dirty="0"/>
              <a:t>3. Bayesian Influence Diagrams (BID)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697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8ACF2-0739-4B4C-AA4F-4EBCBF877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475"/>
            <a:ext cx="10515600" cy="1125414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2E151-E823-44E4-9045-8D23B48B3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0671"/>
            <a:ext cx="12192000" cy="52062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Clarify complex decisions</a:t>
            </a:r>
          </a:p>
          <a:p>
            <a:r>
              <a:rPr lang="en-US" dirty="0"/>
              <a:t>2. Identify key variables and relationships</a:t>
            </a:r>
          </a:p>
          <a:p>
            <a:r>
              <a:rPr lang="en-US" dirty="0"/>
              <a:t>3. Visualize uncertainty and risk</a:t>
            </a:r>
          </a:p>
          <a:p>
            <a:r>
              <a:rPr lang="en-US" dirty="0"/>
              <a:t>4. Facilitate communication and collaboration</a:t>
            </a:r>
          </a:p>
          <a:p>
            <a:r>
              <a:rPr lang="en-US" dirty="0"/>
              <a:t>5. Support decision-making under uncertainty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026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8F83D-3644-4C03-BD30-7FB6AF72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6E57C-B9B6-4748-8716-9ACA2C16C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2702"/>
            <a:ext cx="11353800" cy="478426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Business strategy</a:t>
            </a:r>
          </a:p>
          <a:p>
            <a:r>
              <a:rPr lang="en-US" dirty="0"/>
              <a:t>2. Risk management</a:t>
            </a:r>
          </a:p>
          <a:p>
            <a:r>
              <a:rPr lang="en-US" dirty="0"/>
              <a:t>3. Financial planning</a:t>
            </a:r>
          </a:p>
          <a:p>
            <a:r>
              <a:rPr lang="en-US" dirty="0"/>
              <a:t>4. Healthcare decision-making</a:t>
            </a:r>
          </a:p>
          <a:p>
            <a:r>
              <a:rPr lang="en-US" dirty="0"/>
              <a:t>5. Project management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242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AB7CC-6778-44D9-9628-623CD1EF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41008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Software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BE62C-503C-498F-9E7B-FD1A91FF9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48" y="1041009"/>
            <a:ext cx="11995052" cy="51359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Graphical Network Interface (</a:t>
            </a:r>
            <a:r>
              <a:rPr lang="en-US" dirty="0" err="1"/>
              <a:t>GrIN</a:t>
            </a:r>
            <a:r>
              <a:rPr lang="en-US" dirty="0"/>
              <a:t>)</a:t>
            </a:r>
          </a:p>
          <a:p>
            <a:r>
              <a:rPr lang="en-US" dirty="0"/>
              <a:t>2. Bayesian Network software (e.g., </a:t>
            </a:r>
            <a:r>
              <a:rPr lang="en-US" dirty="0" err="1"/>
              <a:t>BayesiaLab</a:t>
            </a:r>
            <a:r>
              <a:rPr lang="en-US" dirty="0"/>
              <a:t>)</a:t>
            </a:r>
          </a:p>
          <a:p>
            <a:r>
              <a:rPr lang="en-US" dirty="0"/>
              <a:t>3. Decision analysis software (e.g., </a:t>
            </a:r>
            <a:r>
              <a:rPr lang="en-US" dirty="0" err="1"/>
              <a:t>DecisionPro</a:t>
            </a:r>
            <a:r>
              <a:rPr lang="en-US" dirty="0"/>
              <a:t>)</a:t>
            </a:r>
          </a:p>
          <a:p>
            <a:r>
              <a:rPr lang="en-US" dirty="0"/>
              <a:t>4. Microsoft Visio</a:t>
            </a:r>
          </a:p>
          <a:p>
            <a:r>
              <a:rPr lang="en-US" dirty="0"/>
              <a:t>5. </a:t>
            </a:r>
            <a:r>
              <a:rPr lang="en-US" dirty="0" err="1"/>
              <a:t>Lucidchart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312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61EC5-91F4-4D01-BDD7-F12FBE06A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97279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</a:rPr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7CA27-1124-4F97-9967-3D6E083F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7280"/>
            <a:ext cx="11353800" cy="50796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Define clear objectives and scope</a:t>
            </a:r>
          </a:p>
          <a:p>
            <a:r>
              <a:rPr lang="en-US" dirty="0"/>
              <a:t>2. Identify key stakeholders and variables</a:t>
            </a:r>
          </a:p>
          <a:p>
            <a:r>
              <a:rPr lang="en-US" dirty="0"/>
              <a:t>3. Use simple, intuitive notation</a:t>
            </a:r>
          </a:p>
          <a:p>
            <a:r>
              <a:rPr lang="en-US" dirty="0"/>
              <a:t>4. Validate and refine the diagram</a:t>
            </a:r>
          </a:p>
          <a:p>
            <a:r>
              <a:rPr lang="en-US" dirty="0"/>
              <a:t>5. Use sensitivity analysis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8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BC83-FE8C-49F5-83F9-97CBF20D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39482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Relationship to Other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C1B20-0B7A-4FB0-AEC7-DF098F120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9483"/>
            <a:ext cx="12192000" cy="50374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Influence Diagrams are related to:</a:t>
            </a:r>
            <a:br>
              <a:rPr lang="en-US" dirty="0"/>
            </a:br>
            <a:endParaRPr lang="en-US" dirty="0"/>
          </a:p>
          <a:p>
            <a:r>
              <a:rPr lang="en-US" dirty="0"/>
              <a:t>1. Decision Trees</a:t>
            </a:r>
          </a:p>
          <a:p>
            <a:r>
              <a:rPr lang="en-US" dirty="0"/>
              <a:t>2. Bayesian Networks</a:t>
            </a:r>
          </a:p>
          <a:p>
            <a:r>
              <a:rPr lang="en-US" dirty="0"/>
              <a:t>3. System Dynamics</a:t>
            </a:r>
          </a:p>
          <a:p>
            <a:r>
              <a:rPr lang="en-US" dirty="0"/>
              <a:t>4. Causal Loop Diagrams</a:t>
            </a:r>
          </a:p>
          <a:p>
            <a:r>
              <a:rPr lang="en-US" dirty="0"/>
              <a:t>5. Mind Mapping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121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7463-3987-4288-B175-54AB96B96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0B0E9-404F-4E44-A17E-AFDD61109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2702"/>
            <a:ext cx="11353800" cy="478426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Complexity can lead to difficulty in interpretation</a:t>
            </a:r>
          </a:p>
          <a:p>
            <a:r>
              <a:rPr lang="en-US" dirty="0"/>
              <a:t>2. Requires expertise in probability and decision theory</a:t>
            </a:r>
          </a:p>
          <a:p>
            <a:r>
              <a:rPr lang="en-US" dirty="0"/>
              <a:t>3. May not capture dynamic or feedback relationships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469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303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Influence Diagrams</vt:lpstr>
      <vt:lpstr>Components</vt:lpstr>
      <vt:lpstr>Types of Influence Diagrams</vt:lpstr>
      <vt:lpstr>Benefits</vt:lpstr>
      <vt:lpstr>Applications</vt:lpstr>
      <vt:lpstr>Software Tools</vt:lpstr>
      <vt:lpstr>Best Practices</vt:lpstr>
      <vt:lpstr>Relationship to Other Methods</vt:lpstr>
      <vt:lpstr>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18</cp:revision>
  <dcterms:created xsi:type="dcterms:W3CDTF">2024-12-01T13:57:29Z</dcterms:created>
  <dcterms:modified xsi:type="dcterms:W3CDTF">2024-12-03T03:14:47Z</dcterms:modified>
</cp:coreProperties>
</file>