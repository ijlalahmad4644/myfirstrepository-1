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2" r:id="rId5"/>
    <p:sldId id="263" r:id="rId6"/>
    <p:sldId id="284" r:id="rId7"/>
    <p:sldId id="287" r:id="rId8"/>
    <p:sldId id="288" r:id="rId9"/>
    <p:sldId id="286" r:id="rId10"/>
    <p:sldId id="289" r:id="rId11"/>
    <p:sldId id="270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Blacker Sans Text" panose="020B0604020202020204" charset="0"/>
      <p:regular r:id="rId18"/>
    </p:embeddedFont>
    <p:embeddedFont>
      <p:font typeface="Blacker Sans Text Bold" panose="020B0604020202020204" charset="0"/>
      <p:regular r:id="rId19"/>
    </p:embeddedFont>
    <p:embeddedFont>
      <p:font typeface="Archivo Black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8517"/>
    <a:srgbClr val="EC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3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F60AE-98F7-4D4D-8D0E-5D3E67DE8B56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1AD02-0103-4B9B-A5D4-09AA3C15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1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68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46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2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75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8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94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50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2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1AD02-0103-4B9B-A5D4-09AA3C15DD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1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3.jp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111841"/>
            <a:ext cx="1290174" cy="10529321"/>
            <a:chOff x="0" y="0"/>
            <a:chExt cx="121020" cy="9876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020" cy="987664"/>
            </a:xfrm>
            <a:custGeom>
              <a:avLst/>
              <a:gdLst/>
              <a:ahLst/>
              <a:cxnLst/>
              <a:rect l="l" t="t" r="r" b="b"/>
              <a:pathLst>
                <a:path w="121020" h="987664">
                  <a:moveTo>
                    <a:pt x="0" y="0"/>
                  </a:moveTo>
                  <a:lnTo>
                    <a:pt x="121020" y="0"/>
                  </a:lnTo>
                  <a:lnTo>
                    <a:pt x="121020" y="987664"/>
                  </a:lnTo>
                  <a:lnTo>
                    <a:pt x="0" y="987664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020" cy="1025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677400" y="836908"/>
            <a:ext cx="9161290" cy="257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6"/>
              </a:lnSpc>
            </a:pPr>
            <a:r>
              <a:rPr lang="en-US" sz="4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Genichi</a:t>
            </a:r>
            <a:r>
              <a:rPr lang="en-US" sz="5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Taguchi</a:t>
            </a:r>
          </a:p>
          <a:p>
            <a:r>
              <a:rPr lang="en-US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Pioneering Quality Engineering &amp; </a:t>
            </a:r>
          </a:p>
          <a:p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Design </a:t>
            </a:r>
            <a:endParaRPr lang="en-US" sz="40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600346" y="1409700"/>
            <a:ext cx="487147" cy="2933875"/>
            <a:chOff x="0" y="0"/>
            <a:chExt cx="45695" cy="2752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695" cy="275201"/>
            </a:xfrm>
            <a:custGeom>
              <a:avLst/>
              <a:gdLst/>
              <a:ahLst/>
              <a:cxnLst/>
              <a:rect l="l" t="t" r="r" b="b"/>
              <a:pathLst>
                <a:path w="45695" h="275201">
                  <a:moveTo>
                    <a:pt x="0" y="0"/>
                  </a:moveTo>
                  <a:lnTo>
                    <a:pt x="45695" y="0"/>
                  </a:lnTo>
                  <a:lnTo>
                    <a:pt x="45695" y="275201"/>
                  </a:lnTo>
                  <a:lnTo>
                    <a:pt x="0" y="275201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695" cy="313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rot="5400000">
            <a:off x="15233835" y="7537635"/>
            <a:ext cx="549872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/>
        </p:spPr>
      </p:sp>
      <p:sp>
        <p:nvSpPr>
          <p:cNvPr id="17" name="TextBox 17"/>
          <p:cNvSpPr txBox="1"/>
          <p:nvPr/>
        </p:nvSpPr>
        <p:spPr>
          <a:xfrm>
            <a:off x="9622333" y="773496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pic>
        <p:nvPicPr>
          <p:cNvPr id="1026" name="Picture 2" descr="Human Computer Interaction Images – Browse 37,074 Stock Photos, Vectors,  and Video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1841"/>
            <a:ext cx="9343774" cy="1052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28700" y="1700177"/>
            <a:ext cx="9100765" cy="1054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dirty="0" smtClean="0">
                <a:solidFill>
                  <a:srgbClr val="000000"/>
                </a:solidFill>
                <a:latin typeface="Archivo Black"/>
              </a:rPr>
              <a:t>Group Members</a:t>
            </a:r>
            <a:endParaRPr lang="en-US" sz="8000" dirty="0">
              <a:solidFill>
                <a:srgbClr val="000000"/>
              </a:solidFill>
              <a:latin typeface="Archivo Black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3621232"/>
            <a:ext cx="6060495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2399"/>
              </a:lnSpc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rgbClr val="000000"/>
                </a:solidFill>
                <a:latin typeface="Blacker Sans Text Bold"/>
              </a:rPr>
              <a:t>IJLAL AHMAD</a:t>
            </a:r>
          </a:p>
          <a:p>
            <a:pPr marL="571500" indent="-571500">
              <a:lnSpc>
                <a:spcPts val="2399"/>
              </a:lnSpc>
              <a:buFont typeface="Wingdings" panose="05000000000000000000" pitchFamily="2" charset="2"/>
              <a:buChar char="Ø"/>
            </a:pPr>
            <a:endParaRPr lang="en-US" sz="4000" dirty="0" smtClean="0">
              <a:solidFill>
                <a:srgbClr val="000000"/>
              </a:solidFill>
              <a:latin typeface="Blacker Sans Text Bold"/>
            </a:endParaRPr>
          </a:p>
          <a:p>
            <a:pPr>
              <a:lnSpc>
                <a:spcPts val="2399"/>
              </a:lnSpc>
            </a:pPr>
            <a:endParaRPr lang="en-US" sz="4000" dirty="0" smtClean="0">
              <a:solidFill>
                <a:srgbClr val="000000"/>
              </a:solidFill>
              <a:latin typeface="Blacker Sans Text Bold"/>
            </a:endParaRPr>
          </a:p>
          <a:p>
            <a:pPr marL="571500" indent="-571500">
              <a:lnSpc>
                <a:spcPts val="2399"/>
              </a:lnSpc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rgbClr val="000000"/>
                </a:solidFill>
                <a:latin typeface="Blacker Sans Text Bold"/>
              </a:rPr>
              <a:t>ABDUL RAFAY ABBASI</a:t>
            </a:r>
          </a:p>
          <a:p>
            <a:pPr marL="571500" indent="-571500">
              <a:lnSpc>
                <a:spcPts val="2399"/>
              </a:lnSpc>
              <a:buFont typeface="Wingdings" panose="05000000000000000000" pitchFamily="2" charset="2"/>
              <a:buChar char="Ø"/>
            </a:pPr>
            <a:endParaRPr lang="en-US" sz="4000" dirty="0" smtClean="0">
              <a:solidFill>
                <a:srgbClr val="000000"/>
              </a:solidFill>
              <a:latin typeface="Blacker Sans Text Bold"/>
            </a:endParaRPr>
          </a:p>
          <a:p>
            <a:pPr>
              <a:lnSpc>
                <a:spcPts val="2399"/>
              </a:lnSpc>
            </a:pPr>
            <a:endParaRPr lang="en-US" sz="4000" dirty="0" smtClean="0">
              <a:solidFill>
                <a:srgbClr val="000000"/>
              </a:solidFill>
              <a:latin typeface="Blacker Sans Text Bold"/>
            </a:endParaRPr>
          </a:p>
          <a:p>
            <a:pPr marL="571500" indent="-571500">
              <a:lnSpc>
                <a:spcPts val="2399"/>
              </a:lnSpc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rgbClr val="000000"/>
                </a:solidFill>
                <a:latin typeface="Blacker Sans Text Bold"/>
              </a:rPr>
              <a:t>ATIF SAJJAD</a:t>
            </a:r>
            <a:endParaRPr lang="en-US" sz="4000" dirty="0">
              <a:solidFill>
                <a:srgbClr val="000000"/>
              </a:solidFill>
              <a:latin typeface="Blacker Sans Text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28700" y="759173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PRESENTATION</a:t>
            </a:r>
            <a:endParaRPr lang="en-US" sz="1800" spc="359" dirty="0">
              <a:solidFill>
                <a:srgbClr val="737373"/>
              </a:solidFill>
              <a:latin typeface="Blacker Sans Text"/>
            </a:endParaRPr>
          </a:p>
        </p:txBody>
      </p:sp>
      <p:sp>
        <p:nvSpPr>
          <p:cNvPr id="37" name="Freeform 21"/>
          <p:cNvSpPr/>
          <p:nvPr/>
        </p:nvSpPr>
        <p:spPr>
          <a:xfrm>
            <a:off x="795585" y="7353804"/>
            <a:ext cx="466230" cy="445038"/>
          </a:xfrm>
          <a:custGeom>
            <a:avLst/>
            <a:gdLst/>
            <a:ahLst/>
            <a:cxnLst/>
            <a:rect l="l" t="t" r="r" b="b"/>
            <a:pathLst>
              <a:path w="466230" h="445038">
                <a:moveTo>
                  <a:pt x="0" y="0"/>
                </a:moveTo>
                <a:lnTo>
                  <a:pt x="466231" y="0"/>
                </a:lnTo>
                <a:lnTo>
                  <a:pt x="466231" y="445038"/>
                </a:lnTo>
                <a:lnTo>
                  <a:pt x="0" y="4450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21"/>
          <p:cNvSpPr/>
          <p:nvPr/>
        </p:nvSpPr>
        <p:spPr>
          <a:xfrm>
            <a:off x="2437812" y="6072753"/>
            <a:ext cx="466230" cy="445038"/>
          </a:xfrm>
          <a:custGeom>
            <a:avLst/>
            <a:gdLst/>
            <a:ahLst/>
            <a:cxnLst/>
            <a:rect l="l" t="t" r="r" b="b"/>
            <a:pathLst>
              <a:path w="466230" h="445038">
                <a:moveTo>
                  <a:pt x="0" y="0"/>
                </a:moveTo>
                <a:lnTo>
                  <a:pt x="466231" y="0"/>
                </a:lnTo>
                <a:lnTo>
                  <a:pt x="466231" y="445038"/>
                </a:lnTo>
                <a:lnTo>
                  <a:pt x="0" y="4450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274" y="26442"/>
            <a:ext cx="8583095" cy="694585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987984" y="1139268"/>
            <a:ext cx="8115300" cy="90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4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Genichi</a:t>
            </a: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Taguchi</a:t>
            </a:r>
            <a:endParaRPr lang="en-US" sz="4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104671" y="-406178"/>
            <a:ext cx="2197320" cy="10832739"/>
            <a:chOff x="0" y="-38100"/>
            <a:chExt cx="206112" cy="1016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6112" cy="978025"/>
            </a:xfrm>
            <a:custGeom>
              <a:avLst/>
              <a:gdLst/>
              <a:ahLst/>
              <a:cxnLst/>
              <a:rect l="l" t="t" r="r" b="b"/>
              <a:pathLst>
                <a:path w="206112" h="978025">
                  <a:moveTo>
                    <a:pt x="0" y="0"/>
                  </a:moveTo>
                  <a:lnTo>
                    <a:pt x="206112" y="0"/>
                  </a:lnTo>
                  <a:lnTo>
                    <a:pt x="206112" y="978025"/>
                  </a:lnTo>
                  <a:lnTo>
                    <a:pt x="0" y="978025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6112" cy="101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153400" y="2400300"/>
            <a:ext cx="9525000" cy="6803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200" dirty="0"/>
              <a:t>Born in Japan in 1924, </a:t>
            </a:r>
            <a:r>
              <a:rPr lang="en-US" sz="3200" dirty="0" err="1"/>
              <a:t>Genichi</a:t>
            </a:r>
            <a:r>
              <a:rPr lang="en-US" sz="3200" dirty="0"/>
              <a:t> Taguchi was a renowned engineer, statistician, and quality </a:t>
            </a:r>
            <a:r>
              <a:rPr lang="en-US" sz="3200" dirty="0" smtClean="0"/>
              <a:t>expert.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200" dirty="0"/>
              <a:t>Developed the </a:t>
            </a:r>
            <a:r>
              <a:rPr lang="en-US" sz="3200" i="1" dirty="0"/>
              <a:t>Taguchi Methods</a:t>
            </a:r>
            <a:r>
              <a:rPr lang="en-US" sz="3200" dirty="0"/>
              <a:t> to improve quality through statistical methods</a:t>
            </a:r>
            <a:r>
              <a:rPr lang="en-US" sz="3200" dirty="0" smtClean="0"/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200" dirty="0"/>
              <a:t>Introduced the concept of </a:t>
            </a:r>
            <a:r>
              <a:rPr lang="en-US" sz="3200" i="1" dirty="0"/>
              <a:t>robust design</a:t>
            </a:r>
            <a:r>
              <a:rPr lang="en-US" sz="3200" dirty="0"/>
              <a:t> to enhance product and process performance</a:t>
            </a:r>
            <a:r>
              <a:rPr lang="en-US" sz="3200" dirty="0" smtClean="0"/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200" dirty="0"/>
              <a:t>Focused on minimizing </a:t>
            </a:r>
            <a:r>
              <a:rPr lang="en-US" sz="3200" i="1" dirty="0"/>
              <a:t>variability</a:t>
            </a:r>
            <a:r>
              <a:rPr lang="en-US" sz="3200" dirty="0"/>
              <a:t> to ensure consistency and reliability in manufacturing</a:t>
            </a:r>
            <a:r>
              <a:rPr lang="en-US" sz="3200" dirty="0" smtClean="0"/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4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64140" y="773496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304800" y="-18366"/>
            <a:ext cx="8991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949" y="25400"/>
            <a:ext cx="5908035" cy="1040116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634834" y="959644"/>
            <a:ext cx="8115300" cy="90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Taguchi Methods</a:t>
            </a:r>
            <a:endParaRPr lang="en-US" sz="6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104671" y="0"/>
            <a:ext cx="2197320" cy="10426561"/>
            <a:chOff x="0" y="0"/>
            <a:chExt cx="206112" cy="9780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6112" cy="978025"/>
            </a:xfrm>
            <a:custGeom>
              <a:avLst/>
              <a:gdLst/>
              <a:ahLst/>
              <a:cxnLst/>
              <a:rect l="l" t="t" r="r" b="b"/>
              <a:pathLst>
                <a:path w="206112" h="978025">
                  <a:moveTo>
                    <a:pt x="0" y="0"/>
                  </a:moveTo>
                  <a:lnTo>
                    <a:pt x="206112" y="0"/>
                  </a:lnTo>
                  <a:lnTo>
                    <a:pt x="206112" y="978025"/>
                  </a:lnTo>
                  <a:lnTo>
                    <a:pt x="0" y="978025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6112" cy="101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664140" y="773496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095500"/>
            <a:ext cx="9982200" cy="6661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Taguchi Methods focus on improving quality and reducing costs in manufacturing</a:t>
            </a:r>
            <a:r>
              <a:rPr lang="en-US" sz="3200" dirty="0" smtClean="0"/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Uses </a:t>
            </a:r>
            <a:r>
              <a:rPr lang="en-US" sz="3200" i="1" dirty="0"/>
              <a:t>design of experiments (DOE)</a:t>
            </a:r>
            <a:r>
              <a:rPr lang="en-US" sz="3200" dirty="0"/>
              <a:t> to optimize product and process </a:t>
            </a:r>
            <a:r>
              <a:rPr lang="en-US" sz="3200" dirty="0" smtClean="0"/>
              <a:t>performance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Aims to </a:t>
            </a:r>
            <a:r>
              <a:rPr lang="en-US" sz="3200" i="1" dirty="0"/>
              <a:t>minimize variation</a:t>
            </a:r>
            <a:r>
              <a:rPr lang="en-US" sz="3200" dirty="0"/>
              <a:t> and defects, even under changing conditions</a:t>
            </a:r>
            <a:r>
              <a:rPr lang="en-US" sz="3200" dirty="0" smtClean="0"/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Key elements include </a:t>
            </a:r>
            <a:r>
              <a:rPr lang="en-US" sz="3200" i="1" dirty="0"/>
              <a:t>orthogonal arrays</a:t>
            </a:r>
            <a:r>
              <a:rPr lang="en-US" sz="3200" dirty="0"/>
              <a:t> for efficient testing and </a:t>
            </a:r>
            <a:r>
              <a:rPr lang="en-US" sz="3200" i="1" dirty="0"/>
              <a:t>signal-to-noise ratio (S/N ratio)</a:t>
            </a:r>
            <a:r>
              <a:rPr lang="en-US" sz="3200" dirty="0"/>
              <a:t> for measuring reliability.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649" y="45265"/>
            <a:ext cx="5451152" cy="1038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285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6249"/>
            <a:ext cx="3413970" cy="10323249"/>
            <a:chOff x="0" y="0"/>
            <a:chExt cx="362431" cy="1095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431" cy="1095927"/>
            </a:xfrm>
            <a:custGeom>
              <a:avLst/>
              <a:gdLst/>
              <a:ahLst/>
              <a:cxnLst/>
              <a:rect l="l" t="t" r="r" b="b"/>
              <a:pathLst>
                <a:path w="362431" h="1095927">
                  <a:moveTo>
                    <a:pt x="0" y="0"/>
                  </a:moveTo>
                  <a:lnTo>
                    <a:pt x="362431" y="0"/>
                  </a:lnTo>
                  <a:lnTo>
                    <a:pt x="362431" y="1095927"/>
                  </a:lnTo>
                  <a:lnTo>
                    <a:pt x="0" y="1095927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2431" cy="1134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664140" y="743350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27877" y="1299968"/>
            <a:ext cx="7419076" cy="91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99"/>
              </a:lnSpc>
            </a:pPr>
            <a:r>
              <a:rPr lang="en-US" sz="4400" b="1" dirty="0"/>
              <a:t>Robust Design Concept</a:t>
            </a:r>
            <a:endParaRPr lang="en-US" sz="4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63000" y="2515156"/>
            <a:ext cx="8763000" cy="8115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i="1" dirty="0"/>
              <a:t>Robust Design</a:t>
            </a:r>
            <a:r>
              <a:rPr lang="en-US" sz="3600" dirty="0"/>
              <a:t> focuses on creating products that perform well under various conditions</a:t>
            </a:r>
            <a:r>
              <a:rPr lang="en-US" sz="36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/>
              <a:t>Aims to minimize the impact of </a:t>
            </a:r>
            <a:r>
              <a:rPr lang="en-US" sz="3600" i="1" dirty="0"/>
              <a:t>variation</a:t>
            </a:r>
            <a:r>
              <a:rPr lang="en-US" sz="3600" dirty="0"/>
              <a:t> or "noise" factors (e.g., environment, materials</a:t>
            </a:r>
            <a:r>
              <a:rPr lang="en-US" sz="3600" dirty="0" smtClean="0"/>
              <a:t>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/>
              <a:t>The goal is to achieve </a:t>
            </a:r>
            <a:r>
              <a:rPr lang="en-US" sz="3600" i="1" dirty="0"/>
              <a:t>optimal performance</a:t>
            </a:r>
            <a:r>
              <a:rPr lang="en-US" sz="3600" dirty="0"/>
              <a:t> with minimal sensitivity to external changes</a:t>
            </a:r>
            <a:r>
              <a:rPr lang="en-US" sz="36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/>
              <a:t>Makes products </a:t>
            </a:r>
            <a:r>
              <a:rPr lang="en-US" sz="3600" i="1" dirty="0"/>
              <a:t>more reliable</a:t>
            </a:r>
            <a:r>
              <a:rPr lang="en-US" sz="3600" dirty="0"/>
              <a:t> and </a:t>
            </a:r>
            <a:r>
              <a:rPr lang="en-US" sz="3600" i="1" dirty="0"/>
              <a:t>less affected</a:t>
            </a:r>
            <a:r>
              <a:rPr lang="en-US" sz="3600" dirty="0"/>
              <a:t> by outside </a:t>
            </a:r>
            <a:r>
              <a:rPr lang="en-US" sz="3600" dirty="0" smtClean="0"/>
              <a:t>factors.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 algn="just">
              <a:lnSpc>
                <a:spcPts val="2799"/>
              </a:lnSpc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6" name="Picture 14" descr="The True Cost of Bad Quality | Ashley War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970" y="0"/>
            <a:ext cx="534903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6249"/>
            <a:ext cx="3413970" cy="10323249"/>
            <a:chOff x="0" y="0"/>
            <a:chExt cx="362431" cy="1095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431" cy="1095927"/>
            </a:xfrm>
            <a:custGeom>
              <a:avLst/>
              <a:gdLst/>
              <a:ahLst/>
              <a:cxnLst/>
              <a:rect l="l" t="t" r="r" b="b"/>
              <a:pathLst>
                <a:path w="362431" h="1095927">
                  <a:moveTo>
                    <a:pt x="0" y="0"/>
                  </a:moveTo>
                  <a:lnTo>
                    <a:pt x="362431" y="0"/>
                  </a:lnTo>
                  <a:lnTo>
                    <a:pt x="362431" y="1095927"/>
                  </a:lnTo>
                  <a:lnTo>
                    <a:pt x="0" y="1095927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2431" cy="1134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664140" y="743350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15400" y="974182"/>
            <a:ext cx="7419076" cy="87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99"/>
              </a:lnSpc>
            </a:pPr>
            <a:r>
              <a:rPr lang="en-US" sz="3400" b="1" dirty="0"/>
              <a:t>Key Techniques in the </a:t>
            </a:r>
            <a:r>
              <a:rPr lang="en-US" sz="3400" b="1" dirty="0" smtClean="0"/>
              <a:t>Taguchi Methods</a:t>
            </a:r>
            <a:endParaRPr lang="en-US" sz="3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58502" y="5273404"/>
            <a:ext cx="6000798" cy="63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/>
          </a:p>
          <a:p>
            <a:pPr marL="342900" indent="-342900" algn="just">
              <a:lnSpc>
                <a:spcPts val="2799"/>
              </a:lnSpc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90000" y="2171700"/>
            <a:ext cx="8763000" cy="7174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100" i="1" dirty="0"/>
              <a:t>Design of Experiments (DOE)</a:t>
            </a:r>
            <a:r>
              <a:rPr lang="en-US" sz="3100" dirty="0"/>
              <a:t> tests multiple factors at once to find the best performance conditions</a:t>
            </a:r>
            <a:r>
              <a:rPr lang="en-US" sz="31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100" i="1" dirty="0"/>
              <a:t>Orthogonal Arrays</a:t>
            </a:r>
            <a:r>
              <a:rPr lang="en-US" sz="3100" dirty="0"/>
              <a:t> help design efficient experiments covering all factor </a:t>
            </a:r>
            <a:r>
              <a:rPr lang="en-US" sz="3100" dirty="0" smtClean="0"/>
              <a:t>combinations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100" i="1" dirty="0"/>
              <a:t>Signal-to-Noise Ratio (S/N Ratio)</a:t>
            </a:r>
            <a:r>
              <a:rPr lang="en-US" sz="3100" dirty="0"/>
              <a:t> measures the impact of variations on product performance, with higher S/N indicating better quality</a:t>
            </a:r>
            <a:r>
              <a:rPr lang="en-US" sz="31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100" i="1" dirty="0"/>
              <a:t>Loss Function</a:t>
            </a:r>
            <a:r>
              <a:rPr lang="en-US" sz="3100" dirty="0"/>
              <a:t> highlights that product deviations from target performance increase costs and stresses minimizing variations</a:t>
            </a:r>
            <a:r>
              <a:rPr lang="en-US" sz="3100" dirty="0" smtClean="0"/>
              <a:t>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221" y="-36250"/>
            <a:ext cx="5180480" cy="1032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118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6249"/>
            <a:ext cx="3413970" cy="10323249"/>
            <a:chOff x="0" y="0"/>
            <a:chExt cx="362431" cy="1095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431" cy="1095927"/>
            </a:xfrm>
            <a:custGeom>
              <a:avLst/>
              <a:gdLst/>
              <a:ahLst/>
              <a:cxnLst/>
              <a:rect l="l" t="t" r="r" b="b"/>
              <a:pathLst>
                <a:path w="362431" h="1095927">
                  <a:moveTo>
                    <a:pt x="0" y="0"/>
                  </a:moveTo>
                  <a:lnTo>
                    <a:pt x="362431" y="0"/>
                  </a:lnTo>
                  <a:lnTo>
                    <a:pt x="362431" y="1095927"/>
                  </a:lnTo>
                  <a:lnTo>
                    <a:pt x="0" y="1095927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2431" cy="1134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664140" y="743350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48600" y="982120"/>
            <a:ext cx="7419076" cy="197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99"/>
              </a:lnSpc>
            </a:pPr>
            <a:r>
              <a:rPr lang="en-US" sz="6000" dirty="0" smtClean="0"/>
              <a:t> </a:t>
            </a:r>
            <a:r>
              <a:rPr lang="en-US" sz="4400" b="1" dirty="0"/>
              <a:t>Example of Robust Design</a:t>
            </a:r>
            <a:endParaRPr lang="en-US" sz="4400" b="1" dirty="0">
              <a:solidFill>
                <a:srgbClr val="000000"/>
              </a:solidFill>
              <a:latin typeface="Archivo Black Bold"/>
            </a:endParaRPr>
          </a:p>
          <a:p>
            <a:pPr algn="r">
              <a:lnSpc>
                <a:spcPts val="7999"/>
              </a:lnSpc>
            </a:pPr>
            <a:endParaRPr lang="en-US" sz="6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58502" y="5273404"/>
            <a:ext cx="6000798" cy="63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/>
          </a:p>
          <a:p>
            <a:pPr marL="342900" indent="-342900" algn="just">
              <a:lnSpc>
                <a:spcPts val="2799"/>
              </a:lnSpc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80220" y="2353907"/>
            <a:ext cx="8763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Consider designing a car engine that performs efficiently at varying temperatures and pressures</a:t>
            </a:r>
            <a:r>
              <a:rPr lang="en-US" sz="3200" dirty="0" smtClean="0"/>
              <a:t>.</a:t>
            </a:r>
            <a:endParaRPr lang="en-US" sz="32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/>
              <a:t>Step 1: Identify controllable factors like fuel mixture and engine design.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/>
              <a:t>Step 2: Identify uncontrollable factors such as temperature and air quality.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/>
              <a:t>Step 3: Use DOE and orthogonal arrays to test combinations and optimize design based on S/N ratios.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681" y="-40302"/>
            <a:ext cx="5538719" cy="1032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0575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6249"/>
            <a:ext cx="3413970" cy="10323249"/>
            <a:chOff x="0" y="0"/>
            <a:chExt cx="362431" cy="1095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431" cy="1095927"/>
            </a:xfrm>
            <a:custGeom>
              <a:avLst/>
              <a:gdLst/>
              <a:ahLst/>
              <a:cxnLst/>
              <a:rect l="l" t="t" r="r" b="b"/>
              <a:pathLst>
                <a:path w="362431" h="1095927">
                  <a:moveTo>
                    <a:pt x="0" y="0"/>
                  </a:moveTo>
                  <a:lnTo>
                    <a:pt x="362431" y="0"/>
                  </a:lnTo>
                  <a:lnTo>
                    <a:pt x="362431" y="1095927"/>
                  </a:lnTo>
                  <a:lnTo>
                    <a:pt x="0" y="1095927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2431" cy="1134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664140" y="743350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82635" y="858766"/>
            <a:ext cx="7419076" cy="9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99"/>
              </a:lnSpc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Taguchi Methods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58502" y="5273404"/>
            <a:ext cx="6000798" cy="63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/>
          </a:p>
          <a:p>
            <a:pPr marL="342900" indent="-342900" algn="just">
              <a:lnSpc>
                <a:spcPts val="2799"/>
              </a:lnSpc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53400" y="1887894"/>
            <a:ext cx="8763000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i="1" dirty="0"/>
              <a:t>Manufacturing:</a:t>
            </a:r>
            <a:r>
              <a:rPr lang="en-US" sz="3200" dirty="0"/>
              <a:t> Used in automotive, electronics, and consumer products to improve quality and efficiency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i="1" dirty="0"/>
              <a:t>Healthcare:</a:t>
            </a:r>
            <a:r>
              <a:rPr lang="en-US" sz="3200" dirty="0"/>
              <a:t> Applied in medical device design for reliability under variable conditions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i="1" dirty="0"/>
              <a:t>Service Industry:</a:t>
            </a:r>
            <a:r>
              <a:rPr lang="en-US" sz="3200" dirty="0"/>
              <a:t> Enhances customer satisfaction by reducing service failures and variability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i="1" dirty="0"/>
              <a:t>Product Development:</a:t>
            </a:r>
            <a:r>
              <a:rPr lang="en-US" sz="3200" dirty="0"/>
              <a:t> Helps create products that are robust against variations in materials and processes</a:t>
            </a:r>
            <a:r>
              <a:rPr lang="en-US" sz="3200" dirty="0" smtClean="0"/>
              <a:t>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970" y="-36249"/>
            <a:ext cx="4396530" cy="1032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365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6249"/>
            <a:ext cx="3413970" cy="10323249"/>
            <a:chOff x="0" y="0"/>
            <a:chExt cx="362431" cy="1095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431" cy="1095927"/>
            </a:xfrm>
            <a:custGeom>
              <a:avLst/>
              <a:gdLst/>
              <a:ahLst/>
              <a:cxnLst/>
              <a:rect l="l" t="t" r="r" b="b"/>
              <a:pathLst>
                <a:path w="362431" h="1095927">
                  <a:moveTo>
                    <a:pt x="0" y="0"/>
                  </a:moveTo>
                  <a:lnTo>
                    <a:pt x="362431" y="0"/>
                  </a:lnTo>
                  <a:lnTo>
                    <a:pt x="362431" y="1095927"/>
                  </a:lnTo>
                  <a:lnTo>
                    <a:pt x="0" y="1095927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2431" cy="1134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664140" y="743350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10600" y="885557"/>
            <a:ext cx="7419076" cy="904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99"/>
              </a:lnSpc>
            </a:pPr>
            <a:r>
              <a:rPr lang="en-US" sz="4100" b="1" dirty="0"/>
              <a:t>Criticisms of the </a:t>
            </a:r>
            <a:r>
              <a:rPr lang="en-US" sz="4100" b="1" dirty="0" smtClean="0"/>
              <a:t>Taguchi Methods</a:t>
            </a:r>
            <a:endParaRPr lang="en-US" sz="4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58502" y="5273404"/>
            <a:ext cx="6000798" cy="63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/>
          </a:p>
          <a:p>
            <a:pPr marL="342900" indent="-342900" algn="just">
              <a:lnSpc>
                <a:spcPts val="2799"/>
              </a:lnSpc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64502" y="2400300"/>
            <a:ext cx="8763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i="1" dirty="0"/>
              <a:t>Over-Simplification:</a:t>
            </a:r>
            <a:r>
              <a:rPr lang="en-US" sz="3200" dirty="0"/>
              <a:t> Critics say Taguchi methods may miss complex relationships between factors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i="1" dirty="0"/>
              <a:t>Requires Expertise:</a:t>
            </a:r>
            <a:r>
              <a:rPr lang="en-US" sz="3200" dirty="0"/>
              <a:t> Implementing DOE and analyzing results can be difficult without statistical knowledge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i="1" dirty="0"/>
              <a:t>Limited Scope:</a:t>
            </a:r>
            <a:r>
              <a:rPr lang="en-US" sz="3200" dirty="0"/>
              <a:t> In complex systems, focusing on variation reduction may not always be the best </a:t>
            </a:r>
            <a:r>
              <a:rPr lang="en-US" sz="3200" dirty="0" smtClean="0"/>
              <a:t>solution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970" y="0"/>
            <a:ext cx="49149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441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6249"/>
            <a:ext cx="3413970" cy="10323249"/>
            <a:chOff x="0" y="0"/>
            <a:chExt cx="362431" cy="1095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431" cy="1095927"/>
            </a:xfrm>
            <a:custGeom>
              <a:avLst/>
              <a:gdLst/>
              <a:ahLst/>
              <a:cxnLst/>
              <a:rect l="l" t="t" r="r" b="b"/>
              <a:pathLst>
                <a:path w="362431" h="1095927">
                  <a:moveTo>
                    <a:pt x="0" y="0"/>
                  </a:moveTo>
                  <a:lnTo>
                    <a:pt x="362431" y="0"/>
                  </a:lnTo>
                  <a:lnTo>
                    <a:pt x="362431" y="1095927"/>
                  </a:lnTo>
                  <a:lnTo>
                    <a:pt x="0" y="1095927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2431" cy="1134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664140" y="743350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81400" y="743350"/>
            <a:ext cx="7419076" cy="89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99"/>
              </a:lnSpc>
            </a:pPr>
            <a:r>
              <a:rPr lang="en-US" sz="4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58502" y="5273404"/>
            <a:ext cx="6000798" cy="63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/>
          </a:p>
          <a:p>
            <a:pPr marL="342900" indent="-342900" algn="just">
              <a:lnSpc>
                <a:spcPts val="2799"/>
              </a:lnSpc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64502" y="2400300"/>
            <a:ext cx="8763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/>
              <a:t>Genichi</a:t>
            </a:r>
            <a:r>
              <a:rPr lang="en-US" sz="3200" dirty="0"/>
              <a:t> Taguchi’s methods shaped modern quality engineering, focusing on robustness and variation reduction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The Taguchi Methods optimize design and manufacturing for consistent performance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Robust design ensures products perform well despite environmental changes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dirty="0" smtClean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969" y="-40302"/>
            <a:ext cx="4778673" cy="1059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657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114800" cy="10287000"/>
            <a:chOff x="0" y="0"/>
            <a:chExt cx="108373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3733" cy="2709333"/>
            </a:xfrm>
            <a:custGeom>
              <a:avLst/>
              <a:gdLst/>
              <a:ahLst/>
              <a:cxnLst/>
              <a:rect l="l" t="t" r="r" b="b"/>
              <a:pathLst>
                <a:path w="1083733" h="2709333">
                  <a:moveTo>
                    <a:pt x="0" y="0"/>
                  </a:moveTo>
                  <a:lnTo>
                    <a:pt x="1083733" y="0"/>
                  </a:lnTo>
                  <a:lnTo>
                    <a:pt x="10837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E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837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686800" cy="10287000"/>
            <a:chOff x="4148203" y="-1371600"/>
            <a:chExt cx="5533879" cy="10266886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8203" y="-1371600"/>
              <a:ext cx="5533879" cy="10266886"/>
            </a:xfrm>
            <a:prstGeom prst="rect">
              <a:avLst/>
            </a:prstGeom>
          </p:spPr>
        </p:pic>
      </p:grpSp>
      <p:sp>
        <p:nvSpPr>
          <p:cNvPr id="10" name="AutoShape 10"/>
          <p:cNvSpPr/>
          <p:nvPr/>
        </p:nvSpPr>
        <p:spPr>
          <a:xfrm>
            <a:off x="14139898" y="3473923"/>
            <a:ext cx="311940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8463923" y="1158726"/>
            <a:ext cx="8795377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8000" dirty="0" smtClean="0">
                <a:solidFill>
                  <a:srgbClr val="000000"/>
                </a:solidFill>
                <a:latin typeface="Archivo Black Bold"/>
              </a:rPr>
              <a:t>THE END</a:t>
            </a:r>
            <a:endParaRPr lang="en-US" sz="8000" dirty="0">
              <a:solidFill>
                <a:srgbClr val="000000"/>
              </a:solidFill>
              <a:latin typeface="Archivo Black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664140" y="743350"/>
            <a:ext cx="759516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spc="359" dirty="0" smtClean="0">
                <a:solidFill>
                  <a:srgbClr val="737373"/>
                </a:solidFill>
                <a:latin typeface="Blacker Sans Text"/>
              </a:rPr>
              <a:t>CLASS </a:t>
            </a:r>
            <a:r>
              <a:rPr lang="en-US" sz="1800" spc="359" dirty="0">
                <a:solidFill>
                  <a:srgbClr val="737373"/>
                </a:solidFill>
                <a:latin typeface="Blacker Sans Text"/>
              </a:rPr>
              <a:t>PRESENTATION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524</Words>
  <Application>Microsoft Office PowerPoint</Application>
  <PresentationFormat>Custom</PresentationFormat>
  <Paragraphs>71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Archivo Black Bold</vt:lpstr>
      <vt:lpstr>Calibri</vt:lpstr>
      <vt:lpstr>Blacker Sans Text</vt:lpstr>
      <vt:lpstr>Blacker Sans Text Bold</vt:lpstr>
      <vt:lpstr>Arial</vt:lpstr>
      <vt:lpstr>Wingdings</vt:lpstr>
      <vt:lpstr>Times New Roman</vt:lpstr>
      <vt:lpstr>Archivo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PMYLS</dc:creator>
  <cp:lastModifiedBy>PMYLS</cp:lastModifiedBy>
  <cp:revision>111</cp:revision>
  <dcterms:created xsi:type="dcterms:W3CDTF">2006-08-16T00:00:00Z</dcterms:created>
  <dcterms:modified xsi:type="dcterms:W3CDTF">2024-12-20T10:23:24Z</dcterms:modified>
  <dc:identifier>DAF1Q3eM2CE</dc:identifier>
</cp:coreProperties>
</file>