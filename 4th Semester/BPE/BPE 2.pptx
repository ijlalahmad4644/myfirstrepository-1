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7" r:id="rId11"/>
    <p:sldId id="280" r:id="rId12"/>
    <p:sldId id="281" r:id="rId13"/>
    <p:sldId id="278" r:id="rId14"/>
    <p:sldId id="282" r:id="rId15"/>
    <p:sldId id="283" r:id="rId16"/>
    <p:sldId id="284" r:id="rId17"/>
    <p:sldId id="279" r:id="rId18"/>
    <p:sldId id="285" r:id="rId19"/>
    <p:sldId id="286" r:id="rId20"/>
    <p:sldId id="287" r:id="rId21"/>
    <p:sldId id="288" r:id="rId22"/>
    <p:sldId id="276" r:id="rId23"/>
    <p:sldId id="266" r:id="rId24"/>
    <p:sldId id="267" r:id="rId25"/>
    <p:sldId id="268" r:id="rId26"/>
    <p:sldId id="269" r:id="rId27"/>
    <p:sldId id="270" r:id="rId28"/>
    <p:sldId id="289" r:id="rId29"/>
    <p:sldId id="290" r:id="rId30"/>
    <p:sldId id="295" r:id="rId31"/>
    <p:sldId id="291" r:id="rId32"/>
    <p:sldId id="292" r:id="rId33"/>
    <p:sldId id="296" r:id="rId34"/>
    <p:sldId id="297" r:id="rId35"/>
    <p:sldId id="298" r:id="rId36"/>
    <p:sldId id="299" r:id="rId37"/>
    <p:sldId id="300" r:id="rId38"/>
    <p:sldId id="302" r:id="rId39"/>
    <p:sldId id="303" r:id="rId40"/>
    <p:sldId id="304" r:id="rId41"/>
    <p:sldId id="305" r:id="rId42"/>
    <p:sldId id="306" r:id="rId43"/>
    <p:sldId id="307" r:id="rId44"/>
    <p:sldId id="308" r:id="rId45"/>
    <p:sldId id="312" r:id="rId46"/>
    <p:sldId id="309" r:id="rId47"/>
    <p:sldId id="310" r:id="rId48"/>
    <p:sldId id="311" r:id="rId49"/>
    <p:sldId id="313" r:id="rId50"/>
    <p:sldId id="315" r:id="rId51"/>
    <p:sldId id="322" r:id="rId52"/>
    <p:sldId id="316" r:id="rId53"/>
    <p:sldId id="317" r:id="rId54"/>
    <p:sldId id="318" r:id="rId55"/>
    <p:sldId id="319" r:id="rId56"/>
    <p:sldId id="320" r:id="rId57"/>
    <p:sldId id="321" r:id="rId58"/>
    <p:sldId id="271" r:id="rId59"/>
    <p:sldId id="272" r:id="rId60"/>
    <p:sldId id="323" r:id="rId61"/>
    <p:sldId id="324" r:id="rId62"/>
    <p:sldId id="325" r:id="rId63"/>
    <p:sldId id="326" r:id="rId64"/>
    <p:sldId id="327" r:id="rId65"/>
    <p:sldId id="328" r:id="rId66"/>
    <p:sldId id="330" r:id="rId67"/>
    <p:sldId id="331" r:id="rId68"/>
    <p:sldId id="332" r:id="rId69"/>
    <p:sldId id="301" r:id="rId7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60ED-C52B-87F5-FB13-32E7B47494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721B38B8-1D11-6662-7D14-ED3D095809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7C67049C-A912-0989-D103-71D3D57C6BE4}"/>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5" name="Footer Placeholder 4">
            <a:extLst>
              <a:ext uri="{FF2B5EF4-FFF2-40B4-BE49-F238E27FC236}">
                <a16:creationId xmlns:a16="http://schemas.microsoft.com/office/drawing/2014/main" id="{1207CF41-6E76-B27E-1498-A2BDE638D20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FBF4205-DC3A-49AB-A351-78494DCAC00F}"/>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3269337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3FAF-83CA-6BBD-09D1-A8A022D8054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8DB422E-53F4-C278-E3E6-78410BEA6B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C37DF6C-EDBB-C747-8BF2-130295FA36DC}"/>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5" name="Footer Placeholder 4">
            <a:extLst>
              <a:ext uri="{FF2B5EF4-FFF2-40B4-BE49-F238E27FC236}">
                <a16:creationId xmlns:a16="http://schemas.microsoft.com/office/drawing/2014/main" id="{A6C4CA33-4E26-15CD-12C0-636346E431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0FB2695-1023-1CEA-B844-166BA0B86B48}"/>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933348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FE169-E401-0512-8131-519272D674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31487867-9CBB-2737-0998-6672BC4531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AC975D-51BD-82F0-B972-D5058B804FEB}"/>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5" name="Footer Placeholder 4">
            <a:extLst>
              <a:ext uri="{FF2B5EF4-FFF2-40B4-BE49-F238E27FC236}">
                <a16:creationId xmlns:a16="http://schemas.microsoft.com/office/drawing/2014/main" id="{2460C33F-9662-1304-EB58-F67F5ABAAA1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F94F17C-7AE6-9A11-B7AE-CD502975A24F}"/>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406014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F2FA-C459-6C9F-5EEC-EEA9A9BB370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DA9343A-CE49-355C-B32B-27A91AA909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132DE7A8-69EB-6F4B-69F0-2C7A75897A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F95BE105-E943-A0DB-BE7A-0080349C1120}"/>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6" name="Footer Placeholder 5">
            <a:extLst>
              <a:ext uri="{FF2B5EF4-FFF2-40B4-BE49-F238E27FC236}">
                <a16:creationId xmlns:a16="http://schemas.microsoft.com/office/drawing/2014/main" id="{9A54ED45-6D1A-964C-E6AB-326F7703936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F6AED29-55E3-85AD-103C-F9948375FDBE}"/>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3296950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41801-F31A-60FD-3885-7F90C9CE9155}"/>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D64E6BE-4739-B393-A53B-9FCF8E008A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D9CC11-DC76-3BB1-8FCB-6C1C4F41E7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407D76-BDF6-36AB-0A50-FC592AB6A4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8BEDE5-7A7F-5543-4A3C-B4B52F595A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9D1850F-1447-BA50-02A3-A3252F6B0BA2}"/>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8" name="Footer Placeholder 7">
            <a:extLst>
              <a:ext uri="{FF2B5EF4-FFF2-40B4-BE49-F238E27FC236}">
                <a16:creationId xmlns:a16="http://schemas.microsoft.com/office/drawing/2014/main" id="{42C3541A-5236-7DB3-8BBE-1D3CEB4D511D}"/>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418A8447-AA23-4A26-1A0F-318D6D31D800}"/>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3039532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0E10E-AE41-8434-739D-7597DC7A7B1A}"/>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5E366002-6305-7B32-4FD6-8086F2A5A8C2}"/>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4" name="Footer Placeholder 3">
            <a:extLst>
              <a:ext uri="{FF2B5EF4-FFF2-40B4-BE49-F238E27FC236}">
                <a16:creationId xmlns:a16="http://schemas.microsoft.com/office/drawing/2014/main" id="{7C898046-A008-8319-92F0-D664BB71AF4F}"/>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945DF62-D2B3-7BE6-1AEF-8F116D2AB818}"/>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2486980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2A471-3BA9-4941-8160-030FAE74444E}"/>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3" name="Footer Placeholder 2">
            <a:extLst>
              <a:ext uri="{FF2B5EF4-FFF2-40B4-BE49-F238E27FC236}">
                <a16:creationId xmlns:a16="http://schemas.microsoft.com/office/drawing/2014/main" id="{25549E7A-72F8-B032-7F4F-BE44A7B294D7}"/>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7A526B49-06E8-87D4-7B0F-50AAB8ABC489}"/>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196806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FCFE7-5340-EFCC-D1E5-68524346D4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8A7FCF4C-FA48-765F-761F-4B772782CB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C8EBA756-9804-9763-B98A-41157B6443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0A0DE1-C9E1-434D-648B-9FE3E7036117}"/>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6" name="Footer Placeholder 5">
            <a:extLst>
              <a:ext uri="{FF2B5EF4-FFF2-40B4-BE49-F238E27FC236}">
                <a16:creationId xmlns:a16="http://schemas.microsoft.com/office/drawing/2014/main" id="{D0CACD98-741F-6C2D-2182-D5CB1C43C6E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8404461-016E-02D2-74A6-64E20EF8523B}"/>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2453372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B6CE-5E28-A20B-B189-2A9ACEF9E8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5CA1BF3-8835-60B0-2E0C-F1D78BABE7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1F5F269-719F-9DDD-01A4-58410BD5E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02070-2FCB-680C-C5D7-5A95CE0C9C0A}"/>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6" name="Footer Placeholder 5">
            <a:extLst>
              <a:ext uri="{FF2B5EF4-FFF2-40B4-BE49-F238E27FC236}">
                <a16:creationId xmlns:a16="http://schemas.microsoft.com/office/drawing/2014/main" id="{5381C593-E65F-378F-1585-7DEC3106257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7688B4D-44E3-0A0F-232F-6707A89E80EF}"/>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587272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0BC2-6D50-E041-699B-7D81B5AACAF1}"/>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9691438-D79A-2EA1-A7C9-F48F04C324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D30A3FC-D516-31F6-A798-3F3992E6260B}"/>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5" name="Footer Placeholder 4">
            <a:extLst>
              <a:ext uri="{FF2B5EF4-FFF2-40B4-BE49-F238E27FC236}">
                <a16:creationId xmlns:a16="http://schemas.microsoft.com/office/drawing/2014/main" id="{16B65111-CF6F-F6C7-A50A-928F4676B1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D014015-C478-44F2-DB8F-A38A776CC3F1}"/>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1390568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1973EE-B505-4B99-B326-2E8ACC1C72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B2C5EDFB-CE06-7371-EBA2-43E15E069A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C385935-DCA0-5EF9-2D27-8D2536534193}"/>
              </a:ext>
            </a:extLst>
          </p:cNvPr>
          <p:cNvSpPr>
            <a:spLocks noGrp="1"/>
          </p:cNvSpPr>
          <p:nvPr>
            <p:ph type="dt" sz="half" idx="10"/>
          </p:nvPr>
        </p:nvSpPr>
        <p:spPr/>
        <p:txBody>
          <a:bodyPr/>
          <a:lstStyle/>
          <a:p>
            <a:fld id="{4E15AAD2-FEA1-400B-A08B-79C6F1875720}" type="datetimeFigureOut">
              <a:rPr lang="en-PK" smtClean="0"/>
              <a:t>16/09/2024</a:t>
            </a:fld>
            <a:endParaRPr lang="en-PK"/>
          </a:p>
        </p:txBody>
      </p:sp>
      <p:sp>
        <p:nvSpPr>
          <p:cNvPr id="5" name="Footer Placeholder 4">
            <a:extLst>
              <a:ext uri="{FF2B5EF4-FFF2-40B4-BE49-F238E27FC236}">
                <a16:creationId xmlns:a16="http://schemas.microsoft.com/office/drawing/2014/main" id="{C2D5C8EC-1414-DA6C-976B-DA870DBA81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7F2FFFA-4921-0296-EB00-307F26102EBE}"/>
              </a:ext>
            </a:extLst>
          </p:cNvPr>
          <p:cNvSpPr>
            <a:spLocks noGrp="1"/>
          </p:cNvSpPr>
          <p:nvPr>
            <p:ph type="sldNum" sz="quarter" idx="12"/>
          </p:nvPr>
        </p:nvSpPr>
        <p:spPr/>
        <p:txBody>
          <a:bodyPr/>
          <a:lstStyle/>
          <a:p>
            <a:fld id="{6888BC3B-5793-4042-A083-4B513280EC70}" type="slidenum">
              <a:rPr lang="en-PK" smtClean="0"/>
              <a:t>‹#›</a:t>
            </a:fld>
            <a:endParaRPr lang="en-PK"/>
          </a:p>
        </p:txBody>
      </p:sp>
    </p:spTree>
    <p:extLst>
      <p:ext uri="{BB962C8B-B14F-4D97-AF65-F5344CB8AC3E}">
        <p14:creationId xmlns:p14="http://schemas.microsoft.com/office/powerpoint/2010/main" val="1785846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669BB7-9F04-151B-99D8-CC58A08338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A4FDF8B-10D8-9E53-962D-BC426C0355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1C608A7-09EC-FBB7-5A24-7D2E755B0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5AAD2-FEA1-400B-A08B-79C6F1875720}" type="datetimeFigureOut">
              <a:rPr lang="en-PK" smtClean="0"/>
              <a:t>16/09/2024</a:t>
            </a:fld>
            <a:endParaRPr lang="en-PK"/>
          </a:p>
        </p:txBody>
      </p:sp>
      <p:sp>
        <p:nvSpPr>
          <p:cNvPr id="5" name="Footer Placeholder 4">
            <a:extLst>
              <a:ext uri="{FF2B5EF4-FFF2-40B4-BE49-F238E27FC236}">
                <a16:creationId xmlns:a16="http://schemas.microsoft.com/office/drawing/2014/main" id="{824A803E-7359-1B0E-0BB1-D5A1EFBF3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9023DA72-31FE-288A-D94C-7E5703CC67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8BC3B-5793-4042-A083-4B513280EC70}" type="slidenum">
              <a:rPr lang="en-PK" smtClean="0"/>
              <a:t>‹#›</a:t>
            </a:fld>
            <a:endParaRPr lang="en-PK"/>
          </a:p>
        </p:txBody>
      </p:sp>
    </p:spTree>
    <p:extLst>
      <p:ext uri="{BB962C8B-B14F-4D97-AF65-F5344CB8AC3E}">
        <p14:creationId xmlns:p14="http://schemas.microsoft.com/office/powerpoint/2010/main" val="568450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cdn.sanity.io/images/oq9f4n1v/production/a346376198369a87c553813f5a19f584b60b0a03-600x361.webp"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moresteam.com/engineroom"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moresteam.com/help/engineroom/pareto-analysis"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9DCC-E307-9843-8578-BFFDFBEEE4CD}"/>
              </a:ext>
            </a:extLst>
          </p:cNvPr>
          <p:cNvSpPr>
            <a:spLocks noGrp="1"/>
          </p:cNvSpPr>
          <p:nvPr>
            <p:ph type="ctrTitle"/>
          </p:nvPr>
        </p:nvSpPr>
        <p:spPr>
          <a:xfrm>
            <a:off x="0" y="0"/>
            <a:ext cx="12192000" cy="762001"/>
          </a:xfrm>
        </p:spPr>
        <p:txBody>
          <a:bodyPr>
            <a:normAutofit fontScale="90000"/>
          </a:bodyPr>
          <a:lstStyle/>
          <a:p>
            <a:r>
              <a:rPr lang="en-US" b="1" dirty="0">
                <a:highlight>
                  <a:srgbClr val="FFFF00"/>
                </a:highlight>
              </a:rPr>
              <a:t>Title: Business Process Engineering (BPE)</a:t>
            </a:r>
            <a:endParaRPr lang="en-PK" b="1" dirty="0">
              <a:highlight>
                <a:srgbClr val="FFFF00"/>
              </a:highlight>
            </a:endParaRPr>
          </a:p>
        </p:txBody>
      </p:sp>
      <p:sp>
        <p:nvSpPr>
          <p:cNvPr id="3" name="Subtitle 2">
            <a:extLst>
              <a:ext uri="{FF2B5EF4-FFF2-40B4-BE49-F238E27FC236}">
                <a16:creationId xmlns:a16="http://schemas.microsoft.com/office/drawing/2014/main" id="{784AF0BB-6238-9DA7-364C-BEE5F48FD482}"/>
              </a:ext>
            </a:extLst>
          </p:cNvPr>
          <p:cNvSpPr>
            <a:spLocks noGrp="1"/>
          </p:cNvSpPr>
          <p:nvPr>
            <p:ph type="subTitle" idx="1"/>
          </p:nvPr>
        </p:nvSpPr>
        <p:spPr>
          <a:xfrm>
            <a:off x="1524000" y="965200"/>
            <a:ext cx="9144000" cy="5892800"/>
          </a:xfrm>
        </p:spPr>
        <p:txBody>
          <a:bodyPr>
            <a:normAutofit/>
          </a:bodyPr>
          <a:lstStyle/>
          <a:p>
            <a:endParaRPr lang="en-US" sz="5400" dirty="0"/>
          </a:p>
          <a:p>
            <a:r>
              <a:rPr lang="en-US" sz="5400" dirty="0"/>
              <a:t>-</a:t>
            </a:r>
          </a:p>
          <a:p>
            <a:r>
              <a:rPr lang="en-US" sz="5400" dirty="0"/>
              <a:t>Definition: BPE is a systematic approach to improving business processes</a:t>
            </a:r>
          </a:p>
          <a:p>
            <a:br>
              <a:rPr lang="en-US" sz="4400" dirty="0"/>
            </a:br>
            <a:endParaRPr lang="en-PK" sz="4400" dirty="0"/>
          </a:p>
        </p:txBody>
      </p:sp>
    </p:spTree>
    <p:extLst>
      <p:ext uri="{BB962C8B-B14F-4D97-AF65-F5344CB8AC3E}">
        <p14:creationId xmlns:p14="http://schemas.microsoft.com/office/powerpoint/2010/main" val="3676408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9BCE-F9E0-322B-7ED6-6CAF69135E91}"/>
              </a:ext>
            </a:extLst>
          </p:cNvPr>
          <p:cNvSpPr>
            <a:spLocks noGrp="1"/>
          </p:cNvSpPr>
          <p:nvPr>
            <p:ph type="title"/>
          </p:nvPr>
        </p:nvSpPr>
        <p:spPr>
          <a:xfrm>
            <a:off x="0" y="1"/>
            <a:ext cx="12192000" cy="863599"/>
          </a:xfrm>
        </p:spPr>
        <p:txBody>
          <a:bodyPr>
            <a:normAutofit fontScale="90000"/>
          </a:bodyPr>
          <a:lstStyle/>
          <a:p>
            <a:pPr algn="ctr"/>
            <a:r>
              <a:rPr lang="en-US" sz="6000" b="0" i="0" dirty="0">
                <a:solidFill>
                  <a:srgbClr val="222222"/>
                </a:solidFill>
                <a:effectLst/>
                <a:highlight>
                  <a:srgbClr val="FFFF00"/>
                </a:highlight>
                <a:latin typeface="Arial" panose="020B0604020202020204" pitchFamily="34" charset="0"/>
              </a:rPr>
              <a:t>Importance of BPE</a:t>
            </a:r>
            <a:endParaRPr lang="en-PK" sz="6000" dirty="0">
              <a:highlight>
                <a:srgbClr val="FFFF00"/>
              </a:highlight>
            </a:endParaRPr>
          </a:p>
        </p:txBody>
      </p:sp>
      <p:sp>
        <p:nvSpPr>
          <p:cNvPr id="3" name="Content Placeholder 2">
            <a:extLst>
              <a:ext uri="{FF2B5EF4-FFF2-40B4-BE49-F238E27FC236}">
                <a16:creationId xmlns:a16="http://schemas.microsoft.com/office/drawing/2014/main" id="{3381D374-D9C3-421A-8B05-2C1FD3DA6508}"/>
              </a:ext>
            </a:extLst>
          </p:cNvPr>
          <p:cNvSpPr>
            <a:spLocks noGrp="1"/>
          </p:cNvSpPr>
          <p:nvPr>
            <p:ph idx="1"/>
          </p:nvPr>
        </p:nvSpPr>
        <p:spPr>
          <a:xfrm>
            <a:off x="0" y="863600"/>
            <a:ext cx="12192000" cy="5994399"/>
          </a:xfrm>
        </p:spPr>
        <p:txBody>
          <a:bodyPr>
            <a:normAutofit/>
          </a:bodyPr>
          <a:lstStyle/>
          <a:p>
            <a:pPr algn="l"/>
            <a:r>
              <a:rPr lang="en-US" sz="6000" b="0" i="0" dirty="0">
                <a:solidFill>
                  <a:srgbClr val="222222"/>
                </a:solidFill>
                <a:effectLst/>
                <a:latin typeface="Arial" panose="020B0604020202020204" pitchFamily="34" charset="0"/>
              </a:rPr>
              <a:t>Improves efficiency and effectiveness</a:t>
            </a:r>
          </a:p>
          <a:p>
            <a:pPr algn="l"/>
            <a:r>
              <a:rPr lang="en-US" sz="6000" b="0" i="0" dirty="0">
                <a:solidFill>
                  <a:srgbClr val="222222"/>
                </a:solidFill>
                <a:effectLst/>
                <a:latin typeface="Arial" panose="020B0604020202020204" pitchFamily="34" charset="0"/>
              </a:rPr>
              <a:t>Enhances customer satisfaction</a:t>
            </a:r>
          </a:p>
          <a:p>
            <a:pPr algn="l"/>
            <a:r>
              <a:rPr lang="en-US" sz="6000" b="0" i="0" dirty="0">
                <a:solidFill>
                  <a:srgbClr val="222222"/>
                </a:solidFill>
                <a:effectLst/>
                <a:latin typeface="Arial" panose="020B0604020202020204" pitchFamily="34" charset="0"/>
              </a:rPr>
              <a:t>Increases productivity and quality</a:t>
            </a:r>
          </a:p>
          <a:p>
            <a:pPr algn="l"/>
            <a:r>
              <a:rPr lang="en-US" sz="6000" b="0" i="0" dirty="0">
                <a:solidFill>
                  <a:srgbClr val="222222"/>
                </a:solidFill>
                <a:effectLst/>
                <a:latin typeface="Arial" panose="020B0604020202020204" pitchFamily="34" charset="0"/>
              </a:rPr>
              <a:t>Supports business growth and innovation</a:t>
            </a:r>
          </a:p>
          <a:p>
            <a:endParaRPr lang="en-PK" sz="6000" dirty="0"/>
          </a:p>
        </p:txBody>
      </p:sp>
    </p:spTree>
    <p:extLst>
      <p:ext uri="{BB962C8B-B14F-4D97-AF65-F5344CB8AC3E}">
        <p14:creationId xmlns:p14="http://schemas.microsoft.com/office/powerpoint/2010/main" val="307085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27FC-0E1E-E7E5-9846-9F0826A749A7}"/>
              </a:ext>
            </a:extLst>
          </p:cNvPr>
          <p:cNvSpPr>
            <a:spLocks noGrp="1"/>
          </p:cNvSpPr>
          <p:nvPr>
            <p:ph type="title"/>
          </p:nvPr>
        </p:nvSpPr>
        <p:spPr>
          <a:xfrm>
            <a:off x="838200" y="1"/>
            <a:ext cx="10515600" cy="1690688"/>
          </a:xfrm>
        </p:spPr>
        <p:txBody>
          <a:bodyPr>
            <a:normAutofit/>
          </a:bodyPr>
          <a:lstStyle/>
          <a:p>
            <a:pPr algn="ctr"/>
            <a:r>
              <a:rPr lang="en-US" sz="8000" b="1" dirty="0">
                <a:highlight>
                  <a:srgbClr val="FFFF00"/>
                </a:highlight>
              </a:rPr>
              <a:t>BPE Methodology</a:t>
            </a:r>
            <a:endParaRPr lang="en-PK" sz="8000" b="1" dirty="0">
              <a:highlight>
                <a:srgbClr val="FFFF00"/>
              </a:highlight>
            </a:endParaRPr>
          </a:p>
        </p:txBody>
      </p:sp>
      <p:sp>
        <p:nvSpPr>
          <p:cNvPr id="3" name="Content Placeholder 2">
            <a:extLst>
              <a:ext uri="{FF2B5EF4-FFF2-40B4-BE49-F238E27FC236}">
                <a16:creationId xmlns:a16="http://schemas.microsoft.com/office/drawing/2014/main" id="{7BBFFABF-7A9F-3FC7-3262-9A21FE220177}"/>
              </a:ext>
            </a:extLst>
          </p:cNvPr>
          <p:cNvSpPr>
            <a:spLocks noGrp="1"/>
          </p:cNvSpPr>
          <p:nvPr>
            <p:ph idx="1"/>
          </p:nvPr>
        </p:nvSpPr>
        <p:spPr>
          <a:xfrm>
            <a:off x="0" y="1498600"/>
            <a:ext cx="12192000" cy="5359399"/>
          </a:xfrm>
        </p:spPr>
        <p:txBody>
          <a:bodyPr>
            <a:normAutofit fontScale="70000" lnSpcReduction="20000"/>
          </a:bodyPr>
          <a:lstStyle/>
          <a:p>
            <a:pPr marL="0" indent="0">
              <a:buNone/>
            </a:pPr>
            <a:endParaRPr lang="en-US" sz="6900" dirty="0"/>
          </a:p>
          <a:p>
            <a:r>
              <a:rPr lang="en-US" sz="6900" dirty="0"/>
              <a:t>- Overview of the BPE process:</a:t>
            </a:r>
          </a:p>
          <a:p>
            <a:pPr marL="0" indent="0">
              <a:buNone/>
            </a:pPr>
            <a:r>
              <a:rPr lang="en-US" sz="6900" dirty="0"/>
              <a:t>    1. Process identification</a:t>
            </a:r>
          </a:p>
          <a:p>
            <a:pPr marL="0" indent="0">
              <a:buNone/>
            </a:pPr>
            <a:r>
              <a:rPr lang="en-US" sz="6900" dirty="0"/>
              <a:t>    2. Process analysis</a:t>
            </a:r>
          </a:p>
          <a:p>
            <a:pPr marL="0" indent="0">
              <a:buNone/>
            </a:pPr>
            <a:r>
              <a:rPr lang="en-US" sz="6900" dirty="0"/>
              <a:t>    3. Process design</a:t>
            </a:r>
          </a:p>
          <a:p>
            <a:pPr marL="0" indent="0">
              <a:buNone/>
            </a:pPr>
            <a:r>
              <a:rPr lang="en-US" sz="6900" dirty="0"/>
              <a:t>    4. Process implementation</a:t>
            </a:r>
          </a:p>
          <a:p>
            <a:pPr marL="0" indent="0">
              <a:buNone/>
            </a:pPr>
            <a:r>
              <a:rPr lang="en-US" sz="6900" dirty="0"/>
              <a:t>    5. Process monitoring and evaluation</a:t>
            </a:r>
          </a:p>
          <a:p>
            <a:pPr marL="0" indent="0">
              <a:buNone/>
            </a:pPr>
            <a:br>
              <a:rPr lang="en-US" sz="4000" dirty="0"/>
            </a:br>
            <a:endParaRPr lang="en-PK" sz="4000" dirty="0"/>
          </a:p>
        </p:txBody>
      </p:sp>
    </p:spTree>
    <p:extLst>
      <p:ext uri="{BB962C8B-B14F-4D97-AF65-F5344CB8AC3E}">
        <p14:creationId xmlns:p14="http://schemas.microsoft.com/office/powerpoint/2010/main" val="1972635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07BA8-D332-7028-E85D-90340DE7008B}"/>
              </a:ext>
            </a:extLst>
          </p:cNvPr>
          <p:cNvSpPr>
            <a:spLocks noGrp="1"/>
          </p:cNvSpPr>
          <p:nvPr>
            <p:ph type="title"/>
          </p:nvPr>
        </p:nvSpPr>
        <p:spPr>
          <a:xfrm>
            <a:off x="838200" y="0"/>
            <a:ext cx="10515600" cy="914400"/>
          </a:xfrm>
        </p:spPr>
        <p:txBody>
          <a:bodyPr>
            <a:normAutofit fontScale="90000"/>
          </a:bodyPr>
          <a:lstStyle/>
          <a:p>
            <a:pPr algn="ctr"/>
            <a:r>
              <a:rPr lang="en-US" sz="6600" b="1" i="0" dirty="0">
                <a:solidFill>
                  <a:srgbClr val="222222"/>
                </a:solidFill>
                <a:effectLst/>
                <a:highlight>
                  <a:srgbClr val="FFFF00"/>
                </a:highlight>
                <a:latin typeface="Arial" panose="020B0604020202020204" pitchFamily="34" charset="0"/>
              </a:rPr>
              <a:t> Process Identification</a:t>
            </a:r>
            <a:endParaRPr lang="en-PK" sz="6600" b="1" dirty="0">
              <a:highlight>
                <a:srgbClr val="FFFF00"/>
              </a:highlight>
            </a:endParaRPr>
          </a:p>
        </p:txBody>
      </p:sp>
      <p:sp>
        <p:nvSpPr>
          <p:cNvPr id="3" name="Content Placeholder 2">
            <a:extLst>
              <a:ext uri="{FF2B5EF4-FFF2-40B4-BE49-F238E27FC236}">
                <a16:creationId xmlns:a16="http://schemas.microsoft.com/office/drawing/2014/main" id="{C22F82D2-2FB2-EFAC-E747-7FDDB084EFD2}"/>
              </a:ext>
            </a:extLst>
          </p:cNvPr>
          <p:cNvSpPr>
            <a:spLocks noGrp="1"/>
          </p:cNvSpPr>
          <p:nvPr>
            <p:ph idx="1"/>
          </p:nvPr>
        </p:nvSpPr>
        <p:spPr>
          <a:xfrm>
            <a:off x="0" y="914400"/>
            <a:ext cx="12192000" cy="5943600"/>
          </a:xfrm>
        </p:spPr>
        <p:txBody>
          <a:bodyPr>
            <a:normAutofit/>
          </a:bodyPr>
          <a:lstStyle/>
          <a:p>
            <a:pPr algn="l"/>
            <a:endParaRPr lang="en-US" sz="6000" b="0" i="0" dirty="0">
              <a:solidFill>
                <a:srgbClr val="222222"/>
              </a:solidFill>
              <a:effectLst/>
              <a:latin typeface="Arial" panose="020B0604020202020204" pitchFamily="34" charset="0"/>
            </a:endParaRPr>
          </a:p>
          <a:p>
            <a:pPr marL="0" indent="0" algn="l">
              <a:buNone/>
            </a:pPr>
            <a:r>
              <a:rPr lang="en-US" sz="6000" b="0" i="0" dirty="0">
                <a:solidFill>
                  <a:srgbClr val="222222"/>
                </a:solidFill>
                <a:effectLst/>
                <a:latin typeface="Arial" panose="020B0604020202020204" pitchFamily="34" charset="0"/>
              </a:rPr>
              <a:t>Techniques for identifying processes:</a:t>
            </a:r>
          </a:p>
          <a:p>
            <a:pPr marL="0" indent="0" algn="l">
              <a:buNone/>
            </a:pPr>
            <a:r>
              <a:rPr lang="en-US" sz="6000" b="0" i="0" dirty="0">
                <a:solidFill>
                  <a:srgbClr val="222222"/>
                </a:solidFill>
                <a:effectLst/>
                <a:latin typeface="Arial" panose="020B0604020202020204" pitchFamily="34" charset="0"/>
              </a:rPr>
              <a:t>    - Process mapping</a:t>
            </a:r>
          </a:p>
          <a:p>
            <a:pPr marL="0" indent="0" algn="l">
              <a:buNone/>
            </a:pPr>
            <a:r>
              <a:rPr lang="en-US" sz="6000" b="0" i="0" dirty="0">
                <a:solidFill>
                  <a:srgbClr val="222222"/>
                </a:solidFill>
                <a:effectLst/>
                <a:latin typeface="Arial" panose="020B0604020202020204" pitchFamily="34" charset="0"/>
              </a:rPr>
              <a:t>    - SWOT analysis</a:t>
            </a:r>
          </a:p>
          <a:p>
            <a:pPr marL="0" indent="0" algn="l">
              <a:buNone/>
            </a:pPr>
            <a:r>
              <a:rPr lang="en-US" sz="6000" b="0" i="0" dirty="0">
                <a:solidFill>
                  <a:srgbClr val="222222"/>
                </a:solidFill>
                <a:effectLst/>
                <a:latin typeface="Arial" panose="020B0604020202020204" pitchFamily="34" charset="0"/>
              </a:rPr>
              <a:t>    - Stakeholder analysis</a:t>
            </a:r>
          </a:p>
          <a:p>
            <a:endParaRPr lang="en-PK" sz="6000" dirty="0"/>
          </a:p>
        </p:txBody>
      </p:sp>
    </p:spTree>
    <p:extLst>
      <p:ext uri="{BB962C8B-B14F-4D97-AF65-F5344CB8AC3E}">
        <p14:creationId xmlns:p14="http://schemas.microsoft.com/office/powerpoint/2010/main" val="2339498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2E7FC-1812-07B5-5E68-0CFE175A074B}"/>
              </a:ext>
            </a:extLst>
          </p:cNvPr>
          <p:cNvSpPr>
            <a:spLocks noGrp="1"/>
          </p:cNvSpPr>
          <p:nvPr>
            <p:ph type="title"/>
          </p:nvPr>
        </p:nvSpPr>
        <p:spPr>
          <a:xfrm>
            <a:off x="838200" y="1"/>
            <a:ext cx="10515600" cy="888999"/>
          </a:xfrm>
        </p:spPr>
        <p:txBody>
          <a:bodyPr>
            <a:normAutofit fontScale="90000"/>
          </a:bodyPr>
          <a:lstStyle/>
          <a:p>
            <a:pPr algn="ctr"/>
            <a:r>
              <a:rPr lang="en-US" sz="6000" b="1" i="0" dirty="0">
                <a:solidFill>
                  <a:srgbClr val="222222"/>
                </a:solidFill>
                <a:effectLst/>
                <a:highlight>
                  <a:srgbClr val="FFFF00"/>
                </a:highlight>
                <a:latin typeface="Arial" panose="020B0604020202020204" pitchFamily="34" charset="0"/>
              </a:rPr>
              <a:t>Process Analysis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1DE0A17-6FC8-2AAE-CAD3-45A815E59D13}"/>
              </a:ext>
            </a:extLst>
          </p:cNvPr>
          <p:cNvSpPr>
            <a:spLocks noGrp="1"/>
          </p:cNvSpPr>
          <p:nvPr>
            <p:ph idx="1"/>
          </p:nvPr>
        </p:nvSpPr>
        <p:spPr>
          <a:xfrm>
            <a:off x="0" y="889000"/>
            <a:ext cx="12192000" cy="5969000"/>
          </a:xfrm>
        </p:spPr>
        <p:txBody>
          <a:bodyPr>
            <a:normAutofit lnSpcReduction="10000"/>
          </a:bodyPr>
          <a:lstStyle/>
          <a:p>
            <a:pPr algn="l"/>
            <a:endParaRPr lang="en-US" sz="7200" b="0" i="0" dirty="0">
              <a:solidFill>
                <a:srgbClr val="222222"/>
              </a:solidFill>
              <a:effectLst/>
              <a:latin typeface="Arial" panose="020B0604020202020204" pitchFamily="34" charset="0"/>
            </a:endParaRPr>
          </a:p>
          <a:p>
            <a:pPr marL="0" indent="0" algn="l">
              <a:buNone/>
            </a:pPr>
            <a:r>
              <a:rPr lang="en-US" sz="7200" b="0" i="0" dirty="0">
                <a:solidFill>
                  <a:srgbClr val="222222"/>
                </a:solidFill>
                <a:effectLst/>
                <a:latin typeface="Arial" panose="020B0604020202020204" pitchFamily="34" charset="0"/>
              </a:rPr>
              <a:t>Tools for analyzing processes:</a:t>
            </a:r>
          </a:p>
          <a:p>
            <a:pPr marL="0" indent="0" algn="l">
              <a:buNone/>
            </a:pPr>
            <a:r>
              <a:rPr lang="en-US" sz="7200" b="0" i="0" dirty="0">
                <a:solidFill>
                  <a:srgbClr val="222222"/>
                </a:solidFill>
                <a:effectLst/>
                <a:latin typeface="Arial" panose="020B0604020202020204" pitchFamily="34" charset="0"/>
              </a:rPr>
              <a:t>    - Root cause analysis</a:t>
            </a:r>
          </a:p>
          <a:p>
            <a:pPr marL="0" indent="0" algn="l">
              <a:buNone/>
            </a:pPr>
            <a:r>
              <a:rPr lang="en-US" sz="7200" b="0" i="0" dirty="0">
                <a:solidFill>
                  <a:srgbClr val="222222"/>
                </a:solidFill>
                <a:effectLst/>
                <a:latin typeface="Arial" panose="020B0604020202020204" pitchFamily="34" charset="0"/>
              </a:rPr>
              <a:t>    - Fishbone diagrams</a:t>
            </a:r>
          </a:p>
          <a:p>
            <a:pPr marL="0" indent="0" algn="l">
              <a:buNone/>
            </a:pPr>
            <a:r>
              <a:rPr lang="en-US" sz="7200" b="0" i="0" dirty="0">
                <a:solidFill>
                  <a:srgbClr val="222222"/>
                </a:solidFill>
                <a:effectLst/>
                <a:latin typeface="Arial" panose="020B0604020202020204" pitchFamily="34" charset="0"/>
              </a:rPr>
              <a:t>    - Pareto analysis</a:t>
            </a:r>
          </a:p>
          <a:p>
            <a:endParaRPr lang="en-PK" sz="7200" dirty="0"/>
          </a:p>
        </p:txBody>
      </p:sp>
    </p:spTree>
    <p:extLst>
      <p:ext uri="{BB962C8B-B14F-4D97-AF65-F5344CB8AC3E}">
        <p14:creationId xmlns:p14="http://schemas.microsoft.com/office/powerpoint/2010/main" val="553971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B349F-C46C-CFD5-EA89-DD87C0E7E88B}"/>
              </a:ext>
            </a:extLst>
          </p:cNvPr>
          <p:cNvSpPr>
            <a:spLocks noGrp="1"/>
          </p:cNvSpPr>
          <p:nvPr>
            <p:ph type="title"/>
          </p:nvPr>
        </p:nvSpPr>
        <p:spPr>
          <a:xfrm>
            <a:off x="0" y="1"/>
            <a:ext cx="12192000" cy="1667434"/>
          </a:xfrm>
        </p:spPr>
        <p:txBody>
          <a:bodyPr>
            <a:normAutofit/>
          </a:bodyPr>
          <a:lstStyle/>
          <a:p>
            <a:pPr algn="ctr"/>
            <a:r>
              <a:rPr lang="en-US" sz="9600" b="1" dirty="0">
                <a:highlight>
                  <a:srgbClr val="FFFF00"/>
                </a:highlight>
              </a:rPr>
              <a:t> Process Design</a:t>
            </a:r>
            <a:endParaRPr lang="en-PK" sz="9600" b="1" dirty="0">
              <a:highlight>
                <a:srgbClr val="FFFF00"/>
              </a:highlight>
            </a:endParaRPr>
          </a:p>
        </p:txBody>
      </p:sp>
      <p:sp>
        <p:nvSpPr>
          <p:cNvPr id="3" name="Content Placeholder 2">
            <a:extLst>
              <a:ext uri="{FF2B5EF4-FFF2-40B4-BE49-F238E27FC236}">
                <a16:creationId xmlns:a16="http://schemas.microsoft.com/office/drawing/2014/main" id="{6840566F-450B-2943-FA19-A97FEE75EB40}"/>
              </a:ext>
            </a:extLst>
          </p:cNvPr>
          <p:cNvSpPr>
            <a:spLocks noGrp="1"/>
          </p:cNvSpPr>
          <p:nvPr>
            <p:ph idx="1"/>
          </p:nvPr>
        </p:nvSpPr>
        <p:spPr>
          <a:xfrm>
            <a:off x="0" y="1117600"/>
            <a:ext cx="12192000" cy="5740399"/>
          </a:xfrm>
        </p:spPr>
        <p:txBody>
          <a:bodyPr>
            <a:normAutofit fontScale="62500" lnSpcReduction="20000"/>
          </a:bodyPr>
          <a:lstStyle/>
          <a:p>
            <a:endParaRPr lang="en-US" sz="9600" dirty="0"/>
          </a:p>
          <a:p>
            <a:r>
              <a:rPr lang="en-US" sz="9600" dirty="0"/>
              <a:t>- Principles for designing processes:</a:t>
            </a:r>
          </a:p>
          <a:p>
            <a:r>
              <a:rPr lang="en-US" sz="9600" dirty="0"/>
              <a:t>    - Simplification</a:t>
            </a:r>
          </a:p>
          <a:p>
            <a:r>
              <a:rPr lang="en-US" sz="9600" dirty="0"/>
              <a:t>    - Standardization</a:t>
            </a:r>
          </a:p>
          <a:p>
            <a:r>
              <a:rPr lang="en-US" sz="9600" dirty="0"/>
              <a:t>    - Automation</a:t>
            </a:r>
          </a:p>
          <a:p>
            <a:br>
              <a:rPr lang="en-US" sz="6000" dirty="0"/>
            </a:br>
            <a:endParaRPr lang="en-PK" sz="6000" dirty="0"/>
          </a:p>
        </p:txBody>
      </p:sp>
    </p:spTree>
    <p:extLst>
      <p:ext uri="{BB962C8B-B14F-4D97-AF65-F5344CB8AC3E}">
        <p14:creationId xmlns:p14="http://schemas.microsoft.com/office/powerpoint/2010/main" val="3289722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F257-47B5-37C0-2BFD-E7C700CAA0E2}"/>
              </a:ext>
            </a:extLst>
          </p:cNvPr>
          <p:cNvSpPr>
            <a:spLocks noGrp="1"/>
          </p:cNvSpPr>
          <p:nvPr>
            <p:ph type="title"/>
          </p:nvPr>
        </p:nvSpPr>
        <p:spPr>
          <a:xfrm>
            <a:off x="838200" y="0"/>
            <a:ext cx="10515600" cy="1168399"/>
          </a:xfrm>
        </p:spPr>
        <p:txBody>
          <a:bodyPr>
            <a:normAutofit/>
          </a:bodyPr>
          <a:lstStyle/>
          <a:p>
            <a:pPr algn="ctr"/>
            <a:r>
              <a:rPr lang="en-US" sz="7200" b="1" dirty="0">
                <a:highlight>
                  <a:srgbClr val="FFFF00"/>
                </a:highlight>
              </a:rPr>
              <a:t>Process Implementation</a:t>
            </a:r>
            <a:endParaRPr lang="en-PK" sz="7200" b="1" dirty="0">
              <a:highlight>
                <a:srgbClr val="FFFF00"/>
              </a:highlight>
            </a:endParaRPr>
          </a:p>
        </p:txBody>
      </p:sp>
      <p:sp>
        <p:nvSpPr>
          <p:cNvPr id="3" name="Content Placeholder 2">
            <a:extLst>
              <a:ext uri="{FF2B5EF4-FFF2-40B4-BE49-F238E27FC236}">
                <a16:creationId xmlns:a16="http://schemas.microsoft.com/office/drawing/2014/main" id="{21776542-6CA6-02B3-EFE8-C24DCC41F388}"/>
              </a:ext>
            </a:extLst>
          </p:cNvPr>
          <p:cNvSpPr>
            <a:spLocks noGrp="1"/>
          </p:cNvSpPr>
          <p:nvPr>
            <p:ph idx="1"/>
          </p:nvPr>
        </p:nvSpPr>
        <p:spPr>
          <a:xfrm>
            <a:off x="0" y="1168398"/>
            <a:ext cx="12192000" cy="5689601"/>
          </a:xfrm>
        </p:spPr>
        <p:txBody>
          <a:bodyPr>
            <a:normAutofit fontScale="85000" lnSpcReduction="20000"/>
          </a:bodyPr>
          <a:lstStyle/>
          <a:p>
            <a:endParaRPr lang="en-US" sz="7800" dirty="0"/>
          </a:p>
          <a:p>
            <a:pPr marL="0" indent="0">
              <a:buNone/>
            </a:pPr>
            <a:r>
              <a:rPr lang="en-US" sz="7800" dirty="0"/>
              <a:t>Strategies for implementing processes:</a:t>
            </a:r>
          </a:p>
          <a:p>
            <a:pPr marL="0" indent="0">
              <a:buNone/>
            </a:pPr>
            <a:r>
              <a:rPr lang="en-US" sz="7800" dirty="0"/>
              <a:t>    - Change management</a:t>
            </a:r>
          </a:p>
          <a:p>
            <a:pPr marL="0" indent="0">
              <a:buNone/>
            </a:pPr>
            <a:r>
              <a:rPr lang="en-US" sz="7800" dirty="0"/>
              <a:t>    - Training and development</a:t>
            </a:r>
          </a:p>
          <a:p>
            <a:pPr marL="0" indent="0">
              <a:buNone/>
            </a:pPr>
            <a:r>
              <a:rPr lang="en-US" sz="7800" dirty="0"/>
              <a:t>    - Communication planning</a:t>
            </a:r>
          </a:p>
          <a:p>
            <a:pPr marL="0" indent="0">
              <a:buNone/>
            </a:pPr>
            <a:br>
              <a:rPr lang="en-US" dirty="0"/>
            </a:br>
            <a:endParaRPr lang="en-PK" dirty="0"/>
          </a:p>
        </p:txBody>
      </p:sp>
    </p:spTree>
    <p:extLst>
      <p:ext uri="{BB962C8B-B14F-4D97-AF65-F5344CB8AC3E}">
        <p14:creationId xmlns:p14="http://schemas.microsoft.com/office/powerpoint/2010/main" val="2479335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651DA-C2AF-A23F-27B3-54ECA154B234}"/>
              </a:ext>
            </a:extLst>
          </p:cNvPr>
          <p:cNvSpPr>
            <a:spLocks noGrp="1"/>
          </p:cNvSpPr>
          <p:nvPr>
            <p:ph type="title"/>
          </p:nvPr>
        </p:nvSpPr>
        <p:spPr>
          <a:xfrm>
            <a:off x="0" y="1"/>
            <a:ext cx="12192000" cy="1694328"/>
          </a:xfrm>
        </p:spPr>
        <p:txBody>
          <a:bodyPr>
            <a:normAutofit/>
          </a:bodyPr>
          <a:lstStyle/>
          <a:p>
            <a:pPr algn="ctr"/>
            <a:r>
              <a:rPr lang="en-US" sz="5400" b="1" i="0" dirty="0">
                <a:solidFill>
                  <a:srgbClr val="222222"/>
                </a:solidFill>
                <a:effectLst/>
                <a:highlight>
                  <a:srgbClr val="FFFF00"/>
                </a:highlight>
                <a:latin typeface="Arial" panose="020B0604020202020204" pitchFamily="34" charset="0"/>
              </a:rPr>
              <a:t> Process Monitoring and Evaluation</a:t>
            </a:r>
            <a:endParaRPr lang="en-PK" sz="5400" b="1" dirty="0">
              <a:highlight>
                <a:srgbClr val="FFFF00"/>
              </a:highlight>
            </a:endParaRPr>
          </a:p>
        </p:txBody>
      </p:sp>
      <p:sp>
        <p:nvSpPr>
          <p:cNvPr id="3" name="Content Placeholder 2">
            <a:extLst>
              <a:ext uri="{FF2B5EF4-FFF2-40B4-BE49-F238E27FC236}">
                <a16:creationId xmlns:a16="http://schemas.microsoft.com/office/drawing/2014/main" id="{E70A3E47-8C63-2D25-8E9D-42228073081F}"/>
              </a:ext>
            </a:extLst>
          </p:cNvPr>
          <p:cNvSpPr>
            <a:spLocks noGrp="1"/>
          </p:cNvSpPr>
          <p:nvPr>
            <p:ph idx="1"/>
          </p:nvPr>
        </p:nvSpPr>
        <p:spPr>
          <a:xfrm>
            <a:off x="0" y="1244600"/>
            <a:ext cx="12192000" cy="5613400"/>
          </a:xfrm>
        </p:spPr>
        <p:txBody>
          <a:bodyPr/>
          <a:lstStyle/>
          <a:p>
            <a:pPr algn="l"/>
            <a:endParaRPr lang="en-US" sz="4800" b="0" i="0" dirty="0">
              <a:solidFill>
                <a:srgbClr val="222222"/>
              </a:solidFill>
              <a:effectLst/>
              <a:latin typeface="Arial" panose="020B0604020202020204" pitchFamily="34" charset="0"/>
            </a:endParaRPr>
          </a:p>
          <a:p>
            <a:pPr marL="0" indent="0" algn="l">
              <a:buNone/>
            </a:pPr>
            <a:r>
              <a:rPr lang="en-US" sz="4800" b="0" i="0" dirty="0">
                <a:solidFill>
                  <a:srgbClr val="222222"/>
                </a:solidFill>
                <a:effectLst/>
                <a:latin typeface="Arial" panose="020B0604020202020204" pitchFamily="34" charset="0"/>
              </a:rPr>
              <a:t>Metrics for measuring process performance:</a:t>
            </a:r>
          </a:p>
          <a:p>
            <a:pPr marL="0" indent="0" algn="l">
              <a:buNone/>
            </a:pPr>
            <a:r>
              <a:rPr lang="en-US" sz="4800" b="0" i="0" dirty="0">
                <a:solidFill>
                  <a:srgbClr val="222222"/>
                </a:solidFill>
                <a:effectLst/>
                <a:latin typeface="Arial" panose="020B0604020202020204" pitchFamily="34" charset="0"/>
              </a:rPr>
              <a:t>    - Cycle time</a:t>
            </a:r>
          </a:p>
          <a:p>
            <a:pPr marL="0" indent="0" algn="l">
              <a:buNone/>
            </a:pPr>
            <a:r>
              <a:rPr lang="en-US" sz="4800" b="0" i="0" dirty="0">
                <a:solidFill>
                  <a:srgbClr val="222222"/>
                </a:solidFill>
                <a:effectLst/>
                <a:latin typeface="Arial" panose="020B0604020202020204" pitchFamily="34" charset="0"/>
              </a:rPr>
              <a:t>    - Throughput    - Quality</a:t>
            </a:r>
          </a:p>
          <a:p>
            <a:pPr marL="0" indent="0" algn="l">
              <a:buNone/>
            </a:pPr>
            <a:r>
              <a:rPr lang="en-US" sz="4800" b="0" i="0" dirty="0">
                <a:solidFill>
                  <a:srgbClr val="222222"/>
                </a:solidFill>
                <a:effectLst/>
                <a:latin typeface="Arial" panose="020B0604020202020204" pitchFamily="34" charset="0"/>
              </a:rPr>
              <a:t>    - Customer satisfaction</a:t>
            </a:r>
          </a:p>
          <a:p>
            <a:endParaRPr lang="en-PK" dirty="0"/>
          </a:p>
        </p:txBody>
      </p:sp>
    </p:spTree>
    <p:extLst>
      <p:ext uri="{BB962C8B-B14F-4D97-AF65-F5344CB8AC3E}">
        <p14:creationId xmlns:p14="http://schemas.microsoft.com/office/powerpoint/2010/main" val="2612976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4F6E0-60F4-BAB9-AEC2-A06098444C11}"/>
              </a:ext>
            </a:extLst>
          </p:cNvPr>
          <p:cNvSpPr>
            <a:spLocks noGrp="1"/>
          </p:cNvSpPr>
          <p:nvPr>
            <p:ph type="title"/>
          </p:nvPr>
        </p:nvSpPr>
        <p:spPr>
          <a:xfrm>
            <a:off x="838200" y="1"/>
            <a:ext cx="10515600" cy="1193799"/>
          </a:xfrm>
        </p:spPr>
        <p:txBody>
          <a:bodyPr>
            <a:normAutofit/>
          </a:bodyPr>
          <a:lstStyle/>
          <a:p>
            <a:pPr algn="ctr"/>
            <a:r>
              <a:rPr lang="en-US" sz="6000" b="1" i="0" dirty="0">
                <a:solidFill>
                  <a:srgbClr val="222222"/>
                </a:solidFill>
                <a:effectLst/>
                <a:highlight>
                  <a:srgbClr val="FFFF00"/>
                </a:highlight>
                <a:latin typeface="Arial" panose="020B0604020202020204" pitchFamily="34" charset="0"/>
              </a:rPr>
              <a:t> BPE Tools and Techniques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4458EEAF-A70D-D9A1-D155-638AD922E821}"/>
              </a:ext>
            </a:extLst>
          </p:cNvPr>
          <p:cNvSpPr>
            <a:spLocks noGrp="1"/>
          </p:cNvSpPr>
          <p:nvPr>
            <p:ph idx="1"/>
          </p:nvPr>
        </p:nvSpPr>
        <p:spPr>
          <a:xfrm>
            <a:off x="0" y="1193800"/>
            <a:ext cx="12192000" cy="5664199"/>
          </a:xfrm>
        </p:spPr>
        <p:txBody>
          <a:bodyPr>
            <a:normAutofit/>
          </a:bodyPr>
          <a:lstStyle/>
          <a:p>
            <a:pPr algn="l"/>
            <a:endParaRPr lang="en-US" sz="5400" b="0" i="0" dirty="0">
              <a:solidFill>
                <a:srgbClr val="222222"/>
              </a:solidFill>
              <a:effectLst/>
              <a:latin typeface="Arial" panose="020B0604020202020204" pitchFamily="34" charset="0"/>
            </a:endParaRPr>
          </a:p>
          <a:p>
            <a:pPr algn="l"/>
            <a:r>
              <a:rPr lang="en-US" sz="5400" b="0" i="0" dirty="0">
                <a:solidFill>
                  <a:srgbClr val="222222"/>
                </a:solidFill>
                <a:effectLst/>
                <a:latin typeface="Arial" panose="020B0604020202020204" pitchFamily="34" charset="0"/>
              </a:rPr>
              <a:t>    - Business process modeling notation (BPMN)</a:t>
            </a:r>
          </a:p>
          <a:p>
            <a:pPr algn="l"/>
            <a:r>
              <a:rPr lang="en-US" sz="5400" b="0" i="0" dirty="0">
                <a:solidFill>
                  <a:srgbClr val="222222"/>
                </a:solidFill>
                <a:effectLst/>
                <a:latin typeface="Arial" panose="020B0604020202020204" pitchFamily="34" charset="0"/>
              </a:rPr>
              <a:t>    - Lean</a:t>
            </a:r>
          </a:p>
          <a:p>
            <a:pPr algn="l"/>
            <a:r>
              <a:rPr lang="en-US" sz="5400" b="0" i="0" dirty="0">
                <a:solidFill>
                  <a:srgbClr val="222222"/>
                </a:solidFill>
                <a:effectLst/>
                <a:latin typeface="Arial" panose="020B0604020202020204" pitchFamily="34" charset="0"/>
              </a:rPr>
              <a:t>    - Six Sigma</a:t>
            </a:r>
          </a:p>
          <a:p>
            <a:endParaRPr lang="en-PK" sz="5400" dirty="0"/>
          </a:p>
        </p:txBody>
      </p:sp>
    </p:spTree>
    <p:extLst>
      <p:ext uri="{BB962C8B-B14F-4D97-AF65-F5344CB8AC3E}">
        <p14:creationId xmlns:p14="http://schemas.microsoft.com/office/powerpoint/2010/main" val="3531387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9B70-9BEA-AC46-D9EC-472F076DBEBD}"/>
              </a:ext>
            </a:extLst>
          </p:cNvPr>
          <p:cNvSpPr>
            <a:spLocks noGrp="1"/>
          </p:cNvSpPr>
          <p:nvPr>
            <p:ph type="title"/>
          </p:nvPr>
        </p:nvSpPr>
        <p:spPr>
          <a:xfrm>
            <a:off x="838200" y="1"/>
            <a:ext cx="10515600" cy="840657"/>
          </a:xfrm>
        </p:spPr>
        <p:txBody>
          <a:bodyPr/>
          <a:lstStyle/>
          <a:p>
            <a:r>
              <a:rPr lang="en-US" b="1" dirty="0">
                <a:highlight>
                  <a:srgbClr val="FFFF00"/>
                </a:highlight>
              </a:rPr>
              <a:t>Business Process Model and Notation (BPMN)</a:t>
            </a:r>
            <a:endParaRPr lang="en-PK" b="1" dirty="0">
              <a:highlight>
                <a:srgbClr val="FFFF00"/>
              </a:highlight>
            </a:endParaRPr>
          </a:p>
        </p:txBody>
      </p:sp>
      <p:sp>
        <p:nvSpPr>
          <p:cNvPr id="3" name="Content Placeholder 2">
            <a:extLst>
              <a:ext uri="{FF2B5EF4-FFF2-40B4-BE49-F238E27FC236}">
                <a16:creationId xmlns:a16="http://schemas.microsoft.com/office/drawing/2014/main" id="{F6C5AFF2-A6D3-47BD-B926-E97C311700E0}"/>
              </a:ext>
            </a:extLst>
          </p:cNvPr>
          <p:cNvSpPr>
            <a:spLocks noGrp="1"/>
          </p:cNvSpPr>
          <p:nvPr>
            <p:ph idx="1"/>
          </p:nvPr>
        </p:nvSpPr>
        <p:spPr>
          <a:xfrm>
            <a:off x="0" y="1017638"/>
            <a:ext cx="12192000" cy="5840361"/>
          </a:xfrm>
        </p:spPr>
        <p:txBody>
          <a:bodyPr>
            <a:normAutofit/>
          </a:bodyPr>
          <a:lstStyle/>
          <a:p>
            <a:r>
              <a:rPr lang="en-US" sz="3200" dirty="0"/>
              <a:t>Business Process Model and Notation (BPMN) is a standard for business process modeling that provides a graphical notation for specifying business processes. The main elements of BPMN are:</a:t>
            </a:r>
          </a:p>
          <a:p>
            <a:r>
              <a:rPr lang="en-US" sz="3200" dirty="0"/>
              <a:t>1. _Events_: Represented by circles, events trigger or result from a process.</a:t>
            </a:r>
          </a:p>
          <a:p>
            <a:r>
              <a:rPr lang="en-US" sz="3200" dirty="0"/>
              <a:t>2. _Activities_: Represented by rectangles, activities are tasks or operations performed in a process.</a:t>
            </a:r>
          </a:p>
          <a:p>
            <a:r>
              <a:rPr lang="en-US" sz="3200" dirty="0"/>
              <a:t>3. _Gateways_: Represented by diamonds, gateways control the flow of a process.</a:t>
            </a:r>
          </a:p>
          <a:p>
            <a:r>
              <a:rPr lang="en-US" sz="3200" dirty="0"/>
              <a:t>4. _Flows_: Represented by arrows, flows connect elements and show the sequence of a process.</a:t>
            </a:r>
          </a:p>
        </p:txBody>
      </p:sp>
    </p:spTree>
    <p:extLst>
      <p:ext uri="{BB962C8B-B14F-4D97-AF65-F5344CB8AC3E}">
        <p14:creationId xmlns:p14="http://schemas.microsoft.com/office/powerpoint/2010/main" val="207264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281F-B627-8645-35A9-0726F226AFCD}"/>
              </a:ext>
            </a:extLst>
          </p:cNvPr>
          <p:cNvSpPr>
            <a:spLocks noGrp="1"/>
          </p:cNvSpPr>
          <p:nvPr>
            <p:ph type="title"/>
          </p:nvPr>
        </p:nvSpPr>
        <p:spPr>
          <a:xfrm>
            <a:off x="0" y="1"/>
            <a:ext cx="12067308" cy="1108363"/>
          </a:xfrm>
        </p:spPr>
        <p:txBody>
          <a:bodyPr/>
          <a:lstStyle/>
          <a:p>
            <a:r>
              <a:rPr lang="en-US" b="1" dirty="0">
                <a:highlight>
                  <a:srgbClr val="FFFF00"/>
                </a:highlight>
              </a:rPr>
              <a:t>Business Process Model and Notation (BPMN)(</a:t>
            </a:r>
            <a:r>
              <a:rPr lang="en-US" b="1" dirty="0" err="1">
                <a:highlight>
                  <a:srgbClr val="FFFF00"/>
                </a:highlight>
              </a:rPr>
              <a:t>Cont</a:t>
            </a:r>
            <a:r>
              <a:rPr lang="en-US" b="1" dirty="0">
                <a:highlight>
                  <a:srgbClr val="FFFF00"/>
                </a:highlight>
              </a:rPr>
              <a:t>)</a:t>
            </a:r>
            <a:endParaRPr lang="en-PK" dirty="0"/>
          </a:p>
        </p:txBody>
      </p:sp>
      <p:sp>
        <p:nvSpPr>
          <p:cNvPr id="3" name="Content Placeholder 2">
            <a:extLst>
              <a:ext uri="{FF2B5EF4-FFF2-40B4-BE49-F238E27FC236}">
                <a16:creationId xmlns:a16="http://schemas.microsoft.com/office/drawing/2014/main" id="{EF0BBF72-0C4A-C655-9C6F-8BB98E99E9F1}"/>
              </a:ext>
            </a:extLst>
          </p:cNvPr>
          <p:cNvSpPr>
            <a:spLocks noGrp="1"/>
          </p:cNvSpPr>
          <p:nvPr>
            <p:ph idx="1"/>
          </p:nvPr>
        </p:nvSpPr>
        <p:spPr/>
        <p:txBody>
          <a:bodyPr>
            <a:normAutofit lnSpcReduction="10000"/>
          </a:bodyPr>
          <a:lstStyle/>
          <a:p>
            <a:r>
              <a:rPr lang="en-US" sz="4400" dirty="0"/>
              <a:t>5. _Pools_ and _Lanes_: Represented by rectangles, pools and lanes organize and categorize activities.</a:t>
            </a:r>
          </a:p>
          <a:p>
            <a:r>
              <a:rPr lang="en-US" sz="4400" dirty="0"/>
              <a:t>6. _Artifacts_: Represented by various shapes, artifacts provide additional information about a process.</a:t>
            </a:r>
            <a:br>
              <a:rPr lang="en-US" sz="4400" dirty="0"/>
            </a:br>
            <a:endParaRPr lang="en-US" sz="4400" dirty="0"/>
          </a:p>
          <a:p>
            <a:endParaRPr lang="en-PK" sz="4400" dirty="0"/>
          </a:p>
        </p:txBody>
      </p:sp>
    </p:spTree>
    <p:extLst>
      <p:ext uri="{BB962C8B-B14F-4D97-AF65-F5344CB8AC3E}">
        <p14:creationId xmlns:p14="http://schemas.microsoft.com/office/powerpoint/2010/main" val="2532690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A7DCF-31F1-EB34-22E1-C32E3153EFC9}"/>
              </a:ext>
            </a:extLst>
          </p:cNvPr>
          <p:cNvSpPr>
            <a:spLocks noGrp="1"/>
          </p:cNvSpPr>
          <p:nvPr>
            <p:ph type="title"/>
          </p:nvPr>
        </p:nvSpPr>
        <p:spPr>
          <a:xfrm>
            <a:off x="0" y="-96982"/>
            <a:ext cx="12192000" cy="778019"/>
          </a:xfrm>
        </p:spPr>
        <p:txBody>
          <a:bodyPr/>
          <a:lstStyle/>
          <a:p>
            <a:r>
              <a:rPr lang="en-US" b="1" dirty="0">
                <a:highlight>
                  <a:srgbClr val="FFFF00"/>
                </a:highlight>
              </a:rPr>
              <a:t>Business Process Model and Notation (BPMN)(</a:t>
            </a:r>
            <a:r>
              <a:rPr lang="en-US" b="1" dirty="0" err="1">
                <a:highlight>
                  <a:srgbClr val="FFFF00"/>
                </a:highlight>
              </a:rPr>
              <a:t>Cont</a:t>
            </a:r>
            <a:r>
              <a:rPr lang="en-US" b="1" dirty="0">
                <a:highlight>
                  <a:srgbClr val="FFFF00"/>
                </a:highlight>
              </a:rPr>
              <a:t>)</a:t>
            </a:r>
            <a:endParaRPr lang="en-PK" dirty="0"/>
          </a:p>
        </p:txBody>
      </p:sp>
      <p:sp>
        <p:nvSpPr>
          <p:cNvPr id="3" name="Content Placeholder 2">
            <a:extLst>
              <a:ext uri="{FF2B5EF4-FFF2-40B4-BE49-F238E27FC236}">
                <a16:creationId xmlns:a16="http://schemas.microsoft.com/office/drawing/2014/main" id="{174CE4D0-1B2B-B736-DDD7-0ED016A647CC}"/>
              </a:ext>
            </a:extLst>
          </p:cNvPr>
          <p:cNvSpPr>
            <a:spLocks noGrp="1"/>
          </p:cNvSpPr>
          <p:nvPr>
            <p:ph idx="1"/>
          </p:nvPr>
        </p:nvSpPr>
        <p:spPr>
          <a:xfrm>
            <a:off x="124691" y="681038"/>
            <a:ext cx="12067309" cy="6176962"/>
          </a:xfrm>
        </p:spPr>
        <p:txBody>
          <a:bodyPr>
            <a:normAutofit fontScale="55000" lnSpcReduction="20000"/>
          </a:bodyPr>
          <a:lstStyle/>
          <a:p>
            <a:r>
              <a:rPr lang="en-US" sz="7300" dirty="0"/>
              <a:t>BPMN also includes various symbols and markers to indicate:</a:t>
            </a:r>
          </a:p>
          <a:p>
            <a:r>
              <a:rPr lang="en-US" sz="7300" dirty="0"/>
              <a:t>- Start and end events</a:t>
            </a:r>
          </a:p>
          <a:p>
            <a:r>
              <a:rPr lang="en-US" sz="7300" dirty="0"/>
              <a:t>- Conditional flows (e.g., yes/no, true/false)</a:t>
            </a:r>
          </a:p>
          <a:p>
            <a:r>
              <a:rPr lang="en-US" sz="7300" dirty="0"/>
              <a:t>- Parallel and sequential flows</a:t>
            </a:r>
          </a:p>
          <a:p>
            <a:r>
              <a:rPr lang="en-US" sz="7300" dirty="0"/>
              <a:t>- Loops and iterations</a:t>
            </a:r>
          </a:p>
          <a:p>
            <a:r>
              <a:rPr lang="en-US" sz="7300" dirty="0"/>
              <a:t>- Errors and exceptions</a:t>
            </a:r>
          </a:p>
          <a:p>
            <a:r>
              <a:rPr lang="en-US" sz="7300" dirty="0"/>
              <a:t>- Data inputs and outputs</a:t>
            </a:r>
          </a:p>
          <a:p>
            <a:r>
              <a:rPr lang="en-US" sz="7300" dirty="0"/>
              <a:t>BPMN is used to create visual models of business processes, making it easier to understand, analyze, and improve them.</a:t>
            </a:r>
          </a:p>
          <a:p>
            <a:br>
              <a:rPr lang="en-US" dirty="0"/>
            </a:br>
            <a:endParaRPr lang="en-PK" dirty="0"/>
          </a:p>
          <a:p>
            <a:endParaRPr lang="en-PK" dirty="0"/>
          </a:p>
        </p:txBody>
      </p:sp>
    </p:spTree>
    <p:extLst>
      <p:ext uri="{BB962C8B-B14F-4D97-AF65-F5344CB8AC3E}">
        <p14:creationId xmlns:p14="http://schemas.microsoft.com/office/powerpoint/2010/main" val="3142425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BAEA-11EA-E8DC-4ABF-AF4F22028503}"/>
              </a:ext>
            </a:extLst>
          </p:cNvPr>
          <p:cNvSpPr>
            <a:spLocks noGrp="1"/>
          </p:cNvSpPr>
          <p:nvPr>
            <p:ph type="title"/>
          </p:nvPr>
        </p:nvSpPr>
        <p:spPr>
          <a:xfrm>
            <a:off x="0" y="1"/>
            <a:ext cx="12192000" cy="1331258"/>
          </a:xfrm>
        </p:spPr>
        <p:txBody>
          <a:bodyPr>
            <a:normAutofit/>
          </a:bodyPr>
          <a:lstStyle/>
          <a:p>
            <a:pPr algn="ctr"/>
            <a:r>
              <a:rPr lang="en-US" sz="8800" b="1" dirty="0">
                <a:highlight>
                  <a:srgbClr val="FFFF00"/>
                </a:highlight>
              </a:rPr>
              <a:t>Lean</a:t>
            </a:r>
            <a:endParaRPr lang="en-PK" sz="8800" b="1" dirty="0">
              <a:highlight>
                <a:srgbClr val="FFFF00"/>
              </a:highlight>
            </a:endParaRPr>
          </a:p>
        </p:txBody>
      </p:sp>
      <p:graphicFrame>
        <p:nvGraphicFramePr>
          <p:cNvPr id="4" name="Content Placeholder 3">
            <a:extLst>
              <a:ext uri="{FF2B5EF4-FFF2-40B4-BE49-F238E27FC236}">
                <a16:creationId xmlns:a16="http://schemas.microsoft.com/office/drawing/2014/main" id="{A6134C00-846D-D77F-99BF-9D8E163FA71F}"/>
              </a:ext>
            </a:extLst>
          </p:cNvPr>
          <p:cNvGraphicFramePr>
            <a:graphicFrameLocks noGrp="1"/>
          </p:cNvGraphicFramePr>
          <p:nvPr>
            <p:ph idx="1"/>
            <p:extLst>
              <p:ext uri="{D42A27DB-BD31-4B8C-83A1-F6EECF244321}">
                <p14:modId xmlns:p14="http://schemas.microsoft.com/office/powerpoint/2010/main" val="2108963252"/>
              </p:ext>
            </p:extLst>
          </p:nvPr>
        </p:nvGraphicFramePr>
        <p:xfrm>
          <a:off x="1685925" y="3818414"/>
          <a:ext cx="8820150" cy="365760"/>
        </p:xfrm>
        <a:graphic>
          <a:graphicData uri="http://schemas.openxmlformats.org/drawingml/2006/table">
            <a:tbl>
              <a:tblPr/>
              <a:tblGrid>
                <a:gridCol w="419100">
                  <a:extLst>
                    <a:ext uri="{9D8B030D-6E8A-4147-A177-3AD203B41FA5}">
                      <a16:colId xmlns:a16="http://schemas.microsoft.com/office/drawing/2014/main" val="3478315285"/>
                    </a:ext>
                  </a:extLst>
                </a:gridCol>
                <a:gridCol w="8401050">
                  <a:extLst>
                    <a:ext uri="{9D8B030D-6E8A-4147-A177-3AD203B41FA5}">
                      <a16:colId xmlns:a16="http://schemas.microsoft.com/office/drawing/2014/main" val="587735232"/>
                    </a:ext>
                  </a:extLst>
                </a:gridCol>
              </a:tblGrid>
              <a:tr h="363621">
                <a:tc>
                  <a:txBody>
                    <a:bodyPr/>
                    <a:lstStyle/>
                    <a:p>
                      <a:pPr fontAlgn="t"/>
                      <a:endParaRPr lang="en-PK">
                        <a:effectLst/>
                      </a:endParaRPr>
                    </a:p>
                  </a:txBody>
                  <a:tcPr marL="152400" marR="152400">
                    <a:lnL>
                      <a:noFill/>
                    </a:lnL>
                    <a:lnR>
                      <a:noFill/>
                    </a:lnR>
                    <a:lnT>
                      <a:noFill/>
                    </a:lnT>
                    <a:lnB>
                      <a:noFill/>
                    </a:lnB>
                    <a:noFill/>
                  </a:tcPr>
                </a:tc>
                <a:tc>
                  <a:txBody>
                    <a:bodyPr/>
                    <a:lstStyle/>
                    <a:p>
                      <a:r>
                        <a:rPr lang="en-US" b="0" u="none" strike="noStrike" dirty="0" err="1">
                          <a:solidFill>
                            <a:srgbClr val="444746"/>
                          </a:solidFill>
                          <a:effectLst/>
                          <a:latin typeface="Google Sans"/>
                        </a:rPr>
                        <a:t>ReplyForward</a:t>
                      </a:r>
                      <a:endParaRPr lang="en-US" dirty="0">
                        <a:solidFill>
                          <a:srgbClr val="222222"/>
                        </a:solidFill>
                        <a:effectLst/>
                      </a:endParaRPr>
                    </a:p>
                  </a:txBody>
                  <a:tcPr anchor="ctr">
                    <a:lnL>
                      <a:noFill/>
                    </a:lnL>
                    <a:lnR>
                      <a:noFill/>
                    </a:lnR>
                    <a:lnT>
                      <a:noFill/>
                    </a:lnT>
                    <a:lnB>
                      <a:noFill/>
                    </a:lnB>
                    <a:noFill/>
                  </a:tcPr>
                </a:tc>
                <a:extLst>
                  <a:ext uri="{0D108BD9-81ED-4DB2-BD59-A6C34878D82A}">
                    <a16:rowId xmlns:a16="http://schemas.microsoft.com/office/drawing/2014/main" val="2404262361"/>
                  </a:ext>
                </a:extLst>
              </a:tr>
            </a:tbl>
          </a:graphicData>
        </a:graphic>
      </p:graphicFrame>
      <p:sp>
        <p:nvSpPr>
          <p:cNvPr id="5" name="Rectangle 1">
            <a:extLst>
              <a:ext uri="{FF2B5EF4-FFF2-40B4-BE49-F238E27FC236}">
                <a16:creationId xmlns:a16="http://schemas.microsoft.com/office/drawing/2014/main" id="{AEEAB51B-90F2-0423-2E6B-5E35B2C431C0}"/>
              </a:ext>
            </a:extLst>
          </p:cNvPr>
          <p:cNvSpPr>
            <a:spLocks noChangeArrowheads="1"/>
          </p:cNvSpPr>
          <p:nvPr/>
        </p:nvSpPr>
        <p:spPr bwMode="auto">
          <a:xfrm>
            <a:off x="0" y="1156148"/>
            <a:ext cx="12192000" cy="5324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Lean process, also known as Lean methodology, is a management approach that aims to maximize value for customers while minimizing waste and optimizing workflows. The core principles of Lean process are:</a:t>
            </a: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_Define Value_: Identify the value-added activities from the customer's perspective.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_Map the Value Stream_: Visualize the entire process to identify waste and areas for improvement.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0" i="0" u="none" strike="noStrike" cap="none" normalizeH="0" baseline="0" dirty="0">
                <a:ln>
                  <a:noFill/>
                </a:ln>
                <a:solidFill>
                  <a:schemeClr val="tx1"/>
                </a:solidFill>
                <a:effectLst/>
                <a:latin typeface="Arial" panose="020B0604020202020204" pitchFamily="34" charset="0"/>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071EC0E5-C7AA-F6CD-A39A-4DDD729B6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9258300"/>
            <a:ext cx="381000" cy="37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354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5BB2E-599C-FF96-DFF4-8598E68B41CD}"/>
              </a:ext>
            </a:extLst>
          </p:cNvPr>
          <p:cNvSpPr>
            <a:spLocks noGrp="1"/>
          </p:cNvSpPr>
          <p:nvPr>
            <p:ph type="title"/>
          </p:nvPr>
        </p:nvSpPr>
        <p:spPr>
          <a:xfrm>
            <a:off x="838200" y="1"/>
            <a:ext cx="10515600" cy="1008528"/>
          </a:xfrm>
        </p:spPr>
        <p:txBody>
          <a:bodyPr>
            <a:normAutofit fontScale="90000"/>
          </a:bodyPr>
          <a:lstStyle/>
          <a:p>
            <a:pPr algn="ctr"/>
            <a:r>
              <a:rPr lang="en-US" sz="8000" b="1" dirty="0">
                <a:highlight>
                  <a:srgbClr val="FFFF00"/>
                </a:highlight>
              </a:rPr>
              <a:t>Lean(</a:t>
            </a:r>
            <a:r>
              <a:rPr lang="en-US" sz="8000" b="1" dirty="0" err="1">
                <a:highlight>
                  <a:srgbClr val="FFFF00"/>
                </a:highlight>
              </a:rPr>
              <a:t>Cont</a:t>
            </a:r>
            <a:r>
              <a:rPr lang="en-US" sz="8000" b="1" dirty="0">
                <a:highlight>
                  <a:srgbClr val="FFFF00"/>
                </a:highlight>
              </a:rPr>
              <a:t>)</a:t>
            </a:r>
            <a:endParaRPr lang="en-PK" sz="8000" dirty="0">
              <a:highlight>
                <a:srgbClr val="FFFF00"/>
              </a:highlight>
            </a:endParaRPr>
          </a:p>
        </p:txBody>
      </p:sp>
      <p:sp>
        <p:nvSpPr>
          <p:cNvPr id="3" name="Content Placeholder 2">
            <a:extLst>
              <a:ext uri="{FF2B5EF4-FFF2-40B4-BE49-F238E27FC236}">
                <a16:creationId xmlns:a16="http://schemas.microsoft.com/office/drawing/2014/main" id="{B7F780CA-9A19-4FB2-11A7-A1CB56C8EACC}"/>
              </a:ext>
            </a:extLst>
          </p:cNvPr>
          <p:cNvSpPr>
            <a:spLocks noGrp="1"/>
          </p:cNvSpPr>
          <p:nvPr>
            <p:ph idx="1"/>
          </p:nvPr>
        </p:nvSpPr>
        <p:spPr>
          <a:xfrm>
            <a:off x="0" y="1546412"/>
            <a:ext cx="12192000" cy="4630551"/>
          </a:xfrm>
        </p:spPr>
        <p:txBody>
          <a:bodyPr>
            <a:normAutofit fontScale="77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_Create a Future State_: Design an ideal process with minimal waste and maximum efficiency.</a:t>
            </a:r>
            <a:br>
              <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4. _Implement Just-in-Time (JIT) Production_: Produce and deliver products or services just in time to meet customer demand.</a:t>
            </a:r>
            <a:br>
              <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5. _Continuously Improve_: Encourage a culture of ongoing improvement and learning.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lang="en-PK" dirty="0"/>
          </a:p>
        </p:txBody>
      </p:sp>
    </p:spTree>
    <p:extLst>
      <p:ext uri="{BB962C8B-B14F-4D97-AF65-F5344CB8AC3E}">
        <p14:creationId xmlns:p14="http://schemas.microsoft.com/office/powerpoint/2010/main" val="3861567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B56F-4816-81CB-D038-D23AD1914229}"/>
              </a:ext>
            </a:extLst>
          </p:cNvPr>
          <p:cNvSpPr>
            <a:spLocks noGrp="1"/>
          </p:cNvSpPr>
          <p:nvPr>
            <p:ph type="title"/>
          </p:nvPr>
        </p:nvSpPr>
        <p:spPr>
          <a:xfrm>
            <a:off x="838200" y="1"/>
            <a:ext cx="10515600" cy="1089211"/>
          </a:xfrm>
        </p:spPr>
        <p:txBody>
          <a:bodyPr>
            <a:normAutofit fontScale="90000"/>
          </a:bodyPr>
          <a:lstStyle/>
          <a:p>
            <a:pPr algn="ctr"/>
            <a:r>
              <a:rPr kumimoji="0" lang="en-PK" altLang="en-PK" sz="6000" b="1" i="0" u="none" strike="noStrike" cap="none" normalizeH="0" baseline="0" dirty="0">
                <a:ln>
                  <a:noFill/>
                </a:ln>
                <a:solidFill>
                  <a:srgbClr val="222222"/>
                </a:solidFill>
                <a:effectLst/>
                <a:highlight>
                  <a:srgbClr val="FFFF00"/>
                </a:highlight>
                <a:latin typeface="Arial" panose="020B0604020202020204" pitchFamily="34" charset="0"/>
                <a:cs typeface="Arial" panose="020B0604020202020204" pitchFamily="34" charset="0"/>
              </a:rPr>
              <a:t>Key Lean tools and techniques: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65DFF944-53D6-A379-61BC-4FC1BC297A11}"/>
              </a:ext>
            </a:extLst>
          </p:cNvPr>
          <p:cNvSpPr>
            <a:spLocks noGrp="1"/>
          </p:cNvSpPr>
          <p:nvPr>
            <p:ph idx="1"/>
          </p:nvPr>
        </p:nvSpPr>
        <p:spPr>
          <a:xfrm>
            <a:off x="0" y="1089212"/>
            <a:ext cx="12192000" cy="5567082"/>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_Value Stream Mapping (VSM)_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_Root Cause Analysis (RCA)_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_Kaizen Events_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4. _Kanban Boards_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5. _Total Productive Maintenance (TPM)_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6. _Continuous Improvement (CI)_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7. _PDCA (Plan-Do-Check-Act) Cycle_</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endParaRPr lang="en-PK" dirty="0"/>
          </a:p>
        </p:txBody>
      </p:sp>
    </p:spTree>
    <p:extLst>
      <p:ext uri="{BB962C8B-B14F-4D97-AF65-F5344CB8AC3E}">
        <p14:creationId xmlns:p14="http://schemas.microsoft.com/office/powerpoint/2010/main" val="2543545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FEBE9-A0F6-9F17-4641-AC1530BFE26F}"/>
              </a:ext>
            </a:extLst>
          </p:cNvPr>
          <p:cNvSpPr>
            <a:spLocks noGrp="1"/>
          </p:cNvSpPr>
          <p:nvPr>
            <p:ph type="title"/>
          </p:nvPr>
        </p:nvSpPr>
        <p:spPr>
          <a:xfrm>
            <a:off x="838200" y="1"/>
            <a:ext cx="10515600" cy="1021975"/>
          </a:xfrm>
        </p:spPr>
        <p:txBody>
          <a:bodyPr>
            <a:normAutofit/>
          </a:bodyPr>
          <a:lstStyle/>
          <a:p>
            <a:pPr algn="ctr"/>
            <a:r>
              <a:rPr kumimoji="0" lang="en-PK" altLang="en-PK" sz="6000" b="0" i="0" u="none" strike="noStrike" cap="none" normalizeH="0" baseline="0" dirty="0">
                <a:ln>
                  <a:noFill/>
                </a:ln>
                <a:solidFill>
                  <a:srgbClr val="222222"/>
                </a:solidFill>
                <a:effectLst/>
                <a:highlight>
                  <a:srgbClr val="FFFF00"/>
                </a:highlight>
                <a:latin typeface="Arial" panose="020B0604020202020204" pitchFamily="34" charset="0"/>
                <a:cs typeface="Arial" panose="020B0604020202020204" pitchFamily="34" charset="0"/>
              </a:rPr>
              <a:t>Benefits of Lean process:</a:t>
            </a:r>
            <a:endParaRPr lang="en-PK" sz="6000" dirty="0">
              <a:highlight>
                <a:srgbClr val="FFFF00"/>
              </a:highlight>
            </a:endParaRPr>
          </a:p>
        </p:txBody>
      </p:sp>
      <p:sp>
        <p:nvSpPr>
          <p:cNvPr id="3" name="Content Placeholder 2">
            <a:extLst>
              <a:ext uri="{FF2B5EF4-FFF2-40B4-BE49-F238E27FC236}">
                <a16:creationId xmlns:a16="http://schemas.microsoft.com/office/drawing/2014/main" id="{5B6AFEB3-78FA-329C-2445-E0F52C2D6E9A}"/>
              </a:ext>
            </a:extLst>
          </p:cNvPr>
          <p:cNvSpPr>
            <a:spLocks noGrp="1"/>
          </p:cNvSpPr>
          <p:nvPr>
            <p:ph idx="1"/>
          </p:nvPr>
        </p:nvSpPr>
        <p:spPr>
          <a:xfrm>
            <a:off x="0" y="1169894"/>
            <a:ext cx="12192000" cy="5688105"/>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_Reduced waste and costs_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_Improved efficiency and productivity_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_Enhanced customer satisfaction_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4. _Faster delivery times_</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5. _Increased employee engagement and empowerment_</a:t>
            </a:r>
            <a:b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Lean process is widely applied in various industries, including manufacturing, healthcare, software development, and services.</a:t>
            </a:r>
          </a:p>
          <a:p>
            <a:endParaRPr lang="en-PK" sz="4000" dirty="0"/>
          </a:p>
        </p:txBody>
      </p:sp>
    </p:spTree>
    <p:extLst>
      <p:ext uri="{BB962C8B-B14F-4D97-AF65-F5344CB8AC3E}">
        <p14:creationId xmlns:p14="http://schemas.microsoft.com/office/powerpoint/2010/main" val="1671285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BB1CC-0E0B-8008-AA2D-A39CF6EF0218}"/>
              </a:ext>
            </a:extLst>
          </p:cNvPr>
          <p:cNvSpPr>
            <a:spLocks noGrp="1"/>
          </p:cNvSpPr>
          <p:nvPr>
            <p:ph type="title"/>
          </p:nvPr>
        </p:nvSpPr>
        <p:spPr>
          <a:xfrm>
            <a:off x="838200" y="365126"/>
            <a:ext cx="10515600" cy="939240"/>
          </a:xfrm>
        </p:spPr>
        <p:txBody>
          <a:bodyPr>
            <a:normAutofit fontScale="90000"/>
          </a:bodyPr>
          <a:lstStyle/>
          <a:p>
            <a:pPr algn="ctr"/>
            <a:r>
              <a:rPr lang="en-US" sz="6600" b="1" dirty="0">
                <a:highlight>
                  <a:srgbClr val="FFFF00"/>
                </a:highlight>
              </a:rPr>
              <a:t>SIX SIGMA</a:t>
            </a:r>
            <a:endParaRPr lang="en-PK" sz="6600" b="1" dirty="0">
              <a:highlight>
                <a:srgbClr val="FFFF00"/>
              </a:highlight>
            </a:endParaRPr>
          </a:p>
        </p:txBody>
      </p:sp>
      <p:graphicFrame>
        <p:nvGraphicFramePr>
          <p:cNvPr id="4" name="Content Placeholder 3">
            <a:extLst>
              <a:ext uri="{FF2B5EF4-FFF2-40B4-BE49-F238E27FC236}">
                <a16:creationId xmlns:a16="http://schemas.microsoft.com/office/drawing/2014/main" id="{567DD4E7-56F9-A94A-B52F-D0C35118464E}"/>
              </a:ext>
            </a:extLst>
          </p:cNvPr>
          <p:cNvGraphicFramePr>
            <a:graphicFrameLocks noGrp="1"/>
          </p:cNvGraphicFramePr>
          <p:nvPr>
            <p:ph idx="1"/>
          </p:nvPr>
        </p:nvGraphicFramePr>
        <p:xfrm>
          <a:off x="1685925" y="3818414"/>
          <a:ext cx="8820150" cy="365760"/>
        </p:xfrm>
        <a:graphic>
          <a:graphicData uri="http://schemas.openxmlformats.org/drawingml/2006/table">
            <a:tbl>
              <a:tblPr/>
              <a:tblGrid>
                <a:gridCol w="419100">
                  <a:extLst>
                    <a:ext uri="{9D8B030D-6E8A-4147-A177-3AD203B41FA5}">
                      <a16:colId xmlns:a16="http://schemas.microsoft.com/office/drawing/2014/main" val="3394380618"/>
                    </a:ext>
                  </a:extLst>
                </a:gridCol>
                <a:gridCol w="8401050">
                  <a:extLst>
                    <a:ext uri="{9D8B030D-6E8A-4147-A177-3AD203B41FA5}">
                      <a16:colId xmlns:a16="http://schemas.microsoft.com/office/drawing/2014/main" val="3979871678"/>
                    </a:ext>
                  </a:extLst>
                </a:gridCol>
              </a:tblGrid>
              <a:tr h="0">
                <a:tc>
                  <a:txBody>
                    <a:bodyPr/>
                    <a:lstStyle/>
                    <a:p>
                      <a:pPr fontAlgn="t"/>
                      <a:endParaRPr lang="en-PK">
                        <a:effectLst/>
                      </a:endParaRPr>
                    </a:p>
                  </a:txBody>
                  <a:tcPr marL="152400" marR="152400">
                    <a:lnL>
                      <a:noFill/>
                    </a:lnL>
                    <a:lnR>
                      <a:noFill/>
                    </a:lnR>
                    <a:lnT>
                      <a:noFill/>
                    </a:lnT>
                    <a:lnB>
                      <a:noFill/>
                    </a:lnB>
                    <a:noFill/>
                  </a:tcPr>
                </a:tc>
                <a:tc>
                  <a:txBody>
                    <a:bodyPr/>
                    <a:lstStyle/>
                    <a:p>
                      <a:r>
                        <a:rPr lang="en-US" b="0" u="none" strike="noStrike" dirty="0" err="1">
                          <a:solidFill>
                            <a:srgbClr val="444746"/>
                          </a:solidFill>
                          <a:effectLst/>
                          <a:latin typeface="Google Sans"/>
                        </a:rPr>
                        <a:t>ReplyForward</a:t>
                      </a:r>
                      <a:endParaRPr lang="en-US" dirty="0">
                        <a:solidFill>
                          <a:srgbClr val="222222"/>
                        </a:solidFill>
                        <a:effectLst/>
                      </a:endParaRPr>
                    </a:p>
                  </a:txBody>
                  <a:tcPr anchor="ctr">
                    <a:lnL>
                      <a:noFill/>
                    </a:lnL>
                    <a:lnR>
                      <a:noFill/>
                    </a:lnR>
                    <a:lnT>
                      <a:noFill/>
                    </a:lnT>
                    <a:lnB>
                      <a:noFill/>
                    </a:lnB>
                    <a:noFill/>
                  </a:tcPr>
                </a:tc>
                <a:extLst>
                  <a:ext uri="{0D108BD9-81ED-4DB2-BD59-A6C34878D82A}">
                    <a16:rowId xmlns:a16="http://schemas.microsoft.com/office/drawing/2014/main" val="2033426085"/>
                  </a:ext>
                </a:extLst>
              </a:tr>
            </a:tbl>
          </a:graphicData>
        </a:graphic>
      </p:graphicFrame>
      <p:sp>
        <p:nvSpPr>
          <p:cNvPr id="5" name="Rectangle 1">
            <a:extLst>
              <a:ext uri="{FF2B5EF4-FFF2-40B4-BE49-F238E27FC236}">
                <a16:creationId xmlns:a16="http://schemas.microsoft.com/office/drawing/2014/main" id="{CD55A53F-CB2F-637B-8F40-64CFF9B9C4F8}"/>
              </a:ext>
            </a:extLst>
          </p:cNvPr>
          <p:cNvSpPr>
            <a:spLocks noChangeArrowheads="1"/>
          </p:cNvSpPr>
          <p:nvPr/>
        </p:nvSpPr>
        <p:spPr bwMode="auto">
          <a:xfrm>
            <a:off x="134471" y="1371886"/>
            <a:ext cx="11956932"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Six Sigma is a data-driven approach to quality management that aims to reduce defects and variations in processes, products, and services. </a:t>
            </a:r>
            <a:endParaRPr kumimoji="0" lang="en-US"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The Six Sigma process follows the DMAIC (Define, Measure, </a:t>
            </a:r>
            <a:r>
              <a:rPr kumimoji="0" lang="en-PK" altLang="en-PK" sz="2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Analyze</a:t>
            </a: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Improve, Control) framework:</a:t>
            </a: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*Define*: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Identify the problem or opportunity for improvement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Define the project scope and goals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Establish the project team</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2050" name="Picture 2">
            <a:extLst>
              <a:ext uri="{FF2B5EF4-FFF2-40B4-BE49-F238E27FC236}">
                <a16:creationId xmlns:a16="http://schemas.microsoft.com/office/drawing/2014/main" id="{B481B462-BD13-9F86-8665-CDB983F53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11041063"/>
            <a:ext cx="381000" cy="38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017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2662A-DD0D-6571-E770-DAD62A9A8301}"/>
              </a:ext>
            </a:extLst>
          </p:cNvPr>
          <p:cNvSpPr>
            <a:spLocks noGrp="1"/>
          </p:cNvSpPr>
          <p:nvPr>
            <p:ph type="title"/>
          </p:nvPr>
        </p:nvSpPr>
        <p:spPr>
          <a:xfrm>
            <a:off x="838200" y="365126"/>
            <a:ext cx="10515600" cy="1046816"/>
          </a:xfrm>
        </p:spPr>
        <p:txBody>
          <a:bodyPr>
            <a:normAutofit/>
          </a:bodyPr>
          <a:lstStyle/>
          <a:p>
            <a:pPr algn="ctr"/>
            <a:r>
              <a:rPr lang="en-US" sz="5400" b="1" dirty="0">
                <a:highlight>
                  <a:srgbClr val="FFFF00"/>
                </a:highlight>
              </a:rPr>
              <a:t>SIX SIGMA(</a:t>
            </a:r>
            <a:r>
              <a:rPr lang="en-US" sz="5400" b="1" dirty="0" err="1">
                <a:highlight>
                  <a:srgbClr val="FFFF00"/>
                </a:highlight>
              </a:rPr>
              <a:t>Cont</a:t>
            </a:r>
            <a:r>
              <a:rPr lang="en-US" sz="5400" b="1" dirty="0">
                <a:highlight>
                  <a:srgbClr val="FFFF00"/>
                </a:highlight>
              </a:rPr>
              <a:t>)</a:t>
            </a:r>
            <a:endParaRPr lang="en-PK" sz="5400" dirty="0"/>
          </a:p>
        </p:txBody>
      </p:sp>
      <p:sp>
        <p:nvSpPr>
          <p:cNvPr id="3" name="Content Placeholder 2">
            <a:extLst>
              <a:ext uri="{FF2B5EF4-FFF2-40B4-BE49-F238E27FC236}">
                <a16:creationId xmlns:a16="http://schemas.microsoft.com/office/drawing/2014/main" id="{A2F62D23-5F5D-A7EA-4877-F5DAA4EC3C7F}"/>
              </a:ext>
            </a:extLst>
          </p:cNvPr>
          <p:cNvSpPr>
            <a:spLocks noGrp="1"/>
          </p:cNvSpPr>
          <p:nvPr>
            <p:ph idx="1"/>
          </p:nvPr>
        </p:nvSpPr>
        <p:spPr>
          <a:xfrm>
            <a:off x="0" y="1519518"/>
            <a:ext cx="12192000" cy="5338482"/>
          </a:xfrm>
        </p:spPr>
        <p:txBody>
          <a:bodyPr>
            <a:normAutofit fontScale="9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*Measure*: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Collect data to understand the current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Identify key performance indicators (</a:t>
            </a:r>
            <a:r>
              <a:rPr kumimoji="0" lang="en-PK" altLang="en-PK" sz="39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KPIs</a:t>
            </a: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Determine the baseline performance</a:t>
            </a:r>
            <a:b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a:t>
            </a:r>
            <a:r>
              <a:rPr kumimoji="0" lang="en-PK" altLang="en-PK" sz="39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Analyze</a:t>
            </a: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a:t>
            </a:r>
            <a:r>
              <a:rPr kumimoji="0" lang="en-PK" altLang="en-PK" sz="39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Analyze</a:t>
            </a: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data to identify root causes of defects and variations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Identify opportunities for improvement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9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Develop hypotheses for improvement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3454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E54DE-B699-1584-9C03-C3862B724969}"/>
              </a:ext>
            </a:extLst>
          </p:cNvPr>
          <p:cNvSpPr>
            <a:spLocks noGrp="1"/>
          </p:cNvSpPr>
          <p:nvPr>
            <p:ph type="title"/>
          </p:nvPr>
        </p:nvSpPr>
        <p:spPr>
          <a:xfrm>
            <a:off x="838200" y="365125"/>
            <a:ext cx="10515600" cy="1006475"/>
          </a:xfrm>
        </p:spPr>
        <p:txBody>
          <a:bodyPr/>
          <a:lstStyle/>
          <a:p>
            <a:pPr algn="ctr"/>
            <a:r>
              <a:rPr lang="en-US" sz="4400" b="1" dirty="0">
                <a:highlight>
                  <a:srgbClr val="FFFF00"/>
                </a:highlight>
              </a:rPr>
              <a:t>SIX SIGMA(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DABB43BC-E287-6C6A-A2FB-E3947C1B9EA1}"/>
              </a:ext>
            </a:extLst>
          </p:cNvPr>
          <p:cNvSpPr>
            <a:spLocks noGrp="1"/>
          </p:cNvSpPr>
          <p:nvPr>
            <p:ph idx="1"/>
          </p:nvPr>
        </p:nvSpPr>
        <p:spPr>
          <a:xfrm>
            <a:off x="0" y="1600200"/>
            <a:ext cx="12192000" cy="4576763"/>
          </a:xfrm>
        </p:spPr>
        <p:txBody>
          <a:bodyPr>
            <a:normAutofit fontScale="77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4. *Improve*: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Develop and implement solutions to address root causes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Pilot test and refine solutions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Implement changes across the organization</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5. *Control*: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Monitor and control the improved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Implement controls to sustain improvements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1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Continuously monitor and evaluate performance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lang="en-PK" dirty="0"/>
          </a:p>
        </p:txBody>
      </p:sp>
    </p:spTree>
    <p:extLst>
      <p:ext uri="{BB962C8B-B14F-4D97-AF65-F5344CB8AC3E}">
        <p14:creationId xmlns:p14="http://schemas.microsoft.com/office/powerpoint/2010/main" val="1391586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E279-D0A0-7E2E-E948-28A6BCC77F92}"/>
              </a:ext>
            </a:extLst>
          </p:cNvPr>
          <p:cNvSpPr>
            <a:spLocks noGrp="1"/>
          </p:cNvSpPr>
          <p:nvPr>
            <p:ph type="title"/>
          </p:nvPr>
        </p:nvSpPr>
        <p:spPr>
          <a:xfrm>
            <a:off x="838200" y="365125"/>
            <a:ext cx="10515600" cy="858557"/>
          </a:xfrm>
        </p:spPr>
        <p:txBody>
          <a:bodyPr/>
          <a:lstStyle/>
          <a:p>
            <a:pPr algn="ctr"/>
            <a:r>
              <a:rPr lang="en-US" sz="4400" b="1" dirty="0">
                <a:highlight>
                  <a:srgbClr val="FFFF00"/>
                </a:highlight>
              </a:rPr>
              <a:t>SIX SIGMA(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C1DF3CD1-6E8F-A6FF-B561-D3B10D8CDCD1}"/>
              </a:ext>
            </a:extLst>
          </p:cNvPr>
          <p:cNvSpPr>
            <a:spLocks noGrp="1"/>
          </p:cNvSpPr>
          <p:nvPr>
            <p:ph idx="1"/>
          </p:nvPr>
        </p:nvSpPr>
        <p:spPr>
          <a:xfrm>
            <a:off x="0" y="1344706"/>
            <a:ext cx="12192000" cy="5513294"/>
          </a:xfrm>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Six Sigma belts:</a:t>
            </a:r>
            <a:b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*White Belt*: Basic knowledge of Six Sigma principles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*Yellow Belt*: Participates in improvement projects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*Green Belt*: Leads small-scale improvement projects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4. *Black Belt*: Leads complex improvement projects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5. *Master Black Belt*: Expert-level, oversees multiple projects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endParaRPr lang="en-PK" dirty="0"/>
          </a:p>
        </p:txBody>
      </p:sp>
    </p:spTree>
    <p:extLst>
      <p:ext uri="{BB962C8B-B14F-4D97-AF65-F5344CB8AC3E}">
        <p14:creationId xmlns:p14="http://schemas.microsoft.com/office/powerpoint/2010/main" val="55578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2D27-BF42-C5B1-A0A3-BDAEDF0E3FA2}"/>
              </a:ext>
            </a:extLst>
          </p:cNvPr>
          <p:cNvSpPr>
            <a:spLocks noGrp="1"/>
          </p:cNvSpPr>
          <p:nvPr>
            <p:ph type="title"/>
          </p:nvPr>
        </p:nvSpPr>
        <p:spPr>
          <a:xfrm>
            <a:off x="838200" y="365125"/>
            <a:ext cx="10515600" cy="885451"/>
          </a:xfrm>
        </p:spPr>
        <p:txBody>
          <a:bodyPr/>
          <a:lstStyle/>
          <a:p>
            <a:pPr algn="ctr"/>
            <a:r>
              <a:rPr lang="en-US" sz="4400" b="1" dirty="0">
                <a:highlight>
                  <a:srgbClr val="FFFF00"/>
                </a:highlight>
              </a:rPr>
              <a:t>SIX SIGMA(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4082F65B-4209-5F9D-551B-62E7B46640CA}"/>
              </a:ext>
            </a:extLst>
          </p:cNvPr>
          <p:cNvSpPr>
            <a:spLocks noGrp="1"/>
          </p:cNvSpPr>
          <p:nvPr>
            <p:ph idx="1"/>
          </p:nvPr>
        </p:nvSpPr>
        <p:spPr>
          <a:xfrm>
            <a:off x="0" y="1344706"/>
            <a:ext cx="12192000" cy="5513294"/>
          </a:xfrm>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Benefits of Six Sigma:</a:t>
            </a:r>
            <a:b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*Reduced defects and variations*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*Improved quality and reliability*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*Increased customer satisfaction*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4. *Cost savings and efficiency gains*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5. *Enhanced employee engagement and skills*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6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Six Sigma is widely applied in various industries, including manufacturing, healthcare, finance, and services.</a:t>
            </a:r>
            <a:endParaRPr lang="en-PK" sz="3600" dirty="0"/>
          </a:p>
          <a:p>
            <a:endParaRPr lang="en-PK" sz="3600" dirty="0"/>
          </a:p>
        </p:txBody>
      </p:sp>
    </p:spTree>
    <p:extLst>
      <p:ext uri="{BB962C8B-B14F-4D97-AF65-F5344CB8AC3E}">
        <p14:creationId xmlns:p14="http://schemas.microsoft.com/office/powerpoint/2010/main" val="956722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711D10-2C41-B971-D39E-755E4F143D52}"/>
              </a:ext>
            </a:extLst>
          </p:cNvPr>
          <p:cNvSpPr>
            <a:spLocks noGrp="1"/>
          </p:cNvSpPr>
          <p:nvPr>
            <p:ph idx="1"/>
          </p:nvPr>
        </p:nvSpPr>
        <p:spPr/>
        <p:txBody>
          <a:bodyPr>
            <a:normAutofit/>
          </a:bodyPr>
          <a:lstStyle/>
          <a:p>
            <a:pPr marL="0" indent="0" algn="ctr">
              <a:buNone/>
            </a:pPr>
            <a:r>
              <a:rPr lang="en-US" sz="6600" b="0" i="0" dirty="0">
                <a:solidFill>
                  <a:srgbClr val="222222"/>
                </a:solidFill>
                <a:effectLst/>
                <a:highlight>
                  <a:srgbClr val="FFFF00"/>
                </a:highlight>
                <a:latin typeface="Arial" panose="020B0604020202020204" pitchFamily="34" charset="0"/>
              </a:rPr>
              <a:t>BPE Process Analysis Tools</a:t>
            </a:r>
            <a:endParaRPr lang="en-PK" sz="6600" dirty="0">
              <a:highlight>
                <a:srgbClr val="FFFF00"/>
              </a:highlight>
            </a:endParaRPr>
          </a:p>
        </p:txBody>
      </p:sp>
    </p:spTree>
    <p:extLst>
      <p:ext uri="{BB962C8B-B14F-4D97-AF65-F5344CB8AC3E}">
        <p14:creationId xmlns:p14="http://schemas.microsoft.com/office/powerpoint/2010/main" val="1830358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30AC-490C-59F7-DD90-FBD45244542F}"/>
              </a:ext>
            </a:extLst>
          </p:cNvPr>
          <p:cNvSpPr>
            <a:spLocks noGrp="1"/>
          </p:cNvSpPr>
          <p:nvPr>
            <p:ph type="title"/>
          </p:nvPr>
        </p:nvSpPr>
        <p:spPr>
          <a:xfrm>
            <a:off x="-1" y="-1"/>
            <a:ext cx="12191999" cy="1506071"/>
          </a:xfrm>
        </p:spPr>
        <p:txBody>
          <a:bodyPr>
            <a:normAutofit/>
          </a:bodyPr>
          <a:lstStyle/>
          <a:p>
            <a:pPr algn="ctr"/>
            <a:r>
              <a:rPr lang="en-US" sz="4400" b="0" i="0" dirty="0">
                <a:solidFill>
                  <a:srgbClr val="222222"/>
                </a:solidFill>
                <a:effectLst/>
                <a:highlight>
                  <a:srgbClr val="FFFF00"/>
                </a:highlight>
                <a:latin typeface="Arial" panose="020B0604020202020204" pitchFamily="34" charset="0"/>
              </a:rPr>
              <a:t>BPE Process Analysis Tools</a:t>
            </a:r>
            <a:br>
              <a:rPr lang="en-PK" sz="4400" dirty="0">
                <a:highlight>
                  <a:srgbClr val="FFFF00"/>
                </a:highlight>
              </a:rPr>
            </a:br>
            <a:endParaRPr lang="en-PK" dirty="0"/>
          </a:p>
        </p:txBody>
      </p:sp>
      <p:sp>
        <p:nvSpPr>
          <p:cNvPr id="3" name="Content Placeholder 2">
            <a:extLst>
              <a:ext uri="{FF2B5EF4-FFF2-40B4-BE49-F238E27FC236}">
                <a16:creationId xmlns:a16="http://schemas.microsoft.com/office/drawing/2014/main" id="{E55B0193-250C-A851-9CC4-3F905EAF2348}"/>
              </a:ext>
            </a:extLst>
          </p:cNvPr>
          <p:cNvSpPr>
            <a:spLocks noGrp="1"/>
          </p:cNvSpPr>
          <p:nvPr>
            <p:ph idx="1"/>
          </p:nvPr>
        </p:nvSpPr>
        <p:spPr>
          <a:xfrm>
            <a:off x="0" y="1295400"/>
            <a:ext cx="12192000" cy="4881563"/>
          </a:xfrm>
        </p:spPr>
        <p:txBody>
          <a:bodyPr>
            <a:normAutofit/>
          </a:bodyPr>
          <a:lstStyle/>
          <a:p>
            <a:pPr marL="0" indent="0" algn="l">
              <a:buNone/>
            </a:pPr>
            <a:r>
              <a:rPr lang="en-US" sz="6000" b="0" i="0" dirty="0">
                <a:solidFill>
                  <a:srgbClr val="222222"/>
                </a:solidFill>
                <a:effectLst/>
                <a:latin typeface="Arial" panose="020B0604020202020204" pitchFamily="34" charset="0"/>
              </a:rPr>
              <a:t>Definition: Process analysis is a critical step in BPE that helps identify areas for improvement</a:t>
            </a:r>
          </a:p>
          <a:p>
            <a:endParaRPr lang="en-PK" sz="6000" dirty="0"/>
          </a:p>
        </p:txBody>
      </p:sp>
    </p:spTree>
    <p:extLst>
      <p:ext uri="{BB962C8B-B14F-4D97-AF65-F5344CB8AC3E}">
        <p14:creationId xmlns:p14="http://schemas.microsoft.com/office/powerpoint/2010/main" val="331726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086E-257C-6007-49A5-7B63260661C4}"/>
              </a:ext>
            </a:extLst>
          </p:cNvPr>
          <p:cNvSpPr>
            <a:spLocks noGrp="1"/>
          </p:cNvSpPr>
          <p:nvPr>
            <p:ph type="title"/>
          </p:nvPr>
        </p:nvSpPr>
        <p:spPr>
          <a:xfrm>
            <a:off x="0" y="1"/>
            <a:ext cx="12192000" cy="1748117"/>
          </a:xfrm>
        </p:spPr>
        <p:txBody>
          <a:bodyPr>
            <a:normAutofit/>
          </a:bodyPr>
          <a:lstStyle/>
          <a:p>
            <a:r>
              <a:rPr lang="en-US" sz="5400" b="1" dirty="0">
                <a:highlight>
                  <a:srgbClr val="FFFF00"/>
                </a:highlight>
              </a:rPr>
              <a:t>Slide 2: Types of Process Analysis Tools</a:t>
            </a:r>
            <a:endParaRPr lang="en-PK" sz="5400" b="1" dirty="0">
              <a:highlight>
                <a:srgbClr val="FFFF00"/>
              </a:highlight>
            </a:endParaRPr>
          </a:p>
        </p:txBody>
      </p:sp>
      <p:sp>
        <p:nvSpPr>
          <p:cNvPr id="3" name="Content Placeholder 2">
            <a:extLst>
              <a:ext uri="{FF2B5EF4-FFF2-40B4-BE49-F238E27FC236}">
                <a16:creationId xmlns:a16="http://schemas.microsoft.com/office/drawing/2014/main" id="{9B0E4CA3-3B57-A413-4457-323B49FC5346}"/>
              </a:ext>
            </a:extLst>
          </p:cNvPr>
          <p:cNvSpPr>
            <a:spLocks noGrp="1"/>
          </p:cNvSpPr>
          <p:nvPr>
            <p:ph idx="1"/>
          </p:nvPr>
        </p:nvSpPr>
        <p:spPr>
          <a:xfrm>
            <a:off x="0" y="939800"/>
            <a:ext cx="12192000" cy="5918199"/>
          </a:xfrm>
        </p:spPr>
        <p:txBody>
          <a:bodyPr>
            <a:normAutofit fontScale="92500" lnSpcReduction="20000"/>
          </a:bodyPr>
          <a:lstStyle/>
          <a:p>
            <a:endParaRPr lang="en-US" sz="6600" dirty="0"/>
          </a:p>
          <a:p>
            <a:r>
              <a:rPr lang="en-US" sz="6600" dirty="0"/>
              <a:t>- Overview of different types of tools:</a:t>
            </a:r>
          </a:p>
          <a:p>
            <a:pPr marL="0" indent="0">
              <a:buNone/>
            </a:pPr>
            <a:r>
              <a:rPr lang="en-US" sz="6600" dirty="0"/>
              <a:t>    - Qualitative tools</a:t>
            </a:r>
          </a:p>
          <a:p>
            <a:pPr marL="0" indent="0">
              <a:buNone/>
            </a:pPr>
            <a:r>
              <a:rPr lang="en-US" sz="6600" dirty="0"/>
              <a:t>    - Quantitative tools</a:t>
            </a:r>
          </a:p>
          <a:p>
            <a:pPr marL="0" indent="0">
              <a:buNone/>
            </a:pPr>
            <a:r>
              <a:rPr lang="en-US" sz="6600" dirty="0"/>
              <a:t>    - Hybrid tools</a:t>
            </a:r>
          </a:p>
          <a:p>
            <a:pPr marL="0" indent="0">
              <a:buNone/>
            </a:pPr>
            <a:br>
              <a:rPr lang="en-US" sz="6600" dirty="0"/>
            </a:br>
            <a:endParaRPr lang="en-PK" sz="6600" dirty="0"/>
          </a:p>
        </p:txBody>
      </p:sp>
    </p:spTree>
    <p:extLst>
      <p:ext uri="{BB962C8B-B14F-4D97-AF65-F5344CB8AC3E}">
        <p14:creationId xmlns:p14="http://schemas.microsoft.com/office/powerpoint/2010/main" val="4201534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0DCD-ADE7-955D-776C-4BE7320753E7}"/>
              </a:ext>
            </a:extLst>
          </p:cNvPr>
          <p:cNvSpPr>
            <a:spLocks noGrp="1"/>
          </p:cNvSpPr>
          <p:nvPr>
            <p:ph type="title"/>
          </p:nvPr>
        </p:nvSpPr>
        <p:spPr>
          <a:xfrm>
            <a:off x="838200" y="1"/>
            <a:ext cx="10515600" cy="1142999"/>
          </a:xfrm>
        </p:spPr>
        <p:txBody>
          <a:bodyPr>
            <a:normAutofit/>
          </a:bodyPr>
          <a:lstStyle/>
          <a:p>
            <a:pPr algn="ctr"/>
            <a:r>
              <a:rPr lang="en-US" sz="6000" b="1" dirty="0">
                <a:highlight>
                  <a:srgbClr val="FFFF00"/>
                </a:highlight>
              </a:rPr>
              <a:t>Qualitative Process Analysis Tools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0ED64008-DB6E-B9BA-F059-10E8807FE39D}"/>
              </a:ext>
            </a:extLst>
          </p:cNvPr>
          <p:cNvSpPr>
            <a:spLocks noGrp="1"/>
          </p:cNvSpPr>
          <p:nvPr>
            <p:ph idx="1"/>
          </p:nvPr>
        </p:nvSpPr>
        <p:spPr>
          <a:xfrm>
            <a:off x="0" y="1143000"/>
            <a:ext cx="12192000" cy="5715000"/>
          </a:xfrm>
        </p:spPr>
        <p:txBody>
          <a:bodyPr>
            <a:normAutofit fontScale="92500" lnSpcReduction="20000"/>
          </a:bodyPr>
          <a:lstStyle/>
          <a:p>
            <a:endParaRPr lang="en-US" sz="5400" dirty="0"/>
          </a:p>
          <a:p>
            <a:r>
              <a:rPr lang="en-US" sz="5400" dirty="0"/>
              <a:t>- Tools for understanding process dynamics:</a:t>
            </a:r>
          </a:p>
          <a:p>
            <a:pPr marL="0" indent="0">
              <a:buNone/>
            </a:pPr>
            <a:r>
              <a:rPr lang="en-US" sz="5400" dirty="0"/>
              <a:t>    - Root Cause Analysis (RCA)</a:t>
            </a:r>
          </a:p>
          <a:p>
            <a:pPr marL="0" indent="0">
              <a:buNone/>
            </a:pPr>
            <a:r>
              <a:rPr lang="en-US" sz="5400" dirty="0"/>
              <a:t>    - Fishbone Diagrams (Ishikawa)</a:t>
            </a:r>
          </a:p>
          <a:p>
            <a:pPr marL="0" indent="0">
              <a:buNone/>
            </a:pPr>
            <a:r>
              <a:rPr lang="en-US" sz="5400" dirty="0"/>
              <a:t>    - SWOT Analysis</a:t>
            </a:r>
          </a:p>
          <a:p>
            <a:pPr marL="0" indent="0">
              <a:buNone/>
            </a:pPr>
            <a:r>
              <a:rPr lang="en-US" sz="5400" dirty="0"/>
              <a:t>    - Process Mapping</a:t>
            </a:r>
          </a:p>
          <a:p>
            <a:pPr marL="0" indent="0">
              <a:buNone/>
            </a:pPr>
            <a:br>
              <a:rPr lang="en-US" sz="5400" dirty="0"/>
            </a:br>
            <a:endParaRPr lang="en-PK" sz="5400" dirty="0"/>
          </a:p>
        </p:txBody>
      </p:sp>
    </p:spTree>
    <p:extLst>
      <p:ext uri="{BB962C8B-B14F-4D97-AF65-F5344CB8AC3E}">
        <p14:creationId xmlns:p14="http://schemas.microsoft.com/office/powerpoint/2010/main" val="2066018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DC79-F740-9F69-3EB0-ED3CF06C8CC2}"/>
              </a:ext>
            </a:extLst>
          </p:cNvPr>
          <p:cNvSpPr>
            <a:spLocks noGrp="1"/>
          </p:cNvSpPr>
          <p:nvPr>
            <p:ph type="title"/>
          </p:nvPr>
        </p:nvSpPr>
        <p:spPr>
          <a:xfrm>
            <a:off x="838200" y="1"/>
            <a:ext cx="10515600" cy="1168399"/>
          </a:xfrm>
        </p:spPr>
        <p:txBody>
          <a:bodyPr>
            <a:normAutofit/>
          </a:bodyPr>
          <a:lstStyle/>
          <a:p>
            <a:pPr algn="ctr"/>
            <a:r>
              <a:rPr lang="en-US" sz="7200" b="1" dirty="0">
                <a:highlight>
                  <a:srgbClr val="FFFF00"/>
                </a:highlight>
              </a:rPr>
              <a:t>Root Cause Analysis (RCA)</a:t>
            </a:r>
            <a:endParaRPr lang="en-PK" sz="7200" b="1" dirty="0">
              <a:highlight>
                <a:srgbClr val="FFFF00"/>
              </a:highlight>
            </a:endParaRPr>
          </a:p>
        </p:txBody>
      </p:sp>
      <p:sp>
        <p:nvSpPr>
          <p:cNvPr id="3" name="Content Placeholder 2">
            <a:extLst>
              <a:ext uri="{FF2B5EF4-FFF2-40B4-BE49-F238E27FC236}">
                <a16:creationId xmlns:a16="http://schemas.microsoft.com/office/drawing/2014/main" id="{D0C27A28-151B-528C-7B62-50F3AFF33017}"/>
              </a:ext>
            </a:extLst>
          </p:cNvPr>
          <p:cNvSpPr>
            <a:spLocks noGrp="1"/>
          </p:cNvSpPr>
          <p:nvPr>
            <p:ph idx="1"/>
          </p:nvPr>
        </p:nvSpPr>
        <p:spPr>
          <a:xfrm>
            <a:off x="0" y="1168400"/>
            <a:ext cx="12192000" cy="5689600"/>
          </a:xfrm>
        </p:spPr>
        <p:txBody>
          <a:bodyPr>
            <a:noAutofit/>
          </a:bodyPr>
          <a:lstStyle/>
          <a:p>
            <a:endParaRPr lang="en-US" sz="3600" dirty="0"/>
          </a:p>
          <a:p>
            <a:pPr marL="0" indent="0">
              <a:buNone/>
            </a:pPr>
            <a:r>
              <a:rPr lang="en-US" sz="3600" dirty="0"/>
              <a:t>Definition: Method for identifying underlying causes of problems</a:t>
            </a:r>
          </a:p>
          <a:p>
            <a:r>
              <a:rPr lang="en-US" sz="3600" dirty="0"/>
              <a:t>- Steps:</a:t>
            </a:r>
          </a:p>
          <a:p>
            <a:r>
              <a:rPr lang="en-US" sz="3600" dirty="0"/>
              <a:t>    1. Define the problem</a:t>
            </a:r>
          </a:p>
          <a:p>
            <a:r>
              <a:rPr lang="en-US" sz="3600" dirty="0"/>
              <a:t>    2. Gather data</a:t>
            </a:r>
          </a:p>
          <a:p>
            <a:r>
              <a:rPr lang="en-US" sz="3600" dirty="0"/>
              <a:t>    3. Identify possible causes</a:t>
            </a:r>
          </a:p>
          <a:p>
            <a:r>
              <a:rPr lang="en-US" sz="3600" dirty="0"/>
              <a:t>    4. Analyze and prioritize causes</a:t>
            </a:r>
          </a:p>
          <a:p>
            <a:r>
              <a:rPr lang="en-US" sz="3600" dirty="0"/>
              <a:t>    5. Implement solutions</a:t>
            </a:r>
          </a:p>
          <a:p>
            <a:pPr marL="0" indent="0">
              <a:buNone/>
            </a:pPr>
            <a:br>
              <a:rPr lang="en-US" sz="3600" dirty="0"/>
            </a:br>
            <a:endParaRPr lang="en-PK" sz="3600" dirty="0"/>
          </a:p>
        </p:txBody>
      </p:sp>
    </p:spTree>
    <p:extLst>
      <p:ext uri="{BB962C8B-B14F-4D97-AF65-F5344CB8AC3E}">
        <p14:creationId xmlns:p14="http://schemas.microsoft.com/office/powerpoint/2010/main" val="711673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E595-F5D7-150A-915E-62655C0CFBD3}"/>
              </a:ext>
            </a:extLst>
          </p:cNvPr>
          <p:cNvSpPr>
            <a:spLocks noGrp="1"/>
          </p:cNvSpPr>
          <p:nvPr>
            <p:ph type="title"/>
          </p:nvPr>
        </p:nvSpPr>
        <p:spPr>
          <a:xfrm>
            <a:off x="0" y="-1"/>
            <a:ext cx="12192000" cy="1690689"/>
          </a:xfrm>
        </p:spPr>
        <p:txBody>
          <a:bodyPr>
            <a:normAutofit/>
          </a:bodyPr>
          <a:lstStyle/>
          <a:p>
            <a:pPr algn="ctr"/>
            <a:r>
              <a:rPr lang="en-US" sz="7200" b="1" dirty="0">
                <a:highlight>
                  <a:srgbClr val="FFFF00"/>
                </a:highlight>
              </a:rPr>
              <a:t>Fishbone Diagrams (Ishikawa)</a:t>
            </a:r>
            <a:endParaRPr lang="en-PK" sz="7200" b="1" dirty="0">
              <a:highlight>
                <a:srgbClr val="FFFF00"/>
              </a:highlight>
            </a:endParaRPr>
          </a:p>
        </p:txBody>
      </p:sp>
      <p:sp>
        <p:nvSpPr>
          <p:cNvPr id="3" name="Content Placeholder 2">
            <a:extLst>
              <a:ext uri="{FF2B5EF4-FFF2-40B4-BE49-F238E27FC236}">
                <a16:creationId xmlns:a16="http://schemas.microsoft.com/office/drawing/2014/main" id="{4D0DBBAC-14B9-0739-FC0E-8ED0EAC5DC5F}"/>
              </a:ext>
            </a:extLst>
          </p:cNvPr>
          <p:cNvSpPr>
            <a:spLocks noGrp="1"/>
          </p:cNvSpPr>
          <p:nvPr>
            <p:ph idx="1"/>
          </p:nvPr>
        </p:nvSpPr>
        <p:spPr>
          <a:xfrm>
            <a:off x="0" y="1473200"/>
            <a:ext cx="12192000" cy="5384800"/>
          </a:xfrm>
        </p:spPr>
        <p:txBody>
          <a:bodyPr>
            <a:normAutofit fontScale="70000" lnSpcReduction="20000"/>
          </a:bodyPr>
          <a:lstStyle/>
          <a:p>
            <a:endParaRPr lang="en-US" sz="6300" dirty="0"/>
          </a:p>
          <a:p>
            <a:pPr marL="0" indent="0">
              <a:buNone/>
            </a:pPr>
            <a:r>
              <a:rPr lang="en-US" sz="6300" dirty="0"/>
              <a:t>Definition: Visual tool for identifying and organizing possible causes</a:t>
            </a:r>
          </a:p>
          <a:p>
            <a:r>
              <a:rPr lang="en-US" sz="6300" dirty="0"/>
              <a:t>- Steps:</a:t>
            </a:r>
          </a:p>
          <a:p>
            <a:r>
              <a:rPr lang="en-US" sz="6300" dirty="0"/>
              <a:t>    1. Identify the problem</a:t>
            </a:r>
          </a:p>
          <a:p>
            <a:r>
              <a:rPr lang="en-US" sz="6300" dirty="0"/>
              <a:t>    2. Brainstorm possible causes</a:t>
            </a:r>
          </a:p>
          <a:p>
            <a:r>
              <a:rPr lang="en-US" sz="6300" dirty="0"/>
              <a:t>    3. Categorize causes (equipment, materials, etc.)</a:t>
            </a:r>
          </a:p>
          <a:p>
            <a:r>
              <a:rPr lang="en-US" sz="6300" dirty="0"/>
              <a:t>    4. Analyze and prioritize causes</a:t>
            </a:r>
          </a:p>
          <a:p>
            <a:pPr marL="0" indent="0">
              <a:buNone/>
            </a:pPr>
            <a:br>
              <a:rPr lang="en-US" sz="4000" dirty="0"/>
            </a:br>
            <a:endParaRPr lang="en-PK" sz="4000" dirty="0"/>
          </a:p>
        </p:txBody>
      </p:sp>
    </p:spTree>
    <p:extLst>
      <p:ext uri="{BB962C8B-B14F-4D97-AF65-F5344CB8AC3E}">
        <p14:creationId xmlns:p14="http://schemas.microsoft.com/office/powerpoint/2010/main" val="2908037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1509-5FC4-E3A9-7F63-1BCCCD5D305E}"/>
              </a:ext>
            </a:extLst>
          </p:cNvPr>
          <p:cNvSpPr>
            <a:spLocks noGrp="1"/>
          </p:cNvSpPr>
          <p:nvPr>
            <p:ph type="title"/>
          </p:nvPr>
        </p:nvSpPr>
        <p:spPr/>
        <p:txBody>
          <a:bodyPr>
            <a:normAutofit/>
          </a:bodyPr>
          <a:lstStyle/>
          <a:p>
            <a:pPr algn="ctr"/>
            <a:r>
              <a:rPr lang="en-US" sz="6000" b="1" dirty="0">
                <a:highlight>
                  <a:srgbClr val="FFFF00"/>
                </a:highlight>
              </a:rPr>
              <a:t>Fishbone Diagram(Ishikawa)</a:t>
            </a:r>
            <a:endParaRPr lang="en-PK" sz="6000" b="1" dirty="0">
              <a:highlight>
                <a:srgbClr val="FFFF00"/>
              </a:highlight>
            </a:endParaRPr>
          </a:p>
        </p:txBody>
      </p:sp>
      <p:sp>
        <p:nvSpPr>
          <p:cNvPr id="3" name="Content Placeholder 2">
            <a:extLst>
              <a:ext uri="{FF2B5EF4-FFF2-40B4-BE49-F238E27FC236}">
                <a16:creationId xmlns:a16="http://schemas.microsoft.com/office/drawing/2014/main" id="{9E653867-E22C-59B7-BDBF-A6A066C9CC39}"/>
              </a:ext>
            </a:extLst>
          </p:cNvPr>
          <p:cNvSpPr>
            <a:spLocks noGrp="1"/>
          </p:cNvSpPr>
          <p:nvPr>
            <p:ph idx="1"/>
          </p:nvPr>
        </p:nvSpPr>
        <p:spPr/>
        <p:txBody>
          <a:bodyPr>
            <a:normAutofit fontScale="70000" lnSpcReduction="20000"/>
          </a:bodyPr>
          <a:lstStyle/>
          <a:p>
            <a:r>
              <a:rPr lang="en-US" sz="6300" dirty="0"/>
              <a:t>A Fishbone Diagram, also known as an Ishikawa Diagram or Cause-and-Effect Diagram, is a tool used to identify and organize the possible causes of a problem. It is shaped like a fishbone, with the problem statement at the head and the various causes branching out from there.</a:t>
            </a:r>
          </a:p>
          <a:p>
            <a:br>
              <a:rPr lang="en-US" sz="4400" dirty="0"/>
            </a:br>
            <a:endParaRPr lang="en-PK" sz="4400" dirty="0"/>
          </a:p>
        </p:txBody>
      </p:sp>
    </p:spTree>
    <p:extLst>
      <p:ext uri="{BB962C8B-B14F-4D97-AF65-F5344CB8AC3E}">
        <p14:creationId xmlns:p14="http://schemas.microsoft.com/office/powerpoint/2010/main" val="30785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0DDD6-20F4-C6F9-7D76-1341E4C44161}"/>
              </a:ext>
            </a:extLst>
          </p:cNvPr>
          <p:cNvSpPr>
            <a:spLocks noGrp="1"/>
          </p:cNvSpPr>
          <p:nvPr>
            <p:ph type="title"/>
          </p:nvPr>
        </p:nvSpPr>
        <p:spPr/>
        <p:txBody>
          <a:bodyPr/>
          <a:lstStyle/>
          <a:p>
            <a:pPr algn="ctr"/>
            <a:r>
              <a:rPr lang="en-US" sz="4400" b="1" dirty="0">
                <a:highlight>
                  <a:srgbClr val="FFFF00"/>
                </a:highlight>
              </a:rPr>
              <a:t>Fishbone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979CBBE3-2534-2D13-0F57-7221E06EDCA8}"/>
              </a:ext>
            </a:extLst>
          </p:cNvPr>
          <p:cNvSpPr>
            <a:spLocks noGrp="1"/>
          </p:cNvSpPr>
          <p:nvPr>
            <p:ph idx="1"/>
          </p:nvPr>
        </p:nvSpPr>
        <p:spPr>
          <a:xfrm>
            <a:off x="0" y="1519084"/>
            <a:ext cx="12192000" cy="5338915"/>
          </a:xfrm>
        </p:spPr>
        <p:txBody>
          <a:bodyPr>
            <a:normAutofit fontScale="62500" lnSpcReduction="20000"/>
          </a:bodyPr>
          <a:lstStyle/>
          <a:p>
            <a:r>
              <a:rPr lang="en-US" sz="6400" dirty="0"/>
              <a:t>The typical categories used in a Fishbone Diagram are:</a:t>
            </a:r>
          </a:p>
          <a:p>
            <a:r>
              <a:rPr lang="en-US" sz="6400" dirty="0"/>
              <a:t>1. _Man_ (People): workforce, training, skills, etc.</a:t>
            </a:r>
          </a:p>
          <a:p>
            <a:r>
              <a:rPr lang="en-US" sz="6400" dirty="0"/>
              <a:t>2. _Machine_ (Equipment): hardware, software, tools, etc.</a:t>
            </a:r>
          </a:p>
          <a:p>
            <a:r>
              <a:rPr lang="en-US" sz="6400" dirty="0"/>
              <a:t>3. _Material_ (Inputs): raw materials, supplies, etc.</a:t>
            </a:r>
          </a:p>
          <a:p>
            <a:r>
              <a:rPr lang="en-US" sz="6400" dirty="0"/>
              <a:t>4. _Method_ (Processes): procedures, workflows, etc.</a:t>
            </a:r>
          </a:p>
          <a:p>
            <a:r>
              <a:rPr lang="en-US" sz="6400" dirty="0"/>
              <a:t>5. _Measurement_ (Data): metrics, feedback, etc.</a:t>
            </a:r>
          </a:p>
          <a:p>
            <a:r>
              <a:rPr lang="en-US" sz="6400" dirty="0"/>
              <a:t>6. _Environment_ (External Factors): external conditions, context, etc.</a:t>
            </a:r>
          </a:p>
          <a:p>
            <a:br>
              <a:rPr lang="en-US" sz="3200" dirty="0"/>
            </a:br>
            <a:endParaRPr lang="en-PK" sz="3200" dirty="0"/>
          </a:p>
        </p:txBody>
      </p:sp>
    </p:spTree>
    <p:extLst>
      <p:ext uri="{BB962C8B-B14F-4D97-AF65-F5344CB8AC3E}">
        <p14:creationId xmlns:p14="http://schemas.microsoft.com/office/powerpoint/2010/main" val="2582906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2105-31AF-4D84-6C49-74F1022D0CAE}"/>
              </a:ext>
            </a:extLst>
          </p:cNvPr>
          <p:cNvSpPr>
            <a:spLocks noGrp="1"/>
          </p:cNvSpPr>
          <p:nvPr>
            <p:ph type="title"/>
          </p:nvPr>
        </p:nvSpPr>
        <p:spPr/>
        <p:txBody>
          <a:bodyPr/>
          <a:lstStyle/>
          <a:p>
            <a:pPr algn="ctr"/>
            <a:r>
              <a:rPr lang="en-US" sz="4400" b="1" dirty="0">
                <a:highlight>
                  <a:srgbClr val="FFFF00"/>
                </a:highlight>
              </a:rPr>
              <a:t>Fishbone Diagram(Ishikawa)(</a:t>
            </a:r>
            <a:r>
              <a:rPr lang="en-US" sz="4400" b="1" dirty="0" err="1">
                <a:highlight>
                  <a:srgbClr val="FFFF00"/>
                </a:highlight>
              </a:rPr>
              <a:t>Cont</a:t>
            </a:r>
            <a:r>
              <a:rPr lang="en-US" sz="4400" b="1" dirty="0">
                <a:highlight>
                  <a:srgbClr val="FFFF00"/>
                </a:highlight>
              </a:rPr>
              <a:t>)</a:t>
            </a:r>
            <a:endParaRPr lang="en-PK" dirty="0"/>
          </a:p>
        </p:txBody>
      </p:sp>
      <p:pic>
        <p:nvPicPr>
          <p:cNvPr id="5" name="Content Placeholder 4">
            <a:extLst>
              <a:ext uri="{FF2B5EF4-FFF2-40B4-BE49-F238E27FC236}">
                <a16:creationId xmlns:a16="http://schemas.microsoft.com/office/drawing/2014/main" id="{1097C6C2-5D65-64DB-956E-E0E1906BDF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spTree>
    <p:extLst>
      <p:ext uri="{BB962C8B-B14F-4D97-AF65-F5344CB8AC3E}">
        <p14:creationId xmlns:p14="http://schemas.microsoft.com/office/powerpoint/2010/main" val="3749878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5159-B591-A4A3-1B12-DA41CFA70799}"/>
              </a:ext>
            </a:extLst>
          </p:cNvPr>
          <p:cNvSpPr>
            <a:spLocks noGrp="1"/>
          </p:cNvSpPr>
          <p:nvPr>
            <p:ph type="title"/>
          </p:nvPr>
        </p:nvSpPr>
        <p:spPr>
          <a:xfrm>
            <a:off x="838200" y="1"/>
            <a:ext cx="10515600" cy="914399"/>
          </a:xfrm>
        </p:spPr>
        <p:txBody>
          <a:bodyPr/>
          <a:lstStyle/>
          <a:p>
            <a:pPr algn="ctr"/>
            <a:r>
              <a:rPr lang="en-US" sz="4400" b="1" dirty="0">
                <a:highlight>
                  <a:srgbClr val="FFFF00"/>
                </a:highlight>
              </a:rPr>
              <a:t>Fishbone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E84FD008-A110-9DE9-D569-E5A8CA9EC866}"/>
              </a:ext>
            </a:extLst>
          </p:cNvPr>
          <p:cNvSpPr>
            <a:spLocks noGrp="1"/>
          </p:cNvSpPr>
          <p:nvPr>
            <p:ph idx="1"/>
          </p:nvPr>
        </p:nvSpPr>
        <p:spPr>
          <a:xfrm>
            <a:off x="0" y="1237128"/>
            <a:ext cx="12192000" cy="5620871"/>
          </a:xfrm>
        </p:spPr>
        <p:txBody>
          <a:bodyPr>
            <a:normAutofit/>
          </a:bodyPr>
          <a:lstStyle/>
          <a:p>
            <a:pPr marL="0" indent="0" algn="l">
              <a:buNone/>
            </a:pPr>
            <a:r>
              <a:rPr lang="en-US" sz="3600" b="0" i="0" dirty="0">
                <a:solidFill>
                  <a:srgbClr val="222222"/>
                </a:solidFill>
                <a:effectLst/>
                <a:latin typeface="Arial" panose="020B0604020202020204" pitchFamily="34" charset="0"/>
              </a:rPr>
              <a:t>To create a Fishbone Diagram</a:t>
            </a:r>
            <a:br>
              <a:rPr lang="en-US" sz="3600" b="0" i="0" dirty="0">
                <a:solidFill>
                  <a:srgbClr val="222222"/>
                </a:solidFill>
                <a:effectLst/>
                <a:latin typeface="Arial" panose="020B0604020202020204" pitchFamily="34" charset="0"/>
              </a:rPr>
            </a:br>
            <a:endParaRPr lang="en-US" sz="3600" b="0" i="0" dirty="0">
              <a:solidFill>
                <a:srgbClr val="222222"/>
              </a:solidFill>
              <a:effectLst/>
              <a:latin typeface="Arial" panose="020B0604020202020204" pitchFamily="34" charset="0"/>
            </a:endParaRPr>
          </a:p>
          <a:p>
            <a:pPr algn="l"/>
            <a:r>
              <a:rPr lang="en-US" sz="3600" b="0" i="0" dirty="0">
                <a:solidFill>
                  <a:srgbClr val="222222"/>
                </a:solidFill>
                <a:effectLst/>
                <a:latin typeface="Arial" panose="020B0604020202020204" pitchFamily="34" charset="0"/>
              </a:rPr>
              <a:t>1. Write the problem statement at the head of the fishbone.</a:t>
            </a:r>
          </a:p>
          <a:p>
            <a:pPr algn="l"/>
            <a:r>
              <a:rPr lang="en-US" sz="3600" b="0" i="0" dirty="0">
                <a:solidFill>
                  <a:srgbClr val="222222"/>
                </a:solidFill>
                <a:effectLst/>
                <a:latin typeface="Arial" panose="020B0604020202020204" pitchFamily="34" charset="0"/>
              </a:rPr>
              <a:t>2. Brainstorm possible causes under each category.</a:t>
            </a:r>
          </a:p>
          <a:p>
            <a:pPr algn="l"/>
            <a:r>
              <a:rPr lang="en-US" sz="3600" b="0" i="0" dirty="0">
                <a:solidFill>
                  <a:srgbClr val="222222"/>
                </a:solidFill>
                <a:effectLst/>
                <a:latin typeface="Arial" panose="020B0604020202020204" pitchFamily="34" charset="0"/>
              </a:rPr>
              <a:t>3. Use arrows to connect the causes to the problem statement.</a:t>
            </a:r>
          </a:p>
          <a:p>
            <a:pPr algn="l"/>
            <a:r>
              <a:rPr lang="en-US" sz="3600" b="0" i="0" dirty="0">
                <a:solidFill>
                  <a:srgbClr val="222222"/>
                </a:solidFill>
                <a:effectLst/>
                <a:latin typeface="Arial" panose="020B0604020202020204" pitchFamily="34" charset="0"/>
              </a:rPr>
              <a:t>4. Identify the root causes by asking "why" and drilling down to the underlying reasons.</a:t>
            </a:r>
          </a:p>
          <a:p>
            <a:endParaRPr lang="en-PK" sz="3600" dirty="0"/>
          </a:p>
        </p:txBody>
      </p:sp>
    </p:spTree>
    <p:extLst>
      <p:ext uri="{BB962C8B-B14F-4D97-AF65-F5344CB8AC3E}">
        <p14:creationId xmlns:p14="http://schemas.microsoft.com/office/powerpoint/2010/main" val="768267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513B-7E81-9D04-3251-783B75FE679F}"/>
              </a:ext>
            </a:extLst>
          </p:cNvPr>
          <p:cNvSpPr>
            <a:spLocks noGrp="1"/>
          </p:cNvSpPr>
          <p:nvPr>
            <p:ph type="title"/>
          </p:nvPr>
        </p:nvSpPr>
        <p:spPr>
          <a:xfrm>
            <a:off x="838200" y="1"/>
            <a:ext cx="10515600" cy="887505"/>
          </a:xfrm>
        </p:spPr>
        <p:txBody>
          <a:bodyPr>
            <a:normAutofit/>
          </a:bodyPr>
          <a:lstStyle/>
          <a:p>
            <a:r>
              <a:rPr lang="en-US" sz="5400" b="1" i="0" dirty="0">
                <a:solidFill>
                  <a:srgbClr val="222222"/>
                </a:solidFill>
                <a:effectLst/>
                <a:highlight>
                  <a:srgbClr val="FFFF00"/>
                </a:highlight>
                <a:latin typeface="Arial" panose="020B0604020202020204" pitchFamily="34" charset="0"/>
              </a:rPr>
              <a:t>Benefits of Fishbone Diagrams:</a:t>
            </a:r>
            <a:endParaRPr lang="en-PK" sz="5400" b="1" dirty="0">
              <a:highlight>
                <a:srgbClr val="FFFF00"/>
              </a:highlight>
            </a:endParaRPr>
          </a:p>
        </p:txBody>
      </p:sp>
      <p:sp>
        <p:nvSpPr>
          <p:cNvPr id="3" name="Content Placeholder 2">
            <a:extLst>
              <a:ext uri="{FF2B5EF4-FFF2-40B4-BE49-F238E27FC236}">
                <a16:creationId xmlns:a16="http://schemas.microsoft.com/office/drawing/2014/main" id="{AFE43A4A-3EC5-6A64-8CCC-37099B7DD111}"/>
              </a:ext>
            </a:extLst>
          </p:cNvPr>
          <p:cNvSpPr>
            <a:spLocks noGrp="1"/>
          </p:cNvSpPr>
          <p:nvPr>
            <p:ph idx="1"/>
          </p:nvPr>
        </p:nvSpPr>
        <p:spPr>
          <a:xfrm>
            <a:off x="0" y="1035424"/>
            <a:ext cx="11353800" cy="5141539"/>
          </a:xfrm>
        </p:spPr>
        <p:txBody>
          <a:bodyPr>
            <a:normAutofit/>
          </a:bodyPr>
          <a:lstStyle/>
          <a:p>
            <a:pPr marL="0" indent="0" algn="l">
              <a:buNone/>
            </a:pPr>
            <a:r>
              <a:rPr lang="en-US" sz="4000" b="0" i="0" dirty="0">
                <a:solidFill>
                  <a:srgbClr val="222222"/>
                </a:solidFill>
                <a:effectLst/>
                <a:latin typeface="Arial" panose="020B0604020202020204" pitchFamily="34" charset="0"/>
              </a:rPr>
              <a:t>1. Structured approach to problem solving</a:t>
            </a:r>
          </a:p>
          <a:p>
            <a:pPr marL="0" indent="0" algn="l">
              <a:buNone/>
            </a:pPr>
            <a:r>
              <a:rPr lang="en-US" sz="4000" b="0" i="0" dirty="0">
                <a:solidFill>
                  <a:srgbClr val="222222"/>
                </a:solidFill>
                <a:effectLst/>
                <a:latin typeface="Arial" panose="020B0604020202020204" pitchFamily="34" charset="0"/>
              </a:rPr>
              <a:t>2. Identifies multiple causes of a problem</a:t>
            </a:r>
          </a:p>
          <a:p>
            <a:pPr marL="0" indent="0" algn="l">
              <a:buNone/>
            </a:pPr>
            <a:r>
              <a:rPr lang="en-US" sz="4000" b="0" i="0" dirty="0">
                <a:solidFill>
                  <a:srgbClr val="222222"/>
                </a:solidFill>
                <a:effectLst/>
                <a:latin typeface="Arial" panose="020B0604020202020204" pitchFamily="34" charset="0"/>
              </a:rPr>
              <a:t>3. Encourages teamwork and collaboration</a:t>
            </a:r>
          </a:p>
          <a:p>
            <a:pPr marL="0" indent="0" algn="l">
              <a:buNone/>
            </a:pPr>
            <a:r>
              <a:rPr lang="en-US" sz="4000" b="0" i="0" dirty="0">
                <a:solidFill>
                  <a:srgbClr val="222222"/>
                </a:solidFill>
                <a:effectLst/>
                <a:latin typeface="Arial" panose="020B0604020202020204" pitchFamily="34" charset="0"/>
              </a:rPr>
              <a:t>4. Helps prioritize causes for further investigation</a:t>
            </a:r>
          </a:p>
          <a:p>
            <a:pPr marL="0" indent="0" algn="l">
              <a:buNone/>
            </a:pPr>
            <a:r>
              <a:rPr lang="en-US" sz="4000" b="0" i="0" dirty="0">
                <a:solidFill>
                  <a:srgbClr val="222222"/>
                </a:solidFill>
                <a:effectLst/>
                <a:latin typeface="Arial" panose="020B0604020202020204" pitchFamily="34" charset="0"/>
              </a:rPr>
              <a:t>5. Visual representation of complex relationships</a:t>
            </a:r>
          </a:p>
          <a:p>
            <a:pPr algn="l"/>
            <a:r>
              <a:rPr lang="en-US" sz="4000" b="0" i="0" dirty="0">
                <a:solidFill>
                  <a:srgbClr val="222222"/>
                </a:solidFill>
                <a:effectLst/>
                <a:latin typeface="Arial" panose="020B0604020202020204" pitchFamily="34" charset="0"/>
              </a:rPr>
              <a:t>Fishbone Diagrams are widely used in quality management, process improvement, and problem-solving initiatives.</a:t>
            </a:r>
          </a:p>
          <a:p>
            <a:endParaRPr lang="en-PK" dirty="0"/>
          </a:p>
        </p:txBody>
      </p:sp>
    </p:spTree>
    <p:extLst>
      <p:ext uri="{BB962C8B-B14F-4D97-AF65-F5344CB8AC3E}">
        <p14:creationId xmlns:p14="http://schemas.microsoft.com/office/powerpoint/2010/main" val="1528315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2FC9-5607-8C17-C98A-869BFD1EF12F}"/>
              </a:ext>
            </a:extLst>
          </p:cNvPr>
          <p:cNvSpPr>
            <a:spLocks noGrp="1"/>
          </p:cNvSpPr>
          <p:nvPr>
            <p:ph type="title"/>
          </p:nvPr>
        </p:nvSpPr>
        <p:spPr>
          <a:xfrm>
            <a:off x="-235974" y="374083"/>
            <a:ext cx="12192000" cy="643404"/>
          </a:xfrm>
        </p:spPr>
        <p:txBody>
          <a:bodyPr>
            <a:normAutofit fontScale="90000"/>
          </a:bodyPr>
          <a:lstStyle/>
          <a:p>
            <a:pPr algn="ctr"/>
            <a:r>
              <a:rPr lang="en-US" b="1" dirty="0">
                <a:highlight>
                  <a:srgbClr val="FFFF00"/>
                </a:highlight>
              </a:rPr>
              <a:t>Here is a context for a Fishbone Diagram (Ishikawa):</a:t>
            </a:r>
            <a:endParaRPr lang="en-PK" b="1" dirty="0">
              <a:highlight>
                <a:srgbClr val="FFFF00"/>
              </a:highlight>
            </a:endParaRPr>
          </a:p>
        </p:txBody>
      </p:sp>
      <p:sp>
        <p:nvSpPr>
          <p:cNvPr id="3" name="Content Placeholder 2">
            <a:extLst>
              <a:ext uri="{FF2B5EF4-FFF2-40B4-BE49-F238E27FC236}">
                <a16:creationId xmlns:a16="http://schemas.microsoft.com/office/drawing/2014/main" id="{94F83FB0-F5CA-CC53-B3C7-88B50B4DC7EC}"/>
              </a:ext>
            </a:extLst>
          </p:cNvPr>
          <p:cNvSpPr>
            <a:spLocks noGrp="1"/>
          </p:cNvSpPr>
          <p:nvPr>
            <p:ph idx="1"/>
          </p:nvPr>
        </p:nvSpPr>
        <p:spPr>
          <a:xfrm>
            <a:off x="0" y="1317812"/>
            <a:ext cx="11353800" cy="4859151"/>
          </a:xfrm>
        </p:spPr>
        <p:txBody>
          <a:bodyPr/>
          <a:lstStyle/>
          <a:p>
            <a:r>
              <a:rPr lang="en-US" sz="5400" dirty="0"/>
              <a:t>*Problem Statement:* High Employee Turnover Rate</a:t>
            </a:r>
          </a:p>
          <a:p>
            <a:r>
              <a:rPr lang="en-US" sz="5400" dirty="0"/>
              <a:t>*Fishbone Diagram:*</a:t>
            </a:r>
          </a:p>
          <a:p>
            <a:br>
              <a:rPr lang="en-US" dirty="0"/>
            </a:br>
            <a:endParaRPr lang="en-PK" dirty="0"/>
          </a:p>
        </p:txBody>
      </p:sp>
    </p:spTree>
    <p:extLst>
      <p:ext uri="{BB962C8B-B14F-4D97-AF65-F5344CB8AC3E}">
        <p14:creationId xmlns:p14="http://schemas.microsoft.com/office/powerpoint/2010/main" val="1708710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DD33-C6AA-7B80-562C-CD761F5EE26F}"/>
              </a:ext>
            </a:extLst>
          </p:cNvPr>
          <p:cNvSpPr>
            <a:spLocks noGrp="1"/>
          </p:cNvSpPr>
          <p:nvPr>
            <p:ph type="title"/>
          </p:nvPr>
        </p:nvSpPr>
        <p:spPr>
          <a:xfrm>
            <a:off x="0" y="365125"/>
            <a:ext cx="12192000" cy="1325563"/>
          </a:xfrm>
        </p:spPr>
        <p:txBody>
          <a:bodyPr>
            <a:normAutofit/>
          </a:bodyPr>
          <a:lstStyle/>
          <a:p>
            <a:pPr algn="ctr"/>
            <a:r>
              <a:rPr lang="en-US" b="1" dirty="0">
                <a:highlight>
                  <a:srgbClr val="FFFF00"/>
                </a:highlight>
              </a:rPr>
              <a:t>Here is a context for a Fishbone Diagram (Ishikawa)</a:t>
            </a:r>
            <a:r>
              <a:rPr lang="en-US" b="1" dirty="0">
                <a:highlight>
                  <a:srgbClr val="FFFF00"/>
                </a:highlight>
                <a:sym typeface="Wingdings" panose="05000000000000000000" pitchFamily="2" charset="2"/>
              </a:rPr>
              <a:t>(</a:t>
            </a:r>
            <a:r>
              <a:rPr lang="en-US" b="1" dirty="0" err="1">
                <a:highlight>
                  <a:srgbClr val="FFFF00"/>
                </a:highlight>
                <a:sym typeface="Wingdings" panose="05000000000000000000" pitchFamily="2" charset="2"/>
              </a:rPr>
              <a:t>Cont</a:t>
            </a:r>
            <a:r>
              <a:rPr lang="en-US" b="1" dirty="0">
                <a:highlight>
                  <a:srgbClr val="FFFF00"/>
                </a:highlight>
                <a:sym typeface="Wingdings" panose="05000000000000000000" pitchFamily="2" charset="2"/>
              </a:rPr>
              <a:t>)</a:t>
            </a:r>
            <a:endParaRPr lang="en-PK" b="1" dirty="0">
              <a:highlight>
                <a:srgbClr val="FFFF00"/>
              </a:highlight>
            </a:endParaRPr>
          </a:p>
        </p:txBody>
      </p:sp>
      <p:sp>
        <p:nvSpPr>
          <p:cNvPr id="3" name="Content Placeholder 2">
            <a:extLst>
              <a:ext uri="{FF2B5EF4-FFF2-40B4-BE49-F238E27FC236}">
                <a16:creationId xmlns:a16="http://schemas.microsoft.com/office/drawing/2014/main" id="{82016F95-BB98-EF5C-7A94-E681CEC3B767}"/>
              </a:ext>
            </a:extLst>
          </p:cNvPr>
          <p:cNvSpPr>
            <a:spLocks noGrp="1"/>
          </p:cNvSpPr>
          <p:nvPr>
            <p:ph idx="1"/>
          </p:nvPr>
        </p:nvSpPr>
        <p:spPr/>
        <p:txBody>
          <a:bodyPr>
            <a:normAutofit fontScale="92500"/>
          </a:bodyPr>
          <a:lstStyle/>
          <a:p>
            <a:pPr algn="l"/>
            <a:r>
              <a:rPr lang="en-US" sz="3600" b="0" i="0" dirty="0">
                <a:solidFill>
                  <a:srgbClr val="222222"/>
                </a:solidFill>
                <a:effectLst/>
                <a:latin typeface="Arial" panose="020B0604020202020204" pitchFamily="34" charset="0"/>
              </a:rPr>
              <a:t>Fishbone Diagram:*</a:t>
            </a:r>
            <a:br>
              <a:rPr lang="en-US" sz="3600" b="0" i="0" dirty="0">
                <a:solidFill>
                  <a:srgbClr val="222222"/>
                </a:solidFill>
                <a:effectLst/>
                <a:latin typeface="Arial" panose="020B0604020202020204" pitchFamily="34" charset="0"/>
              </a:rPr>
            </a:br>
            <a:endParaRPr lang="en-US" sz="3600" b="0" i="0" dirty="0">
              <a:solidFill>
                <a:srgbClr val="222222"/>
              </a:solidFill>
              <a:effectLst/>
              <a:latin typeface="Arial" panose="020B0604020202020204" pitchFamily="34" charset="0"/>
            </a:endParaRPr>
          </a:p>
          <a:p>
            <a:pPr algn="l"/>
            <a:r>
              <a:rPr lang="en-US" sz="3600" b="0" i="0" dirty="0">
                <a:solidFill>
                  <a:srgbClr val="222222"/>
                </a:solidFill>
                <a:effectLst/>
                <a:latin typeface="Arial" panose="020B0604020202020204" pitchFamily="34" charset="0"/>
              </a:rPr>
              <a:t>- *Man (People)*</a:t>
            </a:r>
          </a:p>
          <a:p>
            <a:pPr algn="l"/>
            <a:r>
              <a:rPr lang="en-US" sz="3600" b="0" i="0" dirty="0">
                <a:solidFill>
                  <a:srgbClr val="222222"/>
                </a:solidFill>
                <a:effectLst/>
                <a:latin typeface="Arial" panose="020B0604020202020204" pitchFamily="34" charset="0"/>
              </a:rPr>
              <a:t>    - Lack of training and development opportunities</a:t>
            </a:r>
          </a:p>
          <a:p>
            <a:pPr algn="l"/>
            <a:r>
              <a:rPr lang="en-US" sz="3600" b="0" i="0" dirty="0">
                <a:solidFill>
                  <a:srgbClr val="222222"/>
                </a:solidFill>
                <a:effectLst/>
                <a:latin typeface="Arial" panose="020B0604020202020204" pitchFamily="34" charset="0"/>
              </a:rPr>
              <a:t>    - Poor management and leadership</a:t>
            </a:r>
          </a:p>
          <a:p>
            <a:pPr algn="l"/>
            <a:r>
              <a:rPr lang="en-US" sz="3600" b="0" i="0" dirty="0">
                <a:solidFill>
                  <a:srgbClr val="222222"/>
                </a:solidFill>
                <a:effectLst/>
                <a:latin typeface="Arial" panose="020B0604020202020204" pitchFamily="34" charset="0"/>
              </a:rPr>
              <a:t>    - Unsatisfying work environment</a:t>
            </a:r>
          </a:p>
          <a:p>
            <a:pPr algn="l"/>
            <a:r>
              <a:rPr lang="en-US" sz="3600" b="0" i="0" dirty="0">
                <a:solidFill>
                  <a:srgbClr val="222222"/>
                </a:solidFill>
                <a:effectLst/>
                <a:latin typeface="Arial" panose="020B0604020202020204" pitchFamily="34" charset="0"/>
              </a:rPr>
              <a:t>    - Inadequate compensation and benefit</a:t>
            </a:r>
            <a:br>
              <a:rPr lang="en-US" sz="3600" dirty="0"/>
            </a:br>
            <a:endParaRPr lang="en-PK" sz="3600" dirty="0"/>
          </a:p>
        </p:txBody>
      </p:sp>
    </p:spTree>
    <p:extLst>
      <p:ext uri="{BB962C8B-B14F-4D97-AF65-F5344CB8AC3E}">
        <p14:creationId xmlns:p14="http://schemas.microsoft.com/office/powerpoint/2010/main" val="4140847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F61D8-5A4A-4576-7072-A7072B18C167}"/>
              </a:ext>
            </a:extLst>
          </p:cNvPr>
          <p:cNvSpPr>
            <a:spLocks noGrp="1"/>
          </p:cNvSpPr>
          <p:nvPr>
            <p:ph type="title"/>
          </p:nvPr>
        </p:nvSpPr>
        <p:spPr/>
        <p:txBody>
          <a:bodyPr/>
          <a:lstStyle/>
          <a:p>
            <a:r>
              <a:rPr lang="en-US" b="1" dirty="0">
                <a:highlight>
                  <a:srgbClr val="FFFF00"/>
                </a:highlight>
              </a:rPr>
              <a:t>Here is a context for a Fishbone Diagram (Ishikawa)</a:t>
            </a:r>
            <a:r>
              <a:rPr lang="en-US" b="1" dirty="0">
                <a:highlight>
                  <a:srgbClr val="FFFF00"/>
                </a:highlight>
                <a:sym typeface="Wingdings" panose="05000000000000000000" pitchFamily="2" charset="2"/>
              </a:rPr>
              <a:t>(</a:t>
            </a:r>
            <a:r>
              <a:rPr lang="en-US" b="1" dirty="0" err="1">
                <a:highlight>
                  <a:srgbClr val="FFFF00"/>
                </a:highlight>
                <a:sym typeface="Wingdings" panose="05000000000000000000" pitchFamily="2" charset="2"/>
              </a:rPr>
              <a:t>Cont</a:t>
            </a:r>
            <a:r>
              <a:rPr lang="en-US" b="1" dirty="0">
                <a:highlight>
                  <a:srgbClr val="FFFF00"/>
                </a:highlight>
                <a:sym typeface="Wingdings" panose="05000000000000000000" pitchFamily="2" charset="2"/>
              </a:rPr>
              <a:t>)</a:t>
            </a:r>
            <a:endParaRPr lang="en-PK" dirty="0"/>
          </a:p>
        </p:txBody>
      </p:sp>
      <p:sp>
        <p:nvSpPr>
          <p:cNvPr id="3" name="Content Placeholder 2">
            <a:extLst>
              <a:ext uri="{FF2B5EF4-FFF2-40B4-BE49-F238E27FC236}">
                <a16:creationId xmlns:a16="http://schemas.microsoft.com/office/drawing/2014/main" id="{8D0F6637-7501-9BBE-430F-49EAA4FA5FD5}"/>
              </a:ext>
            </a:extLst>
          </p:cNvPr>
          <p:cNvSpPr>
            <a:spLocks noGrp="1"/>
          </p:cNvSpPr>
          <p:nvPr>
            <p:ph idx="1"/>
          </p:nvPr>
        </p:nvSpPr>
        <p:spPr>
          <a:xfrm>
            <a:off x="0" y="1825624"/>
            <a:ext cx="12192000" cy="5032375"/>
          </a:xfrm>
        </p:spPr>
        <p:txBody>
          <a:bodyPr>
            <a:normAutofit/>
          </a:bodyPr>
          <a:lstStyle/>
          <a:p>
            <a:pPr algn="l"/>
            <a:r>
              <a:rPr lang="en-US" sz="4400" b="0" i="0" dirty="0">
                <a:solidFill>
                  <a:srgbClr val="222222"/>
                </a:solidFill>
                <a:effectLst/>
                <a:latin typeface="Arial" panose="020B0604020202020204" pitchFamily="34" charset="0"/>
              </a:rPr>
              <a:t>Machine (Equipment)*</a:t>
            </a:r>
          </a:p>
          <a:p>
            <a:pPr algn="l"/>
            <a:r>
              <a:rPr lang="en-US" sz="4400" b="0" i="0" dirty="0">
                <a:solidFill>
                  <a:srgbClr val="222222"/>
                </a:solidFill>
                <a:effectLst/>
                <a:latin typeface="Arial" panose="020B0604020202020204" pitchFamily="34" charset="0"/>
              </a:rPr>
              <a:t>    - Outdated technology and tools</a:t>
            </a:r>
          </a:p>
          <a:p>
            <a:pPr algn="l"/>
            <a:r>
              <a:rPr lang="en-US" sz="4400" b="0" i="0" dirty="0">
                <a:solidFill>
                  <a:srgbClr val="222222"/>
                </a:solidFill>
                <a:effectLst/>
                <a:latin typeface="Arial" panose="020B0604020202020204" pitchFamily="34" charset="0"/>
              </a:rPr>
              <a:t>    - Inefficient processes and workflows</a:t>
            </a:r>
          </a:p>
          <a:p>
            <a:pPr algn="l"/>
            <a:r>
              <a:rPr lang="en-US" sz="4400" b="0" i="0" dirty="0">
                <a:solidFill>
                  <a:srgbClr val="222222"/>
                </a:solidFill>
                <a:effectLst/>
                <a:latin typeface="Arial" panose="020B0604020202020204" pitchFamily="34" charset="0"/>
              </a:rPr>
              <a:t>- *Material (Inputs)*</a:t>
            </a:r>
          </a:p>
          <a:p>
            <a:pPr algn="l"/>
            <a:r>
              <a:rPr lang="en-US" sz="4400" b="0" i="0" dirty="0">
                <a:solidFill>
                  <a:srgbClr val="222222"/>
                </a:solidFill>
                <a:effectLst/>
                <a:latin typeface="Arial" panose="020B0604020202020204" pitchFamily="34" charset="0"/>
              </a:rPr>
              <a:t>    - Poor communication and feedback</a:t>
            </a:r>
          </a:p>
          <a:p>
            <a:pPr algn="l"/>
            <a:r>
              <a:rPr lang="en-US" sz="4400" b="0" i="0" dirty="0">
                <a:solidFill>
                  <a:srgbClr val="222222"/>
                </a:solidFill>
                <a:effectLst/>
                <a:latin typeface="Arial" panose="020B0604020202020204" pitchFamily="34" charset="0"/>
              </a:rPr>
              <a:t>    - Unclear expectations and goals</a:t>
            </a:r>
          </a:p>
          <a:p>
            <a:endParaRPr lang="en-PK" sz="4400" dirty="0"/>
          </a:p>
        </p:txBody>
      </p:sp>
    </p:spTree>
    <p:extLst>
      <p:ext uri="{BB962C8B-B14F-4D97-AF65-F5344CB8AC3E}">
        <p14:creationId xmlns:p14="http://schemas.microsoft.com/office/powerpoint/2010/main" val="2588131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83A2B-A815-D850-6855-4F38EF05F888}"/>
              </a:ext>
            </a:extLst>
          </p:cNvPr>
          <p:cNvSpPr>
            <a:spLocks noGrp="1"/>
          </p:cNvSpPr>
          <p:nvPr>
            <p:ph type="title"/>
          </p:nvPr>
        </p:nvSpPr>
        <p:spPr/>
        <p:txBody>
          <a:bodyPr/>
          <a:lstStyle/>
          <a:p>
            <a:r>
              <a:rPr lang="en-US" b="1" dirty="0">
                <a:highlight>
                  <a:srgbClr val="FFFF00"/>
                </a:highlight>
              </a:rPr>
              <a:t>Here is a context for a Fishbone Diagram (Ishikawa)</a:t>
            </a:r>
            <a:r>
              <a:rPr lang="en-US" b="1" dirty="0">
                <a:highlight>
                  <a:srgbClr val="FFFF00"/>
                </a:highlight>
                <a:sym typeface="Wingdings" panose="05000000000000000000" pitchFamily="2" charset="2"/>
              </a:rPr>
              <a:t>(</a:t>
            </a:r>
            <a:r>
              <a:rPr lang="en-US" b="1" dirty="0" err="1">
                <a:highlight>
                  <a:srgbClr val="FFFF00"/>
                </a:highlight>
                <a:sym typeface="Wingdings" panose="05000000000000000000" pitchFamily="2" charset="2"/>
              </a:rPr>
              <a:t>Cont</a:t>
            </a:r>
            <a:r>
              <a:rPr lang="en-US" b="1" dirty="0">
                <a:highlight>
                  <a:srgbClr val="FFFF00"/>
                </a:highlight>
                <a:sym typeface="Wingdings" panose="05000000000000000000" pitchFamily="2" charset="2"/>
              </a:rPr>
              <a:t>)</a:t>
            </a:r>
            <a:endParaRPr lang="en-PK" dirty="0"/>
          </a:p>
        </p:txBody>
      </p:sp>
      <p:sp>
        <p:nvSpPr>
          <p:cNvPr id="3" name="Content Placeholder 2">
            <a:extLst>
              <a:ext uri="{FF2B5EF4-FFF2-40B4-BE49-F238E27FC236}">
                <a16:creationId xmlns:a16="http://schemas.microsoft.com/office/drawing/2014/main" id="{1AFD6C2B-ACC6-7BFD-255E-ACEF5934FFEB}"/>
              </a:ext>
            </a:extLst>
          </p:cNvPr>
          <p:cNvSpPr>
            <a:spLocks noGrp="1"/>
          </p:cNvSpPr>
          <p:nvPr>
            <p:ph idx="1"/>
          </p:nvPr>
        </p:nvSpPr>
        <p:spPr>
          <a:xfrm>
            <a:off x="0" y="1825624"/>
            <a:ext cx="12192000" cy="5032375"/>
          </a:xfrm>
        </p:spPr>
        <p:txBody>
          <a:bodyPr>
            <a:normAutofit/>
          </a:bodyPr>
          <a:lstStyle/>
          <a:p>
            <a:r>
              <a:rPr lang="en-US" sz="3600" dirty="0"/>
              <a:t>Method (Processes)*</a:t>
            </a:r>
          </a:p>
          <a:p>
            <a:r>
              <a:rPr lang="en-US" sz="3600" dirty="0"/>
              <a:t>    - Ineffective recruitment and selection process</a:t>
            </a:r>
          </a:p>
          <a:p>
            <a:r>
              <a:rPr lang="en-US" sz="3600" dirty="0"/>
              <a:t>    - Lack of employee recognition and rewards</a:t>
            </a:r>
          </a:p>
          <a:p>
            <a:r>
              <a:rPr lang="en-US" sz="3600" dirty="0"/>
              <a:t>- *Measurement (Data)*</a:t>
            </a:r>
          </a:p>
          <a:p>
            <a:r>
              <a:rPr lang="en-US" sz="3600" dirty="0"/>
              <a:t>    - Inadequate performance metrics and tracking</a:t>
            </a:r>
          </a:p>
          <a:p>
            <a:r>
              <a:rPr lang="en-US" sz="3600" dirty="0"/>
              <a:t>- *Environment (External Factors)*</a:t>
            </a:r>
          </a:p>
          <a:p>
            <a:r>
              <a:rPr lang="en-US" sz="3600" dirty="0"/>
              <a:t>    - High demand for skilled workers in the industry</a:t>
            </a:r>
          </a:p>
          <a:p>
            <a:r>
              <a:rPr lang="en-US" sz="3600" dirty="0"/>
              <a:t>    - Economic conditions and job market</a:t>
            </a:r>
          </a:p>
        </p:txBody>
      </p:sp>
    </p:spTree>
    <p:extLst>
      <p:ext uri="{BB962C8B-B14F-4D97-AF65-F5344CB8AC3E}">
        <p14:creationId xmlns:p14="http://schemas.microsoft.com/office/powerpoint/2010/main" val="4235085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DF6F6-4841-B96E-E8A8-27E49A533069}"/>
              </a:ext>
            </a:extLst>
          </p:cNvPr>
          <p:cNvSpPr>
            <a:spLocks noGrp="1"/>
          </p:cNvSpPr>
          <p:nvPr>
            <p:ph type="title"/>
          </p:nvPr>
        </p:nvSpPr>
        <p:spPr/>
        <p:txBody>
          <a:bodyPr/>
          <a:lstStyle/>
          <a:p>
            <a:r>
              <a:rPr lang="en-US" b="1" dirty="0">
                <a:highlight>
                  <a:srgbClr val="FFFF00"/>
                </a:highlight>
              </a:rPr>
              <a:t>Here is a context for a Fishbone Diagram (Ishikawa)</a:t>
            </a:r>
            <a:r>
              <a:rPr lang="en-US" b="1" dirty="0">
                <a:highlight>
                  <a:srgbClr val="FFFF00"/>
                </a:highlight>
                <a:sym typeface="Wingdings" panose="05000000000000000000" pitchFamily="2" charset="2"/>
              </a:rPr>
              <a:t>(</a:t>
            </a:r>
            <a:r>
              <a:rPr lang="en-US" b="1" dirty="0" err="1">
                <a:highlight>
                  <a:srgbClr val="FFFF00"/>
                </a:highlight>
                <a:sym typeface="Wingdings" panose="05000000000000000000" pitchFamily="2" charset="2"/>
              </a:rPr>
              <a:t>Cont</a:t>
            </a:r>
            <a:r>
              <a:rPr lang="en-US" b="1" dirty="0">
                <a:highlight>
                  <a:srgbClr val="FFFF00"/>
                </a:highlight>
                <a:sym typeface="Wingdings" panose="05000000000000000000" pitchFamily="2" charset="2"/>
              </a:rPr>
              <a:t>)</a:t>
            </a:r>
            <a:endParaRPr lang="en-PK" dirty="0"/>
          </a:p>
        </p:txBody>
      </p:sp>
      <p:sp>
        <p:nvSpPr>
          <p:cNvPr id="3" name="Content Placeholder 2">
            <a:extLst>
              <a:ext uri="{FF2B5EF4-FFF2-40B4-BE49-F238E27FC236}">
                <a16:creationId xmlns:a16="http://schemas.microsoft.com/office/drawing/2014/main" id="{36CB6A86-A569-AA47-E58A-06969644BE06}"/>
              </a:ext>
            </a:extLst>
          </p:cNvPr>
          <p:cNvSpPr>
            <a:spLocks noGrp="1"/>
          </p:cNvSpPr>
          <p:nvPr>
            <p:ph idx="1"/>
          </p:nvPr>
        </p:nvSpPr>
        <p:spPr>
          <a:xfrm>
            <a:off x="0" y="1825624"/>
            <a:ext cx="12192000" cy="5032375"/>
          </a:xfrm>
        </p:spPr>
        <p:txBody>
          <a:bodyPr>
            <a:normAutofit fontScale="92500" lnSpcReduction="10000"/>
          </a:bodyPr>
          <a:lstStyle/>
          <a:p>
            <a:r>
              <a:rPr lang="en-US" sz="4800" dirty="0"/>
              <a:t>*Root Cause:* Lack of effective leadership and management, leading to poor work environment and low employee satisfaction.</a:t>
            </a:r>
          </a:p>
          <a:p>
            <a:r>
              <a:rPr lang="en-US" sz="4800" b="0" i="0" dirty="0">
                <a:solidFill>
                  <a:srgbClr val="222222"/>
                </a:solidFill>
                <a:effectLst/>
                <a:latin typeface="Arial" panose="020B0604020202020204" pitchFamily="34" charset="0"/>
              </a:rPr>
              <a:t>This Fishbone Diagram helps identify the various factors contributing to the high employee turnover rate, allowing for a more comprehensive approach to addressing the problem.</a:t>
            </a:r>
            <a:br>
              <a:rPr lang="en-US" sz="4800" dirty="0"/>
            </a:br>
            <a:endParaRPr lang="en-PK" sz="4400" dirty="0"/>
          </a:p>
          <a:p>
            <a:endParaRPr lang="en-PK" sz="4400" dirty="0"/>
          </a:p>
        </p:txBody>
      </p:sp>
    </p:spTree>
    <p:extLst>
      <p:ext uri="{BB962C8B-B14F-4D97-AF65-F5344CB8AC3E}">
        <p14:creationId xmlns:p14="http://schemas.microsoft.com/office/powerpoint/2010/main" val="291607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B3A6-63AA-0C8B-4563-B858135B836B}"/>
              </a:ext>
            </a:extLst>
          </p:cNvPr>
          <p:cNvSpPr>
            <a:spLocks noGrp="1"/>
          </p:cNvSpPr>
          <p:nvPr>
            <p:ph type="title"/>
          </p:nvPr>
        </p:nvSpPr>
        <p:spPr/>
        <p:txBody>
          <a:bodyPr>
            <a:normAutofit/>
          </a:bodyPr>
          <a:lstStyle/>
          <a:p>
            <a:pPr algn="ctr"/>
            <a:r>
              <a:rPr lang="en-US" sz="6000" b="1" dirty="0">
                <a:highlight>
                  <a:srgbClr val="FFFF00"/>
                </a:highlight>
              </a:rPr>
              <a:t>PARETO DIAGRAM(ISHIKAWA)</a:t>
            </a:r>
            <a:endParaRPr lang="en-PK" sz="6000" b="1" dirty="0">
              <a:highlight>
                <a:srgbClr val="FFFF00"/>
              </a:highlight>
            </a:endParaRPr>
          </a:p>
        </p:txBody>
      </p:sp>
      <p:sp>
        <p:nvSpPr>
          <p:cNvPr id="3" name="Content Placeholder 2">
            <a:extLst>
              <a:ext uri="{FF2B5EF4-FFF2-40B4-BE49-F238E27FC236}">
                <a16:creationId xmlns:a16="http://schemas.microsoft.com/office/drawing/2014/main" id="{E91B5E3D-4F5F-34A3-D267-C2D29112BB5E}"/>
              </a:ext>
            </a:extLst>
          </p:cNvPr>
          <p:cNvSpPr>
            <a:spLocks noGrp="1"/>
          </p:cNvSpPr>
          <p:nvPr>
            <p:ph idx="1"/>
          </p:nvPr>
        </p:nvSpPr>
        <p:spPr/>
        <p:txBody>
          <a:bodyPr>
            <a:normAutofit fontScale="92500"/>
          </a:bodyPr>
          <a:lstStyle/>
          <a:p>
            <a:r>
              <a:rPr lang="en-US" sz="4400" b="0" i="0" dirty="0">
                <a:solidFill>
                  <a:srgbClr val="222222"/>
                </a:solidFill>
                <a:effectLst/>
                <a:latin typeface="Arial" panose="020B0604020202020204" pitchFamily="34" charset="0"/>
              </a:rPr>
              <a:t>A Pareto chart is a graphical representation of data that helps identify the most significant factors or problems in a process or system. It's named after Vilfredo Pareto, an Italian economist who observed that approximately 80% of Italy's land was owned by 20% of the population.</a:t>
            </a:r>
            <a:endParaRPr lang="en-PK" sz="4400" dirty="0"/>
          </a:p>
        </p:txBody>
      </p:sp>
    </p:spTree>
    <p:extLst>
      <p:ext uri="{BB962C8B-B14F-4D97-AF65-F5344CB8AC3E}">
        <p14:creationId xmlns:p14="http://schemas.microsoft.com/office/powerpoint/2010/main" val="4274891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55A2-F502-EA12-3C02-9F4104D34C63}"/>
              </a:ext>
            </a:extLst>
          </p:cNvPr>
          <p:cNvSpPr>
            <a:spLocks noGrp="1"/>
          </p:cNvSpPr>
          <p:nvPr>
            <p:ph type="title"/>
          </p:nvPr>
        </p:nvSpPr>
        <p:spPr/>
        <p:txBody>
          <a:bodyPr/>
          <a:lstStyle/>
          <a:p>
            <a:pPr algn="ctr"/>
            <a:r>
              <a:rPr lang="en-US" sz="4400" b="1" dirty="0">
                <a:highlight>
                  <a:srgbClr val="FFFF00"/>
                </a:highlight>
              </a:rPr>
              <a:t>PARETO DIAGRAM(ISHIKAWA)</a:t>
            </a:r>
            <a:endParaRPr lang="en-PK" dirty="0"/>
          </a:p>
        </p:txBody>
      </p:sp>
      <p:sp>
        <p:nvSpPr>
          <p:cNvPr id="3" name="Content Placeholder 2">
            <a:extLst>
              <a:ext uri="{FF2B5EF4-FFF2-40B4-BE49-F238E27FC236}">
                <a16:creationId xmlns:a16="http://schemas.microsoft.com/office/drawing/2014/main" id="{47260102-E8C7-D0E5-953D-97354B7691E2}"/>
              </a:ext>
            </a:extLst>
          </p:cNvPr>
          <p:cNvSpPr>
            <a:spLocks noGrp="1"/>
          </p:cNvSpPr>
          <p:nvPr>
            <p:ph idx="1"/>
          </p:nvPr>
        </p:nvSpPr>
        <p:spPr/>
        <p:txBody>
          <a:bodyPr>
            <a:normAutofit/>
          </a:bodyPr>
          <a:lstStyle/>
          <a:p>
            <a:pPr algn="l"/>
            <a:r>
              <a:rPr lang="en-US" sz="4400" b="0" i="0" dirty="0">
                <a:solidFill>
                  <a:srgbClr val="222222"/>
                </a:solidFill>
                <a:effectLst/>
                <a:latin typeface="Arial" panose="020B0604020202020204" pitchFamily="34" charset="0"/>
              </a:rPr>
              <a:t>A Pareto chart typically consists of:</a:t>
            </a:r>
            <a:br>
              <a:rPr lang="en-US" sz="4400" b="0" i="0" dirty="0">
                <a:solidFill>
                  <a:srgbClr val="222222"/>
                </a:solidFill>
                <a:effectLst/>
                <a:latin typeface="Arial" panose="020B0604020202020204" pitchFamily="34" charset="0"/>
              </a:rPr>
            </a:br>
            <a:endParaRPr lang="en-US" sz="4400" b="0" i="0" dirty="0">
              <a:solidFill>
                <a:srgbClr val="222222"/>
              </a:solidFill>
              <a:effectLst/>
              <a:latin typeface="Arial" panose="020B0604020202020204" pitchFamily="34" charset="0"/>
            </a:endParaRPr>
          </a:p>
          <a:p>
            <a:pPr algn="l"/>
            <a:r>
              <a:rPr lang="en-US" sz="4400" b="0" i="0" dirty="0">
                <a:solidFill>
                  <a:srgbClr val="222222"/>
                </a:solidFill>
                <a:effectLst/>
                <a:latin typeface="Arial" panose="020B0604020202020204" pitchFamily="34" charset="0"/>
              </a:rPr>
              <a:t>1. A bar chart showing the frequency or impact of different factors or problems.</a:t>
            </a:r>
          </a:p>
          <a:p>
            <a:pPr algn="l"/>
            <a:r>
              <a:rPr lang="en-US" sz="4400" b="0" i="0" dirty="0">
                <a:solidFill>
                  <a:srgbClr val="222222"/>
                </a:solidFill>
                <a:effectLst/>
                <a:latin typeface="Arial" panose="020B0604020202020204" pitchFamily="34" charset="0"/>
              </a:rPr>
              <a:t>2. A line chart showing the cumulative total of these factors.</a:t>
            </a:r>
          </a:p>
          <a:p>
            <a:endParaRPr lang="en-PK" sz="4400" dirty="0"/>
          </a:p>
        </p:txBody>
      </p:sp>
    </p:spTree>
    <p:extLst>
      <p:ext uri="{BB962C8B-B14F-4D97-AF65-F5344CB8AC3E}">
        <p14:creationId xmlns:p14="http://schemas.microsoft.com/office/powerpoint/2010/main" val="4117050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2D048-0CAF-A9EB-DBD8-FD589F07E4B5}"/>
              </a:ext>
            </a:extLst>
          </p:cNvPr>
          <p:cNvSpPr>
            <a:spLocks noGrp="1"/>
          </p:cNvSpPr>
          <p:nvPr>
            <p:ph type="title"/>
          </p:nvPr>
        </p:nvSpPr>
        <p:spPr/>
        <p:txBody>
          <a:bodyPr/>
          <a:lstStyle/>
          <a:p>
            <a:pPr algn="ctr"/>
            <a:r>
              <a:rPr lang="en-US" sz="4400" b="1" dirty="0">
                <a:highlight>
                  <a:srgbClr val="FFFF00"/>
                </a:highlight>
              </a:rPr>
              <a:t>PARETO DIAGRAM(ISHIKAWA)</a:t>
            </a:r>
            <a:endParaRPr lang="en-PK" dirty="0"/>
          </a:p>
        </p:txBody>
      </p:sp>
      <p:sp>
        <p:nvSpPr>
          <p:cNvPr id="3" name="Content Placeholder 2">
            <a:extLst>
              <a:ext uri="{FF2B5EF4-FFF2-40B4-BE49-F238E27FC236}">
                <a16:creationId xmlns:a16="http://schemas.microsoft.com/office/drawing/2014/main" id="{7EB7F1AD-414A-5147-B8F6-82573457C89C}"/>
              </a:ext>
            </a:extLst>
          </p:cNvPr>
          <p:cNvSpPr>
            <a:spLocks noGrp="1"/>
          </p:cNvSpPr>
          <p:nvPr>
            <p:ph idx="1"/>
          </p:nvPr>
        </p:nvSpPr>
        <p:spPr/>
        <p:txBody>
          <a:bodyPr>
            <a:normAutofit lnSpcReduction="10000"/>
          </a:bodyPr>
          <a:lstStyle/>
          <a:p>
            <a:r>
              <a:rPr lang="en-US" sz="4800" b="0" i="0" dirty="0">
                <a:solidFill>
                  <a:srgbClr val="222222"/>
                </a:solidFill>
                <a:effectLst/>
                <a:latin typeface="Arial" panose="020B0604020202020204" pitchFamily="34" charset="0"/>
              </a:rPr>
              <a:t>The chart is arranged in descending order, with the most significant factors on the left. The goal is to identify the "vital few" factors that have the greatest impact, rather than getting bogged down by the "trivial many."</a:t>
            </a:r>
            <a:endParaRPr lang="en-PK" sz="4800" dirty="0"/>
          </a:p>
        </p:txBody>
      </p:sp>
    </p:spTree>
    <p:extLst>
      <p:ext uri="{BB962C8B-B14F-4D97-AF65-F5344CB8AC3E}">
        <p14:creationId xmlns:p14="http://schemas.microsoft.com/office/powerpoint/2010/main" val="3574544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DD1C-604E-6E61-80FC-75D5218F030F}"/>
              </a:ext>
            </a:extLst>
          </p:cNvPr>
          <p:cNvSpPr>
            <a:spLocks noGrp="1"/>
          </p:cNvSpPr>
          <p:nvPr>
            <p:ph type="title"/>
          </p:nvPr>
        </p:nvSpPr>
        <p:spPr/>
        <p:txBody>
          <a:bodyPr/>
          <a:lstStyle/>
          <a:p>
            <a:pPr algn="ctr"/>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22170D26-36AE-8264-CB4B-0B7B4DBDC30F}"/>
              </a:ext>
            </a:extLst>
          </p:cNvPr>
          <p:cNvSpPr>
            <a:spLocks noGrp="1"/>
          </p:cNvSpPr>
          <p:nvPr>
            <p:ph idx="1"/>
          </p:nvPr>
        </p:nvSpPr>
        <p:spPr/>
        <p:txBody>
          <a:bodyPr>
            <a:normAutofit fontScale="55000" lnSpcReduction="20000"/>
          </a:bodyPr>
          <a:lstStyle/>
          <a:p>
            <a:pPr algn="l" rtl="0"/>
            <a:r>
              <a:rPr lang="en-US" sz="6500" b="0" i="0" dirty="0">
                <a:solidFill>
                  <a:srgbClr val="222222"/>
                </a:solidFill>
                <a:effectLst/>
                <a:latin typeface="Arial" panose="020B0604020202020204" pitchFamily="34" charset="0"/>
              </a:rPr>
              <a:t>Pareto charts are commonly used in quality control, business, and engineering to:</a:t>
            </a:r>
            <a:br>
              <a:rPr lang="en-US" sz="6500" b="0" i="0" dirty="0">
                <a:solidFill>
                  <a:srgbClr val="222222"/>
                </a:solidFill>
                <a:effectLst/>
                <a:latin typeface="Arial" panose="020B0604020202020204" pitchFamily="34" charset="0"/>
              </a:rPr>
            </a:br>
            <a:endParaRPr lang="en-US" sz="6500" b="0" i="0" dirty="0">
              <a:solidFill>
                <a:srgbClr val="222222"/>
              </a:solidFill>
              <a:effectLst/>
              <a:latin typeface="Arial" panose="020B0604020202020204" pitchFamily="34" charset="0"/>
            </a:endParaRPr>
          </a:p>
          <a:p>
            <a:pPr algn="l" rtl="0"/>
            <a:r>
              <a:rPr lang="en-US" sz="6500" b="0" i="0" dirty="0">
                <a:solidFill>
                  <a:srgbClr val="222222"/>
                </a:solidFill>
                <a:effectLst/>
                <a:latin typeface="Arial" panose="020B0604020202020204" pitchFamily="34" charset="0"/>
              </a:rPr>
              <a:t>- Identify the most common problems or defects</a:t>
            </a:r>
          </a:p>
          <a:p>
            <a:pPr algn="l" rtl="0"/>
            <a:r>
              <a:rPr lang="en-US" sz="6500" b="0" i="0" dirty="0">
                <a:solidFill>
                  <a:srgbClr val="222222"/>
                </a:solidFill>
                <a:effectLst/>
                <a:latin typeface="Arial" panose="020B0604020202020204" pitchFamily="34" charset="0"/>
              </a:rPr>
              <a:t>- Determine the root causes of issues</a:t>
            </a:r>
          </a:p>
          <a:p>
            <a:pPr algn="l" rtl="0"/>
            <a:r>
              <a:rPr lang="en-US" sz="6500" b="0" i="0" dirty="0">
                <a:solidFill>
                  <a:srgbClr val="222222"/>
                </a:solidFill>
                <a:effectLst/>
                <a:latin typeface="Arial" panose="020B0604020202020204" pitchFamily="34" charset="0"/>
              </a:rPr>
              <a:t>- Prioritize solutions or improvements</a:t>
            </a:r>
          </a:p>
          <a:p>
            <a:pPr algn="l" rtl="0"/>
            <a:r>
              <a:rPr lang="en-US" sz="6500" b="0" i="0" dirty="0">
                <a:solidFill>
                  <a:srgbClr val="222222"/>
                </a:solidFill>
                <a:effectLst/>
                <a:latin typeface="Arial" panose="020B0604020202020204" pitchFamily="34" charset="0"/>
              </a:rPr>
              <a:t>- Monitor progress over time</a:t>
            </a:r>
            <a:br>
              <a:rPr lang="en-US" sz="6500" b="0" i="0" dirty="0">
                <a:solidFill>
                  <a:srgbClr val="222222"/>
                </a:solidFill>
                <a:effectLst/>
                <a:latin typeface="Arial" panose="020B0604020202020204" pitchFamily="34" charset="0"/>
              </a:rPr>
            </a:br>
            <a:endParaRPr lang="en-US" sz="6500" b="0" i="0" dirty="0">
              <a:solidFill>
                <a:srgbClr val="222222"/>
              </a:solidFill>
              <a:effectLst/>
              <a:latin typeface="Arial" panose="020B0604020202020204" pitchFamily="34" charset="0"/>
            </a:endParaRPr>
          </a:p>
          <a:p>
            <a:pPr marL="0" indent="0">
              <a:buNone/>
            </a:pPr>
            <a:br>
              <a:rPr lang="en-US" sz="3200" b="0" i="0" dirty="0">
                <a:solidFill>
                  <a:srgbClr val="222222"/>
                </a:solidFill>
                <a:effectLst/>
                <a:latin typeface="Google Sans"/>
              </a:rPr>
            </a:br>
            <a:endParaRPr lang="en-PK" sz="3200" dirty="0"/>
          </a:p>
        </p:txBody>
      </p:sp>
    </p:spTree>
    <p:extLst>
      <p:ext uri="{BB962C8B-B14F-4D97-AF65-F5344CB8AC3E}">
        <p14:creationId xmlns:p14="http://schemas.microsoft.com/office/powerpoint/2010/main" val="33772133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8AF8B-6DA8-A479-9C62-AC60F39AC92E}"/>
              </a:ext>
            </a:extLst>
          </p:cNvPr>
          <p:cNvSpPr>
            <a:spLocks noGrp="1"/>
          </p:cNvSpPr>
          <p:nvPr>
            <p:ph type="title"/>
          </p:nvPr>
        </p:nvSpPr>
        <p:spPr/>
        <p:txBody>
          <a:bodyPr/>
          <a:lstStyle/>
          <a:p>
            <a:pPr algn="ctr"/>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8C12DE7C-8737-AEC1-5A14-C7C8F35D15C6}"/>
              </a:ext>
            </a:extLst>
          </p:cNvPr>
          <p:cNvSpPr>
            <a:spLocks noGrp="1"/>
          </p:cNvSpPr>
          <p:nvPr>
            <p:ph idx="1"/>
          </p:nvPr>
        </p:nvSpPr>
        <p:spPr/>
        <p:txBody>
          <a:bodyPr>
            <a:normAutofit/>
          </a:bodyPr>
          <a:lstStyle/>
          <a:p>
            <a:r>
              <a:rPr lang="en-US" sz="4800" b="0" i="0" dirty="0">
                <a:solidFill>
                  <a:srgbClr val="222222"/>
                </a:solidFill>
                <a:effectLst/>
                <a:latin typeface="Arial" panose="020B0604020202020204" pitchFamily="34" charset="0"/>
              </a:rPr>
              <a:t>Pareto analysis is a method used to identify the most significant factors or problems in a process or system. It's based on the Pareto principle, which states that approximately 80% of effects come from 20% of causes.</a:t>
            </a:r>
            <a:endParaRPr lang="en-PK" sz="4800" dirty="0"/>
          </a:p>
        </p:txBody>
      </p:sp>
    </p:spTree>
    <p:extLst>
      <p:ext uri="{BB962C8B-B14F-4D97-AF65-F5344CB8AC3E}">
        <p14:creationId xmlns:p14="http://schemas.microsoft.com/office/powerpoint/2010/main" val="3494010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04513-2F67-0D1B-E119-4D6EC1BCEED0}"/>
              </a:ext>
            </a:extLst>
          </p:cNvPr>
          <p:cNvSpPr>
            <a:spLocks noGrp="1"/>
          </p:cNvSpPr>
          <p:nvPr>
            <p:ph type="title"/>
          </p:nvPr>
        </p:nvSpPr>
        <p:spPr/>
        <p:txBody>
          <a:bodyPr/>
          <a:lstStyle/>
          <a:p>
            <a:pPr algn="ctr"/>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39CAA54B-C5F1-11E6-2681-22B9A47500E7}"/>
              </a:ext>
            </a:extLst>
          </p:cNvPr>
          <p:cNvSpPr>
            <a:spLocks noGrp="1"/>
          </p:cNvSpPr>
          <p:nvPr>
            <p:ph idx="1"/>
          </p:nvPr>
        </p:nvSpPr>
        <p:spPr>
          <a:xfrm>
            <a:off x="0" y="1690688"/>
            <a:ext cx="12192000" cy="5167312"/>
          </a:xfrm>
        </p:spPr>
        <p:txBody>
          <a:bodyPr>
            <a:normAutofit lnSpcReduction="10000"/>
          </a:bodyPr>
          <a:lstStyle/>
          <a:p>
            <a:pPr algn="l"/>
            <a:r>
              <a:rPr lang="en-US" b="0" i="0" dirty="0">
                <a:solidFill>
                  <a:srgbClr val="222222"/>
                </a:solidFill>
                <a:effectLst/>
                <a:latin typeface="Arial" panose="020B0604020202020204" pitchFamily="34" charset="0"/>
              </a:rPr>
              <a:t>Here's a step-by-step guide to performing a Pareto analysis:</a:t>
            </a:r>
            <a:br>
              <a:rPr lang="en-US"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a:p>
            <a:pPr algn="l"/>
            <a:r>
              <a:rPr lang="en-US" b="0" i="0" dirty="0">
                <a:solidFill>
                  <a:srgbClr val="222222"/>
                </a:solidFill>
                <a:effectLst/>
                <a:latin typeface="Arial" panose="020B0604020202020204" pitchFamily="34" charset="0"/>
              </a:rPr>
              <a:t>1. *Collect data*: Gather data on the problems or factors you want to analyze.</a:t>
            </a:r>
          </a:p>
          <a:p>
            <a:pPr algn="l"/>
            <a:r>
              <a:rPr lang="en-US" b="0" i="0" dirty="0">
                <a:solidFill>
                  <a:srgbClr val="222222"/>
                </a:solidFill>
                <a:effectLst/>
                <a:latin typeface="Arial" panose="020B0604020202020204" pitchFamily="34" charset="0"/>
              </a:rPr>
              <a:t>2. *Categorize*: Group similar problems or factors together.</a:t>
            </a:r>
          </a:p>
          <a:p>
            <a:pPr algn="l"/>
            <a:r>
              <a:rPr lang="en-US" b="0" i="0" dirty="0">
                <a:solidFill>
                  <a:srgbClr val="222222"/>
                </a:solidFill>
                <a:effectLst/>
                <a:latin typeface="Arial" panose="020B0604020202020204" pitchFamily="34" charset="0"/>
              </a:rPr>
              <a:t>3. *Count*: Count the frequency or impact of each category.</a:t>
            </a:r>
          </a:p>
          <a:p>
            <a:pPr algn="l"/>
            <a:r>
              <a:rPr lang="en-US" b="0" i="0" dirty="0">
                <a:solidFill>
                  <a:srgbClr val="222222"/>
                </a:solidFill>
                <a:effectLst/>
                <a:latin typeface="Arial" panose="020B0604020202020204" pitchFamily="34" charset="0"/>
              </a:rPr>
              <a:t>4. *Rank*: Rank the categories in descending order of frequency or impact.</a:t>
            </a:r>
          </a:p>
          <a:p>
            <a:pPr algn="l"/>
            <a:r>
              <a:rPr lang="en-US" b="0" i="0" dirty="0">
                <a:solidFill>
                  <a:srgbClr val="222222"/>
                </a:solidFill>
                <a:effectLst/>
                <a:latin typeface="Arial" panose="020B0604020202020204" pitchFamily="34" charset="0"/>
              </a:rPr>
              <a:t>5. *Plot*: Create a Pareto chart to visualize the data.</a:t>
            </a:r>
          </a:p>
          <a:p>
            <a:pPr algn="l"/>
            <a:r>
              <a:rPr lang="en-US" b="0" i="0" dirty="0">
                <a:solidFill>
                  <a:srgbClr val="222222"/>
                </a:solidFill>
                <a:effectLst/>
                <a:latin typeface="Arial" panose="020B0604020202020204" pitchFamily="34" charset="0"/>
              </a:rPr>
              <a:t>6. *Analyze*: Identify the "vital few" categories that account for the majority of the problems or effects.</a:t>
            </a:r>
          </a:p>
          <a:p>
            <a:pPr algn="l"/>
            <a:r>
              <a:rPr lang="en-US" b="0" i="0" dirty="0">
                <a:solidFill>
                  <a:srgbClr val="222222"/>
                </a:solidFill>
                <a:effectLst/>
                <a:latin typeface="Arial" panose="020B0604020202020204" pitchFamily="34" charset="0"/>
              </a:rPr>
              <a:t>7. *Prioritize*: Prioritize solutions or improvements based on the analysis.</a:t>
            </a:r>
          </a:p>
          <a:p>
            <a:endParaRPr lang="en-PK" dirty="0"/>
          </a:p>
        </p:txBody>
      </p:sp>
    </p:spTree>
    <p:extLst>
      <p:ext uri="{BB962C8B-B14F-4D97-AF65-F5344CB8AC3E}">
        <p14:creationId xmlns:p14="http://schemas.microsoft.com/office/powerpoint/2010/main" val="1093930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822BE-49B8-0A85-37BD-C0733EB83140}"/>
              </a:ext>
            </a:extLst>
          </p:cNvPr>
          <p:cNvSpPr>
            <a:spLocks noGrp="1"/>
          </p:cNvSpPr>
          <p:nvPr>
            <p:ph type="title"/>
          </p:nvPr>
        </p:nvSpPr>
        <p:spPr/>
        <p:txBody>
          <a:bodyPr/>
          <a:lstStyle/>
          <a:p>
            <a:pPr algn="ctr"/>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171313BA-FBB0-1A57-D96D-118EE5159792}"/>
              </a:ext>
            </a:extLst>
          </p:cNvPr>
          <p:cNvSpPr>
            <a:spLocks noGrp="1"/>
          </p:cNvSpPr>
          <p:nvPr>
            <p:ph idx="1"/>
          </p:nvPr>
        </p:nvSpPr>
        <p:spPr>
          <a:xfrm>
            <a:off x="0" y="1825624"/>
            <a:ext cx="12192000" cy="5032375"/>
          </a:xfrm>
        </p:spPr>
        <p:txBody>
          <a:bodyPr>
            <a:normAutofit fontScale="40000" lnSpcReduction="20000"/>
          </a:bodyPr>
          <a:lstStyle/>
          <a:p>
            <a:pPr algn="l"/>
            <a:r>
              <a:rPr lang="en-US" sz="6000" b="0" i="0" dirty="0">
                <a:solidFill>
                  <a:srgbClr val="222222"/>
                </a:solidFill>
                <a:effectLst/>
                <a:latin typeface="Arial" panose="020B0604020202020204" pitchFamily="34" charset="0"/>
              </a:rPr>
              <a:t>Example:</a:t>
            </a:r>
            <a:br>
              <a:rPr lang="en-US" sz="6000" b="0" i="0" dirty="0">
                <a:solidFill>
                  <a:srgbClr val="222222"/>
                </a:solidFill>
                <a:effectLst/>
                <a:latin typeface="Arial" panose="020B0604020202020204" pitchFamily="34" charset="0"/>
              </a:rPr>
            </a:br>
            <a:endParaRPr lang="en-US" sz="6000" b="0" i="0" dirty="0">
              <a:solidFill>
                <a:srgbClr val="222222"/>
              </a:solidFill>
              <a:effectLst/>
              <a:latin typeface="Arial" panose="020B0604020202020204" pitchFamily="34" charset="0"/>
            </a:endParaRPr>
          </a:p>
          <a:p>
            <a:pPr algn="l"/>
            <a:r>
              <a:rPr lang="en-US" sz="6000" b="0" i="0" dirty="0">
                <a:solidFill>
                  <a:srgbClr val="222222"/>
                </a:solidFill>
                <a:effectLst/>
                <a:latin typeface="Arial" panose="020B0604020202020204" pitchFamily="34" charset="0"/>
              </a:rPr>
              <a:t>| Category | Frequency |</a:t>
            </a:r>
          </a:p>
          <a:p>
            <a:pPr algn="l"/>
            <a:r>
              <a:rPr lang="en-US" sz="6000" b="0" i="0" dirty="0">
                <a:solidFill>
                  <a:srgbClr val="222222"/>
                </a:solidFill>
                <a:effectLst/>
                <a:latin typeface="Arial" panose="020B0604020202020204" pitchFamily="34" charset="0"/>
              </a:rPr>
              <a:t>| --- | --- |</a:t>
            </a:r>
          </a:p>
          <a:p>
            <a:pPr algn="l"/>
            <a:r>
              <a:rPr lang="en-US" sz="6000" b="0" i="0" dirty="0">
                <a:solidFill>
                  <a:srgbClr val="222222"/>
                </a:solidFill>
                <a:effectLst/>
                <a:latin typeface="Arial" panose="020B0604020202020204" pitchFamily="34" charset="0"/>
              </a:rPr>
              <a:t>| A | 30 |</a:t>
            </a:r>
          </a:p>
          <a:p>
            <a:pPr algn="l"/>
            <a:r>
              <a:rPr lang="en-US" sz="6000" b="0" i="0" dirty="0">
                <a:solidFill>
                  <a:srgbClr val="222222"/>
                </a:solidFill>
                <a:effectLst/>
                <a:latin typeface="Arial" panose="020B0604020202020204" pitchFamily="34" charset="0"/>
              </a:rPr>
              <a:t>| B | 20 |</a:t>
            </a:r>
          </a:p>
          <a:p>
            <a:pPr algn="l"/>
            <a:r>
              <a:rPr lang="en-US" sz="6000" b="0" i="0" dirty="0">
                <a:solidFill>
                  <a:srgbClr val="222222"/>
                </a:solidFill>
                <a:effectLst/>
                <a:latin typeface="Arial" panose="020B0604020202020204" pitchFamily="34" charset="0"/>
              </a:rPr>
              <a:t>| C | 15 |</a:t>
            </a:r>
          </a:p>
          <a:p>
            <a:pPr algn="l"/>
            <a:r>
              <a:rPr lang="en-US" sz="6000" b="0" i="0" dirty="0">
                <a:solidFill>
                  <a:srgbClr val="222222"/>
                </a:solidFill>
                <a:effectLst/>
                <a:latin typeface="Arial" panose="020B0604020202020204" pitchFamily="34" charset="0"/>
              </a:rPr>
              <a:t>| D | 10 |</a:t>
            </a:r>
          </a:p>
          <a:p>
            <a:pPr algn="l"/>
            <a:r>
              <a:rPr lang="en-US" sz="6000" b="0" i="0" dirty="0">
                <a:solidFill>
                  <a:srgbClr val="222222"/>
                </a:solidFill>
                <a:effectLst/>
                <a:latin typeface="Arial" panose="020B0604020202020204" pitchFamily="34" charset="0"/>
              </a:rPr>
              <a:t>| E | 5 |</a:t>
            </a:r>
          </a:p>
          <a:p>
            <a:r>
              <a:rPr lang="en-US" sz="6000" b="0" i="0" dirty="0">
                <a:solidFill>
                  <a:srgbClr val="222222"/>
                </a:solidFill>
                <a:effectLst/>
                <a:latin typeface="Arial" panose="020B0604020202020204" pitchFamily="34" charset="0"/>
              </a:rPr>
              <a:t>In this example, category A accounts for 30% of the problems, followed by category B with 20%. Together, they account for 50% of the problems, making them the "vital few" areas to focus on.</a:t>
            </a:r>
          </a:p>
          <a:p>
            <a:pPr algn="l"/>
            <a:br>
              <a:rPr lang="en-US"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426537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C0F4B-9EA7-B863-7485-BD82866E7BED}"/>
              </a:ext>
            </a:extLst>
          </p:cNvPr>
          <p:cNvSpPr>
            <a:spLocks noGrp="1"/>
          </p:cNvSpPr>
          <p:nvPr>
            <p:ph type="title"/>
          </p:nvPr>
        </p:nvSpPr>
        <p:spPr/>
        <p:txBody>
          <a:bodyPr/>
          <a:lstStyle/>
          <a:p>
            <a:pPr algn="ctr"/>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18EA67BE-572F-A89C-1953-F2AF0E2050D9}"/>
              </a:ext>
            </a:extLst>
          </p:cNvPr>
          <p:cNvSpPr>
            <a:spLocks noGrp="1"/>
          </p:cNvSpPr>
          <p:nvPr>
            <p:ph idx="1"/>
          </p:nvPr>
        </p:nvSpPr>
        <p:spPr/>
        <p:txBody>
          <a:bodyPr>
            <a:normAutofit fontScale="92500" lnSpcReduction="20000"/>
          </a:bodyPr>
          <a:lstStyle/>
          <a:p>
            <a:pPr algn="l"/>
            <a:r>
              <a:rPr lang="en-US" sz="4300" b="0" i="0" dirty="0">
                <a:solidFill>
                  <a:srgbClr val="222222"/>
                </a:solidFill>
                <a:effectLst/>
                <a:latin typeface="Arial" panose="020B0604020202020204" pitchFamily="34" charset="0"/>
              </a:rPr>
              <a:t>Pareto analysis helps you:</a:t>
            </a:r>
            <a:br>
              <a:rPr lang="en-US" sz="4300" b="0" i="0" dirty="0">
                <a:solidFill>
                  <a:srgbClr val="222222"/>
                </a:solidFill>
                <a:effectLst/>
                <a:latin typeface="Arial" panose="020B0604020202020204" pitchFamily="34" charset="0"/>
              </a:rPr>
            </a:br>
            <a:endParaRPr lang="en-US" sz="4300" b="0" i="0" dirty="0">
              <a:solidFill>
                <a:srgbClr val="222222"/>
              </a:solidFill>
              <a:effectLst/>
              <a:latin typeface="Arial" panose="020B0604020202020204" pitchFamily="34" charset="0"/>
            </a:endParaRPr>
          </a:p>
          <a:p>
            <a:pPr algn="l"/>
            <a:r>
              <a:rPr lang="en-US" sz="4300" b="0" i="0" dirty="0">
                <a:solidFill>
                  <a:srgbClr val="222222"/>
                </a:solidFill>
                <a:effectLst/>
                <a:latin typeface="Arial" panose="020B0604020202020204" pitchFamily="34" charset="0"/>
              </a:rPr>
              <a:t>- Identify the most critical problems or factors</a:t>
            </a:r>
          </a:p>
          <a:p>
            <a:pPr algn="l"/>
            <a:r>
              <a:rPr lang="en-US" sz="4300" b="0" i="0" dirty="0">
                <a:solidFill>
                  <a:srgbClr val="222222"/>
                </a:solidFill>
                <a:effectLst/>
                <a:latin typeface="Arial" panose="020B0604020202020204" pitchFamily="34" charset="0"/>
              </a:rPr>
              <a:t>- Prioritize solutions or improvements</a:t>
            </a:r>
          </a:p>
          <a:p>
            <a:pPr algn="l"/>
            <a:r>
              <a:rPr lang="en-US" sz="4300" b="0" i="0" dirty="0">
                <a:solidFill>
                  <a:srgbClr val="222222"/>
                </a:solidFill>
                <a:effectLst/>
                <a:latin typeface="Arial" panose="020B0604020202020204" pitchFamily="34" charset="0"/>
              </a:rPr>
              <a:t>- Focus resources on the most impactful areas</a:t>
            </a:r>
          </a:p>
          <a:p>
            <a:pPr algn="l"/>
            <a:r>
              <a:rPr lang="en-US" sz="4300" b="0" i="0" dirty="0">
                <a:solidFill>
                  <a:srgbClr val="222222"/>
                </a:solidFill>
                <a:effectLst/>
                <a:latin typeface="Arial" panose="020B0604020202020204" pitchFamily="34" charset="0"/>
              </a:rPr>
              <a:t>- Monitor progress over time</a:t>
            </a:r>
            <a:br>
              <a:rPr lang="en-US" sz="4300"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a:p>
            <a:pPr marL="0" indent="0">
              <a:buNone/>
            </a:pPr>
            <a:endParaRPr lang="en-PK" dirty="0"/>
          </a:p>
        </p:txBody>
      </p:sp>
    </p:spTree>
    <p:extLst>
      <p:ext uri="{BB962C8B-B14F-4D97-AF65-F5344CB8AC3E}">
        <p14:creationId xmlns:p14="http://schemas.microsoft.com/office/powerpoint/2010/main" val="2352273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8EAE-C369-70AE-081F-C923575A2F4A}"/>
              </a:ext>
            </a:extLst>
          </p:cNvPr>
          <p:cNvSpPr>
            <a:spLocks noGrp="1"/>
          </p:cNvSpPr>
          <p:nvPr>
            <p:ph type="title"/>
          </p:nvPr>
        </p:nvSpPr>
        <p:spPr/>
        <p:txBody>
          <a:bodyPr/>
          <a:lstStyle/>
          <a:p>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11D46DD3-E938-FBA2-467E-96F88C7D8438}"/>
              </a:ext>
            </a:extLst>
          </p:cNvPr>
          <p:cNvSpPr>
            <a:spLocks noGrp="1"/>
          </p:cNvSpPr>
          <p:nvPr>
            <p:ph idx="1"/>
          </p:nvPr>
        </p:nvSpPr>
        <p:spPr/>
        <p:txBody>
          <a:bodyPr>
            <a:normAutofit fontScale="62500" lnSpcReduction="20000"/>
          </a:bodyPr>
          <a:lstStyle/>
          <a:p>
            <a:r>
              <a:rPr lang="en-US" sz="6400" dirty="0"/>
              <a:t>Here is a context for Pareto analysis:</a:t>
            </a:r>
          </a:p>
          <a:p>
            <a:r>
              <a:rPr lang="en-US" sz="6400" dirty="0"/>
              <a:t>*Problem:* A manufacturing company is experiencing a high rate of product defects, resulting in increased costs and customer dissatisfaction.</a:t>
            </a:r>
          </a:p>
          <a:p>
            <a:r>
              <a:rPr lang="en-US" sz="6400" dirty="0"/>
              <a:t>*Goal:* Identify the most common causes of product defects to prioritize quality improvement efforts.</a:t>
            </a:r>
          </a:p>
          <a:p>
            <a:br>
              <a:rPr lang="en-US" dirty="0"/>
            </a:br>
            <a:endParaRPr lang="en-PK" dirty="0"/>
          </a:p>
        </p:txBody>
      </p:sp>
    </p:spTree>
    <p:extLst>
      <p:ext uri="{BB962C8B-B14F-4D97-AF65-F5344CB8AC3E}">
        <p14:creationId xmlns:p14="http://schemas.microsoft.com/office/powerpoint/2010/main" val="15254195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550C4-1101-42E0-3666-C6E643ECB088}"/>
              </a:ext>
            </a:extLst>
          </p:cNvPr>
          <p:cNvSpPr>
            <a:spLocks noGrp="1"/>
          </p:cNvSpPr>
          <p:nvPr>
            <p:ph type="title"/>
          </p:nvPr>
        </p:nvSpPr>
        <p:spPr/>
        <p:txBody>
          <a:bodyPr/>
          <a:lstStyle/>
          <a:p>
            <a:r>
              <a:rPr lang="en-US" sz="4400" b="1" dirty="0">
                <a:highlight>
                  <a:srgbClr val="FFFF00"/>
                </a:highlight>
              </a:rPr>
              <a:t>PARETO DIAGRAM(ISHIKAWA)(</a:t>
            </a:r>
            <a:r>
              <a:rPr lang="en-US" sz="4400"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6CBE7131-DE74-0CF7-3021-E4DE31652B5B}"/>
              </a:ext>
            </a:extLst>
          </p:cNvPr>
          <p:cNvSpPr>
            <a:spLocks noGrp="1"/>
          </p:cNvSpPr>
          <p:nvPr>
            <p:ph idx="1"/>
          </p:nvPr>
        </p:nvSpPr>
        <p:spPr/>
        <p:txBody>
          <a:bodyPr>
            <a:normAutofit fontScale="77500" lnSpcReduction="20000"/>
          </a:bodyPr>
          <a:lstStyle/>
          <a:p>
            <a:r>
              <a:rPr lang="en-US" sz="7100" dirty="0"/>
              <a:t>*Data Collection:*- Collected data on defect types and frequencies over a 3-month period</a:t>
            </a:r>
          </a:p>
          <a:p>
            <a:r>
              <a:rPr lang="en-US" sz="7100" dirty="0"/>
              <a:t>- Categorized defects into 5 main categories: Material, Machinery, Labor, Design, and Packaging</a:t>
            </a:r>
          </a:p>
          <a:p>
            <a:br>
              <a:rPr lang="en-US" dirty="0"/>
            </a:br>
            <a:endParaRPr lang="en-PK" dirty="0"/>
          </a:p>
        </p:txBody>
      </p:sp>
    </p:spTree>
    <p:extLst>
      <p:ext uri="{BB962C8B-B14F-4D97-AF65-F5344CB8AC3E}">
        <p14:creationId xmlns:p14="http://schemas.microsoft.com/office/powerpoint/2010/main" val="191480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FDBC4-FEAF-BF81-8C8D-08080F1D723A}"/>
              </a:ext>
            </a:extLst>
          </p:cNvPr>
          <p:cNvSpPr>
            <a:spLocks noGrp="1"/>
          </p:cNvSpPr>
          <p:nvPr>
            <p:ph type="title"/>
          </p:nvPr>
        </p:nvSpPr>
        <p:spPr>
          <a:xfrm>
            <a:off x="838200" y="51227"/>
            <a:ext cx="10491789" cy="1441489"/>
          </a:xfrm>
        </p:spPr>
        <p:txBody>
          <a:bodyPr>
            <a:normAutofit/>
          </a:bodyPr>
          <a:lstStyle/>
          <a:p>
            <a:pPr algn="ctr"/>
            <a:r>
              <a:rPr kumimoji="0" lang="en-PK" altLang="en-PK" sz="6600" b="1" i="0" u="none" strike="noStrike" cap="none" normalizeH="0" baseline="0" dirty="0">
                <a:ln>
                  <a:noFill/>
                </a:ln>
                <a:solidFill>
                  <a:srgbClr val="222222"/>
                </a:solidFill>
                <a:effectLst/>
                <a:highlight>
                  <a:srgbClr val="FFFF00"/>
                </a:highlight>
                <a:latin typeface="Arial" panose="020B0604020202020204" pitchFamily="34" charset="0"/>
                <a:cs typeface="Arial" panose="020B0604020202020204" pitchFamily="34" charset="0"/>
              </a:rPr>
              <a:t>*Pareto Analysis:*</a:t>
            </a:r>
            <a:endParaRPr lang="en-PK" sz="6600" b="1" dirty="0">
              <a:highlight>
                <a:srgbClr val="FFFF00"/>
              </a:highlight>
            </a:endParaRPr>
          </a:p>
        </p:txBody>
      </p:sp>
      <p:graphicFrame>
        <p:nvGraphicFramePr>
          <p:cNvPr id="4" name="Content Placeholder 3">
            <a:extLst>
              <a:ext uri="{FF2B5EF4-FFF2-40B4-BE49-F238E27FC236}">
                <a16:creationId xmlns:a16="http://schemas.microsoft.com/office/drawing/2014/main" id="{B4C2A35C-441B-6E79-CEC0-E3EC4FA41D2A}"/>
              </a:ext>
            </a:extLst>
          </p:cNvPr>
          <p:cNvGraphicFramePr>
            <a:graphicFrameLocks noGrp="1"/>
          </p:cNvGraphicFramePr>
          <p:nvPr>
            <p:ph idx="1"/>
            <p:extLst>
              <p:ext uri="{D42A27DB-BD31-4B8C-83A1-F6EECF244321}">
                <p14:modId xmlns:p14="http://schemas.microsoft.com/office/powerpoint/2010/main" val="2583931994"/>
              </p:ext>
            </p:extLst>
          </p:nvPr>
        </p:nvGraphicFramePr>
        <p:xfrm>
          <a:off x="1685925" y="3716594"/>
          <a:ext cx="8800178" cy="467580"/>
        </p:xfrm>
        <a:graphic>
          <a:graphicData uri="http://schemas.openxmlformats.org/drawingml/2006/table">
            <a:tbl>
              <a:tblPr/>
              <a:tblGrid>
                <a:gridCol w="418151">
                  <a:extLst>
                    <a:ext uri="{9D8B030D-6E8A-4147-A177-3AD203B41FA5}">
                      <a16:colId xmlns:a16="http://schemas.microsoft.com/office/drawing/2014/main" val="4126220763"/>
                    </a:ext>
                  </a:extLst>
                </a:gridCol>
                <a:gridCol w="8382027">
                  <a:extLst>
                    <a:ext uri="{9D8B030D-6E8A-4147-A177-3AD203B41FA5}">
                      <a16:colId xmlns:a16="http://schemas.microsoft.com/office/drawing/2014/main" val="2919611802"/>
                    </a:ext>
                  </a:extLst>
                </a:gridCol>
              </a:tblGrid>
              <a:tr h="467580">
                <a:tc>
                  <a:txBody>
                    <a:bodyPr/>
                    <a:lstStyle/>
                    <a:p>
                      <a:pPr fontAlgn="t"/>
                      <a:endParaRPr lang="en-PK">
                        <a:effectLst/>
                      </a:endParaRPr>
                    </a:p>
                  </a:txBody>
                  <a:tcPr marL="152400" marR="152400">
                    <a:lnL>
                      <a:noFill/>
                    </a:lnL>
                    <a:lnR>
                      <a:noFill/>
                    </a:lnR>
                    <a:lnT>
                      <a:noFill/>
                    </a:lnT>
                    <a:lnB>
                      <a:noFill/>
                    </a:lnB>
                    <a:noFill/>
                  </a:tcPr>
                </a:tc>
                <a:tc>
                  <a:txBody>
                    <a:bodyPr/>
                    <a:lstStyle/>
                    <a:p>
                      <a:r>
                        <a:rPr lang="en-US" b="0" u="none" strike="noStrike" dirty="0" err="1">
                          <a:solidFill>
                            <a:srgbClr val="444746"/>
                          </a:solidFill>
                          <a:effectLst/>
                          <a:latin typeface="Google Sans"/>
                        </a:rPr>
                        <a:t>ReplyForward</a:t>
                      </a:r>
                      <a:endParaRPr lang="en-US" dirty="0">
                        <a:solidFill>
                          <a:srgbClr val="222222"/>
                        </a:solidFill>
                        <a:effectLst/>
                      </a:endParaRPr>
                    </a:p>
                  </a:txBody>
                  <a:tcPr anchor="ctr">
                    <a:lnL>
                      <a:noFill/>
                    </a:lnL>
                    <a:lnR>
                      <a:noFill/>
                    </a:lnR>
                    <a:lnT>
                      <a:noFill/>
                    </a:lnT>
                    <a:lnB>
                      <a:noFill/>
                    </a:lnB>
                    <a:noFill/>
                  </a:tcPr>
                </a:tc>
                <a:extLst>
                  <a:ext uri="{0D108BD9-81ED-4DB2-BD59-A6C34878D82A}">
                    <a16:rowId xmlns:a16="http://schemas.microsoft.com/office/drawing/2014/main" val="1866398615"/>
                  </a:ext>
                </a:extLst>
              </a:tr>
            </a:tbl>
          </a:graphicData>
        </a:graphic>
      </p:graphicFrame>
      <p:sp>
        <p:nvSpPr>
          <p:cNvPr id="5" name="Rectangle 1">
            <a:extLst>
              <a:ext uri="{FF2B5EF4-FFF2-40B4-BE49-F238E27FC236}">
                <a16:creationId xmlns:a16="http://schemas.microsoft.com/office/drawing/2014/main" id="{1430FBD2-0222-508A-12E8-0737F57A9149}"/>
              </a:ext>
            </a:extLst>
          </p:cNvPr>
          <p:cNvSpPr>
            <a:spLocks noChangeArrowheads="1"/>
          </p:cNvSpPr>
          <p:nvPr/>
        </p:nvSpPr>
        <p:spPr bwMode="auto">
          <a:xfrm>
            <a:off x="1" y="1448059"/>
            <a:ext cx="12164392" cy="47397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Category | Frequency | Cumulative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 |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Material | 40 | 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Machinery | 25 | 65%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Labor | 15 | 80%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Design | 10 | 90%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32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Packaging | 5 | 95%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A287EB9F-A2F6-3293-D2A0-10CFA1B6C1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7385316"/>
            <a:ext cx="381000" cy="414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791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C68CC-241A-0883-4B67-44E0038F95C3}"/>
              </a:ext>
            </a:extLst>
          </p:cNvPr>
          <p:cNvSpPr>
            <a:spLocks noGrp="1"/>
          </p:cNvSpPr>
          <p:nvPr>
            <p:ph type="title"/>
          </p:nvPr>
        </p:nvSpPr>
        <p:spPr/>
        <p:txBody>
          <a:bodyPr/>
          <a:lstStyle/>
          <a:p>
            <a:pPr algn="ctr"/>
            <a:r>
              <a:rPr kumimoji="0" lang="en-PK" altLang="en-PK" sz="4400" b="1" i="0" u="none" strike="noStrike" cap="none" normalizeH="0" baseline="0" dirty="0">
                <a:ln>
                  <a:noFill/>
                </a:ln>
                <a:solidFill>
                  <a:srgbClr val="222222"/>
                </a:solidFill>
                <a:effectLst/>
                <a:highlight>
                  <a:srgbClr val="FFFF00"/>
                </a:highlight>
                <a:latin typeface="Arial" panose="020B0604020202020204" pitchFamily="34" charset="0"/>
                <a:cs typeface="Arial" panose="020B0604020202020204" pitchFamily="34" charset="0"/>
              </a:rPr>
              <a:t>*Pareto Analysis:*</a:t>
            </a:r>
            <a:r>
              <a:rPr kumimoji="0" lang="en-US" altLang="en-PK" sz="4400" b="1" i="0" u="none" strike="noStrike" cap="none" normalizeH="0" baseline="0" dirty="0">
                <a:ln>
                  <a:noFill/>
                </a:ln>
                <a:solidFill>
                  <a:srgbClr val="222222"/>
                </a:solidFill>
                <a:effectLst/>
                <a:highlight>
                  <a:srgbClr val="FFFF00"/>
                </a:highlight>
                <a:latin typeface="Arial" panose="020B0604020202020204" pitchFamily="34" charset="0"/>
                <a:cs typeface="Arial" panose="020B0604020202020204" pitchFamily="34" charset="0"/>
              </a:rPr>
              <a:t>(</a:t>
            </a:r>
            <a:r>
              <a:rPr kumimoji="0" lang="en-US" altLang="en-PK" sz="4400" b="1" i="0" u="none" strike="noStrike" cap="none" normalizeH="0" baseline="0" dirty="0" err="1">
                <a:ln>
                  <a:noFill/>
                </a:ln>
                <a:solidFill>
                  <a:srgbClr val="222222"/>
                </a:solidFill>
                <a:effectLst/>
                <a:highlight>
                  <a:srgbClr val="FFFF00"/>
                </a:highlight>
                <a:latin typeface="Arial" panose="020B0604020202020204" pitchFamily="34" charset="0"/>
                <a:cs typeface="Arial" panose="020B0604020202020204" pitchFamily="34" charset="0"/>
              </a:rPr>
              <a:t>Cont</a:t>
            </a:r>
            <a:r>
              <a:rPr kumimoji="0" lang="en-US" altLang="en-PK" sz="4400" b="1" i="0" u="none" strike="noStrike" cap="none" normalizeH="0" baseline="0" dirty="0">
                <a:ln>
                  <a:noFill/>
                </a:ln>
                <a:solidFill>
                  <a:srgbClr val="222222"/>
                </a:solidFill>
                <a:effectLst/>
                <a:highlight>
                  <a:srgbClr val="FFFF00"/>
                </a:highlight>
                <a:latin typeface="Arial" panose="020B0604020202020204" pitchFamily="34" charset="0"/>
                <a:cs typeface="Arial" panose="020B0604020202020204" pitchFamily="34" charset="0"/>
              </a:rPr>
              <a:t>)</a:t>
            </a:r>
            <a:endParaRPr lang="en-PK" dirty="0"/>
          </a:p>
        </p:txBody>
      </p:sp>
      <p:sp>
        <p:nvSpPr>
          <p:cNvPr id="3" name="Content Placeholder 2">
            <a:extLst>
              <a:ext uri="{FF2B5EF4-FFF2-40B4-BE49-F238E27FC236}">
                <a16:creationId xmlns:a16="http://schemas.microsoft.com/office/drawing/2014/main" id="{A634F284-0DBC-B83B-0F61-ECFAF8485148}"/>
              </a:ext>
            </a:extLst>
          </p:cNvPr>
          <p:cNvSpPr>
            <a:spLocks noGrp="1"/>
          </p:cNvSpPr>
          <p:nvPr>
            <p:ph idx="1"/>
          </p:nvPr>
        </p:nvSpPr>
        <p:spPr>
          <a:xfrm>
            <a:off x="0" y="1519084"/>
            <a:ext cx="12192000" cy="5338915"/>
          </a:xfrm>
        </p:spPr>
        <p:txBody>
          <a:bodyPr>
            <a:normAutofit fontScale="850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*Insights:*</a:t>
            </a: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Material defects account for 40% of all defects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Machinery and Labor defects combined account for an additional 25%</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These three categories account for 80% of all defects</a:t>
            </a: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Prioritize quality improvement efforts on Material, Machinery, and Labor categories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Implement changes to material sourcing, machinery maintenance, and </a:t>
            </a:r>
            <a:r>
              <a:rPr kumimoji="0" lang="en-PK" altLang="en-PK" sz="2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labor</a:t>
            </a: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training to address these defects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By applying Pareto analysis, the company can focus on the most critical areas, reducing defects and improving overall quality.</a:t>
            </a:r>
            <a:endParaRPr lang="en-PK" dirty="0"/>
          </a:p>
        </p:txBody>
      </p:sp>
    </p:spTree>
    <p:extLst>
      <p:ext uri="{BB962C8B-B14F-4D97-AF65-F5344CB8AC3E}">
        <p14:creationId xmlns:p14="http://schemas.microsoft.com/office/powerpoint/2010/main" val="28187784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3C19-EA42-9066-91F8-49FE7A2E25EF}"/>
              </a:ext>
            </a:extLst>
          </p:cNvPr>
          <p:cNvSpPr>
            <a:spLocks noGrp="1"/>
          </p:cNvSpPr>
          <p:nvPr>
            <p:ph type="title"/>
          </p:nvPr>
        </p:nvSpPr>
        <p:spPr>
          <a:xfrm>
            <a:off x="103239" y="1"/>
            <a:ext cx="12088761" cy="1194618"/>
          </a:xfrm>
        </p:spPr>
        <p:txBody>
          <a:bodyPr>
            <a:normAutofit fontScale="90000"/>
          </a:bodyPr>
          <a:lstStyle/>
          <a:p>
            <a:r>
              <a:rPr kumimoji="0" lang="en-PK" altLang="en-PK" sz="4800" b="1" i="0" u="none" strike="noStrike" cap="none" normalizeH="0" baseline="0" dirty="0">
                <a:ln>
                  <a:noFill/>
                </a:ln>
                <a:solidFill>
                  <a:srgbClr val="06204B"/>
                </a:solidFill>
                <a:effectLst/>
                <a:highlight>
                  <a:srgbClr val="FFFF00"/>
                </a:highlight>
                <a:latin typeface="Montserrat" panose="00000500000000000000" pitchFamily="2" charset="0"/>
                <a:cs typeface="Arial" panose="020B0604020202020204" pitchFamily="34" charset="0"/>
              </a:rPr>
              <a:t>Pareto Chart (Manufacturing Example)</a:t>
            </a:r>
            <a:endParaRPr lang="en-PK" sz="4800" b="1" dirty="0">
              <a:highlight>
                <a:srgbClr val="FFFF00"/>
              </a:highlight>
            </a:endParaRPr>
          </a:p>
        </p:txBody>
      </p:sp>
      <p:sp>
        <p:nvSpPr>
          <p:cNvPr id="3" name="Content Placeholder 2">
            <a:extLst>
              <a:ext uri="{FF2B5EF4-FFF2-40B4-BE49-F238E27FC236}">
                <a16:creationId xmlns:a16="http://schemas.microsoft.com/office/drawing/2014/main" id="{D6958180-C005-BEAA-F584-A131E302D720}"/>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3600" b="0" i="0" u="none" strike="noStrike" cap="none" normalizeH="0" baseline="0" dirty="0">
              <a:ln>
                <a:noFill/>
              </a:ln>
              <a:solidFill>
                <a:srgbClr val="06204B"/>
              </a:solidFill>
              <a:effectLst/>
              <a:latin typeface="Montserrat" panose="00000500000000000000" pitchFamily="2"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600" b="1"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The Pareto Chart is a tool used to rank the various categories/causes of a problem by charting them as bars in descending order of frequency or magnitude from left to right. It helps establish priorities by dividing the causes into the ‘vital few’ and the ‘trivial many’.</a:t>
            </a:r>
            <a:endPar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The theory behind the Pareto Chart originated in 1897 when an Italian economist named Vilfredo Pareto created a formula representing the uneven distribution of wealth - what later came to be known as the 80-20 rule.</a:t>
            </a:r>
          </a:p>
        </p:txBody>
      </p:sp>
    </p:spTree>
    <p:extLst>
      <p:ext uri="{BB962C8B-B14F-4D97-AF65-F5344CB8AC3E}">
        <p14:creationId xmlns:p14="http://schemas.microsoft.com/office/powerpoint/2010/main" val="20840167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D8507-2C6E-81ED-856F-1313483F172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AED8B0E0-D49D-B250-D124-9D446DCA5282}"/>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You have probably heard a version of it like: </a:t>
            </a:r>
            <a:r>
              <a:rPr kumimoji="0" lang="en-PK" altLang="en-PK" sz="2800" b="1"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"20% of the people cause 80% of the problems"</a:t>
            </a: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 or a derivative. Dr. J. M. </a:t>
            </a:r>
            <a:r>
              <a:rPr kumimoji="0" lang="en-PK" altLang="en-PK" sz="2800" b="0" i="0" u="none" strike="noStrike" cap="none" normalizeH="0" baseline="0" dirty="0" err="1">
                <a:ln>
                  <a:noFill/>
                </a:ln>
                <a:solidFill>
                  <a:srgbClr val="222222"/>
                </a:solidFill>
                <a:effectLst/>
                <a:latin typeface="Open Sans" panose="020B0606030504020204" pitchFamily="34" charset="0"/>
                <a:cs typeface="Open Sans" panose="020B0606030504020204" pitchFamily="34" charset="0"/>
              </a:rPr>
              <a:t>Juran</a:t>
            </a: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 started applying this principal to defect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In fact, many (most) defect distributions follow a similar pattern, with a relatively small number of issues accounting for an overwhelming share of the defects.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Following is an example of paint defects from an automotive assembly plant:</a:t>
            </a:r>
            <a:endParaRPr lang="en-PK" dirty="0"/>
          </a:p>
          <a:p>
            <a:endParaRPr lang="en-PK" dirty="0"/>
          </a:p>
        </p:txBody>
      </p:sp>
    </p:spTree>
    <p:extLst>
      <p:ext uri="{BB962C8B-B14F-4D97-AF65-F5344CB8AC3E}">
        <p14:creationId xmlns:p14="http://schemas.microsoft.com/office/powerpoint/2010/main" val="15799126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58BD-6811-D9E5-3943-1F330CC19508}"/>
              </a:ext>
            </a:extLst>
          </p:cNvPr>
          <p:cNvSpPr>
            <a:spLocks noGrp="1"/>
          </p:cNvSpPr>
          <p:nvPr>
            <p:ph type="title"/>
          </p:nvPr>
        </p:nvSpPr>
        <p:spPr/>
        <p:txBody>
          <a:bodyPr/>
          <a:lstStyle/>
          <a:p>
            <a:endParaRPr lang="en-PK"/>
          </a:p>
        </p:txBody>
      </p:sp>
      <p:pic>
        <p:nvPicPr>
          <p:cNvPr id="4" name="Content Placeholder 3" descr="Chart Showing Frequency of Refridgerator Defects">
            <a:hlinkClick r:id="rId2"/>
            <a:extLst>
              <a:ext uri="{FF2B5EF4-FFF2-40B4-BE49-F238E27FC236}">
                <a16:creationId xmlns:a16="http://schemas.microsoft.com/office/drawing/2014/main" id="{8536D45F-1E46-FDEF-DBBB-3DA9281088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80313" y="1825625"/>
            <a:ext cx="723137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9625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FB72C-AB11-7669-4224-4129A23B1E02}"/>
              </a:ext>
            </a:extLst>
          </p:cNvPr>
          <p:cNvSpPr>
            <a:spLocks noGrp="1"/>
          </p:cNvSpPr>
          <p:nvPr>
            <p:ph type="title"/>
          </p:nvPr>
        </p:nvSpPr>
        <p:spPr/>
        <p:txBody>
          <a:bodyPr/>
          <a:lstStyle/>
          <a:p>
            <a:r>
              <a:rPr kumimoji="0" lang="en-PK" altLang="en-PK" sz="4400" b="1"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Choosing the Right Pareto Chart Software</a:t>
            </a:r>
            <a:endParaRPr lang="en-PK" dirty="0"/>
          </a:p>
        </p:txBody>
      </p:sp>
      <p:sp>
        <p:nvSpPr>
          <p:cNvPr id="3" name="Content Placeholder 2">
            <a:extLst>
              <a:ext uri="{FF2B5EF4-FFF2-40B4-BE49-F238E27FC236}">
                <a16:creationId xmlns:a16="http://schemas.microsoft.com/office/drawing/2014/main" id="{BD8E7CB8-4309-6AB7-F7C9-E9091E813526}"/>
              </a:ext>
            </a:extLst>
          </p:cNvPr>
          <p:cNvSpPr>
            <a:spLocks noGrp="1"/>
          </p:cNvSpPr>
          <p:nvPr>
            <p:ph idx="1"/>
          </p:nvPr>
        </p:nvSpPr>
        <p:spPr>
          <a:xfrm>
            <a:off x="0" y="1578076"/>
            <a:ext cx="12192000" cy="5279923"/>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4000" b="1" i="0" u="none" strike="noStrike" cap="none" normalizeH="0" baseline="0" dirty="0">
              <a:ln>
                <a:noFill/>
              </a:ln>
              <a:solidFill>
                <a:srgbClr val="222222"/>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Problems inside an organization can have many causes. As a result, it’s essential to identify the issues driving the largest share of them - and the difficulties whose fixes would have the greatest impact. </a:t>
            </a:r>
            <a:r>
              <a:rPr kumimoji="0" lang="en-PK" altLang="en-PK" sz="4400" b="0" i="0" u="none" strike="noStrike" cap="none" normalizeH="0" baseline="0" dirty="0" err="1">
                <a:ln>
                  <a:noFill/>
                </a:ln>
                <a:solidFill>
                  <a:srgbClr val="1155CC"/>
                </a:solidFill>
                <a:effectLst/>
                <a:latin typeface="Open Sans" panose="020B0606030504020204" pitchFamily="34" charset="0"/>
                <a:cs typeface="Open Sans" panose="020B0606030504020204" pitchFamily="34" charset="0"/>
                <a:hlinkClick r:id="rId2"/>
              </a:rPr>
              <a:t>EngineRoom’s</a:t>
            </a:r>
            <a:r>
              <a:rPr kumimoji="0" lang="en-PK" altLang="en-PK" sz="4400" b="0" i="0" u="none" strike="noStrike" cap="none" normalizeH="0" baseline="0" dirty="0">
                <a:ln>
                  <a:noFill/>
                </a:ln>
                <a:solidFill>
                  <a:srgbClr val="1155CC"/>
                </a:solidFill>
                <a:effectLst/>
                <a:latin typeface="Open Sans" panose="020B0606030504020204" pitchFamily="34" charset="0"/>
                <a:cs typeface="Open Sans" panose="020B0606030504020204" pitchFamily="34" charset="0"/>
                <a:hlinkClick r:id="rId2"/>
              </a:rPr>
              <a:t> Pareto Chart tool</a:t>
            </a:r>
            <a:r>
              <a:rPr kumimoji="0" lang="en-PK" altLang="en-PK" sz="44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 is an efficient and effective way to turn data on problem frequency into actionable insights on what to prioritize in the next steps of the problem-solving cycle.</a:t>
            </a:r>
            <a:endParaRPr kumimoji="0" lang="en-PK" altLang="en-PK" sz="4400" b="0" i="0" u="none" strike="noStrike" cap="none" normalizeH="0" baseline="0" dirty="0">
              <a:ln>
                <a:noFill/>
              </a:ln>
              <a:solidFill>
                <a:schemeClr val="tx1"/>
              </a:solidFill>
              <a:effectLst/>
              <a:latin typeface="Arial" panose="020B0604020202020204" pitchFamily="34" charset="0"/>
            </a:endParaRPr>
          </a:p>
          <a:p>
            <a:endParaRPr lang="en-PK" dirty="0"/>
          </a:p>
        </p:txBody>
      </p:sp>
    </p:spTree>
    <p:extLst>
      <p:ext uri="{BB962C8B-B14F-4D97-AF65-F5344CB8AC3E}">
        <p14:creationId xmlns:p14="http://schemas.microsoft.com/office/powerpoint/2010/main" val="5642164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9CBC9-81D0-B639-E4A0-B9A05113278B}"/>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1807F88-17A0-7F55-225F-E93B53261C88}"/>
              </a:ext>
            </a:extLst>
          </p:cNvPr>
          <p:cNvSpPr>
            <a:spLocks noGrp="1"/>
          </p:cNvSpPr>
          <p:nvPr>
            <p:ph idx="1"/>
          </p:nvPr>
        </p:nvSpPr>
        <p:spPr>
          <a:xfrm>
            <a:off x="0" y="1825624"/>
            <a:ext cx="12192000" cy="5032375"/>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40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err="1">
                <a:ln>
                  <a:noFill/>
                </a:ln>
                <a:solidFill>
                  <a:srgbClr val="1155CC"/>
                </a:solidFill>
                <a:effectLst/>
                <a:latin typeface="Open Sans" panose="020B0606030504020204" pitchFamily="34" charset="0"/>
                <a:cs typeface="Open Sans" panose="020B0606030504020204" pitchFamily="34" charset="0"/>
                <a:hlinkClick r:id="rId2"/>
              </a:rPr>
              <a:t>EngineRoom’s</a:t>
            </a:r>
            <a:r>
              <a:rPr kumimoji="0" lang="en-PK" altLang="en-PK" sz="4000" b="0" i="0" u="none" strike="noStrike" cap="none" normalizeH="0" baseline="0" dirty="0">
                <a:ln>
                  <a:noFill/>
                </a:ln>
                <a:solidFill>
                  <a:srgbClr val="1155CC"/>
                </a:solidFill>
                <a:effectLst/>
                <a:latin typeface="Open Sans" panose="020B0606030504020204" pitchFamily="34" charset="0"/>
                <a:cs typeface="Open Sans" panose="020B0606030504020204" pitchFamily="34" charset="0"/>
                <a:hlinkClick r:id="rId2"/>
              </a:rPr>
              <a:t> Pareto Chart</a:t>
            </a:r>
            <a:r>
              <a:rPr kumimoji="0" lang="en-PK" altLang="en-PK" sz="40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 tool meets users where they are in the data-gathering process: Users can begin by inputting raw, unaggregated data or data already grouped into categories, along with the frequency at which a problem occurs. From there, they can add or remove critical variables like problem frequency or cost to correct through a user-friendly “drop zone.”</a:t>
            </a:r>
          </a:p>
        </p:txBody>
      </p:sp>
    </p:spTree>
    <p:extLst>
      <p:ext uri="{BB962C8B-B14F-4D97-AF65-F5344CB8AC3E}">
        <p14:creationId xmlns:p14="http://schemas.microsoft.com/office/powerpoint/2010/main" val="36781163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74305-EECD-7BEA-0EED-BF6E60FFC167}"/>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7D7BDE5-9DA8-95D7-C007-75A57855D6A9}"/>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400" b="0" i="0" u="none" strike="noStrike" cap="none" normalizeH="0" baseline="0" dirty="0" err="1">
                <a:ln>
                  <a:noFill/>
                </a:ln>
                <a:solidFill>
                  <a:srgbClr val="222222"/>
                </a:solidFill>
                <a:effectLst/>
                <a:latin typeface="Open Sans" panose="020B0606030504020204" pitchFamily="34" charset="0"/>
                <a:cs typeface="Open Sans" panose="020B0606030504020204" pitchFamily="34" charset="0"/>
              </a:rPr>
              <a:t>EngineRoom</a:t>
            </a:r>
            <a:r>
              <a:rPr kumimoji="0" lang="en-PK" altLang="en-PK" sz="44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 also allows users to customize the Pareto Chart by toggling a cumulative frequency line or allowing the tool to automatically group data after counting a certain percentage of observations. </a:t>
            </a:r>
            <a:endParaRPr lang="en-PK" sz="4400" dirty="0"/>
          </a:p>
        </p:txBody>
      </p:sp>
    </p:spTree>
    <p:extLst>
      <p:ext uri="{BB962C8B-B14F-4D97-AF65-F5344CB8AC3E}">
        <p14:creationId xmlns:p14="http://schemas.microsoft.com/office/powerpoint/2010/main" val="42791067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3A09D-3E62-015D-9754-91D289EEDE9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DACCD2D-05F9-2AE7-D125-B7CA63EF1CAA}"/>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4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Ultimately, this quick process produces a results chart that will enable users to pinpoint high-value targets for future fixes. With </a:t>
            </a:r>
            <a:r>
              <a:rPr kumimoji="0" lang="en-PK" altLang="en-PK" sz="4400" b="0" i="0" u="none" strike="noStrike" cap="none" normalizeH="0" baseline="0" dirty="0" err="1">
                <a:ln>
                  <a:noFill/>
                </a:ln>
                <a:solidFill>
                  <a:srgbClr val="222222"/>
                </a:solidFill>
                <a:effectLst/>
                <a:latin typeface="Open Sans" panose="020B0606030504020204" pitchFamily="34" charset="0"/>
                <a:cs typeface="Open Sans" panose="020B0606030504020204" pitchFamily="34" charset="0"/>
              </a:rPr>
              <a:t>EngineRoom’s</a:t>
            </a:r>
            <a:r>
              <a:rPr kumimoji="0" lang="en-PK" altLang="en-PK" sz="44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 Pareto Chart tool, the leap from raw data to clarity on the next steps is quick and simple.</a:t>
            </a:r>
            <a:endParaRPr kumimoji="0" lang="en-PK" altLang="en-PK" sz="4000" b="1" i="0" u="none" strike="noStrike" cap="none" normalizeH="0" baseline="0" dirty="0">
              <a:ln>
                <a:noFill/>
              </a:ln>
              <a:solidFill>
                <a:srgbClr val="222222"/>
              </a:solidFill>
              <a:effectLst/>
              <a:latin typeface="Open Sans" panose="020B0606030504020204" pitchFamily="34" charset="0"/>
              <a:cs typeface="Open Sans" panose="020B0606030504020204" pitchFamily="34" charset="0"/>
            </a:endParaRPr>
          </a:p>
          <a:p>
            <a:endParaRPr lang="en-PK" sz="4400" dirty="0"/>
          </a:p>
          <a:p>
            <a:endParaRPr lang="en-PK" sz="4400" dirty="0"/>
          </a:p>
        </p:txBody>
      </p:sp>
    </p:spTree>
    <p:extLst>
      <p:ext uri="{BB962C8B-B14F-4D97-AF65-F5344CB8AC3E}">
        <p14:creationId xmlns:p14="http://schemas.microsoft.com/office/powerpoint/2010/main" val="21046593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7281-B570-6B8B-F1BC-72710D54E1C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C1FB55F-869B-68A0-6C19-214C02D0C45E}"/>
              </a:ext>
            </a:extLst>
          </p:cNvPr>
          <p:cNvSpPr>
            <a:spLocks noGrp="1"/>
          </p:cNvSpPr>
          <p:nvPr>
            <p:ph idx="1"/>
          </p:nvPr>
        </p:nvSpPr>
        <p:spPr>
          <a:xfrm>
            <a:off x="-1" y="1825625"/>
            <a:ext cx="12192001" cy="5135614"/>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5400" b="1"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4000" b="0" i="0" u="none" strike="noStrike" cap="none" normalizeH="0" baseline="0" dirty="0">
                <a:ln>
                  <a:noFill/>
                </a:ln>
                <a:solidFill>
                  <a:srgbClr val="222222"/>
                </a:solidFill>
                <a:effectLst/>
                <a:latin typeface="Open Sans" panose="020B0606030504020204" pitchFamily="34" charset="0"/>
                <a:cs typeface="Open Sans" panose="020B0606030504020204" pitchFamily="34" charset="0"/>
              </a:rPr>
              <a:t>The Pareto Chart is a simple to use and powerful graphic to identify where the majority of problems in a process are originating. Using a Pareto Chart early in problem solving is an effective strategy to decrease project complexity.</a:t>
            </a:r>
            <a:endParaRPr kumimoji="0" lang="en-PK" altLang="en-PK" sz="6000" b="0" i="0" u="none" strike="noStrike" cap="none" normalizeH="0" baseline="0" dirty="0">
              <a:ln>
                <a:noFill/>
              </a:ln>
              <a:solidFill>
                <a:schemeClr val="tx1"/>
              </a:solidFill>
              <a:effectLst/>
              <a:latin typeface="Arial" panose="020B0604020202020204" pitchFamily="34" charset="0"/>
            </a:endParaRPr>
          </a:p>
          <a:p>
            <a:endParaRPr lang="en-PK" dirty="0"/>
          </a:p>
        </p:txBody>
      </p:sp>
    </p:spTree>
    <p:extLst>
      <p:ext uri="{BB962C8B-B14F-4D97-AF65-F5344CB8AC3E}">
        <p14:creationId xmlns:p14="http://schemas.microsoft.com/office/powerpoint/2010/main" val="2793288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A410-0394-A171-87F4-7772E2A9B963}"/>
              </a:ext>
            </a:extLst>
          </p:cNvPr>
          <p:cNvSpPr>
            <a:spLocks noGrp="1"/>
          </p:cNvSpPr>
          <p:nvPr>
            <p:ph type="title"/>
          </p:nvPr>
        </p:nvSpPr>
        <p:spPr>
          <a:xfrm>
            <a:off x="0" y="1"/>
            <a:ext cx="12192000" cy="1690688"/>
          </a:xfrm>
        </p:spPr>
        <p:txBody>
          <a:bodyPr>
            <a:normAutofit/>
          </a:bodyPr>
          <a:lstStyle/>
          <a:p>
            <a:pPr algn="ctr"/>
            <a:r>
              <a:rPr lang="en-US" sz="6600" b="1" dirty="0">
                <a:highlight>
                  <a:srgbClr val="FFFF00"/>
                </a:highlight>
              </a:rPr>
              <a:t>Quantitative Process Analysis Tools</a:t>
            </a:r>
            <a:endParaRPr lang="en-PK" sz="6600" b="1" dirty="0">
              <a:highlight>
                <a:srgbClr val="FFFF00"/>
              </a:highlight>
            </a:endParaRPr>
          </a:p>
        </p:txBody>
      </p:sp>
      <p:sp>
        <p:nvSpPr>
          <p:cNvPr id="3" name="Content Placeholder 2">
            <a:extLst>
              <a:ext uri="{FF2B5EF4-FFF2-40B4-BE49-F238E27FC236}">
                <a16:creationId xmlns:a16="http://schemas.microsoft.com/office/drawing/2014/main" id="{DFFD8105-DE18-DA47-DD9A-B02AE463F425}"/>
              </a:ext>
            </a:extLst>
          </p:cNvPr>
          <p:cNvSpPr>
            <a:spLocks noGrp="1"/>
          </p:cNvSpPr>
          <p:nvPr>
            <p:ph idx="1"/>
          </p:nvPr>
        </p:nvSpPr>
        <p:spPr>
          <a:xfrm>
            <a:off x="0" y="1397000"/>
            <a:ext cx="12192000" cy="5460999"/>
          </a:xfrm>
        </p:spPr>
        <p:txBody>
          <a:bodyPr>
            <a:normAutofit fontScale="55000" lnSpcReduction="20000"/>
          </a:bodyPr>
          <a:lstStyle/>
          <a:p>
            <a:endParaRPr lang="en-US" sz="8600" dirty="0"/>
          </a:p>
          <a:p>
            <a:r>
              <a:rPr lang="en-US" sz="8600" dirty="0"/>
              <a:t>- Tools for measuring process performance:</a:t>
            </a:r>
          </a:p>
          <a:p>
            <a:pPr marL="0" indent="0">
              <a:buNone/>
            </a:pPr>
            <a:r>
              <a:rPr lang="en-US" sz="8600" dirty="0"/>
              <a:t>   - Statistical Process Control (SPC)</a:t>
            </a:r>
          </a:p>
          <a:p>
            <a:pPr marL="0" indent="0">
              <a:buNone/>
            </a:pPr>
            <a:r>
              <a:rPr lang="en-US" sz="8600" dirty="0"/>
              <a:t>    - Regression Analysis</a:t>
            </a:r>
          </a:p>
          <a:p>
            <a:pPr marL="0" indent="0">
              <a:buNone/>
            </a:pPr>
            <a:r>
              <a:rPr lang="en-US" sz="8600" dirty="0"/>
              <a:t>    - Simulation Modeling</a:t>
            </a:r>
          </a:p>
          <a:p>
            <a:pPr marL="0" indent="0">
              <a:buNone/>
            </a:pPr>
            <a:r>
              <a:rPr lang="en-US" sz="8600" dirty="0"/>
              <a:t>    - Benchmarking</a:t>
            </a:r>
          </a:p>
          <a:p>
            <a:pPr marL="0" indent="0">
              <a:buNone/>
            </a:pPr>
            <a:br>
              <a:rPr lang="en-US" sz="4800" dirty="0"/>
            </a:br>
            <a:endParaRPr lang="en-PK" sz="4800" dirty="0"/>
          </a:p>
        </p:txBody>
      </p:sp>
    </p:spTree>
    <p:extLst>
      <p:ext uri="{BB962C8B-B14F-4D97-AF65-F5344CB8AC3E}">
        <p14:creationId xmlns:p14="http://schemas.microsoft.com/office/powerpoint/2010/main" val="23341773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904AF-E147-4E7A-5993-C1436E392424}"/>
              </a:ext>
            </a:extLst>
          </p:cNvPr>
          <p:cNvSpPr>
            <a:spLocks noGrp="1"/>
          </p:cNvSpPr>
          <p:nvPr>
            <p:ph type="title"/>
          </p:nvPr>
        </p:nvSpPr>
        <p:spPr>
          <a:xfrm>
            <a:off x="838200" y="1"/>
            <a:ext cx="10515600" cy="990599"/>
          </a:xfrm>
        </p:spPr>
        <p:txBody>
          <a:bodyPr>
            <a:normAutofit/>
          </a:bodyPr>
          <a:lstStyle/>
          <a:p>
            <a:pPr algn="ctr"/>
            <a:r>
              <a:rPr lang="en-US" sz="6000" b="1" dirty="0">
                <a:highlight>
                  <a:srgbClr val="FFFF00"/>
                </a:highlight>
              </a:rPr>
              <a:t>Statistical Process Control (SPC)</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2DC0E10-82A6-42C1-4B04-7600A4367EB9}"/>
              </a:ext>
            </a:extLst>
          </p:cNvPr>
          <p:cNvSpPr>
            <a:spLocks noGrp="1"/>
          </p:cNvSpPr>
          <p:nvPr>
            <p:ph idx="1"/>
          </p:nvPr>
        </p:nvSpPr>
        <p:spPr>
          <a:xfrm>
            <a:off x="0" y="990600"/>
            <a:ext cx="12192000" cy="5867399"/>
          </a:xfrm>
        </p:spPr>
        <p:txBody>
          <a:bodyPr>
            <a:normAutofit fontScale="92500" lnSpcReduction="20000"/>
          </a:bodyPr>
          <a:lstStyle/>
          <a:p>
            <a:endParaRPr lang="en-US" sz="5200" dirty="0"/>
          </a:p>
          <a:p>
            <a:pPr marL="0" indent="0">
              <a:buNone/>
            </a:pPr>
            <a:r>
              <a:rPr lang="en-US" sz="5200" dirty="0"/>
              <a:t>Definition: Method for monitoring and controlling process variability</a:t>
            </a:r>
          </a:p>
          <a:p>
            <a:r>
              <a:rPr lang="en-US" sz="5200" dirty="0"/>
              <a:t>- Steps:</a:t>
            </a:r>
          </a:p>
          <a:p>
            <a:pPr marL="0" indent="0">
              <a:buNone/>
            </a:pPr>
            <a:r>
              <a:rPr lang="en-US" sz="5200" dirty="0"/>
              <a:t>    1. Establish control limits</a:t>
            </a:r>
          </a:p>
          <a:p>
            <a:pPr marL="0" indent="0">
              <a:buNone/>
            </a:pPr>
            <a:r>
              <a:rPr lang="en-US" sz="5200" dirty="0"/>
              <a:t>    2. Collect data</a:t>
            </a:r>
          </a:p>
          <a:p>
            <a:pPr marL="0" indent="0">
              <a:buNone/>
            </a:pPr>
            <a:r>
              <a:rPr lang="en-US" sz="5200" dirty="0"/>
              <a:t>    3. Plot data on control charts</a:t>
            </a:r>
          </a:p>
          <a:p>
            <a:pPr marL="0" indent="0">
              <a:buNone/>
            </a:pPr>
            <a:r>
              <a:rPr lang="en-US" sz="5200" dirty="0"/>
              <a:t>    4. Take corrective action when necessary</a:t>
            </a:r>
          </a:p>
          <a:p>
            <a:pPr marL="0" indent="0">
              <a:buNone/>
            </a:pPr>
            <a:br>
              <a:rPr lang="en-US" dirty="0"/>
            </a:br>
            <a:endParaRPr lang="en-PK" dirty="0"/>
          </a:p>
        </p:txBody>
      </p:sp>
    </p:spTree>
    <p:extLst>
      <p:ext uri="{BB962C8B-B14F-4D97-AF65-F5344CB8AC3E}">
        <p14:creationId xmlns:p14="http://schemas.microsoft.com/office/powerpoint/2010/main" val="7940302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84061-243F-C440-678D-5C39022C1E8E}"/>
              </a:ext>
            </a:extLst>
          </p:cNvPr>
          <p:cNvSpPr>
            <a:spLocks noGrp="1"/>
          </p:cNvSpPr>
          <p:nvPr>
            <p:ph type="title"/>
          </p:nvPr>
        </p:nvSpPr>
        <p:spPr/>
        <p:txBody>
          <a:bodyPr/>
          <a:lstStyle/>
          <a:p>
            <a:pPr algn="ctr"/>
            <a:r>
              <a:rPr lang="en-US" sz="4400" b="1" dirty="0">
                <a:highlight>
                  <a:srgbClr val="FFFF00"/>
                </a:highlight>
              </a:rPr>
              <a:t>Statistical Process Control (SPC)(</a:t>
            </a:r>
            <a:r>
              <a:rPr lang="en-US" b="1" dirty="0" err="1">
                <a:highlight>
                  <a:srgbClr val="FFFF00"/>
                </a:highlight>
              </a:rPr>
              <a:t>Cont</a:t>
            </a:r>
            <a:r>
              <a:rPr lang="en-US" sz="4400" b="1" dirty="0">
                <a:highlight>
                  <a:srgbClr val="FFFF00"/>
                </a:highlight>
              </a:rPr>
              <a:t>)</a:t>
            </a:r>
            <a:endParaRPr lang="en-PK" dirty="0"/>
          </a:p>
        </p:txBody>
      </p:sp>
      <p:sp>
        <p:nvSpPr>
          <p:cNvPr id="3" name="Content Placeholder 2">
            <a:extLst>
              <a:ext uri="{FF2B5EF4-FFF2-40B4-BE49-F238E27FC236}">
                <a16:creationId xmlns:a16="http://schemas.microsoft.com/office/drawing/2014/main" id="{38AB6F0F-525B-B2E1-F6B6-5F5DEC882A62}"/>
              </a:ext>
            </a:extLst>
          </p:cNvPr>
          <p:cNvSpPr>
            <a:spLocks noGrp="1"/>
          </p:cNvSpPr>
          <p:nvPr>
            <p:ph idx="1"/>
          </p:nvPr>
        </p:nvSpPr>
        <p:spPr/>
        <p:txBody>
          <a:bodyPr>
            <a:normAutofit/>
          </a:bodyPr>
          <a:lstStyle/>
          <a:p>
            <a:r>
              <a:rPr lang="en-US" sz="4800" b="0" i="0" dirty="0">
                <a:solidFill>
                  <a:srgbClr val="222222"/>
                </a:solidFill>
                <a:effectLst/>
                <a:latin typeface="ui-sans-serif"/>
              </a:rPr>
              <a:t>Certainly! Statistical Process Control (SPC) involves using statistical methods to monitor and control a process to ensure it operates at its full potential. Here's a pictorial explanation of SPC:</a:t>
            </a:r>
            <a:endParaRPr lang="en-PK" sz="4800" dirty="0"/>
          </a:p>
        </p:txBody>
      </p:sp>
    </p:spTree>
    <p:extLst>
      <p:ext uri="{BB962C8B-B14F-4D97-AF65-F5344CB8AC3E}">
        <p14:creationId xmlns:p14="http://schemas.microsoft.com/office/powerpoint/2010/main" val="29509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02E81-3388-F287-2299-01C7ECD83197}"/>
              </a:ext>
            </a:extLst>
          </p:cNvPr>
          <p:cNvSpPr>
            <a:spLocks noGrp="1"/>
          </p:cNvSpPr>
          <p:nvPr>
            <p:ph type="title"/>
          </p:nvPr>
        </p:nvSpPr>
        <p:spPr>
          <a:xfrm>
            <a:off x="0" y="1"/>
            <a:ext cx="12192000" cy="1203959"/>
          </a:xfrm>
        </p:spPr>
        <p:txBody>
          <a:bodyPr/>
          <a:lstStyle/>
          <a:p>
            <a:pPr algn="ctr"/>
            <a:r>
              <a:rPr lang="en-US" sz="4400" b="1" dirty="0">
                <a:highlight>
                  <a:srgbClr val="FFFF00"/>
                </a:highlight>
              </a:rPr>
              <a:t>Statistical Process Control (SPC)(</a:t>
            </a:r>
            <a:r>
              <a:rPr lang="en-US" b="1" dirty="0" err="1">
                <a:highlight>
                  <a:srgbClr val="FFFF00"/>
                </a:highlight>
              </a:rPr>
              <a:t>Cont</a:t>
            </a:r>
            <a:r>
              <a:rPr lang="en-US" sz="4400" b="1" dirty="0">
                <a:highlight>
                  <a:srgbClr val="FFFF00"/>
                </a:highlight>
              </a:rPr>
              <a:t>)</a:t>
            </a:r>
            <a:endParaRPr lang="en-PK" dirty="0"/>
          </a:p>
        </p:txBody>
      </p:sp>
      <p:sp>
        <p:nvSpPr>
          <p:cNvPr id="4" name="Rectangle 1">
            <a:extLst>
              <a:ext uri="{FF2B5EF4-FFF2-40B4-BE49-F238E27FC236}">
                <a16:creationId xmlns:a16="http://schemas.microsoft.com/office/drawing/2014/main" id="{FDDBAC83-4252-6195-BF67-29C0D6E7389A}"/>
              </a:ext>
            </a:extLst>
          </p:cNvPr>
          <p:cNvSpPr>
            <a:spLocks noGrp="1" noChangeArrowheads="1"/>
          </p:cNvSpPr>
          <p:nvPr>
            <p:ph idx="1"/>
          </p:nvPr>
        </p:nvSpPr>
        <p:spPr bwMode="auto">
          <a:xfrm>
            <a:off x="304800" y="-615337"/>
            <a:ext cx="23422551" cy="92332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5400" b="1" i="0" u="none" strike="noStrike" cap="none" normalizeH="0" baseline="0" dirty="0">
              <a:ln>
                <a:noFill/>
              </a:ln>
              <a:solidFill>
                <a:srgbClr val="222222"/>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PK" sz="5400" b="1" dirty="0">
              <a:solidFill>
                <a:srgbClr val="222222"/>
              </a:solidFill>
              <a:latin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5400" b="1" i="0" u="none" strike="noStrike" cap="none" normalizeH="0" baseline="0" dirty="0">
              <a:ln>
                <a:noFill/>
              </a:ln>
              <a:solidFill>
                <a:srgbClr val="222222"/>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5400" b="1" i="0" u="none" strike="noStrike" cap="none" normalizeH="0" baseline="0" dirty="0">
                <a:ln>
                  <a:noFill/>
                </a:ln>
                <a:solidFill>
                  <a:srgbClr val="222222"/>
                </a:solidFill>
                <a:effectLst/>
                <a:latin typeface="ui-sans-serif"/>
              </a:rPr>
              <a:t>Process Flow Diagram</a:t>
            </a:r>
            <a:r>
              <a:rPr kumimoji="0" lang="en-PK" altLang="en-PK" sz="5400" b="0" i="0" u="none" strike="noStrike" cap="none" normalizeH="0" baseline="0" dirty="0">
                <a:ln>
                  <a:noFill/>
                </a:ln>
                <a:solidFill>
                  <a:srgbClr val="222222"/>
                </a:solidFill>
                <a:effectLst/>
                <a:latin typeface="ui-sans-serif"/>
              </a:rPr>
              <a:t>:</a:t>
            </a:r>
            <a:endParaRPr kumimoji="0" lang="en-PK" altLang="en-PK" sz="4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5400" b="1" i="0" u="none" strike="noStrike" cap="none" normalizeH="0" baseline="0" dirty="0">
                <a:ln>
                  <a:noFill/>
                </a:ln>
                <a:solidFill>
                  <a:srgbClr val="222222"/>
                </a:solidFill>
                <a:effectLst/>
                <a:latin typeface="ui-sans-serif"/>
              </a:rPr>
              <a:t>Input</a:t>
            </a:r>
            <a:r>
              <a:rPr kumimoji="0" lang="en-PK" altLang="en-PK" sz="5400" b="0" i="0" u="none" strike="noStrike" cap="none" normalizeH="0" baseline="0" dirty="0">
                <a:ln>
                  <a:noFill/>
                </a:ln>
                <a:solidFill>
                  <a:srgbClr val="222222"/>
                </a:solidFill>
                <a:effectLst/>
                <a:latin typeface="ui-sans-serif"/>
              </a:rPr>
              <a:t>: Raw materials or initial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5400" b="1" i="0" u="none" strike="noStrike" cap="none" normalizeH="0" baseline="0" dirty="0">
                <a:ln>
                  <a:noFill/>
                </a:ln>
                <a:solidFill>
                  <a:srgbClr val="222222"/>
                </a:solidFill>
                <a:effectLst/>
                <a:latin typeface="ui-sans-serif"/>
              </a:rPr>
              <a:t>Process</a:t>
            </a:r>
            <a:r>
              <a:rPr kumimoji="0" lang="en-PK" altLang="en-PK" sz="5400" b="0" i="0" u="none" strike="noStrike" cap="none" normalizeH="0" baseline="0" dirty="0">
                <a:ln>
                  <a:noFill/>
                </a:ln>
                <a:solidFill>
                  <a:srgbClr val="222222"/>
                </a:solidFill>
                <a:effectLst/>
                <a:latin typeface="ui-sans-serif"/>
              </a:rPr>
              <a:t>: The transformation or operation </a:t>
            </a:r>
            <a:endParaRPr kumimoji="0" lang="en-US" altLang="en-PK" sz="5400" b="0" i="0" u="none" strike="noStrike" cap="none" normalizeH="0" baseline="0" dirty="0">
              <a:ln>
                <a:noFill/>
              </a:ln>
              <a:solidFill>
                <a:srgbClr val="222222"/>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None/>
              <a:tabLst/>
            </a:pPr>
            <a:r>
              <a:rPr kumimoji="0" lang="en-PK" altLang="en-PK" sz="5400" b="0" i="0" u="none" strike="noStrike" cap="none" normalizeH="0" baseline="0" dirty="0">
                <a:ln>
                  <a:noFill/>
                </a:ln>
                <a:solidFill>
                  <a:srgbClr val="222222"/>
                </a:solidFill>
                <a:effectLst/>
                <a:latin typeface="ui-sans-serif"/>
              </a:rPr>
              <a:t>(e.g., manufacturing, service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5400" b="1" i="0" u="none" strike="noStrike" cap="none" normalizeH="0" baseline="0" dirty="0">
                <a:ln>
                  <a:noFill/>
                </a:ln>
                <a:solidFill>
                  <a:srgbClr val="222222"/>
                </a:solidFill>
                <a:effectLst/>
                <a:latin typeface="ui-sans-serif"/>
              </a:rPr>
              <a:t>Output</a:t>
            </a:r>
            <a:r>
              <a:rPr kumimoji="0" lang="en-PK" altLang="en-PK" sz="5400" b="0" i="0" u="none" strike="noStrike" cap="none" normalizeH="0" baseline="0" dirty="0">
                <a:ln>
                  <a:noFill/>
                </a:ln>
                <a:solidFill>
                  <a:srgbClr val="222222"/>
                </a:solidFill>
                <a:effectLst/>
                <a:latin typeface="ui-sans-serif"/>
              </a:rPr>
              <a:t>: Final product or outcome.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9600" b="0" i="0" u="none" strike="noStrike" cap="none" normalizeH="0" baseline="0" dirty="0">
                <a:ln>
                  <a:noFill/>
                </a:ln>
                <a:solidFill>
                  <a:srgbClr val="222222"/>
                </a:solidFill>
                <a:effectLst/>
                <a:latin typeface="ui-monospace"/>
              </a:rPr>
            </a:br>
            <a:endParaRPr kumimoji="0" lang="en-PK" altLang="en-PK" sz="7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88743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63C0F-6684-96EB-B9D2-5B8FDA5111BA}"/>
              </a:ext>
            </a:extLst>
          </p:cNvPr>
          <p:cNvSpPr>
            <a:spLocks noGrp="1"/>
          </p:cNvSpPr>
          <p:nvPr>
            <p:ph type="title"/>
          </p:nvPr>
        </p:nvSpPr>
        <p:spPr/>
        <p:txBody>
          <a:bodyPr/>
          <a:lstStyle/>
          <a:p>
            <a:pPr algn="ctr"/>
            <a:r>
              <a:rPr lang="en-US" sz="4400" b="1" dirty="0">
                <a:highlight>
                  <a:srgbClr val="FFFF00"/>
                </a:highlight>
              </a:rPr>
              <a:t>Statistical Process Control (SPC)(</a:t>
            </a:r>
            <a:r>
              <a:rPr lang="en-US" b="1" dirty="0" err="1">
                <a:highlight>
                  <a:srgbClr val="FFFF00"/>
                </a:highlight>
              </a:rPr>
              <a:t>Cont</a:t>
            </a:r>
            <a:r>
              <a:rPr lang="en-US" sz="4400" b="1">
                <a:highlight>
                  <a:srgbClr val="FFFF00"/>
                </a:highlight>
              </a:rPr>
              <a:t>)</a:t>
            </a:r>
            <a:endParaRPr lang="en-PK"/>
          </a:p>
        </p:txBody>
      </p:sp>
      <p:sp>
        <p:nvSpPr>
          <p:cNvPr id="4" name="Rectangle 2">
            <a:extLst>
              <a:ext uri="{FF2B5EF4-FFF2-40B4-BE49-F238E27FC236}">
                <a16:creationId xmlns:a16="http://schemas.microsoft.com/office/drawing/2014/main" id="{AFB0B989-B20C-D700-7FE0-FB00B6A95271}"/>
              </a:ext>
            </a:extLst>
          </p:cNvPr>
          <p:cNvSpPr>
            <a:spLocks noGrp="1" noChangeArrowheads="1"/>
          </p:cNvSpPr>
          <p:nvPr>
            <p:ph idx="1"/>
          </p:nvPr>
        </p:nvSpPr>
        <p:spPr bwMode="auto">
          <a:xfrm>
            <a:off x="0" y="1278947"/>
            <a:ext cx="12192000" cy="54447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1902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7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PK" altLang="en-PK" sz="4000" b="0" i="0" u="none" strike="noStrike" cap="none" normalizeH="0" baseline="0" dirty="0">
                <a:ln>
                  <a:noFill/>
                </a:ln>
                <a:solidFill>
                  <a:srgbClr val="DF3079"/>
                </a:solidFill>
                <a:effectLst/>
                <a:latin typeface="inherit"/>
              </a:rPr>
              <a:t>[Input]</a:t>
            </a:r>
            <a:r>
              <a:rPr kumimoji="0" lang="en-PK" altLang="en-PK" sz="4000" b="0" i="0" u="none" strike="noStrike" cap="none" normalizeH="0" baseline="0" dirty="0">
                <a:ln>
                  <a:noFill/>
                </a:ln>
                <a:solidFill>
                  <a:srgbClr val="FFFFFF"/>
                </a:solidFill>
                <a:effectLst/>
                <a:latin typeface="inherit"/>
              </a:rPr>
              <a:t> --&gt; </a:t>
            </a:r>
            <a:r>
              <a:rPr kumimoji="0" lang="en-PK" altLang="en-PK" sz="4000" b="0" i="0" u="none" strike="noStrike" cap="none" normalizeH="0" baseline="0" dirty="0">
                <a:ln>
                  <a:noFill/>
                </a:ln>
                <a:solidFill>
                  <a:srgbClr val="DF3079"/>
                </a:solidFill>
                <a:effectLst/>
                <a:latin typeface="inherit"/>
              </a:rPr>
              <a:t>[Process]</a:t>
            </a:r>
            <a:r>
              <a:rPr kumimoji="0" lang="en-PK" altLang="en-PK" sz="4000" b="0" i="0" u="none" strike="noStrike" cap="none" normalizeH="0" baseline="0" dirty="0">
                <a:ln>
                  <a:noFill/>
                </a:ln>
                <a:solidFill>
                  <a:srgbClr val="FFFFFF"/>
                </a:solidFill>
                <a:effectLst/>
                <a:latin typeface="inherit"/>
              </a:rPr>
              <a:t> --&gt; </a:t>
            </a:r>
            <a:r>
              <a:rPr kumimoji="0" lang="en-PK" altLang="en-PK" sz="4000" b="0" i="0" u="none" strike="noStrike" cap="none" normalizeH="0" baseline="0" dirty="0">
                <a:ln>
                  <a:noFill/>
                </a:ln>
                <a:solidFill>
                  <a:srgbClr val="DF3079"/>
                </a:solidFill>
                <a:effectLst/>
                <a:latin typeface="inherit"/>
              </a:rPr>
              <a:t>[Output]</a:t>
            </a:r>
            <a:endParaRPr kumimoji="0" lang="en-PK" altLang="en-PK" sz="5400" b="0" i="0" u="none" strike="noStrike" cap="none" normalizeH="0" baseline="0" dirty="0">
              <a:ln>
                <a:noFill/>
              </a:ln>
              <a:solidFill>
                <a:srgbClr val="222222"/>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PK" altLang="en-PK" sz="5400" b="1" i="0" u="none" strike="noStrike" cap="none" normalizeH="0" baseline="0" dirty="0">
                <a:ln>
                  <a:noFill/>
                </a:ln>
                <a:solidFill>
                  <a:srgbClr val="222222"/>
                </a:solidFill>
                <a:effectLst/>
                <a:latin typeface="ui-sans-serif"/>
              </a:rPr>
              <a:t>Control Charts</a:t>
            </a:r>
            <a:r>
              <a:rPr kumimoji="0" lang="en-PK" altLang="en-PK" sz="5400" b="0" i="0" u="none" strike="noStrike" cap="none" normalizeH="0" baseline="0" dirty="0">
                <a:ln>
                  <a:noFill/>
                </a:ln>
                <a:solidFill>
                  <a:srgbClr val="222222"/>
                </a:solidFill>
                <a:effectLst/>
                <a:latin typeface="ui-sans-serif"/>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PK" altLang="en-PK" sz="5400" b="1" i="0" u="none" strike="noStrike" cap="none" normalizeH="0" baseline="0" dirty="0">
                <a:ln>
                  <a:noFill/>
                </a:ln>
                <a:solidFill>
                  <a:srgbClr val="222222"/>
                </a:solidFill>
                <a:effectLst/>
                <a:latin typeface="ui-sans-serif"/>
              </a:rPr>
              <a:t>Purpose</a:t>
            </a:r>
            <a:r>
              <a:rPr kumimoji="0" lang="en-PK" altLang="en-PK" sz="5400" b="0" i="0" u="none" strike="noStrike" cap="none" normalizeH="0" baseline="0" dirty="0">
                <a:ln>
                  <a:noFill/>
                </a:ln>
                <a:solidFill>
                  <a:srgbClr val="222222"/>
                </a:solidFill>
                <a:effectLst/>
                <a:latin typeface="ui-sans-serif"/>
              </a:rPr>
              <a:t>: To track process performance over time and identify any variations.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7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3558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A3443-9C6E-891B-D239-883DE21A155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1E7A297-08EC-3D72-FF3C-D74761FF5C37}"/>
              </a:ext>
            </a:extLst>
          </p:cNvPr>
          <p:cNvSpPr>
            <a:spLocks noGrp="1"/>
          </p:cNvSpPr>
          <p:nvPr>
            <p:ph idx="1"/>
          </p:nvPr>
        </p:nvSpPr>
        <p:spPr>
          <a:xfrm>
            <a:off x="0" y="1825624"/>
            <a:ext cx="12192000" cy="5032375"/>
          </a:xfrm>
        </p:spPr>
        <p:txBody>
          <a:bodyPr>
            <a:normAutofit/>
          </a:bodyPr>
          <a:lstStyle/>
          <a:p>
            <a:pPr algn="l" rtl="0"/>
            <a:r>
              <a:rPr lang="en-US" sz="3200" b="1" i="0" dirty="0">
                <a:solidFill>
                  <a:srgbClr val="222222"/>
                </a:solidFill>
                <a:effectLst/>
                <a:latin typeface="ui-sans-serif"/>
              </a:rPr>
              <a:t>Control Charts</a:t>
            </a:r>
            <a:r>
              <a:rPr lang="en-US" sz="3200" b="0" i="0" dirty="0">
                <a:solidFill>
                  <a:srgbClr val="222222"/>
                </a:solidFill>
                <a:effectLst/>
                <a:latin typeface="ui-sans-serif"/>
              </a:rPr>
              <a:t>:</a:t>
            </a:r>
          </a:p>
          <a:p>
            <a:pPr algn="l" rtl="0">
              <a:buFont typeface="Arial" panose="020B0604020202020204" pitchFamily="34" charset="0"/>
              <a:buChar char="•"/>
            </a:pPr>
            <a:r>
              <a:rPr lang="en-US" sz="3200" b="1" i="0" dirty="0">
                <a:solidFill>
                  <a:srgbClr val="222222"/>
                </a:solidFill>
                <a:effectLst/>
                <a:latin typeface="ui-sans-serif"/>
              </a:rPr>
              <a:t>Purpose</a:t>
            </a:r>
            <a:r>
              <a:rPr lang="en-US" sz="3200" b="0" i="0" dirty="0">
                <a:solidFill>
                  <a:srgbClr val="222222"/>
                </a:solidFill>
                <a:effectLst/>
                <a:latin typeface="ui-sans-serif"/>
              </a:rPr>
              <a:t>: To track process performance over time and identify any variations.</a:t>
            </a:r>
          </a:p>
          <a:p>
            <a:pPr algn="l" rtl="0">
              <a:buFont typeface="Arial" panose="020B0604020202020204" pitchFamily="34" charset="0"/>
              <a:buChar char="•"/>
            </a:pPr>
            <a:r>
              <a:rPr lang="en-US" sz="3200" b="1" i="0" dirty="0">
                <a:solidFill>
                  <a:srgbClr val="222222"/>
                </a:solidFill>
                <a:effectLst/>
                <a:latin typeface="ui-sans-serif"/>
              </a:rPr>
              <a:t>Components</a:t>
            </a:r>
            <a:r>
              <a:rPr lang="en-US" sz="3200" b="0" i="0" dirty="0">
                <a:solidFill>
                  <a:srgbClr val="222222"/>
                </a:solidFill>
                <a:effectLst/>
                <a:latin typeface="ui-sans-serif"/>
              </a:rPr>
              <a:t>:</a:t>
            </a:r>
          </a:p>
          <a:p>
            <a:pPr marL="742950" lvl="1" indent="-285750" algn="l" rtl="0">
              <a:buFont typeface="Arial" panose="020B0604020202020204" pitchFamily="34" charset="0"/>
              <a:buChar char="•"/>
            </a:pPr>
            <a:r>
              <a:rPr lang="en-US" sz="2800" b="1" i="0" dirty="0">
                <a:solidFill>
                  <a:srgbClr val="222222"/>
                </a:solidFill>
                <a:effectLst/>
                <a:latin typeface="ui-sans-serif"/>
              </a:rPr>
              <a:t>Center Line</a:t>
            </a:r>
            <a:r>
              <a:rPr lang="en-US" sz="2800" b="0" i="0" dirty="0">
                <a:solidFill>
                  <a:srgbClr val="222222"/>
                </a:solidFill>
                <a:effectLst/>
                <a:latin typeface="ui-sans-serif"/>
              </a:rPr>
              <a:t>: The average or target value of the process.</a:t>
            </a:r>
          </a:p>
          <a:p>
            <a:pPr marL="742950" lvl="1" indent="-285750" algn="l" rtl="0">
              <a:buFont typeface="Arial" panose="020B0604020202020204" pitchFamily="34" charset="0"/>
              <a:buChar char="•"/>
            </a:pPr>
            <a:r>
              <a:rPr lang="en-US" sz="2800" b="1" i="0" dirty="0">
                <a:solidFill>
                  <a:srgbClr val="222222"/>
                </a:solidFill>
                <a:effectLst/>
                <a:latin typeface="ui-sans-serif"/>
              </a:rPr>
              <a:t>Upper Control Limit (UCL)</a:t>
            </a:r>
            <a:r>
              <a:rPr lang="en-US" sz="2800" b="0" i="0" dirty="0">
                <a:solidFill>
                  <a:srgbClr val="222222"/>
                </a:solidFill>
                <a:effectLst/>
                <a:latin typeface="ui-sans-serif"/>
              </a:rPr>
              <a:t>: The highest value the process should reach.</a:t>
            </a:r>
          </a:p>
          <a:p>
            <a:pPr marL="742950" lvl="1" indent="-285750" algn="l" rtl="0">
              <a:buFont typeface="Arial" panose="020B0604020202020204" pitchFamily="34" charset="0"/>
              <a:buChar char="•"/>
            </a:pPr>
            <a:r>
              <a:rPr lang="en-US" sz="2800" b="1" i="0" dirty="0">
                <a:solidFill>
                  <a:srgbClr val="222222"/>
                </a:solidFill>
                <a:effectLst/>
                <a:latin typeface="ui-sans-serif"/>
              </a:rPr>
              <a:t>Lower Control Limit (LCL)</a:t>
            </a:r>
            <a:r>
              <a:rPr lang="en-US" sz="2800" b="0" i="0" dirty="0">
                <a:solidFill>
                  <a:srgbClr val="222222"/>
                </a:solidFill>
                <a:effectLst/>
                <a:latin typeface="ui-sans-serif"/>
              </a:rPr>
              <a:t>: The lowest value the process should reach.</a:t>
            </a:r>
          </a:p>
          <a:p>
            <a:pPr marL="742950" lvl="1" indent="-285750" algn="l" rtl="0">
              <a:buFont typeface="Arial" panose="020B0604020202020204" pitchFamily="34" charset="0"/>
              <a:buChar char="•"/>
            </a:pPr>
            <a:r>
              <a:rPr lang="en-US" sz="2800" b="1" i="0" dirty="0">
                <a:solidFill>
                  <a:srgbClr val="222222"/>
                </a:solidFill>
                <a:effectLst/>
                <a:latin typeface="ui-sans-serif"/>
              </a:rPr>
              <a:t>Data Points</a:t>
            </a:r>
            <a:r>
              <a:rPr lang="en-US" sz="2800" b="0" i="0" dirty="0">
                <a:solidFill>
                  <a:srgbClr val="222222"/>
                </a:solidFill>
                <a:effectLst/>
                <a:latin typeface="ui-sans-serif"/>
              </a:rPr>
              <a:t>: Individual measurements or results plotted over time.</a:t>
            </a:r>
          </a:p>
          <a:p>
            <a:br>
              <a:rPr lang="en-US" sz="3200" dirty="0"/>
            </a:br>
            <a:endParaRPr lang="en-PK" sz="3200" dirty="0"/>
          </a:p>
        </p:txBody>
      </p:sp>
    </p:spTree>
    <p:extLst>
      <p:ext uri="{BB962C8B-B14F-4D97-AF65-F5344CB8AC3E}">
        <p14:creationId xmlns:p14="http://schemas.microsoft.com/office/powerpoint/2010/main" val="1648227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8F8C-9A8E-9B87-2165-00112A2D963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A1893D88-4AA3-457D-EE4F-B97CD69D4B60}"/>
              </a:ext>
            </a:extLst>
          </p:cNvPr>
          <p:cNvSpPr>
            <a:spLocks noGrp="1"/>
          </p:cNvSpPr>
          <p:nvPr>
            <p:ph idx="1"/>
          </p:nvPr>
        </p:nvSpPr>
        <p:spPr/>
        <p:txBody>
          <a:bodyPr>
            <a:normAutofit/>
          </a:bodyPr>
          <a:lstStyle/>
          <a:p>
            <a:pPr algn="l" rtl="0"/>
            <a:r>
              <a:rPr lang="en-US" sz="4000" b="1" i="0" dirty="0">
                <a:solidFill>
                  <a:srgbClr val="222222"/>
                </a:solidFill>
                <a:effectLst/>
                <a:latin typeface="ui-sans-serif"/>
              </a:rPr>
              <a:t>Types of Variation</a:t>
            </a:r>
            <a:r>
              <a:rPr lang="en-US" sz="4000" b="0" i="0" dirty="0">
                <a:solidFill>
                  <a:srgbClr val="222222"/>
                </a:solidFill>
                <a:effectLst/>
                <a:latin typeface="ui-sans-serif"/>
              </a:rPr>
              <a:t>:</a:t>
            </a:r>
          </a:p>
          <a:p>
            <a:pPr algn="l" rtl="0">
              <a:buFont typeface="Arial" panose="020B0604020202020204" pitchFamily="34" charset="0"/>
              <a:buChar char="•"/>
            </a:pPr>
            <a:r>
              <a:rPr lang="en-US" sz="4000" b="1" i="0" dirty="0">
                <a:solidFill>
                  <a:srgbClr val="222222"/>
                </a:solidFill>
                <a:effectLst/>
                <a:latin typeface="ui-sans-serif"/>
              </a:rPr>
              <a:t>Common Cause Variation</a:t>
            </a:r>
            <a:r>
              <a:rPr lang="en-US" sz="4000" b="0" i="0" dirty="0">
                <a:solidFill>
                  <a:srgbClr val="222222"/>
                </a:solidFill>
                <a:effectLst/>
                <a:latin typeface="ui-sans-serif"/>
              </a:rPr>
              <a:t>: Natural, inherent variation in the process.</a:t>
            </a:r>
          </a:p>
          <a:p>
            <a:pPr algn="l" rtl="0">
              <a:buFont typeface="Arial" panose="020B0604020202020204" pitchFamily="34" charset="0"/>
              <a:buChar char="•"/>
            </a:pPr>
            <a:r>
              <a:rPr lang="en-US" sz="4000" b="1" i="0" dirty="0">
                <a:solidFill>
                  <a:srgbClr val="222222"/>
                </a:solidFill>
                <a:effectLst/>
                <a:latin typeface="ui-sans-serif"/>
              </a:rPr>
              <a:t>Special Cause Variation</a:t>
            </a:r>
            <a:r>
              <a:rPr lang="en-US" sz="4000" b="0" i="0" dirty="0">
                <a:solidFill>
                  <a:srgbClr val="222222"/>
                </a:solidFill>
                <a:effectLst/>
                <a:latin typeface="ui-sans-serif"/>
              </a:rPr>
              <a:t>: Variation due to specific, identifiable factors.</a:t>
            </a:r>
          </a:p>
          <a:p>
            <a:br>
              <a:rPr lang="en-US" sz="4000" dirty="0"/>
            </a:br>
            <a:endParaRPr lang="en-PK" sz="4000" dirty="0"/>
          </a:p>
        </p:txBody>
      </p:sp>
    </p:spTree>
    <p:extLst>
      <p:ext uri="{BB962C8B-B14F-4D97-AF65-F5344CB8AC3E}">
        <p14:creationId xmlns:p14="http://schemas.microsoft.com/office/powerpoint/2010/main" val="5178322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7F141-4C0A-6A2C-9F5B-06ACA643752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16A23B0-B54F-D0D0-CEE8-3BAA61855DDC}"/>
              </a:ext>
            </a:extLst>
          </p:cNvPr>
          <p:cNvSpPr>
            <a:spLocks noGrp="1"/>
          </p:cNvSpPr>
          <p:nvPr>
            <p:ph idx="1"/>
          </p:nvPr>
        </p:nvSpPr>
        <p:spPr/>
        <p:txBody>
          <a:bodyPr>
            <a:normAutofit fontScale="47500" lnSpcReduction="20000"/>
          </a:bodyPr>
          <a:lstStyle/>
          <a:p>
            <a:pPr algn="l" rtl="0"/>
            <a:r>
              <a:rPr lang="en-US" sz="6500" b="1" i="0" dirty="0">
                <a:solidFill>
                  <a:srgbClr val="222222"/>
                </a:solidFill>
                <a:effectLst/>
                <a:latin typeface="ui-sans-serif"/>
              </a:rPr>
              <a:t>Steps in SPC</a:t>
            </a:r>
            <a:r>
              <a:rPr lang="en-US" sz="6500" b="0" i="0" dirty="0">
                <a:solidFill>
                  <a:srgbClr val="222222"/>
                </a:solidFill>
                <a:effectLst/>
                <a:latin typeface="ui-sans-serif"/>
              </a:rPr>
              <a:t>:</a:t>
            </a:r>
          </a:p>
          <a:p>
            <a:pPr algn="l" rtl="0">
              <a:buFont typeface="Arial" panose="020B0604020202020204" pitchFamily="34" charset="0"/>
              <a:buChar char="•"/>
            </a:pPr>
            <a:r>
              <a:rPr lang="en-US" sz="6500" b="1" i="0" dirty="0">
                <a:solidFill>
                  <a:srgbClr val="222222"/>
                </a:solidFill>
                <a:effectLst/>
                <a:latin typeface="ui-sans-serif"/>
              </a:rPr>
              <a:t>Collect Data</a:t>
            </a:r>
            <a:r>
              <a:rPr lang="en-US" sz="6500" b="0" i="0" dirty="0">
                <a:solidFill>
                  <a:srgbClr val="222222"/>
                </a:solidFill>
                <a:effectLst/>
                <a:latin typeface="ui-sans-serif"/>
              </a:rPr>
              <a:t>: Gather measurements from the process.</a:t>
            </a:r>
          </a:p>
          <a:p>
            <a:pPr algn="l" rtl="0">
              <a:buFont typeface="Arial" panose="020B0604020202020204" pitchFamily="34" charset="0"/>
              <a:buChar char="•"/>
            </a:pPr>
            <a:r>
              <a:rPr lang="en-US" sz="6500" b="1" i="0" dirty="0">
                <a:solidFill>
                  <a:srgbClr val="222222"/>
                </a:solidFill>
                <a:effectLst/>
                <a:latin typeface="ui-sans-serif"/>
              </a:rPr>
              <a:t>Plot Data on Control Charts</a:t>
            </a:r>
            <a:r>
              <a:rPr lang="en-US" sz="6500" b="0" i="0" dirty="0">
                <a:solidFill>
                  <a:srgbClr val="222222"/>
                </a:solidFill>
                <a:effectLst/>
                <a:latin typeface="ui-sans-serif"/>
              </a:rPr>
              <a:t>: Visualize the data over time.</a:t>
            </a:r>
          </a:p>
          <a:p>
            <a:pPr algn="l" rtl="0">
              <a:buFont typeface="Arial" panose="020B0604020202020204" pitchFamily="34" charset="0"/>
              <a:buChar char="•"/>
            </a:pPr>
            <a:r>
              <a:rPr lang="en-US" sz="6500" b="1" i="0" dirty="0">
                <a:solidFill>
                  <a:srgbClr val="222222"/>
                </a:solidFill>
                <a:effectLst/>
                <a:latin typeface="ui-sans-serif"/>
              </a:rPr>
              <a:t>Analyze</a:t>
            </a:r>
            <a:r>
              <a:rPr lang="en-US" sz="6500" b="0" i="0" dirty="0">
                <a:solidFill>
                  <a:srgbClr val="222222"/>
                </a:solidFill>
                <a:effectLst/>
                <a:latin typeface="ui-sans-serif"/>
              </a:rPr>
              <a:t>: Determine if the process is in control (i.e., all data points are within control limits and random patterns).</a:t>
            </a:r>
          </a:p>
          <a:p>
            <a:pPr algn="l" rtl="0">
              <a:buFont typeface="Arial" panose="020B0604020202020204" pitchFamily="34" charset="0"/>
              <a:buChar char="•"/>
            </a:pPr>
            <a:r>
              <a:rPr lang="en-US" sz="6500" b="1" i="0" dirty="0">
                <a:solidFill>
                  <a:srgbClr val="222222"/>
                </a:solidFill>
                <a:effectLst/>
                <a:latin typeface="ui-sans-serif"/>
              </a:rPr>
              <a:t>Act</a:t>
            </a:r>
            <a:r>
              <a:rPr lang="en-US" sz="6500" b="0" i="0" dirty="0">
                <a:solidFill>
                  <a:srgbClr val="222222"/>
                </a:solidFill>
                <a:effectLst/>
                <a:latin typeface="ui-sans-serif"/>
              </a:rPr>
              <a:t>: Take corrective actions if the process shows signs of special cause variation</a:t>
            </a:r>
          </a:p>
          <a:p>
            <a:br>
              <a:rPr lang="en-US" sz="3600" dirty="0"/>
            </a:br>
            <a:endParaRPr lang="en-PK" sz="3600" dirty="0"/>
          </a:p>
        </p:txBody>
      </p:sp>
    </p:spTree>
    <p:extLst>
      <p:ext uri="{BB962C8B-B14F-4D97-AF65-F5344CB8AC3E}">
        <p14:creationId xmlns:p14="http://schemas.microsoft.com/office/powerpoint/2010/main" val="15305052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D0F8-F4FA-255B-B1DF-E6D3A80A141D}"/>
              </a:ext>
            </a:extLst>
          </p:cNvPr>
          <p:cNvSpPr>
            <a:spLocks noGrp="1"/>
          </p:cNvSpPr>
          <p:nvPr>
            <p:ph type="title"/>
          </p:nvPr>
        </p:nvSpPr>
        <p:spPr/>
        <p:txBody>
          <a:bodyPr/>
          <a:lstStyle/>
          <a:p>
            <a:endParaRPr lang="en-PK"/>
          </a:p>
        </p:txBody>
      </p:sp>
      <p:sp>
        <p:nvSpPr>
          <p:cNvPr id="4" name="Rectangle 1">
            <a:extLst>
              <a:ext uri="{FF2B5EF4-FFF2-40B4-BE49-F238E27FC236}">
                <a16:creationId xmlns:a16="http://schemas.microsoft.com/office/drawing/2014/main" id="{11521337-10A1-1BB1-19D6-8FF9ADCEFA3E}"/>
              </a:ext>
            </a:extLst>
          </p:cNvPr>
          <p:cNvSpPr>
            <a:spLocks noGrp="1" noChangeArrowheads="1"/>
          </p:cNvSpPr>
          <p:nvPr>
            <p:ph idx="1"/>
          </p:nvPr>
        </p:nvSpPr>
        <p:spPr bwMode="auto">
          <a:xfrm>
            <a:off x="1" y="3031805"/>
            <a:ext cx="12192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5400" b="0" i="0" u="none" strike="noStrike" cap="none" normalizeH="0" baseline="0" dirty="0">
                <a:ln>
                  <a:noFill/>
                </a:ln>
                <a:solidFill>
                  <a:srgbClr val="DF3079"/>
                </a:solidFill>
                <a:effectLst/>
                <a:latin typeface="ui-monospace"/>
              </a:rPr>
              <a:t>Steps</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1.</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E9950C"/>
                </a:solidFill>
                <a:effectLst/>
                <a:latin typeface="ui-monospace"/>
              </a:rPr>
              <a:t>Collect</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Data</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2.</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E9950C"/>
                </a:solidFill>
                <a:effectLst/>
                <a:latin typeface="ui-monospace"/>
              </a:rPr>
              <a:t>Plot</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on</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E9950C"/>
                </a:solidFill>
                <a:effectLst/>
                <a:latin typeface="ui-monospace"/>
              </a:rPr>
              <a:t>Control</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Chart</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3.</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err="1">
                <a:ln>
                  <a:noFill/>
                </a:ln>
                <a:solidFill>
                  <a:srgbClr val="DF3079"/>
                </a:solidFill>
                <a:effectLst/>
                <a:latin typeface="ui-monospace"/>
              </a:rPr>
              <a:t>Analyze</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for</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E9950C"/>
                </a:solidFill>
                <a:effectLst/>
                <a:latin typeface="ui-monospace"/>
              </a:rPr>
              <a:t>Control</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4.</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E9950C"/>
                </a:solidFill>
                <a:effectLst/>
                <a:latin typeface="ui-monospace"/>
              </a:rPr>
              <a:t>Take</a:t>
            </a:r>
            <a:r>
              <a:rPr kumimoji="0" lang="en-PK" altLang="en-PK" sz="5400" b="0" i="0" u="none" strike="noStrike" cap="none" normalizeH="0" baseline="0" dirty="0">
                <a:ln>
                  <a:noFill/>
                </a:ln>
                <a:solidFill>
                  <a:srgbClr val="FFFFFF"/>
                </a:solidFill>
                <a:effectLst/>
                <a:latin typeface="ui-monospace"/>
              </a:rPr>
              <a:t> </a:t>
            </a:r>
            <a:r>
              <a:rPr kumimoji="0" lang="en-PK" altLang="en-PK" sz="5400" b="0" i="0" u="none" strike="noStrike" cap="none" normalizeH="0" baseline="0" dirty="0">
                <a:ln>
                  <a:noFill/>
                </a:ln>
                <a:solidFill>
                  <a:srgbClr val="DF3079"/>
                </a:solidFill>
                <a:effectLst/>
                <a:latin typeface="ui-monospace"/>
              </a:rPr>
              <a:t>Action</a:t>
            </a:r>
            <a:r>
              <a:rPr kumimoji="0" lang="en-PK" altLang="en-PK" sz="6600" b="0" i="0" u="none" strike="noStrike" cap="none" normalizeH="0" baseline="0" dirty="0">
                <a:ln>
                  <a:noFill/>
                </a:ln>
                <a:solidFill>
                  <a:schemeClr val="tx1"/>
                </a:solidFill>
                <a:effectLst/>
              </a:rPr>
              <a:t> </a:t>
            </a:r>
            <a:endParaRPr kumimoji="0" lang="en-PK" altLang="en-PK" sz="9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88862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5DC9-9E97-E286-6C60-52650331002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1B8D84A-629B-99D2-3E91-474A072FD978}"/>
              </a:ext>
            </a:extLst>
          </p:cNvPr>
          <p:cNvSpPr>
            <a:spLocks noGrp="1"/>
          </p:cNvSpPr>
          <p:nvPr>
            <p:ph idx="1"/>
          </p:nvPr>
        </p:nvSpPr>
        <p:spPr/>
        <p:txBody>
          <a:bodyPr>
            <a:normAutofit fontScale="92500" lnSpcReduction="20000"/>
          </a:bodyPr>
          <a:lstStyle/>
          <a:p>
            <a:pPr algn="l" rtl="0"/>
            <a:r>
              <a:rPr lang="en-US" sz="4300" b="1" i="0" dirty="0">
                <a:solidFill>
                  <a:srgbClr val="222222"/>
                </a:solidFill>
                <a:effectLst/>
                <a:latin typeface="ui-sans-serif"/>
              </a:rPr>
              <a:t>SPC Tools</a:t>
            </a:r>
            <a:r>
              <a:rPr lang="en-US" sz="4300" b="0" i="0" dirty="0">
                <a:solidFill>
                  <a:srgbClr val="222222"/>
                </a:solidFill>
                <a:effectLst/>
                <a:latin typeface="ui-sans-serif"/>
              </a:rPr>
              <a:t>:</a:t>
            </a:r>
          </a:p>
          <a:p>
            <a:pPr algn="l" rtl="0">
              <a:buFont typeface="Arial" panose="020B0604020202020204" pitchFamily="34" charset="0"/>
              <a:buChar char="•"/>
            </a:pPr>
            <a:r>
              <a:rPr lang="en-US" sz="4300" b="1" i="0" dirty="0">
                <a:solidFill>
                  <a:srgbClr val="222222"/>
                </a:solidFill>
                <a:effectLst/>
                <a:latin typeface="ui-sans-serif"/>
              </a:rPr>
              <a:t>X-bar and R Charts</a:t>
            </a:r>
            <a:r>
              <a:rPr lang="en-US" sz="4300" b="0" i="0" dirty="0">
                <a:solidFill>
                  <a:srgbClr val="222222"/>
                </a:solidFill>
                <a:effectLst/>
                <a:latin typeface="ui-sans-serif"/>
              </a:rPr>
              <a:t>: Monitor the mean and range of samples.</a:t>
            </a:r>
          </a:p>
          <a:p>
            <a:pPr algn="l" rtl="0">
              <a:buFont typeface="Arial" panose="020B0604020202020204" pitchFamily="34" charset="0"/>
              <a:buChar char="•"/>
            </a:pPr>
            <a:r>
              <a:rPr lang="en-US" sz="4300" b="1" i="0" dirty="0">
                <a:solidFill>
                  <a:srgbClr val="222222"/>
                </a:solidFill>
                <a:effectLst/>
                <a:latin typeface="ui-sans-serif"/>
              </a:rPr>
              <a:t>P-Charts</a:t>
            </a:r>
            <a:r>
              <a:rPr lang="en-US" sz="4300" b="0" i="0" dirty="0">
                <a:solidFill>
                  <a:srgbClr val="222222"/>
                </a:solidFill>
                <a:effectLst/>
                <a:latin typeface="ui-sans-serif"/>
              </a:rPr>
              <a:t>: Monitor the proportion of defective items.</a:t>
            </a:r>
          </a:p>
          <a:p>
            <a:pPr algn="l" rtl="0">
              <a:buFont typeface="Arial" panose="020B0604020202020204" pitchFamily="34" charset="0"/>
              <a:buChar char="•"/>
            </a:pPr>
            <a:r>
              <a:rPr lang="en-US" sz="4300" b="1" i="0" dirty="0">
                <a:solidFill>
                  <a:srgbClr val="222222"/>
                </a:solidFill>
                <a:effectLst/>
                <a:latin typeface="ui-sans-serif"/>
              </a:rPr>
              <a:t>NP-Charts</a:t>
            </a:r>
            <a:r>
              <a:rPr lang="en-US" sz="4300" b="0" i="0" dirty="0">
                <a:solidFill>
                  <a:srgbClr val="222222"/>
                </a:solidFill>
                <a:effectLst/>
                <a:latin typeface="ui-sans-serif"/>
              </a:rPr>
              <a:t>: Monitor the number of defective items in a sample.</a:t>
            </a:r>
          </a:p>
          <a:p>
            <a:br>
              <a:rPr lang="en-US" dirty="0"/>
            </a:br>
            <a:endParaRPr lang="en-PK" dirty="0"/>
          </a:p>
        </p:txBody>
      </p:sp>
    </p:spTree>
    <p:extLst>
      <p:ext uri="{BB962C8B-B14F-4D97-AF65-F5344CB8AC3E}">
        <p14:creationId xmlns:p14="http://schemas.microsoft.com/office/powerpoint/2010/main" val="2027290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C814-D70C-FA08-1B49-F683514F9A9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CBC397B4-2951-F8D9-288D-BF101C10B07E}"/>
              </a:ext>
            </a:extLst>
          </p:cNvPr>
          <p:cNvSpPr>
            <a:spLocks noGrp="1"/>
          </p:cNvSpPr>
          <p:nvPr>
            <p:ph idx="1"/>
          </p:nvPr>
        </p:nvSpPr>
        <p:spPr/>
        <p:txBody>
          <a:bodyPr>
            <a:normAutofit lnSpcReduction="10000"/>
          </a:bodyPr>
          <a:lstStyle/>
          <a:p>
            <a:pPr algn="l" rtl="0"/>
            <a:r>
              <a:rPr lang="en-US" sz="4800" b="0" i="0" dirty="0">
                <a:solidFill>
                  <a:srgbClr val="222222"/>
                </a:solidFill>
                <a:effectLst/>
                <a:latin typeface="ui-sans-serif"/>
              </a:rPr>
              <a:t>summary, SPC helps in maintaining a consistent and high-quality process by using statistical tools to monitor and control variability, ensuring that the process remains stable and efficient.</a:t>
            </a:r>
            <a:endParaRPr lang="en-US" sz="4800" b="0" i="0" dirty="0">
              <a:solidFill>
                <a:srgbClr val="222222"/>
              </a:solidFill>
              <a:effectLst/>
              <a:latin typeface="Arial" panose="020B0604020202020204" pitchFamily="34" charset="0"/>
            </a:endParaRPr>
          </a:p>
          <a:p>
            <a:br>
              <a:rPr lang="en-US" sz="4800" dirty="0"/>
            </a:br>
            <a:endParaRPr lang="en-PK" sz="4800" dirty="0"/>
          </a:p>
        </p:txBody>
      </p:sp>
    </p:spTree>
    <p:extLst>
      <p:ext uri="{BB962C8B-B14F-4D97-AF65-F5344CB8AC3E}">
        <p14:creationId xmlns:p14="http://schemas.microsoft.com/office/powerpoint/2010/main" val="15350025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546FD-8175-7447-B40A-0F161646200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85D497D-54BC-7F7E-2C30-4DF0148A04EC}"/>
              </a:ext>
            </a:extLst>
          </p:cNvPr>
          <p:cNvSpPr>
            <a:spLocks noGrp="1"/>
          </p:cNvSpPr>
          <p:nvPr>
            <p:ph idx="1"/>
          </p:nvPr>
        </p:nvSpPr>
        <p:spPr/>
        <p:txBody>
          <a:bodyPr/>
          <a:lstStyle/>
          <a:p>
            <a:pPr algn="ctr"/>
            <a:endParaRPr lang="en-US" sz="8000" dirty="0">
              <a:highlight>
                <a:srgbClr val="FFFF00"/>
              </a:highlight>
            </a:endParaRPr>
          </a:p>
          <a:p>
            <a:pPr marL="0" indent="0" algn="ctr">
              <a:buNone/>
            </a:pPr>
            <a:r>
              <a:rPr lang="en-US" sz="8000" dirty="0">
                <a:highlight>
                  <a:srgbClr val="FFFF00"/>
                </a:highlight>
              </a:rPr>
              <a:t>THANKS</a:t>
            </a:r>
            <a:endParaRPr lang="en-PK" dirty="0">
              <a:highlight>
                <a:srgbClr val="FFFF00"/>
              </a:highlight>
            </a:endParaRPr>
          </a:p>
        </p:txBody>
      </p:sp>
    </p:spTree>
    <p:extLst>
      <p:ext uri="{BB962C8B-B14F-4D97-AF65-F5344CB8AC3E}">
        <p14:creationId xmlns:p14="http://schemas.microsoft.com/office/powerpoint/2010/main" val="2394693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TotalTime>
  <Words>3453</Words>
  <Application>Microsoft Office PowerPoint</Application>
  <PresentationFormat>Widescreen</PresentationFormat>
  <Paragraphs>400</Paragraphs>
  <Slides>69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Arial</vt:lpstr>
      <vt:lpstr>Calibri</vt:lpstr>
      <vt:lpstr>Calibri Light</vt:lpstr>
      <vt:lpstr>Google Sans</vt:lpstr>
      <vt:lpstr>inherit</vt:lpstr>
      <vt:lpstr>Montserrat</vt:lpstr>
      <vt:lpstr>Open Sans</vt:lpstr>
      <vt:lpstr>ui-monospace</vt:lpstr>
      <vt:lpstr>ui-sans-serif</vt:lpstr>
      <vt:lpstr>Wingdings</vt:lpstr>
      <vt:lpstr>Office Theme</vt:lpstr>
      <vt:lpstr>Title: Business Process Engineering (BPE)</vt:lpstr>
      <vt:lpstr>Importance of BPE</vt:lpstr>
      <vt:lpstr>BPE Methodology</vt:lpstr>
      <vt:lpstr> Process Identification</vt:lpstr>
      <vt:lpstr>Process Analysis</vt:lpstr>
      <vt:lpstr> Process Design</vt:lpstr>
      <vt:lpstr>Process Implementation</vt:lpstr>
      <vt:lpstr> Process Monitoring and Evaluation</vt:lpstr>
      <vt:lpstr> BPE Tools and Techniques</vt:lpstr>
      <vt:lpstr>Business Process Model and Notation (BPMN)</vt:lpstr>
      <vt:lpstr>Business Process Model and Notation (BPMN)(Cont)</vt:lpstr>
      <vt:lpstr>Business Process Model and Notation (BPMN)(Cont)</vt:lpstr>
      <vt:lpstr>Lean</vt:lpstr>
      <vt:lpstr>Lean(Cont)</vt:lpstr>
      <vt:lpstr>Key Lean tools and techniques:</vt:lpstr>
      <vt:lpstr>Benefits of Lean process:</vt:lpstr>
      <vt:lpstr>SIX SIGMA</vt:lpstr>
      <vt:lpstr>SIX SIGMA(Cont)</vt:lpstr>
      <vt:lpstr>SIX SIGMA(Cont)</vt:lpstr>
      <vt:lpstr>SIX SIGMA(Cont)</vt:lpstr>
      <vt:lpstr>SIX SIGMA(Cont)</vt:lpstr>
      <vt:lpstr>PowerPoint Presentation</vt:lpstr>
      <vt:lpstr>BPE Process Analysis Tools </vt:lpstr>
      <vt:lpstr>Slide 2: Types of Process Analysis Tools</vt:lpstr>
      <vt:lpstr>Qualitative Process Analysis Tools</vt:lpstr>
      <vt:lpstr>Root Cause Analysis (RCA)</vt:lpstr>
      <vt:lpstr>Fishbone Diagrams (Ishikawa)</vt:lpstr>
      <vt:lpstr>Fishbone Diagram(Ishikawa)</vt:lpstr>
      <vt:lpstr>Fishbone Diagram(Ishikawa)(Cont)</vt:lpstr>
      <vt:lpstr>Fishbone Diagram(Ishikawa)(Cont)</vt:lpstr>
      <vt:lpstr>Fishbone Diagram(Ishikawa)(Cont)</vt:lpstr>
      <vt:lpstr>Benefits of Fishbone Diagrams:</vt:lpstr>
      <vt:lpstr>Here is a context for a Fishbone Diagram (Ishikawa):</vt:lpstr>
      <vt:lpstr>Here is a context for a Fishbone Diagram (Ishikawa)(Cont)</vt:lpstr>
      <vt:lpstr>Here is a context for a Fishbone Diagram (Ishikawa)(Cont)</vt:lpstr>
      <vt:lpstr>Here is a context for a Fishbone Diagram (Ishikawa)(Cont)</vt:lpstr>
      <vt:lpstr>Here is a context for a Fishbone Diagram (Ishikawa)(Cont)</vt:lpstr>
      <vt:lpstr>PARETO DIAGRAM(ISHIKAWA)</vt:lpstr>
      <vt:lpstr>PARETO DIAGRAM(ISHIKAWA)</vt:lpstr>
      <vt:lpstr>PARETO DIAGRAM(ISHIKAWA)</vt:lpstr>
      <vt:lpstr>PARETO DIAGRAM(ISHIKAWA)(Cont)</vt:lpstr>
      <vt:lpstr>PARETO DIAGRAM(ISHIKAWA)(Cont)</vt:lpstr>
      <vt:lpstr>PARETO DIAGRAM(ISHIKAWA)(Cont)</vt:lpstr>
      <vt:lpstr>PARETO DIAGRAM(ISHIKAWA)(Cont)</vt:lpstr>
      <vt:lpstr>PARETO DIAGRAM(ISHIKAWA)(Cont)</vt:lpstr>
      <vt:lpstr>PARETO DIAGRAM(ISHIKAWA)(Cont)</vt:lpstr>
      <vt:lpstr>PARETO DIAGRAM(ISHIKAWA)(Cont)</vt:lpstr>
      <vt:lpstr>*Pareto Analysis:*</vt:lpstr>
      <vt:lpstr>*Pareto Analysis:*(Cont)</vt:lpstr>
      <vt:lpstr>Pareto Chart (Manufacturing Example)</vt:lpstr>
      <vt:lpstr>PowerPoint Presentation</vt:lpstr>
      <vt:lpstr>PowerPoint Presentation</vt:lpstr>
      <vt:lpstr>Choosing the Right Pareto Chart Software</vt:lpstr>
      <vt:lpstr>PowerPoint Presentation</vt:lpstr>
      <vt:lpstr>PowerPoint Presentation</vt:lpstr>
      <vt:lpstr>PowerPoint Presentation</vt:lpstr>
      <vt:lpstr>PowerPoint Presentation</vt:lpstr>
      <vt:lpstr>Quantitative Process Analysis Tools</vt:lpstr>
      <vt:lpstr>Statistical Process Control (SPC)</vt:lpstr>
      <vt:lpstr>Statistical Process Control (SPC)(Cont)</vt:lpstr>
      <vt:lpstr>Statistical Process Control (SPC)(Cont)</vt:lpstr>
      <vt:lpstr>Statistical Process Control (SPC)(Cont)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ColSial</dc:creator>
  <cp:lastModifiedBy>ColSial</cp:lastModifiedBy>
  <cp:revision>228</cp:revision>
  <dcterms:created xsi:type="dcterms:W3CDTF">2024-09-10T12:34:44Z</dcterms:created>
  <dcterms:modified xsi:type="dcterms:W3CDTF">2024-09-16T06:40:22Z</dcterms:modified>
</cp:coreProperties>
</file>