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</p:sldIdLst>
  <p:sldSz cx="12192000" cy="6858000"/>
  <p:notesSz cx="6858000" cy="9144000"/>
  <p:defaultTextStyle>
    <a:defPPr>
      <a:defRPr lang="en-PK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65" d="100"/>
          <a:sy n="65" d="100"/>
        </p:scale>
        <p:origin x="912" y="10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91D9C16-40BF-3CCB-A48C-03B66DB75E0B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PK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5E944996-851C-A343-44E1-D37B55DEA6C0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PK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185EE5D-4895-BC41-905C-6F2EEA52039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6CB11DB-6349-4E85-A134-25CB559E4DA4}" type="datetimeFigureOut">
              <a:rPr lang="en-PK" smtClean="0"/>
              <a:t>28/09/2024</a:t>
            </a:fld>
            <a:endParaRPr lang="en-PK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80E4394-2178-7A8D-761D-5F75B7CBF87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PK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5B1235B-4DB1-7D88-5325-8532B568987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0F6256-57A5-4A24-8B8A-C6FE251E5E7A}" type="slidenum">
              <a:rPr lang="en-PK" smtClean="0"/>
              <a:t>‹#›</a:t>
            </a:fld>
            <a:endParaRPr lang="en-PK"/>
          </a:p>
        </p:txBody>
      </p:sp>
    </p:spTree>
    <p:extLst>
      <p:ext uri="{BB962C8B-B14F-4D97-AF65-F5344CB8AC3E}">
        <p14:creationId xmlns:p14="http://schemas.microsoft.com/office/powerpoint/2010/main" val="391017836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E04EC7E-55CF-D7CF-4135-8B1E8FC2F38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PK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27EE3A1-0B6A-420A-E40F-F12B584C6A7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PK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15834BE-F61B-2429-BF98-A95F30BC175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6CB11DB-6349-4E85-A134-25CB559E4DA4}" type="datetimeFigureOut">
              <a:rPr lang="en-PK" smtClean="0"/>
              <a:t>28/09/2024</a:t>
            </a:fld>
            <a:endParaRPr lang="en-PK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7335898-2A8A-9EB0-84B7-6290FE2C41E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PK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FAC067D-B19C-F253-1373-0C6CA40547C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0F6256-57A5-4A24-8B8A-C6FE251E5E7A}" type="slidenum">
              <a:rPr lang="en-PK" smtClean="0"/>
              <a:t>‹#›</a:t>
            </a:fld>
            <a:endParaRPr lang="en-PK"/>
          </a:p>
        </p:txBody>
      </p:sp>
    </p:spTree>
    <p:extLst>
      <p:ext uri="{BB962C8B-B14F-4D97-AF65-F5344CB8AC3E}">
        <p14:creationId xmlns:p14="http://schemas.microsoft.com/office/powerpoint/2010/main" val="259843330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E21ECCD-1C24-C965-3D46-3F00953317D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PK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D103478-493C-FD3F-D24E-B514929EC50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1673D6A-42E4-DEB9-F1A7-87ED6EC11A2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6CB11DB-6349-4E85-A134-25CB559E4DA4}" type="datetimeFigureOut">
              <a:rPr lang="en-PK" smtClean="0"/>
              <a:t>28/09/2024</a:t>
            </a:fld>
            <a:endParaRPr lang="en-PK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853C51D-EF69-D2F4-06DF-3455BD4B239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PK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1D2CE7E-2067-4CEB-4020-0C315787B4E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0F6256-57A5-4A24-8B8A-C6FE251E5E7A}" type="slidenum">
              <a:rPr lang="en-PK" smtClean="0"/>
              <a:t>‹#›</a:t>
            </a:fld>
            <a:endParaRPr lang="en-PK"/>
          </a:p>
        </p:txBody>
      </p:sp>
    </p:spTree>
    <p:extLst>
      <p:ext uri="{BB962C8B-B14F-4D97-AF65-F5344CB8AC3E}">
        <p14:creationId xmlns:p14="http://schemas.microsoft.com/office/powerpoint/2010/main" val="316599979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C68D3C8-E1BA-0AAE-611A-6ADD1C727F5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PK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C47AFB9-3E3B-12F6-674C-2A2E6BA0BB72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PK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3D2326F7-1F3D-C443-25FD-DA797D68F5C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PK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026B060-3348-4CFE-822F-DE9C7806F2A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6CB11DB-6349-4E85-A134-25CB559E4DA4}" type="datetimeFigureOut">
              <a:rPr lang="en-PK" smtClean="0"/>
              <a:t>28/09/2024</a:t>
            </a:fld>
            <a:endParaRPr lang="en-PK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8D0FF8F9-42F2-9A2D-6C79-A11DFBB241A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PK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01C1F48-E7FF-5144-59F7-6D9E327BC87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0F6256-57A5-4A24-8B8A-C6FE251E5E7A}" type="slidenum">
              <a:rPr lang="en-PK" smtClean="0"/>
              <a:t>‹#›</a:t>
            </a:fld>
            <a:endParaRPr lang="en-PK"/>
          </a:p>
        </p:txBody>
      </p:sp>
    </p:spTree>
    <p:extLst>
      <p:ext uri="{BB962C8B-B14F-4D97-AF65-F5344CB8AC3E}">
        <p14:creationId xmlns:p14="http://schemas.microsoft.com/office/powerpoint/2010/main" val="416425269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2E11581-5E82-791F-A94B-D128A1AFA75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PK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784025C-C00E-111E-7F00-1136161D9BC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F42EACF5-1084-9F1B-00F4-F48B7DFEE82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PK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B70F1E93-D2AE-5039-DEFD-22F728DA640A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687AB144-5A8D-6A22-27D3-F6F0B67F2B40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PK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14E27555-717F-E4F7-ED53-8D6DFB1BC47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6CB11DB-6349-4E85-A134-25CB559E4DA4}" type="datetimeFigureOut">
              <a:rPr lang="en-PK" smtClean="0"/>
              <a:t>28/09/2024</a:t>
            </a:fld>
            <a:endParaRPr lang="en-PK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E6222B29-DB3E-DCF8-9215-649C9C99A76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PK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1D487A60-9AAF-AE27-ED2B-4A8707E848D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0F6256-57A5-4A24-8B8A-C6FE251E5E7A}" type="slidenum">
              <a:rPr lang="en-PK" smtClean="0"/>
              <a:t>‹#›</a:t>
            </a:fld>
            <a:endParaRPr lang="en-PK"/>
          </a:p>
        </p:txBody>
      </p:sp>
    </p:spTree>
    <p:extLst>
      <p:ext uri="{BB962C8B-B14F-4D97-AF65-F5344CB8AC3E}">
        <p14:creationId xmlns:p14="http://schemas.microsoft.com/office/powerpoint/2010/main" val="32762643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EEFAC4A-CDDD-442B-214F-06A21A06C49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PK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3A0F9BB8-8818-0800-FC58-F81DF6B1D1E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6CB11DB-6349-4E85-A134-25CB559E4DA4}" type="datetimeFigureOut">
              <a:rPr lang="en-PK" smtClean="0"/>
              <a:t>28/09/2024</a:t>
            </a:fld>
            <a:endParaRPr lang="en-PK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A94D0F91-86C6-F153-009A-C98A5362BBB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PK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21174CAD-6100-8F84-EFBA-B7414E6B68E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0F6256-57A5-4A24-8B8A-C6FE251E5E7A}" type="slidenum">
              <a:rPr lang="en-PK" smtClean="0"/>
              <a:t>‹#›</a:t>
            </a:fld>
            <a:endParaRPr lang="en-PK"/>
          </a:p>
        </p:txBody>
      </p:sp>
    </p:spTree>
    <p:extLst>
      <p:ext uri="{BB962C8B-B14F-4D97-AF65-F5344CB8AC3E}">
        <p14:creationId xmlns:p14="http://schemas.microsoft.com/office/powerpoint/2010/main" val="338951123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F1B56ADF-0687-DA19-0F1D-803D1847E83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6CB11DB-6349-4E85-A134-25CB559E4DA4}" type="datetimeFigureOut">
              <a:rPr lang="en-PK" smtClean="0"/>
              <a:t>28/09/2024</a:t>
            </a:fld>
            <a:endParaRPr lang="en-PK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A5C32CAD-126F-F77D-31A6-7DB9B39A270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PK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9A18ACB-C381-EA3F-F9AD-D6C78F7BE8C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0F6256-57A5-4A24-8B8A-C6FE251E5E7A}" type="slidenum">
              <a:rPr lang="en-PK" smtClean="0"/>
              <a:t>‹#›</a:t>
            </a:fld>
            <a:endParaRPr lang="en-PK"/>
          </a:p>
        </p:txBody>
      </p:sp>
    </p:spTree>
    <p:extLst>
      <p:ext uri="{BB962C8B-B14F-4D97-AF65-F5344CB8AC3E}">
        <p14:creationId xmlns:p14="http://schemas.microsoft.com/office/powerpoint/2010/main" val="249736734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41695E6-35FF-DAEA-3A2A-152E44435B1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PK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342197B-1240-2F43-DC47-85A396A0A95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PK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4896E549-2177-6C08-1FD1-68182C83208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D3CB196D-5BCC-7B89-6BFB-A01007D3A33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6CB11DB-6349-4E85-A134-25CB559E4DA4}" type="datetimeFigureOut">
              <a:rPr lang="en-PK" smtClean="0"/>
              <a:t>28/09/2024</a:t>
            </a:fld>
            <a:endParaRPr lang="en-PK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92579FA2-551F-97A1-E5B9-7BE27586AAD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PK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79BF36E5-E06C-1A00-F688-16525424AEB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0F6256-57A5-4A24-8B8A-C6FE251E5E7A}" type="slidenum">
              <a:rPr lang="en-PK" smtClean="0"/>
              <a:t>‹#›</a:t>
            </a:fld>
            <a:endParaRPr lang="en-PK"/>
          </a:p>
        </p:txBody>
      </p:sp>
    </p:spTree>
    <p:extLst>
      <p:ext uri="{BB962C8B-B14F-4D97-AF65-F5344CB8AC3E}">
        <p14:creationId xmlns:p14="http://schemas.microsoft.com/office/powerpoint/2010/main" val="378331155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7653D3B-CD9A-89E4-F489-30752E2A7DD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PK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C50DA4B6-C300-7076-58AC-6A8038092262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PK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A6E5E10F-3527-4ACF-472C-929D7D221FF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3C26745E-FEC6-50F4-3DFB-9E949AB45C5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6CB11DB-6349-4E85-A134-25CB559E4DA4}" type="datetimeFigureOut">
              <a:rPr lang="en-PK" smtClean="0"/>
              <a:t>28/09/2024</a:t>
            </a:fld>
            <a:endParaRPr lang="en-PK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0E09E31-7B5B-D4D4-7066-6445EE44496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PK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9809237-58B9-E393-2480-63BF8A3C839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0F6256-57A5-4A24-8B8A-C6FE251E5E7A}" type="slidenum">
              <a:rPr lang="en-PK" smtClean="0"/>
              <a:t>‹#›</a:t>
            </a:fld>
            <a:endParaRPr lang="en-PK"/>
          </a:p>
        </p:txBody>
      </p:sp>
    </p:spTree>
    <p:extLst>
      <p:ext uri="{BB962C8B-B14F-4D97-AF65-F5344CB8AC3E}">
        <p14:creationId xmlns:p14="http://schemas.microsoft.com/office/powerpoint/2010/main" val="57516364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F86C4C9-BB12-869E-39DF-8C5F37E2DA6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PK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9F5DFB77-90ED-53E6-A8BD-47136A3D9B8F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PK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A4D0762-64C2-2012-8FA6-32025E0470C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6CB11DB-6349-4E85-A134-25CB559E4DA4}" type="datetimeFigureOut">
              <a:rPr lang="en-PK" smtClean="0"/>
              <a:t>28/09/2024</a:t>
            </a:fld>
            <a:endParaRPr lang="en-PK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A95050D-B07E-80F6-7DE0-E480A777778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PK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8353D1C-5B50-65B1-92D7-9DDE1452EAA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0F6256-57A5-4A24-8B8A-C6FE251E5E7A}" type="slidenum">
              <a:rPr lang="en-PK" smtClean="0"/>
              <a:t>‹#›</a:t>
            </a:fld>
            <a:endParaRPr lang="en-PK"/>
          </a:p>
        </p:txBody>
      </p:sp>
    </p:spTree>
    <p:extLst>
      <p:ext uri="{BB962C8B-B14F-4D97-AF65-F5344CB8AC3E}">
        <p14:creationId xmlns:p14="http://schemas.microsoft.com/office/powerpoint/2010/main" val="124899205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5708B30F-3ABF-6408-A633-691AFDC2F86F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PK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C531F39A-5AA9-38F1-CD99-9693966A027B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PK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D8C31F2-FE37-4B9F-8386-24BCE4EB2B3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6CB11DB-6349-4E85-A134-25CB559E4DA4}" type="datetimeFigureOut">
              <a:rPr lang="en-PK" smtClean="0"/>
              <a:t>28/09/2024</a:t>
            </a:fld>
            <a:endParaRPr lang="en-PK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AED45BA-33E2-9D9B-FCF6-6283C2884FA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PK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34EC93F-7A1B-DAD3-3FCD-0C7E081BA83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0F6256-57A5-4A24-8B8A-C6FE251E5E7A}" type="slidenum">
              <a:rPr lang="en-PK" smtClean="0"/>
              <a:t>‹#›</a:t>
            </a:fld>
            <a:endParaRPr lang="en-PK"/>
          </a:p>
        </p:txBody>
      </p:sp>
    </p:spTree>
    <p:extLst>
      <p:ext uri="{BB962C8B-B14F-4D97-AF65-F5344CB8AC3E}">
        <p14:creationId xmlns:p14="http://schemas.microsoft.com/office/powerpoint/2010/main" val="384762650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4DAE4CE5-715C-64D6-D8B0-1D3CF9D834C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PK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E57DF7E-0AB5-A24A-BA60-044F5E0235C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PK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4DF81FD-4D51-8F6A-35BA-0ABA0FB33718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6CB11DB-6349-4E85-A134-25CB559E4DA4}" type="datetimeFigureOut">
              <a:rPr lang="en-PK" smtClean="0"/>
              <a:t>28/09/2024</a:t>
            </a:fld>
            <a:endParaRPr lang="en-PK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5BE2E41-81CE-930E-04CA-92C2B209B55E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PK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3A8ACE5-E630-E41A-2C40-09699CE3E53D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A0F6256-57A5-4A24-8B8A-C6FE251E5E7A}" type="slidenum">
              <a:rPr lang="en-PK" smtClean="0"/>
              <a:t>‹#›</a:t>
            </a:fld>
            <a:endParaRPr lang="en-PK"/>
          </a:p>
        </p:txBody>
      </p:sp>
    </p:spTree>
    <p:extLst>
      <p:ext uri="{BB962C8B-B14F-4D97-AF65-F5344CB8AC3E}">
        <p14:creationId xmlns:p14="http://schemas.microsoft.com/office/powerpoint/2010/main" val="332986952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PK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BB502E2-03B3-32B0-0B96-AB45D2B9946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0" y="1"/>
            <a:ext cx="12192000" cy="929148"/>
          </a:xfrm>
        </p:spPr>
        <p:txBody>
          <a:bodyPr>
            <a:normAutofit fontScale="90000"/>
          </a:bodyPr>
          <a:lstStyle/>
          <a:p>
            <a:r>
              <a:rPr lang="en-US" b="1" i="0" dirty="0">
                <a:solidFill>
                  <a:srgbClr val="222222"/>
                </a:solidFill>
                <a:effectLst/>
                <a:highlight>
                  <a:srgbClr val="FFFF00"/>
                </a:highlight>
                <a:latin typeface="Arial" panose="020B0604020202020204" pitchFamily="34" charset="0"/>
              </a:rPr>
              <a:t>Total Productive Maintenance (TPM)</a:t>
            </a:r>
            <a:endParaRPr lang="en-PK" b="1" dirty="0">
              <a:highlight>
                <a:srgbClr val="FFFF00"/>
              </a:highlight>
            </a:endParaRP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85442D67-D1B6-06C5-D70A-02985CC7AC8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-1" y="929149"/>
            <a:ext cx="12191999" cy="5928849"/>
          </a:xfrm>
        </p:spPr>
        <p:txBody>
          <a:bodyPr>
            <a:normAutofit/>
          </a:bodyPr>
          <a:lstStyle/>
          <a:p>
            <a:pPr algn="l"/>
            <a:r>
              <a:rPr lang="en-US" sz="4000" b="0" i="0" dirty="0">
                <a:solidFill>
                  <a:srgbClr val="222222"/>
                </a:solidFill>
                <a:effectLst/>
                <a:latin typeface="Arial" panose="020B0604020202020204" pitchFamily="34" charset="0"/>
              </a:rPr>
              <a:t>is a holistic maintenance strategy focusing on equipment effectiveness, employee empowerment, and continuous improvement.</a:t>
            </a:r>
          </a:p>
          <a:p>
            <a:pPr algn="l"/>
            <a:r>
              <a:rPr lang="en-US" sz="4000" b="1" i="0" dirty="0">
                <a:solidFill>
                  <a:srgbClr val="222222"/>
                </a:solidFill>
                <a:effectLst/>
                <a:latin typeface="Arial" panose="020B0604020202020204" pitchFamily="34" charset="0"/>
              </a:rPr>
              <a:t>*TPM Objectives:*</a:t>
            </a:r>
          </a:p>
          <a:p>
            <a:pPr algn="l"/>
            <a:r>
              <a:rPr lang="en-US" sz="4000" b="0" i="0" dirty="0">
                <a:solidFill>
                  <a:srgbClr val="222222"/>
                </a:solidFill>
                <a:effectLst/>
                <a:latin typeface="Arial" panose="020B0604020202020204" pitchFamily="34" charset="0"/>
              </a:rPr>
              <a:t>1. Achieve zero equipment failures</a:t>
            </a:r>
          </a:p>
          <a:p>
            <a:pPr algn="l"/>
            <a:r>
              <a:rPr lang="en-US" sz="4000" b="0" i="0" dirty="0">
                <a:solidFill>
                  <a:srgbClr val="222222"/>
                </a:solidFill>
                <a:effectLst/>
                <a:latin typeface="Arial" panose="020B0604020202020204" pitchFamily="34" charset="0"/>
              </a:rPr>
              <a:t>2. Minimize downtime</a:t>
            </a:r>
          </a:p>
          <a:p>
            <a:pPr algn="l"/>
            <a:r>
              <a:rPr lang="en-US" sz="4000" b="0" i="0" dirty="0">
                <a:solidFill>
                  <a:srgbClr val="222222"/>
                </a:solidFill>
                <a:effectLst/>
                <a:latin typeface="Arial" panose="020B0604020202020204" pitchFamily="34" charset="0"/>
              </a:rPr>
              <a:t>3. Reduce maintenance costs</a:t>
            </a:r>
          </a:p>
          <a:p>
            <a:pPr algn="l"/>
            <a:r>
              <a:rPr lang="en-US" sz="4000" b="0" i="0" dirty="0">
                <a:solidFill>
                  <a:srgbClr val="222222"/>
                </a:solidFill>
                <a:effectLst/>
                <a:latin typeface="Arial" panose="020B0604020202020204" pitchFamily="34" charset="0"/>
              </a:rPr>
              <a:t>4. Improve product quality</a:t>
            </a:r>
          </a:p>
          <a:p>
            <a:pPr algn="l"/>
            <a:r>
              <a:rPr lang="en-US" sz="4000" b="0" i="0" dirty="0">
                <a:solidFill>
                  <a:srgbClr val="222222"/>
                </a:solidFill>
                <a:effectLst/>
                <a:latin typeface="Arial" panose="020B0604020202020204" pitchFamily="34" charset="0"/>
              </a:rPr>
              <a:t>5. Enhance operator skills</a:t>
            </a:r>
          </a:p>
          <a:p>
            <a:endParaRPr lang="en-PK" sz="4000" dirty="0"/>
          </a:p>
        </p:txBody>
      </p:sp>
    </p:spTree>
    <p:extLst>
      <p:ext uri="{BB962C8B-B14F-4D97-AF65-F5344CB8AC3E}">
        <p14:creationId xmlns:p14="http://schemas.microsoft.com/office/powerpoint/2010/main" val="33680265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EC73E62-34B2-86BE-8675-8BBE1F62597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1"/>
            <a:ext cx="10515600" cy="899651"/>
          </a:xfrm>
        </p:spPr>
        <p:txBody>
          <a:bodyPr>
            <a:noAutofit/>
          </a:bodyPr>
          <a:lstStyle/>
          <a:p>
            <a:pPr algn="ctr"/>
            <a:r>
              <a:rPr lang="en-US" sz="6000" b="1" dirty="0">
                <a:highlight>
                  <a:srgbClr val="FFFF00"/>
                </a:highlight>
              </a:rPr>
              <a:t>TPM Pillars</a:t>
            </a:r>
            <a:endParaRPr lang="en-PK" sz="6000" b="1" dirty="0">
              <a:highlight>
                <a:srgbClr val="FFFF00"/>
              </a:highlight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9F5D2E1-3116-9018-7DC5-97B0D87F2DE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0" y="899652"/>
            <a:ext cx="12192000" cy="5958347"/>
          </a:xfrm>
        </p:spPr>
        <p:txBody>
          <a:bodyPr>
            <a:normAutofit fontScale="92500" lnSpcReduction="20000"/>
          </a:bodyPr>
          <a:lstStyle/>
          <a:p>
            <a:r>
              <a:rPr lang="en-US" sz="4800" dirty="0"/>
              <a:t>1. Autonomous Maintenance (AM)</a:t>
            </a:r>
          </a:p>
          <a:p>
            <a:r>
              <a:rPr lang="en-US" sz="4800" dirty="0"/>
              <a:t>2. Planned Maintenance (PM)</a:t>
            </a:r>
          </a:p>
          <a:p>
            <a:r>
              <a:rPr lang="en-US" sz="4800" dirty="0"/>
              <a:t>3. Quality Maintenance (QM)</a:t>
            </a:r>
          </a:p>
          <a:p>
            <a:r>
              <a:rPr lang="en-US" sz="4800" dirty="0"/>
              <a:t>4. Focused Improvement (FI)</a:t>
            </a:r>
          </a:p>
          <a:p>
            <a:r>
              <a:rPr lang="en-US" sz="4800" dirty="0"/>
              <a:t>5. Early Equipment Management (EEM)</a:t>
            </a:r>
          </a:p>
          <a:p>
            <a:r>
              <a:rPr lang="en-US" sz="4800" dirty="0"/>
              <a:t>6. Training and Education (TE)</a:t>
            </a:r>
          </a:p>
          <a:p>
            <a:r>
              <a:rPr lang="en-US" sz="4800" dirty="0"/>
              <a:t>7. Safety, Health, and Environment (SHE)</a:t>
            </a:r>
          </a:p>
          <a:p>
            <a:r>
              <a:rPr lang="en-US" sz="4800" dirty="0"/>
              <a:t>8. Continuous Improvement (CI)</a:t>
            </a:r>
          </a:p>
          <a:p>
            <a:pPr marL="0" indent="0">
              <a:buNone/>
            </a:pPr>
            <a:br>
              <a:rPr lang="en-US" dirty="0"/>
            </a:br>
            <a:endParaRPr lang="en-PK" dirty="0"/>
          </a:p>
        </p:txBody>
      </p:sp>
    </p:spTree>
    <p:extLst>
      <p:ext uri="{BB962C8B-B14F-4D97-AF65-F5344CB8AC3E}">
        <p14:creationId xmlns:p14="http://schemas.microsoft.com/office/powerpoint/2010/main" val="303312301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2ACCB56-BAF9-3622-A74A-AF541CC539E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1"/>
            <a:ext cx="10515600" cy="958644"/>
          </a:xfrm>
        </p:spPr>
        <p:txBody>
          <a:bodyPr>
            <a:normAutofit/>
          </a:bodyPr>
          <a:lstStyle/>
          <a:p>
            <a:pPr algn="ctr"/>
            <a:r>
              <a:rPr lang="en-US" sz="6000" b="1" dirty="0">
                <a:highlight>
                  <a:srgbClr val="FFFF00"/>
                </a:highlight>
              </a:rPr>
              <a:t>TPM Benefits</a:t>
            </a:r>
            <a:endParaRPr lang="en-PK" sz="6000" b="1" dirty="0">
              <a:highlight>
                <a:srgbClr val="FFFF00"/>
              </a:highlight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E29F7DE-E205-3554-5860-B40E7A6F61F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10000"/>
          </a:bodyPr>
          <a:lstStyle/>
          <a:p>
            <a:r>
              <a:rPr lang="en-US" sz="5200" dirty="0"/>
              <a:t>1. Increased equipment uptime</a:t>
            </a:r>
          </a:p>
          <a:p>
            <a:r>
              <a:rPr lang="en-US" sz="5200" dirty="0"/>
              <a:t>2. Reduced maintenance costs</a:t>
            </a:r>
          </a:p>
          <a:p>
            <a:r>
              <a:rPr lang="en-US" sz="5200" dirty="0"/>
              <a:t>3. Improved product quality</a:t>
            </a:r>
          </a:p>
          <a:p>
            <a:r>
              <a:rPr lang="en-US" sz="5200" dirty="0"/>
              <a:t>4. Enhanced employee skills and morale</a:t>
            </a:r>
          </a:p>
          <a:p>
            <a:r>
              <a:rPr lang="en-US" sz="5200" dirty="0"/>
              <a:t>5. Increased productivity</a:t>
            </a:r>
          </a:p>
          <a:p>
            <a:r>
              <a:rPr lang="en-US" sz="5200" dirty="0"/>
              <a:t>6. Better supply chain management</a:t>
            </a:r>
            <a:endParaRPr lang="en-US" dirty="0"/>
          </a:p>
          <a:p>
            <a:endParaRPr lang="en-PK" dirty="0"/>
          </a:p>
        </p:txBody>
      </p:sp>
    </p:spTree>
    <p:extLst>
      <p:ext uri="{BB962C8B-B14F-4D97-AF65-F5344CB8AC3E}">
        <p14:creationId xmlns:p14="http://schemas.microsoft.com/office/powerpoint/2010/main" val="104944380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EDA7689-9FD5-D01E-20C2-4841A78F711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1"/>
            <a:ext cx="10515600" cy="1120876"/>
          </a:xfrm>
        </p:spPr>
        <p:txBody>
          <a:bodyPr>
            <a:normAutofit/>
          </a:bodyPr>
          <a:lstStyle/>
          <a:p>
            <a:pPr algn="ctr"/>
            <a:r>
              <a:rPr lang="en-US" sz="6000" b="1" dirty="0">
                <a:highlight>
                  <a:srgbClr val="FFFF00"/>
                </a:highlight>
              </a:rPr>
              <a:t>TPM Implementation Steps</a:t>
            </a:r>
            <a:endParaRPr lang="en-PK" sz="6000" b="1" dirty="0">
              <a:highlight>
                <a:srgbClr val="FFFF00"/>
              </a:highlight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028AE94-E6D7-F373-F1AE-0D9DE8E9CEF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70000" lnSpcReduction="20000"/>
          </a:bodyPr>
          <a:lstStyle/>
          <a:p>
            <a:r>
              <a:rPr lang="en-US" sz="6300" dirty="0"/>
              <a:t>1. Develop a TPM strategy</a:t>
            </a:r>
          </a:p>
          <a:p>
            <a:r>
              <a:rPr lang="en-US" sz="6300" dirty="0"/>
              <a:t>2. Establish a TPM team</a:t>
            </a:r>
          </a:p>
          <a:p>
            <a:r>
              <a:rPr lang="en-US" sz="6300" dirty="0"/>
              <a:t>3. Conduct equipment analysis</a:t>
            </a:r>
          </a:p>
          <a:p>
            <a:r>
              <a:rPr lang="en-US" sz="6300" dirty="0"/>
              <a:t>4. Implement autonomous maintenance</a:t>
            </a:r>
          </a:p>
          <a:p>
            <a:r>
              <a:rPr lang="en-US" sz="6300" dirty="0"/>
              <a:t>5. Develop planned maintenance schedules</a:t>
            </a:r>
          </a:p>
          <a:p>
            <a:r>
              <a:rPr lang="en-US" sz="6300" dirty="0"/>
              <a:t>6. Monitor and adjust</a:t>
            </a:r>
          </a:p>
          <a:p>
            <a:pPr marL="0" indent="0">
              <a:buNone/>
            </a:pPr>
            <a:br>
              <a:rPr lang="en-US" dirty="0"/>
            </a:br>
            <a:endParaRPr lang="en-PK" dirty="0"/>
          </a:p>
        </p:txBody>
      </p:sp>
    </p:spTree>
    <p:extLst>
      <p:ext uri="{BB962C8B-B14F-4D97-AF65-F5344CB8AC3E}">
        <p14:creationId xmlns:p14="http://schemas.microsoft.com/office/powerpoint/2010/main" val="62803396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BF65C05-998A-7809-37BB-F82AAF5B88A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1"/>
            <a:ext cx="10515600" cy="1002889"/>
          </a:xfrm>
        </p:spPr>
        <p:txBody>
          <a:bodyPr>
            <a:normAutofit/>
          </a:bodyPr>
          <a:lstStyle/>
          <a:p>
            <a:pPr algn="ctr"/>
            <a:r>
              <a:rPr lang="en-US" sz="6000" b="1" i="0" dirty="0">
                <a:solidFill>
                  <a:srgbClr val="222222"/>
                </a:solidFill>
                <a:effectLst/>
                <a:highlight>
                  <a:srgbClr val="FFFF00"/>
                </a:highlight>
                <a:latin typeface="Arial" panose="020B0604020202020204" pitchFamily="34" charset="0"/>
              </a:rPr>
              <a:t>TPM Tools and Techniques</a:t>
            </a:r>
            <a:endParaRPr lang="en-PK" sz="6000" b="1" dirty="0">
              <a:highlight>
                <a:srgbClr val="FFFF00"/>
              </a:highlight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E51A2ED-900C-09CE-8143-659128C872A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20000"/>
          </a:bodyPr>
          <a:lstStyle/>
          <a:p>
            <a:pPr algn="l"/>
            <a:r>
              <a:rPr lang="en-US" sz="4400" b="0" i="0" dirty="0">
                <a:solidFill>
                  <a:srgbClr val="222222"/>
                </a:solidFill>
                <a:effectLst/>
                <a:latin typeface="Arial" panose="020B0604020202020204" pitchFamily="34" charset="0"/>
              </a:rPr>
              <a:t>1. Overall Equipment Effectiveness (OEE)</a:t>
            </a:r>
          </a:p>
          <a:p>
            <a:pPr algn="l"/>
            <a:r>
              <a:rPr lang="en-US" sz="4400" b="0" i="0" dirty="0">
                <a:solidFill>
                  <a:srgbClr val="222222"/>
                </a:solidFill>
                <a:effectLst/>
                <a:latin typeface="Arial" panose="020B0604020202020204" pitchFamily="34" charset="0"/>
              </a:rPr>
              <a:t>2. Total Effective Equipment Performance (TEEP)</a:t>
            </a:r>
          </a:p>
          <a:p>
            <a:pPr algn="l"/>
            <a:r>
              <a:rPr lang="en-US" sz="4400" b="0" i="0" dirty="0">
                <a:solidFill>
                  <a:srgbClr val="222222"/>
                </a:solidFill>
                <a:effectLst/>
                <a:latin typeface="Arial" panose="020B0604020202020204" pitchFamily="34" charset="0"/>
              </a:rPr>
              <a:t>3. Reliability-Centered Maintenance (RCM)</a:t>
            </a:r>
          </a:p>
          <a:p>
            <a:pPr algn="l"/>
            <a:r>
              <a:rPr lang="en-US" sz="4400" b="0" i="0" dirty="0">
                <a:solidFill>
                  <a:srgbClr val="222222"/>
                </a:solidFill>
                <a:effectLst/>
                <a:latin typeface="Arial" panose="020B0604020202020204" pitchFamily="34" charset="0"/>
              </a:rPr>
              <a:t>4. Failure Mode and Effects Analysis (FMEA)</a:t>
            </a:r>
          </a:p>
          <a:p>
            <a:pPr algn="l"/>
            <a:r>
              <a:rPr lang="en-US" sz="4400" b="0" i="0" dirty="0">
                <a:solidFill>
                  <a:srgbClr val="222222"/>
                </a:solidFill>
                <a:effectLst/>
                <a:latin typeface="Arial" panose="020B0604020202020204" pitchFamily="34" charset="0"/>
              </a:rPr>
              <a:t>5. Root Cause Analysis (RCA)</a:t>
            </a:r>
          </a:p>
          <a:p>
            <a:pPr algn="l"/>
            <a:r>
              <a:rPr lang="en-US" sz="4400" b="0" i="0" dirty="0">
                <a:solidFill>
                  <a:srgbClr val="222222"/>
                </a:solidFill>
                <a:effectLst/>
                <a:latin typeface="Arial" panose="020B0604020202020204" pitchFamily="34" charset="0"/>
              </a:rPr>
              <a:t>6. 5S Methodology</a:t>
            </a:r>
          </a:p>
          <a:p>
            <a:endParaRPr lang="en-PK" dirty="0"/>
          </a:p>
        </p:txBody>
      </p:sp>
    </p:spTree>
    <p:extLst>
      <p:ext uri="{BB962C8B-B14F-4D97-AF65-F5344CB8AC3E}">
        <p14:creationId xmlns:p14="http://schemas.microsoft.com/office/powerpoint/2010/main" val="301698257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57AFF0E-73FC-5722-76D1-81915829C65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1"/>
            <a:ext cx="10515600" cy="1061883"/>
          </a:xfrm>
        </p:spPr>
        <p:txBody>
          <a:bodyPr>
            <a:normAutofit/>
          </a:bodyPr>
          <a:lstStyle/>
          <a:p>
            <a:pPr algn="ctr"/>
            <a:r>
              <a:rPr lang="en-US" sz="6000" b="1" dirty="0">
                <a:highlight>
                  <a:srgbClr val="FFFF00"/>
                </a:highlight>
              </a:rPr>
              <a:t>TPM Metrics</a:t>
            </a:r>
            <a:endParaRPr lang="en-PK" sz="6000" b="1" dirty="0">
              <a:highlight>
                <a:srgbClr val="FFFF00"/>
              </a:highlight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4F55BB5-720C-4891-AACE-9F3CA7DD0C7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85000" lnSpcReduction="10000"/>
          </a:bodyPr>
          <a:lstStyle/>
          <a:p>
            <a:r>
              <a:rPr lang="en-US" sz="5600" dirty="0"/>
              <a:t>1. OEE (Overall Equipment Effectiveness)</a:t>
            </a:r>
          </a:p>
          <a:p>
            <a:r>
              <a:rPr lang="en-US" sz="5600" dirty="0"/>
              <a:t>2. MTBF (Mean Time Between Failures)</a:t>
            </a:r>
          </a:p>
          <a:p>
            <a:r>
              <a:rPr lang="en-US" sz="5600" dirty="0"/>
              <a:t>3. MTTR (Mean Time To Repair)</a:t>
            </a:r>
          </a:p>
          <a:p>
            <a:r>
              <a:rPr lang="en-US" sz="5600" dirty="0"/>
              <a:t>4. Downtime reduction</a:t>
            </a:r>
          </a:p>
          <a:p>
            <a:r>
              <a:rPr lang="en-US" sz="5600" dirty="0"/>
              <a:t>5. Maintenance cost reduction</a:t>
            </a:r>
          </a:p>
          <a:p>
            <a:br>
              <a:rPr lang="en-US" dirty="0"/>
            </a:br>
            <a:endParaRPr lang="en-PK" dirty="0"/>
          </a:p>
        </p:txBody>
      </p:sp>
    </p:spTree>
    <p:extLst>
      <p:ext uri="{BB962C8B-B14F-4D97-AF65-F5344CB8AC3E}">
        <p14:creationId xmlns:p14="http://schemas.microsoft.com/office/powerpoint/2010/main" val="3661257734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6516C50-A5C9-7B77-098A-EB94A394217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1"/>
            <a:ext cx="10515600" cy="1002889"/>
          </a:xfrm>
        </p:spPr>
        <p:txBody>
          <a:bodyPr>
            <a:normAutofit/>
          </a:bodyPr>
          <a:lstStyle/>
          <a:p>
            <a:pPr algn="ctr"/>
            <a:r>
              <a:rPr lang="en-US" sz="6000" b="1" dirty="0">
                <a:highlight>
                  <a:srgbClr val="FFFF00"/>
                </a:highlight>
              </a:rPr>
              <a:t>Industry Applications</a:t>
            </a:r>
            <a:endParaRPr lang="en-PK" sz="6000" b="1" dirty="0">
              <a:highlight>
                <a:srgbClr val="FFFF00"/>
              </a:highlight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37522C0-EDB1-1E8D-B069-B46880D6DD6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r>
              <a:rPr lang="en-US" sz="4800" dirty="0"/>
              <a:t>1. Manufacturing</a:t>
            </a:r>
          </a:p>
          <a:p>
            <a:r>
              <a:rPr lang="en-US" sz="4800" dirty="0"/>
              <a:t>2. Oil and Gas</a:t>
            </a:r>
          </a:p>
          <a:p>
            <a:r>
              <a:rPr lang="en-US" sz="4800" dirty="0"/>
              <a:t>3. Chemical Processing</a:t>
            </a:r>
          </a:p>
          <a:p>
            <a:r>
              <a:rPr lang="en-US" sz="4800" dirty="0"/>
              <a:t>4. Pharmaceuticals</a:t>
            </a:r>
          </a:p>
          <a:p>
            <a:r>
              <a:rPr lang="en-US" sz="4800" dirty="0"/>
              <a:t>5. Food Processing</a:t>
            </a:r>
          </a:p>
          <a:p>
            <a:br>
              <a:rPr lang="en-US" dirty="0"/>
            </a:br>
            <a:endParaRPr lang="en-PK" dirty="0"/>
          </a:p>
        </p:txBody>
      </p:sp>
    </p:spTree>
    <p:extLst>
      <p:ext uri="{BB962C8B-B14F-4D97-AF65-F5344CB8AC3E}">
        <p14:creationId xmlns:p14="http://schemas.microsoft.com/office/powerpoint/2010/main" val="221062522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8087562-B352-773A-0510-AD5A88AA99F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1"/>
            <a:ext cx="10515600" cy="855405"/>
          </a:xfrm>
        </p:spPr>
        <p:txBody>
          <a:bodyPr>
            <a:normAutofit fontScale="90000"/>
          </a:bodyPr>
          <a:lstStyle/>
          <a:p>
            <a:pPr algn="ctr"/>
            <a:r>
              <a:rPr lang="en-US" sz="6000" b="1" dirty="0">
                <a:highlight>
                  <a:srgbClr val="FFFF00"/>
                </a:highlight>
              </a:rPr>
              <a:t>Software Tools</a:t>
            </a:r>
            <a:endParaRPr lang="en-PK" sz="6000" b="1" dirty="0">
              <a:highlight>
                <a:srgbClr val="FFFF00"/>
              </a:highlight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746DC01-99B8-B820-0D65-F1D8CCF29B6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85000" lnSpcReduction="10000"/>
          </a:bodyPr>
          <a:lstStyle/>
          <a:p>
            <a:r>
              <a:rPr lang="en-US" sz="5600" dirty="0"/>
              <a:t>1. CMMS (Computerized Maintenance Management System)</a:t>
            </a:r>
          </a:p>
          <a:p>
            <a:r>
              <a:rPr lang="en-US" sz="5600" dirty="0"/>
              <a:t>2. EAM (Enterprise Asset Management)</a:t>
            </a:r>
          </a:p>
          <a:p>
            <a:r>
              <a:rPr lang="en-US" sz="5600" dirty="0"/>
              <a:t>3. Maintenance scheduling software</a:t>
            </a:r>
          </a:p>
          <a:p>
            <a:r>
              <a:rPr lang="en-US" sz="5600" dirty="0"/>
              <a:t>4. Reliability analysis software</a:t>
            </a:r>
          </a:p>
          <a:p>
            <a:br>
              <a:rPr lang="en-US" dirty="0"/>
            </a:br>
            <a:endParaRPr lang="en-PK" dirty="0"/>
          </a:p>
        </p:txBody>
      </p:sp>
    </p:spTree>
    <p:extLst>
      <p:ext uri="{BB962C8B-B14F-4D97-AF65-F5344CB8AC3E}">
        <p14:creationId xmlns:p14="http://schemas.microsoft.com/office/powerpoint/2010/main" val="2917703617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7AA52E5-E801-46F9-F02D-24772F3A9C7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1"/>
            <a:ext cx="10515600" cy="1076631"/>
          </a:xfrm>
        </p:spPr>
        <p:txBody>
          <a:bodyPr>
            <a:normAutofit/>
          </a:bodyPr>
          <a:lstStyle/>
          <a:p>
            <a:pPr algn="ctr"/>
            <a:r>
              <a:rPr lang="en-US" sz="6000" b="1" dirty="0">
                <a:highlight>
                  <a:srgbClr val="FFFF00"/>
                </a:highlight>
              </a:rPr>
              <a:t>Best Practices</a:t>
            </a:r>
            <a:endParaRPr lang="en-PK" sz="6000" b="1" dirty="0">
              <a:highlight>
                <a:srgbClr val="FFFF00"/>
              </a:highlight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9354E94-D882-2B8C-3134-F90A2F44898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85000" lnSpcReduction="20000"/>
          </a:bodyPr>
          <a:lstStyle/>
          <a:p>
            <a:r>
              <a:rPr lang="en-US" sz="5600" dirty="0"/>
              <a:t>1. Employee involvement and training</a:t>
            </a:r>
          </a:p>
          <a:p>
            <a:r>
              <a:rPr lang="en-US" sz="5600" dirty="0"/>
              <a:t>2. Continuous monitoring and improvement</a:t>
            </a:r>
          </a:p>
          <a:p>
            <a:r>
              <a:rPr lang="en-US" sz="5600" dirty="0"/>
              <a:t>3. Clear communication and goals</a:t>
            </a:r>
          </a:p>
          <a:p>
            <a:r>
              <a:rPr lang="en-US" sz="5600" dirty="0"/>
              <a:t>4. Regular audits and assessments</a:t>
            </a:r>
          </a:p>
          <a:p>
            <a:r>
              <a:rPr lang="en-US" sz="5600" dirty="0"/>
              <a:t>5. Integration with existing systems</a:t>
            </a:r>
          </a:p>
          <a:p>
            <a:br>
              <a:rPr lang="en-US" dirty="0"/>
            </a:br>
            <a:endParaRPr lang="en-PK" dirty="0"/>
          </a:p>
        </p:txBody>
      </p:sp>
    </p:spTree>
    <p:extLst>
      <p:ext uri="{BB962C8B-B14F-4D97-AF65-F5344CB8AC3E}">
        <p14:creationId xmlns:p14="http://schemas.microsoft.com/office/powerpoint/2010/main" val="780965793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25</TotalTime>
  <Words>361</Words>
  <Application>Microsoft Office PowerPoint</Application>
  <PresentationFormat>Widescreen</PresentationFormat>
  <Paragraphs>67</Paragraphs>
  <Slides>9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3" baseType="lpstr">
      <vt:lpstr>Arial</vt:lpstr>
      <vt:lpstr>Calibri</vt:lpstr>
      <vt:lpstr>Calibri Light</vt:lpstr>
      <vt:lpstr>Office Theme</vt:lpstr>
      <vt:lpstr>Total Productive Maintenance (TPM)</vt:lpstr>
      <vt:lpstr>TPM Pillars</vt:lpstr>
      <vt:lpstr>TPM Benefits</vt:lpstr>
      <vt:lpstr>TPM Implementation Steps</vt:lpstr>
      <vt:lpstr>TPM Tools and Techniques</vt:lpstr>
      <vt:lpstr>TPM Metrics</vt:lpstr>
      <vt:lpstr>Industry Applications</vt:lpstr>
      <vt:lpstr>Software Tools</vt:lpstr>
      <vt:lpstr>Best Practices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ColSial</dc:creator>
  <cp:lastModifiedBy>ColSial</cp:lastModifiedBy>
  <cp:revision>23</cp:revision>
  <dcterms:created xsi:type="dcterms:W3CDTF">2024-09-22T14:00:43Z</dcterms:created>
  <dcterms:modified xsi:type="dcterms:W3CDTF">2024-09-28T07:35:08Z</dcterms:modified>
</cp:coreProperties>
</file>