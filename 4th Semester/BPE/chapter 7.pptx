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33373-7A1C-4F73-97F5-F6CD7A9F8F06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590AE-99FF-4DDF-BA41-4E5E9D428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0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52C9-0ECB-40C0-94B9-08C1750E92AA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2CAC-07B8-4FE5-857F-EBBA1054AD79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6E76-602E-4CDB-9183-7F22DD4BA026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20D5-0CEC-4183-B0F6-6497E79B11A2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BCC5A-720F-4773-91D4-BB1A10CC5EB2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49C9-5241-41EB-A775-9FFDDCBFFC96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43476-27BB-4D63-ACA1-FA6DDF644C4B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3F25-F0FF-4D7B-A0F2-A54F9469F0A5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B564-499B-4F39-BC17-21101E540AAA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EBF-5EF0-4E99-BAAE-31B0164F2E7C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B1DB-CFF5-4F57-8098-A7B5A9989F20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975F-FF2B-4AD2-825D-8CC8BE05EB1A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F59-6B8C-449E-854D-26B0559BC262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4D29-0F50-4807-B949-90115C271B7C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EE88C-EBF4-412C-968F-1380F4ADF859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45F1-49B9-4246-AF87-4BD8A2F55698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A61C3-DF69-4FEB-A49B-E368E3C8C216}" type="datetime1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803366"/>
            <a:ext cx="8915399" cy="2262781"/>
          </a:xfrm>
        </p:spPr>
        <p:txBody>
          <a:bodyPr/>
          <a:lstStyle/>
          <a:p>
            <a:r>
              <a:rPr lang="en-US" b="1" dirty="0"/>
              <a:t>Group Member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3775166"/>
            <a:ext cx="8915399" cy="2128496"/>
          </a:xfrm>
        </p:spPr>
        <p:txBody>
          <a:bodyPr/>
          <a:lstStyle/>
          <a:p>
            <a:r>
              <a:rPr lang="en-US" dirty="0"/>
              <a:t>Muhammad Sarmad khan (SP23981)</a:t>
            </a:r>
          </a:p>
          <a:p>
            <a:r>
              <a:rPr lang="en-US" dirty="0"/>
              <a:t>Malik </a:t>
            </a:r>
            <a:r>
              <a:rPr lang="en-US" dirty="0" err="1"/>
              <a:t>Haseeb</a:t>
            </a:r>
            <a:r>
              <a:rPr lang="en-US" dirty="0"/>
              <a:t> (SP23980)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4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Executive Level BPM Group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Business process management (BPM) is the discipline in which people use various methods to discover, model, analyze, measure, improve, optimize, and automate business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5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Brief History of Executive Level BPM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442754"/>
            <a:ext cx="8915400" cy="3468468"/>
          </a:xfrm>
        </p:spPr>
        <p:txBody>
          <a:bodyPr/>
          <a:lstStyle/>
          <a:p>
            <a:pPr lvl="0"/>
            <a:r>
              <a:rPr lang="en-US" b="1" dirty="0"/>
              <a:t>Origins of BPM</a:t>
            </a:r>
            <a:r>
              <a:rPr lang="en-US" dirty="0"/>
              <a:t>: BPM emerged in the 1990s as businesses sought structured approaches to improve efficiency and productivity.</a:t>
            </a:r>
          </a:p>
          <a:p>
            <a:pPr lvl="0"/>
            <a:r>
              <a:rPr lang="en-US" b="1" dirty="0"/>
              <a:t>Executive Focus</a:t>
            </a:r>
            <a:r>
              <a:rPr lang="en-US" dirty="0"/>
              <a:t>: Initially led by senior executives to align business processes with strategic objectives and ensure enterprise-wide adoption.</a:t>
            </a:r>
          </a:p>
          <a:p>
            <a:pPr lvl="0"/>
            <a:r>
              <a:rPr lang="en-US" b="1" dirty="0"/>
              <a:t>Key Developments</a:t>
            </a:r>
            <a:r>
              <a:rPr lang="en-US" dirty="0"/>
              <a:t>: Adoption of methodologies such as Six Sigma and Lean integrated into BPM to enhance process optimization.</a:t>
            </a:r>
          </a:p>
          <a:p>
            <a:pPr lvl="0"/>
            <a:r>
              <a:rPr lang="en-US" b="1" dirty="0"/>
              <a:t>Technological Advancements</a:t>
            </a:r>
            <a:r>
              <a:rPr lang="en-US" dirty="0"/>
              <a:t>: Growth in process automation tools and platforms enabled broader and deeper BPM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5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 State of the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Centralized Oversight</a:t>
            </a:r>
            <a:r>
              <a:rPr lang="en-US" dirty="0"/>
              <a:t>: Executive BPM groups now oversee enterprise-wide process management to ensure alignment with business goals.</a:t>
            </a:r>
          </a:p>
          <a:p>
            <a:pPr lvl="0"/>
            <a:r>
              <a:rPr lang="en-US" b="1" dirty="0"/>
              <a:t>Integration with Technology</a:t>
            </a:r>
            <a:r>
              <a:rPr lang="en-US" dirty="0"/>
              <a:t>: Widespread use of AI and process mining tools to streamline and monitor processes in real-time.</a:t>
            </a:r>
          </a:p>
          <a:p>
            <a:pPr lvl="0"/>
            <a:r>
              <a:rPr lang="en-US" b="1" dirty="0"/>
              <a:t>Cross-Functional Leadership</a:t>
            </a:r>
            <a:r>
              <a:rPr lang="en-US" dirty="0"/>
              <a:t>: Composed of C-level executives and senior leaders who collaborate across departments.</a:t>
            </a:r>
          </a:p>
          <a:p>
            <a:pPr lvl="0"/>
            <a:r>
              <a:rPr lang="en-US" b="1" dirty="0"/>
              <a:t>Strategic Focus</a:t>
            </a:r>
            <a:r>
              <a:rPr lang="en-US" dirty="0"/>
              <a:t>: Emphasis on customer-centric processes and value chain integration to drive competitiveness.</a:t>
            </a:r>
          </a:p>
          <a:p>
            <a:pPr lvl="0"/>
            <a:r>
              <a:rPr lang="en-US" b="1" dirty="0"/>
              <a:t>Continuous Improvement</a:t>
            </a:r>
            <a:r>
              <a:rPr lang="en-US" dirty="0"/>
              <a:t>: Commitment to iterative process reviews for ongoing refinement and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67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SWOT Analysis of Their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Strengths</a:t>
            </a:r>
            <a:r>
              <a:rPr lang="en-US" dirty="0"/>
              <a:t>:</a:t>
            </a:r>
            <a:endParaRPr lang="en-US" sz="1600" dirty="0"/>
          </a:p>
          <a:p>
            <a:pPr lvl="1"/>
            <a:r>
              <a:rPr lang="en-US" b="1" dirty="0"/>
              <a:t>High-Level Vision</a:t>
            </a:r>
            <a:r>
              <a:rPr lang="en-US" dirty="0"/>
              <a:t>: Strong alignment of processes with strategic goals for holistic business growth.</a:t>
            </a:r>
            <a:endParaRPr lang="en-US" sz="1400" dirty="0"/>
          </a:p>
          <a:p>
            <a:pPr lvl="1"/>
            <a:r>
              <a:rPr lang="en-US" b="1" dirty="0"/>
              <a:t>Resource Allocation</a:t>
            </a:r>
            <a:r>
              <a:rPr lang="en-US" dirty="0"/>
              <a:t>: Access to significant resources and technology to support BPM initiatives.</a:t>
            </a:r>
            <a:endParaRPr lang="en-US" sz="1400" dirty="0"/>
          </a:p>
          <a:p>
            <a:pPr lvl="1"/>
            <a:r>
              <a:rPr lang="en-US" b="1" dirty="0"/>
              <a:t>Leadership Authority</a:t>
            </a:r>
            <a:r>
              <a:rPr lang="en-US" dirty="0"/>
              <a:t>: Influence and ability to drive change across the organization.</a:t>
            </a:r>
            <a:endParaRPr lang="en-US" sz="1400" dirty="0"/>
          </a:p>
          <a:p>
            <a:pPr lvl="0"/>
            <a:r>
              <a:rPr lang="en-US" b="1" dirty="0"/>
              <a:t>Weaknesses</a:t>
            </a:r>
            <a:r>
              <a:rPr lang="en-US" dirty="0"/>
              <a:t>:</a:t>
            </a:r>
            <a:endParaRPr lang="en-US" sz="1600" dirty="0"/>
          </a:p>
          <a:p>
            <a:pPr lvl="1"/>
            <a:r>
              <a:rPr lang="en-US" b="1" dirty="0"/>
              <a:t>Resistance to Change</a:t>
            </a:r>
            <a:r>
              <a:rPr lang="en-US" dirty="0"/>
              <a:t>: Employee pushback or slow adoption of new processes.</a:t>
            </a:r>
            <a:endParaRPr lang="en-US" sz="1400" dirty="0"/>
          </a:p>
          <a:p>
            <a:pPr lvl="1"/>
            <a:r>
              <a:rPr lang="en-US" b="1" dirty="0"/>
              <a:t>Complex Implementation</a:t>
            </a:r>
            <a:r>
              <a:rPr lang="en-US" dirty="0"/>
              <a:t>: Challenges in coordinating extensive process changes at scale.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24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Opportunities</a:t>
            </a:r>
            <a:r>
              <a:rPr lang="en-US" dirty="0"/>
              <a:t>:</a:t>
            </a:r>
            <a:endParaRPr lang="en-US" sz="1600" dirty="0"/>
          </a:p>
          <a:p>
            <a:pPr lvl="1"/>
            <a:r>
              <a:rPr lang="en-US" b="1" dirty="0"/>
              <a:t>Technological Advancements</a:t>
            </a:r>
            <a:r>
              <a:rPr lang="en-US" dirty="0"/>
              <a:t>: Leveraging new tools like robotic process automation (RPA) and AI to enhance efficiency.</a:t>
            </a:r>
            <a:endParaRPr lang="en-US" sz="1400" dirty="0"/>
          </a:p>
          <a:p>
            <a:pPr lvl="1"/>
            <a:r>
              <a:rPr lang="en-US" b="1" dirty="0"/>
              <a:t>Global Expansion</a:t>
            </a:r>
            <a:r>
              <a:rPr lang="en-US" dirty="0"/>
              <a:t>: Using BPM to standardize operations in international markets.</a:t>
            </a:r>
            <a:endParaRPr lang="en-US" sz="1400" dirty="0"/>
          </a:p>
          <a:p>
            <a:pPr lvl="0"/>
            <a:r>
              <a:rPr lang="en-US" b="1" dirty="0"/>
              <a:t>Threats</a:t>
            </a:r>
            <a:r>
              <a:rPr lang="en-US" dirty="0"/>
              <a:t>:</a:t>
            </a:r>
            <a:endParaRPr lang="en-US" sz="1600" dirty="0"/>
          </a:p>
          <a:p>
            <a:pPr lvl="1"/>
            <a:r>
              <a:rPr lang="en-US" b="1" dirty="0"/>
              <a:t>Economic Uncertainty</a:t>
            </a:r>
            <a:r>
              <a:rPr lang="en-US" dirty="0"/>
              <a:t>: Budget cuts or shifts that affect BPM resources.</a:t>
            </a:r>
            <a:endParaRPr lang="en-US" sz="1400" dirty="0"/>
          </a:p>
          <a:p>
            <a:r>
              <a:rPr lang="en-US" b="1" dirty="0"/>
              <a:t>Rapid Technological Changes</a:t>
            </a:r>
            <a:r>
              <a:rPr lang="en-US" dirty="0"/>
              <a:t>: The need to continuously adapt to new tech trends to remain competitive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6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Opinion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Strategic Necessity</a:t>
            </a:r>
            <a:r>
              <a:rPr lang="en-US" dirty="0"/>
              <a:t>: Essential for large organizations to maintain competitive advantage and operational efficiency.</a:t>
            </a:r>
          </a:p>
          <a:p>
            <a:pPr lvl="0"/>
            <a:r>
              <a:rPr lang="en-US" b="1" dirty="0"/>
              <a:t>Leadership Effectiveness</a:t>
            </a:r>
            <a:r>
              <a:rPr lang="en-US" dirty="0"/>
              <a:t>: Success depends heavily on the commitment and vision of top management.</a:t>
            </a:r>
          </a:p>
          <a:p>
            <a:pPr lvl="0"/>
            <a:r>
              <a:rPr lang="en-US" b="1" dirty="0"/>
              <a:t>Adaptability</a:t>
            </a:r>
            <a:r>
              <a:rPr lang="en-US" dirty="0"/>
              <a:t>: A critical factor is the ability of the executive group to remain flexible and responsive to market changes.</a:t>
            </a:r>
          </a:p>
          <a:p>
            <a:pPr lvl="0"/>
            <a:r>
              <a:rPr lang="en-US" b="1" dirty="0"/>
              <a:t>Employee Engagement</a:t>
            </a:r>
            <a:r>
              <a:rPr lang="en-US" dirty="0"/>
              <a:t>: Strong focus needed on fostering a culture that embraces change and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6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Invest in Training</a:t>
            </a:r>
            <a:r>
              <a:rPr lang="en-US" dirty="0"/>
              <a:t>: Provide comprehensive training for employees to build process awareness and smooth transitions.</a:t>
            </a:r>
          </a:p>
          <a:p>
            <a:pPr lvl="0"/>
            <a:r>
              <a:rPr lang="en-US" b="1" dirty="0"/>
              <a:t>Adopt Agile Methodologies</a:t>
            </a:r>
            <a:r>
              <a:rPr lang="en-US" dirty="0"/>
              <a:t>: Implement agile principles within BPM to foster adaptability and rapid improvements.</a:t>
            </a:r>
          </a:p>
          <a:p>
            <a:pPr lvl="0"/>
            <a:r>
              <a:rPr lang="en-US" b="1" dirty="0"/>
              <a:t>Enhance Collaboration</a:t>
            </a:r>
            <a:r>
              <a:rPr lang="en-US" dirty="0"/>
              <a:t>: Encourage cross-departmental teams to work with the BPM group for holistic process management.</a:t>
            </a:r>
          </a:p>
          <a:p>
            <a:pPr lvl="0"/>
            <a:r>
              <a:rPr lang="en-US" b="1" dirty="0"/>
              <a:t>Leverage Emerging Tech</a:t>
            </a:r>
            <a:r>
              <a:rPr lang="en-US" dirty="0"/>
              <a:t>: Stay ahead by integrating advancements in AI, RPA, and data analytics for better decision-making.</a:t>
            </a:r>
          </a:p>
          <a:p>
            <a:pPr lvl="0"/>
            <a:r>
              <a:rPr lang="en-US" b="1" dirty="0"/>
              <a:t>Continuous Feedback Loop</a:t>
            </a:r>
            <a:r>
              <a:rPr lang="en-US" dirty="0"/>
              <a:t>: Establish robust feedback mechanisms to identify pain points and opportunities for process enhancement.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88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Coca-Cola:</a:t>
            </a:r>
            <a:r>
              <a:rPr lang="en-US" dirty="0"/>
              <a:t> Coca-Cola’s </a:t>
            </a:r>
            <a:r>
              <a:rPr lang="en-US" b="1" dirty="0"/>
              <a:t>Global Business Services</a:t>
            </a:r>
            <a:r>
              <a:rPr lang="en-US" dirty="0"/>
              <a:t> (GBS) group includes an executive-level BPM committee that focuses on the optimization of key processes across the company's supply chain, marketing, and customer service. They implement a mix of process improvement methodologies like Lean and Six Sigma to streamline operations globally.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General Electric (GE):</a:t>
            </a:r>
            <a:r>
              <a:rPr lang="en-US" dirty="0"/>
              <a:t> GE has a </a:t>
            </a:r>
            <a:r>
              <a:rPr lang="en-US" b="1" dirty="0"/>
              <a:t>Business Process Council</a:t>
            </a:r>
            <a:r>
              <a:rPr lang="en-US" dirty="0"/>
              <a:t> that oversees process improvement efforts across the company, including optimizing manufacturing, service delivery, and R&amp;D processes. This council is responsible for ensuring that all business units adhere to best practices and that the business processes are continuously refined for greater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51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3342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</TotalTime>
  <Words>621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Group Member</vt:lpstr>
      <vt:lpstr>Executive Level BPM Group</vt:lpstr>
      <vt:lpstr>Brief History of Executive Level BPM Group</vt:lpstr>
      <vt:lpstr>Present State of the Management</vt:lpstr>
      <vt:lpstr>SWOT Analysis of Their Management</vt:lpstr>
      <vt:lpstr>Cont.…</vt:lpstr>
      <vt:lpstr>Opinion</vt:lpstr>
      <vt:lpstr>Recommendations</vt:lpstr>
      <vt:lpstr>Real life Examples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Member</dc:title>
  <dc:creator>Sarmad Baloch</dc:creator>
  <cp:lastModifiedBy>Sarmad Baloch</cp:lastModifiedBy>
  <cp:revision>4</cp:revision>
  <dcterms:created xsi:type="dcterms:W3CDTF">2024-11-15T09:43:06Z</dcterms:created>
  <dcterms:modified xsi:type="dcterms:W3CDTF">2024-11-22T11:17:51Z</dcterms:modified>
</cp:coreProperties>
</file>