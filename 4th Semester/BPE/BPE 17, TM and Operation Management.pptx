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60069-3A93-DDEE-114F-D58A7E027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841954-DCEE-1494-8405-F251131F7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323F0-6C31-929E-93A3-609A0EAB4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46C35-C25F-7A7C-6B38-DC4679179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ABA25-DA27-F771-7E1E-3F1CE4E6E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878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EF135-627B-0CFD-96A8-A0D1F1DC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0E3F4-6428-0CF8-3139-F1ED2ED73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2BD0E-7D08-B3D9-8687-9082FCE8D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3828D-0426-75E3-EB44-9C896FF4A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AB47C-A234-400E-A4D6-F6A8B171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1144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421F-ACAF-D962-1635-CD497BC0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1F5B8-F763-65FC-2953-32EE3CFBA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29668-0145-BB2F-2704-2D579ED4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F9D85-F7BF-A360-C52B-72DC5D4C2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DFE8F-383E-8CE8-FBAD-6CEF933C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63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3D4E-8629-3B14-9A7B-D40BE610F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95751-98F5-4DE0-0FCB-E31B46149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CFC6F-BBBD-9A5D-A8DE-4118863BD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2495A-ED17-8924-A45F-45E2FC0A3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CBB608-25D7-C734-2CBC-B8641E1D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426B1-DD62-F1F3-49C5-8A91EADE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92978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0D00-8E2B-CDF0-79A5-115A20292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D01FD-1DA5-7A3A-EED5-5A7C50699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11C41C-2D16-660A-99E6-28C918660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96371-DBC6-ED81-CAA3-5C8371624E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70BB5F-B9F6-FF5D-4455-47CF3E3A75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91B93-FD1B-1C11-F9F8-82A7A325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E7C2F-5DC9-C3D0-BA3B-C8595A47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687402-E690-C0B1-FB8C-08A5B6CDF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774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31D3-44BE-B149-547F-3684B9CA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995F9-7A88-5822-9F08-65B3B2EA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4F6D5-71D9-91F7-EA2A-1297B640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C0A89B-0A4C-07CC-CA60-382DCC55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6942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CDBF67-75F8-7B79-C176-09300D3D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3B7B-CDA5-DA61-2E71-20750E16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9FD76-C67D-0B30-B100-ABCAB468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31888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0319-4206-4748-B697-28D53E3F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1E808-AE33-9864-CA00-BC34A898E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1B10C-F22D-2C15-5816-8AF568B77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22CF61-C243-283C-7172-D5418DA7C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E8FDD-1C8B-B66F-4A31-18A01127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C200B-C85C-258D-54C7-022EE5CB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61138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864F-24D6-0A83-6B1B-BEE5E18C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310F6-827D-2586-DD6E-E5B58ED64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0FEE2-401C-9C01-42C4-F659EB2FD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31579-153C-3CFE-21E5-39021D709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71383-60BA-4013-8B27-B1635FC75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DDEF7-2C14-D0C8-3FF5-BF9C1007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27967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188F-53F3-C6B5-299F-6572BF1A7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82001-309E-AB18-D55A-A26430073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79CD0-9FBC-E229-C782-53FB8D1B7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EDEC7-495F-7409-66C1-17149ADF2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06B03-A658-8CB3-B923-729A11C4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7265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395B40-4E77-B797-6E0B-9AC9BB68F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625BA-0C10-C75F-1D6E-902BC2C0F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1EBF-9E81-0979-AE9A-1F349615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9D90-8EAE-827D-A811-0CF16AD95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F351A-8C9D-9DD5-E474-9AAD4D71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5576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C1496-06BB-7A9E-5F14-76C582BD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0B18D-6E2E-292F-E9BF-77E1A11A8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B2C16-9CC7-D345-2355-2ACC3B3B2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8566-84F3-4159-BBB9-9A67AF41383E}" type="datetimeFigureOut">
              <a:rPr lang="en-PK" smtClean="0"/>
              <a:t>06/10/2024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39B5-E859-6B03-FDF3-8E8BCCB63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92A0F-5876-721D-8D34-727FBBE31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F4079-D111-4417-ACC6-60F029CAA1D2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4796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46B01-8C3E-079A-82BF-B7E99F3F6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160019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Total Quality Management (TQM) and Operations Management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2D545-F1DD-F250-0796-35F8E7A3A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1600200"/>
            <a:ext cx="12191999" cy="5257798"/>
          </a:xfrm>
        </p:spPr>
        <p:txBody>
          <a:bodyPr>
            <a:normAutofit fontScale="70000" lnSpcReduction="20000"/>
          </a:bodyPr>
          <a:lstStyle/>
          <a:p>
            <a:r>
              <a:rPr lang="en-US" sz="6300" dirty="0"/>
              <a:t>Total Quality Management (TQM) and Operations Management are two interconnected disciplines that aim to enhance organizational performance.</a:t>
            </a:r>
          </a:p>
          <a:p>
            <a:r>
              <a:rPr lang="en-US" sz="6300" dirty="0"/>
              <a:t>*Total Quality Management (TQM)*</a:t>
            </a:r>
            <a:br>
              <a:rPr lang="en-US" sz="6300" dirty="0"/>
            </a:br>
            <a:endParaRPr lang="en-US" sz="6300" dirty="0"/>
          </a:p>
          <a:p>
            <a:r>
              <a:rPr lang="en-US" sz="6300" dirty="0"/>
              <a:t>_Definition:_ A management approach focusing on continuous improvement, customer satisfaction, and employee involvement.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2190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ECC7-5D06-52DE-EC54-79BE88281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988"/>
            <a:ext cx="10515600" cy="107663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TQM Principles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ABDA-2DB6-AB47-019B-967A6ADE3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32" y="1194620"/>
            <a:ext cx="12029768" cy="5663380"/>
          </a:xfrm>
        </p:spPr>
        <p:txBody>
          <a:bodyPr>
            <a:normAutofit fontScale="70000" lnSpcReduction="20000"/>
          </a:bodyPr>
          <a:lstStyle/>
          <a:p>
            <a:r>
              <a:rPr lang="en-US" sz="6900" dirty="0"/>
              <a:t>1. Customer focus</a:t>
            </a:r>
          </a:p>
          <a:p>
            <a:r>
              <a:rPr lang="en-US" sz="6900" dirty="0"/>
              <a:t>2. Continuous improvement</a:t>
            </a:r>
          </a:p>
          <a:p>
            <a:r>
              <a:rPr lang="en-US" sz="6900" dirty="0"/>
              <a:t>3. Employee empowerment</a:t>
            </a:r>
          </a:p>
          <a:p>
            <a:r>
              <a:rPr lang="en-US" sz="6900" dirty="0"/>
              <a:t>4. Process approach</a:t>
            </a:r>
          </a:p>
          <a:p>
            <a:r>
              <a:rPr lang="en-US" sz="6900" dirty="0"/>
              <a:t>5. Integrated system</a:t>
            </a:r>
          </a:p>
          <a:p>
            <a:r>
              <a:rPr lang="en-US" sz="6900" dirty="0"/>
              <a:t>6. Strategic planning</a:t>
            </a:r>
          </a:p>
          <a:p>
            <a:r>
              <a:rPr lang="en-US" sz="6900" dirty="0"/>
              <a:t>7. Fact-based decision-making</a:t>
            </a:r>
          </a:p>
          <a:p>
            <a:r>
              <a:rPr lang="en-US" sz="6900" dirty="0"/>
              <a:t>8. Communication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2156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D1709-36FE-EC60-A380-F0926CA6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71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TQM 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A7C94-4FF6-B2EA-1A77-7796E43E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9" y="1563328"/>
            <a:ext cx="12088761" cy="5294671"/>
          </a:xfrm>
        </p:spPr>
        <p:txBody>
          <a:bodyPr>
            <a:normAutofit fontScale="32500" lnSpcReduction="20000"/>
          </a:bodyPr>
          <a:lstStyle/>
          <a:p>
            <a:endParaRPr lang="en-US" sz="12300" dirty="0"/>
          </a:p>
          <a:p>
            <a:r>
              <a:rPr lang="en-US" sz="12300" dirty="0"/>
              <a:t>1. PDCA Cycle</a:t>
            </a:r>
          </a:p>
          <a:p>
            <a:r>
              <a:rPr lang="en-US" sz="12300" dirty="0"/>
              <a:t>2. Six Sigma</a:t>
            </a:r>
          </a:p>
          <a:p>
            <a:r>
              <a:rPr lang="en-US" sz="12300" dirty="0"/>
              <a:t>3. Lean</a:t>
            </a:r>
          </a:p>
          <a:p>
            <a:r>
              <a:rPr lang="en-US" sz="12300" dirty="0"/>
              <a:t>4. Fishbone Diagrams (Ishikawa)</a:t>
            </a:r>
          </a:p>
          <a:p>
            <a:r>
              <a:rPr lang="en-US" sz="12300" dirty="0"/>
              <a:t>5. Pareto Analysis</a:t>
            </a:r>
          </a:p>
          <a:p>
            <a:r>
              <a:rPr lang="en-US" sz="12300" dirty="0"/>
              <a:t>6. Root Cause Analysis (RCA)</a:t>
            </a:r>
          </a:p>
          <a:p>
            <a:r>
              <a:rPr lang="en-US" sz="12300" dirty="0"/>
              <a:t>7. Quality Function Deployment (QFD)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0239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7D85A-1C6B-B8A7-ADD4-602800683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0612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Operations Management Strategies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8770-F914-5B7F-3A09-BBCB03DBA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53613"/>
            <a:ext cx="12192000" cy="4923350"/>
          </a:xfrm>
        </p:spPr>
        <p:txBody>
          <a:bodyPr>
            <a:normAutofit fontScale="92500"/>
          </a:bodyPr>
          <a:lstStyle/>
          <a:p>
            <a:r>
              <a:rPr lang="en-US" sz="6000" dirty="0"/>
              <a:t>1. Just-In-Time (JIT)</a:t>
            </a:r>
          </a:p>
          <a:p>
            <a:r>
              <a:rPr lang="en-US" sz="6000" dirty="0"/>
              <a:t>2. Total Productive Maintenance (TPM)</a:t>
            </a:r>
          </a:p>
          <a:p>
            <a:r>
              <a:rPr lang="en-US" sz="6000" dirty="0"/>
              <a:t>3. Supply Chain Management (SCM)</a:t>
            </a:r>
          </a:p>
          <a:p>
            <a:r>
              <a:rPr lang="en-US" sz="6000" dirty="0"/>
              <a:t>4. Inventory Management</a:t>
            </a:r>
          </a:p>
          <a:p>
            <a:r>
              <a:rPr lang="en-US" sz="6000" dirty="0"/>
              <a:t>5. Scheduling</a:t>
            </a:r>
            <a:endParaRPr lang="en-US" sz="4800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21330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297D-738E-1877-5E7E-FB3CA72E2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327354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Relationship between TQM and Operations Management*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FBAF-43BB-50C1-052B-C639AD6A6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89587"/>
            <a:ext cx="12191999" cy="5501148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TQM focuses on quality, while Operations Management focuses on efficiency.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TQM improves processes, while Operations Management optimizes resource allocation.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TQM enhances</a:t>
            </a:r>
          </a:p>
          <a:p>
            <a:pPr lvl="1"/>
            <a:r>
              <a:rPr 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Quality planning</a:t>
            </a:r>
          </a:p>
          <a:p>
            <a:pPr lvl="1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Process management</a:t>
            </a:r>
          </a:p>
          <a:p>
            <a:pPr lvl="1"/>
            <a:r>
              <a:rPr 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CI</a:t>
            </a:r>
          </a:p>
          <a:p>
            <a:pPr lvl="1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Employee involvement</a:t>
            </a:r>
          </a:p>
          <a:p>
            <a:pPr lvl="1"/>
            <a:r>
              <a:rPr lang="en-US" sz="4000" dirty="0">
                <a:solidFill>
                  <a:srgbClr val="222222"/>
                </a:solidFill>
                <a:latin typeface="Arial" panose="020B0604020202020204" pitchFamily="34" charset="0"/>
              </a:rPr>
              <a:t>Customer focus</a:t>
            </a:r>
          </a:p>
          <a:p>
            <a:pPr lvl="1"/>
            <a:endParaRPr lang="en-US" sz="4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55348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60D0-E297-8346-7761-ECB5DBB8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1999" cy="1690688"/>
          </a:xfrm>
        </p:spPr>
        <p:txBody>
          <a:bodyPr/>
          <a:lstStyle/>
          <a:p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Relationship between TQM and Operations Management*(</a:t>
            </a:r>
            <a:r>
              <a:rPr lang="en-US" b="1" i="0" dirty="0" err="1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Cont</a:t>
            </a:r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)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C7E9-4937-B5AA-6290-4138B8480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r>
              <a:rPr lang="en-US" sz="4400" dirty="0"/>
              <a:t>4. Operation Management(OM) Enhances</a:t>
            </a:r>
          </a:p>
          <a:p>
            <a:pPr lvl="1"/>
            <a:r>
              <a:rPr lang="en-US" sz="4000" dirty="0"/>
              <a:t>Strategic planning</a:t>
            </a:r>
          </a:p>
          <a:p>
            <a:pPr lvl="1"/>
            <a:r>
              <a:rPr lang="en-US" sz="4000" dirty="0"/>
              <a:t>Operation design</a:t>
            </a:r>
          </a:p>
          <a:p>
            <a:pPr lvl="1"/>
            <a:r>
              <a:rPr lang="en-US" sz="4000" dirty="0"/>
              <a:t>Process optimization</a:t>
            </a:r>
          </a:p>
          <a:p>
            <a:pPr lvl="1"/>
            <a:r>
              <a:rPr lang="en-US" sz="4000" dirty="0"/>
              <a:t>HRM</a:t>
            </a:r>
          </a:p>
          <a:p>
            <a:pPr lvl="1"/>
            <a:r>
              <a:rPr lang="en-US" sz="4000" dirty="0"/>
              <a:t>Customer service</a:t>
            </a:r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1503408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D8B5F-E7D6-646F-2D5E-29E21D8A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7339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highlight>
                  <a:srgbClr val="FFFF00"/>
                </a:highlight>
              </a:rPr>
              <a:t>Benefits of Integrating TQM and Operations Management</a:t>
            </a:r>
            <a:endParaRPr lang="en-PK" sz="48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C89D3-64DB-D218-2E75-ED899198C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445342"/>
            <a:ext cx="12078929" cy="5412657"/>
          </a:xfrm>
        </p:spPr>
        <p:txBody>
          <a:bodyPr>
            <a:normAutofit lnSpcReduction="10000"/>
          </a:bodyPr>
          <a:lstStyle/>
          <a:p>
            <a:r>
              <a:rPr lang="en-US" sz="6000" dirty="0"/>
              <a:t>1. Improved quality and efficiency</a:t>
            </a:r>
          </a:p>
          <a:p>
            <a:r>
              <a:rPr lang="en-US" sz="6000" dirty="0"/>
              <a:t>2. Enhanced customer satisfaction</a:t>
            </a:r>
          </a:p>
          <a:p>
            <a:r>
              <a:rPr lang="en-US" sz="6000" dirty="0"/>
              <a:t>3. Increased productivity</a:t>
            </a:r>
          </a:p>
          <a:p>
            <a:r>
              <a:rPr lang="en-US" sz="6000" dirty="0"/>
              <a:t>4. Reduced costs and waste</a:t>
            </a:r>
          </a:p>
          <a:p>
            <a:r>
              <a:rPr lang="en-US" sz="6000" dirty="0"/>
              <a:t>5. Better decision-making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1460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B272F-2E02-D49E-C710-9F52A82D0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FB656-9E6B-9E05-6451-F65124F7C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9" y="1799303"/>
            <a:ext cx="12088761" cy="4881716"/>
          </a:xfrm>
        </p:spPr>
        <p:txBody>
          <a:bodyPr>
            <a:normAutofit fontScale="92500" lnSpcReduction="10000"/>
          </a:bodyPr>
          <a:lstStyle/>
          <a:p>
            <a:r>
              <a:rPr lang="en-US" sz="6000" dirty="0"/>
              <a:t>1. Manufacturing</a:t>
            </a:r>
          </a:p>
          <a:p>
            <a:r>
              <a:rPr lang="en-US" sz="6000" dirty="0"/>
              <a:t>2. Healthcare</a:t>
            </a:r>
          </a:p>
          <a:p>
            <a:r>
              <a:rPr lang="en-US" sz="6000" dirty="0"/>
              <a:t>3. Service industries</a:t>
            </a:r>
          </a:p>
          <a:p>
            <a:r>
              <a:rPr lang="en-US" sz="6000" dirty="0"/>
              <a:t>4. Technology and software</a:t>
            </a:r>
          </a:p>
          <a:p>
            <a:r>
              <a:rPr lang="en-US" sz="6000" dirty="0"/>
              <a:t>5. Finance and banking</a:t>
            </a:r>
          </a:p>
          <a:p>
            <a:pPr marL="0" indent="0">
              <a:buNone/>
            </a:pPr>
            <a:br>
              <a:rPr lang="en-US" sz="3200" dirty="0"/>
            </a:b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1268751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2FA9-6A0D-FBD0-C1D3-1A5E5B90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4389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Software Tools*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366D-3FA3-0728-DE37-774B30BE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F871AA-F32C-9644-9D17-229FC510045F}"/>
              </a:ext>
            </a:extLst>
          </p:cNvPr>
          <p:cNvSpPr txBox="1"/>
          <p:nvPr/>
        </p:nvSpPr>
        <p:spPr>
          <a:xfrm>
            <a:off x="-1" y="1076632"/>
            <a:ext cx="12078929" cy="812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5400" dirty="0"/>
          </a:p>
          <a:p>
            <a:r>
              <a:rPr lang="en-US" sz="5400" dirty="0"/>
              <a:t>1. Quality management software (e.g., </a:t>
            </a:r>
            <a:r>
              <a:rPr lang="en-US" sz="5400" dirty="0" err="1"/>
              <a:t>Qualityze</a:t>
            </a:r>
            <a:r>
              <a:rPr lang="en-US" sz="5400" dirty="0"/>
              <a:t>)</a:t>
            </a:r>
          </a:p>
          <a:p>
            <a:r>
              <a:rPr lang="en-US" sz="5400" dirty="0"/>
              <a:t>2. Operations management software (e.g., SAP)</a:t>
            </a:r>
          </a:p>
          <a:p>
            <a:r>
              <a:rPr lang="en-US" sz="5400" dirty="0"/>
              <a:t>3. Enterprise resource planning (ERP) systems</a:t>
            </a:r>
          </a:p>
          <a:p>
            <a:r>
              <a:rPr lang="en-US" sz="5400" dirty="0"/>
              <a:t>4. Supply chain management software</a:t>
            </a:r>
          </a:p>
          <a:p>
            <a:r>
              <a:rPr lang="en-US" sz="5400" dirty="0"/>
              <a:t>5. Business intelligence tools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2864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E9C9B-5A91-EC4E-17AC-FDAE90F9F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Best Practices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437E7-1AB9-4909-FBF1-00084D1ED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9084"/>
            <a:ext cx="12192000" cy="5338915"/>
          </a:xfrm>
        </p:spPr>
        <p:txBody>
          <a:bodyPr>
            <a:normAutofit fontScale="92500" lnSpcReduction="10000"/>
          </a:bodyPr>
          <a:lstStyle/>
          <a:p>
            <a:r>
              <a:rPr lang="en-US" sz="5800" dirty="0"/>
              <a:t>1. Establish clear goals and metrics</a:t>
            </a:r>
          </a:p>
          <a:p>
            <a:r>
              <a:rPr lang="en-US" sz="5800" dirty="0"/>
              <a:t>2. Engage employees and stakeholders</a:t>
            </a:r>
          </a:p>
          <a:p>
            <a:r>
              <a:rPr lang="en-US" sz="5800" dirty="0"/>
              <a:t>3. Foster a culture of continuous improvement</a:t>
            </a:r>
          </a:p>
          <a:p>
            <a:r>
              <a:rPr lang="en-US" sz="5800" dirty="0"/>
              <a:t>4. Monitor and evaluate progress</a:t>
            </a:r>
          </a:p>
          <a:p>
            <a:r>
              <a:rPr lang="en-US" sz="5800" dirty="0"/>
              <a:t>5. Recognize and reward successes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52597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379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Total Quality Management (TQM) and Operations Management</vt:lpstr>
      <vt:lpstr>TQM Principles</vt:lpstr>
      <vt:lpstr>TQM Tools and Techniques</vt:lpstr>
      <vt:lpstr>Operations Management Strategies</vt:lpstr>
      <vt:lpstr>Relationship between TQM and Operations Management*</vt:lpstr>
      <vt:lpstr>Relationship between TQM and Operations Management*(Cont)</vt:lpstr>
      <vt:lpstr>Benefits of Integrating TQM and Operations Management</vt:lpstr>
      <vt:lpstr>Industry Applications*</vt:lpstr>
      <vt:lpstr>Software Tools*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43</cp:revision>
  <dcterms:created xsi:type="dcterms:W3CDTF">2024-09-24T05:18:57Z</dcterms:created>
  <dcterms:modified xsi:type="dcterms:W3CDTF">2024-10-06T07:43:59Z</dcterms:modified>
</cp:coreProperties>
</file>