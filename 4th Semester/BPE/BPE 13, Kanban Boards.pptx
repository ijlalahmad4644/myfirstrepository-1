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57" r:id="rId19"/>
    <p:sldId id="258" r:id="rId20"/>
    <p:sldId id="259" r:id="rId21"/>
    <p:sldId id="260" r:id="rId22"/>
    <p:sldId id="261" r:id="rId23"/>
    <p:sldId id="262" r:id="rId24"/>
    <p:sldId id="263" r:id="rId25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87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57F03-651A-B080-5A7C-A62C9079D3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ABEBF0-A93C-42E9-1137-B5B4591DFC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766E95-8B65-E467-0672-5FAA344D0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EA6D3-5F31-4380-8397-81F1B05C1B3A}" type="datetimeFigureOut">
              <a:rPr lang="en-PK" smtClean="0"/>
              <a:t>11/10/2024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8F472F-4428-5636-AA0E-E2300E4DF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A25EB2-5151-B714-DF1F-A81AC61F4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42B23-39A7-486B-AF94-38CD8F9AD92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681726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947EC-91D2-EF8F-2247-8D85B3C29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2BD2F5-B757-B13C-798D-A608D3F28C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78A2BF-DDCE-6AAF-7AD6-54C72764C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EA6D3-5F31-4380-8397-81F1B05C1B3A}" type="datetimeFigureOut">
              <a:rPr lang="en-PK" smtClean="0"/>
              <a:t>11/10/2024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3F65BE-1017-241E-003C-5ED887D48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0F73EF-12D1-7AFF-5D05-D406194A6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42B23-39A7-486B-AF94-38CD8F9AD92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80130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A7713-0263-2F08-71B9-089F4DB84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E721D2-61F3-E847-0BDB-7D3A4B6CAC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3E125-74C1-F716-FDB1-E3B940943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EA6D3-5F31-4380-8397-81F1B05C1B3A}" type="datetimeFigureOut">
              <a:rPr lang="en-PK" smtClean="0"/>
              <a:t>11/10/2024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D678E-9D5B-E584-0AED-CB99EF48B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E388A-8612-4CAE-F0F0-DF923CF49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42B23-39A7-486B-AF94-38CD8F9AD92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1877527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AEAC1-F473-2CC6-B65F-4B0DDF149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6EFD8C-AFFB-4420-CA27-175015E54F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A7A58B-5017-A29C-2A13-C03FAC6A66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F33874-3BD9-1BC3-A624-B168A9927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EA6D3-5F31-4380-8397-81F1B05C1B3A}" type="datetimeFigureOut">
              <a:rPr lang="en-PK" smtClean="0"/>
              <a:t>11/10/2024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4C8EE1-E0E2-CCD5-2F3B-E071A9024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FE66F4-0E89-6FEE-B036-E61AE3BC4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42B23-39A7-486B-AF94-38CD8F9AD92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7071042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B2B97-590B-2BAC-A9AA-A90D1E6A6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51C211-C634-EAED-E007-0A6A321577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EFF527-B278-2FC3-B891-0145E62785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600320-6C20-920D-576F-B72B4D76C3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4E2BC7-2EB2-3BE3-1505-8C9DF84A40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BE8DBB-969E-8EA6-5DC8-B71BAF99F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EA6D3-5F31-4380-8397-81F1B05C1B3A}" type="datetimeFigureOut">
              <a:rPr lang="en-PK" smtClean="0"/>
              <a:t>11/10/2024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0A1930-0AE0-ACB0-2BBD-F977D3978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E7357A-1F0B-5D88-9726-8A46B5EDB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42B23-39A7-486B-AF94-38CD8F9AD92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8040047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044BD-0DA7-D029-2B48-3D313C876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1586EE-A9C8-8D4F-A247-B27B8C4AA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EA6D3-5F31-4380-8397-81F1B05C1B3A}" type="datetimeFigureOut">
              <a:rPr lang="en-PK" smtClean="0"/>
              <a:t>11/10/2024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E30100-2515-1C6F-9E98-E826866BE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93130F-3D72-5D2F-6EAD-A41608E82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42B23-39A7-486B-AF94-38CD8F9AD92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4763178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439D7D-23CD-33F4-E026-22D19C60E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EA6D3-5F31-4380-8397-81F1B05C1B3A}" type="datetimeFigureOut">
              <a:rPr lang="en-PK" smtClean="0"/>
              <a:t>11/10/2024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61A15B-73F8-F060-351F-8214CB743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EB4637-9BB7-46A4-AF4E-938FDE239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42B23-39A7-486B-AF94-38CD8F9AD92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992095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B410A-A0BF-B260-2E37-459F2B9CF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1FC434-E551-88B3-B776-508D03B27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2FC1C1-C94A-603E-2C35-C120D5A856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DB8D09-D7CC-F09D-61DC-54104EAFB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EA6D3-5F31-4380-8397-81F1B05C1B3A}" type="datetimeFigureOut">
              <a:rPr lang="en-PK" smtClean="0"/>
              <a:t>11/10/2024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620C67-9C1B-322E-2608-2266E1902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A2B8FE-B690-A010-7278-1E8CD1D8B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42B23-39A7-486B-AF94-38CD8F9AD92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938931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A8B46-6A65-BB8D-F58A-C3FF8AC2E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C075AA-59B3-981A-7F8E-8DE621FCF7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EB060E-B12A-BF23-4CE3-8384C0E47D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A69151-4662-FEB3-6F38-ECEA94E11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EA6D3-5F31-4380-8397-81F1B05C1B3A}" type="datetimeFigureOut">
              <a:rPr lang="en-PK" smtClean="0"/>
              <a:t>11/10/2024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51902B-AE73-A629-4736-8B77EF659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3C2F5C-179F-A102-3811-0DCC6F1EA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42B23-39A7-486B-AF94-38CD8F9AD92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463861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0B464-830B-DB6F-E61F-CE56FD957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9C5CDD-B0D4-A25E-10BA-0AF16F2FCD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188ED0-B507-1D44-5F1F-6041F3F10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EA6D3-5F31-4380-8397-81F1B05C1B3A}" type="datetimeFigureOut">
              <a:rPr lang="en-PK" smtClean="0"/>
              <a:t>11/10/2024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1AD12D-6C86-BE72-7375-53A9BEE3E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90CEE7-B565-601B-53D6-28D37D471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42B23-39A7-486B-AF94-38CD8F9AD92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70580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B821E6-B577-B3A3-4820-F5A8043AA7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AC3774-F97E-A424-F9C4-FBA73063F8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59DB3E-E794-6068-6485-4ED099A28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EA6D3-5F31-4380-8397-81F1B05C1B3A}" type="datetimeFigureOut">
              <a:rPr lang="en-PK" smtClean="0"/>
              <a:t>11/10/2024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5B001-DA4E-3255-63A7-6E7464E88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F22390-8258-009A-4DCB-095CF95C8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42B23-39A7-486B-AF94-38CD8F9AD92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068809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F20A01-7040-33E7-FA0C-FB6E09332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A376DE-F5FF-D1B4-2AE9-F5A98F5828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495C3E-8AF0-06C6-4496-532966816E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BEA6D3-5F31-4380-8397-81F1B05C1B3A}" type="datetimeFigureOut">
              <a:rPr lang="en-PK" smtClean="0"/>
              <a:t>11/10/2024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E6F9E7-4036-12AD-D439-FA6D1B276E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72A1A8-6C33-68B1-8878-8C37255688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A42B23-39A7-486B-AF94-38CD8F9AD92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245020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F211A-3BD5-329E-7B8A-9357312F3D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722671"/>
          </a:xfrm>
        </p:spPr>
        <p:txBody>
          <a:bodyPr>
            <a:no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Kanban Boards</a:t>
            </a:r>
            <a:endParaRPr lang="en-PK" b="1" dirty="0">
              <a:highlight>
                <a:srgbClr val="FFFF00"/>
              </a:highligh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F77DC1-83DB-1ACE-0B4E-C97AD633A0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973393"/>
            <a:ext cx="12192000" cy="5987845"/>
          </a:xfrm>
        </p:spPr>
        <p:txBody>
          <a:bodyPr>
            <a:noAutofit/>
          </a:bodyPr>
          <a:lstStyle/>
          <a:p>
            <a:r>
              <a:rPr lang="en-US" sz="3200" dirty="0"/>
              <a:t>Kanban Boards are visual tools for managing work, emphasizing continuous flow and limiting work in progress. Here's an overview:</a:t>
            </a:r>
            <a:br>
              <a:rPr lang="en-US" sz="3200" dirty="0"/>
            </a:br>
            <a:endParaRPr lang="en-US" sz="3200" dirty="0"/>
          </a:p>
          <a:p>
            <a:r>
              <a:rPr lang="en-US" sz="3200" dirty="0"/>
              <a:t>*What is Kanban?*</a:t>
            </a:r>
          </a:p>
          <a:p>
            <a:r>
              <a:rPr lang="en-US" sz="3200" dirty="0"/>
              <a:t>Kanban is a Lean framework for process improvement, emphasizing:</a:t>
            </a:r>
          </a:p>
          <a:p>
            <a:r>
              <a:rPr lang="en-US" sz="3200" dirty="0"/>
              <a:t>1. Visualization</a:t>
            </a:r>
          </a:p>
          <a:p>
            <a:r>
              <a:rPr lang="en-US" sz="3200" dirty="0"/>
              <a:t>2. Limiting work in progress (WIP)</a:t>
            </a:r>
          </a:p>
          <a:p>
            <a:r>
              <a:rPr lang="en-US" sz="3200" dirty="0"/>
              <a:t>3. Continuous flow</a:t>
            </a:r>
          </a:p>
          <a:p>
            <a:r>
              <a:rPr lang="en-US" sz="3200" dirty="0"/>
              <a:t>4. Pull-based workflow</a:t>
            </a:r>
          </a:p>
          <a:p>
            <a:r>
              <a:rPr lang="en-US" sz="3200" dirty="0"/>
              <a:t>5. Continuous improvement</a:t>
            </a:r>
          </a:p>
          <a:p>
            <a:br>
              <a:rPr lang="en-US" sz="3200" dirty="0"/>
            </a:br>
            <a:endParaRPr lang="en-PK" sz="3200" dirty="0"/>
          </a:p>
        </p:txBody>
      </p:sp>
    </p:spTree>
    <p:extLst>
      <p:ext uri="{BB962C8B-B14F-4D97-AF65-F5344CB8AC3E}">
        <p14:creationId xmlns:p14="http://schemas.microsoft.com/office/powerpoint/2010/main" val="40670646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59D8E-B5B8-C6BD-A86D-CDEF68246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pull-based workflow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88547-A70D-8800-A4FD-FDC687F5E2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A pull-based workflow is a lean manufacturing and agile approach that focuses on producing and delivering products or services only when there is customer demand.</a:t>
            </a:r>
            <a:br>
              <a:rPr lang="en-US" dirty="0"/>
            </a:br>
            <a:endParaRPr lang="en-US" dirty="0"/>
          </a:p>
          <a:p>
            <a:r>
              <a:rPr lang="en-US" dirty="0"/>
              <a:t>*Key Principles:*</a:t>
            </a:r>
            <a:br>
              <a:rPr lang="en-US" dirty="0"/>
            </a:br>
            <a:endParaRPr lang="en-US" dirty="0"/>
          </a:p>
          <a:p>
            <a:r>
              <a:rPr lang="en-US" dirty="0"/>
              <a:t>1. Produce only what is needed</a:t>
            </a:r>
          </a:p>
          <a:p>
            <a:r>
              <a:rPr lang="en-US" dirty="0"/>
              <a:t>2. Produce only when needed</a:t>
            </a:r>
          </a:p>
          <a:p>
            <a:r>
              <a:rPr lang="en-US" dirty="0"/>
              <a:t>3. Produce in the quantities needed</a:t>
            </a:r>
          </a:p>
          <a:p>
            <a:r>
              <a:rPr lang="en-US" dirty="0"/>
              <a:t>4. Continuous improvement</a:t>
            </a:r>
          </a:p>
          <a:p>
            <a:br>
              <a:rPr lang="en-US" dirty="0"/>
            </a:b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629424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122EE-9BB2-362E-5FA6-C48CEAFB0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Pull-Based Workflow Steps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0A718-67C4-DBF4-E681-8E1B3713E2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1. Customer places an order</a:t>
            </a:r>
          </a:p>
          <a:p>
            <a:r>
              <a:rPr lang="en-US" dirty="0"/>
              <a:t>2. Order triggers production or delivery</a:t>
            </a:r>
          </a:p>
          <a:p>
            <a:r>
              <a:rPr lang="en-US" dirty="0"/>
              <a:t>3. Production or delivery process starts</a:t>
            </a:r>
          </a:p>
          <a:p>
            <a:r>
              <a:rPr lang="en-US" dirty="0"/>
              <a:t>4. Product or service is delivered to customer</a:t>
            </a:r>
          </a:p>
          <a:p>
            <a:r>
              <a:rPr lang="en-US" dirty="0"/>
              <a:t>5. Feedback loop: customer feedback informs future production</a:t>
            </a:r>
          </a:p>
          <a:p>
            <a:br>
              <a:rPr lang="en-US" dirty="0"/>
            </a:b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135691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4EC25-4592-534C-2DAF-0C62AA86E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360524-B6AB-4F36-2A68-814AE1BC55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1. Reduced inventory and waste</a:t>
            </a:r>
          </a:p>
          <a:p>
            <a:r>
              <a:rPr lang="en-US" dirty="0"/>
              <a:t>2. Improved efficiency and productivity</a:t>
            </a:r>
          </a:p>
          <a:p>
            <a:r>
              <a:rPr lang="en-US" dirty="0"/>
              <a:t>3. Enhanced customer satisfaction</a:t>
            </a:r>
          </a:p>
          <a:p>
            <a:r>
              <a:rPr lang="en-US" dirty="0"/>
              <a:t>4. Increased flexibility and adaptability</a:t>
            </a:r>
          </a:p>
          <a:p>
            <a:r>
              <a:rPr lang="en-US" dirty="0"/>
              <a:t>5. Better supply chain management</a:t>
            </a:r>
          </a:p>
          <a:p>
            <a:br>
              <a:rPr lang="en-US" dirty="0"/>
            </a:b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1986069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9D1DE-8F3A-7634-D528-DB77B6E1A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Pull-Based Workflow Methods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4E2A96-219A-7D06-B3E1-85922C704D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1. Kanban</a:t>
            </a:r>
          </a:p>
          <a:p>
            <a:r>
              <a:rPr lang="en-US" dirty="0"/>
              <a:t>2. Just-In-Time (JIT)</a:t>
            </a:r>
          </a:p>
          <a:p>
            <a:r>
              <a:rPr lang="en-US" dirty="0"/>
              <a:t>3. Lean Manufacturing</a:t>
            </a:r>
          </a:p>
          <a:p>
            <a:r>
              <a:rPr lang="en-US" dirty="0"/>
              <a:t>4. Agile Development</a:t>
            </a:r>
          </a:p>
          <a:p>
            <a:r>
              <a:rPr lang="en-US" dirty="0"/>
              <a:t>5. Continuous Delivery</a:t>
            </a:r>
          </a:p>
          <a:p>
            <a:br>
              <a:rPr lang="en-US" dirty="0"/>
            </a:b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0725556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0B96B-96FF-03B7-9D30-4F4B14E23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Steps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574559-793B-FAD2-6404-3F79655AC1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1. Identify customer demand patterns</a:t>
            </a:r>
          </a:p>
          <a:p>
            <a:r>
              <a:rPr lang="en-US" dirty="0"/>
              <a:t>2. Map value stream and eliminate waste</a:t>
            </a:r>
          </a:p>
          <a:p>
            <a:r>
              <a:rPr lang="en-US" dirty="0"/>
              <a:t>3. Implement pull-based production triggers</a:t>
            </a:r>
          </a:p>
          <a:p>
            <a:r>
              <a:rPr lang="en-US" dirty="0"/>
              <a:t>4. Monitor and adjust production levels</a:t>
            </a:r>
          </a:p>
          <a:p>
            <a:r>
              <a:rPr lang="en-US" dirty="0"/>
              <a:t>5. Continuously improve processes</a:t>
            </a:r>
          </a:p>
          <a:p>
            <a:br>
              <a:rPr lang="en-US" dirty="0"/>
            </a:b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4347643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C72BF-E3F1-CF61-2CDA-52D5D4D73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and Techniques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C1716F-1DD5-317E-151A-A49B4B2CF8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1. Kanban boards</a:t>
            </a:r>
          </a:p>
          <a:p>
            <a:r>
              <a:rPr lang="en-US" dirty="0"/>
              <a:t>2. JIT scheduling</a:t>
            </a:r>
          </a:p>
          <a:p>
            <a:r>
              <a:rPr lang="en-US" dirty="0"/>
              <a:t>3. Inventory management software</a:t>
            </a:r>
          </a:p>
          <a:p>
            <a:r>
              <a:rPr lang="en-US" dirty="0"/>
              <a:t>4. Supply chain visualization tools</a:t>
            </a:r>
          </a:p>
          <a:p>
            <a:r>
              <a:rPr lang="en-US" dirty="0"/>
              <a:t>5. Continuous integration and delivery tools</a:t>
            </a:r>
          </a:p>
          <a:p>
            <a:br>
              <a:rPr lang="en-US" dirty="0"/>
            </a:b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1705995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46CC9-8BDA-EC84-5860-0EFA3AC12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and Limitations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FE53CD-27C3-BC92-DA53-27A4D8DF13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1. Difficulty predicting customer demand</a:t>
            </a:r>
          </a:p>
          <a:p>
            <a:r>
              <a:rPr lang="en-US" dirty="0"/>
              <a:t>2. Inability to produce in small batches</a:t>
            </a:r>
          </a:p>
          <a:p>
            <a:r>
              <a:rPr lang="en-US" dirty="0"/>
              <a:t>3. Limited supplier flexibility</a:t>
            </a:r>
          </a:p>
          <a:p>
            <a:r>
              <a:rPr lang="en-US" dirty="0"/>
              <a:t>4. High production changeover costs</a:t>
            </a:r>
          </a:p>
          <a:p>
            <a:r>
              <a:rPr lang="en-US" dirty="0"/>
              <a:t>5. Difficulty in scaling</a:t>
            </a:r>
          </a:p>
          <a:p>
            <a:br>
              <a:rPr lang="en-US" dirty="0"/>
            </a:b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3666437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21140-EEF5-7592-FD03-7A80F49BC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Studies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74CEC0-A3CA-1228-B6D8-738F807651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1. Toyota's Just-In-Time Production</a:t>
            </a:r>
          </a:p>
          <a:p>
            <a:r>
              <a:rPr lang="en-US" dirty="0"/>
              <a:t>2. Amazon's Pull-Based Inventory Management</a:t>
            </a:r>
          </a:p>
          <a:p>
            <a:r>
              <a:rPr lang="en-US" dirty="0"/>
              <a:t>3. Dell's Build-To-Order Model</a:t>
            </a:r>
          </a:p>
          <a:p>
            <a:r>
              <a:rPr lang="en-US" dirty="0"/>
              <a:t>4. McDonald's Just-In-Time Supply Chain</a:t>
            </a:r>
          </a:p>
          <a:p>
            <a:r>
              <a:rPr lang="en-US" dirty="0"/>
              <a:t>5. 3M's Lean Manufacturing Implementation</a:t>
            </a:r>
          </a:p>
          <a:p>
            <a:br>
              <a:rPr lang="en-US" dirty="0"/>
            </a:b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7345704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AB4C2-A06B-21AE-D6EC-BD5110E70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Best Practices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B30BE2-00E6-A6B0-AA24-D3E94E33CC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1. Monitor customer demand closely</a:t>
            </a:r>
          </a:p>
          <a:p>
            <a:r>
              <a:rPr lang="en-US" dirty="0"/>
              <a:t>2. Implement flexible production processes</a:t>
            </a:r>
          </a:p>
          <a:p>
            <a:r>
              <a:rPr lang="en-US" dirty="0"/>
              <a:t>3. Continuously improve supply chain efficiency</a:t>
            </a:r>
          </a:p>
          <a:p>
            <a:r>
              <a:rPr lang="en-US" dirty="0"/>
              <a:t>4. Reduce inventory levels</a:t>
            </a:r>
          </a:p>
          <a:p>
            <a:r>
              <a:rPr lang="en-US" dirty="0"/>
              <a:t>5. Foster collaborative relationships with suppliers</a:t>
            </a:r>
          </a:p>
          <a:p>
            <a:br>
              <a:rPr lang="en-US" dirty="0"/>
            </a:b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4588771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4AF7D-FA41-FD73-8578-076C0B7CA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</p:spPr>
        <p:txBody>
          <a:bodyPr>
            <a:noAutofit/>
          </a:bodyPr>
          <a:lstStyle/>
          <a:p>
            <a:pPr algn="ctr"/>
            <a:r>
              <a:rPr lang="en-US" altLang="en-PK" sz="6000" b="1" dirty="0">
                <a:highlight>
                  <a:srgbClr val="FFFF00"/>
                </a:highlight>
                <a:latin typeface="Arial" panose="020B0604020202020204" pitchFamily="34" charset="0"/>
              </a:rPr>
              <a:t>S</a:t>
            </a:r>
            <a:r>
              <a:rPr kumimoji="0" lang="en-PK" altLang="en-PK" sz="6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imple</a:t>
            </a:r>
            <a:r>
              <a:rPr kumimoji="0" lang="en-PK" altLang="en-PK" sz="6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 sketch of a basic Kanban Board</a:t>
            </a:r>
            <a:endParaRPr lang="en-PK" sz="6000" b="1" dirty="0">
              <a:highlight>
                <a:srgbClr val="FFFF00"/>
              </a:highlight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0EDFD38-F2EE-ACAD-D17E-E3434A6E151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Here's a simple sketch of a basic Kanban Board: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*Backlog*          | *Ready*          | *In Progress*    | *Done*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---------------------|--------------------|--------------------|---------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|                    |                    |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 Idea 1 ]         | [Task 1]          | [Task 3]          | [Task 2]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 Idea 2 ]         | [Task 4]          | [Task 5]          |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|                    |                    |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07008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81BEE-1CD3-AF89-6EDE-7C3ABD1AF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799302"/>
          </a:xfrm>
        </p:spPr>
        <p:txBody>
          <a:bodyPr>
            <a:noAutofit/>
          </a:bodyPr>
          <a:lstStyle/>
          <a:p>
            <a:r>
              <a:rPr lang="en-US" altLang="en-PK" sz="6000" b="1" dirty="0">
                <a:highlight>
                  <a:srgbClr val="FFFF00"/>
                </a:highlight>
                <a:latin typeface="Arial" panose="020B0604020202020204" pitchFamily="34" charset="0"/>
              </a:rPr>
              <a:t>S</a:t>
            </a:r>
            <a:r>
              <a:rPr kumimoji="0" lang="en-PK" altLang="en-PK" sz="6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imple</a:t>
            </a:r>
            <a:r>
              <a:rPr kumimoji="0" lang="en-PK" altLang="en-PK" sz="6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 sketch of a basic Kanban Board</a:t>
            </a:r>
            <a:endParaRPr lang="en-PK" sz="6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61E43-1B34-045C-E315-1AC6AFE106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932039"/>
            <a:ext cx="12191999" cy="4925960"/>
          </a:xfrm>
        </p:spPr>
        <p:txBody>
          <a:bodyPr>
            <a:normAutofit/>
          </a:bodyPr>
          <a:lstStyle/>
          <a:p>
            <a:pPr algn="l"/>
            <a:r>
              <a:rPr lang="en-US" sz="4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WIP Limits*</a:t>
            </a:r>
          </a:p>
          <a:p>
            <a:pPr marL="0" indent="0" algn="l">
              <a:buNone/>
            </a:pPr>
            <a:r>
              <a:rPr lang="en-US" sz="4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- Backlog: 5</a:t>
            </a:r>
          </a:p>
          <a:p>
            <a:pPr marL="0" indent="0" algn="l">
              <a:buNone/>
            </a:pPr>
            <a:r>
              <a:rPr lang="en-US" sz="4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- Ready: 3</a:t>
            </a:r>
          </a:p>
          <a:p>
            <a:pPr marL="0" indent="0" algn="l">
              <a:buNone/>
            </a:pPr>
            <a:r>
              <a:rPr lang="en-US" sz="4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- In Progress: 2</a:t>
            </a:r>
          </a:p>
          <a:p>
            <a:pPr marL="0" indent="0" algn="l">
              <a:buNone/>
            </a:pPr>
            <a:r>
              <a:rPr lang="en-US" sz="4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- Done: </a:t>
            </a:r>
          </a:p>
          <a:p>
            <a:pPr marL="0" indent="0">
              <a:buNone/>
            </a:pPr>
            <a:endParaRPr lang="en-PK" sz="4400" dirty="0"/>
          </a:p>
        </p:txBody>
      </p:sp>
    </p:spTree>
    <p:extLst>
      <p:ext uri="{BB962C8B-B14F-4D97-AF65-F5344CB8AC3E}">
        <p14:creationId xmlns:p14="http://schemas.microsoft.com/office/powerpoint/2010/main" val="5275610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63A03-2D06-5ABB-C94A-7C8A0CDB2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40657"/>
          </a:xfrm>
        </p:spPr>
        <p:txBody>
          <a:bodyPr/>
          <a:lstStyle/>
          <a:p>
            <a:r>
              <a:rPr lang="en-US" altLang="en-PK" sz="4400" b="1" dirty="0">
                <a:highlight>
                  <a:srgbClr val="FFFF00"/>
                </a:highlight>
                <a:latin typeface="Arial" panose="020B0604020202020204" pitchFamily="34" charset="0"/>
              </a:rPr>
              <a:t>S</a:t>
            </a:r>
            <a:r>
              <a:rPr kumimoji="0" lang="en-PK" altLang="en-PK" sz="4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imple</a:t>
            </a:r>
            <a:r>
              <a:rPr kumimoji="0" lang="en-PK" altLang="en-PK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 sketch of a basic Kanban Board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435CFB-779C-E298-09C2-D9D3892CD7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35626"/>
            <a:ext cx="12192000" cy="5722373"/>
          </a:xfrm>
        </p:spPr>
        <p:txBody>
          <a:bodyPr>
            <a:normAutofit/>
          </a:bodyPr>
          <a:lstStyle/>
          <a:p>
            <a:r>
              <a:rPr lang="en-US" sz="4000" dirty="0" err="1"/>
              <a:t>Swimlanes</a:t>
            </a:r>
            <a:r>
              <a:rPr lang="en-US" sz="4000" dirty="0"/>
              <a:t>* (optional)</a:t>
            </a:r>
          </a:p>
          <a:p>
            <a:r>
              <a:rPr lang="en-US" sz="4000" dirty="0"/>
              <a:t>*Project A*</a:t>
            </a:r>
          </a:p>
          <a:p>
            <a:r>
              <a:rPr lang="en-US" sz="4000" dirty="0"/>
              <a:t>- Backlog: ...</a:t>
            </a:r>
          </a:p>
          <a:p>
            <a:r>
              <a:rPr lang="en-US" sz="4000" dirty="0"/>
              <a:t>- Ready: ...</a:t>
            </a:r>
          </a:p>
          <a:p>
            <a:r>
              <a:rPr lang="en-US" sz="4000" dirty="0"/>
              <a:t>- In Progress: ...</a:t>
            </a:r>
          </a:p>
          <a:p>
            <a:r>
              <a:rPr lang="en-US" sz="4000" dirty="0"/>
              <a:t>- Done: ...</a:t>
            </a:r>
          </a:p>
          <a:p>
            <a:pPr marL="0" indent="0">
              <a:buNone/>
            </a:pPr>
            <a:br>
              <a:rPr lang="en-US" dirty="0"/>
            </a:b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4174736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AF463-3195-6A21-DFB1-752F05FF0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PK" sz="4400" b="1" dirty="0">
                <a:highlight>
                  <a:srgbClr val="FFFF00"/>
                </a:highlight>
                <a:latin typeface="Arial" panose="020B0604020202020204" pitchFamily="34" charset="0"/>
              </a:rPr>
              <a:t>S</a:t>
            </a:r>
            <a:r>
              <a:rPr kumimoji="0" lang="en-PK" altLang="en-PK" sz="4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imple</a:t>
            </a:r>
            <a:r>
              <a:rPr kumimoji="0" lang="en-PK" altLang="en-PK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 sketch of a basic Kanban Board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6D113A-A1AF-41C7-9083-B6E7C9DB24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Project B*</a:t>
            </a:r>
          </a:p>
          <a:p>
            <a:r>
              <a:rPr lang="en-US" dirty="0"/>
              <a:t>- Backlog: ...</a:t>
            </a:r>
          </a:p>
          <a:p>
            <a:r>
              <a:rPr lang="en-US" dirty="0"/>
              <a:t>- Ready: ...</a:t>
            </a:r>
          </a:p>
          <a:p>
            <a:r>
              <a:rPr lang="en-US" dirty="0"/>
              <a:t>- In Progress: ...</a:t>
            </a:r>
          </a:p>
          <a:p>
            <a:r>
              <a:rPr lang="en-US" dirty="0"/>
              <a:t>- Done: ...</a:t>
            </a:r>
          </a:p>
          <a:p>
            <a:br>
              <a:rPr lang="en-US" dirty="0"/>
            </a:b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9988910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AD156-604F-86E5-9613-BFEAAE666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PK" sz="4400" b="1" dirty="0">
                <a:highlight>
                  <a:srgbClr val="FFFF00"/>
                </a:highlight>
                <a:latin typeface="Arial" panose="020B0604020202020204" pitchFamily="34" charset="0"/>
              </a:rPr>
              <a:t>S</a:t>
            </a:r>
            <a:r>
              <a:rPr kumimoji="0" lang="en-PK" altLang="en-PK" sz="4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imple</a:t>
            </a:r>
            <a:r>
              <a:rPr kumimoji="0" lang="en-PK" altLang="en-PK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 sketch of a basic Kanban Board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0AB3D-C347-4B7D-9B39-1E78AEA547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Card/Ticket*</a:t>
            </a:r>
          </a:p>
          <a:p>
            <a:r>
              <a:rPr lang="en-US" dirty="0"/>
              <a:t>- Task Name</a:t>
            </a:r>
          </a:p>
          <a:p>
            <a:r>
              <a:rPr lang="en-US" dirty="0"/>
              <a:t>- Description</a:t>
            </a:r>
          </a:p>
          <a:p>
            <a:r>
              <a:rPr lang="en-US" dirty="0"/>
              <a:t>- Priority</a:t>
            </a:r>
          </a:p>
          <a:p>
            <a:r>
              <a:rPr lang="en-US" dirty="0"/>
              <a:t>- Assignee</a:t>
            </a:r>
          </a:p>
          <a:p>
            <a:r>
              <a:rPr lang="en-US" dirty="0"/>
              <a:t>- Due Date</a:t>
            </a:r>
          </a:p>
          <a:p>
            <a:br>
              <a:rPr lang="en-US" dirty="0"/>
            </a:b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966269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9C8B5-3F04-21DE-D72A-DF904F200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PK" sz="4400" b="1" dirty="0">
                <a:highlight>
                  <a:srgbClr val="FFFF00"/>
                </a:highlight>
                <a:latin typeface="Arial" panose="020B0604020202020204" pitchFamily="34" charset="0"/>
              </a:rPr>
              <a:t>S</a:t>
            </a:r>
            <a:r>
              <a:rPr kumimoji="0" lang="en-PK" altLang="en-PK" sz="4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imple</a:t>
            </a:r>
            <a:r>
              <a:rPr kumimoji="0" lang="en-PK" altLang="en-PK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 sketch of a basic Kanban Board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BC4F1C-43C1-B5E6-849A-60EB36173E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Kanban Board Symbols*</a:t>
            </a:r>
            <a:b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</a:br>
            <a:endParaRPr lang="en-US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 algn="l"/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⇧ (move up)</a:t>
            </a:r>
          </a:p>
          <a:p>
            <a:pPr algn="l"/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⇩ (move down)</a:t>
            </a:r>
          </a:p>
          <a:p>
            <a:pPr algn="l"/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→ (move right)</a:t>
            </a:r>
          </a:p>
          <a:p>
            <a:pPr algn="l"/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(archive)</a:t>
            </a:r>
          </a:p>
          <a:p>
            <a:pPr algn="l"/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(delete)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8033528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F8FB3-3D4D-6BB6-448B-4A45B4432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PK" sz="4400" b="1" dirty="0">
                <a:highlight>
                  <a:srgbClr val="FFFF00"/>
                </a:highlight>
                <a:latin typeface="Arial" panose="020B0604020202020204" pitchFamily="34" charset="0"/>
              </a:rPr>
              <a:t>S</a:t>
            </a:r>
            <a:r>
              <a:rPr kumimoji="0" lang="en-PK" altLang="en-PK" sz="4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imple</a:t>
            </a:r>
            <a:r>
              <a:rPr kumimoji="0" lang="en-PK" altLang="en-PK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 sketch of a basic Kanban Board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D5C05-9DE2-7665-458D-B430D4081E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This sketch illustrates:</a:t>
            </a:r>
          </a:p>
          <a:p>
            <a:r>
              <a:rPr lang="en-US" dirty="0"/>
              <a:t>1. Columns (Backlog, Ready, In Progress, Done)</a:t>
            </a:r>
          </a:p>
          <a:p>
            <a:r>
              <a:rPr lang="en-US" dirty="0"/>
              <a:t>2. Cards/Tickets (representing tasks)</a:t>
            </a:r>
          </a:p>
          <a:p>
            <a:r>
              <a:rPr lang="en-US" dirty="0"/>
              <a:t>3. WIP Limits (constraints on cards in each column)</a:t>
            </a:r>
          </a:p>
          <a:p>
            <a:r>
              <a:rPr lang="en-US" dirty="0"/>
              <a:t>4. </a:t>
            </a:r>
            <a:r>
              <a:rPr lang="en-US" dirty="0" err="1"/>
              <a:t>Swimlanes</a:t>
            </a:r>
            <a:r>
              <a:rPr lang="en-US" dirty="0"/>
              <a:t> (optional, for multiple projects)</a:t>
            </a:r>
          </a:p>
          <a:p>
            <a:r>
              <a:rPr lang="en-US" dirty="0"/>
              <a:t>5. Card/Ticket details (task name, description, etc.)</a:t>
            </a:r>
          </a:p>
          <a:p>
            <a:pPr marL="0" indent="0">
              <a:buNone/>
            </a:pPr>
            <a:br>
              <a:rPr lang="en-US" dirty="0"/>
            </a:b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753022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6F5CC-539F-7D64-D6BE-B0883D5C2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002889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highlight>
                  <a:srgbClr val="FFFF00"/>
                </a:highlight>
              </a:rPr>
              <a:t>Kanban Boards</a:t>
            </a:r>
            <a:endParaRPr lang="en-PK" sz="6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DDFEC-9B37-20A4-F963-A4F5A594B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65122"/>
            <a:ext cx="12192000" cy="5692877"/>
          </a:xfrm>
        </p:spPr>
        <p:txBody>
          <a:bodyPr>
            <a:normAutofit fontScale="85000" lnSpcReduction="20000"/>
          </a:bodyPr>
          <a:lstStyle/>
          <a:p>
            <a:r>
              <a:rPr lang="en-US" sz="4800" dirty="0"/>
              <a:t>Kanban Board Components:*</a:t>
            </a:r>
          </a:p>
          <a:p>
            <a:r>
              <a:rPr lang="en-US" sz="4800" dirty="0"/>
              <a:t>1. *Columns:* Representing stages in the workflow (e.g., To-Do, In Progress, Done)</a:t>
            </a:r>
          </a:p>
          <a:p>
            <a:r>
              <a:rPr lang="en-US" sz="4800" dirty="0"/>
              <a:t>2. *Cards:* Representing individual tasks or work items</a:t>
            </a:r>
          </a:p>
          <a:p>
            <a:r>
              <a:rPr lang="en-US" sz="4800" dirty="0"/>
              <a:t>3. *WIP Limits:* Constraints on the number of cards in each column</a:t>
            </a:r>
          </a:p>
          <a:p>
            <a:r>
              <a:rPr lang="en-US" sz="4800" dirty="0"/>
              <a:t>4. *</a:t>
            </a:r>
            <a:r>
              <a:rPr lang="en-US" sz="4800" dirty="0" err="1"/>
              <a:t>Swimlanes</a:t>
            </a:r>
            <a:r>
              <a:rPr lang="en-US" sz="4800" dirty="0"/>
              <a:t>:* Horizontal rows for categorizing cards (e.g., by project or priority)</a:t>
            </a:r>
          </a:p>
          <a:p>
            <a:r>
              <a:rPr lang="en-US" sz="4800" dirty="0"/>
              <a:t>5. *Queue:* Buffer column for incoming work</a:t>
            </a:r>
          </a:p>
          <a:p>
            <a:br>
              <a:rPr lang="en-US" dirty="0"/>
            </a:b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6050158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F7EBD-3717-AAD3-53D7-02FB1BE37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43896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highlight>
                  <a:srgbClr val="FFFF00"/>
                </a:highlight>
              </a:rPr>
              <a:t>Types of Kanban Boards</a:t>
            </a:r>
            <a:endParaRPr lang="en-PK" sz="6000" b="1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094A9E-147C-EF8F-CDFB-B7070B867F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56852"/>
            <a:ext cx="12192000" cy="550114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6000" dirty="0"/>
              <a:t>1. *Physical Board:* Whiteboard or sticky notes</a:t>
            </a:r>
          </a:p>
          <a:p>
            <a:pPr marL="0" indent="0">
              <a:buNone/>
            </a:pPr>
            <a:r>
              <a:rPr lang="en-US" sz="6000" dirty="0"/>
              <a:t>2. *Digital Board:* Software tools (e.g., Trello, Asana, Jira)</a:t>
            </a:r>
          </a:p>
          <a:p>
            <a:pPr marL="0" indent="0">
              <a:buNone/>
            </a:pPr>
            <a:r>
              <a:rPr lang="en-US" sz="6000" dirty="0"/>
              <a:t>3. *Hybrid Board:* Combination of physical and digital</a:t>
            </a:r>
          </a:p>
          <a:p>
            <a:pPr marL="0" indent="0">
              <a:buNone/>
            </a:pPr>
            <a:br>
              <a:rPr lang="en-US" sz="2400" dirty="0"/>
            </a:br>
            <a:endParaRPr lang="en-PK" sz="2400" dirty="0"/>
          </a:p>
        </p:txBody>
      </p:sp>
    </p:spTree>
    <p:extLst>
      <p:ext uri="{BB962C8B-B14F-4D97-AF65-F5344CB8AC3E}">
        <p14:creationId xmlns:p14="http://schemas.microsoft.com/office/powerpoint/2010/main" val="11743972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65D72-333F-2F7C-CD47-6331FD2ED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150373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highlight>
                  <a:srgbClr val="FFFF00"/>
                </a:highlight>
              </a:rPr>
              <a:t>Benefits</a:t>
            </a:r>
            <a:endParaRPr lang="en-PK" sz="6000" b="1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3A54D5-66C8-D3F1-1B85-DE18D66601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150374"/>
            <a:ext cx="12373897" cy="570762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4200" dirty="0"/>
              <a:t>1. *Improved Visualization:* Clear workflow understanding</a:t>
            </a:r>
          </a:p>
          <a:p>
            <a:pPr marL="0" indent="0">
              <a:buNone/>
            </a:pPr>
            <a:r>
              <a:rPr lang="en-US" sz="4200" dirty="0"/>
              <a:t>2. *Increased Efficiency:* Reduced waste and bottlenecks</a:t>
            </a:r>
          </a:p>
          <a:p>
            <a:pPr marL="0" indent="0">
              <a:buNone/>
            </a:pPr>
            <a:r>
              <a:rPr lang="en-US" sz="4200" dirty="0"/>
              <a:t>3. *Enhanced Collaboration:* Team alignment and communication</a:t>
            </a:r>
          </a:p>
          <a:p>
            <a:pPr marL="0" indent="0">
              <a:buNone/>
            </a:pPr>
            <a:r>
              <a:rPr lang="en-US" sz="4200" dirty="0"/>
              <a:t>4. *Flexibility:* Adapt to changing priorities</a:t>
            </a:r>
          </a:p>
          <a:p>
            <a:pPr marL="0" indent="0">
              <a:buNone/>
            </a:pPr>
            <a:r>
              <a:rPr lang="en-US" sz="4200" dirty="0"/>
              <a:t>5. *Continuous Improvement:* Regular retrospectives</a:t>
            </a:r>
          </a:p>
          <a:p>
            <a:pPr marL="0" indent="0">
              <a:buNone/>
            </a:pPr>
            <a:br>
              <a:rPr lang="en-US" dirty="0"/>
            </a:b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464326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C96FA-FC26-5CFF-0FB0-FC8752206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58644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highlight>
                  <a:srgbClr val="FFFF00"/>
                </a:highlight>
              </a:rPr>
              <a:t>Key Metrics</a:t>
            </a:r>
            <a:endParaRPr lang="en-PK" sz="6000" b="1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7B082-383C-C1F3-9001-23FFEBB439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79870"/>
            <a:ext cx="12192000" cy="56781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300" dirty="0"/>
              <a:t>1. *Lead Time:* Time from card creation to completion</a:t>
            </a:r>
          </a:p>
          <a:p>
            <a:pPr marL="0" indent="0">
              <a:buNone/>
            </a:pPr>
            <a:r>
              <a:rPr lang="en-US" sz="4300" dirty="0"/>
              <a:t>2. *Cycle Time:* Time from start to completion of a card</a:t>
            </a:r>
          </a:p>
          <a:p>
            <a:pPr marL="0" indent="0">
              <a:buNone/>
            </a:pPr>
            <a:r>
              <a:rPr lang="en-US" sz="4300" dirty="0"/>
              <a:t>3. *Throughput:* Number of cards completed per unit time</a:t>
            </a:r>
          </a:p>
          <a:p>
            <a:pPr marL="0" indent="0">
              <a:buNone/>
            </a:pPr>
            <a:r>
              <a:rPr lang="en-US" sz="4300" dirty="0"/>
              <a:t>4. *WIP:* Number of cards in progress</a:t>
            </a:r>
          </a:p>
          <a:p>
            <a:pPr marL="0" indent="0">
              <a:buNone/>
            </a:pPr>
            <a:br>
              <a:rPr lang="en-US" dirty="0"/>
            </a:b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1589031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BFD95-6279-2A65-543F-F720B6AC0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43896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highlight>
                  <a:srgbClr val="FFFF00"/>
                </a:highlight>
              </a:rPr>
              <a:t>Kanban Board Examples</a:t>
            </a:r>
            <a:endParaRPr lang="en-PK" sz="6000" b="1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114B83-B349-B631-3FA7-2B5438508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68360"/>
            <a:ext cx="12192000" cy="5589639"/>
          </a:xfrm>
        </p:spPr>
        <p:txBody>
          <a:bodyPr>
            <a:normAutofit lnSpcReduction="10000"/>
          </a:bodyPr>
          <a:lstStyle/>
          <a:p>
            <a:r>
              <a:rPr lang="en-US" sz="6000" dirty="0"/>
              <a:t>1. Software Development</a:t>
            </a:r>
          </a:p>
          <a:p>
            <a:r>
              <a:rPr lang="en-US" sz="6000" dirty="0"/>
              <a:t>2. Marketing Campaigns</a:t>
            </a:r>
          </a:p>
          <a:p>
            <a:r>
              <a:rPr lang="en-US" sz="6000" dirty="0"/>
              <a:t>3. Operations Management</a:t>
            </a:r>
          </a:p>
          <a:p>
            <a:r>
              <a:rPr lang="en-US" sz="6000" dirty="0"/>
              <a:t>4. IT Project Management</a:t>
            </a:r>
          </a:p>
          <a:p>
            <a:r>
              <a:rPr lang="en-US" sz="6000" dirty="0"/>
              <a:t>5. Supply Chain Management</a:t>
            </a:r>
          </a:p>
          <a:p>
            <a:br>
              <a:rPr lang="en-US" dirty="0"/>
            </a:b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1528085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5D8A7-DA6C-EE43-7B58-05312F6B4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032386"/>
          </a:xfrm>
        </p:spPr>
        <p:txBody>
          <a:bodyPr>
            <a:normAutofit/>
          </a:bodyPr>
          <a:lstStyle/>
          <a:p>
            <a:pPr algn="ctr"/>
            <a:r>
              <a:rPr lang="en-US" sz="6000" b="1" i="0" dirty="0">
                <a:solidFill>
                  <a:srgbClr val="222222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Software Tools</a:t>
            </a:r>
            <a:endParaRPr lang="en-PK" sz="6000" b="1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A49271-97A9-69EB-2FE6-1395081B55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sz="4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1. Trello</a:t>
            </a:r>
          </a:p>
          <a:p>
            <a:pPr algn="l"/>
            <a:r>
              <a:rPr lang="en-US" sz="4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2. Asana</a:t>
            </a:r>
          </a:p>
          <a:p>
            <a:pPr algn="l"/>
            <a:r>
              <a:rPr lang="en-US" sz="4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3. Jira</a:t>
            </a:r>
          </a:p>
          <a:p>
            <a:pPr algn="l"/>
            <a:r>
              <a:rPr lang="en-US" sz="4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4. Microsoft Planner</a:t>
            </a:r>
          </a:p>
          <a:p>
            <a:pPr algn="l"/>
            <a:r>
              <a:rPr lang="en-US" sz="4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5. </a:t>
            </a:r>
            <a:r>
              <a:rPr lang="en-US" sz="44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Kanbanize</a:t>
            </a:r>
            <a:endParaRPr lang="en-US" sz="4400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 algn="l"/>
            <a:r>
              <a:rPr lang="en-US" sz="4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6. </a:t>
            </a:r>
            <a:r>
              <a:rPr lang="en-US" sz="44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LeanKit</a:t>
            </a:r>
            <a:endParaRPr lang="en-US" sz="4400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8129929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CA715-D90E-38E3-E6A1-166D97135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b="1" i="0" dirty="0">
                <a:solidFill>
                  <a:srgbClr val="222222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Best Practices</a:t>
            </a:r>
            <a:endParaRPr lang="en-PK" sz="6000" b="1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3AFE9E-747B-04E2-CA6E-F044107C1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sz="4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1. Start small and scale</a:t>
            </a:r>
          </a:p>
          <a:p>
            <a:pPr algn="l"/>
            <a:r>
              <a:rPr lang="en-US" sz="4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2. Define WIP limits</a:t>
            </a:r>
          </a:p>
          <a:p>
            <a:pPr algn="l"/>
            <a:r>
              <a:rPr lang="en-US" sz="4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3. Prioritize continuously</a:t>
            </a:r>
          </a:p>
          <a:p>
            <a:pPr algn="l"/>
            <a:r>
              <a:rPr lang="en-US" sz="4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4. Regularly review and adjust</a:t>
            </a:r>
          </a:p>
          <a:p>
            <a:pPr algn="l"/>
            <a:r>
              <a:rPr lang="en-US" sz="4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5. Encourage collaboration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7630510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410</TotalTime>
  <Words>991</Words>
  <Application>Microsoft Office PowerPoint</Application>
  <PresentationFormat>Widescreen</PresentationFormat>
  <Paragraphs>175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Calibri Light</vt:lpstr>
      <vt:lpstr>Office Theme</vt:lpstr>
      <vt:lpstr>Kanban Boards</vt:lpstr>
      <vt:lpstr>A pull-based workflow</vt:lpstr>
      <vt:lpstr>Pull-Based Workflow Steps</vt:lpstr>
      <vt:lpstr>Benefits</vt:lpstr>
      <vt:lpstr>Pull-Based Workflow Methods</vt:lpstr>
      <vt:lpstr>Implementation Steps</vt:lpstr>
      <vt:lpstr>Tools and Techniques</vt:lpstr>
      <vt:lpstr>Challenges and Limitations</vt:lpstr>
      <vt:lpstr>Case Studies</vt:lpstr>
      <vt:lpstr>Best Practices</vt:lpstr>
      <vt:lpstr>Simple sketch of a basic Kanban Board</vt:lpstr>
      <vt:lpstr>Simple sketch of a basic Kanban Board</vt:lpstr>
      <vt:lpstr>Simple sketch of a basic Kanban Board</vt:lpstr>
      <vt:lpstr>Simple sketch of a basic Kanban Board</vt:lpstr>
      <vt:lpstr>Simple sketch of a basic Kanban Board</vt:lpstr>
      <vt:lpstr>Simple sketch of a basic Kanban Board</vt:lpstr>
      <vt:lpstr>Simple sketch of a basic Kanban Board</vt:lpstr>
      <vt:lpstr>Kanban Boards</vt:lpstr>
      <vt:lpstr>Types of Kanban Boards</vt:lpstr>
      <vt:lpstr>Benefits</vt:lpstr>
      <vt:lpstr>Key Metrics</vt:lpstr>
      <vt:lpstr>Kanban Board Examples</vt:lpstr>
      <vt:lpstr>Software Tools</vt:lpstr>
      <vt:lpstr>Best Practices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ColSial</dc:creator>
  <cp:lastModifiedBy>ColSial</cp:lastModifiedBy>
  <cp:revision>66</cp:revision>
  <dcterms:created xsi:type="dcterms:W3CDTF">2024-09-22T13:56:01Z</dcterms:created>
  <dcterms:modified xsi:type="dcterms:W3CDTF">2024-10-11T11:28:20Z</dcterms:modified>
</cp:coreProperties>
</file>