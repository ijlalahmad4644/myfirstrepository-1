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1" d="100"/>
          <a:sy n="71" d="100"/>
        </p:scale>
        <p:origin x="672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3B992-E3F5-1D7E-07A7-8B0873A7D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32476-AEB9-8561-BBB3-6D4C0F5A8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89DFE-1AF4-F24C-7699-227B27668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4292-C73C-466B-8D64-27E700838DCA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B6932-C0E4-BBE6-FEE2-38CC3798E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1537B-13CF-F79F-B362-8FF2CCE1E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C562E-CC9F-415C-A521-5A04FFA757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33012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BDE55-F632-432B-DB22-231043373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A2D5A-FD5E-4144-CD6A-6642E7A09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43C87-5C28-6337-F3DA-AF9BB3465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4292-C73C-466B-8D64-27E700838DCA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9B2C4-5B08-38B8-DE81-E946CD29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5F721-3BB4-44CF-9AED-24A3561E5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C562E-CC9F-415C-A521-5A04FFA757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13104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F2D47-974C-3B69-9FC5-999470181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2252D-9087-E23D-4203-F372852A3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CF81B-1032-B898-F671-52771FDDB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4292-C73C-466B-8D64-27E700838DCA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3BF44-3C41-2AA6-A8F9-B2A4D11F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C85DC-A58D-4A3F-FC3B-6A2089169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C562E-CC9F-415C-A521-5A04FFA757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7290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9EDDF-8195-D891-0A08-E0B47826E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E0FAF-BD05-745C-B40A-AD626FBFF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58859-33AF-C89D-4C24-B6D95DC7C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6381A-4813-5424-63B9-20A50F6D8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4292-C73C-466B-8D64-27E700838DCA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63139-1D05-918F-EB32-0A7EEAA38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1853A-75B7-26FF-E9A1-5DDC310EB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C562E-CC9F-415C-A521-5A04FFA757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17757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67161-4148-5502-D53D-1C8A489E4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2FF2B-3EBC-6B4A-F357-3F40626E4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2C84E-4DD4-5261-EF73-ADAD9E492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642B7E-C87B-E63D-0E63-313290C87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546EB5-98C0-46E9-ACA2-45A63AC05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7C00E-DA96-EF18-63AE-6CBE66F3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4292-C73C-466B-8D64-27E700838DCA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BD767E-EA43-1A0A-4D8C-76F6687A3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BB42F1-F5DA-95AC-437F-55EC379A4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C562E-CC9F-415C-A521-5A04FFA757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48609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EB26C-A8C7-54C3-BA81-A9C4A8626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C3B7C1-F53E-AA37-292E-6AEFB83E4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4292-C73C-466B-8D64-27E700838DCA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3A8ACA-F2F8-00EC-C842-47D134551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1E0A82-8705-0208-2A20-64218BAA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C562E-CC9F-415C-A521-5A04FFA757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4558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96C6D-4F46-C250-A63E-852D0FDB7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4292-C73C-466B-8D64-27E700838DCA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8DF1C1-3D89-8CA3-93BF-569328FF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ACC4A-5C60-6582-D0A1-EEB48978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C562E-CC9F-415C-A521-5A04FFA757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9432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E84FB-C34E-BCC1-125E-25399756F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9CE05-B557-1D3C-49E1-9F91E479A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7E979-6A84-2FA3-1AE1-41B67C855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25450-A1DA-6D84-17C2-BC5342A4F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4292-C73C-466B-8D64-27E700838DCA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FAFAA-FC51-F14A-600B-42C3810FE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DFE3C-DF2D-F122-60D5-79AD2846B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C562E-CC9F-415C-A521-5A04FFA757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85646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1EA2E-0C0D-74C9-AD36-8F36EAE60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08E972-FF13-3C19-F9E1-E99ECDC10F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4EE4F-AFCA-00E6-E520-FE384BBB1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E54C1-BD2F-76DA-8481-D7C529BAD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4292-C73C-466B-8D64-27E700838DCA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92A0B-5704-F735-BAEC-D03C416EA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87836-13D5-A7C8-84B0-D7B6C98C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C562E-CC9F-415C-A521-5A04FFA757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02792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7A66-4506-0E70-924E-FE2CFBF03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7011F-3E81-FC90-0CDD-B22A9F0F3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71046-098C-0588-4603-40A14A5E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4292-C73C-466B-8D64-27E700838DCA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9183D-6CC7-1445-6967-9D7B6B37E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B5C51-D30E-29E5-CFBC-E1B7EDE10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C562E-CC9F-415C-A521-5A04FFA757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0169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EE3B71-89CF-1206-0F1B-04C67A39D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013F35-80B1-AD7D-F8FA-6CB47CFBC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63291-7258-7A58-1CBE-B3D7A2204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4292-C73C-466B-8D64-27E700838DCA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A52E3-8BC2-478F-4B1E-1C69E390D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0A979-81A1-BF9E-9321-D08D5190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C562E-CC9F-415C-A521-5A04FFA757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1237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E35A87-FBFF-839C-C917-6B99C9120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C063E-9D55-B042-C704-C368F3093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0A641-32CF-9BC5-CEC8-AFDDA68B0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44292-C73C-466B-8D64-27E700838DCA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D6E13-EF0B-B727-BADA-4E1BEF113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0E97C-4496-D868-84FE-2AAB0AF44F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C562E-CC9F-415C-A521-5A04FFA757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49772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BD8DB-402F-797B-5778-56A04CF5F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97339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Decisions Engineering and Business Design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DD6EE-9758-D36A-94F9-4F9763F67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35627"/>
            <a:ext cx="12192000" cy="5722372"/>
          </a:xfrm>
        </p:spPr>
        <p:txBody>
          <a:bodyPr>
            <a:normAutofit/>
          </a:bodyPr>
          <a:lstStyle/>
          <a:p>
            <a:r>
              <a:rPr lang="en-US" dirty="0"/>
              <a:t>Decisions Engineering and Business Design are critical processes that enable organizations to make informed, data-driven decisions and create effective business solutions. Here's an introduction to key concepts and processes:</a:t>
            </a:r>
          </a:p>
          <a:p>
            <a:r>
              <a:rPr lang="en-US" sz="4200" b="1" dirty="0"/>
              <a:t>Decisions Engineering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b="1" dirty="0"/>
              <a:t>Decision Analysis:</a:t>
            </a:r>
            <a:r>
              <a:rPr lang="en-US" dirty="0"/>
              <a:t> Systematic approach to decision-making, considering alternatives, risks, and uncertainties.</a:t>
            </a:r>
          </a:p>
          <a:p>
            <a:pPr marL="457200" indent="-457200">
              <a:buAutoNum type="arabicPeriod"/>
            </a:pPr>
            <a:r>
              <a:rPr lang="en-US" b="1" dirty="0"/>
              <a:t>Decision Modeling: </a:t>
            </a:r>
            <a:r>
              <a:rPr lang="en-US" dirty="0"/>
              <a:t>Visual representation of decisions, using tools like decision trees and influence diagrams.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3. </a:t>
            </a:r>
            <a:r>
              <a:rPr lang="en-US" b="1" dirty="0"/>
              <a:t>Decision Optimization:</a:t>
            </a:r>
            <a:r>
              <a:rPr lang="en-US" dirty="0"/>
              <a:t> Applying advanced analytics and algorithms to identify optimal solutions.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8110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44141-5892-FDD6-042A-55B696CB1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1116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Business Design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C7F5D-A514-61A5-5715-B084EA0AE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2387"/>
            <a:ext cx="12192000" cy="582561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6500" b="1" dirty="0"/>
              <a:t>1. Business Model Innovation: </a:t>
            </a:r>
            <a:r>
              <a:rPr lang="en-US" sz="6500" dirty="0"/>
              <a:t>Designing novel business models to drive growth and competitiveness.</a:t>
            </a:r>
          </a:p>
          <a:p>
            <a:pPr marL="0" indent="0">
              <a:buNone/>
            </a:pPr>
            <a:r>
              <a:rPr lang="en-US" sz="6500" b="1" dirty="0"/>
              <a:t>2. Service Design:</a:t>
            </a:r>
            <a:r>
              <a:rPr lang="en-US" sz="6500" dirty="0"/>
              <a:t> Crafting end-to-end experiences that meet customer needs.</a:t>
            </a:r>
          </a:p>
          <a:p>
            <a:pPr marL="0" indent="0">
              <a:buNone/>
            </a:pPr>
            <a:r>
              <a:rPr lang="en-US" sz="6500" dirty="0"/>
              <a:t>3.</a:t>
            </a:r>
            <a:r>
              <a:rPr lang="en-US" sz="6500" b="1" dirty="0"/>
              <a:t>Process Design: </a:t>
            </a:r>
            <a:r>
              <a:rPr lang="en-US" sz="6500" dirty="0"/>
              <a:t>Creating efficient, effective processes that support business objectives.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21463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4017-2A9F-A0BD-6264-8E51F8563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914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Management Processes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26A88-1C47-1160-4DF5-1E203034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7135"/>
            <a:ext cx="12192000" cy="5810864"/>
          </a:xfrm>
        </p:spPr>
        <p:txBody>
          <a:bodyPr>
            <a:normAutofit fontScale="62500" lnSpcReduction="20000"/>
          </a:bodyPr>
          <a:lstStyle/>
          <a:p>
            <a:r>
              <a:rPr lang="en-US" sz="4900" dirty="0"/>
              <a:t>1. </a:t>
            </a:r>
            <a:r>
              <a:rPr lang="en-US" sz="4900" b="1" dirty="0"/>
              <a:t>Strategic Planning:</a:t>
            </a:r>
            <a:r>
              <a:rPr lang="en-US" sz="4900" dirty="0"/>
              <a:t> Defining business goals, objectives, and initiatives.</a:t>
            </a:r>
            <a:br>
              <a:rPr lang="en-US" sz="4900" dirty="0"/>
            </a:br>
            <a:endParaRPr lang="en-US" sz="4900" dirty="0"/>
          </a:p>
          <a:p>
            <a:r>
              <a:rPr lang="en-US" sz="4900" dirty="0"/>
              <a:t>2. </a:t>
            </a:r>
            <a:r>
              <a:rPr lang="en-US" sz="4900" b="1" dirty="0"/>
              <a:t>Performance Management: </a:t>
            </a:r>
            <a:r>
              <a:rPr lang="en-US" sz="4900" dirty="0"/>
              <a:t>Monitoring and evaluating business performance.</a:t>
            </a:r>
            <a:br>
              <a:rPr lang="en-US" sz="4900" dirty="0"/>
            </a:br>
            <a:endParaRPr lang="en-US" sz="4900" dirty="0"/>
          </a:p>
          <a:p>
            <a:r>
              <a:rPr lang="en-US" sz="4900" dirty="0"/>
              <a:t>3. </a:t>
            </a:r>
            <a:r>
              <a:rPr lang="en-US" sz="4900" b="1" dirty="0"/>
              <a:t>Change Management: </a:t>
            </a:r>
            <a:r>
              <a:rPr lang="en-US" sz="4900" dirty="0"/>
              <a:t>Managing organizational change and transformation.</a:t>
            </a:r>
            <a:br>
              <a:rPr lang="en-US" sz="4900" dirty="0"/>
            </a:br>
            <a:endParaRPr lang="en-US" sz="4900" dirty="0"/>
          </a:p>
          <a:p>
            <a:r>
              <a:rPr lang="en-US" sz="4900" dirty="0"/>
              <a:t>4. </a:t>
            </a:r>
            <a:r>
              <a:rPr lang="en-US" sz="4900" b="1" dirty="0"/>
              <a:t>Risk Management:</a:t>
            </a:r>
            <a:r>
              <a:rPr lang="en-US" sz="4900" dirty="0"/>
              <a:t> Identifying, assessing, and mitigating risks.</a:t>
            </a:r>
            <a:br>
              <a:rPr lang="en-US" sz="4900" dirty="0"/>
            </a:br>
            <a:endParaRPr lang="en-US" sz="4900" dirty="0"/>
          </a:p>
          <a:p>
            <a:r>
              <a:rPr lang="en-US" sz="4900" dirty="0"/>
              <a:t>5. </a:t>
            </a:r>
            <a:r>
              <a:rPr lang="en-US" sz="4900" b="1" dirty="0"/>
              <a:t>Quality Management:</a:t>
            </a:r>
            <a:r>
              <a:rPr lang="en-US" sz="4900" dirty="0"/>
              <a:t> Ensuring consistent quality in products and services.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67312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288F7-E852-0450-053A-99D5FD738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1118056"/>
          </a:xfrm>
        </p:spPr>
        <p:txBody>
          <a:bodyPr>
            <a:normAutofit/>
          </a:bodyPr>
          <a:lstStyle/>
          <a:p>
            <a:r>
              <a:rPr kumimoji="0" lang="en-PK" altLang="en-PK" sz="5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These processes are essential for:</a:t>
            </a:r>
            <a:endParaRPr lang="en-PK" sz="5400" b="1" dirty="0">
              <a:highlight>
                <a:srgbClr val="FFFF00"/>
              </a:highligh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D0BA30-17FF-1DD9-1E4C-D26B128E02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1473743"/>
              </p:ext>
            </p:extLst>
          </p:nvPr>
        </p:nvGraphicFramePr>
        <p:xfrm>
          <a:off x="1776412" y="3818414"/>
          <a:ext cx="8639175" cy="768826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671827013"/>
                    </a:ext>
                  </a:extLst>
                </a:gridCol>
                <a:gridCol w="8220075">
                  <a:extLst>
                    <a:ext uri="{9D8B030D-6E8A-4147-A177-3AD203B41FA5}">
                      <a16:colId xmlns:a16="http://schemas.microsoft.com/office/drawing/2014/main" val="2365977349"/>
                    </a:ext>
                  </a:extLst>
                </a:gridCol>
              </a:tblGrid>
              <a:tr h="768826">
                <a:tc>
                  <a:txBody>
                    <a:bodyPr/>
                    <a:lstStyle/>
                    <a:p>
                      <a:pPr fontAlgn="t"/>
                      <a:endParaRPr lang="en-PK">
                        <a:effectLst/>
                      </a:endParaRPr>
                    </a:p>
                  </a:txBody>
                  <a:tcPr marL="152400" marR="152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none" strike="noStrike" dirty="0" err="1">
                          <a:solidFill>
                            <a:srgbClr val="444746"/>
                          </a:solidFill>
                          <a:effectLst/>
                          <a:latin typeface="Google Sans"/>
                        </a:rPr>
                        <a:t>ReplyForward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51579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C1A7BC8-4FA5-32C4-964A-F728FB391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6679" y="-605490"/>
            <a:ext cx="12298680" cy="76636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PK" sz="2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PK" sz="4000" b="1" dirty="0">
                <a:solidFill>
                  <a:srgbClr val="222222"/>
                </a:solidFill>
                <a:cs typeface="Arial" panose="020B0604020202020204" pitchFamily="34" charset="0"/>
              </a:rPr>
              <a:t>Benefits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PK" sz="2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PK" sz="2800" dirty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_Informed decision-making_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_Business growth and innovation_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_Operational efficiency_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_Customer satisfaction_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 _Competitive advantage_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By integrating Decisions Engineering, Business Design, and Management Processes, organizations can create</a:t>
            </a:r>
            <a:endParaRPr kumimoji="0" lang="en-US" altLang="en-PK" sz="2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robust, data-driven approach to decision-making and business solution design.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</a:t>
            </a: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506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275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Google Sans</vt:lpstr>
      <vt:lpstr>Office Theme</vt:lpstr>
      <vt:lpstr>Decisions Engineering and Business Design</vt:lpstr>
      <vt:lpstr>Business Design</vt:lpstr>
      <vt:lpstr>Management Processes</vt:lpstr>
      <vt:lpstr>These processes are essential for: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ColSial</dc:creator>
  <cp:lastModifiedBy>ColSial</cp:lastModifiedBy>
  <cp:revision>14</cp:revision>
  <dcterms:created xsi:type="dcterms:W3CDTF">2024-09-10T15:57:52Z</dcterms:created>
  <dcterms:modified xsi:type="dcterms:W3CDTF">2024-09-18T13:59:22Z</dcterms:modified>
</cp:coreProperties>
</file>