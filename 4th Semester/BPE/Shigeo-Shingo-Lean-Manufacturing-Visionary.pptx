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66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4630400" cy="8229600"/>
  <p:notesSz cx="8229600" cy="14630400"/>
  <p:embeddedFontLst>
    <p:embeddedFont>
      <p:font typeface="Saira Medium" charset="0"/>
      <p:regular r:id="rId14"/>
    </p:embeddedFont>
    <p:embeddedFont>
      <p:font typeface="Calibri" pitchFamily="34" charset="0"/>
      <p:regular r:id="rId15"/>
      <p:bold r:id="rId16"/>
      <p:italic r:id="rId17"/>
      <p:boldItalic r:id="rId18"/>
    </p:embeddedFont>
    <p:embeddedFont>
      <p:font typeface="Roboto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-552" y="-80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570462-C8C0-49D9-86C7-29456942EA12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6950075"/>
            <a:ext cx="6584950" cy="65833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6A3C84-154F-41E3-8316-7C242D527F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736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8983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4698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Shigeo Shingo: Lean Manufacturing Visionary</a:t>
            </a:r>
            <a:endParaRPr lang="en-US" sz="4450" b="1" dirty="0"/>
          </a:p>
        </p:txBody>
      </p:sp>
      <p:sp>
        <p:nvSpPr>
          <p:cNvPr id="4" name="Text 1"/>
          <p:cNvSpPr/>
          <p:nvPr/>
        </p:nvSpPr>
        <p:spPr>
          <a:xfrm>
            <a:off x="793790" y="4304705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Shigeo Shingo was a Japanese industrial engineer who revolutionized manufacturing with his innovative methods.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90749"/>
            <a:ext cx="1176587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Shingo's Contribution to Lean Manufacturing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394841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83694" y="5479852"/>
            <a:ext cx="13037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53948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Eliminating Waste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5885259"/>
            <a:ext cx="345924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Shingo focused on identifying and eliminating waste in all forms.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5394841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68171" y="5479852"/>
            <a:ext cx="20788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954078" y="53948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Improving Quality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954078" y="5885259"/>
            <a:ext cx="345924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 emphasized building quality into the process rather than inspecting for defects.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9640133" y="5394841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792533" y="5479852"/>
            <a:ext cx="205502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0377249" y="53948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Increasing Efficiency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377249" y="5885259"/>
            <a:ext cx="345924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 developed techniques to optimize production and reduce cycle times.</a:t>
            </a:r>
            <a:endParaRPr lang="en-US" sz="1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9670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The Concept of Poka-Yoke (Mistake-Proofing)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954423"/>
            <a:ext cx="3664863" cy="2078474"/>
          </a:xfrm>
          <a:prstGeom prst="roundRect">
            <a:avLst>
              <a:gd name="adj" fmla="val 9822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29864" y="42040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Mistake-Proofing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29864" y="4694515"/>
            <a:ext cx="31655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method of designing processes and equipment to prevent errors from happening.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3954423"/>
            <a:ext cx="3664863" cy="2078474"/>
          </a:xfrm>
          <a:prstGeom prst="roundRect">
            <a:avLst>
              <a:gd name="adj" fmla="val 9822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21541" y="42040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Built-In Safeguards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21541" y="4694515"/>
            <a:ext cx="31655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Poka-yoke uses simple mechanisms to detect and prevent errors.</a:t>
            </a:r>
            <a:endParaRPr lang="en-US" sz="1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8570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Poka-Yoke: Preventing Defects at the Source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2643426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34372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Color Coding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280190" y="3927634"/>
            <a:ext cx="36080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Using different colors to identify parts or steps in a process.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8421" y="2643426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228421" y="34372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Shape Matching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10228421" y="3927634"/>
            <a:ext cx="3608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Designing parts with unique shapes that can only fit together correctly.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190" y="5333881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80190" y="61276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Sensors and Alarms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6280190" y="6618089"/>
            <a:ext cx="36080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Using sensors to detect errors and trigger alarms.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8580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Single-Minute Exchange of Dies (SMED)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605111" y="2443520"/>
            <a:ext cx="30480" cy="5100280"/>
          </a:xfrm>
          <a:prstGeom prst="roundRect">
            <a:avLst>
              <a:gd name="adj" fmla="val 669768"/>
            </a:avLst>
          </a:prstGeom>
          <a:solidFill>
            <a:srgbClr val="FFFFFF">
              <a:alpha val="24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845022" y="2938582"/>
            <a:ext cx="793790" cy="30480"/>
          </a:xfrm>
          <a:prstGeom prst="roundRect">
            <a:avLst>
              <a:gd name="adj" fmla="val 669768"/>
            </a:avLst>
          </a:prstGeom>
          <a:solidFill>
            <a:srgbClr val="FC8337"/>
          </a:solidFill>
          <a:ln/>
        </p:spPr>
      </p:sp>
      <p:sp>
        <p:nvSpPr>
          <p:cNvPr id="6" name="Shape 3"/>
          <p:cNvSpPr/>
          <p:nvPr/>
        </p:nvSpPr>
        <p:spPr>
          <a:xfrm>
            <a:off x="6365200" y="2698671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55105" y="2783681"/>
            <a:ext cx="13037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7867888" y="26703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Internal Setup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867888" y="3160752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Tasks that can be performed while the machine is still running.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845022" y="4835247"/>
            <a:ext cx="793790" cy="30480"/>
          </a:xfrm>
          <a:prstGeom prst="roundRect">
            <a:avLst>
              <a:gd name="adj" fmla="val 669768"/>
            </a:avLst>
          </a:prstGeom>
          <a:solidFill>
            <a:srgbClr val="FC8337"/>
          </a:solidFill>
          <a:ln/>
        </p:spPr>
      </p:sp>
      <p:sp>
        <p:nvSpPr>
          <p:cNvPr id="11" name="Shape 8"/>
          <p:cNvSpPr/>
          <p:nvPr/>
        </p:nvSpPr>
        <p:spPr>
          <a:xfrm>
            <a:off x="6365200" y="4595336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16410" y="4680347"/>
            <a:ext cx="20788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7867888" y="45669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External Setup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867888" y="5057418"/>
            <a:ext cx="59687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Tasks that require the machine to be stopped.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6845022" y="6369010"/>
            <a:ext cx="793790" cy="30480"/>
          </a:xfrm>
          <a:prstGeom prst="roundRect">
            <a:avLst>
              <a:gd name="adj" fmla="val 669768"/>
            </a:avLst>
          </a:prstGeom>
          <a:solidFill>
            <a:srgbClr val="FC8337"/>
          </a:solidFill>
          <a:ln/>
        </p:spPr>
      </p:sp>
      <p:sp>
        <p:nvSpPr>
          <p:cNvPr id="16" name="Shape 13"/>
          <p:cNvSpPr/>
          <p:nvPr/>
        </p:nvSpPr>
        <p:spPr>
          <a:xfrm>
            <a:off x="6365200" y="6129099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17600" y="6214110"/>
            <a:ext cx="205502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7867888" y="6100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Changeover Time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7867888" y="6591181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time it takes to switch between producing different products.</a:t>
            </a:r>
            <a:endParaRPr lang="en-US" sz="1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662720"/>
            <a:ext cx="901326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SMED: Reducing Changeover Time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711660"/>
            <a:ext cx="4347567" cy="90725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20604" y="59590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Standardize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1020604" y="6449497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 a clear and consistent procedure for changeovers.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1357" y="4711660"/>
            <a:ext cx="4347567" cy="90725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368171" y="59590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Simplify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5368171" y="6449497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Eliminate unnecessary steps and streamline the process.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8924" y="4711660"/>
            <a:ext cx="4347567" cy="90725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15738" y="59590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Streamline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715738" y="6449497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Make it easier to perform tasks by using tools and equipment.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16499"/>
            <a:ext cx="934664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Implementing Poka-Yoke and SMED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678906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00024" y="3267551"/>
            <a:ext cx="108585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357217" y="29057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Identify Problems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3396139"/>
            <a:ext cx="534269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Analyze processes to identify areas for improvement.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998952"/>
            <a:ext cx="8592860" cy="15240"/>
          </a:xfrm>
          <a:prstGeom prst="roundRect">
            <a:avLst>
              <a:gd name="adj" fmla="val 1339536"/>
            </a:avLst>
          </a:prstGeom>
          <a:solidFill>
            <a:srgbClr val="FC8337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381" y="4042529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67758" y="4469249"/>
            <a:ext cx="173236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6433304" y="42693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Develop Solutions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759762"/>
            <a:ext cx="54266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Brainstorm and implement solutions to prevent errors.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5362575"/>
            <a:ext cx="7516773" cy="15240"/>
          </a:xfrm>
          <a:prstGeom prst="roundRect">
            <a:avLst>
              <a:gd name="adj" fmla="val 1339536"/>
            </a:avLst>
          </a:prstGeom>
          <a:solidFill>
            <a:srgbClr val="FC8337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5406152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68710" y="5832872"/>
            <a:ext cx="171212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7509272" y="56329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Train and Implement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6123384"/>
            <a:ext cx="568809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 workers on the new processes and monitor results.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59825"/>
            <a:ext cx="1090017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The Impact of Shingo's Principles on Lean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622233"/>
            <a:ext cx="2173724" cy="1306949"/>
          </a:xfrm>
          <a:prstGeom prst="roundRect">
            <a:avLst>
              <a:gd name="adj" fmla="val 15620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3464" y="3048953"/>
            <a:ext cx="108585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194328" y="28490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Reduced Waste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194328" y="3339465"/>
            <a:ext cx="554081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Minimizing defects and downtime leads to lower costs.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3080861" y="3913942"/>
            <a:ext cx="10642402" cy="15240"/>
          </a:xfrm>
          <a:prstGeom prst="roundRect">
            <a:avLst>
              <a:gd name="adj" fmla="val 1339536"/>
            </a:avLst>
          </a:prstGeom>
          <a:solidFill>
            <a:srgbClr val="FC8337"/>
          </a:solidFill>
          <a:ln/>
        </p:spPr>
      </p:sp>
      <p:sp>
        <p:nvSpPr>
          <p:cNvPr id="8" name="Shape 6"/>
          <p:cNvSpPr/>
          <p:nvPr/>
        </p:nvSpPr>
        <p:spPr>
          <a:xfrm>
            <a:off x="793790" y="4042529"/>
            <a:ext cx="4347567" cy="1306949"/>
          </a:xfrm>
          <a:prstGeom prst="roundRect">
            <a:avLst>
              <a:gd name="adj" fmla="val 15620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3464" y="4469249"/>
            <a:ext cx="173236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68171" y="42693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Improved Quality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68171" y="4759762"/>
            <a:ext cx="661475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Building quality in from the start reduces the need for inspections.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5254704" y="5334238"/>
            <a:ext cx="8468558" cy="15240"/>
          </a:xfrm>
          <a:prstGeom prst="roundRect">
            <a:avLst>
              <a:gd name="adj" fmla="val 1339536"/>
            </a:avLst>
          </a:prstGeom>
          <a:solidFill>
            <a:srgbClr val="FC8337"/>
          </a:solidFill>
          <a:ln/>
        </p:spPr>
      </p:sp>
      <p:sp>
        <p:nvSpPr>
          <p:cNvPr id="13" name="Shape 11"/>
          <p:cNvSpPr/>
          <p:nvPr/>
        </p:nvSpPr>
        <p:spPr>
          <a:xfrm>
            <a:off x="793790" y="5462826"/>
            <a:ext cx="6521410" cy="1306949"/>
          </a:xfrm>
          <a:prstGeom prst="roundRect">
            <a:avLst>
              <a:gd name="adj" fmla="val 15620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3464" y="5889546"/>
            <a:ext cx="171212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542014" y="56896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Increased Efficiency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542014" y="6180058"/>
            <a:ext cx="596074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Shorter cycle times and higher output lead to higher profits.</a:t>
            </a:r>
            <a:endParaRPr lang="en-US" sz="1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Shigeo Shingo's Legacy and Lessons Learned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Shingo's principles remain vital to modern manufacturing. By embracing his insights, businesses can achieve greater efficiency, quality, and customer satisfaction.</a:t>
            </a:r>
            <a:endParaRPr lang="en-US" sz="1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016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363</Words>
  <Application>Microsoft Office PowerPoint</Application>
  <PresentationFormat>Custom</PresentationFormat>
  <Paragraphs>72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Saira Medium</vt:lpstr>
      <vt:lpstr>Calibri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PMLS</cp:lastModifiedBy>
  <cp:revision>2</cp:revision>
  <dcterms:created xsi:type="dcterms:W3CDTF">2024-12-20T06:55:05Z</dcterms:created>
  <dcterms:modified xsi:type="dcterms:W3CDTF">2024-12-20T07:02:03Z</dcterms:modified>
</cp:coreProperties>
</file>