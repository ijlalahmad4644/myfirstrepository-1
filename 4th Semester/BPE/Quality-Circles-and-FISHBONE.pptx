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4630400" cy="8229600"/>
  <p:notesSz cx="8229600" cy="14630400"/>
  <p:embeddedFontLst>
    <p:embeddedFont>
      <p:font typeface="Dela Gothic One"/>
      <p:regular r:id="rId19"/>
    </p:embeddedFont>
    <p:embeddedFont>
      <p:font typeface="Dela Gothic On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Relationship Id="rId23" Type="http://schemas.openxmlformats.org/officeDocument/2006/relationships/font" Target="fonts/font5.fntdata"/><Relationship Id="rId2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2-1.png"/><Relationship Id="rId2" Type="http://schemas.openxmlformats.org/officeDocument/2006/relationships/image" Target="../media/image-1012-2.png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3-1.png"/><Relationship Id="rId2" Type="http://schemas.openxmlformats.org/officeDocument/2006/relationships/image" Target="../media/image-1013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0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3368397"/>
            <a:ext cx="9669542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Quality Circles &amp; FISHBONE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51437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945963"/>
            <a:ext cx="6489144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GROUP MEMBERS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4091940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MUHAMMAD TAIMOOR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4514374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SHAHZAIB IDREES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493680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SYED ISMAIL SHAH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719507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Kaoru Ishikawa: A Quality Revolution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469844"/>
            <a:ext cx="76273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presentation explores the revolutionary concepts of quality circles and the fishbone diagram, developed by Dr. Kaoru Ishikawa, a pioneer in quality management.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83775"/>
            <a:ext cx="855059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What are Quality Circles?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837980"/>
            <a:ext cx="319754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Empowered Teams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410789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Small, voluntary groups of employees from the same work area, united by a shared passion for quality.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7139" y="3837980"/>
            <a:ext cx="519624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Collaborative Problem-Solving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7139" y="4410789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 circles identify, analyze, and solve quality problems within their own work processes, empowering employees to drive improvement.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7095" y="445651"/>
            <a:ext cx="6304240" cy="533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150"/>
              </a:lnSpc>
              <a:buNone/>
            </a:pPr>
            <a:r>
              <a:rPr lang="en-US" sz="33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How Quality Circles Work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7303770" y="1302782"/>
            <a:ext cx="22860" cy="6482120"/>
          </a:xfrm>
          <a:prstGeom prst="roundRect">
            <a:avLst>
              <a:gd name="adj" fmla="val 297741"/>
            </a:avLst>
          </a:prstGeom>
          <a:solidFill>
            <a:srgbClr val="8D2424"/>
          </a:solidFill>
          <a:ln/>
        </p:spPr>
      </p:sp>
      <p:sp>
        <p:nvSpPr>
          <p:cNvPr id="4" name="Shape 2"/>
          <p:cNvSpPr/>
          <p:nvPr/>
        </p:nvSpPr>
        <p:spPr>
          <a:xfrm>
            <a:off x="6588681" y="1655921"/>
            <a:ext cx="567095" cy="22860"/>
          </a:xfrm>
          <a:prstGeom prst="roundRect">
            <a:avLst>
              <a:gd name="adj" fmla="val 297741"/>
            </a:avLst>
          </a:prstGeom>
          <a:solidFill>
            <a:srgbClr val="8D2424"/>
          </a:solidFill>
          <a:ln/>
        </p:spPr>
      </p:sp>
      <p:sp>
        <p:nvSpPr>
          <p:cNvPr id="5" name="Shape 3"/>
          <p:cNvSpPr/>
          <p:nvPr/>
        </p:nvSpPr>
        <p:spPr>
          <a:xfrm>
            <a:off x="7132915" y="1485067"/>
            <a:ext cx="364569" cy="364569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39953" y="1539359"/>
            <a:ext cx="150495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291608" y="1464826"/>
            <a:ext cx="213229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Formation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67095" y="1828443"/>
            <a:ext cx="5856803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Employees form small, self-managed groups, typically led by a facilitator.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74625" y="2466142"/>
            <a:ext cx="567095" cy="22860"/>
          </a:xfrm>
          <a:prstGeom prst="roundRect">
            <a:avLst>
              <a:gd name="adj" fmla="val 297741"/>
            </a:avLst>
          </a:prstGeom>
          <a:solidFill>
            <a:srgbClr val="8D2424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915" y="2295287"/>
            <a:ext cx="364569" cy="364569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08401" y="2349579"/>
            <a:ext cx="213598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06502" y="2275046"/>
            <a:ext cx="213229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Training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206502" y="2638663"/>
            <a:ext cx="5856803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Members receive training on quality principles, problem-solving techniques, and communication skills.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8681" y="3195280"/>
            <a:ext cx="567095" cy="22860"/>
          </a:xfrm>
          <a:prstGeom prst="roundRect">
            <a:avLst>
              <a:gd name="adj" fmla="val 297741"/>
            </a:avLst>
          </a:prstGeom>
          <a:solidFill>
            <a:srgbClr val="8D2424"/>
          </a:solidFill>
          <a:ln/>
        </p:spPr>
      </p:sp>
      <p:sp>
        <p:nvSpPr>
          <p:cNvPr id="15" name="Shape 13"/>
          <p:cNvSpPr/>
          <p:nvPr/>
        </p:nvSpPr>
        <p:spPr>
          <a:xfrm>
            <a:off x="7132915" y="3024426"/>
            <a:ext cx="364569" cy="364569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2448" y="3078718"/>
            <a:ext cx="225385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549015" y="3004185"/>
            <a:ext cx="287488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Problem Identification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67095" y="3367802"/>
            <a:ext cx="5856803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Circles identify and prioritize quality issues within their work areas.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74625" y="3924538"/>
            <a:ext cx="567095" cy="22860"/>
          </a:xfrm>
          <a:prstGeom prst="roundRect">
            <a:avLst>
              <a:gd name="adj" fmla="val 297741"/>
            </a:avLst>
          </a:prstGeom>
          <a:solidFill>
            <a:srgbClr val="8D2424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915" y="3753683"/>
            <a:ext cx="364569" cy="364569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96971" y="3807976"/>
            <a:ext cx="236339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206502" y="3733443"/>
            <a:ext cx="213229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Data Collection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206502" y="4097060"/>
            <a:ext cx="5856803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gather data to understand the problem, analyze trends, and identify potential causes.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8681" y="4653796"/>
            <a:ext cx="567095" cy="22860"/>
          </a:xfrm>
          <a:prstGeom prst="roundRect">
            <a:avLst>
              <a:gd name="adj" fmla="val 297741"/>
            </a:avLst>
          </a:prstGeom>
          <a:solidFill>
            <a:srgbClr val="8D2424"/>
          </a:solidFill>
          <a:ln/>
        </p:spPr>
      </p:sp>
      <p:sp>
        <p:nvSpPr>
          <p:cNvPr id="25" name="Shape 23"/>
          <p:cNvSpPr/>
          <p:nvPr/>
        </p:nvSpPr>
        <p:spPr>
          <a:xfrm>
            <a:off x="7132915" y="4482941"/>
            <a:ext cx="364569" cy="364569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02091" y="4537234"/>
            <a:ext cx="226100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667958" y="4462701"/>
            <a:ext cx="275594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Solution Development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567095" y="4826318"/>
            <a:ext cx="5856803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Circles brainstorm and develop solutions to address the identified issues, focusing on root causes.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74625" y="5383054"/>
            <a:ext cx="567095" cy="22860"/>
          </a:xfrm>
          <a:prstGeom prst="roundRect">
            <a:avLst>
              <a:gd name="adj" fmla="val 297741"/>
            </a:avLst>
          </a:prstGeom>
          <a:solidFill>
            <a:srgbClr val="8D2424"/>
          </a:solidFill>
          <a:ln/>
        </p:spPr>
      </p:sp>
      <p:sp>
        <p:nvSpPr>
          <p:cNvPr id="30" name="Shape 28"/>
          <p:cNvSpPr/>
          <p:nvPr/>
        </p:nvSpPr>
        <p:spPr>
          <a:xfrm>
            <a:off x="7132915" y="5212199"/>
            <a:ext cx="364569" cy="364569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05663" y="5266492"/>
            <a:ext cx="218956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06502" y="5191958"/>
            <a:ext cx="213229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Implementation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8206502" y="5555575"/>
            <a:ext cx="5856803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implement the agreed-upon solutions, monitoring progress and making adjustments as needed.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88681" y="6112312"/>
            <a:ext cx="567095" cy="22860"/>
          </a:xfrm>
          <a:prstGeom prst="roundRect">
            <a:avLst>
              <a:gd name="adj" fmla="val 297741"/>
            </a:avLst>
          </a:prstGeom>
          <a:solidFill>
            <a:srgbClr val="8D2424"/>
          </a:solidFill>
          <a:ln/>
        </p:spPr>
      </p:sp>
      <p:sp>
        <p:nvSpPr>
          <p:cNvPr id="35" name="Shape 33"/>
          <p:cNvSpPr/>
          <p:nvPr/>
        </p:nvSpPr>
        <p:spPr>
          <a:xfrm>
            <a:off x="7132915" y="5941457"/>
            <a:ext cx="364569" cy="364569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15783" y="5995749"/>
            <a:ext cx="198715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7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291608" y="5921216"/>
            <a:ext cx="213229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Presentation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567095" y="6284833"/>
            <a:ext cx="5856803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Circles present their findings and solutions to management, seeking approval and support.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7474625" y="6841569"/>
            <a:ext cx="567095" cy="22860"/>
          </a:xfrm>
          <a:prstGeom prst="roundRect">
            <a:avLst>
              <a:gd name="adj" fmla="val 297741"/>
            </a:avLst>
          </a:prstGeom>
          <a:solidFill>
            <a:srgbClr val="8D2424"/>
          </a:solidFill>
          <a:ln/>
        </p:spPr>
      </p:sp>
      <p:sp>
        <p:nvSpPr>
          <p:cNvPr id="40" name="Shape 38"/>
          <p:cNvSpPr/>
          <p:nvPr/>
        </p:nvSpPr>
        <p:spPr>
          <a:xfrm>
            <a:off x="7132915" y="6670715"/>
            <a:ext cx="364569" cy="364569"/>
          </a:xfrm>
          <a:prstGeom prst="roundRect">
            <a:avLst>
              <a:gd name="adj" fmla="val 1867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03162" y="6725007"/>
            <a:ext cx="224076" cy="25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8206502" y="6650474"/>
            <a:ext cx="2132290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Evaluation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8206502" y="7014091"/>
            <a:ext cx="5856803" cy="518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evaluate the effectiveness of the implemented solutions and identify areas for further improvement.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003102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Role of Quality Circles in Business and Engineering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2861786"/>
            <a:ext cx="4154567" cy="25677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57002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Manufacturing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6186368"/>
            <a:ext cx="415456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and resolve defects in production processes, improve product quality, and reduce waste.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7798" y="2861786"/>
            <a:ext cx="4154686" cy="2567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7798" y="5700236"/>
            <a:ext cx="38491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Software Development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7798" y="6186368"/>
            <a:ext cx="4154686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Enhance code quality, reduce bugs, improve user experience, and increase software reliability.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405" y="2861786"/>
            <a:ext cx="4154567" cy="256770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7405" y="57002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Engineering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7405" y="6186368"/>
            <a:ext cx="4154567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Optimize product designs, improve manufacturing processes, and ensure products meet quality standards.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99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910" y="2683550"/>
            <a:ext cx="12225576" cy="578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550"/>
              </a:lnSpc>
              <a:buNone/>
            </a:pPr>
            <a:r>
              <a:rPr lang="en-US" sz="36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Benefits of Implementing Quality Circles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15910" y="3614380"/>
            <a:ext cx="6567249" cy="580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50"/>
              </a:lnSpc>
              <a:buNone/>
            </a:pPr>
            <a:r>
              <a:rPr lang="en-US" sz="4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4550" dirty="0"/>
          </a:p>
        </p:txBody>
      </p:sp>
      <p:sp>
        <p:nvSpPr>
          <p:cNvPr id="5" name="Text 2"/>
          <p:cNvSpPr/>
          <p:nvPr/>
        </p:nvSpPr>
        <p:spPr>
          <a:xfrm>
            <a:off x="2294334" y="4414957"/>
            <a:ext cx="3210401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Increased Productivity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15910" y="4809887"/>
            <a:ext cx="6567249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Reduced defects and improved processes contribute to higher productivity.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447121" y="3614380"/>
            <a:ext cx="6567368" cy="580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50"/>
              </a:lnSpc>
              <a:buNone/>
            </a:pPr>
            <a:r>
              <a:rPr lang="en-US" sz="4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4550" dirty="0"/>
          </a:p>
        </p:txBody>
      </p:sp>
      <p:sp>
        <p:nvSpPr>
          <p:cNvPr id="8" name="Text 5"/>
          <p:cNvSpPr/>
          <p:nvPr/>
        </p:nvSpPr>
        <p:spPr>
          <a:xfrm>
            <a:off x="9534049" y="4414957"/>
            <a:ext cx="2393513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Enhanced Quality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447121" y="4809887"/>
            <a:ext cx="6567368" cy="562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quality leads to improved products and services, meeting customer expectations.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15910" y="5988725"/>
            <a:ext cx="6567249" cy="580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50"/>
              </a:lnSpc>
              <a:buNone/>
            </a:pPr>
            <a:r>
              <a:rPr lang="en-US" sz="4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4550" dirty="0"/>
          </a:p>
        </p:txBody>
      </p:sp>
      <p:sp>
        <p:nvSpPr>
          <p:cNvPr id="11" name="Text 8"/>
          <p:cNvSpPr/>
          <p:nvPr/>
        </p:nvSpPr>
        <p:spPr>
          <a:xfrm>
            <a:off x="2029301" y="6789301"/>
            <a:ext cx="3740348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Improved Employee Morale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15910" y="7184231"/>
            <a:ext cx="6567249" cy="562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Empowered employees feel valued, leading to higher job satisfaction and increased engagement.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447121" y="5988725"/>
            <a:ext cx="6567368" cy="580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550"/>
              </a:lnSpc>
              <a:buNone/>
            </a:pPr>
            <a:r>
              <a:rPr lang="en-US" sz="45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4550" dirty="0"/>
          </a:p>
        </p:txBody>
      </p:sp>
      <p:sp>
        <p:nvSpPr>
          <p:cNvPr id="14" name="Text 11"/>
          <p:cNvSpPr/>
          <p:nvPr/>
        </p:nvSpPr>
        <p:spPr>
          <a:xfrm>
            <a:off x="9573101" y="6789301"/>
            <a:ext cx="2315408" cy="289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Reduced Costs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447121" y="7184231"/>
            <a:ext cx="6567368" cy="28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Fewer defects and improved efficiency result in lower production costs.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3045738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Fishbone Diagram: Visualizing Root Causes</a:t>
            </a:r>
            <a:endParaRPr lang="en-US" sz="4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9839" y="679490"/>
            <a:ext cx="13390721" cy="1165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Step-by-Step Process of Creating a Fishbone Diagram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4580" y="2198846"/>
            <a:ext cx="1325642" cy="10348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2154" y="2667714"/>
            <a:ext cx="13025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807268" y="2375892"/>
            <a:ext cx="2619970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Define the Problem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807268" y="2773323"/>
            <a:ext cx="5291614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Clearly articulate the quality issue or defect you want to analyze.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674394" y="3246239"/>
            <a:ext cx="9291995" cy="11430"/>
          </a:xfrm>
          <a:prstGeom prst="roundRect">
            <a:avLst>
              <a:gd name="adj" fmla="val 650863"/>
            </a:avLst>
          </a:prstGeom>
          <a:solidFill>
            <a:srgbClr val="8D242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759" y="3277910"/>
            <a:ext cx="2651284" cy="10348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74889" y="3618190"/>
            <a:ext cx="1849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5470088" y="3454956"/>
            <a:ext cx="2330529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Main Cause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5470088" y="3852386"/>
            <a:ext cx="6122789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 a horizontal line representing the problem, pointing towards the right.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337215" y="4325303"/>
            <a:ext cx="8629174" cy="11430"/>
          </a:xfrm>
          <a:prstGeom prst="roundRect">
            <a:avLst>
              <a:gd name="adj" fmla="val 650863"/>
            </a:avLst>
          </a:prstGeom>
          <a:solidFill>
            <a:srgbClr val="8D2424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938" y="4356973"/>
            <a:ext cx="3976926" cy="103489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69769" y="4697254"/>
            <a:ext cx="1950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132909" y="4534019"/>
            <a:ext cx="2430542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Major Categories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6132909" y="4931450"/>
            <a:ext cx="7498794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Draw diagonal lines branching off the main line, representing the potential cause categories.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000036" y="5404366"/>
            <a:ext cx="7966353" cy="11430"/>
          </a:xfrm>
          <a:prstGeom prst="roundRect">
            <a:avLst>
              <a:gd name="adj" fmla="val 650863"/>
            </a:avLst>
          </a:prstGeom>
          <a:solidFill>
            <a:srgbClr val="8D242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117" y="5436037"/>
            <a:ext cx="5302687" cy="1034891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865126" y="5776317"/>
            <a:ext cx="2045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795849" y="5613083"/>
            <a:ext cx="2330529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Specific Causes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795849" y="6010513"/>
            <a:ext cx="532257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Brainstorm specific causes for the problem within each category.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6662976" y="6483429"/>
            <a:ext cx="7303413" cy="11430"/>
          </a:xfrm>
          <a:prstGeom prst="roundRect">
            <a:avLst>
              <a:gd name="adj" fmla="val 650863"/>
            </a:avLst>
          </a:prstGeom>
          <a:solidFill>
            <a:srgbClr val="8D2424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296" y="6515100"/>
            <a:ext cx="6628328" cy="1034891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69531" y="6855381"/>
            <a:ext cx="1957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7458670" y="6692146"/>
            <a:ext cx="3122533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Analysis and Solutions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7458670" y="7089577"/>
            <a:ext cx="5451515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Analyze the diagram to identify root causes and develop solutions.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622221"/>
            <a:ext cx="7627382" cy="2138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Importance of Quality Circles and the Fishbone Diagram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44709" y="3085267"/>
            <a:ext cx="3705463" cy="2677597"/>
          </a:xfrm>
          <a:prstGeom prst="roundRect">
            <a:avLst>
              <a:gd name="adj" fmla="val 339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8904" y="3309461"/>
            <a:ext cx="325707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Employee Engagement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68904" y="4151828"/>
            <a:ext cx="3257074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Empowers employees to take ownership of quality, boosting morale and motivation.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10166747" y="3085267"/>
            <a:ext cx="3705463" cy="2677597"/>
          </a:xfrm>
          <a:prstGeom prst="roundRect">
            <a:avLst>
              <a:gd name="adj" fmla="val 3399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90942" y="3309461"/>
            <a:ext cx="3257074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Problem-Solving Efficiency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0942" y="4151828"/>
            <a:ext cx="3257074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structured approach of the fishbone diagram helps identify root causes, leading to effective solutions.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4709" y="5979438"/>
            <a:ext cx="7627382" cy="1627942"/>
          </a:xfrm>
          <a:prstGeom prst="roundRect">
            <a:avLst>
              <a:gd name="adj" fmla="val 5590"/>
            </a:avLst>
          </a:prstGeom>
          <a:solidFill>
            <a:srgbClr val="740B0B"/>
          </a:solidFill>
          <a:ln w="762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8904" y="6203632"/>
            <a:ext cx="430553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Continuous Improvement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468904" y="6689765"/>
            <a:ext cx="717899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Quality circles foster a culture of continuous improvement, driving innovation and progress within organizations.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143839"/>
            <a:ext cx="131137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Real-World Examples and Case Studies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7560" y="4142303"/>
            <a:ext cx="1383863" cy="866537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659" y="4142303"/>
            <a:ext cx="1383863" cy="866537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758" y="4142303"/>
            <a:ext cx="1383863" cy="866537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8858" y="4142303"/>
            <a:ext cx="1383863" cy="866537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758309" y="5392341"/>
            <a:ext cx="131137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Organizations like Toyota, General Electric, and Siemens have successfully implemented quality circles, achieving significant improvements in quality, productivity, and customer satisfaction.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2687" y="426363"/>
            <a:ext cx="4081105" cy="510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Ask Anything…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2687" y="1246703"/>
            <a:ext cx="9695259" cy="66335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2024-12-20T13:36:18Z</dcterms:created>
  <dcterms:modified xsi:type="dcterms:W3CDTF">2024-12-20T13:36:18Z</dcterms:modified>
</cp:coreProperties>
</file>