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8BA8-26AF-518F-72E6-C83CED3C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AB3D1-43F4-9445-0B8A-2DB75BB44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BE8F2-B493-67A6-F269-D8D0E090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4FE6-7069-9765-A571-1E2EB092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D38B-81B8-7E38-B56D-6C7EA351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768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0006-FCEE-7884-786A-6CEBEFF2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64709-35F6-1F8E-CB5D-C9BB2B777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F60C0-29B3-799E-5862-C1181237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430E1-B714-4684-86E7-BC5E5513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28C9-810C-D4AB-5FBA-C97444F7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3635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590D-2DC5-BB1A-9B22-B7FCFBBD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C07BE-99AA-72C8-39FD-DECA4F8E9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FE238-C36B-0367-3DD4-4AA7E4D4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DAD1-7E86-75D4-4C6B-360DFC41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1433-527D-0AAA-043F-5A2E316C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02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11FB-4DB1-0AF2-AE7F-46F17C3B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B342-13B1-00B3-2AEC-807660CEE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5A11B-CB21-C872-A990-3C5C739CC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8F53B-21A3-13A7-A457-62E97B3D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E5F96-1A54-9DCD-DE27-CCD1C7D4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1F450-6556-CBEA-3151-C60F4ADE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28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5E73-C146-BAEF-BDDE-C37727E0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166E1-93CE-C4F5-FCEA-2DA8B0756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95ED6-0002-9165-079E-116536322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F0201-BBE2-EA08-2A5B-73FA5D900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F05D6-7B49-B82E-2E08-0F7809698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F2263-FDCA-06CE-E2FD-9F4ECDEF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054CC-E946-9646-7733-A2D87352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95726-432E-490A-43A5-C0102E5A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947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6A4A-745A-6E9F-ECC7-68067DBB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F8ECC-C467-ED53-B91C-0E2510F3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03562-0A84-7C92-B5E7-29C8BBA5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83185-7E69-B84F-6FDC-9C5B0A0E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78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F7890-4A84-3BFF-A23C-E8D26D93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E7175-47C0-8AC1-96F6-670C561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39665-93FC-AFDB-DD9D-CEE85D0E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735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D597-0D11-527A-395C-0F405C16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62F4-6C06-4FFE-215F-4519D9843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BD26-BDB2-8C6C-10DA-CD7FEA0EC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B5725-2025-6F59-0854-EF05DDDF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57E3F-C750-9179-2AEF-8D3C9F6D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2C03C-AAD1-B15C-691D-0AC28351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011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4F8F-B85D-6AB4-77C8-82345020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29A13-47D3-4C15-62B8-68D09BCB1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84B0C-99ED-40A1-863D-8AB8C4FEB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BC5E4-B46A-E4DB-D116-1345584B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24722-FBD8-81F4-56F4-A09D0564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E86A-9EEE-ED34-554C-3F4C7973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876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5D-AEBA-F1C7-E031-965733D7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E8E28-B32B-DFD8-BECD-DBDC7C2A7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AAB6D-F6C6-552E-30B0-5CAFC57B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D9CAA-D4DC-2DE7-7370-2B3C5B85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5178-5C53-1E5A-32BD-F6245F30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258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C02F2-13D4-D0F3-A3CE-98876A933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A2B17-8D37-B13E-1EF1-8DECDD37A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C229E-1955-3970-5664-A405EAC2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FB97C-9535-EAE2-931F-478BE086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8291A-3D8D-6D79-CE88-0540E23B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3186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96811-7BC9-8D6A-EDD8-AF9451A5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640B1-2C51-B327-4603-DCF9FDF6B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C94B0-78A5-72D3-0399-57CF6E282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C6DC6-859E-40D6-95A5-A9F6476C7E5E}" type="datetimeFigureOut">
              <a:rPr lang="en-PK" smtClean="0"/>
              <a:t>06/09/2024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BE225-4C52-EAD0-4565-C55DC1AE2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B85DD-86F4-8B95-5513-B3D99CE14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740BA-B124-4CD5-9B13-89B1CB0B784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969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1DEC-C08C-DF07-14A5-77E9BFA85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14399"/>
          </a:xfrm>
        </p:spPr>
        <p:txBody>
          <a:bodyPr>
            <a:normAutofit fontScale="90000"/>
          </a:bodyPr>
          <a:lstStyle/>
          <a:p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A6659-644B-C880-59E9-21097373B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68400"/>
            <a:ext cx="12192000" cy="5689600"/>
          </a:xfrm>
        </p:spPr>
        <p:txBody>
          <a:bodyPr/>
          <a:lstStyle/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223971-AE47-4896-F616-67C100949202}"/>
              </a:ext>
            </a:extLst>
          </p:cNvPr>
          <p:cNvGraphicFramePr>
            <a:graphicFrameLocks noGrp="1"/>
          </p:cNvGraphicFramePr>
          <p:nvPr/>
        </p:nvGraphicFramePr>
        <p:xfrm>
          <a:off x="1776412" y="3818414"/>
          <a:ext cx="8639175" cy="36576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522344260"/>
                    </a:ext>
                  </a:extLst>
                </a:gridCol>
                <a:gridCol w="8220075">
                  <a:extLst>
                    <a:ext uri="{9D8B030D-6E8A-4147-A177-3AD203B41FA5}">
                      <a16:colId xmlns:a16="http://schemas.microsoft.com/office/drawing/2014/main" val="3445656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PK">
                        <a:effectLst/>
                      </a:endParaRPr>
                    </a:p>
                  </a:txBody>
                  <a:tcPr marL="152400" marR="152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strike="noStrike">
                          <a:solidFill>
                            <a:srgbClr val="444746"/>
                          </a:solidFill>
                          <a:effectLst/>
                          <a:latin typeface="Google Sans"/>
                        </a:rPr>
                        <a:t>ReplyForward</a:t>
                      </a:r>
                      <a:endParaRPr lang="en-US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933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9DC4A5-DA33-4E0C-875B-43EB45FD4099}"/>
              </a:ext>
            </a:extLst>
          </p:cNvPr>
          <p:cNvGraphicFramePr>
            <a:graphicFrameLocks noGrp="1"/>
          </p:cNvGraphicFramePr>
          <p:nvPr/>
        </p:nvGraphicFramePr>
        <p:xfrm>
          <a:off x="4533900" y="3589814"/>
          <a:ext cx="3124200" cy="82296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172127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rgbClr val="041E49"/>
                          </a:solidFill>
                          <a:effectLst/>
                          <a:latin typeface="Google Sans"/>
                        </a:rPr>
                        <a:t>Compose:</a:t>
                      </a:r>
                    </a:p>
                    <a:p>
                      <a:br>
                        <a:rPr lang="en-US" b="0" dirty="0">
                          <a:solidFill>
                            <a:srgbClr val="041E49"/>
                          </a:solidFill>
                          <a:effectLst/>
                          <a:latin typeface="Google Sans"/>
                        </a:rPr>
                      </a:br>
                      <a:endParaRPr lang="en-US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56992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AA67207-CF68-224A-A11B-EC067343F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-11276270"/>
            <a:ext cx="16035159" cy="14865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*Process Optimization*: Streamlining processes to reduce waste, minimize costs, and enhance productivity.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*Innovation*: Encouraging creativity and innovation by redesigning processes and leveraging technology.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*Competitive Advantage*: Differentiating organizations through superior processes and customer experiences.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*Agility*: Enabling organizations to respond quickly to changing market conditions and customer needs.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*Digital Transformation*: Supporting the integration of digital technologies to drive business success.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*Customer Satisfaction*: Enhancing customer experiences through improved processes and services.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*Employee Empowerment*: Providing clear roles, responsibilities, and processes to boost employee engagement.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 *Compliance*: Ensuring adherence to regulatory requirements and industry standards.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9. *Data-Driven Decision Making*: Providing insights to inform strategic decisions and drive business growth.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 *Continuous Improvement*: Fostering a culture of ongoing evaluation and improvement.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context for BPE includes: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*Digitalization*: Leveraging technology to transform processes.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*Globalization*: Adapting processes for global markets and supply chains.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*Changing Customer Needs*: Responding to evolving customer expectations.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*Regulatory Requirements*: Ensuring compliance with industry standards and regulations.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*Competitive Pressures*: Differentiating through superior processes and efficiency.</a:t>
            </a: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recognizing the importance and context of Business Process Engineering, organizations can harness its power to drive growth, innovation, and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6B5771-271C-2506-554F-392CBCE3C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2949575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0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5CA2-5608-A8BE-5628-43635BA3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188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highlight>
                  <a:srgbClr val="FFFF00"/>
                </a:highlight>
              </a:rPr>
              <a:t>Importance of BPE</a:t>
            </a:r>
            <a:endParaRPr lang="en-PK" sz="66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957A-80B7-27CF-F4FE-1F055525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6852"/>
            <a:ext cx="12192000" cy="4820111"/>
          </a:xfrm>
        </p:spPr>
        <p:txBody>
          <a:bodyPr/>
          <a:lstStyle/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F33D3-AF96-0B92-CEEC-AED392384F97}"/>
              </a:ext>
            </a:extLst>
          </p:cNvPr>
          <p:cNvSpPr txBox="1"/>
          <p:nvPr/>
        </p:nvSpPr>
        <p:spPr>
          <a:xfrm>
            <a:off x="0" y="1784556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5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Process Engineering (BPE) is crucial for organizations seeking to improve efficiency, effectiveness, and adaptability. Its importance lies in:</a:t>
            </a:r>
          </a:p>
        </p:txBody>
      </p:sp>
    </p:spTree>
    <p:extLst>
      <p:ext uri="{BB962C8B-B14F-4D97-AF65-F5344CB8AC3E}">
        <p14:creationId xmlns:p14="http://schemas.microsoft.com/office/powerpoint/2010/main" val="364439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F34B-D8FD-4D3F-C5D8-525F19E3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highlight>
                  <a:srgbClr val="FFFF00"/>
                </a:highlight>
              </a:rPr>
              <a:t>Importance of BPE(</a:t>
            </a:r>
            <a:r>
              <a:rPr lang="en-US" sz="6600" b="1" dirty="0" err="1">
                <a:highlight>
                  <a:srgbClr val="FFFF00"/>
                </a:highlight>
              </a:rPr>
              <a:t>Cont</a:t>
            </a:r>
            <a:r>
              <a:rPr lang="en-US" sz="6600" b="1" dirty="0">
                <a:highlight>
                  <a:srgbClr val="FFFF00"/>
                </a:highlight>
              </a:rPr>
              <a:t>)</a:t>
            </a:r>
            <a:endParaRPr lang="en-PK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73EA-C22A-ABA6-52B4-865BBC1D4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5626"/>
            <a:ext cx="12192000" cy="57223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*Process Optimization*: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Streamlining processes to reduce waste, minimize costs, and enhance productivity.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*Innovation*: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Encouraging creativity and innovation by redesigning processes and leveraging technology.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*Competitive Advantage*: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Differentiating organizations through superior processes and customer experiences.</a:t>
            </a:r>
          </a:p>
          <a:p>
            <a:endParaRPr lang="en-PK" sz="6000" dirty="0"/>
          </a:p>
        </p:txBody>
      </p:sp>
    </p:spTree>
    <p:extLst>
      <p:ext uri="{BB962C8B-B14F-4D97-AF65-F5344CB8AC3E}">
        <p14:creationId xmlns:p14="http://schemas.microsoft.com/office/powerpoint/2010/main" val="328963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6C19-B9B4-83E9-E978-4AF2C0F6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38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Importance of BPE(</a:t>
            </a:r>
            <a:r>
              <a:rPr lang="en-US" sz="6000" b="1" dirty="0" err="1">
                <a:highlight>
                  <a:srgbClr val="FFFF00"/>
                </a:highlight>
              </a:rPr>
              <a:t>Cont</a:t>
            </a:r>
            <a:r>
              <a:rPr lang="en-US" sz="6000" b="1" dirty="0">
                <a:highlight>
                  <a:srgbClr val="FFFF00"/>
                </a:highlight>
              </a:rPr>
              <a:t>)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B7934-5B3C-5C69-F7EF-F4559845D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3897"/>
            <a:ext cx="12192000" cy="5914102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*Agility*: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Enabling organizations to respond quickly to changing market conditions and customer needs.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*Digital Transformation*: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Supporting the integration of digital technologies to drive business success.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*Customer Satisfaction*: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Enhancing customer experiences through improved processes and services.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*Employee Empowerment*: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Providing clear roles, responsibilities, and processes to boost employee engagement.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5843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0470-6D0C-87AC-377A-73AB15E0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9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highlight>
                  <a:srgbClr val="FFFF00"/>
                </a:highlight>
              </a:rPr>
              <a:t>Importance of BPE(</a:t>
            </a:r>
            <a:r>
              <a:rPr lang="en-US" sz="5400" b="1" dirty="0" err="1">
                <a:highlight>
                  <a:srgbClr val="FFFF00"/>
                </a:highlight>
              </a:rPr>
              <a:t>Cont</a:t>
            </a:r>
            <a:r>
              <a:rPr lang="en-US" sz="5400" b="1" dirty="0">
                <a:highlight>
                  <a:srgbClr val="FFFF00"/>
                </a:highlight>
              </a:rPr>
              <a:t>)</a:t>
            </a:r>
            <a:endParaRPr lang="en-PK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CFE00-B78A-A3FC-21E3-DD3104EE1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5910"/>
            <a:ext cx="12192000" cy="603209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*Compliance*: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Ensuring adherence to regulatory requirements and industry standards.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*Data-Driven Decision Making*: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Providing insights to inform strategic decisions and drive business growth.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</a:t>
            </a: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*Continuous Improvement*:</a:t>
            </a:r>
            <a:r>
              <a:rPr lang="en-PK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Fostering a culture of ongoing evaluation and improvement.</a:t>
            </a:r>
            <a:endParaRPr lang="en-PK" sz="6000" dirty="0"/>
          </a:p>
        </p:txBody>
      </p:sp>
    </p:spTree>
    <p:extLst>
      <p:ext uri="{BB962C8B-B14F-4D97-AF65-F5344CB8AC3E}">
        <p14:creationId xmlns:p14="http://schemas.microsoft.com/office/powerpoint/2010/main" val="270521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3511-6DEB-FD6D-CC0C-4908DF5E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0657"/>
          </a:xfrm>
        </p:spPr>
        <p:txBody>
          <a:bodyPr>
            <a:normAutofit/>
          </a:bodyPr>
          <a:lstStyle/>
          <a:p>
            <a:pPr algn="ctr"/>
            <a:r>
              <a:rPr lang="en-PK" sz="5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context for BPE includes:</a:t>
            </a:r>
            <a:endParaRPr lang="en-PK" sz="54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6C3E-FFDD-4C19-6C2B-AB74A706D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5123"/>
            <a:ext cx="12192000" cy="569287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1.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*Digitalization*: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Leveraging technology to transform processes.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*Globalization*: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Adapting processes for global markets and supply chains.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*Changing Customer Needs*: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Responding to evolving customer expectations.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*Regulatory Requirements*:</a:t>
            </a:r>
            <a:r>
              <a:rPr lang="en-PK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Ensuring compliance with industry standards and regulations.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0726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301E-D4F5-EF39-C374-2A07C7F5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3"/>
          </a:xfrm>
        </p:spPr>
        <p:txBody>
          <a:bodyPr>
            <a:normAutofit/>
          </a:bodyPr>
          <a:lstStyle/>
          <a:p>
            <a:pPr algn="ctr"/>
            <a:r>
              <a:rPr lang="en-PK" sz="5400" b="1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context for BPE includes:</a:t>
            </a:r>
            <a:endParaRPr lang="en-PK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3CC38-3EDC-B8CD-FF57-2E0CF6F9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79870"/>
            <a:ext cx="12192000" cy="5678129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5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PK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*Competitive Pressures*:</a:t>
            </a:r>
            <a:r>
              <a:rPr lang="en-PK" sz="5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Differentiating through superior processes and efficiency. </a:t>
            </a:r>
          </a:p>
          <a:p>
            <a:r>
              <a:rPr lang="en-PK" sz="5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recognizing the importance and context of Business Process Engineering, organizations can harness its power to drive growth, innovation, and success.</a:t>
            </a:r>
            <a:endParaRPr lang="en-PK" sz="7200" dirty="0"/>
          </a:p>
        </p:txBody>
      </p:sp>
    </p:spTree>
    <p:extLst>
      <p:ext uri="{BB962C8B-B14F-4D97-AF65-F5344CB8AC3E}">
        <p14:creationId xmlns:p14="http://schemas.microsoft.com/office/powerpoint/2010/main" val="270504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599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Office Theme</vt:lpstr>
      <vt:lpstr>PowerPoint Presentation</vt:lpstr>
      <vt:lpstr>Importance of BPE</vt:lpstr>
      <vt:lpstr>Importance of BPE(Cont)</vt:lpstr>
      <vt:lpstr>Importance of BPE(Cont)</vt:lpstr>
      <vt:lpstr>Importance of BPE(Cont)</vt:lpstr>
      <vt:lpstr>The context for BPE includes:</vt:lpstr>
      <vt:lpstr>The context for BPE includes: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17</cp:revision>
  <dcterms:created xsi:type="dcterms:W3CDTF">2024-09-04T17:45:33Z</dcterms:created>
  <dcterms:modified xsi:type="dcterms:W3CDTF">2024-09-06T14:47:48Z</dcterms:modified>
</cp:coreProperties>
</file>