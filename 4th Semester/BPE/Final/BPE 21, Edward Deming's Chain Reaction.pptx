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1103-8F66-6783-15C7-6959B804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2AE0B-5263-C80A-0565-C79DD143E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36CA3-66C5-7B98-99A2-3E211946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9C3A1-F531-188A-6E0B-9BC7730C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05F85-1E05-1658-055E-B908AE60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7478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FB52-D023-5B0C-8054-D620B8EB3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16D37-A2E3-C9EB-2C12-8BC7D8744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7A1CA-488F-B7C9-F624-F8A6D3A1A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E013-533E-5DCB-687F-D7D29781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C4127-563B-5692-03F2-A4DD5F9F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76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CB18-5EAF-90E7-2018-799D4EF7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DE918-2EDA-6FA9-A6C4-DFF175D45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DF979-3344-CA03-0599-2441DAD2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A28A2-099B-9FCB-B093-4F1C6606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2889-2DA5-B769-B88E-AC6D5644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3732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0DF91-4036-BD98-7B29-497CA04D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5303-56DC-3BDD-940F-EE96B9395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5E6F5-2937-F503-D6CA-5168B8CA1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F75E4-936A-EEEE-139F-3712ED85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CC54E-43B2-D415-5F03-0C01BDB6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C1BB2-B700-774E-FDE3-50F9D198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902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4FBD-727F-BC83-5045-1B288FCC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3CE18-E6D6-5EB7-B8CE-19502F51B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5DB3D-C97F-F43A-1EDB-62E72E097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6147D9-AE68-1653-1B6F-150111E9D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0AAAA-7B79-115E-6DD7-4FAD677D4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A8F11A-7EAC-FE3D-A9D8-9B79094B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FDC98-E3AE-9719-E4D1-806EC61E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34E43-8219-C5C8-EA75-6B3C5E48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184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48A35-DA32-F77A-F926-DC5E3E0D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84547-50E0-364A-51C2-5F0DF29E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5458E-C5A5-CEEE-513C-F6E39861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6479A-52EC-546A-CF2B-97D9B333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1546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66E4F-6609-6931-B947-2E781BD3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FFBA1-8313-D8D9-CBBA-149A0F37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35F99-86AF-44AD-9D9E-7162B4B1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835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B39E-CB58-77A2-3249-699FEBFF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157CB-DEA0-0BF2-2D2F-2168D7ED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30155-C7C6-7945-9D62-138D8CEE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83F36-3D0A-4054-5E08-98CBD954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96D97-FD44-6BC1-FA5A-FEEBC4D7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2E464-991A-FF80-E623-D7FE713F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949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FBBC-01B5-02E0-826B-03027778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77478-A957-2C3E-F8BC-86F6D9A82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BD7DA-2FC6-D914-3665-DF3D837CD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45931-DA20-037A-2D66-A15E3B98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9F90D-B0A3-B07E-11DB-37DFA2C7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07203-0572-E89B-8A91-A6C7C4F0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40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7DB3-0E07-BB93-A537-18C84652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7C95F-38E1-ABBB-0A32-712E8362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DD00E-F770-1022-B026-8CF23710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9BBE0-B8F3-E6FD-9FE8-66F97CA5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D7836-0DD3-8FA6-4A73-F5EE507CB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29387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42E146-4D1B-F0FF-6FBD-91322BA2B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92BBA-6EA4-3997-32FE-1ED0C60D9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9108A-1F60-0ABA-13C3-B80B37FE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ED20F-7C8E-3443-97AA-CC62CBFA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E95DB-8529-5E1F-BDFB-D996912A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097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A6789-2AB3-712D-564C-6149ABC4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761A8-3193-2CD1-FEC5-A7D0CFBA0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C37E-CF44-E805-3A0B-6787CF9AF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B18AF-8382-481B-B955-16CED453BDFE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9B39D-5F8E-568E-4407-D98F36FB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E9831-95F1-A9CB-8B77-47240E47E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44ADB-4919-4AF7-9B04-D2E11E69FD5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053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1A9A-BA1D-ECCB-BE34-AEBF084A6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94619"/>
          </a:xfrm>
        </p:spPr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Edward Deming's Chain Reaction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49851-C3A9-DF0F-765A-294A68BDC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4619"/>
            <a:ext cx="12192000" cy="5265175"/>
          </a:xfrm>
        </p:spPr>
        <p:txBody>
          <a:bodyPr>
            <a:normAutofit fontScale="70000" lnSpcReduction="20000"/>
          </a:bodyPr>
          <a:lstStyle/>
          <a:p>
            <a:r>
              <a:rPr lang="en-US" sz="4100" dirty="0"/>
              <a:t>Edward Deming's Chain Reaction is a model illustrating the interconnectedness of quality, productivity, and profitability.</a:t>
            </a:r>
            <a:br>
              <a:rPr lang="en-US" sz="4100" b="1" dirty="0"/>
            </a:br>
            <a:endParaRPr lang="en-US" sz="4100" b="1" dirty="0"/>
          </a:p>
          <a:p>
            <a:r>
              <a:rPr lang="en-US" sz="4100" b="1" dirty="0"/>
              <a:t>_Deming's Chain Reaction:</a:t>
            </a:r>
            <a:br>
              <a:rPr lang="en-US" sz="4100" dirty="0"/>
            </a:br>
            <a:endParaRPr lang="en-US" sz="4100" dirty="0"/>
          </a:p>
          <a:p>
            <a:r>
              <a:rPr lang="en-US" sz="4100" dirty="0"/>
              <a:t>1. *Improve Quality* →</a:t>
            </a:r>
          </a:p>
          <a:p>
            <a:r>
              <a:rPr lang="en-US" sz="4100" dirty="0"/>
              <a:t>2. *Reduce Costs* →</a:t>
            </a:r>
          </a:p>
          <a:p>
            <a:r>
              <a:rPr lang="en-US" sz="4100" dirty="0"/>
              <a:t>3. *Increase Productivity* →</a:t>
            </a:r>
          </a:p>
          <a:p>
            <a:r>
              <a:rPr lang="en-US" sz="4100" dirty="0"/>
              <a:t>4. *Increase Market Share* →</a:t>
            </a:r>
          </a:p>
          <a:p>
            <a:r>
              <a:rPr lang="en-US" sz="4100" dirty="0"/>
              <a:t>5. *Increase Revenue* →</a:t>
            </a:r>
          </a:p>
          <a:p>
            <a:r>
              <a:rPr lang="en-US" sz="4100" dirty="0"/>
              <a:t>6. *Improve Quality* (continuous cycle)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660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BF96-E642-6431-0A58-3056CF6D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814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Key Principles: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B271C-3AA4-2EF8-C97D-AFD4F8548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7300" dirty="0"/>
              <a:t>1. Quality is the foundation.</a:t>
            </a:r>
          </a:p>
          <a:p>
            <a:r>
              <a:rPr lang="en-US" sz="7300" dirty="0"/>
              <a:t>2. Reducing costs enhances productivity.</a:t>
            </a:r>
          </a:p>
          <a:p>
            <a:r>
              <a:rPr lang="en-US" sz="7300" dirty="0"/>
              <a:t>3. Increased productivity boosts market share.</a:t>
            </a:r>
          </a:p>
          <a:p>
            <a:r>
              <a:rPr lang="en-US" sz="7300" dirty="0"/>
              <a:t>4. Market share growth drives revenue.</a:t>
            </a:r>
          </a:p>
          <a:p>
            <a:r>
              <a:rPr lang="en-US" sz="7300" dirty="0"/>
              <a:t>5. Revenue enables further quality improvements.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1795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88D5-9857-45B4-71E9-E0A82BA07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3393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Theory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E200C-C12F-C607-B153-3011B15CB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600" dirty="0"/>
              <a:t>Deming's Chain Reaction suggests that focusing on quality improvement will trigger a chain reaction, leading to:</a:t>
            </a:r>
          </a:p>
          <a:p>
            <a:r>
              <a:rPr lang="en-US" sz="4600" dirty="0"/>
              <a:t>1. Cost reduction through waste elimination.</a:t>
            </a:r>
          </a:p>
          <a:p>
            <a:r>
              <a:rPr lang="en-US" sz="4600" dirty="0"/>
              <a:t>2. Productivity gains from efficient processes.</a:t>
            </a:r>
          </a:p>
          <a:p>
            <a:r>
              <a:rPr lang="en-US" sz="4600" dirty="0"/>
              <a:t>3. Market share growth through customer satisfaction.</a:t>
            </a:r>
          </a:p>
          <a:p>
            <a:r>
              <a:rPr lang="en-US" sz="4600" dirty="0"/>
              <a:t>4. Revenue increase from expanded customer base.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3602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1A88-CF3C-8727-EB2D-2D49722E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3393"/>
          </a:xfrm>
        </p:spPr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Benefits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01A42-6659-1456-C773-36699D43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Improved customer satisfaction.</a:t>
            </a:r>
          </a:p>
          <a:p>
            <a:r>
              <a:rPr lang="en-US" sz="5800" dirty="0"/>
              <a:t>2. Increased competitiveness.</a:t>
            </a:r>
          </a:p>
          <a:p>
            <a:r>
              <a:rPr lang="en-US" sz="5800" dirty="0"/>
              <a:t>3. Enhanced profitability.</a:t>
            </a:r>
          </a:p>
          <a:p>
            <a:r>
              <a:rPr lang="en-US" sz="5800" dirty="0"/>
              <a:t>4. Reduced waste and costs.</a:t>
            </a:r>
          </a:p>
          <a:p>
            <a:r>
              <a:rPr lang="en-US" sz="5800" dirty="0"/>
              <a:t>5. Continuous improvement culture.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2172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FBD4-93A2-DCC8-8143-FB4FCB807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093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8DFC-DCF4-4D67-C7E7-23D4137F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Manufacturing.</a:t>
            </a:r>
          </a:p>
          <a:p>
            <a:r>
              <a:rPr lang="en-US" sz="5800" dirty="0"/>
              <a:t>2. Healthcare.</a:t>
            </a:r>
          </a:p>
          <a:p>
            <a:r>
              <a:rPr lang="en-US" sz="5800" dirty="0"/>
              <a:t>3. Service industries.</a:t>
            </a:r>
          </a:p>
          <a:p>
            <a:r>
              <a:rPr lang="en-US" sz="5800" dirty="0"/>
              <a:t>4. Technology and software.</a:t>
            </a:r>
          </a:p>
          <a:p>
            <a:r>
              <a:rPr lang="en-US" sz="5800" dirty="0"/>
              <a:t>5. Government.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0930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D58B-2B3E-A22B-8D89-30B37C96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814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Notable Resources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0F8F-26CD-6640-7E34-D645E255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1. Deming's book "Out of the Crisis" (1982).</a:t>
            </a:r>
          </a:p>
          <a:p>
            <a:r>
              <a:rPr lang="en-US" sz="4400" dirty="0"/>
              <a:t>2. Deming Institute.</a:t>
            </a:r>
          </a:p>
          <a:p>
            <a:r>
              <a:rPr lang="en-US" sz="4400" dirty="0"/>
              <a:t>3. American Society for Quality (ASQ).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8040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0719-0BCA-8DF8-3A9B-5637DB89B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6512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Relationship to Other Models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A471-7155-64F5-AFB1-DDDB9D3F2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5200" dirty="0"/>
              <a:t>Deming's Chain Reaction is related to:</a:t>
            </a:r>
            <a:br>
              <a:rPr lang="en-US" sz="5200" dirty="0"/>
            </a:br>
            <a:endParaRPr lang="en-US" sz="5200" dirty="0"/>
          </a:p>
          <a:p>
            <a:r>
              <a:rPr lang="en-US" sz="5200" dirty="0"/>
              <a:t>1. Total Quality Management (TQM).</a:t>
            </a:r>
          </a:p>
          <a:p>
            <a:r>
              <a:rPr lang="en-US" sz="5200" dirty="0"/>
              <a:t>2. Lean.</a:t>
            </a:r>
          </a:p>
          <a:p>
            <a:r>
              <a:rPr lang="en-US" sz="5200" dirty="0"/>
              <a:t>3. Six Sigma.</a:t>
            </a:r>
          </a:p>
          <a:p>
            <a:r>
              <a:rPr lang="en-US" sz="5200" dirty="0"/>
              <a:t>4. Continuous Improvement.</a:t>
            </a:r>
          </a:p>
          <a:p>
            <a:r>
              <a:rPr lang="en-US" sz="5200" dirty="0"/>
              <a:t>5. </a:t>
            </a:r>
            <a:r>
              <a:rPr lang="en-US" sz="5200" dirty="0" err="1"/>
              <a:t>Juran's</a:t>
            </a:r>
            <a:r>
              <a:rPr lang="en-US" sz="5200" dirty="0"/>
              <a:t> Quality Trilogy.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3928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FDC9-F292-10EE-0575-C952228E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0612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Critiques and Limitations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29EA-FA46-C5A3-2B99-F31322CB7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/>
              <a:t>1. Oversimplification.</a:t>
            </a:r>
          </a:p>
          <a:p>
            <a:r>
              <a:rPr lang="en-US" sz="6000" dirty="0"/>
              <a:t>2. Lack of empirical evidence.</a:t>
            </a:r>
          </a:p>
          <a:p>
            <a:r>
              <a:rPr lang="en-US" sz="6000" dirty="0"/>
              <a:t>3. Limited consideration of external factors.</a:t>
            </a:r>
            <a:endParaRPr lang="en-US" dirty="0"/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2211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323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Edward Deming's Chain Reaction</vt:lpstr>
      <vt:lpstr>Key Principles:</vt:lpstr>
      <vt:lpstr>Theory</vt:lpstr>
      <vt:lpstr>Benefits</vt:lpstr>
      <vt:lpstr>Industry Applications</vt:lpstr>
      <vt:lpstr>Notable Resources</vt:lpstr>
      <vt:lpstr>Relationship to Other Models</vt:lpstr>
      <vt:lpstr>Critiques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16</cp:revision>
  <dcterms:created xsi:type="dcterms:W3CDTF">2024-09-24T06:16:22Z</dcterms:created>
  <dcterms:modified xsi:type="dcterms:W3CDTF">2024-09-24T14:25:26Z</dcterms:modified>
</cp:coreProperties>
</file>