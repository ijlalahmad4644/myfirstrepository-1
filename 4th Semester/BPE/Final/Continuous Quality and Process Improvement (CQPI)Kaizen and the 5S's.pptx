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A3CCF-86EB-40C4-8483-682DE3E82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2D9E1-F72D-4492-B24C-D5748B1EC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BD5A5-998D-478A-BF2A-D2AB35D74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FA3A4-52B7-4E8B-82AB-34747C2E3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94431-5FFA-414C-A568-94AAF887B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8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5581-9CC9-40FC-9194-B128BCA6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65F84-41B8-43CA-A113-B2D435804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E165-D8AD-414E-8470-1D279A32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32E35-4C42-400D-A3BC-6D2EDE819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B187-5990-4058-807D-7B0A14B9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99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0474-C795-4E3E-8EE9-B3616B51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F953D-534D-4F1E-8988-D3659AD7B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4F822-DE9E-4783-942C-AA383CDFA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128F7-49FF-4E09-8283-7B98CEB9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4328B-DB0F-4559-89B2-AC38B1456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69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6BD0-279F-4D2F-9A92-77C817E1C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3EEE-6040-4F7C-BBB8-8CBC007710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316AE-D31C-46DC-9410-8CEC3BD6DA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2EFAF-572E-48D7-82F8-9EA20A12E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CA1F5-53CF-4219-B788-A225BB4F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09928-B6AE-4A6C-BFEE-F4D82CC1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14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AB58-696A-4CAD-ACF9-FB9140ACB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1EE13-8DFC-4BCF-AD80-6B6047832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9FB15-562C-4315-9CF9-43F5FC3EB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4C3F-A28E-41C7-A1F0-8C49DE29F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AFDDD-834B-4A29-9B70-F25ABAC76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29D31A-634C-44CD-885D-F9ABC43A2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7F56D7-F3A2-45A2-8FBA-E701D1D9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4EADB-F95C-4DB2-A9DC-DE5F7617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38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C6E5-30D3-4667-B0EA-F30C6B55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91414E-FE6C-49C2-966D-29741F37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78035-5DA0-4617-A597-4F6973DA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378F7-A190-4A72-A421-4D358FA3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0B7FC-088A-43BE-948E-9672BF106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5685B4-2F0E-4997-95DD-12E9435B2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75D33-006E-4AC1-B551-15CBAFD4B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4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D8D3B-2FB4-4EBA-AB6D-895B3B0F0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DCC5-611E-4E28-AE8B-6AE6EB760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E4B07-124D-43F3-A850-DB7CAFEDA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B052B3-3DB6-46D5-B69E-EDC1A2265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EAE10-A125-42CB-9E57-5DE7B46A7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45FE7C-0CC0-45E0-B06A-2580546F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18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CE5D-A39F-4660-B878-788EDD891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BEE48-BC52-44B9-A480-8EFECFB48F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9232E-8280-42C0-8BC2-A7E4EAA6A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B07BE-6AFD-4D62-86C0-8E101500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34E83-28E9-4ACB-A716-A3E736BC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534D2-366F-40C1-AC8D-8D29D9FF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0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7866-B1EA-40E9-8769-4EA62D9A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31ECA-1739-4542-B1CC-CFCA28C90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9045E-8B57-4D46-92C8-24D280C04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58AF6-24D6-4F07-A3A0-69483A7E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53311-8365-4A80-BEF0-96C83DBD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506CE-31F8-4E18-9B56-4EE59A83E6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CC439-EFAA-4C8C-B3F2-3390FB7CB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D0E53B-B75F-40DB-BFCF-1A88CB65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94E42-3878-47F6-ADA5-B3566DD7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38188-49A1-427B-98E7-98E2925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51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C89082-108F-488A-86C9-9BD90EDA0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E84FF-DED3-4A85-8CC5-503405A0A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8A61-9315-4902-B388-54E872C9B1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E1FF2-98E4-4FCE-B20E-775A83D23FCB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3A83B-BB55-41A5-B3A2-6F46EBEB2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08F6-6E39-43BF-A619-2F9FAE4B6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8983A-3D89-48C8-9F51-108718876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7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EBD1-DEC2-4F84-BB85-A6016F9704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254625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Continuous Quality and Process Improvement (CQPI)/Kaizen and the 5S's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8C7E5B-26DB-4A92-BCF0-DC5647F6B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546252"/>
            <a:ext cx="12192000" cy="4473525"/>
          </a:xfrm>
        </p:spPr>
        <p:txBody>
          <a:bodyPr>
            <a:normAutofit/>
          </a:bodyPr>
          <a:lstStyle/>
          <a:p>
            <a:r>
              <a:rPr lang="en-US" dirty="0"/>
              <a:t>Continuous Quality and Process Improvement (CQPI)/Kaizen and the 5S's of Lean are essential components of Business Process Excellence (BPE).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*Continuous Quality and Process Improvement (CQPI)/Kaizen:*</a:t>
            </a:r>
          </a:p>
          <a:p>
            <a:r>
              <a:rPr lang="en-US" dirty="0"/>
              <a:t>_Definition:_</a:t>
            </a:r>
            <a:br>
              <a:rPr lang="en-US" dirty="0"/>
            </a:br>
            <a:endParaRPr lang="en-US" dirty="0"/>
          </a:p>
          <a:p>
            <a:r>
              <a:rPr lang="en-US" dirty="0"/>
              <a:t>CQPI/Kaizen is a philosophy and methodology focused on ongoing improvement of processes, products, and services.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43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2135C-8A31-4391-A967-1ECA4483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745"/>
            <a:ext cx="10515600" cy="95660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Key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7C11-CFD7-4FF3-BBFD-D8243FA27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1348"/>
            <a:ext cx="12192000" cy="57466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Continuous improvement</a:t>
            </a:r>
          </a:p>
          <a:p>
            <a:r>
              <a:rPr lang="en-US" dirty="0"/>
              <a:t>2. Employee empowerment</a:t>
            </a:r>
          </a:p>
          <a:p>
            <a:r>
              <a:rPr lang="en-US" dirty="0"/>
              <a:t>3. Customer focus</a:t>
            </a:r>
          </a:p>
          <a:p>
            <a:r>
              <a:rPr lang="en-US" dirty="0"/>
              <a:t>4. Data-driven decision-making</a:t>
            </a:r>
          </a:p>
          <a:p>
            <a:r>
              <a:rPr lang="en-US" dirty="0"/>
              <a:t>5. Collaboration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182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2728-AA4C-4830-B1DB-67C00390F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287"/>
            <a:ext cx="10515600" cy="8581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022A-B2AF-478B-BDE3-F96274E7F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6092"/>
            <a:ext cx="12192000" cy="559190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Improved quality</a:t>
            </a:r>
          </a:p>
          <a:p>
            <a:r>
              <a:rPr lang="en-US" dirty="0"/>
              <a:t>2. Increased efficiency</a:t>
            </a:r>
          </a:p>
          <a:p>
            <a:r>
              <a:rPr lang="en-US" dirty="0"/>
              <a:t>3. Reduced waste</a:t>
            </a:r>
          </a:p>
          <a:p>
            <a:r>
              <a:rPr lang="en-US" dirty="0"/>
              <a:t>4. Enhanced customer satisfaction</a:t>
            </a:r>
          </a:p>
          <a:p>
            <a:r>
              <a:rPr lang="en-US" dirty="0"/>
              <a:t>5. Increased competitiveness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045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6B5C7-98D6-419E-BD05-CC81B62D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81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5S's of 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57606-65FA-4C97-91B9-E34DA4CB0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874"/>
            <a:ext cx="12192000" cy="584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The 5S's are a methodology for organizing and standardizing workplaces to improve efficiency, productivity, and quality.</a:t>
            </a:r>
            <a:br>
              <a:rPr lang="en-US" dirty="0"/>
            </a:br>
            <a:endParaRPr lang="en-US" dirty="0"/>
          </a:p>
          <a:p>
            <a:r>
              <a:rPr lang="en-US" dirty="0"/>
              <a:t>5S's</a:t>
            </a:r>
          </a:p>
          <a:p>
            <a:r>
              <a:rPr lang="en-US" dirty="0"/>
              <a:t>1. *Sort (</a:t>
            </a:r>
            <a:r>
              <a:rPr lang="en-US" dirty="0" err="1"/>
              <a:t>Seiri</a:t>
            </a:r>
            <a:r>
              <a:rPr lang="en-US" dirty="0"/>
              <a:t>)*: Eliminate unnecessary items.</a:t>
            </a:r>
          </a:p>
          <a:p>
            <a:r>
              <a:rPr lang="en-US" dirty="0"/>
              <a:t>2. *Set in Order (</a:t>
            </a:r>
            <a:r>
              <a:rPr lang="en-US" dirty="0" err="1"/>
              <a:t>Seiton</a:t>
            </a:r>
            <a:r>
              <a:rPr lang="en-US" dirty="0"/>
              <a:t>)*: Organize remaining items.</a:t>
            </a:r>
          </a:p>
          <a:p>
            <a:r>
              <a:rPr lang="en-US" dirty="0"/>
              <a:t>3. *Shine (</a:t>
            </a:r>
            <a:r>
              <a:rPr lang="en-US" dirty="0" err="1"/>
              <a:t>Seiso</a:t>
            </a:r>
            <a:r>
              <a:rPr lang="en-US" dirty="0"/>
              <a:t>)*: Clean and maintain the workplace.</a:t>
            </a:r>
          </a:p>
          <a:p>
            <a:r>
              <a:rPr lang="en-US" dirty="0"/>
              <a:t>4. *Standardize (</a:t>
            </a:r>
            <a:r>
              <a:rPr lang="en-US" dirty="0" err="1"/>
              <a:t>Seiketsu</a:t>
            </a:r>
            <a:r>
              <a:rPr lang="en-US" dirty="0"/>
              <a:t>)*: Establish procedures and standards.</a:t>
            </a:r>
          </a:p>
          <a:p>
            <a:r>
              <a:rPr lang="en-US" dirty="0"/>
              <a:t>5. *Sustain (</a:t>
            </a:r>
            <a:r>
              <a:rPr lang="en-US" dirty="0" err="1"/>
              <a:t>Shitsuke</a:t>
            </a:r>
            <a:r>
              <a:rPr lang="en-US" dirty="0"/>
              <a:t>)*: Maintain and improve the system.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633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2B322-EDCE-4D86-8AA8-E289E4C3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8805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222C-3266-4578-9A42-EF90F04F5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609" y="998806"/>
            <a:ext cx="11227191" cy="585919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Improved productivity</a:t>
            </a:r>
          </a:p>
          <a:p>
            <a:r>
              <a:rPr lang="en-US" dirty="0"/>
              <a:t>2. Reduced waste</a:t>
            </a:r>
          </a:p>
          <a:p>
            <a:r>
              <a:rPr lang="en-US" dirty="0"/>
              <a:t>3. Enhanced safety</a:t>
            </a:r>
          </a:p>
          <a:p>
            <a:r>
              <a:rPr lang="en-US" dirty="0"/>
              <a:t>4. Improved quality</a:t>
            </a:r>
          </a:p>
          <a:p>
            <a:r>
              <a:rPr lang="en-US" dirty="0"/>
              <a:t>5. Increased employee morale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55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5939-5324-4F28-8774-1E2AA2AE9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41008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CQPI/Kaizen Tools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18189-633A-4C89-B0F7-E556668910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41009"/>
            <a:ext cx="12192000" cy="513595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PDCA (Plan-Do-Check-Act)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Fishbone Diagrams</a:t>
            </a:r>
          </a:p>
          <a:p>
            <a:r>
              <a:rPr lang="en-US" dirty="0"/>
              <a:t>4. Pareto Analysis</a:t>
            </a:r>
          </a:p>
          <a:p>
            <a:r>
              <a:rPr lang="en-US" dirty="0"/>
              <a:t>5. Six Thinking Hats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3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AD33-A191-4401-B6C2-DA46B5E4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2873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5S Implementation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24768-5C2C-459F-AF92-8F434F081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874"/>
            <a:ext cx="12192000" cy="5164089"/>
          </a:xfrm>
        </p:spPr>
        <p:txBody>
          <a:bodyPr>
            <a:normAutofit/>
          </a:bodyPr>
          <a:lstStyle/>
          <a:p>
            <a:r>
              <a:rPr lang="en-US" dirty="0"/>
              <a:t>1. Prepare and plan</a:t>
            </a:r>
          </a:p>
          <a:p>
            <a:r>
              <a:rPr lang="en-US" dirty="0"/>
              <a:t>2. Conduct a sort and purge</a:t>
            </a:r>
          </a:p>
          <a:p>
            <a:r>
              <a:rPr lang="en-US" dirty="0"/>
              <a:t>3. Organize and set in order</a:t>
            </a:r>
          </a:p>
          <a:p>
            <a:r>
              <a:rPr lang="en-US" dirty="0"/>
              <a:t>4. Clean and shine</a:t>
            </a:r>
          </a:p>
          <a:p>
            <a:r>
              <a:rPr lang="en-US" dirty="0"/>
              <a:t>5. Standardize and sustain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2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13D3-17F9-492A-9C86-B6FC90383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b="1" dirty="0">
                <a:solidFill>
                  <a:srgbClr val="FFC000"/>
                </a:solidFill>
              </a:rPr>
              <a:t>Industry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0C878-BA11-4F9B-A0CD-3A4DDEFB8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5077"/>
            <a:ext cx="12192000" cy="5121886"/>
          </a:xfrm>
        </p:spPr>
        <p:txBody>
          <a:bodyPr>
            <a:normAutofit/>
          </a:bodyPr>
          <a:lstStyle/>
          <a:p>
            <a:r>
              <a:rPr lang="en-US" dirty="0"/>
              <a:t>1. Manufacturing</a:t>
            </a:r>
          </a:p>
          <a:p>
            <a:r>
              <a:rPr lang="en-US" dirty="0"/>
              <a:t>2. Healthcare</a:t>
            </a:r>
          </a:p>
          <a:p>
            <a:r>
              <a:rPr lang="en-US" dirty="0"/>
              <a:t>3. Service industries</a:t>
            </a:r>
          </a:p>
          <a:p>
            <a:r>
              <a:rPr lang="en-US" dirty="0"/>
              <a:t>4. Logistics and transportation</a:t>
            </a:r>
          </a:p>
          <a:p>
            <a:r>
              <a:rPr lang="en-US" dirty="0"/>
              <a:t>5. Technology and software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66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F185-BB9F-4B92-B6D4-BD2B599B4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Metrics to Measure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5FEE3-F331-4D25-BE68-19ED8E097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1. Quality metrics (defect rate, etc.)</a:t>
            </a:r>
          </a:p>
          <a:p>
            <a:r>
              <a:rPr lang="en-US" dirty="0"/>
              <a:t>2. Productivity metrics (cycle time, etc.)</a:t>
            </a:r>
          </a:p>
          <a:p>
            <a:r>
              <a:rPr lang="en-US" dirty="0"/>
              <a:t>3. Employee engagement and satisfaction</a:t>
            </a:r>
          </a:p>
          <a:p>
            <a:r>
              <a:rPr lang="en-US" dirty="0"/>
              <a:t>4. Customer satisfaction</a:t>
            </a:r>
          </a:p>
          <a:p>
            <a:r>
              <a:rPr lang="en-US" dirty="0"/>
              <a:t>5. Cost savings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86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EB9A0-DD4D-4EE8-BEB9-B18079FE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8321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99A0-406B-4612-93B3-90AECE2B6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12192000" cy="5262563"/>
          </a:xfrm>
        </p:spPr>
        <p:txBody>
          <a:bodyPr>
            <a:normAutofit/>
          </a:bodyPr>
          <a:lstStyle/>
          <a:p>
            <a:r>
              <a:rPr lang="en-US"/>
              <a:t>1</a:t>
            </a:r>
            <a:r>
              <a:rPr lang="en-US" dirty="0"/>
              <a:t>. Engage employees in CQPI/Kaizen efforts</a:t>
            </a:r>
          </a:p>
          <a:p>
            <a:r>
              <a:rPr lang="en-US" dirty="0"/>
              <a:t>2. Focus on customer needs</a:t>
            </a:r>
          </a:p>
          <a:p>
            <a:r>
              <a:rPr lang="en-US" dirty="0"/>
              <a:t>3. Use data-driven decision-making</a:t>
            </a:r>
          </a:p>
          <a:p>
            <a:r>
              <a:rPr lang="en-US" dirty="0"/>
              <a:t>4. Continuously monitor and improve</a:t>
            </a:r>
          </a:p>
          <a:p>
            <a:r>
              <a:rPr lang="en-US" dirty="0"/>
              <a:t>5. Recognize and reward improvements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76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393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Continuous Quality and Process Improvement (CQPI)/Kaizen and the 5S's</vt:lpstr>
      <vt:lpstr>Key Principles</vt:lpstr>
      <vt:lpstr>Benefits</vt:lpstr>
      <vt:lpstr>5S's of Lean</vt:lpstr>
      <vt:lpstr>Benefits</vt:lpstr>
      <vt:lpstr>CQPI/Kaizen Tools and Techniques</vt:lpstr>
      <vt:lpstr>5S Implementation Steps</vt:lpstr>
      <vt:lpstr>Industry Applications</vt:lpstr>
      <vt:lpstr>Metrics to Measure Effectiveness</vt:lpstr>
      <vt:lpstr>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Quality and Process Improvement (CQPI)/Kaizen and the 5S's</dc:title>
  <dc:creator>user</dc:creator>
  <cp:lastModifiedBy>user</cp:lastModifiedBy>
  <cp:revision>24</cp:revision>
  <dcterms:created xsi:type="dcterms:W3CDTF">2024-12-01T17:10:21Z</dcterms:created>
  <dcterms:modified xsi:type="dcterms:W3CDTF">2024-12-02T08:49:52Z</dcterms:modified>
</cp:coreProperties>
</file>