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5" r:id="rId3"/>
    <p:sldId id="266" r:id="rId4"/>
    <p:sldId id="267" r:id="rId5"/>
    <p:sldId id="268" r:id="rId6"/>
    <p:sldId id="269" r:id="rId7"/>
    <p:sldId id="256" r:id="rId8"/>
    <p:sldId id="257" r:id="rId9"/>
    <p:sldId id="258" r:id="rId10"/>
    <p:sldId id="259" r:id="rId11"/>
    <p:sldId id="260" r:id="rId12"/>
    <p:sldId id="261" r:id="rId13"/>
    <p:sldId id="262" r:id="rId14"/>
    <p:sldId id="26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1755D-4CA4-40D5-B76D-A41254881C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D2E189-C45C-43D9-8246-FBE92C20E9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D32DFA-9889-48F7-A042-CD340A1F46A0}"/>
              </a:ext>
            </a:extLst>
          </p:cNvPr>
          <p:cNvSpPr>
            <a:spLocks noGrp="1"/>
          </p:cNvSpPr>
          <p:nvPr>
            <p:ph type="dt" sz="half" idx="10"/>
          </p:nvPr>
        </p:nvSpPr>
        <p:spPr/>
        <p:txBody>
          <a:bodyPr/>
          <a:lstStyle/>
          <a:p>
            <a:fld id="{715B6042-C7BE-4B2B-817B-DDC4856C97D1}" type="datetimeFigureOut">
              <a:rPr lang="en-US" smtClean="0"/>
              <a:t>12/5/2024</a:t>
            </a:fld>
            <a:endParaRPr lang="en-US"/>
          </a:p>
        </p:txBody>
      </p:sp>
      <p:sp>
        <p:nvSpPr>
          <p:cNvPr id="5" name="Footer Placeholder 4">
            <a:extLst>
              <a:ext uri="{FF2B5EF4-FFF2-40B4-BE49-F238E27FC236}">
                <a16:creationId xmlns:a16="http://schemas.microsoft.com/office/drawing/2014/main" id="{E2F80E76-8DA5-42B7-9EAD-9DD74D0619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DF1AD6-04DC-4F6A-AD51-689D8EC3F098}"/>
              </a:ext>
            </a:extLst>
          </p:cNvPr>
          <p:cNvSpPr>
            <a:spLocks noGrp="1"/>
          </p:cNvSpPr>
          <p:nvPr>
            <p:ph type="sldNum" sz="quarter" idx="12"/>
          </p:nvPr>
        </p:nvSpPr>
        <p:spPr/>
        <p:txBody>
          <a:bodyPr/>
          <a:lstStyle/>
          <a:p>
            <a:fld id="{CCB985D8-462A-4D09-AEAD-72E97B792B58}" type="slidenum">
              <a:rPr lang="en-US" smtClean="0"/>
              <a:t>‹#›</a:t>
            </a:fld>
            <a:endParaRPr lang="en-US"/>
          </a:p>
        </p:txBody>
      </p:sp>
    </p:spTree>
    <p:extLst>
      <p:ext uri="{BB962C8B-B14F-4D97-AF65-F5344CB8AC3E}">
        <p14:creationId xmlns:p14="http://schemas.microsoft.com/office/powerpoint/2010/main" val="284787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47CD-C04A-479C-8B2F-2F6C4A4230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E8B37D-995D-4640-B83B-DB0C8BDA13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46182-CDC9-48CF-9E70-188304410AFF}"/>
              </a:ext>
            </a:extLst>
          </p:cNvPr>
          <p:cNvSpPr>
            <a:spLocks noGrp="1"/>
          </p:cNvSpPr>
          <p:nvPr>
            <p:ph type="dt" sz="half" idx="10"/>
          </p:nvPr>
        </p:nvSpPr>
        <p:spPr/>
        <p:txBody>
          <a:bodyPr/>
          <a:lstStyle/>
          <a:p>
            <a:fld id="{715B6042-C7BE-4B2B-817B-DDC4856C97D1}" type="datetimeFigureOut">
              <a:rPr lang="en-US" smtClean="0"/>
              <a:t>12/5/2024</a:t>
            </a:fld>
            <a:endParaRPr lang="en-US"/>
          </a:p>
        </p:txBody>
      </p:sp>
      <p:sp>
        <p:nvSpPr>
          <p:cNvPr id="5" name="Footer Placeholder 4">
            <a:extLst>
              <a:ext uri="{FF2B5EF4-FFF2-40B4-BE49-F238E27FC236}">
                <a16:creationId xmlns:a16="http://schemas.microsoft.com/office/drawing/2014/main" id="{A37CADC9-8E25-4B63-A5BA-DA49343B1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3BF575-0C7C-4AC2-8543-C2CBB675B059}"/>
              </a:ext>
            </a:extLst>
          </p:cNvPr>
          <p:cNvSpPr>
            <a:spLocks noGrp="1"/>
          </p:cNvSpPr>
          <p:nvPr>
            <p:ph type="sldNum" sz="quarter" idx="12"/>
          </p:nvPr>
        </p:nvSpPr>
        <p:spPr/>
        <p:txBody>
          <a:bodyPr/>
          <a:lstStyle/>
          <a:p>
            <a:fld id="{CCB985D8-462A-4D09-AEAD-72E97B792B58}" type="slidenum">
              <a:rPr lang="en-US" smtClean="0"/>
              <a:t>‹#›</a:t>
            </a:fld>
            <a:endParaRPr lang="en-US"/>
          </a:p>
        </p:txBody>
      </p:sp>
    </p:spTree>
    <p:extLst>
      <p:ext uri="{BB962C8B-B14F-4D97-AF65-F5344CB8AC3E}">
        <p14:creationId xmlns:p14="http://schemas.microsoft.com/office/powerpoint/2010/main" val="2092503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48BF3-AC55-4DA5-9795-BE6D9EAF81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F3516F-AD65-4098-BD31-3B4DD1F3C5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939AF4-494A-45A3-B5EB-3DC7EB4B72FC}"/>
              </a:ext>
            </a:extLst>
          </p:cNvPr>
          <p:cNvSpPr>
            <a:spLocks noGrp="1"/>
          </p:cNvSpPr>
          <p:nvPr>
            <p:ph type="dt" sz="half" idx="10"/>
          </p:nvPr>
        </p:nvSpPr>
        <p:spPr/>
        <p:txBody>
          <a:bodyPr/>
          <a:lstStyle/>
          <a:p>
            <a:fld id="{715B6042-C7BE-4B2B-817B-DDC4856C97D1}" type="datetimeFigureOut">
              <a:rPr lang="en-US" smtClean="0"/>
              <a:t>12/5/2024</a:t>
            </a:fld>
            <a:endParaRPr lang="en-US"/>
          </a:p>
        </p:txBody>
      </p:sp>
      <p:sp>
        <p:nvSpPr>
          <p:cNvPr id="5" name="Footer Placeholder 4">
            <a:extLst>
              <a:ext uri="{FF2B5EF4-FFF2-40B4-BE49-F238E27FC236}">
                <a16:creationId xmlns:a16="http://schemas.microsoft.com/office/drawing/2014/main" id="{6C73F6AF-BBDE-47B3-AEB2-ED8349D9DC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711F68-4618-4225-B57F-86F62867B741}"/>
              </a:ext>
            </a:extLst>
          </p:cNvPr>
          <p:cNvSpPr>
            <a:spLocks noGrp="1"/>
          </p:cNvSpPr>
          <p:nvPr>
            <p:ph type="sldNum" sz="quarter" idx="12"/>
          </p:nvPr>
        </p:nvSpPr>
        <p:spPr/>
        <p:txBody>
          <a:bodyPr/>
          <a:lstStyle/>
          <a:p>
            <a:fld id="{CCB985D8-462A-4D09-AEAD-72E97B792B58}" type="slidenum">
              <a:rPr lang="en-US" smtClean="0"/>
              <a:t>‹#›</a:t>
            </a:fld>
            <a:endParaRPr lang="en-US"/>
          </a:p>
        </p:txBody>
      </p:sp>
    </p:spTree>
    <p:extLst>
      <p:ext uri="{BB962C8B-B14F-4D97-AF65-F5344CB8AC3E}">
        <p14:creationId xmlns:p14="http://schemas.microsoft.com/office/powerpoint/2010/main" val="1263043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0597D-F336-4625-AA00-19D6DB9637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7AC3C8-7D32-4ED9-962A-76A908734D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0D5844-9D63-423E-A501-D0508810E8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C46E7D-A2B4-4648-B248-F899420A9C48}"/>
              </a:ext>
            </a:extLst>
          </p:cNvPr>
          <p:cNvSpPr>
            <a:spLocks noGrp="1"/>
          </p:cNvSpPr>
          <p:nvPr>
            <p:ph type="dt" sz="half" idx="10"/>
          </p:nvPr>
        </p:nvSpPr>
        <p:spPr/>
        <p:txBody>
          <a:bodyPr/>
          <a:lstStyle/>
          <a:p>
            <a:fld id="{715B6042-C7BE-4B2B-817B-DDC4856C97D1}" type="datetimeFigureOut">
              <a:rPr lang="en-US" smtClean="0"/>
              <a:t>12/5/2024</a:t>
            </a:fld>
            <a:endParaRPr lang="en-US"/>
          </a:p>
        </p:txBody>
      </p:sp>
      <p:sp>
        <p:nvSpPr>
          <p:cNvPr id="6" name="Footer Placeholder 5">
            <a:extLst>
              <a:ext uri="{FF2B5EF4-FFF2-40B4-BE49-F238E27FC236}">
                <a16:creationId xmlns:a16="http://schemas.microsoft.com/office/drawing/2014/main" id="{120AF7BD-76EC-4C89-8374-042A7528D8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CF4830-004B-40DF-B5E1-CAF62B7CAF1E}"/>
              </a:ext>
            </a:extLst>
          </p:cNvPr>
          <p:cNvSpPr>
            <a:spLocks noGrp="1"/>
          </p:cNvSpPr>
          <p:nvPr>
            <p:ph type="sldNum" sz="quarter" idx="12"/>
          </p:nvPr>
        </p:nvSpPr>
        <p:spPr/>
        <p:txBody>
          <a:bodyPr/>
          <a:lstStyle/>
          <a:p>
            <a:fld id="{CCB985D8-462A-4D09-AEAD-72E97B792B58}" type="slidenum">
              <a:rPr lang="en-US" smtClean="0"/>
              <a:t>‹#›</a:t>
            </a:fld>
            <a:endParaRPr lang="en-US"/>
          </a:p>
        </p:txBody>
      </p:sp>
    </p:spTree>
    <p:extLst>
      <p:ext uri="{BB962C8B-B14F-4D97-AF65-F5344CB8AC3E}">
        <p14:creationId xmlns:p14="http://schemas.microsoft.com/office/powerpoint/2010/main" val="616842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4D2D3-8B4F-486A-AA4E-2E15C11035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DF4BDB-FAB3-42AE-A34B-0D093EC9E6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35C1DB-7E02-4CD3-BEED-83DE69C1B0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62F4D8-80FC-43CD-B0B5-1E1A51D027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8A14B0-0D68-411B-BBD9-FB1A4DFEA1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B8160-6A9D-4A52-8BB9-7B8CCDE8E942}"/>
              </a:ext>
            </a:extLst>
          </p:cNvPr>
          <p:cNvSpPr>
            <a:spLocks noGrp="1"/>
          </p:cNvSpPr>
          <p:nvPr>
            <p:ph type="dt" sz="half" idx="10"/>
          </p:nvPr>
        </p:nvSpPr>
        <p:spPr/>
        <p:txBody>
          <a:bodyPr/>
          <a:lstStyle/>
          <a:p>
            <a:fld id="{715B6042-C7BE-4B2B-817B-DDC4856C97D1}" type="datetimeFigureOut">
              <a:rPr lang="en-US" smtClean="0"/>
              <a:t>12/5/2024</a:t>
            </a:fld>
            <a:endParaRPr lang="en-US"/>
          </a:p>
        </p:txBody>
      </p:sp>
      <p:sp>
        <p:nvSpPr>
          <p:cNvPr id="8" name="Footer Placeholder 7">
            <a:extLst>
              <a:ext uri="{FF2B5EF4-FFF2-40B4-BE49-F238E27FC236}">
                <a16:creationId xmlns:a16="http://schemas.microsoft.com/office/drawing/2014/main" id="{B20F7679-4537-46E4-BC6D-5DAAEA9B87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EF6E76-1CF5-4C93-B406-BFD23F7BD51E}"/>
              </a:ext>
            </a:extLst>
          </p:cNvPr>
          <p:cNvSpPr>
            <a:spLocks noGrp="1"/>
          </p:cNvSpPr>
          <p:nvPr>
            <p:ph type="sldNum" sz="quarter" idx="12"/>
          </p:nvPr>
        </p:nvSpPr>
        <p:spPr/>
        <p:txBody>
          <a:bodyPr/>
          <a:lstStyle/>
          <a:p>
            <a:fld id="{CCB985D8-462A-4D09-AEAD-72E97B792B58}" type="slidenum">
              <a:rPr lang="en-US" smtClean="0"/>
              <a:t>‹#›</a:t>
            </a:fld>
            <a:endParaRPr lang="en-US"/>
          </a:p>
        </p:txBody>
      </p:sp>
    </p:spTree>
    <p:extLst>
      <p:ext uri="{BB962C8B-B14F-4D97-AF65-F5344CB8AC3E}">
        <p14:creationId xmlns:p14="http://schemas.microsoft.com/office/powerpoint/2010/main" val="2692910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EB6BB-569A-4F92-836C-8B34CC5594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F22C73-4EC4-41E9-9FBF-6189178215A9}"/>
              </a:ext>
            </a:extLst>
          </p:cNvPr>
          <p:cNvSpPr>
            <a:spLocks noGrp="1"/>
          </p:cNvSpPr>
          <p:nvPr>
            <p:ph type="dt" sz="half" idx="10"/>
          </p:nvPr>
        </p:nvSpPr>
        <p:spPr/>
        <p:txBody>
          <a:bodyPr/>
          <a:lstStyle/>
          <a:p>
            <a:fld id="{715B6042-C7BE-4B2B-817B-DDC4856C97D1}" type="datetimeFigureOut">
              <a:rPr lang="en-US" smtClean="0"/>
              <a:t>12/5/2024</a:t>
            </a:fld>
            <a:endParaRPr lang="en-US"/>
          </a:p>
        </p:txBody>
      </p:sp>
      <p:sp>
        <p:nvSpPr>
          <p:cNvPr id="4" name="Footer Placeholder 3">
            <a:extLst>
              <a:ext uri="{FF2B5EF4-FFF2-40B4-BE49-F238E27FC236}">
                <a16:creationId xmlns:a16="http://schemas.microsoft.com/office/drawing/2014/main" id="{3EA8B76E-7AF7-4986-96A3-3DC2128EDA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75983B-E4B7-4157-8D4F-383F4163DA56}"/>
              </a:ext>
            </a:extLst>
          </p:cNvPr>
          <p:cNvSpPr>
            <a:spLocks noGrp="1"/>
          </p:cNvSpPr>
          <p:nvPr>
            <p:ph type="sldNum" sz="quarter" idx="12"/>
          </p:nvPr>
        </p:nvSpPr>
        <p:spPr/>
        <p:txBody>
          <a:bodyPr/>
          <a:lstStyle/>
          <a:p>
            <a:fld id="{CCB985D8-462A-4D09-AEAD-72E97B792B58}" type="slidenum">
              <a:rPr lang="en-US" smtClean="0"/>
              <a:t>‹#›</a:t>
            </a:fld>
            <a:endParaRPr lang="en-US"/>
          </a:p>
        </p:txBody>
      </p:sp>
    </p:spTree>
    <p:extLst>
      <p:ext uri="{BB962C8B-B14F-4D97-AF65-F5344CB8AC3E}">
        <p14:creationId xmlns:p14="http://schemas.microsoft.com/office/powerpoint/2010/main" val="3857988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02611B-96A7-456E-81BD-AABEB680B9DE}"/>
              </a:ext>
            </a:extLst>
          </p:cNvPr>
          <p:cNvSpPr>
            <a:spLocks noGrp="1"/>
          </p:cNvSpPr>
          <p:nvPr>
            <p:ph type="dt" sz="half" idx="10"/>
          </p:nvPr>
        </p:nvSpPr>
        <p:spPr/>
        <p:txBody>
          <a:bodyPr/>
          <a:lstStyle/>
          <a:p>
            <a:fld id="{715B6042-C7BE-4B2B-817B-DDC4856C97D1}" type="datetimeFigureOut">
              <a:rPr lang="en-US" smtClean="0"/>
              <a:t>12/5/2024</a:t>
            </a:fld>
            <a:endParaRPr lang="en-US"/>
          </a:p>
        </p:txBody>
      </p:sp>
      <p:sp>
        <p:nvSpPr>
          <p:cNvPr id="3" name="Footer Placeholder 2">
            <a:extLst>
              <a:ext uri="{FF2B5EF4-FFF2-40B4-BE49-F238E27FC236}">
                <a16:creationId xmlns:a16="http://schemas.microsoft.com/office/drawing/2014/main" id="{58D35813-3409-44E9-B1E9-4F31F1A707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63DAC7-849D-4108-BD3F-EE9FD61E48A4}"/>
              </a:ext>
            </a:extLst>
          </p:cNvPr>
          <p:cNvSpPr>
            <a:spLocks noGrp="1"/>
          </p:cNvSpPr>
          <p:nvPr>
            <p:ph type="sldNum" sz="quarter" idx="12"/>
          </p:nvPr>
        </p:nvSpPr>
        <p:spPr/>
        <p:txBody>
          <a:bodyPr/>
          <a:lstStyle/>
          <a:p>
            <a:fld id="{CCB985D8-462A-4D09-AEAD-72E97B792B58}" type="slidenum">
              <a:rPr lang="en-US" smtClean="0"/>
              <a:t>‹#›</a:t>
            </a:fld>
            <a:endParaRPr lang="en-US"/>
          </a:p>
        </p:txBody>
      </p:sp>
    </p:spTree>
    <p:extLst>
      <p:ext uri="{BB962C8B-B14F-4D97-AF65-F5344CB8AC3E}">
        <p14:creationId xmlns:p14="http://schemas.microsoft.com/office/powerpoint/2010/main" val="734578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93CD4-DD44-40F4-809E-ADD986B28E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C96514-3C4B-4909-B9D4-0E51ACE8D7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FA27922-5CA8-4FBD-A55B-23F789A23F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E0EC83-2401-47BE-9967-3E9529C77FDB}"/>
              </a:ext>
            </a:extLst>
          </p:cNvPr>
          <p:cNvSpPr>
            <a:spLocks noGrp="1"/>
          </p:cNvSpPr>
          <p:nvPr>
            <p:ph type="dt" sz="half" idx="10"/>
          </p:nvPr>
        </p:nvSpPr>
        <p:spPr/>
        <p:txBody>
          <a:bodyPr/>
          <a:lstStyle/>
          <a:p>
            <a:fld id="{715B6042-C7BE-4B2B-817B-DDC4856C97D1}" type="datetimeFigureOut">
              <a:rPr lang="en-US" smtClean="0"/>
              <a:t>12/5/2024</a:t>
            </a:fld>
            <a:endParaRPr lang="en-US"/>
          </a:p>
        </p:txBody>
      </p:sp>
      <p:sp>
        <p:nvSpPr>
          <p:cNvPr id="6" name="Footer Placeholder 5">
            <a:extLst>
              <a:ext uri="{FF2B5EF4-FFF2-40B4-BE49-F238E27FC236}">
                <a16:creationId xmlns:a16="http://schemas.microsoft.com/office/drawing/2014/main" id="{7D399F00-5818-4E33-BC8B-D6668F5D12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7A9EA6-881A-4060-AF02-683C2490C2C7}"/>
              </a:ext>
            </a:extLst>
          </p:cNvPr>
          <p:cNvSpPr>
            <a:spLocks noGrp="1"/>
          </p:cNvSpPr>
          <p:nvPr>
            <p:ph type="sldNum" sz="quarter" idx="12"/>
          </p:nvPr>
        </p:nvSpPr>
        <p:spPr/>
        <p:txBody>
          <a:bodyPr/>
          <a:lstStyle/>
          <a:p>
            <a:fld id="{CCB985D8-462A-4D09-AEAD-72E97B792B58}" type="slidenum">
              <a:rPr lang="en-US" smtClean="0"/>
              <a:t>‹#›</a:t>
            </a:fld>
            <a:endParaRPr lang="en-US"/>
          </a:p>
        </p:txBody>
      </p:sp>
    </p:spTree>
    <p:extLst>
      <p:ext uri="{BB962C8B-B14F-4D97-AF65-F5344CB8AC3E}">
        <p14:creationId xmlns:p14="http://schemas.microsoft.com/office/powerpoint/2010/main" val="251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E89C9-AB81-4398-973D-F5584C4A41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9274E9-65B5-456F-925F-83A5B2D92D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C8C47C-0BC6-4578-A0C8-9DD2D68FC6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89F73B-7BC9-4E17-A8C7-13B5298D09BF}"/>
              </a:ext>
            </a:extLst>
          </p:cNvPr>
          <p:cNvSpPr>
            <a:spLocks noGrp="1"/>
          </p:cNvSpPr>
          <p:nvPr>
            <p:ph type="dt" sz="half" idx="10"/>
          </p:nvPr>
        </p:nvSpPr>
        <p:spPr/>
        <p:txBody>
          <a:bodyPr/>
          <a:lstStyle/>
          <a:p>
            <a:fld id="{715B6042-C7BE-4B2B-817B-DDC4856C97D1}" type="datetimeFigureOut">
              <a:rPr lang="en-US" smtClean="0"/>
              <a:t>12/5/2024</a:t>
            </a:fld>
            <a:endParaRPr lang="en-US"/>
          </a:p>
        </p:txBody>
      </p:sp>
      <p:sp>
        <p:nvSpPr>
          <p:cNvPr id="6" name="Footer Placeholder 5">
            <a:extLst>
              <a:ext uri="{FF2B5EF4-FFF2-40B4-BE49-F238E27FC236}">
                <a16:creationId xmlns:a16="http://schemas.microsoft.com/office/drawing/2014/main" id="{544BE56B-38FE-457F-BE5D-41C366755A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B63100-F75C-4653-9AD2-7AC394E20801}"/>
              </a:ext>
            </a:extLst>
          </p:cNvPr>
          <p:cNvSpPr>
            <a:spLocks noGrp="1"/>
          </p:cNvSpPr>
          <p:nvPr>
            <p:ph type="sldNum" sz="quarter" idx="12"/>
          </p:nvPr>
        </p:nvSpPr>
        <p:spPr/>
        <p:txBody>
          <a:bodyPr/>
          <a:lstStyle/>
          <a:p>
            <a:fld id="{CCB985D8-462A-4D09-AEAD-72E97B792B58}" type="slidenum">
              <a:rPr lang="en-US" smtClean="0"/>
              <a:t>‹#›</a:t>
            </a:fld>
            <a:endParaRPr lang="en-US"/>
          </a:p>
        </p:txBody>
      </p:sp>
    </p:spTree>
    <p:extLst>
      <p:ext uri="{BB962C8B-B14F-4D97-AF65-F5344CB8AC3E}">
        <p14:creationId xmlns:p14="http://schemas.microsoft.com/office/powerpoint/2010/main" val="185671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D68E-F7C8-48E3-ACAC-97DBC0343F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57C283-BEE8-4B15-97CE-C1A3A88988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7CCAB4-F8E8-4137-B268-87EF41AF3ECA}"/>
              </a:ext>
            </a:extLst>
          </p:cNvPr>
          <p:cNvSpPr>
            <a:spLocks noGrp="1"/>
          </p:cNvSpPr>
          <p:nvPr>
            <p:ph type="dt" sz="half" idx="10"/>
          </p:nvPr>
        </p:nvSpPr>
        <p:spPr/>
        <p:txBody>
          <a:bodyPr/>
          <a:lstStyle/>
          <a:p>
            <a:fld id="{715B6042-C7BE-4B2B-817B-DDC4856C97D1}" type="datetimeFigureOut">
              <a:rPr lang="en-US" smtClean="0"/>
              <a:t>12/5/2024</a:t>
            </a:fld>
            <a:endParaRPr lang="en-US"/>
          </a:p>
        </p:txBody>
      </p:sp>
      <p:sp>
        <p:nvSpPr>
          <p:cNvPr id="5" name="Footer Placeholder 4">
            <a:extLst>
              <a:ext uri="{FF2B5EF4-FFF2-40B4-BE49-F238E27FC236}">
                <a16:creationId xmlns:a16="http://schemas.microsoft.com/office/drawing/2014/main" id="{02701295-39F2-43C8-954C-DF79A8B00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2FF63-2630-4E69-9712-977BB6BD78D2}"/>
              </a:ext>
            </a:extLst>
          </p:cNvPr>
          <p:cNvSpPr>
            <a:spLocks noGrp="1"/>
          </p:cNvSpPr>
          <p:nvPr>
            <p:ph type="sldNum" sz="quarter" idx="12"/>
          </p:nvPr>
        </p:nvSpPr>
        <p:spPr/>
        <p:txBody>
          <a:bodyPr/>
          <a:lstStyle/>
          <a:p>
            <a:fld id="{CCB985D8-462A-4D09-AEAD-72E97B792B58}" type="slidenum">
              <a:rPr lang="en-US" smtClean="0"/>
              <a:t>‹#›</a:t>
            </a:fld>
            <a:endParaRPr lang="en-US"/>
          </a:p>
        </p:txBody>
      </p:sp>
    </p:spTree>
    <p:extLst>
      <p:ext uri="{BB962C8B-B14F-4D97-AF65-F5344CB8AC3E}">
        <p14:creationId xmlns:p14="http://schemas.microsoft.com/office/powerpoint/2010/main" val="262662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44BA3D-C0CD-48EA-8B82-FD220EB3499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DD2E48-9340-4430-BE0F-DA3C8E2DDA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0644AA-8149-4E4B-B17E-CDC2527960CE}"/>
              </a:ext>
            </a:extLst>
          </p:cNvPr>
          <p:cNvSpPr>
            <a:spLocks noGrp="1"/>
          </p:cNvSpPr>
          <p:nvPr>
            <p:ph type="dt" sz="half" idx="10"/>
          </p:nvPr>
        </p:nvSpPr>
        <p:spPr/>
        <p:txBody>
          <a:bodyPr/>
          <a:lstStyle/>
          <a:p>
            <a:fld id="{715B6042-C7BE-4B2B-817B-DDC4856C97D1}" type="datetimeFigureOut">
              <a:rPr lang="en-US" smtClean="0"/>
              <a:t>12/5/2024</a:t>
            </a:fld>
            <a:endParaRPr lang="en-US"/>
          </a:p>
        </p:txBody>
      </p:sp>
      <p:sp>
        <p:nvSpPr>
          <p:cNvPr id="5" name="Footer Placeholder 4">
            <a:extLst>
              <a:ext uri="{FF2B5EF4-FFF2-40B4-BE49-F238E27FC236}">
                <a16:creationId xmlns:a16="http://schemas.microsoft.com/office/drawing/2014/main" id="{37629C32-EE04-48D9-BA2A-46578A9C33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97C3B5-3DF0-49A7-86AE-CDC7AA5C7113}"/>
              </a:ext>
            </a:extLst>
          </p:cNvPr>
          <p:cNvSpPr>
            <a:spLocks noGrp="1"/>
          </p:cNvSpPr>
          <p:nvPr>
            <p:ph type="sldNum" sz="quarter" idx="12"/>
          </p:nvPr>
        </p:nvSpPr>
        <p:spPr/>
        <p:txBody>
          <a:bodyPr/>
          <a:lstStyle/>
          <a:p>
            <a:fld id="{CCB985D8-462A-4D09-AEAD-72E97B792B58}" type="slidenum">
              <a:rPr lang="en-US" smtClean="0"/>
              <a:t>‹#›</a:t>
            </a:fld>
            <a:endParaRPr lang="en-US"/>
          </a:p>
        </p:txBody>
      </p:sp>
    </p:spTree>
    <p:extLst>
      <p:ext uri="{BB962C8B-B14F-4D97-AF65-F5344CB8AC3E}">
        <p14:creationId xmlns:p14="http://schemas.microsoft.com/office/powerpoint/2010/main" val="183066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12D329-69AC-4811-8554-676BE7DB67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5F0400-F473-4FD2-9C1A-8DCC31DA4D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91B604-3D63-49B6-A90C-C74186C0AB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5B6042-C7BE-4B2B-817B-DDC4856C97D1}" type="datetimeFigureOut">
              <a:rPr lang="en-US" smtClean="0"/>
              <a:t>12/5/2024</a:t>
            </a:fld>
            <a:endParaRPr lang="en-US"/>
          </a:p>
        </p:txBody>
      </p:sp>
      <p:sp>
        <p:nvSpPr>
          <p:cNvPr id="5" name="Footer Placeholder 4">
            <a:extLst>
              <a:ext uri="{FF2B5EF4-FFF2-40B4-BE49-F238E27FC236}">
                <a16:creationId xmlns:a16="http://schemas.microsoft.com/office/drawing/2014/main" id="{EDB24542-88CE-49E6-898E-CD07651FDE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6023F0-AFBB-42E8-9554-6DBAEDE52C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B985D8-462A-4D09-AEAD-72E97B792B58}" type="slidenum">
              <a:rPr lang="en-US" smtClean="0"/>
              <a:t>‹#›</a:t>
            </a:fld>
            <a:endParaRPr lang="en-US"/>
          </a:p>
        </p:txBody>
      </p:sp>
    </p:spTree>
    <p:extLst>
      <p:ext uri="{BB962C8B-B14F-4D97-AF65-F5344CB8AC3E}">
        <p14:creationId xmlns:p14="http://schemas.microsoft.com/office/powerpoint/2010/main" val="3288617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56D0C-08DD-486D-8808-336428AABECE}"/>
              </a:ext>
            </a:extLst>
          </p:cNvPr>
          <p:cNvSpPr>
            <a:spLocks noGrp="1"/>
          </p:cNvSpPr>
          <p:nvPr>
            <p:ph type="ctrTitle"/>
          </p:nvPr>
        </p:nvSpPr>
        <p:spPr>
          <a:xfrm>
            <a:off x="1524000" y="1"/>
            <a:ext cx="9144000" cy="1280160"/>
          </a:xfrm>
        </p:spPr>
        <p:txBody>
          <a:bodyPr/>
          <a:lstStyle/>
          <a:p>
            <a:endParaRPr lang="en-US" dirty="0"/>
          </a:p>
        </p:txBody>
      </p:sp>
      <p:sp>
        <p:nvSpPr>
          <p:cNvPr id="3" name="Subtitle 2">
            <a:extLst>
              <a:ext uri="{FF2B5EF4-FFF2-40B4-BE49-F238E27FC236}">
                <a16:creationId xmlns:a16="http://schemas.microsoft.com/office/drawing/2014/main" id="{A04BF07C-6004-4863-9C6F-8526A7D60F55}"/>
              </a:ext>
            </a:extLst>
          </p:cNvPr>
          <p:cNvSpPr>
            <a:spLocks noGrp="1"/>
          </p:cNvSpPr>
          <p:nvPr>
            <p:ph type="subTitle" idx="1"/>
          </p:nvPr>
        </p:nvSpPr>
        <p:spPr>
          <a:xfrm>
            <a:off x="1524000" y="1603717"/>
            <a:ext cx="9144000" cy="5254282"/>
          </a:xfrm>
        </p:spPr>
        <p:txBody>
          <a:bodyPr/>
          <a:lstStyle/>
          <a:p>
            <a:pPr algn="l"/>
            <a:r>
              <a:rPr lang="en-US" b="1" i="0" dirty="0">
                <a:solidFill>
                  <a:srgbClr val="222222"/>
                </a:solidFill>
                <a:effectLst/>
                <a:latin typeface="Arial" panose="020B0604020202020204" pitchFamily="34" charset="0"/>
              </a:rPr>
              <a:t>Essay on Just-In-Time (JIT), a Lean Production Strategy</a:t>
            </a:r>
          </a:p>
          <a:p>
            <a:pPr algn="l"/>
            <a:r>
              <a:rPr lang="en-US" b="0" i="0" dirty="0">
                <a:solidFill>
                  <a:srgbClr val="222222"/>
                </a:solidFill>
                <a:effectLst/>
                <a:latin typeface="Arial" panose="020B0604020202020204" pitchFamily="34" charset="0"/>
              </a:rPr>
              <a:t>Just-In-Time (JIT) is a production strategy that originated in Japan and has become a cornerstone of lean manufacturing. Developed and popularized by Toyota in the mid-20th century, JIT focuses on producing only what is needed, when it is needed, and in the quantity required. This approach minimizes waste, optimizes efficiency, and ensures that resources are used effectively.</a:t>
            </a:r>
          </a:p>
          <a:p>
            <a:br>
              <a:rPr lang="en-US" dirty="0"/>
            </a:br>
            <a:endParaRPr lang="en-US" dirty="0"/>
          </a:p>
        </p:txBody>
      </p:sp>
    </p:spTree>
    <p:extLst>
      <p:ext uri="{BB962C8B-B14F-4D97-AF65-F5344CB8AC3E}">
        <p14:creationId xmlns:p14="http://schemas.microsoft.com/office/powerpoint/2010/main" val="3083385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C676D-8DF1-46FE-B097-D966A12E4F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2C7596-6239-43D8-9385-14E35F9C0676}"/>
              </a:ext>
            </a:extLst>
          </p:cNvPr>
          <p:cNvSpPr>
            <a:spLocks noGrp="1"/>
          </p:cNvSpPr>
          <p:nvPr>
            <p:ph idx="1"/>
          </p:nvPr>
        </p:nvSpPr>
        <p:spPr/>
        <p:txBody>
          <a:bodyPr>
            <a:normAutofit fontScale="70000" lnSpcReduction="20000"/>
          </a:bodyPr>
          <a:lstStyle/>
          <a:p>
            <a:pPr algn="l"/>
            <a:r>
              <a:rPr lang="en-US" b="1" i="0" dirty="0">
                <a:solidFill>
                  <a:srgbClr val="222222"/>
                </a:solidFill>
                <a:effectLst/>
                <a:latin typeface="Arial" panose="020B0604020202020204" pitchFamily="34" charset="0"/>
              </a:rPr>
              <a:t>Key Principles of JIT</a:t>
            </a:r>
          </a:p>
          <a:p>
            <a:pPr algn="l"/>
            <a:r>
              <a:rPr lang="en-US" b="0" i="0" dirty="0">
                <a:solidFill>
                  <a:srgbClr val="222222"/>
                </a:solidFill>
                <a:effectLst/>
                <a:latin typeface="Arial" panose="020B0604020202020204" pitchFamily="34" charset="0"/>
              </a:rPr>
              <a:t>The JIT strategy operates on several foundational principles:</a:t>
            </a:r>
          </a:p>
          <a:p>
            <a:pPr algn="l">
              <a:buFont typeface="+mj-lt"/>
              <a:buAutoNum type="arabicPeriod"/>
            </a:pPr>
            <a:r>
              <a:rPr lang="en-US" b="1" i="0" dirty="0">
                <a:solidFill>
                  <a:srgbClr val="222222"/>
                </a:solidFill>
                <a:effectLst/>
                <a:latin typeface="Arial" panose="020B0604020202020204" pitchFamily="34" charset="0"/>
              </a:rPr>
              <a:t>Demand-Driven Production</a:t>
            </a:r>
            <a:r>
              <a:rPr lang="en-US" b="0" i="0" dirty="0">
                <a:solidFill>
                  <a:srgbClr val="222222"/>
                </a:solidFill>
                <a:effectLst/>
                <a:latin typeface="Arial" panose="020B0604020202020204" pitchFamily="34" charset="0"/>
              </a:rPr>
              <a:t>: JIT aligns production schedules with actual demand, avoiding overproduction and unnecessary inventory accumulation.</a:t>
            </a:r>
          </a:p>
          <a:p>
            <a:pPr algn="l">
              <a:buFont typeface="+mj-lt"/>
              <a:buAutoNum type="arabicPeriod"/>
            </a:pPr>
            <a:r>
              <a:rPr lang="en-US" b="1" i="0" dirty="0">
                <a:solidFill>
                  <a:srgbClr val="222222"/>
                </a:solidFill>
                <a:effectLst/>
                <a:latin typeface="Arial" panose="020B0604020202020204" pitchFamily="34" charset="0"/>
              </a:rPr>
              <a:t>Elimination of Waste</a:t>
            </a:r>
            <a:r>
              <a:rPr lang="en-US" b="0" i="0" dirty="0">
                <a:solidFill>
                  <a:srgbClr val="222222"/>
                </a:solidFill>
                <a:effectLst/>
                <a:latin typeface="Arial" panose="020B0604020202020204" pitchFamily="34" charset="0"/>
              </a:rPr>
              <a:t>: It targets the seven types of waste (</a:t>
            </a:r>
            <a:r>
              <a:rPr lang="en-US" b="0" i="1" dirty="0">
                <a:solidFill>
                  <a:srgbClr val="222222"/>
                </a:solidFill>
                <a:effectLst/>
                <a:latin typeface="Arial" panose="020B0604020202020204" pitchFamily="34" charset="0"/>
              </a:rPr>
              <a:t>Muda</a:t>
            </a:r>
            <a:r>
              <a:rPr lang="en-US" b="0" i="0" dirty="0">
                <a:solidFill>
                  <a:srgbClr val="222222"/>
                </a:solidFill>
                <a:effectLst/>
                <a:latin typeface="Arial" panose="020B0604020202020204" pitchFamily="34" charset="0"/>
              </a:rPr>
              <a:t>) in production: overproduction, waiting, transportation, overprocessing, inventory, motion, and defects.</a:t>
            </a:r>
          </a:p>
          <a:p>
            <a:pPr algn="l">
              <a:buFont typeface="+mj-lt"/>
              <a:buAutoNum type="arabicPeriod"/>
            </a:pPr>
            <a:r>
              <a:rPr lang="en-US" b="1" i="0" dirty="0">
                <a:solidFill>
                  <a:srgbClr val="222222"/>
                </a:solidFill>
                <a:effectLst/>
                <a:latin typeface="Arial" panose="020B0604020202020204" pitchFamily="34" charset="0"/>
              </a:rPr>
              <a:t>Quality at the Source</a:t>
            </a:r>
            <a:r>
              <a:rPr lang="en-US" b="0" i="0" dirty="0">
                <a:solidFill>
                  <a:srgbClr val="222222"/>
                </a:solidFill>
                <a:effectLst/>
                <a:latin typeface="Arial" panose="020B0604020202020204" pitchFamily="34" charset="0"/>
              </a:rPr>
              <a:t>: Defects are identified and corrected at the point of occurrence to avoid passing them down the production line.</a:t>
            </a:r>
          </a:p>
          <a:p>
            <a:pPr algn="l">
              <a:buFont typeface="+mj-lt"/>
              <a:buAutoNum type="arabicPeriod"/>
            </a:pPr>
            <a:r>
              <a:rPr lang="en-US" b="1" i="0" dirty="0">
                <a:solidFill>
                  <a:srgbClr val="222222"/>
                </a:solidFill>
                <a:effectLst/>
                <a:latin typeface="Arial" panose="020B0604020202020204" pitchFamily="34" charset="0"/>
              </a:rPr>
              <a:t>Continuous Improvement (Kaizen)</a:t>
            </a:r>
            <a:r>
              <a:rPr lang="en-US" b="0" i="0" dirty="0">
                <a:solidFill>
                  <a:srgbClr val="222222"/>
                </a:solidFill>
                <a:effectLst/>
                <a:latin typeface="Arial" panose="020B0604020202020204" pitchFamily="34" charset="0"/>
              </a:rPr>
              <a:t>: JIT promotes incremental improvements in processes to enhance efficiency and adaptability.</a:t>
            </a:r>
          </a:p>
          <a:p>
            <a:pPr algn="l">
              <a:buFont typeface="+mj-lt"/>
              <a:buAutoNum type="arabicPeriod"/>
            </a:pPr>
            <a:r>
              <a:rPr lang="en-US" b="1" i="0" dirty="0">
                <a:solidFill>
                  <a:srgbClr val="222222"/>
                </a:solidFill>
                <a:effectLst/>
                <a:latin typeface="Arial" panose="020B0604020202020204" pitchFamily="34" charset="0"/>
              </a:rPr>
              <a:t>Strong Supplier Relationships</a:t>
            </a:r>
            <a:r>
              <a:rPr lang="en-US" b="0" i="0" dirty="0">
                <a:solidFill>
                  <a:srgbClr val="222222"/>
                </a:solidFill>
                <a:effectLst/>
                <a:latin typeface="Arial" panose="020B0604020202020204" pitchFamily="34" charset="0"/>
              </a:rPr>
              <a:t>: Reliable suppliers are critical in JIT to ensure the timely delivery of high-quality materials and components.</a:t>
            </a:r>
          </a:p>
          <a:p>
            <a:br>
              <a:rPr lang="en-US" dirty="0"/>
            </a:br>
            <a:endParaRPr lang="en-US" dirty="0"/>
          </a:p>
        </p:txBody>
      </p:sp>
    </p:spTree>
    <p:extLst>
      <p:ext uri="{BB962C8B-B14F-4D97-AF65-F5344CB8AC3E}">
        <p14:creationId xmlns:p14="http://schemas.microsoft.com/office/powerpoint/2010/main" val="2617401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269B-D5E3-4835-9EA4-AF1A8BD3C5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AAC14F-1659-4DC1-B698-2B3CBB6E919F}"/>
              </a:ext>
            </a:extLst>
          </p:cNvPr>
          <p:cNvSpPr>
            <a:spLocks noGrp="1"/>
          </p:cNvSpPr>
          <p:nvPr>
            <p:ph idx="1"/>
          </p:nvPr>
        </p:nvSpPr>
        <p:spPr/>
        <p:txBody>
          <a:bodyPr>
            <a:normAutofit fontScale="77500" lnSpcReduction="20000"/>
          </a:bodyPr>
          <a:lstStyle/>
          <a:p>
            <a:pPr algn="l"/>
            <a:r>
              <a:rPr lang="en-US" b="1" i="0" dirty="0">
                <a:solidFill>
                  <a:srgbClr val="222222"/>
                </a:solidFill>
                <a:effectLst/>
                <a:latin typeface="Arial" panose="020B0604020202020204" pitchFamily="34" charset="0"/>
              </a:rPr>
              <a:t>Benefits of JIT</a:t>
            </a:r>
          </a:p>
          <a:p>
            <a:pPr algn="l">
              <a:buFont typeface="+mj-lt"/>
              <a:buAutoNum type="arabicPeriod"/>
            </a:pPr>
            <a:r>
              <a:rPr lang="en-US" b="1" i="0" dirty="0">
                <a:solidFill>
                  <a:srgbClr val="222222"/>
                </a:solidFill>
                <a:effectLst/>
                <a:latin typeface="Arial" panose="020B0604020202020204" pitchFamily="34" charset="0"/>
              </a:rPr>
              <a:t>Reduced Inventory Costs</a:t>
            </a:r>
            <a:r>
              <a:rPr lang="en-US" b="0" i="0" dirty="0">
                <a:solidFill>
                  <a:srgbClr val="222222"/>
                </a:solidFill>
                <a:effectLst/>
                <a:latin typeface="Arial" panose="020B0604020202020204" pitchFamily="34" charset="0"/>
              </a:rPr>
              <a:t>: JIT minimizes the need for large stockpiles of raw materials, work-in-progress, or finished goods, reducing storage and holding costs.</a:t>
            </a:r>
          </a:p>
          <a:p>
            <a:pPr algn="l">
              <a:buFont typeface="+mj-lt"/>
              <a:buAutoNum type="arabicPeriod"/>
            </a:pPr>
            <a:r>
              <a:rPr lang="en-US" b="1" i="0" dirty="0">
                <a:solidFill>
                  <a:srgbClr val="222222"/>
                </a:solidFill>
                <a:effectLst/>
                <a:latin typeface="Arial" panose="020B0604020202020204" pitchFamily="34" charset="0"/>
              </a:rPr>
              <a:t>Improved Cash Flow</a:t>
            </a:r>
            <a:r>
              <a:rPr lang="en-US" b="0" i="0" dirty="0">
                <a:solidFill>
                  <a:srgbClr val="222222"/>
                </a:solidFill>
                <a:effectLst/>
                <a:latin typeface="Arial" panose="020B0604020202020204" pitchFamily="34" charset="0"/>
              </a:rPr>
              <a:t>: By producing only what is needed, businesses can free up capital that would otherwise be tied up in inventory.</a:t>
            </a:r>
          </a:p>
          <a:p>
            <a:pPr algn="l">
              <a:buFont typeface="+mj-lt"/>
              <a:buAutoNum type="arabicPeriod"/>
            </a:pPr>
            <a:r>
              <a:rPr lang="en-US" b="1" i="0" dirty="0">
                <a:solidFill>
                  <a:srgbClr val="222222"/>
                </a:solidFill>
                <a:effectLst/>
                <a:latin typeface="Arial" panose="020B0604020202020204" pitchFamily="34" charset="0"/>
              </a:rPr>
              <a:t>Enhanced Productivity</a:t>
            </a:r>
            <a:r>
              <a:rPr lang="en-US" b="0" i="0" dirty="0">
                <a:solidFill>
                  <a:srgbClr val="222222"/>
                </a:solidFill>
                <a:effectLst/>
                <a:latin typeface="Arial" panose="020B0604020202020204" pitchFamily="34" charset="0"/>
              </a:rPr>
              <a:t>: Streamlined workflows and reduced waste improve operational efficiency.</a:t>
            </a:r>
          </a:p>
          <a:p>
            <a:pPr algn="l">
              <a:buFont typeface="+mj-lt"/>
              <a:buAutoNum type="arabicPeriod"/>
            </a:pPr>
            <a:r>
              <a:rPr lang="en-US" b="1" i="0" dirty="0">
                <a:solidFill>
                  <a:srgbClr val="222222"/>
                </a:solidFill>
                <a:effectLst/>
                <a:latin typeface="Arial" panose="020B0604020202020204" pitchFamily="34" charset="0"/>
              </a:rPr>
              <a:t>Better Quality Control</a:t>
            </a:r>
            <a:r>
              <a:rPr lang="en-US" b="0" i="0" dirty="0">
                <a:solidFill>
                  <a:srgbClr val="222222"/>
                </a:solidFill>
                <a:effectLst/>
                <a:latin typeface="Arial" panose="020B0604020202020204" pitchFamily="34" charset="0"/>
              </a:rPr>
              <a:t>: With a focus on "right the first time," JIT minimizes errors and defects, enhancing product quality.</a:t>
            </a:r>
          </a:p>
          <a:p>
            <a:pPr algn="l">
              <a:buFont typeface="+mj-lt"/>
              <a:buAutoNum type="arabicPeriod"/>
            </a:pPr>
            <a:r>
              <a:rPr lang="en-US" b="1" i="0" dirty="0">
                <a:solidFill>
                  <a:srgbClr val="222222"/>
                </a:solidFill>
                <a:effectLst/>
                <a:latin typeface="Arial" panose="020B0604020202020204" pitchFamily="34" charset="0"/>
              </a:rPr>
              <a:t>Flexibility and Responsiveness</a:t>
            </a:r>
            <a:r>
              <a:rPr lang="en-US" b="0" i="0" dirty="0">
                <a:solidFill>
                  <a:srgbClr val="222222"/>
                </a:solidFill>
                <a:effectLst/>
                <a:latin typeface="Arial" panose="020B0604020202020204" pitchFamily="34" charset="0"/>
              </a:rPr>
              <a:t>: JIT enables organizations to adapt quickly to changes in customer demand or market conditions.</a:t>
            </a:r>
          </a:p>
          <a:p>
            <a:br>
              <a:rPr lang="en-US" dirty="0"/>
            </a:br>
            <a:endParaRPr lang="en-US" dirty="0"/>
          </a:p>
        </p:txBody>
      </p:sp>
    </p:spTree>
    <p:extLst>
      <p:ext uri="{BB962C8B-B14F-4D97-AF65-F5344CB8AC3E}">
        <p14:creationId xmlns:p14="http://schemas.microsoft.com/office/powerpoint/2010/main" val="1350154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A4EB6-482A-4B71-8678-7CFEEFDEBB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D52DE9-141F-4608-97D7-2C090E842B4C}"/>
              </a:ext>
            </a:extLst>
          </p:cNvPr>
          <p:cNvSpPr>
            <a:spLocks noGrp="1"/>
          </p:cNvSpPr>
          <p:nvPr>
            <p:ph idx="1"/>
          </p:nvPr>
        </p:nvSpPr>
        <p:spPr/>
        <p:txBody>
          <a:bodyPr>
            <a:normAutofit fontScale="85000" lnSpcReduction="20000"/>
          </a:bodyPr>
          <a:lstStyle/>
          <a:p>
            <a:pPr algn="l"/>
            <a:r>
              <a:rPr lang="en-US" b="1" i="0" dirty="0">
                <a:solidFill>
                  <a:srgbClr val="222222"/>
                </a:solidFill>
                <a:effectLst/>
                <a:latin typeface="Arial" panose="020B0604020202020204" pitchFamily="34" charset="0"/>
              </a:rPr>
              <a:t>Challenges of Implementing JIT</a:t>
            </a:r>
          </a:p>
          <a:p>
            <a:pPr algn="l"/>
            <a:r>
              <a:rPr lang="en-US" b="0" i="0" dirty="0">
                <a:solidFill>
                  <a:srgbClr val="222222"/>
                </a:solidFill>
                <a:effectLst/>
                <a:latin typeface="Arial" panose="020B0604020202020204" pitchFamily="34" charset="0"/>
              </a:rPr>
              <a:t>Despite its advantages, implementing JIT comes with challenges:</a:t>
            </a:r>
          </a:p>
          <a:p>
            <a:pPr algn="l">
              <a:buFont typeface="+mj-lt"/>
              <a:buAutoNum type="arabicPeriod"/>
            </a:pPr>
            <a:r>
              <a:rPr lang="en-US" b="1" i="0" dirty="0">
                <a:solidFill>
                  <a:srgbClr val="222222"/>
                </a:solidFill>
                <a:effectLst/>
                <a:latin typeface="Arial" panose="020B0604020202020204" pitchFamily="34" charset="0"/>
              </a:rPr>
              <a:t>Dependency on Suppliers</a:t>
            </a:r>
            <a:r>
              <a:rPr lang="en-US" b="0" i="0" dirty="0">
                <a:solidFill>
                  <a:srgbClr val="222222"/>
                </a:solidFill>
                <a:effectLst/>
                <a:latin typeface="Arial" panose="020B0604020202020204" pitchFamily="34" charset="0"/>
              </a:rPr>
              <a:t>: JIT requires reliable suppliers for on-time delivery of materials. Any disruption can halt production.</a:t>
            </a:r>
          </a:p>
          <a:p>
            <a:pPr algn="l">
              <a:buFont typeface="+mj-lt"/>
              <a:buAutoNum type="arabicPeriod"/>
            </a:pPr>
            <a:r>
              <a:rPr lang="en-US" b="1" i="0" dirty="0">
                <a:solidFill>
                  <a:srgbClr val="222222"/>
                </a:solidFill>
                <a:effectLst/>
                <a:latin typeface="Arial" panose="020B0604020202020204" pitchFamily="34" charset="0"/>
              </a:rPr>
              <a:t>Risk of Stockouts</a:t>
            </a:r>
            <a:r>
              <a:rPr lang="en-US" b="0" i="0" dirty="0">
                <a:solidFill>
                  <a:srgbClr val="222222"/>
                </a:solidFill>
                <a:effectLst/>
                <a:latin typeface="Arial" panose="020B0604020202020204" pitchFamily="34" charset="0"/>
              </a:rPr>
              <a:t>: With minimal inventory, businesses are vulnerable to supply chain disruptions or sudden spikes in demand.</a:t>
            </a:r>
          </a:p>
          <a:p>
            <a:pPr algn="l">
              <a:buFont typeface="+mj-lt"/>
              <a:buAutoNum type="arabicPeriod"/>
            </a:pPr>
            <a:r>
              <a:rPr lang="en-US" b="1" i="0" dirty="0">
                <a:solidFill>
                  <a:srgbClr val="222222"/>
                </a:solidFill>
                <a:effectLst/>
                <a:latin typeface="Arial" panose="020B0604020202020204" pitchFamily="34" charset="0"/>
              </a:rPr>
              <a:t>Initial Costs</a:t>
            </a:r>
            <a:r>
              <a:rPr lang="en-US" b="0" i="0" dirty="0">
                <a:solidFill>
                  <a:srgbClr val="222222"/>
                </a:solidFill>
                <a:effectLst/>
                <a:latin typeface="Arial" panose="020B0604020202020204" pitchFamily="34" charset="0"/>
              </a:rPr>
              <a:t>: Transitioning to a JIT system may involve significant upfront investments in training, process redesign, and technology.</a:t>
            </a:r>
          </a:p>
          <a:p>
            <a:pPr algn="l">
              <a:buFont typeface="+mj-lt"/>
              <a:buAutoNum type="arabicPeriod"/>
            </a:pPr>
            <a:r>
              <a:rPr lang="en-US" b="1" i="0" dirty="0">
                <a:solidFill>
                  <a:srgbClr val="222222"/>
                </a:solidFill>
                <a:effectLst/>
                <a:latin typeface="Arial" panose="020B0604020202020204" pitchFamily="34" charset="0"/>
              </a:rPr>
              <a:t>Complexity in Management</a:t>
            </a:r>
            <a:r>
              <a:rPr lang="en-US" b="0" i="0" dirty="0">
                <a:solidFill>
                  <a:srgbClr val="222222"/>
                </a:solidFill>
                <a:effectLst/>
                <a:latin typeface="Arial" panose="020B0604020202020204" pitchFamily="34" charset="0"/>
              </a:rPr>
              <a:t>: JIT demands meticulous planning and coordination across the supply chain, which can be complex and resource-intensive.</a:t>
            </a:r>
          </a:p>
          <a:p>
            <a:br>
              <a:rPr lang="en-US" dirty="0"/>
            </a:br>
            <a:endParaRPr lang="en-US" dirty="0"/>
          </a:p>
        </p:txBody>
      </p:sp>
    </p:spTree>
    <p:extLst>
      <p:ext uri="{BB962C8B-B14F-4D97-AF65-F5344CB8AC3E}">
        <p14:creationId xmlns:p14="http://schemas.microsoft.com/office/powerpoint/2010/main" val="3104996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08927-874A-4957-A7DC-5F3A0CE42F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D3D300-191D-44AD-9D38-977C72CBC940}"/>
              </a:ext>
            </a:extLst>
          </p:cNvPr>
          <p:cNvSpPr>
            <a:spLocks noGrp="1"/>
          </p:cNvSpPr>
          <p:nvPr>
            <p:ph idx="1"/>
          </p:nvPr>
        </p:nvSpPr>
        <p:spPr/>
        <p:txBody>
          <a:bodyPr>
            <a:normAutofit fontScale="92500" lnSpcReduction="20000"/>
          </a:bodyPr>
          <a:lstStyle/>
          <a:p>
            <a:pPr algn="l"/>
            <a:r>
              <a:rPr lang="en-US" b="1" i="0" dirty="0">
                <a:solidFill>
                  <a:srgbClr val="222222"/>
                </a:solidFill>
                <a:effectLst/>
                <a:latin typeface="Arial" panose="020B0604020202020204" pitchFamily="34" charset="0"/>
              </a:rPr>
              <a:t>Examples of JIT in Practice</a:t>
            </a:r>
          </a:p>
          <a:p>
            <a:pPr algn="l">
              <a:buFont typeface="+mj-lt"/>
              <a:buAutoNum type="arabicPeriod"/>
            </a:pPr>
            <a:r>
              <a:rPr lang="en-US" b="1" i="0" dirty="0">
                <a:solidFill>
                  <a:srgbClr val="222222"/>
                </a:solidFill>
                <a:effectLst/>
                <a:latin typeface="Arial" panose="020B0604020202020204" pitchFamily="34" charset="0"/>
              </a:rPr>
              <a:t>Toyota</a:t>
            </a:r>
            <a:r>
              <a:rPr lang="en-US" b="0" i="0" dirty="0">
                <a:solidFill>
                  <a:srgbClr val="222222"/>
                </a:solidFill>
                <a:effectLst/>
                <a:latin typeface="Arial" panose="020B0604020202020204" pitchFamily="34" charset="0"/>
              </a:rPr>
              <a:t>: The pioneer of JIT, Toyota uses this system to minimize inventory and align production with demand, ensuring efficiency and quality.</a:t>
            </a:r>
          </a:p>
          <a:p>
            <a:pPr algn="l">
              <a:buFont typeface="+mj-lt"/>
              <a:buAutoNum type="arabicPeriod"/>
            </a:pPr>
            <a:r>
              <a:rPr lang="en-US" b="1" i="0" dirty="0">
                <a:solidFill>
                  <a:srgbClr val="222222"/>
                </a:solidFill>
                <a:effectLst/>
                <a:latin typeface="Arial" panose="020B0604020202020204" pitchFamily="34" charset="0"/>
              </a:rPr>
              <a:t>Dell</a:t>
            </a:r>
            <a:r>
              <a:rPr lang="en-US" b="0" i="0" dirty="0">
                <a:solidFill>
                  <a:srgbClr val="222222"/>
                </a:solidFill>
                <a:effectLst/>
                <a:latin typeface="Arial" panose="020B0604020202020204" pitchFamily="34" charset="0"/>
              </a:rPr>
              <a:t>: In its early years, Dell leveraged JIT to build computers only after receiving customer orders, reducing inventory costs and improving customization.</a:t>
            </a:r>
          </a:p>
          <a:p>
            <a:pPr algn="l">
              <a:buFont typeface="+mj-lt"/>
              <a:buAutoNum type="arabicPeriod"/>
            </a:pPr>
            <a:r>
              <a:rPr lang="en-US" b="1" i="0" dirty="0">
                <a:solidFill>
                  <a:srgbClr val="222222"/>
                </a:solidFill>
                <a:effectLst/>
                <a:latin typeface="Arial" panose="020B0604020202020204" pitchFamily="34" charset="0"/>
              </a:rPr>
              <a:t>Retail Industry</a:t>
            </a:r>
            <a:r>
              <a:rPr lang="en-US" b="0" i="0" dirty="0">
                <a:solidFill>
                  <a:srgbClr val="222222"/>
                </a:solidFill>
                <a:effectLst/>
                <a:latin typeface="Arial" panose="020B0604020202020204" pitchFamily="34" charset="0"/>
              </a:rPr>
              <a:t>: Companies like Zara use JIT principles to manage their supply chains, producing small batches of clothing based on real-time customer preferences.</a:t>
            </a:r>
          </a:p>
          <a:p>
            <a:br>
              <a:rPr lang="en-US" dirty="0"/>
            </a:br>
            <a:endParaRPr lang="en-US" dirty="0"/>
          </a:p>
        </p:txBody>
      </p:sp>
    </p:spTree>
    <p:extLst>
      <p:ext uri="{BB962C8B-B14F-4D97-AF65-F5344CB8AC3E}">
        <p14:creationId xmlns:p14="http://schemas.microsoft.com/office/powerpoint/2010/main" val="2922665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55281-EE96-4A97-A9F9-16E416A186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4594EF-0051-49D8-B197-647B8CA86BED}"/>
              </a:ext>
            </a:extLst>
          </p:cNvPr>
          <p:cNvSpPr>
            <a:spLocks noGrp="1"/>
          </p:cNvSpPr>
          <p:nvPr>
            <p:ph idx="1"/>
          </p:nvPr>
        </p:nvSpPr>
        <p:spPr/>
        <p:txBody>
          <a:bodyPr>
            <a:normAutofit fontScale="92500" lnSpcReduction="20000"/>
          </a:bodyPr>
          <a:lstStyle/>
          <a:p>
            <a:pPr algn="l"/>
            <a:r>
              <a:rPr lang="en-US" b="1" i="0" dirty="0">
                <a:solidFill>
                  <a:srgbClr val="222222"/>
                </a:solidFill>
                <a:effectLst/>
                <a:latin typeface="Arial" panose="020B0604020202020204" pitchFamily="34" charset="0"/>
              </a:rPr>
              <a:t>JIT and Sustainability</a:t>
            </a:r>
          </a:p>
          <a:p>
            <a:pPr algn="l"/>
            <a:r>
              <a:rPr lang="en-US" b="0" i="0" dirty="0">
                <a:solidFill>
                  <a:srgbClr val="222222"/>
                </a:solidFill>
                <a:effectLst/>
                <a:latin typeface="Arial" panose="020B0604020202020204" pitchFamily="34" charset="0"/>
              </a:rPr>
              <a:t>JIT also contributes to environmental sustainability by reducing waste, optimizing resource use, and minimizing emissions associated with excess production and storage.</a:t>
            </a:r>
          </a:p>
          <a:p>
            <a:pPr algn="l"/>
            <a:r>
              <a:rPr lang="en-US" b="1" i="0" dirty="0">
                <a:solidFill>
                  <a:srgbClr val="222222"/>
                </a:solidFill>
                <a:effectLst/>
                <a:latin typeface="Arial" panose="020B0604020202020204" pitchFamily="34" charset="0"/>
              </a:rPr>
              <a:t>Conclusion</a:t>
            </a:r>
          </a:p>
          <a:p>
            <a:pPr algn="l"/>
            <a:r>
              <a:rPr lang="en-US" b="0" i="0" dirty="0">
                <a:solidFill>
                  <a:srgbClr val="222222"/>
                </a:solidFill>
                <a:effectLst/>
                <a:latin typeface="Arial" panose="020B0604020202020204" pitchFamily="34" charset="0"/>
              </a:rPr>
              <a:t>Just-In-Time is a powerful production strategy that revolutionizes manufacturing by prioritizing efficiency, quality, and customer satisfaction. While it requires careful planning and reliable systems, its benefits—ranging from cost savings to enhanced adaptability—make it an essential tool for modern businesses. </a:t>
            </a:r>
            <a:r>
              <a:rPr lang="en-US" b="0" i="0">
                <a:solidFill>
                  <a:srgbClr val="222222"/>
                </a:solidFill>
                <a:effectLst/>
                <a:latin typeface="Arial" panose="020B0604020202020204" pitchFamily="34" charset="0"/>
              </a:rPr>
              <a:t>By fostering a culture of continuous improvement and waste reduction, JIT aligns closely with the principles of lean manufacturing, paving the way for sustainable and competitive operations.</a:t>
            </a:r>
          </a:p>
          <a:p>
            <a:endParaRPr lang="en-US"/>
          </a:p>
        </p:txBody>
      </p:sp>
    </p:spTree>
    <p:extLst>
      <p:ext uri="{BB962C8B-B14F-4D97-AF65-F5344CB8AC3E}">
        <p14:creationId xmlns:p14="http://schemas.microsoft.com/office/powerpoint/2010/main" val="401463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77F72-4629-47E4-BD5A-7BAF8115709F}"/>
              </a:ext>
            </a:extLst>
          </p:cNvPr>
          <p:cNvSpPr>
            <a:spLocks noGrp="1"/>
          </p:cNvSpPr>
          <p:nvPr>
            <p:ph type="ctrTitle"/>
          </p:nvPr>
        </p:nvSpPr>
        <p:spPr>
          <a:xfrm>
            <a:off x="1524000" y="1"/>
            <a:ext cx="9144000" cy="984738"/>
          </a:xfrm>
        </p:spPr>
        <p:txBody>
          <a:bodyPr/>
          <a:lstStyle/>
          <a:p>
            <a:endParaRPr lang="en-US" dirty="0"/>
          </a:p>
        </p:txBody>
      </p:sp>
      <p:sp>
        <p:nvSpPr>
          <p:cNvPr id="3" name="Subtitle 2">
            <a:extLst>
              <a:ext uri="{FF2B5EF4-FFF2-40B4-BE49-F238E27FC236}">
                <a16:creationId xmlns:a16="http://schemas.microsoft.com/office/drawing/2014/main" id="{6ACD3176-7C6D-4999-A91D-0F0D03791977}"/>
              </a:ext>
            </a:extLst>
          </p:cNvPr>
          <p:cNvSpPr>
            <a:spLocks noGrp="1"/>
          </p:cNvSpPr>
          <p:nvPr>
            <p:ph type="subTitle" idx="1"/>
          </p:nvPr>
        </p:nvSpPr>
        <p:spPr>
          <a:xfrm>
            <a:off x="1524000" y="1308295"/>
            <a:ext cx="9144000" cy="5549705"/>
          </a:xfrm>
        </p:spPr>
        <p:txBody>
          <a:bodyPr>
            <a:normAutofit fontScale="92500" lnSpcReduction="10000"/>
          </a:bodyPr>
          <a:lstStyle/>
          <a:p>
            <a:pPr algn="l"/>
            <a:r>
              <a:rPr lang="en-US" b="0" i="0" dirty="0">
                <a:solidFill>
                  <a:srgbClr val="222222"/>
                </a:solidFill>
                <a:effectLst/>
                <a:latin typeface="Arial" panose="020B0604020202020204" pitchFamily="34" charset="0"/>
              </a:rPr>
              <a:t>Just-In-Time (JIT) is a lean production strategy aimed at producing and delivering products just in time to meet customer demand, minimizing waste and maximizing efficiency.</a:t>
            </a:r>
          </a:p>
          <a:p>
            <a:pPr algn="l"/>
            <a:br>
              <a:rPr lang="en-US" b="0" i="0" dirty="0">
                <a:solidFill>
                  <a:srgbClr val="222222"/>
                </a:solidFill>
                <a:effectLst/>
                <a:latin typeface="Arial" panose="020B0604020202020204" pitchFamily="34" charset="0"/>
              </a:rPr>
            </a:br>
            <a:endParaRPr lang="en-US" b="0" i="0" dirty="0">
              <a:solidFill>
                <a:srgbClr val="222222"/>
              </a:solidFill>
              <a:effectLst/>
              <a:latin typeface="Arial" panose="020B0604020202020204" pitchFamily="34" charset="0"/>
            </a:endParaRPr>
          </a:p>
          <a:p>
            <a:pPr algn="l"/>
            <a:br>
              <a:rPr lang="en-US" b="0" i="0" dirty="0">
                <a:solidFill>
                  <a:srgbClr val="222222"/>
                </a:solidFill>
                <a:effectLst/>
                <a:latin typeface="Arial" panose="020B0604020202020204" pitchFamily="34" charset="0"/>
              </a:rPr>
            </a:br>
            <a:endParaRPr lang="en-US" b="0" i="0" dirty="0">
              <a:solidFill>
                <a:srgbClr val="222222"/>
              </a:solidFill>
              <a:effectLst/>
              <a:latin typeface="Arial" panose="020B0604020202020204" pitchFamily="34" charset="0"/>
            </a:endParaRPr>
          </a:p>
          <a:p>
            <a:pPr algn="l"/>
            <a:r>
              <a:rPr lang="en-US" b="0" i="0" dirty="0">
                <a:solidFill>
                  <a:srgbClr val="222222"/>
                </a:solidFill>
                <a:effectLst/>
                <a:latin typeface="Arial" panose="020B0604020202020204" pitchFamily="34" charset="0"/>
              </a:rPr>
              <a:t>*Key Principles of JIT:*</a:t>
            </a:r>
          </a:p>
          <a:p>
            <a:pPr algn="l"/>
            <a:br>
              <a:rPr lang="en-US" b="0" i="0" dirty="0">
                <a:solidFill>
                  <a:srgbClr val="222222"/>
                </a:solidFill>
                <a:effectLst/>
                <a:latin typeface="Arial" panose="020B0604020202020204" pitchFamily="34" charset="0"/>
              </a:rPr>
            </a:br>
            <a:endParaRPr lang="en-US" b="0" i="0" dirty="0">
              <a:solidFill>
                <a:srgbClr val="222222"/>
              </a:solidFill>
              <a:effectLst/>
              <a:latin typeface="Arial" panose="020B0604020202020204" pitchFamily="34" charset="0"/>
            </a:endParaRPr>
          </a:p>
          <a:p>
            <a:pPr algn="l"/>
            <a:r>
              <a:rPr lang="en-US" b="0" i="0" dirty="0">
                <a:solidFill>
                  <a:srgbClr val="222222"/>
                </a:solidFill>
                <a:effectLst/>
                <a:latin typeface="Arial" panose="020B0604020202020204" pitchFamily="34" charset="0"/>
              </a:rPr>
              <a:t>1. Produce only what is needed</a:t>
            </a:r>
          </a:p>
          <a:p>
            <a:pPr algn="l"/>
            <a:r>
              <a:rPr lang="en-US" b="0" i="0" dirty="0">
                <a:solidFill>
                  <a:srgbClr val="222222"/>
                </a:solidFill>
                <a:effectLst/>
                <a:latin typeface="Arial" panose="020B0604020202020204" pitchFamily="34" charset="0"/>
              </a:rPr>
              <a:t>2. Produce only when needed</a:t>
            </a:r>
          </a:p>
          <a:p>
            <a:pPr algn="l"/>
            <a:r>
              <a:rPr lang="en-US" b="0" i="0" dirty="0">
                <a:solidFill>
                  <a:srgbClr val="222222"/>
                </a:solidFill>
                <a:effectLst/>
                <a:latin typeface="Arial" panose="020B0604020202020204" pitchFamily="34" charset="0"/>
              </a:rPr>
              <a:t>3. Deliver only when needed</a:t>
            </a:r>
          </a:p>
          <a:p>
            <a:pPr algn="l"/>
            <a:r>
              <a:rPr lang="en-US" b="0" i="0" dirty="0">
                <a:solidFill>
                  <a:srgbClr val="222222"/>
                </a:solidFill>
                <a:effectLst/>
                <a:latin typeface="Arial" panose="020B0604020202020204" pitchFamily="34" charset="0"/>
              </a:rPr>
              <a:t>4. Minimize inventory</a:t>
            </a:r>
          </a:p>
          <a:p>
            <a:pPr algn="l"/>
            <a:r>
              <a:rPr lang="en-US" b="0" i="0" dirty="0">
                <a:solidFill>
                  <a:srgbClr val="222222"/>
                </a:solidFill>
                <a:effectLst/>
                <a:latin typeface="Arial" panose="020B0604020202020204" pitchFamily="34" charset="0"/>
              </a:rPr>
              <a:t>5. Maximize quality</a:t>
            </a:r>
          </a:p>
          <a:p>
            <a:endParaRPr lang="en-US" dirty="0"/>
          </a:p>
        </p:txBody>
      </p:sp>
    </p:spTree>
    <p:extLst>
      <p:ext uri="{BB962C8B-B14F-4D97-AF65-F5344CB8AC3E}">
        <p14:creationId xmlns:p14="http://schemas.microsoft.com/office/powerpoint/2010/main" val="172993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651B-B1B2-4471-BC81-141E8AAAA7A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947DEE-854B-49B0-80A1-8C6129297B5D}"/>
              </a:ext>
            </a:extLst>
          </p:cNvPr>
          <p:cNvSpPr>
            <a:spLocks noGrp="1"/>
          </p:cNvSpPr>
          <p:nvPr>
            <p:ph idx="1"/>
          </p:nvPr>
        </p:nvSpPr>
        <p:spPr/>
        <p:txBody>
          <a:bodyPr>
            <a:normAutofit fontScale="85000" lnSpcReduction="20000"/>
          </a:bodyPr>
          <a:lstStyle/>
          <a:p>
            <a:r>
              <a:rPr lang="en-US" dirty="0"/>
              <a:t>Big JIT vs Little JIT:*</a:t>
            </a:r>
          </a:p>
          <a:p>
            <a:br>
              <a:rPr lang="en-US" dirty="0"/>
            </a:br>
            <a:endParaRPr lang="en-US" dirty="0"/>
          </a:p>
          <a:p>
            <a:r>
              <a:rPr lang="en-US" dirty="0"/>
              <a:t>*Big JIT:*</a:t>
            </a:r>
          </a:p>
          <a:p>
            <a:br>
              <a:rPr lang="en-US" dirty="0"/>
            </a:br>
            <a:endParaRPr lang="en-US" dirty="0"/>
          </a:p>
          <a:p>
            <a:r>
              <a:rPr lang="en-US" dirty="0"/>
              <a:t>1. Focuses on supply chain management</a:t>
            </a:r>
          </a:p>
          <a:p>
            <a:r>
              <a:rPr lang="en-US" dirty="0"/>
              <a:t>2. Emphasizes long-term relationships with suppliers</a:t>
            </a:r>
          </a:p>
          <a:p>
            <a:r>
              <a:rPr lang="en-US" dirty="0"/>
              <a:t>3. Aims to eliminate waste across entire supply chain</a:t>
            </a:r>
          </a:p>
          <a:p>
            <a:r>
              <a:rPr lang="en-US" dirty="0"/>
              <a:t>4. Requires significant changes to organizational culture</a:t>
            </a:r>
          </a:p>
          <a:p>
            <a:br>
              <a:rPr lang="en-US" dirty="0"/>
            </a:br>
            <a:endParaRPr lang="en-US" dirty="0"/>
          </a:p>
        </p:txBody>
      </p:sp>
    </p:spTree>
    <p:extLst>
      <p:ext uri="{BB962C8B-B14F-4D97-AF65-F5344CB8AC3E}">
        <p14:creationId xmlns:p14="http://schemas.microsoft.com/office/powerpoint/2010/main" val="2880423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1988-1E80-4581-8E65-790EFD1D86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39D7CC-E0C2-46E7-88A4-8A37E2E9AE0F}"/>
              </a:ext>
            </a:extLst>
          </p:cNvPr>
          <p:cNvSpPr>
            <a:spLocks noGrp="1"/>
          </p:cNvSpPr>
          <p:nvPr>
            <p:ph idx="1"/>
          </p:nvPr>
        </p:nvSpPr>
        <p:spPr/>
        <p:txBody>
          <a:bodyPr/>
          <a:lstStyle/>
          <a:p>
            <a:r>
              <a:rPr lang="en-US" dirty="0"/>
              <a:t>Little JIT:*</a:t>
            </a:r>
          </a:p>
          <a:p>
            <a:br>
              <a:rPr lang="en-US" dirty="0"/>
            </a:br>
            <a:endParaRPr lang="en-US" dirty="0"/>
          </a:p>
          <a:p>
            <a:r>
              <a:rPr lang="en-US" dirty="0"/>
              <a:t>1. Focuses on internal production processes</a:t>
            </a:r>
          </a:p>
          <a:p>
            <a:r>
              <a:rPr lang="en-US" dirty="0"/>
              <a:t>2. Emphasizes efficiency and productivity improvements</a:t>
            </a:r>
          </a:p>
          <a:p>
            <a:r>
              <a:rPr lang="en-US" dirty="0"/>
              <a:t>3. Aims to reduce waste and inventory within organization</a:t>
            </a:r>
          </a:p>
          <a:p>
            <a:r>
              <a:rPr lang="en-US" dirty="0"/>
              <a:t>4. Easier to implement, with fewer cultural changes</a:t>
            </a:r>
          </a:p>
          <a:p>
            <a:br>
              <a:rPr lang="en-US" dirty="0"/>
            </a:br>
            <a:endParaRPr lang="en-US" dirty="0"/>
          </a:p>
        </p:txBody>
      </p:sp>
    </p:spTree>
    <p:extLst>
      <p:ext uri="{BB962C8B-B14F-4D97-AF65-F5344CB8AC3E}">
        <p14:creationId xmlns:p14="http://schemas.microsoft.com/office/powerpoint/2010/main" val="3350345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1141D-05F1-431A-A2F2-2919BA3B6B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B9CB81-84CE-4F80-98AA-555A16FE0662}"/>
              </a:ext>
            </a:extLst>
          </p:cNvPr>
          <p:cNvSpPr>
            <a:spLocks noGrp="1"/>
          </p:cNvSpPr>
          <p:nvPr>
            <p:ph idx="1"/>
          </p:nvPr>
        </p:nvSpPr>
        <p:spPr/>
        <p:txBody>
          <a:bodyPr>
            <a:normAutofit fontScale="92500" lnSpcReduction="10000"/>
          </a:bodyPr>
          <a:lstStyle/>
          <a:p>
            <a:r>
              <a:rPr lang="en-US" dirty="0"/>
              <a:t>Concept of Ideal Lot Size of One:*</a:t>
            </a:r>
          </a:p>
          <a:p>
            <a:br>
              <a:rPr lang="en-US" dirty="0"/>
            </a:br>
            <a:endParaRPr lang="en-US" dirty="0"/>
          </a:p>
          <a:p>
            <a:r>
              <a:rPr lang="en-US" dirty="0"/>
              <a:t>1. Producing products in quantities of one</a:t>
            </a:r>
          </a:p>
          <a:p>
            <a:r>
              <a:rPr lang="en-US" dirty="0"/>
              <a:t>2. Eliminates waste from overproduction</a:t>
            </a:r>
          </a:p>
          <a:p>
            <a:r>
              <a:rPr lang="en-US" dirty="0"/>
              <a:t>3. Reduces inventory and storage needs</a:t>
            </a:r>
          </a:p>
          <a:p>
            <a:r>
              <a:rPr lang="en-US" dirty="0"/>
              <a:t>4. Increases flexibility and responsiveness</a:t>
            </a:r>
          </a:p>
          <a:p>
            <a:r>
              <a:rPr lang="en-US" dirty="0"/>
              <a:t>5. Challenges traditional batch production thinking</a:t>
            </a:r>
          </a:p>
          <a:p>
            <a:br>
              <a:rPr lang="en-US" dirty="0"/>
            </a:br>
            <a:endParaRPr lang="en-US" dirty="0"/>
          </a:p>
        </p:txBody>
      </p:sp>
    </p:spTree>
    <p:extLst>
      <p:ext uri="{BB962C8B-B14F-4D97-AF65-F5344CB8AC3E}">
        <p14:creationId xmlns:p14="http://schemas.microsoft.com/office/powerpoint/2010/main" val="2814302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DE7E-692E-4EEE-A339-6B39957FCC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23DCA9-FC0A-429D-904F-7433BC21ED68}"/>
              </a:ext>
            </a:extLst>
          </p:cNvPr>
          <p:cNvSpPr>
            <a:spLocks noGrp="1"/>
          </p:cNvSpPr>
          <p:nvPr>
            <p:ph idx="1"/>
          </p:nvPr>
        </p:nvSpPr>
        <p:spPr/>
        <p:txBody>
          <a:bodyPr>
            <a:normAutofit fontScale="92500" lnSpcReduction="10000"/>
          </a:bodyPr>
          <a:lstStyle/>
          <a:p>
            <a:r>
              <a:rPr lang="en-US" dirty="0"/>
              <a:t>Benefits of JIT:*</a:t>
            </a:r>
          </a:p>
          <a:p>
            <a:br>
              <a:rPr lang="en-US" dirty="0"/>
            </a:br>
            <a:endParaRPr lang="en-US" dirty="0"/>
          </a:p>
          <a:p>
            <a:r>
              <a:rPr lang="en-US" dirty="0"/>
              <a:t>1. Reduced inventory costs</a:t>
            </a:r>
          </a:p>
          <a:p>
            <a:r>
              <a:rPr lang="en-US" dirty="0"/>
              <a:t>2. Improved quality</a:t>
            </a:r>
          </a:p>
          <a:p>
            <a:r>
              <a:rPr lang="en-US" dirty="0"/>
              <a:t>3. Increased efficiency</a:t>
            </a:r>
          </a:p>
          <a:p>
            <a:r>
              <a:rPr lang="en-US" dirty="0"/>
              <a:t>4. Enhanced flexibility</a:t>
            </a:r>
          </a:p>
          <a:p>
            <a:r>
              <a:rPr lang="en-US" dirty="0"/>
              <a:t>5. Better supply chain management</a:t>
            </a:r>
          </a:p>
          <a:p>
            <a:br>
              <a:rPr lang="en-US" dirty="0"/>
            </a:br>
            <a:endParaRPr lang="en-US" dirty="0"/>
          </a:p>
        </p:txBody>
      </p:sp>
    </p:spTree>
    <p:extLst>
      <p:ext uri="{BB962C8B-B14F-4D97-AF65-F5344CB8AC3E}">
        <p14:creationId xmlns:p14="http://schemas.microsoft.com/office/powerpoint/2010/main" val="944551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E617B-8849-4A0C-BA58-D0C0DA52BD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271561-B53C-4C78-B009-BC1AAE53E82D}"/>
              </a:ext>
            </a:extLst>
          </p:cNvPr>
          <p:cNvSpPr>
            <a:spLocks noGrp="1"/>
          </p:cNvSpPr>
          <p:nvPr>
            <p:ph idx="1"/>
          </p:nvPr>
        </p:nvSpPr>
        <p:spPr/>
        <p:txBody>
          <a:bodyPr>
            <a:normAutofit fontScale="92500" lnSpcReduction="10000"/>
          </a:bodyPr>
          <a:lstStyle/>
          <a:p>
            <a:r>
              <a:rPr lang="en-US" dirty="0"/>
              <a:t>Challenges of JIT:*</a:t>
            </a:r>
          </a:p>
          <a:p>
            <a:br>
              <a:rPr lang="en-US" dirty="0"/>
            </a:br>
            <a:endParaRPr lang="en-US" dirty="0"/>
          </a:p>
          <a:p>
            <a:r>
              <a:rPr lang="en-US" dirty="0"/>
              <a:t>1. Requires accurate demand forecasting</a:t>
            </a:r>
          </a:p>
          <a:p>
            <a:r>
              <a:rPr lang="en-US" dirty="0"/>
              <a:t>2. Needs reliable supplier relationships</a:t>
            </a:r>
          </a:p>
          <a:p>
            <a:r>
              <a:rPr lang="en-US" dirty="0"/>
              <a:t>3. Can be vulnerable to supply chain disruptions</a:t>
            </a:r>
          </a:p>
          <a:p>
            <a:r>
              <a:rPr lang="en-US" dirty="0"/>
              <a:t>4. Requires significant changes to organizational culture</a:t>
            </a:r>
          </a:p>
          <a:p>
            <a:r>
              <a:rPr lang="en-US" dirty="0"/>
              <a:t>5. May require significant investment in technology</a:t>
            </a:r>
          </a:p>
          <a:p>
            <a:br>
              <a:rPr lang="en-US" dirty="0"/>
            </a:br>
            <a:endParaRPr lang="en-US" dirty="0"/>
          </a:p>
        </p:txBody>
      </p:sp>
    </p:spTree>
    <p:extLst>
      <p:ext uri="{BB962C8B-B14F-4D97-AF65-F5344CB8AC3E}">
        <p14:creationId xmlns:p14="http://schemas.microsoft.com/office/powerpoint/2010/main" val="1030969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D366E-2E53-4F17-9FEF-12A6AE1BCF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2E2224-2271-4F7C-BF9E-09234A52D253}"/>
              </a:ext>
            </a:extLst>
          </p:cNvPr>
          <p:cNvSpPr>
            <a:spLocks noGrp="1"/>
          </p:cNvSpPr>
          <p:nvPr>
            <p:ph idx="1"/>
          </p:nvPr>
        </p:nvSpPr>
        <p:spPr/>
        <p:txBody>
          <a:bodyPr>
            <a:normAutofit fontScale="92500" lnSpcReduction="20000"/>
          </a:bodyPr>
          <a:lstStyle/>
          <a:p>
            <a:r>
              <a:rPr lang="en-US" dirty="0"/>
              <a:t>JIT Implementation Steps:*</a:t>
            </a:r>
          </a:p>
          <a:p>
            <a:br>
              <a:rPr lang="en-US" dirty="0"/>
            </a:br>
            <a:endParaRPr lang="en-US" dirty="0"/>
          </a:p>
          <a:p>
            <a:r>
              <a:rPr lang="en-US" dirty="0"/>
              <a:t>1. Analyze current production processes</a:t>
            </a:r>
          </a:p>
          <a:p>
            <a:r>
              <a:rPr lang="en-US" dirty="0"/>
              <a:t>2. Identify waste and inefficiencies</a:t>
            </a:r>
          </a:p>
          <a:p>
            <a:r>
              <a:rPr lang="en-US" dirty="0"/>
              <a:t>3. Implement pull production system</a:t>
            </a:r>
          </a:p>
          <a:p>
            <a:r>
              <a:rPr lang="en-US" dirty="0"/>
              <a:t>4. Reduce lot sizes and inventory levels</a:t>
            </a:r>
          </a:p>
          <a:p>
            <a:r>
              <a:rPr lang="en-US" dirty="0"/>
              <a:t>5. Improve supplier relationships</a:t>
            </a:r>
          </a:p>
          <a:p>
            <a:r>
              <a:rPr lang="en-US" dirty="0"/>
              <a:t>6. Continuously monitor and improve</a:t>
            </a:r>
          </a:p>
          <a:p>
            <a:br>
              <a:rPr lang="en-US" dirty="0"/>
            </a:br>
            <a:endParaRPr lang="en-US" dirty="0"/>
          </a:p>
        </p:txBody>
      </p:sp>
    </p:spTree>
    <p:extLst>
      <p:ext uri="{BB962C8B-B14F-4D97-AF65-F5344CB8AC3E}">
        <p14:creationId xmlns:p14="http://schemas.microsoft.com/office/powerpoint/2010/main" val="4203005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17E1F-9C65-4327-9DF0-274BC5C6D3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9CD63B-652F-4645-85E3-C5CEF059D547}"/>
              </a:ext>
            </a:extLst>
          </p:cNvPr>
          <p:cNvSpPr>
            <a:spLocks noGrp="1"/>
          </p:cNvSpPr>
          <p:nvPr>
            <p:ph idx="1"/>
          </p:nvPr>
        </p:nvSpPr>
        <p:spPr/>
        <p:txBody>
          <a:bodyPr>
            <a:normAutofit fontScale="92500" lnSpcReduction="10000"/>
          </a:bodyPr>
          <a:lstStyle/>
          <a:p>
            <a:r>
              <a:rPr lang="en-US" dirty="0"/>
              <a:t>Tools and Techniques:*</a:t>
            </a:r>
          </a:p>
          <a:p>
            <a:br>
              <a:rPr lang="en-US" dirty="0"/>
            </a:br>
            <a:endParaRPr lang="en-US" dirty="0"/>
          </a:p>
          <a:p>
            <a:r>
              <a:rPr lang="en-US" dirty="0"/>
              <a:t>1. Kanban</a:t>
            </a:r>
          </a:p>
          <a:p>
            <a:r>
              <a:rPr lang="en-US" dirty="0"/>
              <a:t>2. Total Productive Maintenance (TPM)</a:t>
            </a:r>
          </a:p>
          <a:p>
            <a:r>
              <a:rPr lang="en-US" dirty="0"/>
              <a:t>3. Continuous Improvement (Kaizen)</a:t>
            </a:r>
          </a:p>
          <a:p>
            <a:r>
              <a:rPr lang="en-US" dirty="0"/>
              <a:t>4. Root Cause Analysis (RCA)</a:t>
            </a:r>
          </a:p>
          <a:p>
            <a:r>
              <a:rPr lang="en-US" dirty="0"/>
              <a:t>5. Value Stream Mapping (VSM)</a:t>
            </a:r>
          </a:p>
          <a:p>
            <a:br>
              <a:rPr lang="en-US" dirty="0"/>
            </a:br>
            <a:endParaRPr lang="en-US" dirty="0"/>
          </a:p>
        </p:txBody>
      </p:sp>
    </p:spTree>
    <p:extLst>
      <p:ext uri="{BB962C8B-B14F-4D97-AF65-F5344CB8AC3E}">
        <p14:creationId xmlns:p14="http://schemas.microsoft.com/office/powerpoint/2010/main" val="4290968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TotalTime>
  <Words>952</Words>
  <Application>Microsoft Office PowerPoint</Application>
  <PresentationFormat>Widescreen</PresentationFormat>
  <Paragraphs>101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15</cp:revision>
  <dcterms:created xsi:type="dcterms:W3CDTF">2024-12-05T14:50:22Z</dcterms:created>
  <dcterms:modified xsi:type="dcterms:W3CDTF">2024-12-05T18:25:03Z</dcterms:modified>
</cp:coreProperties>
</file>