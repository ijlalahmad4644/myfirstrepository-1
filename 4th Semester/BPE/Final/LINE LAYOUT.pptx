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92B5-08CD-481C-A078-6F3E28D4F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EAEB7-16CB-4290-B1A4-DF41C170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B37B-C04B-4FC6-8C0B-4A44A57D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6D8E-E0E7-4688-B0F0-3E5B75D3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7E27-8E7F-4D88-8AE2-F2037920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1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E13A-A532-481A-B44A-D715AC16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8C438-E573-42F8-AE1C-A18FEBBDF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06ECB-20B9-472F-8F55-DDE5A09A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C6C1E-E4F3-42BB-966A-02791F86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0B294-06DC-4C96-8E47-063DB307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1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BC64-6128-49E3-9C6A-849857F2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C0795-097E-4508-8543-5D6CC8077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4DDB-082C-4107-9307-CE557E27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7619A-3352-4A50-BF3A-B90B0CB1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22246-67F1-44EF-8081-19707747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BEFA-34F9-4013-89DC-CAACF984C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69C07-CA2B-4C34-83E3-3232B8FE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FB479-0611-4330-AB19-04548E17C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0853D-94F7-4FB0-ABBF-CD4B5001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DA541-7055-47F3-8C52-FF7DCADB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58D6A-5446-4D2E-9249-DDDF251E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6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FBE2-86E2-4B79-8E68-9DD200BD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6DB94-A6C3-406A-B03A-3E08BF03E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B4215-40FB-4E31-9BCA-81A5BE428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0040B-47CF-4139-A0C7-0DE3B939D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EB502-B42B-42A5-AE11-22AF56CE2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1830C-C035-449F-B3DC-7CEBC229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3AEA9-2620-43A5-9D87-F00DFBA5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D74BC-7DBA-4E8C-ABD4-9D28D520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3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ADC5-EAA8-4066-BABA-27457E23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B9568-65D0-4811-8F29-AB02DADC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33C60-1613-4512-908C-0DCF7B13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444E7-D487-4449-AD0C-CAC0254B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7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F9CE8-A71B-4EFB-B993-381C0553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863E3-C6CF-45A1-B873-01AFD2A5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989E4-8090-43C9-863A-AD9D9A13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0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A7F7-E2F8-4A4F-B8B3-4CFCBA8D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F489A-C07B-43C1-AA8A-9A9956BD0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56CB-9DAE-475B-9D63-20B661F3D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E0C46-1B4F-45CC-8F94-84F89226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0C70E-6C93-47BE-94B9-392C201F8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888D5-86E6-4943-A458-9D6E3CDD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9BCF-47C0-468D-8D8B-6CF9E2CF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2DEE5-15C5-45CF-B3AA-97544C4AD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D2460-8DFC-4D4B-A351-7F967B9B0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AE2C3-61CC-4BEE-AD8F-19608252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479F9-6CD6-468C-8D7C-10ABD038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23E7-C2EF-43C9-9F4B-1D1C8ABE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4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B30A-E314-49A1-9B16-EFC1EDA2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6C2B2-CECA-4528-9DCE-4CFD14D44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7241-BBC8-4638-8C8B-E290FF88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CA32-FDD6-42D4-A7E0-37B970A1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4097B-0675-4D37-8566-FDEEDE75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7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6DAFC-BCAB-4AFC-8344-2DE8B6ABA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06641-A8BF-4DB6-8C08-8E8EFA9A0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28742-D697-4BF6-B539-AB9A9347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0C75B-5FE4-4B5F-9AB1-5FD0EE26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C309E-0C8A-4C4E-92C9-55F6091C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2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AA21A-68F8-46E9-879B-E619474A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516E5-4285-40C2-85B7-793EB69BC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15DB-A26B-4565-98B5-6924CCA18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79E42-3C29-404F-8BBD-31A43F22E620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2DE9-BE29-4F46-83AE-37AC8B58E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58AE8-06AF-41EB-8073-30E9DD671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84581-48AE-4AEC-8826-FD9E27380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1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A4EB-D012-4500-97DF-89DCB3EE2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28467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Line 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1DB55-AE0F-45E5-B83B-17B5189DC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28468"/>
            <a:ext cx="10668000" cy="5929531"/>
          </a:xfrm>
        </p:spPr>
        <p:txBody>
          <a:bodyPr>
            <a:normAutofit/>
          </a:bodyPr>
          <a:lstStyle/>
          <a:p>
            <a:r>
              <a:rPr lang="en-US" sz="3600" dirty="0"/>
              <a:t>Line Layout is a critical aspect of Business Process Excellence (BPE) and Lean Manufacturing.</a:t>
            </a:r>
          </a:p>
          <a:p>
            <a:r>
              <a:rPr lang="en-US" sz="3600" dirty="0"/>
              <a:t>_Definition: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The physical arrangement of equipment, workstations, and processes to optimize efficiency, productivity, and flow.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00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DDF2-D51C-41FD-8F41-E7ADD073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Types of Line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BF50-AFD0-424E-B345-E9A2EC2C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6769"/>
            <a:ext cx="11353800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Product Layout: Dedicated production lines for specific products.</a:t>
            </a:r>
          </a:p>
          <a:p>
            <a:r>
              <a:rPr lang="en-US" dirty="0"/>
              <a:t>2. Process Layout: Functional departments (e.g., machining, assembly).</a:t>
            </a:r>
          </a:p>
          <a:p>
            <a:r>
              <a:rPr lang="en-US" dirty="0"/>
              <a:t>3. Cellular Layout: Grouping similar processes together.</a:t>
            </a:r>
          </a:p>
          <a:p>
            <a:r>
              <a:rPr lang="en-US" dirty="0"/>
              <a:t>4. Flexible Layout: Adaptive to changing production requirements.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5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2DFB-83E9-407B-BC64-F9CAB633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1134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Principles of Effective Line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2E529-B7F6-4847-8DFB-A3E35A953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0332"/>
            <a:ext cx="11353800" cy="52766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Reduce distance and transport</a:t>
            </a:r>
          </a:p>
          <a:p>
            <a:r>
              <a:rPr lang="en-US" dirty="0"/>
              <a:t>2. Improve flow and continuity</a:t>
            </a:r>
          </a:p>
          <a:p>
            <a:r>
              <a:rPr lang="en-US" dirty="0"/>
              <a:t>3. Eliminate waste and inefficiencies</a:t>
            </a:r>
          </a:p>
          <a:p>
            <a:r>
              <a:rPr lang="en-US" dirty="0"/>
              <a:t>4. Enhance visibility and communication</a:t>
            </a:r>
          </a:p>
          <a:p>
            <a:r>
              <a:rPr lang="en-US" dirty="0"/>
              <a:t>5. Consider ergonomics and safety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2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3FF2C-F769-4D97-8033-E12A5D94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473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BPE Tools for Line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7473-01EC-4D32-9E72-7C37C3F2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4738"/>
            <a:ext cx="11353800" cy="51922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Process Mapping</a:t>
            </a:r>
          </a:p>
          <a:p>
            <a:r>
              <a:rPr lang="en-US" dirty="0"/>
              <a:t>3. Spaghetti Diagrams</a:t>
            </a:r>
          </a:p>
          <a:p>
            <a:r>
              <a:rPr lang="en-US" dirty="0"/>
              <a:t>4. Swimlane Analysis</a:t>
            </a:r>
          </a:p>
          <a:p>
            <a:r>
              <a:rPr lang="en-US" dirty="0"/>
              <a:t>5. Lean Layout Design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4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5DBD-5044-4EE8-B1A1-B339FC35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Benefits of Optimal Line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60D1C-C317-4BB3-A215-18ECEC86A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2363"/>
            <a:ext cx="11353800" cy="4854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Increased productivity</a:t>
            </a:r>
          </a:p>
          <a:p>
            <a:r>
              <a:rPr lang="en-US" dirty="0"/>
              <a:t>2. Reduced lead times</a:t>
            </a:r>
          </a:p>
          <a:p>
            <a:r>
              <a:rPr lang="en-US" dirty="0"/>
              <a:t>3. Improved quality</a:t>
            </a:r>
          </a:p>
          <a:p>
            <a:r>
              <a:rPr lang="en-US" dirty="0"/>
              <a:t>4. Enhanced safety</a:t>
            </a:r>
          </a:p>
          <a:p>
            <a:r>
              <a:rPr lang="en-US" dirty="0"/>
              <a:t>5. Reduced costs</a:t>
            </a:r>
          </a:p>
          <a:p>
            <a:r>
              <a:rPr lang="en-US" dirty="0"/>
              <a:t>6. Improved employee morale</a:t>
            </a:r>
          </a:p>
          <a:p>
            <a:r>
              <a:rPr lang="en-US" dirty="0"/>
              <a:t>7. Increased flexibility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7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9E05-3DDF-455E-9483-499471E1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5507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C07DB-8C37-4BC4-8112-6C7832B8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0332"/>
            <a:ext cx="11353800" cy="52766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Involve employees in layout design</a:t>
            </a:r>
          </a:p>
          <a:p>
            <a:r>
              <a:rPr lang="en-US" dirty="0"/>
              <a:t>2. Analyze process flows and waste</a:t>
            </a:r>
          </a:p>
          <a:p>
            <a:r>
              <a:rPr lang="en-US" dirty="0"/>
              <a:t>3. Consider future growth and changes</a:t>
            </a:r>
          </a:p>
          <a:p>
            <a:r>
              <a:rPr lang="en-US" dirty="0"/>
              <a:t>4. Implement flexible and adaptable designs</a:t>
            </a:r>
          </a:p>
          <a:p>
            <a:r>
              <a:rPr lang="en-US" dirty="0"/>
              <a:t>5. Continuously monitor and improve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8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4C77-5B99-47CD-87AA-B44D87DA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Industry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036F-8A21-4ACD-9CB2-FC5453BE5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5754"/>
            <a:ext cx="11353800" cy="49812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Manufacturing</a:t>
            </a:r>
          </a:p>
          <a:p>
            <a:r>
              <a:rPr lang="en-US" dirty="0"/>
              <a:t>2. Healthcare</a:t>
            </a:r>
          </a:p>
          <a:p>
            <a:r>
              <a:rPr lang="en-US" dirty="0"/>
              <a:t>3. Service industries</a:t>
            </a:r>
          </a:p>
          <a:p>
            <a:r>
              <a:rPr lang="en-US" dirty="0"/>
              <a:t>4. Logistics and transportation</a:t>
            </a:r>
          </a:p>
          <a:p>
            <a:r>
              <a:rPr lang="en-US" dirty="0"/>
              <a:t>5. Food processing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46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C49D-2D7E-424A-A129-986D87C7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Metrics to Measure Line Layout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8B5B-E529-4AF3-8130-16D902E7A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6092"/>
            <a:ext cx="11353800" cy="49108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Throughput</a:t>
            </a:r>
          </a:p>
          <a:p>
            <a:r>
              <a:rPr lang="en-US" dirty="0"/>
              <a:t>2. Lead Time</a:t>
            </a:r>
          </a:p>
          <a:p>
            <a:r>
              <a:rPr lang="en-US" dirty="0"/>
              <a:t>3. Cycle Time</a:t>
            </a:r>
          </a:p>
          <a:p>
            <a:r>
              <a:rPr lang="en-US" dirty="0"/>
              <a:t>4. Inventory Turns</a:t>
            </a:r>
          </a:p>
          <a:p>
            <a:r>
              <a:rPr lang="en-US" dirty="0"/>
              <a:t>5. Defect Rate</a:t>
            </a:r>
          </a:p>
          <a:p>
            <a:r>
              <a:rPr lang="en-US" dirty="0"/>
              <a:t>6. Employee productivity</a:t>
            </a:r>
          </a:p>
          <a:p>
            <a:r>
              <a:rPr lang="en-US" dirty="0"/>
              <a:t>7. Space utilization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6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ECA0-BA5D-4C15-A7FB-B48359DA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Common Line Layout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01FCB-D807-4062-86C4-B74F91B2E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3889"/>
            <a:ext cx="11353800" cy="49530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Inefficient use of space</a:t>
            </a:r>
          </a:p>
          <a:p>
            <a:r>
              <a:rPr lang="en-US" dirty="0"/>
              <a:t>2. Insufficient storage</a:t>
            </a:r>
          </a:p>
          <a:p>
            <a:r>
              <a:rPr lang="en-US" dirty="0"/>
              <a:t>3. Poor material flow</a:t>
            </a:r>
          </a:p>
          <a:p>
            <a:r>
              <a:rPr lang="en-US" dirty="0"/>
              <a:t>4. Inadequate ergonomics</a:t>
            </a:r>
          </a:p>
          <a:p>
            <a:r>
              <a:rPr lang="en-US" dirty="0"/>
              <a:t>5. Lack of flexibility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08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322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Line Layout</vt:lpstr>
      <vt:lpstr>Types of Line Layouts</vt:lpstr>
      <vt:lpstr>Principles of Effective Line Layout</vt:lpstr>
      <vt:lpstr>BPE Tools for Line Layout</vt:lpstr>
      <vt:lpstr>Benefits of Optimal Line Layout</vt:lpstr>
      <vt:lpstr>Best Practices</vt:lpstr>
      <vt:lpstr>Industry Applications</vt:lpstr>
      <vt:lpstr>Metrics to Measure Line Layout Effectiveness</vt:lpstr>
      <vt:lpstr>Common Line Layout Mistakes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2024-12-01T16:06:11Z</dcterms:created>
  <dcterms:modified xsi:type="dcterms:W3CDTF">2024-12-03T03:24:17Z</dcterms:modified>
</cp:coreProperties>
</file>