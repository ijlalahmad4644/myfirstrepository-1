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C6E97-B381-406B-A7A3-C4A902DC8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F6E8FE-D02D-4A91-95E9-A9685F0A5D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0BB04-3E28-474F-9E48-4D290FFD9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86BC7-69EF-4982-A0AC-74F576CD1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60CE1-708E-4F98-ACDE-8CDEF3E97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17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CB79-7CA2-4232-BB9E-AA42EA60D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82CCA-4633-42F6-9CDC-252EC3147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FD167-E9D6-4295-A248-2170AB02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D9E37-77B1-4CC4-9524-644D1923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7B85F-2870-4F05-9A22-9A62349D2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3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B178F-3FC4-4E9C-88D2-377A8AA4C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BFEEF-FCA5-430E-BCC4-04DAAFF27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76279-A29D-4BFB-997B-53682C63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B4DA9-52FA-4766-B62F-476A24EE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671A04-7FEA-47CC-80E9-E91545C96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39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C319D-467F-4F85-A858-41090820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AFAF6-A6BB-433D-9419-AE8C0A59B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B22DBD-E187-498F-8F88-59F825124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20F00-8D40-4501-8A62-2ECFC2ED5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37926-4E6E-4DAA-8DE2-6C5DA37CF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1FEB4-7CF7-4435-90D9-9951AFF45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8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F878A-EB7D-43A2-BE82-DC2978C50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D7403D-6362-4E26-8251-AF952193B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E66CF8-3110-4DE9-BC14-14D341F06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0987D-C25B-46C6-8496-3F1D3CE9F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D383FE-B6BF-432A-B1C7-3BD35B366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D566A0-5F33-488A-9770-46CEEBD43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D6E48-26D5-465F-95F7-480F30DFE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D87AD-7859-4AC5-8CA3-C176AF5F4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58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59945-4479-4C05-821E-C839C0BB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83BB87-5303-48C8-9D74-8042C72C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61D6B-36F3-48C4-8378-5EEFC481B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9053C4-9295-4B87-827D-263F49807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496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45DD2-677F-4D9B-8E77-A8AEC7C7E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ED54F-EBB9-4A94-8E3C-CC238B6EE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82DAE-D879-4022-A70C-A8DB9D6C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41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0B6E3-5745-4CBB-B0A8-BC8E7854E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B40CC-6FF3-4B84-8202-8FFC260C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48C4D-6D7A-4865-A956-9B694801E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6CBF8-813D-45FB-86B8-B3B8D3F47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C2DFC-297E-4C37-A7DA-7ACFD80F0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EC8295-2021-4193-8B22-001050B6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610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53D0A-8E89-4D53-85FC-A3580C14D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DF2934-04AC-47BB-8B70-7DF59C745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5C4A9-D663-4352-BFC3-6241DF050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3C3F4-71A7-448F-BAD6-87A85DD02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F0F4D-1F70-4E88-A16D-CA3B06D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63E51-68E5-46C9-9170-17E81A443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8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C842-E158-405D-8DE0-EB11133F3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5B86E-4359-43A5-93C3-70DE60BE21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25DD6-DE82-4D1C-9F4A-141F80EE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53DEB-E2BB-4F1F-9F73-B876570B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92EA0-545B-49F7-BF06-590254849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82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EE659E-928B-48DB-AC93-DBB9BCD235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039036-2473-413E-ABF6-83398C46D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EC711-1FE4-4415-87FA-428014DA2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7CF81-68A6-445F-B505-711A5AEF1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3B14A-7D4C-4882-8124-2778D676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6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DD7658-7A4B-4247-ABC1-D9F496457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09B320-A509-4DE3-A47B-32143DA357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20FC7-C43C-426D-9948-22C166FF2F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446ED-5BEF-46DE-A5B8-AFD5A661B273}" type="datetimeFigureOut">
              <a:rPr lang="en-US" smtClean="0"/>
              <a:t>12/5/2024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6575C-F02D-4B26-804F-FFBE715F1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93973-E516-46E4-A15D-309AD625D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2BCDB-1255-40F5-B6A4-074D68D83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82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6F26-9013-4D56-BA26-AA054EF81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4746"/>
            <a:ext cx="9144000" cy="703383"/>
          </a:xfrm>
        </p:spPr>
        <p:txBody>
          <a:bodyPr>
            <a:normAutofit fontScale="90000"/>
          </a:bodyPr>
          <a:lstStyle/>
          <a:p>
            <a:r>
              <a:rPr lang="en-US"/>
              <a:t>Quick Response Manufacturing (QRM)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03C4C-0626-42CF-BADD-52895ABF0D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80160"/>
            <a:ext cx="9144000" cy="526131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Quick Response Manufacturing (QRM) is a manufacturing strategy focused on reducing lead times, increasing flexibility, and improving quality.</a:t>
            </a:r>
          </a:p>
          <a:p>
            <a:br>
              <a:rPr lang="en-US" dirty="0"/>
            </a:b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_Key Principles of QRM:_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Focus on lead time reduction</a:t>
            </a:r>
          </a:p>
          <a:p>
            <a:r>
              <a:rPr lang="en-US" dirty="0"/>
              <a:t>2. Emphasis on flexibility and responsiveness</a:t>
            </a:r>
          </a:p>
          <a:p>
            <a:r>
              <a:rPr lang="en-US" dirty="0"/>
              <a:t>3. Simplification of processes and workflows</a:t>
            </a:r>
          </a:p>
          <a:p>
            <a:r>
              <a:rPr lang="en-US" dirty="0"/>
              <a:t>4. Cross-functional teams and collaboration</a:t>
            </a:r>
          </a:p>
          <a:p>
            <a:r>
              <a:rPr lang="en-US" dirty="0"/>
              <a:t>5. Continuous improvement and learning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527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A8EF-DB82-4080-8051-985790836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0C036-4BE9-4364-A645-9C8BB784B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_QRM Core Concepts:_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Lead Time Reduction: Minimize time from order receipt to delivery</a:t>
            </a:r>
          </a:p>
          <a:p>
            <a:r>
              <a:rPr lang="en-US" dirty="0"/>
              <a:t>2. Focused Target Market: Identify and prioritize key customer segments</a:t>
            </a:r>
          </a:p>
          <a:p>
            <a:r>
              <a:rPr lang="en-US" dirty="0"/>
              <a:t>3. Manufacturing Critical-path Time (MCT): Measure and optimize production time</a:t>
            </a:r>
          </a:p>
          <a:p>
            <a:r>
              <a:rPr lang="en-US" dirty="0"/>
              <a:t>4. Policy Deployment: Align organizational goals and objectives</a:t>
            </a:r>
          </a:p>
          <a:p>
            <a:r>
              <a:rPr lang="en-US" dirty="0"/>
              <a:t>5. System Thinking: View organization as interconnected processes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40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E7F24-DA8A-4F3C-BB53-650CEEE9F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92ADA-E2F1-4156-AA63-6BDA43098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_QRM Benefits:_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Reduced lead times (50-90%)</a:t>
            </a:r>
          </a:p>
          <a:p>
            <a:r>
              <a:rPr lang="en-US" dirty="0"/>
              <a:t>2. Increased flexibility and responsiveness</a:t>
            </a:r>
          </a:p>
          <a:p>
            <a:r>
              <a:rPr lang="en-US" dirty="0"/>
              <a:t>3. Improved quality and reliability</a:t>
            </a:r>
          </a:p>
          <a:p>
            <a:r>
              <a:rPr lang="en-US" dirty="0"/>
              <a:t>4. Enhanced customer satisfaction</a:t>
            </a:r>
          </a:p>
          <a:p>
            <a:r>
              <a:rPr lang="en-US" dirty="0"/>
              <a:t>5. Reduced inventory and waste</a:t>
            </a:r>
          </a:p>
          <a:p>
            <a:r>
              <a:rPr lang="en-US" dirty="0"/>
              <a:t>6. Increased competitiveness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136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8A1A1-E255-4178-BB34-26FFB4A97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8254C-9B09-4693-88B6-A791A396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_QRM Implementation Steps:_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Assess current manufacturing processes</a:t>
            </a:r>
          </a:p>
          <a:p>
            <a:r>
              <a:rPr lang="en-US" dirty="0"/>
              <a:t>2. Identify key customer segments and priorities</a:t>
            </a:r>
          </a:p>
          <a:p>
            <a:r>
              <a:rPr lang="en-US" dirty="0"/>
              <a:t>3. Measure and analyze lead times</a:t>
            </a:r>
          </a:p>
          <a:p>
            <a:r>
              <a:rPr lang="en-US" dirty="0"/>
              <a:t>4. Implement cross-functional teams</a:t>
            </a:r>
          </a:p>
          <a:p>
            <a:r>
              <a:rPr lang="en-US" dirty="0"/>
              <a:t>5. Simplify processes and workflows</a:t>
            </a:r>
          </a:p>
          <a:p>
            <a:r>
              <a:rPr lang="en-US" dirty="0"/>
              <a:t>6. Continuously monitor and improve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839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888EF-1F55-403B-B53F-80F3CFDC1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F56CF-9F6D-45C8-A225-2573D922D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_QRM Tools and Techniques:_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Value Stream Mapping (VSM)</a:t>
            </a:r>
          </a:p>
          <a:p>
            <a:r>
              <a:rPr lang="en-US" dirty="0"/>
              <a:t>2. Root Cause Analysis (RCA)</a:t>
            </a:r>
          </a:p>
          <a:p>
            <a:r>
              <a:rPr lang="en-US" dirty="0"/>
              <a:t>3. Total Productive Maintenance (TPM)</a:t>
            </a:r>
          </a:p>
          <a:p>
            <a:r>
              <a:rPr lang="en-US" dirty="0"/>
              <a:t>4. Continuous Improvement (Kaizen)</a:t>
            </a:r>
          </a:p>
          <a:p>
            <a:r>
              <a:rPr lang="en-US" dirty="0"/>
              <a:t>5. Simulation and modeling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096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BA948-0583-450F-A2C6-33795D6B1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2ECB5-AE27-4AE8-B45B-C73949B69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_Industry Applications:_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Discrete manufacturing</a:t>
            </a:r>
          </a:p>
          <a:p>
            <a:r>
              <a:rPr lang="en-US" dirty="0"/>
              <a:t>2. Job shops and custom manufacturers</a:t>
            </a:r>
          </a:p>
          <a:p>
            <a:r>
              <a:rPr lang="en-US" dirty="0"/>
              <a:t>3. High-mix, low-volume production</a:t>
            </a:r>
          </a:p>
          <a:p>
            <a:r>
              <a:rPr lang="en-US" dirty="0"/>
              <a:t>4. Aerospace and defense</a:t>
            </a:r>
          </a:p>
          <a:p>
            <a:r>
              <a:rPr lang="en-US" dirty="0"/>
              <a:t>5. Medical devices and pharmaceuticals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95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2AFAF-4E1B-4A2B-A36D-846D3E9B0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53522-2E59-4499-BFA4-7B5CD59A2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_QRM Case Studies:_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Harley-Davidson: Reduced lead times by 50%</a:t>
            </a:r>
          </a:p>
          <a:p>
            <a:r>
              <a:rPr lang="en-US" dirty="0"/>
              <a:t>2. John Deere: Improved quality and reduced inventory</a:t>
            </a:r>
          </a:p>
          <a:p>
            <a:r>
              <a:rPr lang="en-US" dirty="0"/>
              <a:t>3. 3M: Enhanced flexibility and responsiveness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946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F5D64-1EE9-4790-9DFB-B615EFF9B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8BA17-D58B-4DFB-9D26-4EC39C4B5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_Challenges and Limitations:_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1. Cultural and organizational changes</a:t>
            </a:r>
          </a:p>
          <a:p>
            <a:r>
              <a:rPr lang="en-US" dirty="0"/>
              <a:t>2. Requires significant training and education</a:t>
            </a:r>
          </a:p>
          <a:p>
            <a:r>
              <a:rPr lang="en-US" dirty="0"/>
              <a:t>3. Difficulty in measuring and analyzing lead times</a:t>
            </a:r>
          </a:p>
          <a:p>
            <a:r>
              <a:rPr lang="en-US" dirty="0"/>
              <a:t>4. May require significant investment in technology</a:t>
            </a:r>
          </a:p>
          <a:p>
            <a:r>
              <a:rPr lang="en-US" dirty="0"/>
              <a:t>5. Balancing flexibility and efficiency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412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6C80-3E93-4152-9465-284114B1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E70F8B4-B28B-474A-9EAF-A85F4C8891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828138"/>
          <a:ext cx="10515600" cy="346311"/>
        </p:xfrm>
        <a:graphic>
          <a:graphicData uri="http://schemas.openxmlformats.org/drawingml/2006/table">
            <a:tbl>
              <a:tblPr/>
              <a:tblGrid>
                <a:gridCol w="396815">
                  <a:extLst>
                    <a:ext uri="{9D8B030D-6E8A-4147-A177-3AD203B41FA5}">
                      <a16:colId xmlns:a16="http://schemas.microsoft.com/office/drawing/2014/main" val="3079248396"/>
                    </a:ext>
                  </a:extLst>
                </a:gridCol>
                <a:gridCol w="10118785">
                  <a:extLst>
                    <a:ext uri="{9D8B030D-6E8A-4147-A177-3AD203B41FA5}">
                      <a16:colId xmlns:a16="http://schemas.microsoft.com/office/drawing/2014/main" val="2391490834"/>
                    </a:ext>
                  </a:extLst>
                </a:gridCol>
              </a:tblGrid>
              <a:tr h="346311">
                <a:tc>
                  <a:txBody>
                    <a:bodyPr/>
                    <a:lstStyle/>
                    <a:p>
                      <a:pPr fontAlgn="t"/>
                      <a:endParaRPr lang="en-US" sz="1700">
                        <a:effectLst/>
                      </a:endParaRPr>
                    </a:p>
                  </a:txBody>
                  <a:tcPr marL="144296" marR="144296" marT="43289" marB="4328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0" u="none" strike="noStrike" dirty="0" err="1">
                          <a:solidFill>
                            <a:srgbClr val="444746"/>
                          </a:solidFill>
                          <a:effectLst/>
                          <a:latin typeface="Google Sans"/>
                        </a:rPr>
                        <a:t>ReplyForward</a:t>
                      </a:r>
                      <a:endParaRPr lang="en-US" sz="1700" dirty="0">
                        <a:solidFill>
                          <a:srgbClr val="222222"/>
                        </a:solidFill>
                        <a:effectLst/>
                      </a:endParaRPr>
                    </a:p>
                  </a:txBody>
                  <a:tcPr marL="86578" marR="86578" marT="43289" marB="432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8474767"/>
                  </a:ext>
                </a:extLst>
              </a:tr>
            </a:tbl>
          </a:graphicData>
        </a:graphic>
      </p:graphicFrame>
      <p:sp>
        <p:nvSpPr>
          <p:cNvPr id="9" name="Rectangle 5">
            <a:extLst>
              <a:ext uri="{FF2B5EF4-FFF2-40B4-BE49-F238E27FC236}">
                <a16:creationId xmlns:a16="http://schemas.microsoft.com/office/drawing/2014/main" id="{787EE4A5-3751-4F32-B11A-A3788F803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827463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_Best Practices:_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Start with small-scale implementation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    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7CACACF-2E5F-41FE-858C-17A3D26EEE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700" y="4330700"/>
            <a:ext cx="381000" cy="38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6640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394</Words>
  <Application>Microsoft Office PowerPoint</Application>
  <PresentationFormat>Widescreen</PresentationFormat>
  <Paragraphs>74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Google Sans</vt:lpstr>
      <vt:lpstr>Office Theme</vt:lpstr>
      <vt:lpstr>Quick Response Manufacturing (QRM)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10</cp:revision>
  <dcterms:created xsi:type="dcterms:W3CDTF">2024-12-05T16:59:01Z</dcterms:created>
  <dcterms:modified xsi:type="dcterms:W3CDTF">2024-12-05T17:24:49Z</dcterms:modified>
</cp:coreProperties>
</file>