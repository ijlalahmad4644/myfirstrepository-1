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2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4630400" cy="8229600"/>
  <p:notesSz cx="8229600" cy="14630400"/>
  <p:embeddedFontLst>
    <p:embeddedFont>
      <p:font typeface="Fraunces Extra Bold" panose="020B0604020202020204" charset="0"/>
      <p:regular r:id="rId16"/>
    </p:embeddedFont>
    <p:embeddedFont>
      <p:font typeface="Nobile" panose="020B0604020202020204" charset="0"/>
      <p:regular r:id="rId17"/>
    </p:embeddedFont>
    <p:embeddedFont>
      <p:font typeface="Tw Cen MT" panose="020B0602020104020603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61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6480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39CF6-A351-2E85-C1E8-2CFAA326E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081985-85A5-04E4-72A4-1D0D0A0DCC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7F2BEF-5A58-B8C7-E4FD-D8B497708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60FE6-61A7-0472-3546-5C27292B18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035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01215" y="1560942"/>
            <a:ext cx="10427971" cy="3011056"/>
          </a:xfrm>
        </p:spPr>
        <p:txBody>
          <a:bodyPr anchor="b">
            <a:normAutofit/>
          </a:bodyPr>
          <a:lstStyle>
            <a:lvl1pPr algn="ctr">
              <a:defRPr sz="5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01215" y="4663441"/>
            <a:ext cx="10427971" cy="1645919"/>
          </a:xfrm>
        </p:spPr>
        <p:txBody>
          <a:bodyPr>
            <a:normAutofit/>
          </a:bodyPr>
          <a:lstStyle>
            <a:lvl1pPr marL="0" indent="0" algn="ctr">
              <a:buNone/>
              <a:defRPr sz="2640">
                <a:solidFill>
                  <a:schemeClr val="bg1">
                    <a:lumMod val="50000"/>
                  </a:schemeClr>
                </a:solidFill>
              </a:defRPr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68453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1096529" y="2840511"/>
            <a:ext cx="12436591" cy="41089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97963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29" y="994276"/>
            <a:ext cx="12422102" cy="3284183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529" y="4388949"/>
            <a:ext cx="12422102" cy="164182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82448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096531" y="742221"/>
            <a:ext cx="12437341" cy="19154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1096529" y="2840511"/>
            <a:ext cx="6127231" cy="41089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7406640" y="2840511"/>
            <a:ext cx="6126480" cy="41089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85489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096531" y="742221"/>
            <a:ext cx="12437341" cy="19154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5594" y="2845222"/>
            <a:ext cx="5848169" cy="815993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312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1096530" y="3661215"/>
            <a:ext cx="6127232" cy="3288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75708" y="2845222"/>
            <a:ext cx="5858165" cy="815993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312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7406641" y="3661215"/>
            <a:ext cx="6126481" cy="3288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71006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58477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05410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30" y="731520"/>
            <a:ext cx="4722826" cy="2427902"/>
          </a:xfrm>
        </p:spPr>
        <p:txBody>
          <a:bodyPr anchor="b"/>
          <a:lstStyle>
            <a:lvl1pPr algn="ctr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6093675" y="731521"/>
            <a:ext cx="7440196" cy="62179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29" y="3159422"/>
            <a:ext cx="4722827" cy="3790018"/>
          </a:xfrm>
        </p:spPr>
        <p:txBody>
          <a:bodyPr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90744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29" y="731520"/>
            <a:ext cx="7121963" cy="2427905"/>
          </a:xfrm>
        </p:spPr>
        <p:txBody>
          <a:bodyPr anchor="b"/>
          <a:lstStyle>
            <a:lvl1pPr algn="ctr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909763" y="731521"/>
            <a:ext cx="3906430" cy="621792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53" y="3159423"/>
            <a:ext cx="7121939" cy="3790016"/>
          </a:xfrm>
        </p:spPr>
        <p:txBody>
          <a:bodyPr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28537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53" y="5147249"/>
            <a:ext cx="12437318" cy="973932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21693" y="837913"/>
            <a:ext cx="11787038" cy="3856963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29" y="6130474"/>
            <a:ext cx="12437342" cy="818966"/>
          </a:xfrm>
        </p:spPr>
        <p:txBody>
          <a:bodyPr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21111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29" y="731519"/>
            <a:ext cx="12437342" cy="4112694"/>
          </a:xfrm>
        </p:spPr>
        <p:txBody>
          <a:bodyPr anchor="ctr"/>
          <a:lstStyle>
            <a:lvl1pPr algn="ctr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30" y="5045785"/>
            <a:ext cx="12437342" cy="1903656"/>
          </a:xfrm>
        </p:spPr>
        <p:txBody>
          <a:bodyPr anchor="ctr"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77710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455" y="731520"/>
            <a:ext cx="11163302" cy="3591485"/>
          </a:xfrm>
        </p:spPr>
        <p:txBody>
          <a:bodyPr anchor="ctr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2064773" y="4332038"/>
            <a:ext cx="10502759" cy="713746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29" y="5247356"/>
            <a:ext cx="12437342" cy="170526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201786" y="904999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69070" y="359229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2772425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530" y="2566466"/>
            <a:ext cx="12437342" cy="3014202"/>
          </a:xfrm>
        </p:spPr>
        <p:txBody>
          <a:bodyPr anchor="b"/>
          <a:lstStyle>
            <a:lvl1pPr algn="ctr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530" y="5594802"/>
            <a:ext cx="12437342" cy="1368773"/>
          </a:xfrm>
        </p:spPr>
        <p:txBody>
          <a:bodyPr anchor="t"/>
          <a:lstStyle>
            <a:lvl1pPr marL="0" indent="0" algn="ctr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37476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096529" y="731520"/>
            <a:ext cx="12437342" cy="19261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096529" y="2840512"/>
            <a:ext cx="3958771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096529" y="3532027"/>
            <a:ext cx="3958771" cy="3417414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42868" y="2840512"/>
            <a:ext cx="3949825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5329618" y="3532027"/>
            <a:ext cx="3964021" cy="3417414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567957" y="2840512"/>
            <a:ext cx="3965914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9567957" y="3532027"/>
            <a:ext cx="3965914" cy="3417414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93087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096529" y="732927"/>
            <a:ext cx="12437342" cy="192470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096529" y="5045784"/>
            <a:ext cx="3955691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64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6529" y="2840512"/>
            <a:ext cx="3955691" cy="18288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096529" y="5737298"/>
            <a:ext cx="3955691" cy="1212142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31311" y="5045784"/>
            <a:ext cx="3962194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64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329618" y="2840512"/>
            <a:ext cx="3964022" cy="18288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5329618" y="5737297"/>
            <a:ext cx="3964022" cy="1212143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567958" y="5045784"/>
            <a:ext cx="3960817" cy="691514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64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9567957" y="2840512"/>
            <a:ext cx="3965914" cy="18288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9567808" y="5737294"/>
            <a:ext cx="3966064" cy="1212145"/>
          </a:xfrm>
        </p:spPr>
        <p:txBody>
          <a:bodyPr anchor="t"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86538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1096530" y="2840512"/>
            <a:ext cx="12437342" cy="4108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82396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731522"/>
            <a:ext cx="3063991" cy="621791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1096530" y="731522"/>
            <a:ext cx="9190469" cy="621791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588676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06205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88213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05324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70439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53239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36966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34914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46202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18787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63798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54273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5504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31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4630404" cy="822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6531" y="742221"/>
            <a:ext cx="12437341" cy="1915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530" y="2840512"/>
            <a:ext cx="12437342" cy="4108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14484" y="705993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6530" y="7059931"/>
            <a:ext cx="8007464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616814" y="7059931"/>
            <a:ext cx="917058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811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  <p:sldLayoutId id="2147483691" r:id="rId29"/>
  </p:sldLayoutIdLst>
  <p:hf sldNum="0" hdr="0" ftr="0" dt="0"/>
  <p:txStyles>
    <p:titleStyle>
      <a:lvl1pPr algn="ctr" defTabSz="1097280" rtl="0" eaLnBrk="1" latinLnBrk="0" hangingPunct="1">
        <a:lnSpc>
          <a:spcPct val="90000"/>
        </a:lnSpc>
        <a:spcBef>
          <a:spcPct val="0"/>
        </a:spcBef>
        <a:buNone/>
        <a:defRPr sz="432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120000"/>
        </a:lnSpc>
        <a:spcBef>
          <a:spcPts val="1200"/>
        </a:spcBef>
        <a:buClr>
          <a:schemeClr val="tx1"/>
        </a:buClr>
        <a:buFont typeface="Arial" panose="020B0604020202020204" pitchFamily="34" charset="0"/>
        <a:buChar char="•"/>
        <a:defRPr sz="2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216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92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sz="168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31820" y="1019709"/>
            <a:ext cx="8583550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Just-In-Time (JIT) Manufacturing and Production.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5803170" y="3146046"/>
            <a:ext cx="8373979" cy="2727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2800" b="1" dirty="0"/>
          </a:p>
          <a:p>
            <a:pPr marL="0" indent="0">
              <a:lnSpc>
                <a:spcPts val="2850"/>
              </a:lnSpc>
              <a:buNone/>
            </a:pPr>
            <a:r>
              <a:rPr lang="en-US" sz="2800" b="1" dirty="0"/>
              <a:t>Presented by : </a:t>
            </a:r>
          </a:p>
          <a:p>
            <a:pPr marL="0" indent="0">
              <a:lnSpc>
                <a:spcPts val="2850"/>
              </a:lnSpc>
              <a:buNone/>
            </a:pPr>
            <a:endParaRPr lang="en-US" sz="17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/>
              <a:t>          M</a:t>
            </a:r>
            <a:r>
              <a:rPr lang="en-US" sz="1750" dirty="0"/>
              <a:t> </a:t>
            </a:r>
            <a:r>
              <a:rPr lang="en-US" sz="2800" dirty="0"/>
              <a:t>Afnan Khan</a:t>
            </a:r>
            <a:r>
              <a:rPr lang="en-US" sz="1750" dirty="0"/>
              <a:t>                         </a:t>
            </a:r>
            <a:r>
              <a:rPr lang="en-US" sz="2800" dirty="0"/>
              <a:t>Ubaid Malik</a:t>
            </a:r>
            <a:endParaRPr lang="en-US" sz="17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750" dirty="0"/>
              <a:t>                                        </a:t>
            </a:r>
            <a:r>
              <a:rPr lang="en-US" sz="2800" dirty="0"/>
              <a:t>Zile Hasnain</a:t>
            </a:r>
            <a:r>
              <a:rPr lang="en-US" sz="1750" dirty="0"/>
              <a:t>                             </a:t>
            </a:r>
            <a:r>
              <a:rPr lang="en-US" sz="2800" dirty="0"/>
              <a:t>Abdul Razzaq</a:t>
            </a:r>
            <a:endParaRPr lang="en-US" sz="24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0A21FC70-F779-3E20-7052-B662D36A3B9C}"/>
              </a:ext>
            </a:extLst>
          </p:cNvPr>
          <p:cNvSpPr/>
          <p:nvPr/>
        </p:nvSpPr>
        <p:spPr>
          <a:xfrm>
            <a:off x="5955570" y="6219446"/>
            <a:ext cx="8373979" cy="2727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2800" b="1" dirty="0"/>
          </a:p>
          <a:p>
            <a:pPr marL="0" indent="0">
              <a:lnSpc>
                <a:spcPts val="2850"/>
              </a:lnSpc>
              <a:buNone/>
            </a:pPr>
            <a:r>
              <a:rPr lang="en-US" sz="2800" b="1" dirty="0"/>
              <a:t>Published by : </a:t>
            </a:r>
          </a:p>
          <a:p>
            <a:pPr>
              <a:lnSpc>
                <a:spcPts val="2850"/>
              </a:lnSpc>
            </a:pPr>
            <a:r>
              <a:rPr lang="en-US" sz="2800" b="0" i="0" dirty="0">
                <a:solidFill>
                  <a:srgbClr val="101423"/>
                </a:solidFill>
                <a:effectLst/>
                <a:latin typeface="Inter"/>
              </a:rPr>
              <a:t>						by William Malsam. | Feb 9, 2023</a:t>
            </a:r>
            <a:endParaRPr lang="en-US" sz="2800" dirty="0"/>
          </a:p>
          <a:p>
            <a:pPr marL="0" indent="0">
              <a:lnSpc>
                <a:spcPts val="2850"/>
              </a:lnSpc>
              <a:buNone/>
            </a:pPr>
            <a:endParaRPr lang="en-US" sz="2800" b="1" dirty="0"/>
          </a:p>
          <a:p>
            <a:pPr marL="0" indent="0">
              <a:lnSpc>
                <a:spcPts val="2850"/>
              </a:lnSpc>
              <a:buNone/>
            </a:pPr>
            <a:r>
              <a:rPr lang="en-US" sz="1750" dirty="0"/>
              <a:t>                               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9074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What is JIT?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394841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64049" y="5479852"/>
            <a:ext cx="16978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53948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Concept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5885259"/>
            <a:ext cx="345924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Producing items only when needed, like a chef cooking after you order.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5394841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360908" y="5479852"/>
            <a:ext cx="22240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954078" y="53948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Definition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954078" y="5885259"/>
            <a:ext cx="345924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Ordering items only when needed to reduce waste and save time.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9640133" y="5394841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792533" y="5479852"/>
            <a:ext cx="205502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0377249" y="53948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Key Goal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377249" y="5885259"/>
            <a:ext cx="345924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Focus on priorities, increase efficiency, and avoid unnecessary costs.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60151"/>
            <a:ext cx="605075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How Does JIT Work?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6663035" y="2084427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9153128-58B7-38B1-DAB7-102F518605D3}"/>
              </a:ext>
            </a:extLst>
          </p:cNvPr>
          <p:cNvSpPr/>
          <p:nvPr/>
        </p:nvSpPr>
        <p:spPr>
          <a:xfrm>
            <a:off x="1373861" y="34974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Key Ideas</a:t>
            </a:r>
            <a:endParaRPr lang="en-US" sz="22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E9EE0F2F-0ACF-FE57-6D71-F2A56A9FCDDF}"/>
              </a:ext>
            </a:extLst>
          </p:cNvPr>
          <p:cNvSpPr/>
          <p:nvPr/>
        </p:nvSpPr>
        <p:spPr>
          <a:xfrm>
            <a:off x="1373861" y="396311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Pull System: Work starts only when there's demand.</a:t>
            </a:r>
            <a:endParaRPr lang="en-US" sz="175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71F3216D-8F19-32B0-91E7-01AD3ADF3CDE}"/>
              </a:ext>
            </a:extLst>
          </p:cNvPr>
          <p:cNvSpPr/>
          <p:nvPr/>
        </p:nvSpPr>
        <p:spPr>
          <a:xfrm>
            <a:off x="1373861" y="445127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Kanban Cards: Simple tools to track production and requirements.</a:t>
            </a:r>
            <a:endParaRPr lang="en-US" sz="175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14A946E1-0305-2D05-2940-7ED0DD4B991C}"/>
              </a:ext>
            </a:extLst>
          </p:cNvPr>
          <p:cNvSpPr/>
          <p:nvPr/>
        </p:nvSpPr>
        <p:spPr>
          <a:xfrm>
            <a:off x="1373861" y="523327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Smooth Process: Ensures no delays between steps, like a seamless assembly line.</a:t>
            </a:r>
            <a:endParaRPr lang="en-US" sz="1750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421C92AD-601B-DC57-F0D3-B3D6567D6543}"/>
              </a:ext>
            </a:extLst>
          </p:cNvPr>
          <p:cNvSpPr/>
          <p:nvPr/>
        </p:nvSpPr>
        <p:spPr>
          <a:xfrm>
            <a:off x="7941051" y="35221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Example: Toyota</a:t>
            </a:r>
            <a:endParaRPr lang="en-US" sz="2200" dirty="0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247FFC36-AA60-6247-D6BC-17E09FE717B1}"/>
              </a:ext>
            </a:extLst>
          </p:cNvPr>
          <p:cNvSpPr/>
          <p:nvPr/>
        </p:nvSpPr>
        <p:spPr>
          <a:xfrm>
            <a:off x="8112501" y="4148436"/>
            <a:ext cx="6244709" cy="216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Cars are made based on orders (Pull System).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Minimal stock is kept, and parts are delivered as needed (Low Inventory).</a:t>
            </a:r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Suppliers ensure timely delivery (Supplier Connection).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8977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Implementing a JIT System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847499"/>
            <a:ext cx="3664863" cy="2032754"/>
          </a:xfrm>
          <a:prstGeom prst="roundRect">
            <a:avLst>
              <a:gd name="adj" fmla="val 10043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020604" y="30743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Start Small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3564731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 basic tools to monitor activities, coordinate with suppliers.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2847499"/>
            <a:ext cx="3664863" cy="2032754"/>
          </a:xfrm>
          <a:prstGeom prst="roundRect">
            <a:avLst>
              <a:gd name="adj" fmla="val 10043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912281" y="30743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Focus on Quality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2281" y="3564731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Train teams to minimize errors and prevent waste.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107067"/>
            <a:ext cx="3664863" cy="2032754"/>
          </a:xfrm>
          <a:prstGeom prst="roundRect">
            <a:avLst>
              <a:gd name="adj" fmla="val 10043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20604" y="53338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Use Technology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0604" y="5824299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Automate inventory tracking and restocking processes.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4685467" y="5107067"/>
            <a:ext cx="3664863" cy="2032754"/>
          </a:xfrm>
          <a:prstGeom prst="roundRect">
            <a:avLst>
              <a:gd name="adj" fmla="val 10043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912281" y="53338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Change the Mindset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912281" y="5824299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Embrace JIT as a smart, flexible way of working, not just a process.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2711" y="722352"/>
            <a:ext cx="7162681" cy="654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Key Considerations for JIT</a:t>
            </a:r>
            <a:endParaRPr lang="en-US" sz="41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711" y="1690568"/>
            <a:ext cx="523399" cy="52339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2711" y="2423279"/>
            <a:ext cx="2616994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Demand Forecasts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732711" y="2875955"/>
            <a:ext cx="7678579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Accurately predict product demand.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711" y="3838813"/>
            <a:ext cx="523399" cy="52339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2711" y="4571524"/>
            <a:ext cx="2616994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Capacity Planning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732711" y="5024199"/>
            <a:ext cx="7678579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Ensure production capacity aligns with product demand.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711" y="5987058"/>
            <a:ext cx="523399" cy="52339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2711" y="6719768"/>
            <a:ext cx="3550206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Supply Chain Management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732711" y="7172444"/>
            <a:ext cx="7678579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Build strong supplier relationships for timely material delivery.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29743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History of JIT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1118711" y="3346371"/>
            <a:ext cx="30480" cy="2585680"/>
          </a:xfrm>
          <a:prstGeom prst="roundRect">
            <a:avLst>
              <a:gd name="adj" fmla="val 669768"/>
            </a:avLst>
          </a:prstGeom>
          <a:solidFill>
            <a:srgbClr val="CED9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358622" y="3841433"/>
            <a:ext cx="793790" cy="30480"/>
          </a:xfrm>
          <a:prstGeom prst="roundRect">
            <a:avLst>
              <a:gd name="adj" fmla="val 669768"/>
            </a:avLst>
          </a:prstGeom>
          <a:solidFill>
            <a:srgbClr val="CED9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78800" y="3601522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49060" y="3686532"/>
            <a:ext cx="16978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2381488" y="3573185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Originated in post-WWII Japan due to limited financial resources.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1358622" y="5247680"/>
            <a:ext cx="793790" cy="30480"/>
          </a:xfrm>
          <a:prstGeom prst="roundRect">
            <a:avLst>
              <a:gd name="adj" fmla="val 669768"/>
            </a:avLst>
          </a:prstGeom>
          <a:solidFill>
            <a:srgbClr val="CED9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78800" y="5007769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22747" y="5092779"/>
            <a:ext cx="22240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9"/>
          <p:cNvSpPr/>
          <p:nvPr/>
        </p:nvSpPr>
        <p:spPr>
          <a:xfrm>
            <a:off x="2381488" y="4979432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Relied on small factories and small-batch production to minimize financial risk and gradually grow capital.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62701"/>
            <a:ext cx="790884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JIT vs. Lean  Manufacturing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384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JIT Manufacturing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41960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Narrow focus on aligning raw material needs with production schedules.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22470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Optimizes inventory and production timing.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838456"/>
            <a:ext cx="29392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Lean Manufacturing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441960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Broader scope targeting overall efficiency.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486179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Includes continuous improvement, waste reduction, and process optimization.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916" y="816531"/>
            <a:ext cx="7262813" cy="590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Benefits of JIT Manufacturing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9226" y="1784390"/>
            <a:ext cx="1317546" cy="10879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8943" y="2274332"/>
            <a:ext cx="117872" cy="377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835604" y="2180868"/>
            <a:ext cx="3481864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Increases Production Output</a:t>
            </a:r>
            <a:endParaRPr lang="en-US" sz="1850" dirty="0"/>
          </a:p>
        </p:txBody>
      </p:sp>
      <p:sp>
        <p:nvSpPr>
          <p:cNvPr id="6" name="Shape 3"/>
          <p:cNvSpPr/>
          <p:nvPr/>
        </p:nvSpPr>
        <p:spPr>
          <a:xfrm>
            <a:off x="4693920" y="2886432"/>
            <a:ext cx="9228415" cy="11430"/>
          </a:xfrm>
          <a:prstGeom prst="roundRect">
            <a:avLst>
              <a:gd name="adj" fmla="val 1487136"/>
            </a:avLst>
          </a:prstGeom>
          <a:solidFill>
            <a:srgbClr val="CED9C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0453" y="2919532"/>
            <a:ext cx="2635091" cy="10879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10846" y="3274695"/>
            <a:ext cx="154305" cy="377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5494377" y="3108365"/>
            <a:ext cx="2964894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Reduces Inventory Costs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5494377" y="3516630"/>
            <a:ext cx="4707136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Minimizes unused inventory, frees up storage space.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5352693" y="4021574"/>
            <a:ext cx="8569643" cy="11430"/>
          </a:xfrm>
          <a:prstGeom prst="roundRect">
            <a:avLst>
              <a:gd name="adj" fmla="val 1487136"/>
            </a:avLst>
          </a:prstGeom>
          <a:solidFill>
            <a:srgbClr val="CED9C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0" y="4054673"/>
            <a:ext cx="3952637" cy="108799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916680" y="4409837"/>
            <a:ext cx="142637" cy="377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3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6153150" y="4243507"/>
            <a:ext cx="2360771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Lowers Labor Costs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6153150" y="4651772"/>
            <a:ext cx="5252680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Decreases crew downtime, enhances workforce efficiency.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011466" y="5156716"/>
            <a:ext cx="7910870" cy="11430"/>
          </a:xfrm>
          <a:prstGeom prst="roundRect">
            <a:avLst>
              <a:gd name="adj" fmla="val 1487136"/>
            </a:avLst>
          </a:prstGeom>
          <a:solidFill>
            <a:srgbClr val="CED9C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2907" y="5189815"/>
            <a:ext cx="5270182" cy="108799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907750" y="5544979"/>
            <a:ext cx="160377" cy="377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4</a:t>
            </a:r>
            <a:endParaRPr lang="en-US" sz="1850" dirty="0"/>
          </a:p>
        </p:txBody>
      </p:sp>
      <p:sp>
        <p:nvSpPr>
          <p:cNvPr id="19" name="Text 13"/>
          <p:cNvSpPr/>
          <p:nvPr/>
        </p:nvSpPr>
        <p:spPr>
          <a:xfrm>
            <a:off x="6811923" y="5378648"/>
            <a:ext cx="3285292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Optimizes Space Utilization</a:t>
            </a:r>
            <a:endParaRPr lang="en-US" sz="1850" dirty="0"/>
          </a:p>
        </p:txBody>
      </p:sp>
      <p:sp>
        <p:nvSpPr>
          <p:cNvPr id="20" name="Text 14"/>
          <p:cNvSpPr/>
          <p:nvPr/>
        </p:nvSpPr>
        <p:spPr>
          <a:xfrm>
            <a:off x="6811923" y="5786914"/>
            <a:ext cx="6065520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Maximizes production space usage, saves costs on rent or facilities.</a:t>
            </a:r>
            <a:endParaRPr lang="en-US" sz="1450" dirty="0"/>
          </a:p>
        </p:txBody>
      </p:sp>
      <p:sp>
        <p:nvSpPr>
          <p:cNvPr id="21" name="Shape 15"/>
          <p:cNvSpPr/>
          <p:nvPr/>
        </p:nvSpPr>
        <p:spPr>
          <a:xfrm>
            <a:off x="6670238" y="6291858"/>
            <a:ext cx="7252097" cy="11430"/>
          </a:xfrm>
          <a:prstGeom prst="roundRect">
            <a:avLst>
              <a:gd name="adj" fmla="val 1487136"/>
            </a:avLst>
          </a:prstGeom>
          <a:solidFill>
            <a:srgbClr val="CED9C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134" y="6324957"/>
            <a:ext cx="6587728" cy="108799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914775" y="6680121"/>
            <a:ext cx="146447" cy="377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5</a:t>
            </a:r>
            <a:endParaRPr lang="en-US" sz="1850" dirty="0"/>
          </a:p>
        </p:txBody>
      </p:sp>
      <p:sp>
        <p:nvSpPr>
          <p:cNvPr id="24" name="Text 17"/>
          <p:cNvSpPr/>
          <p:nvPr/>
        </p:nvSpPr>
        <p:spPr>
          <a:xfrm>
            <a:off x="7470696" y="6513790"/>
            <a:ext cx="3878461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Reduces Work-in-Process (WIP)</a:t>
            </a:r>
            <a:endParaRPr lang="en-US" sz="1850" dirty="0"/>
          </a:p>
        </p:txBody>
      </p:sp>
      <p:sp>
        <p:nvSpPr>
          <p:cNvPr id="25" name="Text 18"/>
          <p:cNvSpPr/>
          <p:nvPr/>
        </p:nvSpPr>
        <p:spPr>
          <a:xfrm>
            <a:off x="7470696" y="6922056"/>
            <a:ext cx="5257919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Adds value for the customer, eliminates production waste.</a:t>
            </a:r>
            <a:endParaRPr lang="en-US" sz="1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8" grpId="0" animBg="1"/>
      <p:bldP spid="9" grpId="0" animBg="1"/>
      <p:bldP spid="10" grpId="0" animBg="1"/>
      <p:bldP spid="13" grpId="0" animBg="1"/>
      <p:bldP spid="14" grpId="0" animBg="1"/>
      <p:bldP spid="15" grpId="0" animBg="1"/>
      <p:bldP spid="18" grpId="0" animBg="1"/>
      <p:bldP spid="19" grpId="0" animBg="1"/>
      <p:bldP spid="20" grpId="0" animBg="1"/>
      <p:bldP spid="23" grpId="0" animBg="1"/>
      <p:bldP spid="24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46359"/>
            <a:ext cx="1053250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Disadvantages of JIT Manufacturing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08766"/>
            <a:ext cx="2173724" cy="807958"/>
          </a:xfrm>
          <a:prstGeom prst="roundRect">
            <a:avLst>
              <a:gd name="adj" fmla="val 25267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20604" y="2685931"/>
            <a:ext cx="141446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194328" y="2735580"/>
            <a:ext cx="44286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Relies on Accurate Forecasting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080861" y="3301484"/>
            <a:ext cx="10642402" cy="15240"/>
          </a:xfrm>
          <a:prstGeom prst="roundRect">
            <a:avLst>
              <a:gd name="adj" fmla="val 1339536"/>
            </a:avLst>
          </a:prstGeom>
          <a:solidFill>
            <a:srgbClr val="CED9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93790" y="3430072"/>
            <a:ext cx="4347567" cy="1669852"/>
          </a:xfrm>
          <a:prstGeom prst="roundRect">
            <a:avLst>
              <a:gd name="adj" fmla="val 12225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20604" y="4038243"/>
            <a:ext cx="18526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68171" y="3656886"/>
            <a:ext cx="30705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Supplier Dependency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68171" y="4147304"/>
            <a:ext cx="824162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Production depends heavily on reliable suppliers, no buffer stock for supplier delays.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5254704" y="5084683"/>
            <a:ext cx="8468558" cy="15240"/>
          </a:xfrm>
          <a:prstGeom prst="roundRect">
            <a:avLst>
              <a:gd name="adj" fmla="val 1339536"/>
            </a:avLst>
          </a:prstGeom>
          <a:solidFill>
            <a:srgbClr val="CED9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93790" y="5213271"/>
            <a:ext cx="6521410" cy="1669852"/>
          </a:xfrm>
          <a:prstGeom prst="roundRect">
            <a:avLst>
              <a:gd name="adj" fmla="val 12225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0604" y="5821442"/>
            <a:ext cx="171212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542014" y="5440085"/>
            <a:ext cx="35692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High Risk of Disruptions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542014" y="5930503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Demand fluctuations or supply chain issues can stop production.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8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4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8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4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15139"/>
            <a:ext cx="662511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Kanban Card Template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4877395"/>
            <a:ext cx="13042821" cy="30480"/>
          </a:xfrm>
          <a:prstGeom prst="roundRect">
            <a:avLst>
              <a:gd name="adj" fmla="val 669768"/>
            </a:avLst>
          </a:prstGeom>
          <a:solidFill>
            <a:srgbClr val="CED9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982522" y="4083606"/>
            <a:ext cx="30480" cy="793790"/>
          </a:xfrm>
          <a:prstGeom prst="roundRect">
            <a:avLst>
              <a:gd name="adj" fmla="val 669768"/>
            </a:avLst>
          </a:prstGeom>
          <a:solidFill>
            <a:srgbClr val="CED9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742611" y="4622244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912870" y="4707255"/>
            <a:ext cx="16978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2580084" y="26404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Purpose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0604" y="3130868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Kanban card template facilitates efficient inventory management within a JIT system.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299841" y="4877395"/>
            <a:ext cx="30480" cy="793790"/>
          </a:xfrm>
          <a:prstGeom prst="roundRect">
            <a:avLst>
              <a:gd name="adj" fmla="val 669768"/>
            </a:avLst>
          </a:prstGeom>
          <a:solidFill>
            <a:srgbClr val="CED9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059930" y="4622244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203877" y="4707255"/>
            <a:ext cx="22240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5897523" y="58981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Process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337923" y="6388537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It helps to order inventory only when needed, reducing unnecessary stock and associated costs.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10617279" y="4083606"/>
            <a:ext cx="30480" cy="793790"/>
          </a:xfrm>
          <a:prstGeom prst="roundRect">
            <a:avLst>
              <a:gd name="adj" fmla="val 669768"/>
            </a:avLst>
          </a:prstGeom>
          <a:solidFill>
            <a:srgbClr val="CED9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377368" y="4622244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529768" y="4707255"/>
            <a:ext cx="205502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3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9214961" y="22775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Benefit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655362" y="2767965"/>
            <a:ext cx="59544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By optimizing warehouse space and reducing production costs, the Kanban card template streamlines operations and enhances profitability.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6103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Best Practices for Just-In-Time (JIT) Manufacturing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7728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Build Trust with Suppliers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Develop strong, reliable supplier relationships to ensure precise inventory turnover.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51948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Establish Strong Communication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Strengthen internal communication channels across all departments. Use centralized systems to share customer orders with relevant teams.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32458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Work in Small Lots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Produce smaller quantities to enhance quality and reduce costs. Use a "just enough" inventory approach to align production with demand and minimize waste.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12968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Build Efficient Workflows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Optimize workflows using tools like work management software. Reduce setup and changeover times for smoother production. Plan facility layouts to improve production flow management.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934789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5"/>
            </a:pP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Implement Backward Scheduling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Schedule production to align precisely with customer delivery timelines. Use a pull system to produce based on demand only. Plan raw material orders and production down to the minute for a lean process.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645813"/>
            <a:ext cx="1002422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How ProjectManager Supports JIT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08101"/>
            <a:ext cx="4120753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436489" y="58398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Kanban Boards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330315"/>
            <a:ext cx="41207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Visual task management with custom workflows and approvals.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54704" y="4808101"/>
            <a:ext cx="4120872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459254" y="5839897"/>
            <a:ext cx="37116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Seamless Communication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54704" y="6330315"/>
            <a:ext cx="412087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 real-time data for better decision-making and smooth production.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715738" y="4808101"/>
            <a:ext cx="4120753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3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9976247" y="5839897"/>
            <a:ext cx="35997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Quick Report Generation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715738" y="6330315"/>
            <a:ext cx="41207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Create reports on task progress, workload, and timesheets with one click.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4D9539-CE5F-7855-D5B3-000711C28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2">
            <a:extLst>
              <a:ext uri="{FF2B5EF4-FFF2-40B4-BE49-F238E27FC236}">
                <a16:creationId xmlns:a16="http://schemas.microsoft.com/office/drawing/2014/main" id="{0C625AC3-22F8-400B-B551-764979C92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4630403" cy="822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D65CC16C-9244-40EE-9E86-D28584302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58CA3263-84A3-464A-8D0C-41F2F436E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14D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 question mark and a person standing next to each other&#10;&#10;Description automatically generated">
            <a:extLst>
              <a:ext uri="{FF2B5EF4-FFF2-40B4-BE49-F238E27FC236}">
                <a16:creationId xmlns:a16="http://schemas.microsoft.com/office/drawing/2014/main" id="{6A8CBEFD-EEA3-9398-1FF0-5820C9F5C37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000"/>
          <a:stretch/>
        </p:blipFill>
        <p:spPr>
          <a:xfrm>
            <a:off x="20" y="-1"/>
            <a:ext cx="14630380" cy="8229599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6CF9BBE8-8459-456C-9BBD-DF5C2AB4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991721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81</TotalTime>
  <Words>707</Words>
  <Application>Microsoft Office PowerPoint</Application>
  <PresentationFormat>Custom</PresentationFormat>
  <Paragraphs>121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Fraunces Extra Bold</vt:lpstr>
      <vt:lpstr>Tw Cen MT</vt:lpstr>
      <vt:lpstr>Arial</vt:lpstr>
      <vt:lpstr>Nobile</vt:lpstr>
      <vt:lpstr>Aptos</vt:lpstr>
      <vt:lpstr>Inter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4</cp:revision>
  <dcterms:created xsi:type="dcterms:W3CDTF">2024-11-24T16:26:56Z</dcterms:created>
  <dcterms:modified xsi:type="dcterms:W3CDTF">2024-12-07T12:49:40Z</dcterms:modified>
</cp:coreProperties>
</file>