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Libre Baskerville"/>
      <p:regular r:id="rId16"/>
    </p:embeddedFont>
    <p:embeddedFont>
      <p:font typeface="Libre Baskerville"/>
      <p:regular r:id="rId17"/>
    </p:embeddedFont>
    <p:embeddedFont>
      <p:font typeface="Libre Baskerville"/>
      <p:regular r:id="rId18"/>
    </p:embeddedFont>
    <p:embeddedFont>
      <p:font typeface="Libre Baskerville"/>
      <p:regular r:id="rId19"/>
    </p:embeddedFont>
    <p:embeddedFont>
      <p:font typeface="DM Sans"/>
      <p:regular r:id="rId20"/>
    </p:embeddedFont>
    <p:embeddedFont>
      <p:font typeface="DM Sans"/>
      <p:regular r:id="rId21"/>
    </p:embeddedFont>
    <p:embeddedFont>
      <p:font typeface="DM Sans"/>
      <p:regular r:id="rId22"/>
    </p:embeddedFont>
    <p:embeddedFont>
      <p:font typeface="DM Sans"/>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790825"/>
            <a:ext cx="5670590" cy="708779"/>
          </a:xfrm>
          <a:prstGeom prst="rect">
            <a:avLst/>
          </a:prstGeom>
          <a:noFill/>
          <a:ln/>
        </p:spPr>
        <p:txBody>
          <a:bodyPr wrap="none" lIns="0" tIns="0" rIns="0" bIns="0" rtlCol="0" anchor="t"/>
          <a:lstStyle/>
          <a:p>
            <a:pPr indent="0" marL="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Concept of Quality</a:t>
            </a:r>
            <a:endParaRPr lang="en-US" sz="4450" dirty="0"/>
          </a:p>
        </p:txBody>
      </p:sp>
      <p:sp>
        <p:nvSpPr>
          <p:cNvPr id="4" name="Text 1"/>
          <p:cNvSpPr/>
          <p:nvPr/>
        </p:nvSpPr>
        <p:spPr>
          <a:xfrm>
            <a:off x="793790" y="3839766"/>
            <a:ext cx="7556421" cy="362903"/>
          </a:xfrm>
          <a:prstGeom prst="rect">
            <a:avLst/>
          </a:prstGeom>
          <a:noFill/>
          <a:ln/>
        </p:spPr>
        <p:txBody>
          <a:bodyPr wrap="none" lIns="0" tIns="0" rIns="0" bIns="0" rtlCol="0" anchor="t"/>
          <a:lstStyle/>
          <a:p>
            <a:pPr indent="0" marL="0">
              <a:lnSpc>
                <a:spcPts val="2850"/>
              </a:lnSpc>
              <a:buNone/>
            </a:pPr>
            <a:r>
              <a:rPr lang="en-US" sz="1750" b="1" dirty="0">
                <a:solidFill>
                  <a:srgbClr val="454240"/>
                </a:solidFill>
                <a:latin typeface="DM Sans" pitchFamily="34" charset="0"/>
                <a:ea typeface="DM Sans" pitchFamily="34" charset="-122"/>
                <a:cs typeface="DM Sans" pitchFamily="34" charset="-120"/>
              </a:rPr>
              <a:t>Group Members:</a:t>
            </a:r>
            <a:endParaRPr lang="en-US" sz="1750" dirty="0"/>
          </a:p>
        </p:txBody>
      </p:sp>
      <p:sp>
        <p:nvSpPr>
          <p:cNvPr id="5" name="Text 2"/>
          <p:cNvSpPr/>
          <p:nvPr/>
        </p:nvSpPr>
        <p:spPr>
          <a:xfrm>
            <a:off x="793790" y="4457819"/>
            <a:ext cx="7556421" cy="362903"/>
          </a:xfrm>
          <a:prstGeom prst="rect">
            <a:avLst/>
          </a:prstGeom>
          <a:noFill/>
          <a:ln/>
        </p:spPr>
        <p:txBody>
          <a:bodyPr wrap="none" lIns="0" tIns="0" rIns="0" bIns="0" rtlCol="0" anchor="t"/>
          <a:lstStyle/>
          <a:p>
            <a:pPr indent="0" marL="0">
              <a:lnSpc>
                <a:spcPts val="2850"/>
              </a:lnSpc>
              <a:buNone/>
            </a:pPr>
            <a:r>
              <a:rPr lang="en-US" sz="1750" dirty="0">
                <a:solidFill>
                  <a:srgbClr val="454240"/>
                </a:solidFill>
                <a:latin typeface="DM Sans" pitchFamily="34" charset="0"/>
                <a:ea typeface="DM Sans" pitchFamily="34" charset="-122"/>
                <a:cs typeface="DM Sans" pitchFamily="34" charset="-120"/>
              </a:rPr>
              <a:t>Muhammad Usman Qureshi</a:t>
            </a:r>
            <a:endParaRPr lang="en-US" sz="1750" dirty="0"/>
          </a:p>
        </p:txBody>
      </p:sp>
      <p:sp>
        <p:nvSpPr>
          <p:cNvPr id="6" name="Text 3"/>
          <p:cNvSpPr/>
          <p:nvPr/>
        </p:nvSpPr>
        <p:spPr>
          <a:xfrm>
            <a:off x="793790" y="5075873"/>
            <a:ext cx="7556421" cy="362903"/>
          </a:xfrm>
          <a:prstGeom prst="rect">
            <a:avLst/>
          </a:prstGeom>
          <a:noFill/>
          <a:ln/>
        </p:spPr>
        <p:txBody>
          <a:bodyPr wrap="none" lIns="0" tIns="0" rIns="0" bIns="0" rtlCol="0" anchor="t"/>
          <a:lstStyle/>
          <a:p>
            <a:pPr indent="0" marL="0">
              <a:lnSpc>
                <a:spcPts val="2850"/>
              </a:lnSpc>
              <a:buNone/>
            </a:pPr>
            <a:r>
              <a:rPr lang="en-US" sz="1750" dirty="0">
                <a:solidFill>
                  <a:srgbClr val="454240"/>
                </a:solidFill>
                <a:latin typeface="DM Sans" pitchFamily="34" charset="0"/>
                <a:ea typeface="DM Sans" pitchFamily="34" charset="-122"/>
                <a:cs typeface="DM Sans" pitchFamily="34" charset="-120"/>
              </a:rPr>
              <a:t>Zainab Saeed</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755934"/>
            <a:ext cx="5670590" cy="708779"/>
          </a:xfrm>
          <a:prstGeom prst="rect">
            <a:avLst/>
          </a:prstGeom>
          <a:noFill/>
          <a:ln/>
        </p:spPr>
        <p:txBody>
          <a:bodyPr wrap="none" lIns="0" tIns="0" rIns="0" bIns="0" rtlCol="0" anchor="t"/>
          <a:lstStyle/>
          <a:p>
            <a:pPr indent="0" marL="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What is Quality?</a:t>
            </a:r>
            <a:endParaRPr lang="en-US" sz="4450" dirty="0"/>
          </a:p>
        </p:txBody>
      </p:sp>
      <p:sp>
        <p:nvSpPr>
          <p:cNvPr id="4" name="Text 1"/>
          <p:cNvSpPr/>
          <p:nvPr/>
        </p:nvSpPr>
        <p:spPr>
          <a:xfrm>
            <a:off x="793790" y="2804874"/>
            <a:ext cx="7556421" cy="725805"/>
          </a:xfrm>
          <a:prstGeom prst="rect">
            <a:avLst/>
          </a:prstGeom>
          <a:noFill/>
          <a:ln/>
        </p:spPr>
        <p:txBody>
          <a:bodyPr wrap="square" lIns="0" tIns="0" rIns="0" bIns="0" rtlCol="0" anchor="t"/>
          <a:lstStyle/>
          <a:p>
            <a:pPr indent="0" marL="0">
              <a:lnSpc>
                <a:spcPts val="2850"/>
              </a:lnSpc>
              <a:buNone/>
            </a:pPr>
            <a:r>
              <a:rPr lang="en-US" sz="1750" dirty="0">
                <a:solidFill>
                  <a:srgbClr val="454240"/>
                </a:solidFill>
                <a:latin typeface="DM Sans" pitchFamily="34" charset="0"/>
                <a:ea typeface="DM Sans" pitchFamily="34" charset="-122"/>
                <a:cs typeface="DM Sans" pitchFamily="34" charset="-120"/>
              </a:rPr>
              <a:t>Quality is how good or bad something is. It tells us if a product or service meets high standards.</a:t>
            </a:r>
            <a:endParaRPr lang="en-US" sz="1750" dirty="0"/>
          </a:p>
        </p:txBody>
      </p:sp>
      <p:sp>
        <p:nvSpPr>
          <p:cNvPr id="5" name="Text 2"/>
          <p:cNvSpPr/>
          <p:nvPr/>
        </p:nvSpPr>
        <p:spPr>
          <a:xfrm>
            <a:off x="793790" y="3785830"/>
            <a:ext cx="7556421" cy="725805"/>
          </a:xfrm>
          <a:prstGeom prst="rect">
            <a:avLst/>
          </a:prstGeom>
          <a:noFill/>
          <a:ln/>
        </p:spPr>
        <p:txBody>
          <a:bodyPr wrap="square" lIns="0" tIns="0" rIns="0" bIns="0" rtlCol="0" anchor="t"/>
          <a:lstStyle/>
          <a:p>
            <a:pPr indent="0" marL="0">
              <a:lnSpc>
                <a:spcPts val="2850"/>
              </a:lnSpc>
              <a:buNone/>
            </a:pPr>
            <a:r>
              <a:rPr lang="en-US" sz="1750" dirty="0">
                <a:solidFill>
                  <a:srgbClr val="454240"/>
                </a:solidFill>
                <a:latin typeface="DM Sans" pitchFamily="34" charset="0"/>
                <a:ea typeface="DM Sans" pitchFamily="34" charset="-122"/>
                <a:cs typeface="DM Sans" pitchFamily="34" charset="-120"/>
              </a:rPr>
              <a:t>Good quality means things work well and last long. It means customers get what they expect and feel happy with what they bought.</a:t>
            </a:r>
            <a:endParaRPr lang="en-US" sz="1750" dirty="0"/>
          </a:p>
        </p:txBody>
      </p:sp>
      <p:sp>
        <p:nvSpPr>
          <p:cNvPr id="6" name="Text 3"/>
          <p:cNvSpPr/>
          <p:nvPr/>
        </p:nvSpPr>
        <p:spPr>
          <a:xfrm>
            <a:off x="793790" y="4766786"/>
            <a:ext cx="7556421" cy="725805"/>
          </a:xfrm>
          <a:prstGeom prst="rect">
            <a:avLst/>
          </a:prstGeom>
          <a:noFill/>
          <a:ln/>
        </p:spPr>
        <p:txBody>
          <a:bodyPr wrap="square" lIns="0" tIns="0" rIns="0" bIns="0" rtlCol="0" anchor="t"/>
          <a:lstStyle/>
          <a:p>
            <a:pPr indent="0" marL="0">
              <a:lnSpc>
                <a:spcPts val="2850"/>
              </a:lnSpc>
              <a:buNone/>
            </a:pPr>
            <a:r>
              <a:rPr lang="en-US" sz="1750" dirty="0">
                <a:solidFill>
                  <a:srgbClr val="454240"/>
                </a:solidFill>
                <a:latin typeface="DM Sans" pitchFamily="34" charset="0"/>
                <a:ea typeface="DM Sans" pitchFamily="34" charset="-122"/>
                <a:cs typeface="DM Sans" pitchFamily="34" charset="-120"/>
              </a:rPr>
              <a:t>We can see quality in simple ways: Does the product break easily? Does it do its job well? Do people like using it?</a:t>
            </a:r>
            <a:endParaRPr lang="en-US" sz="1750" dirty="0"/>
          </a:p>
        </p:txBody>
      </p:sp>
      <p:sp>
        <p:nvSpPr>
          <p:cNvPr id="7" name="Text 4"/>
          <p:cNvSpPr/>
          <p:nvPr/>
        </p:nvSpPr>
        <p:spPr>
          <a:xfrm>
            <a:off x="793790" y="5747742"/>
            <a:ext cx="7556421" cy="725805"/>
          </a:xfrm>
          <a:prstGeom prst="rect">
            <a:avLst/>
          </a:prstGeom>
          <a:noFill/>
          <a:ln/>
        </p:spPr>
        <p:txBody>
          <a:bodyPr wrap="square" lIns="0" tIns="0" rIns="0" bIns="0" rtlCol="0" anchor="t"/>
          <a:lstStyle/>
          <a:p>
            <a:pPr indent="0" marL="0">
              <a:lnSpc>
                <a:spcPts val="2850"/>
              </a:lnSpc>
              <a:buNone/>
            </a:pPr>
            <a:r>
              <a:rPr lang="en-US" sz="1750" dirty="0">
                <a:solidFill>
                  <a:srgbClr val="454240"/>
                </a:solidFill>
                <a:latin typeface="DM Sans" pitchFamily="34" charset="0"/>
                <a:ea typeface="DM Sans" pitchFamily="34" charset="-122"/>
                <a:cs typeface="DM Sans" pitchFamily="34" charset="-120"/>
              </a:rPr>
              <a:t>For businesses, quality means doing things right from the start and keeping their promises to customers.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47405"/>
            <a:ext cx="6497598" cy="708779"/>
          </a:xfrm>
          <a:prstGeom prst="rect">
            <a:avLst/>
          </a:prstGeom>
          <a:noFill/>
          <a:ln/>
        </p:spPr>
        <p:txBody>
          <a:bodyPr wrap="none" lIns="0" tIns="0" rIns="0" bIns="0" rtlCol="0" anchor="t"/>
          <a:lstStyle/>
          <a:p>
            <a:pPr indent="0" marL="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Feature-Based Quality</a:t>
            </a:r>
            <a:endParaRPr lang="en-US" sz="4450" dirty="0"/>
          </a:p>
        </p:txBody>
      </p:sp>
      <p:pic>
        <p:nvPicPr>
          <p:cNvPr id="3" name="Image 0" descr="preencoded.png">    </p:cNvPr>
          <p:cNvPicPr>
            <a:picLocks noChangeAspect="1"/>
          </p:cNvPicPr>
          <p:nvPr/>
        </p:nvPicPr>
        <p:blipFill>
          <a:blip r:embed="rId1"/>
          <a:stretch>
            <a:fillRect/>
          </a:stretch>
        </p:blipFill>
        <p:spPr>
          <a:xfrm>
            <a:off x="793790" y="2309813"/>
            <a:ext cx="4120753" cy="2546747"/>
          </a:xfrm>
          <a:prstGeom prst="rect">
            <a:avLst/>
          </a:prstGeom>
        </p:spPr>
      </p:pic>
      <p:sp>
        <p:nvSpPr>
          <p:cNvPr id="4" name="Text 1"/>
          <p:cNvSpPr/>
          <p:nvPr/>
        </p:nvSpPr>
        <p:spPr>
          <a:xfrm>
            <a:off x="793790" y="514004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Features</a:t>
            </a:r>
            <a:endParaRPr lang="en-US" sz="2200" dirty="0"/>
          </a:p>
        </p:txBody>
      </p:sp>
      <p:sp>
        <p:nvSpPr>
          <p:cNvPr id="5" name="Text 2"/>
          <p:cNvSpPr/>
          <p:nvPr/>
        </p:nvSpPr>
        <p:spPr>
          <a:xfrm>
            <a:off x="793790" y="5630466"/>
            <a:ext cx="4120753" cy="1451610"/>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Features are the things a product can do. They are the parts and functions that make it work and help people use it.</a:t>
            </a:r>
            <a:endParaRPr lang="en-US" sz="1750" dirty="0"/>
          </a:p>
        </p:txBody>
      </p:sp>
      <p:pic>
        <p:nvPicPr>
          <p:cNvPr id="6" name="Image 1" descr="preencoded.png">    </p:cNvPr>
          <p:cNvPicPr>
            <a:picLocks noChangeAspect="1"/>
          </p:cNvPicPr>
          <p:nvPr/>
        </p:nvPicPr>
        <p:blipFill>
          <a:blip r:embed="rId2"/>
          <a:stretch>
            <a:fillRect/>
          </a:stretch>
        </p:blipFill>
        <p:spPr>
          <a:xfrm>
            <a:off x="5254704" y="2309813"/>
            <a:ext cx="4120872" cy="2546866"/>
          </a:xfrm>
          <a:prstGeom prst="rect">
            <a:avLst/>
          </a:prstGeom>
        </p:spPr>
      </p:pic>
      <p:sp>
        <p:nvSpPr>
          <p:cNvPr id="7" name="Text 3"/>
          <p:cNvSpPr/>
          <p:nvPr/>
        </p:nvSpPr>
        <p:spPr>
          <a:xfrm>
            <a:off x="5254704" y="514016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Benefits</a:t>
            </a:r>
            <a:endParaRPr lang="en-US" sz="2200" dirty="0"/>
          </a:p>
        </p:txBody>
      </p:sp>
      <p:sp>
        <p:nvSpPr>
          <p:cNvPr id="8" name="Text 4"/>
          <p:cNvSpPr/>
          <p:nvPr/>
        </p:nvSpPr>
        <p:spPr>
          <a:xfrm>
            <a:off x="5254704" y="5630585"/>
            <a:ext cx="4120872" cy="1088708"/>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Benefits are what people get from the features. They show how the product helps people do things better or faster.</a:t>
            </a:r>
            <a:endParaRPr lang="en-US" sz="1750" dirty="0"/>
          </a:p>
        </p:txBody>
      </p:sp>
      <p:pic>
        <p:nvPicPr>
          <p:cNvPr id="9" name="Image 2" descr="preencoded.png">    </p:cNvPr>
          <p:cNvPicPr>
            <a:picLocks noChangeAspect="1"/>
          </p:cNvPicPr>
          <p:nvPr/>
        </p:nvPicPr>
        <p:blipFill>
          <a:blip r:embed="rId3"/>
          <a:stretch>
            <a:fillRect/>
          </a:stretch>
        </p:blipFill>
        <p:spPr>
          <a:xfrm>
            <a:off x="9715738" y="2309813"/>
            <a:ext cx="4120753" cy="2546747"/>
          </a:xfrm>
          <a:prstGeom prst="rect">
            <a:avLst/>
          </a:prstGeom>
        </p:spPr>
      </p:pic>
      <p:sp>
        <p:nvSpPr>
          <p:cNvPr id="10" name="Text 5"/>
          <p:cNvSpPr/>
          <p:nvPr/>
        </p:nvSpPr>
        <p:spPr>
          <a:xfrm>
            <a:off x="9715738" y="514004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User Experience</a:t>
            </a:r>
            <a:endParaRPr lang="en-US" sz="2200" dirty="0"/>
          </a:p>
        </p:txBody>
      </p:sp>
      <p:sp>
        <p:nvSpPr>
          <p:cNvPr id="11" name="Text 6"/>
          <p:cNvSpPr/>
          <p:nvPr/>
        </p:nvSpPr>
        <p:spPr>
          <a:xfrm>
            <a:off x="9715738" y="5630466"/>
            <a:ext cx="4120753" cy="1451610"/>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This is how it feels to use the product. Good products are easy to use and make people happy when they use them.</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20103"/>
            <a:ext cx="8096488" cy="708779"/>
          </a:xfrm>
          <a:prstGeom prst="rect">
            <a:avLst/>
          </a:prstGeom>
          <a:noFill/>
          <a:ln/>
        </p:spPr>
        <p:txBody>
          <a:bodyPr wrap="none" lIns="0" tIns="0" rIns="0" bIns="0" rtlCol="0" anchor="t"/>
          <a:lstStyle/>
          <a:p>
            <a:pPr indent="0" marL="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Performance-Based Quality</a:t>
            </a:r>
            <a:endParaRPr lang="en-US" sz="4450" dirty="0"/>
          </a:p>
        </p:txBody>
      </p:sp>
      <p:sp>
        <p:nvSpPr>
          <p:cNvPr id="3" name="Text 1"/>
          <p:cNvSpPr/>
          <p:nvPr/>
        </p:nvSpPr>
        <p:spPr>
          <a:xfrm>
            <a:off x="793790" y="1982510"/>
            <a:ext cx="13042821" cy="725805"/>
          </a:xfrm>
          <a:prstGeom prst="rect">
            <a:avLst/>
          </a:prstGeom>
          <a:noFill/>
          <a:ln/>
        </p:spPr>
        <p:txBody>
          <a:bodyPr wrap="square" lIns="0" tIns="0" rIns="0" bIns="0" rtlCol="0" anchor="t"/>
          <a:lstStyle/>
          <a:p>
            <a:pPr indent="0" marL="0">
              <a:lnSpc>
                <a:spcPts val="2850"/>
              </a:lnSpc>
              <a:buNone/>
            </a:pPr>
            <a:r>
              <a:rPr lang="en-US" sz="1750" dirty="0">
                <a:solidFill>
                  <a:srgbClr val="454240"/>
                </a:solidFill>
                <a:latin typeface="DM Sans" pitchFamily="34" charset="0"/>
                <a:ea typeface="DM Sans" pitchFamily="34" charset="-122"/>
                <a:cs typeface="DM Sans" pitchFamily="34" charset="-120"/>
              </a:rPr>
              <a:t>Performance-based quality shows how well something works when people use it. It looks at simple things we can measure. These measurements tell us if a product is good or not.</a:t>
            </a:r>
            <a:endParaRPr lang="en-US" sz="1750" dirty="0"/>
          </a:p>
        </p:txBody>
      </p:sp>
      <p:pic>
        <p:nvPicPr>
          <p:cNvPr id="4" name="Image 0" descr="preencoded.png">    </p:cNvPr>
          <p:cNvPicPr>
            <a:picLocks noChangeAspect="1"/>
          </p:cNvPicPr>
          <p:nvPr/>
        </p:nvPicPr>
        <p:blipFill>
          <a:blip r:embed="rId1"/>
          <a:stretch>
            <a:fillRect/>
          </a:stretch>
        </p:blipFill>
        <p:spPr>
          <a:xfrm>
            <a:off x="793790" y="2963466"/>
            <a:ext cx="3005495" cy="1857494"/>
          </a:xfrm>
          <a:prstGeom prst="rect">
            <a:avLst/>
          </a:prstGeom>
        </p:spPr>
      </p:pic>
      <p:sp>
        <p:nvSpPr>
          <p:cNvPr id="5" name="Text 2"/>
          <p:cNvSpPr/>
          <p:nvPr/>
        </p:nvSpPr>
        <p:spPr>
          <a:xfrm>
            <a:off x="793790" y="510444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Reliability</a:t>
            </a:r>
            <a:endParaRPr lang="en-US" sz="2200" dirty="0"/>
          </a:p>
        </p:txBody>
      </p:sp>
      <p:sp>
        <p:nvSpPr>
          <p:cNvPr id="6" name="Text 3"/>
          <p:cNvSpPr/>
          <p:nvPr/>
        </p:nvSpPr>
        <p:spPr>
          <a:xfrm>
            <a:off x="793790" y="5594866"/>
            <a:ext cx="3005495" cy="1814513"/>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A good product works the same way each time you use it. It doesn't break down much. You can count on it to work when you need it.</a:t>
            </a:r>
            <a:endParaRPr lang="en-US" sz="1750" dirty="0"/>
          </a:p>
        </p:txBody>
      </p:sp>
      <p:pic>
        <p:nvPicPr>
          <p:cNvPr id="7" name="Image 1" descr="preencoded.png">    </p:cNvPr>
          <p:cNvPicPr>
            <a:picLocks noChangeAspect="1"/>
          </p:cNvPicPr>
          <p:nvPr/>
        </p:nvPicPr>
        <p:blipFill>
          <a:blip r:embed="rId2"/>
          <a:stretch>
            <a:fillRect/>
          </a:stretch>
        </p:blipFill>
        <p:spPr>
          <a:xfrm>
            <a:off x="4139446" y="2963466"/>
            <a:ext cx="3005614" cy="1857494"/>
          </a:xfrm>
          <a:prstGeom prst="rect">
            <a:avLst/>
          </a:prstGeom>
        </p:spPr>
      </p:pic>
      <p:sp>
        <p:nvSpPr>
          <p:cNvPr id="8" name="Text 4"/>
          <p:cNvSpPr/>
          <p:nvPr/>
        </p:nvSpPr>
        <p:spPr>
          <a:xfrm>
            <a:off x="4139446" y="510444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Efficiency</a:t>
            </a:r>
            <a:endParaRPr lang="en-US" sz="2200" dirty="0"/>
          </a:p>
        </p:txBody>
      </p:sp>
      <p:sp>
        <p:nvSpPr>
          <p:cNvPr id="9" name="Text 5"/>
          <p:cNvSpPr/>
          <p:nvPr/>
        </p:nvSpPr>
        <p:spPr>
          <a:xfrm>
            <a:off x="4139446" y="5594866"/>
            <a:ext cx="3005614" cy="1814513"/>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A good product does its job without waste. It uses less power and materials to work well. This saves money and resources.</a:t>
            </a:r>
            <a:endParaRPr lang="en-US" sz="1750" dirty="0"/>
          </a:p>
        </p:txBody>
      </p:sp>
      <p:pic>
        <p:nvPicPr>
          <p:cNvPr id="10" name="Image 2" descr="preencoded.png">    </p:cNvPr>
          <p:cNvPicPr>
            <a:picLocks noChangeAspect="1"/>
          </p:cNvPicPr>
          <p:nvPr/>
        </p:nvPicPr>
        <p:blipFill>
          <a:blip r:embed="rId3"/>
          <a:stretch>
            <a:fillRect/>
          </a:stretch>
        </p:blipFill>
        <p:spPr>
          <a:xfrm>
            <a:off x="7485221" y="2963466"/>
            <a:ext cx="3005614" cy="1857494"/>
          </a:xfrm>
          <a:prstGeom prst="rect">
            <a:avLst/>
          </a:prstGeom>
        </p:spPr>
      </p:pic>
      <p:sp>
        <p:nvSpPr>
          <p:cNvPr id="11" name="Text 6"/>
          <p:cNvSpPr/>
          <p:nvPr/>
        </p:nvSpPr>
        <p:spPr>
          <a:xfrm>
            <a:off x="7485221" y="510444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Durability</a:t>
            </a:r>
            <a:endParaRPr lang="en-US" sz="2200" dirty="0"/>
          </a:p>
        </p:txBody>
      </p:sp>
      <p:sp>
        <p:nvSpPr>
          <p:cNvPr id="12" name="Text 7"/>
          <p:cNvSpPr/>
          <p:nvPr/>
        </p:nvSpPr>
        <p:spPr>
          <a:xfrm>
            <a:off x="7485221" y="5594866"/>
            <a:ext cx="3005614" cy="1814513"/>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A durable product stays good for a long time. It's strong and can handle daily use. You won't need to fix or buy a new one often.</a:t>
            </a:r>
            <a:endParaRPr lang="en-US" sz="1750" dirty="0"/>
          </a:p>
        </p:txBody>
      </p:sp>
      <p:pic>
        <p:nvPicPr>
          <p:cNvPr id="13" name="Image 3" descr="preencoded.png">    </p:cNvPr>
          <p:cNvPicPr>
            <a:picLocks noChangeAspect="1"/>
          </p:cNvPicPr>
          <p:nvPr/>
        </p:nvPicPr>
        <p:blipFill>
          <a:blip r:embed="rId4"/>
          <a:stretch>
            <a:fillRect/>
          </a:stretch>
        </p:blipFill>
        <p:spPr>
          <a:xfrm>
            <a:off x="10830997" y="2963466"/>
            <a:ext cx="3005614" cy="1857494"/>
          </a:xfrm>
          <a:prstGeom prst="rect">
            <a:avLst/>
          </a:prstGeom>
        </p:spPr>
      </p:pic>
      <p:sp>
        <p:nvSpPr>
          <p:cNvPr id="14" name="Text 8"/>
          <p:cNvSpPr/>
          <p:nvPr/>
        </p:nvSpPr>
        <p:spPr>
          <a:xfrm>
            <a:off x="10830997" y="510444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Functionality</a:t>
            </a:r>
            <a:endParaRPr lang="en-US" sz="2200" dirty="0"/>
          </a:p>
        </p:txBody>
      </p:sp>
      <p:sp>
        <p:nvSpPr>
          <p:cNvPr id="15" name="Text 9"/>
          <p:cNvSpPr/>
          <p:nvPr/>
        </p:nvSpPr>
        <p:spPr>
          <a:xfrm>
            <a:off x="10830997" y="5594866"/>
            <a:ext cx="3005614" cy="1814513"/>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A product should do what it's made to do. Every part should work well. This means you can use all its features easily.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65954"/>
            <a:ext cx="7538561" cy="708779"/>
          </a:xfrm>
          <a:prstGeom prst="rect">
            <a:avLst/>
          </a:prstGeom>
          <a:noFill/>
          <a:ln/>
        </p:spPr>
        <p:txBody>
          <a:bodyPr wrap="none" lIns="0" tIns="0" rIns="0" bIns="0" rtlCol="0" anchor="t"/>
          <a:lstStyle/>
          <a:p>
            <a:pPr indent="0" marL="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Customer View of Quality</a:t>
            </a:r>
            <a:endParaRPr lang="en-US" sz="4450" dirty="0"/>
          </a:p>
        </p:txBody>
      </p:sp>
      <p:pic>
        <p:nvPicPr>
          <p:cNvPr id="3" name="Image 0" descr="preencoded.png">    </p:cNvPr>
          <p:cNvPicPr>
            <a:picLocks noChangeAspect="1"/>
          </p:cNvPicPr>
          <p:nvPr/>
        </p:nvPicPr>
        <p:blipFill>
          <a:blip r:embed="rId1"/>
          <a:stretch>
            <a:fillRect/>
          </a:stretch>
        </p:blipFill>
        <p:spPr>
          <a:xfrm>
            <a:off x="793790" y="2128361"/>
            <a:ext cx="4120753" cy="2546747"/>
          </a:xfrm>
          <a:prstGeom prst="rect">
            <a:avLst/>
          </a:prstGeom>
        </p:spPr>
      </p:pic>
      <p:sp>
        <p:nvSpPr>
          <p:cNvPr id="4" name="Text 1"/>
          <p:cNvSpPr/>
          <p:nvPr/>
        </p:nvSpPr>
        <p:spPr>
          <a:xfrm>
            <a:off x="793790" y="495859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Expectations</a:t>
            </a:r>
            <a:endParaRPr lang="en-US" sz="2200" dirty="0"/>
          </a:p>
        </p:txBody>
      </p:sp>
      <p:sp>
        <p:nvSpPr>
          <p:cNvPr id="5" name="Text 2"/>
          <p:cNvSpPr/>
          <p:nvPr/>
        </p:nvSpPr>
        <p:spPr>
          <a:xfrm>
            <a:off x="793790" y="5449014"/>
            <a:ext cx="4120753" cy="1814513"/>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Customers have a picture in mind of how good a product should be. They form this picture from what they've used before, what others say, and what the brand promises.</a:t>
            </a:r>
            <a:endParaRPr lang="en-US" sz="1750" dirty="0"/>
          </a:p>
        </p:txBody>
      </p:sp>
      <p:pic>
        <p:nvPicPr>
          <p:cNvPr id="6" name="Image 1" descr="preencoded.png">    </p:cNvPr>
          <p:cNvPicPr>
            <a:picLocks noChangeAspect="1"/>
          </p:cNvPicPr>
          <p:nvPr/>
        </p:nvPicPr>
        <p:blipFill>
          <a:blip r:embed="rId2"/>
          <a:stretch>
            <a:fillRect/>
          </a:stretch>
        </p:blipFill>
        <p:spPr>
          <a:xfrm>
            <a:off x="5254704" y="2128361"/>
            <a:ext cx="4120872" cy="2546866"/>
          </a:xfrm>
          <a:prstGeom prst="rect">
            <a:avLst/>
          </a:prstGeom>
        </p:spPr>
      </p:pic>
      <p:sp>
        <p:nvSpPr>
          <p:cNvPr id="7" name="Text 3"/>
          <p:cNvSpPr/>
          <p:nvPr/>
        </p:nvSpPr>
        <p:spPr>
          <a:xfrm>
            <a:off x="5254704" y="49587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Perceptions</a:t>
            </a:r>
            <a:endParaRPr lang="en-US" sz="2200" dirty="0"/>
          </a:p>
        </p:txBody>
      </p:sp>
      <p:sp>
        <p:nvSpPr>
          <p:cNvPr id="8" name="Text 4"/>
          <p:cNvSpPr/>
          <p:nvPr/>
        </p:nvSpPr>
        <p:spPr>
          <a:xfrm>
            <a:off x="5254704" y="5449133"/>
            <a:ext cx="4120872" cy="1451610"/>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Customers form their own opinion about quality based on what they see and feel when using a product. This is their personal view of how good it is.</a:t>
            </a:r>
            <a:endParaRPr lang="en-US" sz="1750" dirty="0"/>
          </a:p>
        </p:txBody>
      </p:sp>
      <p:pic>
        <p:nvPicPr>
          <p:cNvPr id="9" name="Image 2" descr="preencoded.png">    </p:cNvPr>
          <p:cNvPicPr>
            <a:picLocks noChangeAspect="1"/>
          </p:cNvPicPr>
          <p:nvPr/>
        </p:nvPicPr>
        <p:blipFill>
          <a:blip r:embed="rId3"/>
          <a:stretch>
            <a:fillRect/>
          </a:stretch>
        </p:blipFill>
        <p:spPr>
          <a:xfrm>
            <a:off x="9715738" y="2128361"/>
            <a:ext cx="4120753" cy="2546747"/>
          </a:xfrm>
          <a:prstGeom prst="rect">
            <a:avLst/>
          </a:prstGeom>
        </p:spPr>
      </p:pic>
      <p:sp>
        <p:nvSpPr>
          <p:cNvPr id="10" name="Text 5"/>
          <p:cNvSpPr/>
          <p:nvPr/>
        </p:nvSpPr>
        <p:spPr>
          <a:xfrm>
            <a:off x="9715738" y="495859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Satisfaction</a:t>
            </a:r>
            <a:endParaRPr lang="en-US" sz="2200" dirty="0"/>
          </a:p>
        </p:txBody>
      </p:sp>
      <p:sp>
        <p:nvSpPr>
          <p:cNvPr id="11" name="Text 6"/>
          <p:cNvSpPr/>
          <p:nvPr/>
        </p:nvSpPr>
        <p:spPr>
          <a:xfrm>
            <a:off x="9715738" y="5449014"/>
            <a:ext cx="4120753" cy="1451610"/>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Happy customers get what they hoped for or even more. When this happens, they enjoy using the product and often come back to buy again.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0932" y="621387"/>
            <a:ext cx="7316272" cy="706160"/>
          </a:xfrm>
          <a:prstGeom prst="rect">
            <a:avLst/>
          </a:prstGeom>
          <a:noFill/>
          <a:ln/>
        </p:spPr>
        <p:txBody>
          <a:bodyPr wrap="none" lIns="0" tIns="0" rIns="0" bIns="0" rtlCol="0" anchor="t"/>
          <a:lstStyle/>
          <a:p>
            <a:pPr indent="0" marL="0">
              <a:lnSpc>
                <a:spcPts val="5550"/>
              </a:lnSpc>
              <a:buNone/>
            </a:pPr>
            <a:r>
              <a:rPr lang="en-US" sz="4400" dirty="0">
                <a:solidFill>
                  <a:srgbClr val="5C4E3D"/>
                </a:solidFill>
                <a:latin typeface="Libre Baskerville" pitchFamily="34" charset="0"/>
                <a:ea typeface="Libre Baskerville" pitchFamily="34" charset="-122"/>
                <a:cs typeface="Libre Baskerville" pitchFamily="34" charset="-120"/>
              </a:rPr>
              <a:t>Producer View of Quality</a:t>
            </a:r>
            <a:endParaRPr lang="en-US" sz="4400" dirty="0"/>
          </a:p>
        </p:txBody>
      </p:sp>
      <p:pic>
        <p:nvPicPr>
          <p:cNvPr id="3" name="Image 0" descr="preencoded.png">    </p:cNvPr>
          <p:cNvPicPr>
            <a:picLocks noChangeAspect="1"/>
          </p:cNvPicPr>
          <p:nvPr/>
        </p:nvPicPr>
        <p:blipFill>
          <a:blip r:embed="rId1"/>
          <a:stretch>
            <a:fillRect/>
          </a:stretch>
        </p:blipFill>
        <p:spPr>
          <a:xfrm>
            <a:off x="790932" y="1779508"/>
            <a:ext cx="4123492" cy="2548414"/>
          </a:xfrm>
          <a:prstGeom prst="rect">
            <a:avLst/>
          </a:prstGeom>
        </p:spPr>
      </p:pic>
      <p:sp>
        <p:nvSpPr>
          <p:cNvPr id="4" name="Text 1"/>
          <p:cNvSpPr/>
          <p:nvPr/>
        </p:nvSpPr>
        <p:spPr>
          <a:xfrm>
            <a:off x="790932" y="4610338"/>
            <a:ext cx="3380065" cy="353139"/>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Design &amp; Development</a:t>
            </a:r>
            <a:endParaRPr lang="en-US" sz="2200" dirty="0"/>
          </a:p>
        </p:txBody>
      </p:sp>
      <p:sp>
        <p:nvSpPr>
          <p:cNvPr id="5" name="Text 2"/>
          <p:cNvSpPr/>
          <p:nvPr/>
        </p:nvSpPr>
        <p:spPr>
          <a:xfrm>
            <a:off x="790932" y="5098971"/>
            <a:ext cx="4123492" cy="1807369"/>
          </a:xfrm>
          <a:prstGeom prst="rect">
            <a:avLst/>
          </a:prstGeom>
          <a:noFill/>
          <a:ln/>
        </p:spPr>
        <p:txBody>
          <a:bodyPr wrap="square" lIns="0" tIns="0" rIns="0" bIns="0" rtlCol="0" anchor="t"/>
          <a:lstStyle/>
          <a:p>
            <a:pPr algn="l" indent="0" marL="0">
              <a:lnSpc>
                <a:spcPts val="2800"/>
              </a:lnSpc>
              <a:buNone/>
            </a:pPr>
            <a:r>
              <a:rPr lang="en-US" sz="1750" dirty="0">
                <a:solidFill>
                  <a:srgbClr val="454240"/>
                </a:solidFill>
                <a:latin typeface="DM Sans" pitchFamily="34" charset="0"/>
                <a:ea typeface="DM Sans" pitchFamily="34" charset="-122"/>
                <a:cs typeface="DM Sans" pitchFamily="34" charset="-120"/>
              </a:rPr>
              <a:t>Good planning helps make better products. Teams work together to create designs that are easy to make and work well. Taking time to plan helps avoid problems later.</a:t>
            </a:r>
            <a:endParaRPr lang="en-US" sz="1750" dirty="0"/>
          </a:p>
        </p:txBody>
      </p:sp>
      <p:pic>
        <p:nvPicPr>
          <p:cNvPr id="6" name="Image 1" descr="preencoded.png">    </p:cNvPr>
          <p:cNvPicPr>
            <a:picLocks noChangeAspect="1"/>
          </p:cNvPicPr>
          <p:nvPr/>
        </p:nvPicPr>
        <p:blipFill>
          <a:blip r:embed="rId2"/>
          <a:stretch>
            <a:fillRect/>
          </a:stretch>
        </p:blipFill>
        <p:spPr>
          <a:xfrm>
            <a:off x="5253395" y="1779508"/>
            <a:ext cx="4123492" cy="2548414"/>
          </a:xfrm>
          <a:prstGeom prst="rect">
            <a:avLst/>
          </a:prstGeom>
        </p:spPr>
      </p:pic>
      <p:sp>
        <p:nvSpPr>
          <p:cNvPr id="7" name="Text 3"/>
          <p:cNvSpPr/>
          <p:nvPr/>
        </p:nvSpPr>
        <p:spPr>
          <a:xfrm>
            <a:off x="5253395" y="4610338"/>
            <a:ext cx="4123492" cy="706279"/>
          </a:xfrm>
          <a:prstGeom prst="rect">
            <a:avLst/>
          </a:prstGeom>
          <a:noFill/>
          <a:ln/>
        </p:spPr>
        <p:txBody>
          <a:bodyPr wrap="squar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Manufacturing &amp; Production</a:t>
            </a:r>
            <a:endParaRPr lang="en-US" sz="2200" dirty="0"/>
          </a:p>
        </p:txBody>
      </p:sp>
      <p:sp>
        <p:nvSpPr>
          <p:cNvPr id="8" name="Text 4"/>
          <p:cNvSpPr/>
          <p:nvPr/>
        </p:nvSpPr>
        <p:spPr>
          <a:xfrm>
            <a:off x="5253395" y="5452110"/>
            <a:ext cx="4123492" cy="2168843"/>
          </a:xfrm>
          <a:prstGeom prst="rect">
            <a:avLst/>
          </a:prstGeom>
          <a:noFill/>
          <a:ln/>
        </p:spPr>
        <p:txBody>
          <a:bodyPr wrap="square" lIns="0" tIns="0" rIns="0" bIns="0" rtlCol="0" anchor="t"/>
          <a:lstStyle/>
          <a:p>
            <a:pPr algn="l" indent="0" marL="0">
              <a:lnSpc>
                <a:spcPts val="2800"/>
              </a:lnSpc>
              <a:buNone/>
            </a:pPr>
            <a:r>
              <a:rPr lang="en-US" sz="1750" dirty="0">
                <a:solidFill>
                  <a:srgbClr val="454240"/>
                </a:solidFill>
                <a:latin typeface="DM Sans" pitchFamily="34" charset="0"/>
                <a:ea typeface="DM Sans" pitchFamily="34" charset="-122"/>
                <a:cs typeface="DM Sans" pitchFamily="34" charset="-120"/>
              </a:rPr>
              <a:t>Making good products means following clear steps. Workers need proper training and good materials. Regular checks during production help catch mistakes early. Modern machines help make every product the same.</a:t>
            </a:r>
            <a:endParaRPr lang="en-US" sz="1750" dirty="0"/>
          </a:p>
        </p:txBody>
      </p:sp>
      <p:pic>
        <p:nvPicPr>
          <p:cNvPr id="9" name="Image 2" descr="preencoded.png">    </p:cNvPr>
          <p:cNvPicPr>
            <a:picLocks noChangeAspect="1"/>
          </p:cNvPicPr>
          <p:nvPr/>
        </p:nvPicPr>
        <p:blipFill>
          <a:blip r:embed="rId3"/>
          <a:stretch>
            <a:fillRect/>
          </a:stretch>
        </p:blipFill>
        <p:spPr>
          <a:xfrm>
            <a:off x="9715857" y="1779508"/>
            <a:ext cx="4123492" cy="2548414"/>
          </a:xfrm>
          <a:prstGeom prst="rect">
            <a:avLst/>
          </a:prstGeom>
        </p:spPr>
      </p:pic>
      <p:sp>
        <p:nvSpPr>
          <p:cNvPr id="10" name="Text 5"/>
          <p:cNvSpPr/>
          <p:nvPr/>
        </p:nvSpPr>
        <p:spPr>
          <a:xfrm>
            <a:off x="9715857" y="4610338"/>
            <a:ext cx="2982039" cy="353139"/>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Inspection &amp; Testing</a:t>
            </a:r>
            <a:endParaRPr lang="en-US" sz="2200" dirty="0"/>
          </a:p>
        </p:txBody>
      </p:sp>
      <p:sp>
        <p:nvSpPr>
          <p:cNvPr id="11" name="Text 6"/>
          <p:cNvSpPr/>
          <p:nvPr/>
        </p:nvSpPr>
        <p:spPr>
          <a:xfrm>
            <a:off x="9715857" y="5098971"/>
            <a:ext cx="4123492" cy="2168843"/>
          </a:xfrm>
          <a:prstGeom prst="rect">
            <a:avLst/>
          </a:prstGeom>
          <a:noFill/>
          <a:ln/>
        </p:spPr>
        <p:txBody>
          <a:bodyPr wrap="square" lIns="0" tIns="0" rIns="0" bIns="0" rtlCol="0" anchor="t"/>
          <a:lstStyle/>
          <a:p>
            <a:pPr algn="l" indent="0" marL="0">
              <a:lnSpc>
                <a:spcPts val="2800"/>
              </a:lnSpc>
              <a:buNone/>
            </a:pPr>
            <a:r>
              <a:rPr lang="en-US" sz="1750" dirty="0">
                <a:solidFill>
                  <a:srgbClr val="454240"/>
                </a:solidFill>
                <a:latin typeface="DM Sans" pitchFamily="34" charset="0"/>
                <a:ea typeface="DM Sans" pitchFamily="34" charset="-122"/>
                <a:cs typeface="DM Sans" pitchFamily="34" charset="-120"/>
              </a:rPr>
              <a:t>Regular product checks help find and fix problems. We test products to make sure they're safe and work well. Both people and machines check the products. Only products that pass all tests go to customers.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14926"/>
            <a:ext cx="10219253" cy="708779"/>
          </a:xfrm>
          <a:prstGeom prst="rect">
            <a:avLst/>
          </a:prstGeom>
          <a:noFill/>
          <a:ln/>
        </p:spPr>
        <p:txBody>
          <a:bodyPr wrap="none" lIns="0" tIns="0" rIns="0" bIns="0" rtlCol="0" anchor="t"/>
          <a:lstStyle/>
          <a:p>
            <a:pPr indent="0" marL="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Various Costs of Delivering Quality</a:t>
            </a:r>
            <a:endParaRPr lang="en-US" sz="4450" dirty="0"/>
          </a:p>
        </p:txBody>
      </p:sp>
      <p:pic>
        <p:nvPicPr>
          <p:cNvPr id="3" name="Image 0" descr="preencoded.png">    </p:cNvPr>
          <p:cNvPicPr>
            <a:picLocks noChangeAspect="1"/>
          </p:cNvPicPr>
          <p:nvPr/>
        </p:nvPicPr>
        <p:blipFill>
          <a:blip r:embed="rId1"/>
          <a:stretch>
            <a:fillRect/>
          </a:stretch>
        </p:blipFill>
        <p:spPr>
          <a:xfrm>
            <a:off x="793790" y="2477333"/>
            <a:ext cx="3005495" cy="1857494"/>
          </a:xfrm>
          <a:prstGeom prst="rect">
            <a:avLst/>
          </a:prstGeom>
        </p:spPr>
      </p:pic>
      <p:sp>
        <p:nvSpPr>
          <p:cNvPr id="4" name="Text 1"/>
          <p:cNvSpPr/>
          <p:nvPr/>
        </p:nvSpPr>
        <p:spPr>
          <a:xfrm>
            <a:off x="793790" y="46183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Prevention Costs</a:t>
            </a:r>
            <a:endParaRPr lang="en-US" sz="2200" dirty="0"/>
          </a:p>
        </p:txBody>
      </p:sp>
      <p:sp>
        <p:nvSpPr>
          <p:cNvPr id="5" name="Text 2"/>
          <p:cNvSpPr/>
          <p:nvPr/>
        </p:nvSpPr>
        <p:spPr>
          <a:xfrm>
            <a:off x="793790" y="5108734"/>
            <a:ext cx="3005495" cy="1451610"/>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Investment in training and proper equipment to stop problems before they happen</a:t>
            </a:r>
            <a:endParaRPr lang="en-US" sz="1750" dirty="0"/>
          </a:p>
        </p:txBody>
      </p:sp>
      <p:pic>
        <p:nvPicPr>
          <p:cNvPr id="6" name="Image 1" descr="preencoded.png">    </p:cNvPr>
          <p:cNvPicPr>
            <a:picLocks noChangeAspect="1"/>
          </p:cNvPicPr>
          <p:nvPr/>
        </p:nvPicPr>
        <p:blipFill>
          <a:blip r:embed="rId2"/>
          <a:stretch>
            <a:fillRect/>
          </a:stretch>
        </p:blipFill>
        <p:spPr>
          <a:xfrm>
            <a:off x="4139446" y="2477333"/>
            <a:ext cx="3005614" cy="1857494"/>
          </a:xfrm>
          <a:prstGeom prst="rect">
            <a:avLst/>
          </a:prstGeom>
        </p:spPr>
      </p:pic>
      <p:sp>
        <p:nvSpPr>
          <p:cNvPr id="7" name="Text 3"/>
          <p:cNvSpPr/>
          <p:nvPr/>
        </p:nvSpPr>
        <p:spPr>
          <a:xfrm>
            <a:off x="4139446" y="46183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Appraisal Costs</a:t>
            </a:r>
            <a:endParaRPr lang="en-US" sz="2200" dirty="0"/>
          </a:p>
        </p:txBody>
      </p:sp>
      <p:sp>
        <p:nvSpPr>
          <p:cNvPr id="8" name="Text 4"/>
          <p:cNvSpPr/>
          <p:nvPr/>
        </p:nvSpPr>
        <p:spPr>
          <a:xfrm>
            <a:off x="4139446" y="5108734"/>
            <a:ext cx="3005614" cy="1088708"/>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Regular quality checks and inspections during the production process</a:t>
            </a:r>
            <a:endParaRPr lang="en-US" sz="1750" dirty="0"/>
          </a:p>
        </p:txBody>
      </p:sp>
      <p:pic>
        <p:nvPicPr>
          <p:cNvPr id="9" name="Image 2" descr="preencoded.png">    </p:cNvPr>
          <p:cNvPicPr>
            <a:picLocks noChangeAspect="1"/>
          </p:cNvPicPr>
          <p:nvPr/>
        </p:nvPicPr>
        <p:blipFill>
          <a:blip r:embed="rId3"/>
          <a:stretch>
            <a:fillRect/>
          </a:stretch>
        </p:blipFill>
        <p:spPr>
          <a:xfrm>
            <a:off x="7485221" y="2477333"/>
            <a:ext cx="3005614" cy="1857494"/>
          </a:xfrm>
          <a:prstGeom prst="rect">
            <a:avLst/>
          </a:prstGeom>
        </p:spPr>
      </p:pic>
      <p:sp>
        <p:nvSpPr>
          <p:cNvPr id="10" name="Text 5"/>
          <p:cNvSpPr/>
          <p:nvPr/>
        </p:nvSpPr>
        <p:spPr>
          <a:xfrm>
            <a:off x="7485221" y="4618315"/>
            <a:ext cx="3005614" cy="708660"/>
          </a:xfrm>
          <a:prstGeom prst="rect">
            <a:avLst/>
          </a:prstGeom>
          <a:noFill/>
          <a:ln/>
        </p:spPr>
        <p:txBody>
          <a:bodyPr wrap="squar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Internal Failure Costs</a:t>
            </a:r>
            <a:endParaRPr lang="en-US" sz="2200" dirty="0"/>
          </a:p>
        </p:txBody>
      </p:sp>
      <p:sp>
        <p:nvSpPr>
          <p:cNvPr id="11" name="Text 6"/>
          <p:cNvSpPr/>
          <p:nvPr/>
        </p:nvSpPr>
        <p:spPr>
          <a:xfrm>
            <a:off x="7485221" y="5463064"/>
            <a:ext cx="3005614" cy="1088708"/>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Resources spent fixing mistakes before products reach customers</a:t>
            </a:r>
            <a:endParaRPr lang="en-US" sz="1750" dirty="0"/>
          </a:p>
        </p:txBody>
      </p:sp>
      <p:pic>
        <p:nvPicPr>
          <p:cNvPr id="12" name="Image 3" descr="preencoded.png">    </p:cNvPr>
          <p:cNvPicPr>
            <a:picLocks noChangeAspect="1"/>
          </p:cNvPicPr>
          <p:nvPr/>
        </p:nvPicPr>
        <p:blipFill>
          <a:blip r:embed="rId4"/>
          <a:stretch>
            <a:fillRect/>
          </a:stretch>
        </p:blipFill>
        <p:spPr>
          <a:xfrm>
            <a:off x="10830997" y="2477333"/>
            <a:ext cx="3005614" cy="1857494"/>
          </a:xfrm>
          <a:prstGeom prst="rect">
            <a:avLst/>
          </a:prstGeom>
        </p:spPr>
      </p:pic>
      <p:sp>
        <p:nvSpPr>
          <p:cNvPr id="13" name="Text 7"/>
          <p:cNvSpPr/>
          <p:nvPr/>
        </p:nvSpPr>
        <p:spPr>
          <a:xfrm>
            <a:off x="10830997" y="4618315"/>
            <a:ext cx="3005614" cy="708660"/>
          </a:xfrm>
          <a:prstGeom prst="rect">
            <a:avLst/>
          </a:prstGeom>
          <a:noFill/>
          <a:ln/>
        </p:spPr>
        <p:txBody>
          <a:bodyPr wrap="square" lIns="0" tIns="0" rIns="0" bIns="0" rtlCol="0" anchor="t"/>
          <a:lstStyle/>
          <a:p>
            <a:pPr algn="l" indent="0" marL="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External Failure Costs</a:t>
            </a:r>
            <a:endParaRPr lang="en-US" sz="2200" dirty="0"/>
          </a:p>
        </p:txBody>
      </p:sp>
      <p:sp>
        <p:nvSpPr>
          <p:cNvPr id="14" name="Text 8"/>
          <p:cNvSpPr/>
          <p:nvPr/>
        </p:nvSpPr>
        <p:spPr>
          <a:xfrm>
            <a:off x="10830997" y="5463064"/>
            <a:ext cx="3005614" cy="1451610"/>
          </a:xfrm>
          <a:prstGeom prst="rect">
            <a:avLst/>
          </a:prstGeom>
          <a:noFill/>
          <a:ln/>
        </p:spPr>
        <p:txBody>
          <a:bodyPr wrap="square" lIns="0" tIns="0" rIns="0" bIns="0" rtlCol="0" anchor="t"/>
          <a:lstStyle/>
          <a:p>
            <a:pPr algn="l" indent="0" marL="0">
              <a:lnSpc>
                <a:spcPts val="2850"/>
              </a:lnSpc>
              <a:buNone/>
            </a:pPr>
            <a:r>
              <a:rPr lang="en-US" sz="1750" dirty="0">
                <a:solidFill>
                  <a:srgbClr val="454240"/>
                </a:solidFill>
                <a:latin typeface="DM Sans" pitchFamily="34" charset="0"/>
                <a:ea typeface="DM Sans" pitchFamily="34" charset="-122"/>
                <a:cs typeface="DM Sans" pitchFamily="34" charset="-120"/>
              </a:rPr>
              <a:t>Expenses related to handling customer complaints and product returns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864525"/>
            <a:ext cx="5670590" cy="708779"/>
          </a:xfrm>
          <a:prstGeom prst="rect">
            <a:avLst/>
          </a:prstGeom>
          <a:noFill/>
          <a:ln/>
        </p:spPr>
        <p:txBody>
          <a:bodyPr wrap="none" lIns="0" tIns="0" rIns="0" bIns="0" rtlCol="0" anchor="t"/>
          <a:lstStyle/>
          <a:p>
            <a:pPr indent="0" marL="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Conclusion</a:t>
            </a:r>
            <a:endParaRPr lang="en-US" sz="4450" dirty="0"/>
          </a:p>
        </p:txBody>
      </p:sp>
      <p:sp>
        <p:nvSpPr>
          <p:cNvPr id="4" name="Text 1"/>
          <p:cNvSpPr/>
          <p:nvPr/>
        </p:nvSpPr>
        <p:spPr>
          <a:xfrm>
            <a:off x="793790" y="3913465"/>
            <a:ext cx="7556421" cy="1451610"/>
          </a:xfrm>
          <a:prstGeom prst="rect">
            <a:avLst/>
          </a:prstGeom>
          <a:noFill/>
          <a:ln/>
        </p:spPr>
        <p:txBody>
          <a:bodyPr wrap="square" lIns="0" tIns="0" rIns="0" bIns="0" rtlCol="0" anchor="t"/>
          <a:lstStyle/>
          <a:p>
            <a:pPr indent="0" marL="0">
              <a:lnSpc>
                <a:spcPts val="2850"/>
              </a:lnSpc>
              <a:buNone/>
            </a:pPr>
            <a:r>
              <a:rPr lang="en-US" sz="1750" dirty="0">
                <a:solidFill>
                  <a:srgbClr val="454240"/>
                </a:solidFill>
                <a:latin typeface="DM Sans" pitchFamily="34" charset="0"/>
                <a:ea typeface="DM Sans" pitchFamily="34" charset="-122"/>
                <a:cs typeface="DM Sans" pitchFamily="34" charset="-120"/>
              </a:rPr>
              <a:t>Good quality doesn't happen by chance - it takes hard work from everyone. When we understand what makes things good and take the right steps to make them better, our business grows stronger and customers trust us more.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479846" y="3760351"/>
            <a:ext cx="5670590" cy="708779"/>
          </a:xfrm>
          <a:prstGeom prst="rect">
            <a:avLst/>
          </a:prstGeom>
          <a:noFill/>
          <a:ln/>
        </p:spPr>
        <p:txBody>
          <a:bodyPr wrap="none" lIns="0" tIns="0" rIns="0" bIns="0" rtlCol="0" anchor="t"/>
          <a:lstStyle/>
          <a:p>
            <a:pPr algn="ctr" indent="0" marL="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THANK YOU</a:t>
            </a: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2024-11-21T16:38:58Z</dcterms:created>
  <dcterms:modified xsi:type="dcterms:W3CDTF">2024-11-21T16:38:58Z</dcterms:modified>
</cp:coreProperties>
</file>