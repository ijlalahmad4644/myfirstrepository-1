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FC24-C696-417C-A80D-90FD51441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A0114-AFA1-403B-8B32-779BB80A9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F5755-E612-4E19-B799-91AFC1312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C0E39-47B2-4A58-8103-0B21A47D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F4D81-3AA0-4820-9493-400BCE2A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8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7D72-5EB9-4486-AE95-2A7C2862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03C42-E7BD-4072-8664-6D3CD6F48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FB91D-F0B1-4625-A991-A8D112AD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42F1E-6FBA-41C6-8D93-18036D98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3A8C1-B85E-4347-8B25-31200F75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4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37C2-3CCF-4D3F-A0E0-F1870E22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2426B-3CF5-4951-8301-A008ED81D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7E207-CB9C-4E60-8643-174CE262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F70AE-DCE2-4286-834B-242CF3D6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51092-8601-40BA-92D8-E390ED8A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04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1EB0-D552-4979-8A0B-D510BF6E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167B7-A905-41AA-BB96-A1FE39E0C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4F39B-587F-4E85-9F0C-252DF9E99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2DA65-199C-46F3-B858-DD60AE38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95DD4-3577-4235-ACE1-D3D371604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2DCA3-B9F0-4E92-968E-0A87A7A4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8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8195-A4E8-4D8F-B0F4-62758A567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E7BDD-AFDF-4883-9343-3D41D47B7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72B00-7284-4E16-8136-E10C1DC9E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9B24F-D347-4D75-992C-435F3B835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2DD68B-FB15-4313-8088-63599BA72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764F82-EDCE-4305-B707-84CB169B5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5321E-D223-461B-BBD6-964F6588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FD42B-09AA-4A1E-9AA4-07AC7296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38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DF38B-E4CD-4F75-9A3C-BB57E220C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D653F-CC07-4FA2-8834-362382ABC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9D62B5-64F5-4952-8089-7997EE22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B0A49-703B-4B7B-97FF-888CB9AA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6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F51DBE-8763-42EF-AF39-56E464A2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8E4BD-F789-410B-A1CE-17E79F3A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58DB4-B226-4EC4-A1C7-8B99E926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D3FA2-7640-440C-8C63-E4502F4CE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8907-9D66-45CC-8B14-7C1687566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237D1-3C66-4F9C-8619-7C402514E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C5DC1-8E23-4BEB-A62B-D6ED57785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7797E-A5C8-4EC0-BC9F-910231A7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654B5-3CF6-4045-96FF-C19B0539F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221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112F-5CEA-4C34-B797-9D541FD5F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EB6269-9A0C-4212-81E6-4A63F13A7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B03D2-5CDA-4D96-80C7-03E819ACE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1DE2C-8422-4ABC-822C-1E8374CA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117AF-72B2-4E86-AFAA-A526E54B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AD98C-C7DC-4115-B3BD-AE5F59927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3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AC938-8A6E-4018-BB21-AD54495E3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1BCDB-2A53-4B58-87DC-CEDE053F8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ADD74-5B04-4E9F-BB9D-9851A760E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39F9E-D74A-4C4E-A7B2-17A66FB05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E34AF-433A-4FF2-A643-844B82374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6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ACAEEE-09FD-41DA-9A7E-5738E97915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76398-4905-4D44-AC0A-691481CF5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33C30-CB56-4599-9F92-CDE3A0C8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7F90-9BE5-44F7-9CCB-1509FFD0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81A12-F637-467F-B5B2-246ACC3A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A5851A-0229-40E1-AE55-9CB6C43C8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EACB2-601D-41C5-821E-13924FC57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33DE8-F636-48B7-862E-914BCF23C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6B4B7-4645-4FA7-B48A-A3ED64873667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27061-6EA7-4707-8798-0231642AF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2F157-33D7-4831-962D-315144A81F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5F562-FB15-4A48-9798-98754E33EA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2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3B102-2340-49A3-B30D-32F385924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0677"/>
            <a:ext cx="9144000" cy="78779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2916D-FE63-42ED-B8E2-79A27844E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0498"/>
            <a:ext cx="9144000" cy="550750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World Trade Organization (WTO) plays a crucial role in the business world, promoting free trade and economic cooperation among its 164 member countries.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*WTO's Main Objectives:*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Promote free trade and economic cooperation</a:t>
            </a:r>
          </a:p>
          <a:p>
            <a:r>
              <a:rPr lang="en-US" dirty="0"/>
              <a:t>2. Reduce trade barriers and tariffs</a:t>
            </a:r>
          </a:p>
          <a:p>
            <a:r>
              <a:rPr lang="en-US" dirty="0"/>
              <a:t>3. Establish fair and predictable trade rules</a:t>
            </a:r>
          </a:p>
          <a:p>
            <a:r>
              <a:rPr lang="en-US" dirty="0"/>
              <a:t>4. Protect intellectual property rights</a:t>
            </a:r>
          </a:p>
          <a:p>
            <a:r>
              <a:rPr lang="en-US" dirty="0"/>
              <a:t>5. Resolve trade disputes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482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684C-CFC8-4330-997E-0B118FBB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7F282-2F95-456E-878A-69A498D6C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WTO's Key Functions:*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Negotiations: Facilitates trade agreements and negotiations</a:t>
            </a:r>
          </a:p>
          <a:p>
            <a:r>
              <a:rPr lang="en-US" dirty="0"/>
              <a:t>2. Dispute Settlement: Resolves trade disputes between member countries</a:t>
            </a:r>
          </a:p>
          <a:p>
            <a:r>
              <a:rPr lang="en-US" dirty="0"/>
              <a:t>3. Trade Policy Review: Monitors member countries' trade policies</a:t>
            </a:r>
          </a:p>
          <a:p>
            <a:r>
              <a:rPr lang="en-US" dirty="0"/>
              <a:t>4. Technical Assistance: Provides training and support to developing countries</a:t>
            </a:r>
          </a:p>
          <a:p>
            <a:r>
              <a:rPr lang="en-US" dirty="0"/>
              <a:t>5. Research and Analysis: Publishes reports on trade trends and issues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353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25D9-52C7-4C05-AE44-6550D1B11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784A3-C496-4EDA-BA2C-DC0CABB97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WTO Agreements:*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General Agreement on Tariffs and Trade (GATT)</a:t>
            </a:r>
          </a:p>
          <a:p>
            <a:r>
              <a:rPr lang="en-US" dirty="0"/>
              <a:t>2. General Agreement on Trade in Services (GATS)</a:t>
            </a:r>
          </a:p>
          <a:p>
            <a:r>
              <a:rPr lang="en-US" dirty="0"/>
              <a:t>3. Agreement on Trade-Related Aspects of Intellectual Property Rights (TRIPS)</a:t>
            </a:r>
          </a:p>
          <a:p>
            <a:r>
              <a:rPr lang="en-US" dirty="0"/>
              <a:t>4. Agreement on Sanitary and Phytosanitary Measures (SPS)</a:t>
            </a:r>
          </a:p>
          <a:p>
            <a:r>
              <a:rPr lang="en-US" dirty="0"/>
              <a:t>5. Agreement on Technical Barriers to Trade (TBT)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E055-3B52-4141-821E-688EB5591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F2CFD-4CA6-44B8-8A83-0ABE01A1D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Benefits to Businesses:*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Increased market access</a:t>
            </a:r>
          </a:p>
          <a:p>
            <a:r>
              <a:rPr lang="en-US" dirty="0"/>
              <a:t>2. Reduced trade barriers and tariffs</a:t>
            </a:r>
          </a:p>
          <a:p>
            <a:r>
              <a:rPr lang="en-US" dirty="0"/>
              <a:t>3. Predictable trade rules and regulations</a:t>
            </a:r>
          </a:p>
          <a:p>
            <a:r>
              <a:rPr lang="en-US" dirty="0"/>
              <a:t>4. Protection of intellectual property rights</a:t>
            </a:r>
          </a:p>
          <a:p>
            <a:r>
              <a:rPr lang="en-US" dirty="0"/>
              <a:t>5. Resolution of trade disputes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51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3552-F7A7-495B-AE26-36F46846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F3F0-CEC3-4921-886E-0BE140FCA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Challenges Facing the WTO:*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Protectionism and trade wars</a:t>
            </a:r>
          </a:p>
          <a:p>
            <a:r>
              <a:rPr lang="en-US" dirty="0"/>
              <a:t>2. Rising nationalism and anti-globalization sentiment</a:t>
            </a:r>
          </a:p>
          <a:p>
            <a:r>
              <a:rPr lang="en-US" dirty="0"/>
              <a:t>3. Difficulty in concluding new trade agreements</a:t>
            </a:r>
          </a:p>
          <a:p>
            <a:r>
              <a:rPr lang="en-US" dirty="0"/>
              <a:t>4. Dispute settlement challenges</a:t>
            </a:r>
          </a:p>
          <a:p>
            <a:r>
              <a:rPr lang="en-US" dirty="0"/>
              <a:t>5. Addressing emerging issues (e.g., digital trade, climate change)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0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3E7C5-7533-4922-A60B-4D62CDE0F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A5B88-A1A9-4E64-9B79-9D504D9A1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Impact on Global Economy:*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Promotes economic growth and development</a:t>
            </a:r>
          </a:p>
          <a:p>
            <a:r>
              <a:rPr lang="en-US" dirty="0"/>
              <a:t>2. Increases trade volumes and investment</a:t>
            </a:r>
          </a:p>
          <a:p>
            <a:r>
              <a:rPr lang="en-US" dirty="0"/>
              <a:t>3. Creates jobs and opportunities</a:t>
            </a:r>
          </a:p>
          <a:p>
            <a:r>
              <a:rPr lang="en-US" dirty="0"/>
              <a:t>4. Fosters cooperation and stability</a:t>
            </a:r>
          </a:p>
          <a:p>
            <a:r>
              <a:rPr lang="en-US" dirty="0"/>
              <a:t>5. Encourages innovation and competitiveness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24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A459-6036-4CE3-9474-1EEE2A0A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C8CA-2017-43DC-A735-B6622CA73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Notable WTO Achievements:*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Information Technology Agreement (ITA)</a:t>
            </a:r>
          </a:p>
          <a:p>
            <a:r>
              <a:rPr lang="en-US" dirty="0"/>
              <a:t>2. Trade Facilitation Agreement (TFA)</a:t>
            </a:r>
          </a:p>
          <a:p>
            <a:r>
              <a:rPr lang="en-US" dirty="0"/>
              <a:t>3. Agreement on Government Procurement (GPA)</a:t>
            </a:r>
          </a:p>
          <a:p>
            <a:r>
              <a:rPr lang="en-US" dirty="0"/>
              <a:t>4. Dispute settlement successes (e.g., US-EU beef hormone dispute)</a:t>
            </a:r>
          </a:p>
          <a:p>
            <a:r>
              <a:rPr lang="en-US" dirty="0"/>
              <a:t>5. Aid for Trade initiative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21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65170-D5A1-4D3F-94F9-30F78B90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70056-42C4-4BEC-B1FB-88D1BC3A5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Criticism and Controversies:*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Inequitable benefits distribution</a:t>
            </a:r>
          </a:p>
          <a:p>
            <a:r>
              <a:rPr lang="en-US" dirty="0"/>
              <a:t>2. Environmental and labor concerns</a:t>
            </a:r>
          </a:p>
          <a:p>
            <a:r>
              <a:rPr lang="en-US" dirty="0"/>
              <a:t>3. Intellectual property rights controversies</a:t>
            </a:r>
          </a:p>
          <a:p>
            <a:r>
              <a:rPr lang="en-US" dirty="0"/>
              <a:t>4. Dispute settlement biases</a:t>
            </a:r>
          </a:p>
          <a:p>
            <a:r>
              <a:rPr lang="en-US" dirty="0"/>
              <a:t>5. Lack of transparency and accountability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4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21DE5-0B3C-41FF-A113-D3C37C4FB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64C48-2A4C-4669-BD76-E04649F98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Future Directions:*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Addressing emerging issues (e.g., digital trade, climate change)</a:t>
            </a:r>
          </a:p>
          <a:p>
            <a:r>
              <a:rPr lang="en-US" dirty="0"/>
              <a:t>2. Strengthening dispute settlement mechanisms</a:t>
            </a:r>
          </a:p>
          <a:p>
            <a:r>
              <a:rPr lang="en-US" dirty="0"/>
              <a:t>3. Promoting inclusive and equitable trade</a:t>
            </a:r>
          </a:p>
          <a:p>
            <a:r>
              <a:rPr lang="en-US" dirty="0"/>
              <a:t>4. Enhancing transparency and accountability</a:t>
            </a:r>
          </a:p>
          <a:p>
            <a:r>
              <a:rPr lang="en-US" dirty="0"/>
              <a:t>5. Fostering cooperation with other international organizations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86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457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10</cp:revision>
  <dcterms:created xsi:type="dcterms:W3CDTF">2024-12-05T07:07:54Z</dcterms:created>
  <dcterms:modified xsi:type="dcterms:W3CDTF">2024-12-05T07:15:53Z</dcterms:modified>
</cp:coreProperties>
</file>