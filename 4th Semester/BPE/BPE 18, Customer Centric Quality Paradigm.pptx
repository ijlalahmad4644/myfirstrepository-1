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8" r:id="rId30"/>
    <p:sldId id="289" r:id="rId31"/>
    <p:sldId id="290" r:id="rId32"/>
    <p:sldId id="291" r:id="rId33"/>
    <p:sldId id="259" r:id="rId34"/>
    <p:sldId id="287"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260" r:id="rId85"/>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95BA-7D7E-B8BF-0E46-D9B4344578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B4C9E005-A93E-C942-9390-18FE3560E9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BE4CD1F0-D00E-16B2-9EF6-900E4A24C6D4}"/>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5" name="Footer Placeholder 4">
            <a:extLst>
              <a:ext uri="{FF2B5EF4-FFF2-40B4-BE49-F238E27FC236}">
                <a16:creationId xmlns:a16="http://schemas.microsoft.com/office/drawing/2014/main" id="{AAF91B90-390E-6AA9-61F4-303E09C3196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CEF56CF-68A2-EFCC-5AEC-AFDAB5C3EB5D}"/>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987885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11F5A-4281-BE92-170E-DE3080D19B6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D26A2F7D-FDF8-5064-DA18-847E98094D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5F9B8CE-CEA1-9217-0F1B-0D1AA9FABF99}"/>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5" name="Footer Placeholder 4">
            <a:extLst>
              <a:ext uri="{FF2B5EF4-FFF2-40B4-BE49-F238E27FC236}">
                <a16:creationId xmlns:a16="http://schemas.microsoft.com/office/drawing/2014/main" id="{D70FA2D9-EDB3-6F2B-3D23-4C83586AC3D3}"/>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8A01DB3A-43D2-0A22-ED45-36E9D5F425C8}"/>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1449382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399DA-00D6-BD44-73DF-7016BF5C13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09D75E98-EDD7-4779-05D6-89E542B2C3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DC7CA0-D734-E279-C664-5751D5AEFB67}"/>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5" name="Footer Placeholder 4">
            <a:extLst>
              <a:ext uri="{FF2B5EF4-FFF2-40B4-BE49-F238E27FC236}">
                <a16:creationId xmlns:a16="http://schemas.microsoft.com/office/drawing/2014/main" id="{35820CD9-9CB8-3732-A88F-EBA50E1823D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5A2E87A-DE7F-3640-0D39-BEA0DAE8F47E}"/>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3453862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DBF6-ED71-5B87-597A-211AD90EA04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684D1BE3-B839-17EA-F4AD-B239EE838F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9AB9991-3DEF-0EBF-E9AF-65F84A8DF6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16E98014-DEA3-C60C-A546-169E6699B851}"/>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6" name="Footer Placeholder 5">
            <a:extLst>
              <a:ext uri="{FF2B5EF4-FFF2-40B4-BE49-F238E27FC236}">
                <a16:creationId xmlns:a16="http://schemas.microsoft.com/office/drawing/2014/main" id="{F8BDF775-A267-5D5B-6938-6588CC1CE13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454D7D78-787C-109E-1967-D2F8BAD7C75B}"/>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1119032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34172-19AB-3C56-CC35-3D3F17824C78}"/>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05DF3874-CAAC-5540-E304-534FCF400F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1D7DED-1EC5-DEC5-2336-0C818FC8BE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0081265-4F2E-ED09-4225-745E272F9F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3EE669-028F-2BBC-A657-EE354F909C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BEB42E1-E6EE-5790-CFD5-82FB53991234}"/>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8" name="Footer Placeholder 7">
            <a:extLst>
              <a:ext uri="{FF2B5EF4-FFF2-40B4-BE49-F238E27FC236}">
                <a16:creationId xmlns:a16="http://schemas.microsoft.com/office/drawing/2014/main" id="{BB926771-92D4-A738-2A5E-5FE828D17D6E}"/>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176090B9-16AE-BBFF-4D43-A7E87FD28775}"/>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3212562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DA935-976D-33E9-07E1-69A9C71F6539}"/>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B1BB4588-99B8-0E25-671A-C0C88B0B5FE1}"/>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4" name="Footer Placeholder 3">
            <a:extLst>
              <a:ext uri="{FF2B5EF4-FFF2-40B4-BE49-F238E27FC236}">
                <a16:creationId xmlns:a16="http://schemas.microsoft.com/office/drawing/2014/main" id="{24E8EE7A-9958-3D40-8FDD-C35A3032B71F}"/>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C54E132F-3273-35C2-5B83-26DB1CB11086}"/>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34202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FE0A4A-3E1E-E7A7-76CB-44CA480483E0}"/>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3" name="Footer Placeholder 2">
            <a:extLst>
              <a:ext uri="{FF2B5EF4-FFF2-40B4-BE49-F238E27FC236}">
                <a16:creationId xmlns:a16="http://schemas.microsoft.com/office/drawing/2014/main" id="{86A0B852-A343-C74C-1E2C-CD38403C70C5}"/>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F868880-750A-80F1-F2F9-91D8DC5133E9}"/>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111205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12C06-18D0-D5F7-19D9-5E6ED9B2B7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72B9A781-5008-9712-0765-7FB42B267E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370F9CA1-E48B-4D13-86F1-02B1539006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089CF2-1021-EB1C-D6D1-D58259F174AA}"/>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6" name="Footer Placeholder 5">
            <a:extLst>
              <a:ext uri="{FF2B5EF4-FFF2-40B4-BE49-F238E27FC236}">
                <a16:creationId xmlns:a16="http://schemas.microsoft.com/office/drawing/2014/main" id="{9EF00F1B-2579-A902-5AC7-CE42C822927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3835C3C-F135-7103-4A84-83F0FF0D0554}"/>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3956563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902B3-8101-204D-2377-4017D59B9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E8D7DAFE-2878-E201-FCDC-6B85921DF9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8565840A-B3AC-9C6A-313D-4A12359BD1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D6CA6A-B9F2-D73E-EDEE-D6255D87863A}"/>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6" name="Footer Placeholder 5">
            <a:extLst>
              <a:ext uri="{FF2B5EF4-FFF2-40B4-BE49-F238E27FC236}">
                <a16:creationId xmlns:a16="http://schemas.microsoft.com/office/drawing/2014/main" id="{9603E98C-BDAA-1C16-0276-9B49D030A54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7B63675-0C87-8B06-E9B9-B157FC3B3206}"/>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1001118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05E4-B7AF-BE92-DEC1-8EB8519F36B4}"/>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4EE039C1-DD81-DB17-A26D-B0F1109B48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4EA5E03-2937-7F8C-C027-2D27F48D6D67}"/>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5" name="Footer Placeholder 4">
            <a:extLst>
              <a:ext uri="{FF2B5EF4-FFF2-40B4-BE49-F238E27FC236}">
                <a16:creationId xmlns:a16="http://schemas.microsoft.com/office/drawing/2014/main" id="{B885906D-EE86-968D-E1BF-5FF74EE86AE4}"/>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6607E10-602E-DF33-FCF9-45F74F672C98}"/>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2855464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9C2-4881-A487-94D3-3690DD16CB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3B2ADB0-B5BA-A923-678D-601A05D05E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9BAD25F-1164-13A5-5352-869B460721ED}"/>
              </a:ext>
            </a:extLst>
          </p:cNvPr>
          <p:cNvSpPr>
            <a:spLocks noGrp="1"/>
          </p:cNvSpPr>
          <p:nvPr>
            <p:ph type="dt" sz="half" idx="10"/>
          </p:nvPr>
        </p:nvSpPr>
        <p:spPr/>
        <p:txBody>
          <a:bodyPr/>
          <a:lstStyle/>
          <a:p>
            <a:fld id="{1A34A259-E92E-4F9A-A79B-213750AAE0DC}" type="datetimeFigureOut">
              <a:rPr lang="en-PK" smtClean="0"/>
              <a:t>06/10/2024</a:t>
            </a:fld>
            <a:endParaRPr lang="en-PK"/>
          </a:p>
        </p:txBody>
      </p:sp>
      <p:sp>
        <p:nvSpPr>
          <p:cNvPr id="5" name="Footer Placeholder 4">
            <a:extLst>
              <a:ext uri="{FF2B5EF4-FFF2-40B4-BE49-F238E27FC236}">
                <a16:creationId xmlns:a16="http://schemas.microsoft.com/office/drawing/2014/main" id="{811C2D6C-36A5-F2D9-892A-C58C6EF57E2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ACACC7C-CB0E-3BF5-9D5D-103DAC6B0504}"/>
              </a:ext>
            </a:extLst>
          </p:cNvPr>
          <p:cNvSpPr>
            <a:spLocks noGrp="1"/>
          </p:cNvSpPr>
          <p:nvPr>
            <p:ph type="sldNum" sz="quarter" idx="12"/>
          </p:nvPr>
        </p:nvSpPr>
        <p:spPr/>
        <p:txBody>
          <a:bodyPr/>
          <a:lstStyle/>
          <a:p>
            <a:fld id="{BC82A7C6-83A6-4F12-B4DA-E753831431BF}" type="slidenum">
              <a:rPr lang="en-PK" smtClean="0"/>
              <a:t>‹#›</a:t>
            </a:fld>
            <a:endParaRPr lang="en-PK"/>
          </a:p>
        </p:txBody>
      </p:sp>
    </p:spTree>
    <p:extLst>
      <p:ext uri="{BB962C8B-B14F-4D97-AF65-F5344CB8AC3E}">
        <p14:creationId xmlns:p14="http://schemas.microsoft.com/office/powerpoint/2010/main" val="57352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41BDA7-D46C-A8CE-31F4-20CF33FC51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20B4212-9196-9E42-2EDA-0FE111766C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B4A0D14-C94E-7949-6F40-7602A662D8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34A259-E92E-4F9A-A79B-213750AAE0DC}" type="datetimeFigureOut">
              <a:rPr lang="en-PK" smtClean="0"/>
              <a:t>06/10/2024</a:t>
            </a:fld>
            <a:endParaRPr lang="en-PK"/>
          </a:p>
        </p:txBody>
      </p:sp>
      <p:sp>
        <p:nvSpPr>
          <p:cNvPr id="5" name="Footer Placeholder 4">
            <a:extLst>
              <a:ext uri="{FF2B5EF4-FFF2-40B4-BE49-F238E27FC236}">
                <a16:creationId xmlns:a16="http://schemas.microsoft.com/office/drawing/2014/main" id="{93FA4CE1-D4AD-2A1B-3466-EF86B267C2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622F87CD-5490-B568-9F04-CD19302D5A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82A7C6-83A6-4F12-B4DA-E753831431BF}" type="slidenum">
              <a:rPr lang="en-PK" smtClean="0"/>
              <a:t>‹#›</a:t>
            </a:fld>
            <a:endParaRPr lang="en-PK"/>
          </a:p>
        </p:txBody>
      </p:sp>
    </p:spTree>
    <p:extLst>
      <p:ext uri="{BB962C8B-B14F-4D97-AF65-F5344CB8AC3E}">
        <p14:creationId xmlns:p14="http://schemas.microsoft.com/office/powerpoint/2010/main" val="3001952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8E820-2D0A-A373-532C-2CEB3DF4250E}"/>
              </a:ext>
            </a:extLst>
          </p:cNvPr>
          <p:cNvSpPr>
            <a:spLocks noGrp="1"/>
          </p:cNvSpPr>
          <p:nvPr>
            <p:ph type="ctrTitle"/>
          </p:nvPr>
        </p:nvSpPr>
        <p:spPr>
          <a:xfrm>
            <a:off x="0" y="1"/>
            <a:ext cx="12192000" cy="973393"/>
          </a:xfrm>
        </p:spPr>
        <p:txBody>
          <a:bodyPr>
            <a:normAutofit/>
          </a:bodyPr>
          <a:lstStyle/>
          <a:p>
            <a:r>
              <a:rPr lang="en-US" b="1" dirty="0">
                <a:highlight>
                  <a:srgbClr val="FFFF00"/>
                </a:highlight>
              </a:rPr>
              <a:t>The Customer-Centric Quality Paradigm</a:t>
            </a:r>
            <a:endParaRPr lang="en-PK" b="1" dirty="0">
              <a:highlight>
                <a:srgbClr val="FFFF00"/>
              </a:highlight>
            </a:endParaRPr>
          </a:p>
        </p:txBody>
      </p:sp>
      <p:sp>
        <p:nvSpPr>
          <p:cNvPr id="3" name="Subtitle 2">
            <a:extLst>
              <a:ext uri="{FF2B5EF4-FFF2-40B4-BE49-F238E27FC236}">
                <a16:creationId xmlns:a16="http://schemas.microsoft.com/office/drawing/2014/main" id="{9DD2E2F6-0A45-AC32-B934-B093443D91D5}"/>
              </a:ext>
            </a:extLst>
          </p:cNvPr>
          <p:cNvSpPr>
            <a:spLocks noGrp="1"/>
          </p:cNvSpPr>
          <p:nvPr>
            <p:ph type="subTitle" idx="1"/>
          </p:nvPr>
        </p:nvSpPr>
        <p:spPr>
          <a:xfrm>
            <a:off x="-1" y="1165123"/>
            <a:ext cx="12191999" cy="5692877"/>
          </a:xfrm>
        </p:spPr>
        <p:txBody>
          <a:bodyPr>
            <a:normAutofit fontScale="85000" lnSpcReduction="10000"/>
          </a:bodyPr>
          <a:lstStyle/>
          <a:p>
            <a:r>
              <a:rPr lang="en-US" sz="3900" dirty="0"/>
              <a:t>The Customer-Centric Quality Paradigm focuses on delivering exceptional customer experiences through quality-driven processes.</a:t>
            </a:r>
            <a:br>
              <a:rPr lang="en-US" sz="3900" dirty="0"/>
            </a:br>
            <a:endParaRPr lang="en-US" sz="3900" dirty="0"/>
          </a:p>
          <a:p>
            <a:r>
              <a:rPr lang="en-US" sz="3900" dirty="0"/>
              <a:t>*Key Principles:*</a:t>
            </a:r>
          </a:p>
          <a:p>
            <a:r>
              <a:rPr lang="en-US" sz="3900" dirty="0"/>
              <a:t>1. Customer satisfaction is paramount</a:t>
            </a:r>
          </a:p>
          <a:p>
            <a:r>
              <a:rPr lang="en-US" sz="3900" dirty="0"/>
              <a:t>2. Quality is defined by customer needs</a:t>
            </a:r>
          </a:p>
          <a:p>
            <a:r>
              <a:rPr lang="en-US" sz="3900" dirty="0"/>
              <a:t>3. Employee empowerment and engagement</a:t>
            </a:r>
          </a:p>
          <a:p>
            <a:r>
              <a:rPr lang="en-US" sz="3900" dirty="0"/>
              <a:t>4. Continuous improvement and learning</a:t>
            </a:r>
          </a:p>
          <a:p>
            <a:r>
              <a:rPr lang="en-US" sz="3900" dirty="0"/>
              <a:t>5. Data-driven decision-making</a:t>
            </a:r>
          </a:p>
          <a:p>
            <a:r>
              <a:rPr lang="en-US" sz="3900" dirty="0"/>
              <a:t>6. Collaborative supply chain management</a:t>
            </a:r>
          </a:p>
          <a:p>
            <a:br>
              <a:rPr lang="en-US" dirty="0"/>
            </a:br>
            <a:endParaRPr lang="en-PK" dirty="0"/>
          </a:p>
        </p:txBody>
      </p:sp>
    </p:spTree>
    <p:extLst>
      <p:ext uri="{BB962C8B-B14F-4D97-AF65-F5344CB8AC3E}">
        <p14:creationId xmlns:p14="http://schemas.microsoft.com/office/powerpoint/2010/main" val="700643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0CFAD-7005-1A06-2D8B-D5F23AABCE64}"/>
              </a:ext>
            </a:extLst>
          </p:cNvPr>
          <p:cNvSpPr>
            <a:spLocks noGrp="1"/>
          </p:cNvSpPr>
          <p:nvPr>
            <p:ph type="title"/>
          </p:nvPr>
        </p:nvSpPr>
        <p:spPr>
          <a:xfrm>
            <a:off x="0" y="1"/>
            <a:ext cx="12192000" cy="1135625"/>
          </a:xfrm>
        </p:spPr>
        <p:txBody>
          <a:bodyPr>
            <a:normAutofit/>
          </a:bodyPr>
          <a:lstStyle/>
          <a:p>
            <a:pPr algn="ctr"/>
            <a:r>
              <a:rPr lang="en-US" sz="6000" b="1" dirty="0">
                <a:highlight>
                  <a:srgbClr val="FFFF00"/>
                </a:highlight>
              </a:rPr>
              <a:t>Customer-Centric Quality Framework</a:t>
            </a:r>
            <a:endParaRPr lang="en-PK" sz="6000" b="1" dirty="0">
              <a:highlight>
                <a:srgbClr val="FFFF00"/>
              </a:highlight>
            </a:endParaRPr>
          </a:p>
        </p:txBody>
      </p:sp>
      <p:sp>
        <p:nvSpPr>
          <p:cNvPr id="3" name="Content Placeholder 2">
            <a:extLst>
              <a:ext uri="{FF2B5EF4-FFF2-40B4-BE49-F238E27FC236}">
                <a16:creationId xmlns:a16="http://schemas.microsoft.com/office/drawing/2014/main" id="{3BA18991-40FD-A5DB-54D1-0C3844594E7D}"/>
              </a:ext>
            </a:extLst>
          </p:cNvPr>
          <p:cNvSpPr>
            <a:spLocks noGrp="1"/>
          </p:cNvSpPr>
          <p:nvPr>
            <p:ph idx="1"/>
          </p:nvPr>
        </p:nvSpPr>
        <p:spPr>
          <a:xfrm>
            <a:off x="-1" y="1401096"/>
            <a:ext cx="12300155" cy="5589639"/>
          </a:xfrm>
        </p:spPr>
        <p:txBody>
          <a:bodyPr>
            <a:noAutofit/>
          </a:bodyPr>
          <a:lstStyle/>
          <a:p>
            <a:pPr marL="0" indent="0">
              <a:buNone/>
            </a:pPr>
            <a:r>
              <a:rPr lang="en-US" sz="6000" dirty="0"/>
              <a:t>1. Identify customer requirements</a:t>
            </a:r>
          </a:p>
          <a:p>
            <a:pPr marL="0" indent="0">
              <a:buNone/>
            </a:pPr>
            <a:r>
              <a:rPr lang="en-US" sz="6000" dirty="0"/>
              <a:t>2. Design quality processes</a:t>
            </a:r>
          </a:p>
          <a:p>
            <a:pPr marL="0" indent="0">
              <a:buNone/>
            </a:pPr>
            <a:r>
              <a:rPr lang="en-US" sz="6000" dirty="0"/>
              <a:t>3. Measure and evaluate performance</a:t>
            </a:r>
          </a:p>
          <a:p>
            <a:pPr marL="0" indent="0">
              <a:buNone/>
            </a:pPr>
            <a:r>
              <a:rPr lang="en-US" sz="6000" dirty="0"/>
              <a:t>4. Analyze and improve processes</a:t>
            </a:r>
          </a:p>
          <a:p>
            <a:pPr marL="0" indent="0">
              <a:buNone/>
            </a:pPr>
            <a:r>
              <a:rPr lang="en-US" sz="6000" dirty="0"/>
              <a:t>5. Innovate and refine</a:t>
            </a:r>
          </a:p>
          <a:p>
            <a:pPr marL="0" indent="0">
              <a:buNone/>
            </a:pPr>
            <a:br>
              <a:rPr lang="en-US" sz="6000" dirty="0"/>
            </a:br>
            <a:endParaRPr lang="en-PK" sz="6000" dirty="0"/>
          </a:p>
        </p:txBody>
      </p:sp>
    </p:spTree>
    <p:extLst>
      <p:ext uri="{BB962C8B-B14F-4D97-AF65-F5344CB8AC3E}">
        <p14:creationId xmlns:p14="http://schemas.microsoft.com/office/powerpoint/2010/main" val="2285390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E6B9-C29B-1E2F-1F6D-06E09779D62A}"/>
              </a:ext>
            </a:extLst>
          </p:cNvPr>
          <p:cNvSpPr>
            <a:spLocks noGrp="1"/>
          </p:cNvSpPr>
          <p:nvPr>
            <p:ph type="title"/>
          </p:nvPr>
        </p:nvSpPr>
        <p:spPr>
          <a:xfrm>
            <a:off x="838200" y="147485"/>
            <a:ext cx="10515600" cy="929147"/>
          </a:xfrm>
        </p:spPr>
        <p:txBody>
          <a:bodyPr>
            <a:normAutofit/>
          </a:bodyPr>
          <a:lstStyle/>
          <a:p>
            <a:pPr algn="ctr"/>
            <a:r>
              <a:rPr lang="en-US" sz="6000" b="1" dirty="0">
                <a:highlight>
                  <a:srgbClr val="FFFF00"/>
                </a:highlight>
              </a:rPr>
              <a:t>Customer-Centric Quality Metrics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F1E9E994-650F-5054-340E-229B30391DE5}"/>
              </a:ext>
            </a:extLst>
          </p:cNvPr>
          <p:cNvSpPr>
            <a:spLocks noGrp="1"/>
          </p:cNvSpPr>
          <p:nvPr>
            <p:ph idx="1"/>
          </p:nvPr>
        </p:nvSpPr>
        <p:spPr>
          <a:xfrm>
            <a:off x="0" y="1327355"/>
            <a:ext cx="12192000" cy="5633884"/>
          </a:xfrm>
        </p:spPr>
        <p:txBody>
          <a:bodyPr>
            <a:normAutofit/>
          </a:bodyPr>
          <a:lstStyle/>
          <a:p>
            <a:pPr marL="0" indent="0">
              <a:buNone/>
            </a:pPr>
            <a:r>
              <a:rPr lang="en-US" sz="6000" dirty="0"/>
              <a:t>1. Customer Satisfaction (CSAT)</a:t>
            </a:r>
          </a:p>
          <a:p>
            <a:pPr marL="0" indent="0">
              <a:buNone/>
            </a:pPr>
            <a:r>
              <a:rPr lang="en-US" sz="6000" dirty="0"/>
              <a:t>2. Net Promoter Score (NPS)</a:t>
            </a:r>
          </a:p>
          <a:p>
            <a:pPr marL="0" indent="0">
              <a:buNone/>
            </a:pPr>
            <a:r>
              <a:rPr lang="en-US" sz="6000" dirty="0"/>
              <a:t>3. Customer Retention Rate</a:t>
            </a:r>
          </a:p>
          <a:p>
            <a:pPr marL="0" indent="0">
              <a:buNone/>
            </a:pPr>
            <a:r>
              <a:rPr lang="en-US" sz="6000" dirty="0"/>
              <a:t>4. Quality Rating (e.g., 5-star rating)</a:t>
            </a:r>
          </a:p>
          <a:p>
            <a:pPr marL="0" indent="0">
              <a:buNone/>
            </a:pPr>
            <a:r>
              <a:rPr lang="en-US" sz="6000" dirty="0"/>
              <a:t>5. First-Contact Resolution (FCR)</a:t>
            </a:r>
          </a:p>
          <a:p>
            <a:pPr marL="0" indent="0">
              <a:buNone/>
            </a:pPr>
            <a:br>
              <a:rPr lang="en-US" dirty="0"/>
            </a:br>
            <a:endParaRPr lang="en-PK" dirty="0"/>
          </a:p>
        </p:txBody>
      </p:sp>
    </p:spTree>
    <p:extLst>
      <p:ext uri="{BB962C8B-B14F-4D97-AF65-F5344CB8AC3E}">
        <p14:creationId xmlns:p14="http://schemas.microsoft.com/office/powerpoint/2010/main" val="2161613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00B89-41C1-8F1E-908A-C5B1C05CF59C}"/>
              </a:ext>
            </a:extLst>
          </p:cNvPr>
          <p:cNvSpPr>
            <a:spLocks noGrp="1"/>
          </p:cNvSpPr>
          <p:nvPr>
            <p:ph type="title"/>
          </p:nvPr>
        </p:nvSpPr>
        <p:spPr>
          <a:xfrm>
            <a:off x="838200" y="1"/>
            <a:ext cx="10515600" cy="1120876"/>
          </a:xfrm>
        </p:spPr>
        <p:txBody>
          <a:bodyPr>
            <a:normAutofit/>
          </a:bodyPr>
          <a:lstStyle/>
          <a:p>
            <a:pPr algn="ctr"/>
            <a:r>
              <a:rPr lang="en-US" sz="6000" b="1" dirty="0">
                <a:highlight>
                  <a:srgbClr val="FFFF00"/>
                </a:highlight>
              </a:rPr>
              <a:t>5-Star Quality Rating</a:t>
            </a:r>
            <a:endParaRPr lang="en-PK" sz="6000" b="1" dirty="0">
              <a:highlight>
                <a:srgbClr val="FFFF00"/>
              </a:highlight>
            </a:endParaRPr>
          </a:p>
        </p:txBody>
      </p:sp>
      <p:sp>
        <p:nvSpPr>
          <p:cNvPr id="3" name="Content Placeholder 2">
            <a:extLst>
              <a:ext uri="{FF2B5EF4-FFF2-40B4-BE49-F238E27FC236}">
                <a16:creationId xmlns:a16="http://schemas.microsoft.com/office/drawing/2014/main" id="{CEF50A18-DC88-95A7-0B2D-58AFE5C1FEDA}"/>
              </a:ext>
            </a:extLst>
          </p:cNvPr>
          <p:cNvSpPr>
            <a:spLocks noGrp="1"/>
          </p:cNvSpPr>
          <p:nvPr>
            <p:ph idx="1"/>
          </p:nvPr>
        </p:nvSpPr>
        <p:spPr>
          <a:xfrm>
            <a:off x="0" y="1224116"/>
            <a:ext cx="12192000" cy="5633884"/>
          </a:xfrm>
        </p:spPr>
        <p:txBody>
          <a:bodyPr>
            <a:normAutofit fontScale="32500" lnSpcReduction="20000"/>
          </a:bodyPr>
          <a:lstStyle/>
          <a:p>
            <a:r>
              <a:rPr lang="en-US" sz="8600" dirty="0"/>
              <a:t>The 5-Star Quality Rating is a widely used system to evaluate and improve quality in various industries.</a:t>
            </a:r>
            <a:br>
              <a:rPr lang="en-US" sz="8600" dirty="0"/>
            </a:br>
            <a:endParaRPr lang="en-US" sz="8600" dirty="0"/>
          </a:p>
          <a:p>
            <a:r>
              <a:rPr lang="en-US" sz="8600" dirty="0"/>
              <a:t>*</a:t>
            </a:r>
            <a:r>
              <a:rPr lang="en-US" sz="8600" b="1" dirty="0"/>
              <a:t>5-Star Quality Rating Criteria</a:t>
            </a:r>
            <a:r>
              <a:rPr lang="en-US" sz="8600" dirty="0"/>
              <a:t>:*</a:t>
            </a:r>
            <a:br>
              <a:rPr lang="en-US" sz="8600" dirty="0"/>
            </a:br>
            <a:endParaRPr lang="en-US" sz="8600" dirty="0"/>
          </a:p>
          <a:p>
            <a:r>
              <a:rPr lang="en-US" sz="8600" dirty="0"/>
              <a:t>1. *</a:t>
            </a:r>
            <a:r>
              <a:rPr lang="en-US" sz="8600" b="1" dirty="0"/>
              <a:t>Product/Service Quality</a:t>
            </a:r>
            <a:r>
              <a:rPr lang="en-US" sz="8600" dirty="0"/>
              <a:t>*: Meeting customer expectations, reliability, and performance.</a:t>
            </a:r>
            <a:br>
              <a:rPr lang="en-US" sz="8600" dirty="0"/>
            </a:br>
            <a:r>
              <a:rPr lang="en-US" sz="8600" dirty="0"/>
              <a:t>2. *</a:t>
            </a:r>
            <a:r>
              <a:rPr lang="en-US" sz="8600" b="1" dirty="0"/>
              <a:t>Customer Service</a:t>
            </a:r>
            <a:r>
              <a:rPr lang="en-US" sz="8600" dirty="0"/>
              <a:t>*: Timeliness, responsiveness, courtesy, and communication.</a:t>
            </a:r>
          </a:p>
          <a:p>
            <a:r>
              <a:rPr lang="en-US" sz="8600" dirty="0"/>
              <a:t>3. *</a:t>
            </a:r>
            <a:r>
              <a:rPr lang="en-US" sz="8600" b="1" dirty="0"/>
              <a:t>Cleanliness and Organization</a:t>
            </a:r>
            <a:r>
              <a:rPr lang="en-US" sz="8600" dirty="0"/>
              <a:t>*: Maintenance, hygiene, and visual appeal.</a:t>
            </a:r>
          </a:p>
          <a:p>
            <a:r>
              <a:rPr lang="en-US" sz="8600" dirty="0"/>
              <a:t>4. *</a:t>
            </a:r>
            <a:r>
              <a:rPr lang="en-US" sz="8600" b="1" dirty="0"/>
              <a:t>Safety and Security</a:t>
            </a:r>
            <a:r>
              <a:rPr lang="en-US" sz="8600" dirty="0"/>
              <a:t>*: Measures to prevent accidents, injuries, or harm.</a:t>
            </a:r>
          </a:p>
          <a:p>
            <a:r>
              <a:rPr lang="en-US" sz="8600" dirty="0"/>
              <a:t>5. *</a:t>
            </a:r>
            <a:r>
              <a:rPr lang="en-US" sz="8600" b="1" dirty="0"/>
              <a:t>Continuous Improvement</a:t>
            </a:r>
            <a:r>
              <a:rPr lang="en-US" sz="8600" dirty="0"/>
              <a:t>*: Ongoing efforts to enhance quality, innovate, and adapt.</a:t>
            </a:r>
          </a:p>
          <a:p>
            <a:pPr marL="0" indent="0">
              <a:buNone/>
            </a:pPr>
            <a:br>
              <a:rPr lang="en-US" dirty="0"/>
            </a:br>
            <a:endParaRPr lang="en-PK" dirty="0"/>
          </a:p>
        </p:txBody>
      </p:sp>
    </p:spTree>
    <p:extLst>
      <p:ext uri="{BB962C8B-B14F-4D97-AF65-F5344CB8AC3E}">
        <p14:creationId xmlns:p14="http://schemas.microsoft.com/office/powerpoint/2010/main" val="2779936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3E9A7-F634-6AF6-B2B6-88FB7642FE0E}"/>
              </a:ext>
            </a:extLst>
          </p:cNvPr>
          <p:cNvSpPr>
            <a:spLocks noGrp="1"/>
          </p:cNvSpPr>
          <p:nvPr>
            <p:ph type="title"/>
          </p:nvPr>
        </p:nvSpPr>
        <p:spPr>
          <a:xfrm>
            <a:off x="0" y="2"/>
            <a:ext cx="12192000" cy="1032385"/>
          </a:xfrm>
        </p:spPr>
        <p:txBody>
          <a:bodyPr>
            <a:normAutofit/>
          </a:bodyPr>
          <a:lstStyle/>
          <a:p>
            <a:pPr algn="ctr"/>
            <a:r>
              <a:rPr lang="en-US" sz="6000" b="1" dirty="0">
                <a:highlight>
                  <a:srgbClr val="FFFF00"/>
                </a:highlight>
              </a:rPr>
              <a:t>Benefits of 5-Star Quality Rating:*</a:t>
            </a:r>
            <a:endParaRPr lang="en-PK" sz="6000" b="1" dirty="0">
              <a:highlight>
                <a:srgbClr val="FFFF00"/>
              </a:highlight>
            </a:endParaRPr>
          </a:p>
        </p:txBody>
      </p:sp>
      <p:sp>
        <p:nvSpPr>
          <p:cNvPr id="3" name="Content Placeholder 2">
            <a:extLst>
              <a:ext uri="{FF2B5EF4-FFF2-40B4-BE49-F238E27FC236}">
                <a16:creationId xmlns:a16="http://schemas.microsoft.com/office/drawing/2014/main" id="{3A24F35C-F379-44A9-377B-74F7A3C7A678}"/>
              </a:ext>
            </a:extLst>
          </p:cNvPr>
          <p:cNvSpPr>
            <a:spLocks noGrp="1"/>
          </p:cNvSpPr>
          <p:nvPr>
            <p:ph idx="1"/>
          </p:nvPr>
        </p:nvSpPr>
        <p:spPr>
          <a:xfrm>
            <a:off x="0" y="1253612"/>
            <a:ext cx="12192000" cy="5604387"/>
          </a:xfrm>
        </p:spPr>
        <p:txBody>
          <a:bodyPr>
            <a:normAutofit lnSpcReduction="10000"/>
          </a:bodyPr>
          <a:lstStyle/>
          <a:p>
            <a:pPr marL="0" indent="0">
              <a:buNone/>
            </a:pPr>
            <a:r>
              <a:rPr lang="en-US" sz="6000" dirty="0"/>
              <a:t>1. Enhanced customer satisfaction</a:t>
            </a:r>
          </a:p>
          <a:p>
            <a:pPr marL="0" indent="0">
              <a:buNone/>
            </a:pPr>
            <a:r>
              <a:rPr lang="en-US" sz="6000" dirty="0"/>
              <a:t>2. Increased loyalty and retention</a:t>
            </a:r>
          </a:p>
          <a:p>
            <a:pPr marL="0" indent="0">
              <a:buNone/>
            </a:pPr>
            <a:r>
              <a:rPr lang="en-US" sz="6000" dirty="0"/>
              <a:t>3. Improved reputation and credibility</a:t>
            </a:r>
          </a:p>
          <a:p>
            <a:pPr marL="0" indent="0">
              <a:buNone/>
            </a:pPr>
            <a:r>
              <a:rPr lang="en-US" sz="6000" dirty="0"/>
              <a:t>4. Competitive advantage</a:t>
            </a:r>
          </a:p>
          <a:p>
            <a:pPr marL="0" indent="0">
              <a:buNone/>
            </a:pPr>
            <a:r>
              <a:rPr lang="en-US" sz="6000" dirty="0"/>
              <a:t>5. Increased revenue and growth</a:t>
            </a:r>
          </a:p>
          <a:p>
            <a:pPr marL="0" indent="0">
              <a:buNone/>
            </a:pPr>
            <a:br>
              <a:rPr lang="en-US" dirty="0"/>
            </a:br>
            <a:endParaRPr lang="en-PK" dirty="0"/>
          </a:p>
        </p:txBody>
      </p:sp>
    </p:spTree>
    <p:extLst>
      <p:ext uri="{BB962C8B-B14F-4D97-AF65-F5344CB8AC3E}">
        <p14:creationId xmlns:p14="http://schemas.microsoft.com/office/powerpoint/2010/main" val="4014461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35EF5-31FD-39BB-F2F9-7EF98FEBFEA6}"/>
              </a:ext>
            </a:extLst>
          </p:cNvPr>
          <p:cNvSpPr>
            <a:spLocks noGrp="1"/>
          </p:cNvSpPr>
          <p:nvPr>
            <p:ph type="title"/>
          </p:nvPr>
        </p:nvSpPr>
        <p:spPr>
          <a:xfrm>
            <a:off x="-1" y="1"/>
            <a:ext cx="12191999" cy="988141"/>
          </a:xfrm>
        </p:spPr>
        <p:txBody>
          <a:bodyPr>
            <a:normAutofit/>
          </a:bodyPr>
          <a:lstStyle/>
          <a:p>
            <a:pPr algn="ctr"/>
            <a:r>
              <a:rPr lang="en-US" sz="6000" b="1" dirty="0">
                <a:highlight>
                  <a:srgbClr val="FFFF00"/>
                </a:highlight>
              </a:rPr>
              <a:t>Industries Using 5-Star Quality Rating</a:t>
            </a:r>
            <a:endParaRPr lang="en-PK" sz="6000" b="1" dirty="0">
              <a:highlight>
                <a:srgbClr val="FFFF00"/>
              </a:highlight>
            </a:endParaRPr>
          </a:p>
        </p:txBody>
      </p:sp>
      <p:sp>
        <p:nvSpPr>
          <p:cNvPr id="3" name="Content Placeholder 2">
            <a:extLst>
              <a:ext uri="{FF2B5EF4-FFF2-40B4-BE49-F238E27FC236}">
                <a16:creationId xmlns:a16="http://schemas.microsoft.com/office/drawing/2014/main" id="{A7F91015-0F15-11B4-BB37-DEF8E7D1B96F}"/>
              </a:ext>
            </a:extLst>
          </p:cNvPr>
          <p:cNvSpPr>
            <a:spLocks noGrp="1"/>
          </p:cNvSpPr>
          <p:nvPr>
            <p:ph idx="1"/>
          </p:nvPr>
        </p:nvSpPr>
        <p:spPr>
          <a:xfrm>
            <a:off x="0" y="1091381"/>
            <a:ext cx="12192000" cy="5766618"/>
          </a:xfrm>
        </p:spPr>
        <p:txBody>
          <a:bodyPr>
            <a:normAutofit lnSpcReduction="10000"/>
          </a:bodyPr>
          <a:lstStyle/>
          <a:p>
            <a:r>
              <a:rPr lang="en-US" sz="5400" dirty="0"/>
              <a:t>1. Healthcare (hospitals, clinics)</a:t>
            </a:r>
          </a:p>
          <a:p>
            <a:r>
              <a:rPr lang="en-US" sz="5400" dirty="0"/>
              <a:t>2. Hospitality (hotels, restaurants)</a:t>
            </a:r>
          </a:p>
          <a:p>
            <a:r>
              <a:rPr lang="en-US" sz="5400" dirty="0"/>
              <a:t>3. Manufacturing</a:t>
            </a:r>
          </a:p>
          <a:p>
            <a:r>
              <a:rPr lang="en-US" sz="5400" dirty="0"/>
              <a:t>4. Service industries (retail, banking)</a:t>
            </a:r>
          </a:p>
          <a:p>
            <a:r>
              <a:rPr lang="en-US" sz="5400" dirty="0"/>
              <a:t>5. Healthcare services (nursing homes, home care)</a:t>
            </a:r>
          </a:p>
          <a:p>
            <a:pPr marL="0" indent="0">
              <a:buNone/>
            </a:pPr>
            <a:br>
              <a:rPr lang="en-US" dirty="0"/>
            </a:br>
            <a:endParaRPr lang="en-PK" dirty="0"/>
          </a:p>
        </p:txBody>
      </p:sp>
    </p:spTree>
    <p:extLst>
      <p:ext uri="{BB962C8B-B14F-4D97-AF65-F5344CB8AC3E}">
        <p14:creationId xmlns:p14="http://schemas.microsoft.com/office/powerpoint/2010/main" val="2431610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69F5-7574-F04F-6FBE-BF5D21FC7CE6}"/>
              </a:ext>
            </a:extLst>
          </p:cNvPr>
          <p:cNvSpPr>
            <a:spLocks noGrp="1"/>
          </p:cNvSpPr>
          <p:nvPr>
            <p:ph type="title"/>
          </p:nvPr>
        </p:nvSpPr>
        <p:spPr>
          <a:xfrm>
            <a:off x="0" y="1"/>
            <a:ext cx="12192000" cy="1032386"/>
          </a:xfrm>
        </p:spPr>
        <p:txBody>
          <a:bodyPr>
            <a:normAutofit/>
          </a:bodyPr>
          <a:lstStyle/>
          <a:p>
            <a:pPr algn="ctr"/>
            <a:r>
              <a:rPr lang="en-US" sz="6000" b="1" dirty="0">
                <a:highlight>
                  <a:srgbClr val="FFFF00"/>
                </a:highlight>
              </a:rPr>
              <a:t>Assessment and Evaluation Methods:*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6E48D483-D65C-1990-7DA2-8D61ABF057AE}"/>
              </a:ext>
            </a:extLst>
          </p:cNvPr>
          <p:cNvSpPr>
            <a:spLocks noGrp="1"/>
          </p:cNvSpPr>
          <p:nvPr>
            <p:ph idx="1"/>
          </p:nvPr>
        </p:nvSpPr>
        <p:spPr>
          <a:xfrm>
            <a:off x="-1" y="1032387"/>
            <a:ext cx="12191999" cy="5144576"/>
          </a:xfrm>
        </p:spPr>
        <p:txBody>
          <a:bodyPr>
            <a:normAutofit lnSpcReduction="10000"/>
          </a:bodyPr>
          <a:lstStyle/>
          <a:p>
            <a:pPr marL="0" indent="0">
              <a:buNone/>
            </a:pPr>
            <a:r>
              <a:rPr lang="en-US" sz="5400" dirty="0"/>
              <a:t>1. Customer surveys and feedback</a:t>
            </a:r>
          </a:p>
          <a:p>
            <a:pPr marL="0" indent="0">
              <a:buNone/>
            </a:pPr>
            <a:r>
              <a:rPr lang="en-US" sz="5400" dirty="0"/>
              <a:t>2. Mystery shopping</a:t>
            </a:r>
          </a:p>
          <a:p>
            <a:pPr marL="0" indent="0">
              <a:buNone/>
            </a:pPr>
            <a:r>
              <a:rPr lang="en-US" sz="5400" dirty="0"/>
              <a:t>3. Audits and inspections</a:t>
            </a:r>
          </a:p>
          <a:p>
            <a:pPr marL="0" indent="0">
              <a:buNone/>
            </a:pPr>
            <a:r>
              <a:rPr lang="en-US" sz="5400" dirty="0"/>
              <a:t>4. Performance metrics (e.g., defect rate)</a:t>
            </a:r>
          </a:p>
          <a:p>
            <a:pPr marL="0" indent="0">
              <a:buNone/>
            </a:pPr>
            <a:r>
              <a:rPr lang="en-US" sz="5400" dirty="0"/>
              <a:t>5. Employee evaluations</a:t>
            </a:r>
          </a:p>
          <a:p>
            <a:pPr marL="0" indent="0">
              <a:buNone/>
            </a:pPr>
            <a:br>
              <a:rPr lang="en-US" dirty="0"/>
            </a:br>
            <a:endParaRPr lang="en-PK" dirty="0"/>
          </a:p>
        </p:txBody>
      </p:sp>
    </p:spTree>
    <p:extLst>
      <p:ext uri="{BB962C8B-B14F-4D97-AF65-F5344CB8AC3E}">
        <p14:creationId xmlns:p14="http://schemas.microsoft.com/office/powerpoint/2010/main" val="1120203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6AED1-D7A9-FCF6-9E5C-A39D29FD10EF}"/>
              </a:ext>
            </a:extLst>
          </p:cNvPr>
          <p:cNvSpPr>
            <a:spLocks noGrp="1"/>
          </p:cNvSpPr>
          <p:nvPr>
            <p:ph type="title"/>
          </p:nvPr>
        </p:nvSpPr>
        <p:spPr>
          <a:xfrm>
            <a:off x="838200" y="1"/>
            <a:ext cx="10515600" cy="1047134"/>
          </a:xfrm>
        </p:spPr>
        <p:txBody>
          <a:bodyPr>
            <a:normAutofit/>
          </a:bodyPr>
          <a:lstStyle/>
          <a:p>
            <a:pPr algn="ctr"/>
            <a:r>
              <a:rPr lang="en-US" sz="6000" b="1" dirty="0">
                <a:highlight>
                  <a:srgbClr val="FFFF00"/>
                </a:highlight>
              </a:rPr>
              <a:t>Rating Scale</a:t>
            </a:r>
            <a:endParaRPr lang="en-PK" sz="6000" b="1" dirty="0">
              <a:highlight>
                <a:srgbClr val="FFFF00"/>
              </a:highlight>
            </a:endParaRPr>
          </a:p>
        </p:txBody>
      </p:sp>
      <p:sp>
        <p:nvSpPr>
          <p:cNvPr id="3" name="Content Placeholder 2">
            <a:extLst>
              <a:ext uri="{FF2B5EF4-FFF2-40B4-BE49-F238E27FC236}">
                <a16:creationId xmlns:a16="http://schemas.microsoft.com/office/drawing/2014/main" id="{B720A9BD-2051-D7E4-679D-85322AA17D03}"/>
              </a:ext>
            </a:extLst>
          </p:cNvPr>
          <p:cNvSpPr>
            <a:spLocks noGrp="1"/>
          </p:cNvSpPr>
          <p:nvPr>
            <p:ph idx="1"/>
          </p:nvPr>
        </p:nvSpPr>
        <p:spPr>
          <a:xfrm>
            <a:off x="0" y="1224116"/>
            <a:ext cx="12192000" cy="5633884"/>
          </a:xfrm>
        </p:spPr>
        <p:txBody>
          <a:bodyPr>
            <a:normAutofit lnSpcReduction="10000"/>
          </a:bodyPr>
          <a:lstStyle/>
          <a:p>
            <a:r>
              <a:rPr lang="en-US" sz="4800" dirty="0"/>
              <a:t> 1-Star: Poor quality, significant issues</a:t>
            </a:r>
          </a:p>
          <a:p>
            <a:r>
              <a:rPr lang="en-US" sz="4800" dirty="0"/>
              <a:t> 2-Stars: Fair quality, some improvements needed</a:t>
            </a:r>
          </a:p>
          <a:p>
            <a:r>
              <a:rPr lang="en-US" sz="4800" dirty="0"/>
              <a:t> 3-Stars: Good quality, meets expectations</a:t>
            </a:r>
          </a:p>
          <a:p>
            <a:r>
              <a:rPr lang="en-US" sz="4800" dirty="0"/>
              <a:t> 4-Stars: Excellent quality, exceeds expectations</a:t>
            </a:r>
          </a:p>
          <a:p>
            <a:r>
              <a:rPr lang="en-US" sz="4800" dirty="0"/>
              <a:t> 5-Stars: Exceptional quality, outstanding performance</a:t>
            </a:r>
          </a:p>
          <a:p>
            <a:pPr marL="0" indent="0">
              <a:buNone/>
            </a:pPr>
            <a:br>
              <a:rPr lang="en-US" dirty="0"/>
            </a:br>
            <a:endParaRPr lang="en-PK" dirty="0"/>
          </a:p>
        </p:txBody>
      </p:sp>
    </p:spTree>
    <p:extLst>
      <p:ext uri="{BB962C8B-B14F-4D97-AF65-F5344CB8AC3E}">
        <p14:creationId xmlns:p14="http://schemas.microsoft.com/office/powerpoint/2010/main" val="660340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665A-5A30-2242-F21D-451AD78A61CE}"/>
              </a:ext>
            </a:extLst>
          </p:cNvPr>
          <p:cNvSpPr>
            <a:spLocks noGrp="1"/>
          </p:cNvSpPr>
          <p:nvPr>
            <p:ph type="title"/>
          </p:nvPr>
        </p:nvSpPr>
        <p:spPr>
          <a:xfrm>
            <a:off x="838200" y="1"/>
            <a:ext cx="10515600" cy="1120876"/>
          </a:xfrm>
        </p:spPr>
        <p:txBody>
          <a:bodyPr>
            <a:normAutofit/>
          </a:bodyPr>
          <a:lstStyle/>
          <a:p>
            <a:pPr algn="ctr"/>
            <a:r>
              <a:rPr lang="en-US" sz="6000" b="1" dirty="0">
                <a:highlight>
                  <a:srgbClr val="FFFF00"/>
                </a:highlight>
              </a:rPr>
              <a:t>Best Practices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DE3676EC-1042-D1B0-AB9D-4C40227DA83C}"/>
              </a:ext>
            </a:extLst>
          </p:cNvPr>
          <p:cNvSpPr>
            <a:spLocks noGrp="1"/>
          </p:cNvSpPr>
          <p:nvPr>
            <p:ph idx="1"/>
          </p:nvPr>
        </p:nvSpPr>
        <p:spPr>
          <a:xfrm>
            <a:off x="0" y="1120877"/>
            <a:ext cx="12192000" cy="5737122"/>
          </a:xfrm>
        </p:spPr>
        <p:txBody>
          <a:bodyPr>
            <a:normAutofit lnSpcReduction="10000"/>
          </a:bodyPr>
          <a:lstStyle/>
          <a:p>
            <a:r>
              <a:rPr lang="en-US" sz="5400" dirty="0"/>
              <a:t>1. Set clear quality standards</a:t>
            </a:r>
          </a:p>
          <a:p>
            <a:r>
              <a:rPr lang="en-US" sz="5400" dirty="0"/>
              <a:t>2. Engage employees in quality initiatives</a:t>
            </a:r>
          </a:p>
          <a:p>
            <a:r>
              <a:rPr lang="en-US" sz="5400" dirty="0"/>
              <a:t>3. Continuously collect customer feedback</a:t>
            </a:r>
          </a:p>
          <a:p>
            <a:r>
              <a:rPr lang="en-US" sz="5400" dirty="0"/>
              <a:t>4. Analyze and address quality issues</a:t>
            </a:r>
          </a:p>
          <a:p>
            <a:r>
              <a:rPr lang="en-US" sz="5400" dirty="0"/>
              <a:t>5. Recognize and reward quality achievements</a:t>
            </a:r>
          </a:p>
          <a:p>
            <a:pPr marL="0" indent="0">
              <a:buNone/>
            </a:pPr>
            <a:br>
              <a:rPr lang="en-US" dirty="0"/>
            </a:br>
            <a:endParaRPr lang="en-PK" dirty="0"/>
          </a:p>
        </p:txBody>
      </p:sp>
    </p:spTree>
    <p:extLst>
      <p:ext uri="{BB962C8B-B14F-4D97-AF65-F5344CB8AC3E}">
        <p14:creationId xmlns:p14="http://schemas.microsoft.com/office/powerpoint/2010/main" val="1624050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AB0EF-7AE5-2A2B-C8EB-94DD759123B4}"/>
              </a:ext>
            </a:extLst>
          </p:cNvPr>
          <p:cNvSpPr>
            <a:spLocks noGrp="1"/>
          </p:cNvSpPr>
          <p:nvPr>
            <p:ph type="title"/>
          </p:nvPr>
        </p:nvSpPr>
        <p:spPr>
          <a:xfrm>
            <a:off x="838200" y="1"/>
            <a:ext cx="10515600" cy="1091380"/>
          </a:xfrm>
        </p:spPr>
        <p:txBody>
          <a:bodyPr>
            <a:normAutofit/>
          </a:bodyPr>
          <a:lstStyle/>
          <a:p>
            <a:pPr algn="ctr"/>
            <a:r>
              <a:rPr lang="en-US" sz="6000" b="1" dirty="0">
                <a:highlight>
                  <a:srgbClr val="FFFF00"/>
                </a:highlight>
              </a:rPr>
              <a:t>First Contact Resolution (FCR)</a:t>
            </a:r>
            <a:endParaRPr lang="en-PK" sz="6000" b="1" dirty="0">
              <a:highlight>
                <a:srgbClr val="FFFF00"/>
              </a:highlight>
            </a:endParaRPr>
          </a:p>
        </p:txBody>
      </p:sp>
      <p:sp>
        <p:nvSpPr>
          <p:cNvPr id="3" name="Content Placeholder 2">
            <a:extLst>
              <a:ext uri="{FF2B5EF4-FFF2-40B4-BE49-F238E27FC236}">
                <a16:creationId xmlns:a16="http://schemas.microsoft.com/office/drawing/2014/main" id="{624E170A-8870-5954-57BB-327496422133}"/>
              </a:ext>
            </a:extLst>
          </p:cNvPr>
          <p:cNvSpPr>
            <a:spLocks noGrp="1"/>
          </p:cNvSpPr>
          <p:nvPr>
            <p:ph idx="1"/>
          </p:nvPr>
        </p:nvSpPr>
        <p:spPr>
          <a:xfrm>
            <a:off x="0" y="1091381"/>
            <a:ext cx="12192000" cy="5766618"/>
          </a:xfrm>
        </p:spPr>
        <p:txBody>
          <a:bodyPr>
            <a:normAutofit lnSpcReduction="10000"/>
          </a:bodyPr>
          <a:lstStyle/>
          <a:p>
            <a:r>
              <a:rPr lang="en-US" sz="4800" dirty="0"/>
              <a:t>First Contact Resolution (FCR) is a critical metric in customer service and support.</a:t>
            </a:r>
          </a:p>
          <a:p>
            <a:endParaRPr lang="en-US" sz="4800" dirty="0"/>
          </a:p>
          <a:p>
            <a:r>
              <a:rPr lang="en-US" sz="4800" dirty="0"/>
              <a:t>*Definition:*</a:t>
            </a:r>
          </a:p>
          <a:p>
            <a:r>
              <a:rPr lang="en-US" sz="4800" dirty="0"/>
              <a:t>FCR measures the percentage of customer issues resolved on the first contact, eliminating the need for repeat interactions.</a:t>
            </a:r>
          </a:p>
          <a:p>
            <a:pPr marL="0" indent="0">
              <a:buNone/>
            </a:pPr>
            <a:br>
              <a:rPr lang="en-US" sz="3200" dirty="0"/>
            </a:br>
            <a:endParaRPr lang="en-PK" sz="3200" dirty="0"/>
          </a:p>
        </p:txBody>
      </p:sp>
    </p:spTree>
    <p:extLst>
      <p:ext uri="{BB962C8B-B14F-4D97-AF65-F5344CB8AC3E}">
        <p14:creationId xmlns:p14="http://schemas.microsoft.com/office/powerpoint/2010/main" val="1733768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9D4F-8EE3-1A39-D22F-8970976427BA}"/>
              </a:ext>
            </a:extLst>
          </p:cNvPr>
          <p:cNvSpPr>
            <a:spLocks noGrp="1"/>
          </p:cNvSpPr>
          <p:nvPr>
            <p:ph type="title"/>
          </p:nvPr>
        </p:nvSpPr>
        <p:spPr>
          <a:xfrm>
            <a:off x="838200" y="1"/>
            <a:ext cx="10515600" cy="1120876"/>
          </a:xfrm>
        </p:spPr>
        <p:txBody>
          <a:bodyPr>
            <a:normAutofit/>
          </a:bodyPr>
          <a:lstStyle/>
          <a:p>
            <a:pPr algn="ctr"/>
            <a:r>
              <a:rPr lang="en-US" sz="6000" b="1" dirty="0">
                <a:highlight>
                  <a:srgbClr val="FFFF00"/>
                </a:highlight>
              </a:rPr>
              <a:t>Benefits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24D6B548-EC57-3DD1-32AF-906A11C7DC24}"/>
              </a:ext>
            </a:extLst>
          </p:cNvPr>
          <p:cNvSpPr>
            <a:spLocks noGrp="1"/>
          </p:cNvSpPr>
          <p:nvPr>
            <p:ph idx="1"/>
          </p:nvPr>
        </p:nvSpPr>
        <p:spPr>
          <a:xfrm>
            <a:off x="0" y="1120877"/>
            <a:ext cx="12192000" cy="5056086"/>
          </a:xfrm>
        </p:spPr>
        <p:txBody>
          <a:bodyPr>
            <a:normAutofit fontScale="92500" lnSpcReduction="20000"/>
          </a:bodyPr>
          <a:lstStyle/>
          <a:p>
            <a:r>
              <a:rPr lang="en-US" sz="5800" dirty="0"/>
              <a:t>1. Improved customer satisfaction</a:t>
            </a:r>
          </a:p>
          <a:p>
            <a:r>
              <a:rPr lang="en-US" sz="5800" dirty="0"/>
              <a:t>2. Reduced repeat contacts and callbacks</a:t>
            </a:r>
          </a:p>
          <a:p>
            <a:r>
              <a:rPr lang="en-US" sz="5800" dirty="0"/>
              <a:t>3. Increased efficiency and productivity</a:t>
            </a:r>
          </a:p>
          <a:p>
            <a:r>
              <a:rPr lang="en-US" sz="5800" dirty="0"/>
              <a:t>4. Enhanced customer loyalty and retention</a:t>
            </a:r>
          </a:p>
          <a:p>
            <a:r>
              <a:rPr lang="en-US" sz="5800" dirty="0"/>
              <a:t>5. Cost savings</a:t>
            </a:r>
          </a:p>
          <a:p>
            <a:pPr marL="0" indent="0">
              <a:buNone/>
            </a:pPr>
            <a:br>
              <a:rPr lang="en-US" dirty="0"/>
            </a:br>
            <a:endParaRPr lang="en-PK" dirty="0"/>
          </a:p>
        </p:txBody>
      </p:sp>
    </p:spTree>
    <p:extLst>
      <p:ext uri="{BB962C8B-B14F-4D97-AF65-F5344CB8AC3E}">
        <p14:creationId xmlns:p14="http://schemas.microsoft.com/office/powerpoint/2010/main" val="34672584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9C2A2-BD8A-78BC-0714-0C17673AF8B0}"/>
              </a:ext>
            </a:extLst>
          </p:cNvPr>
          <p:cNvSpPr>
            <a:spLocks noGrp="1"/>
          </p:cNvSpPr>
          <p:nvPr>
            <p:ph type="title"/>
          </p:nvPr>
        </p:nvSpPr>
        <p:spPr>
          <a:xfrm>
            <a:off x="838200" y="103239"/>
            <a:ext cx="10515600" cy="1106129"/>
          </a:xfrm>
        </p:spPr>
        <p:txBody>
          <a:bodyPr>
            <a:normAutofit/>
          </a:bodyPr>
          <a:lstStyle/>
          <a:p>
            <a:pPr algn="ctr"/>
            <a:r>
              <a:rPr lang="en-US" sz="6000" b="1" dirty="0">
                <a:highlight>
                  <a:srgbClr val="FFFF00"/>
                </a:highlight>
              </a:rPr>
              <a:t>Key Drivers of FCR</a:t>
            </a:r>
            <a:endParaRPr lang="en-PK" sz="6000" b="1" dirty="0">
              <a:highlight>
                <a:srgbClr val="FFFF00"/>
              </a:highlight>
            </a:endParaRPr>
          </a:p>
        </p:txBody>
      </p:sp>
      <p:sp>
        <p:nvSpPr>
          <p:cNvPr id="3" name="Content Placeholder 2">
            <a:extLst>
              <a:ext uri="{FF2B5EF4-FFF2-40B4-BE49-F238E27FC236}">
                <a16:creationId xmlns:a16="http://schemas.microsoft.com/office/drawing/2014/main" id="{72BBF78D-78DC-5D2E-53DB-D120BAE46B78}"/>
              </a:ext>
            </a:extLst>
          </p:cNvPr>
          <p:cNvSpPr>
            <a:spLocks noGrp="1"/>
          </p:cNvSpPr>
          <p:nvPr>
            <p:ph idx="1"/>
          </p:nvPr>
        </p:nvSpPr>
        <p:spPr>
          <a:xfrm>
            <a:off x="0" y="1209368"/>
            <a:ext cx="12192000" cy="4967595"/>
          </a:xfrm>
        </p:spPr>
        <p:txBody>
          <a:bodyPr>
            <a:normAutofit fontScale="85000" lnSpcReduction="10000"/>
          </a:bodyPr>
          <a:lstStyle/>
          <a:p>
            <a:r>
              <a:rPr lang="en-US" sz="5600" dirty="0"/>
              <a:t>1. Effective issue identification</a:t>
            </a:r>
          </a:p>
          <a:p>
            <a:r>
              <a:rPr lang="en-US" sz="5600" dirty="0"/>
              <a:t>2. Accurate diagnosis and troubleshooting</a:t>
            </a:r>
          </a:p>
          <a:p>
            <a:r>
              <a:rPr lang="en-US" sz="5600" dirty="0"/>
              <a:t>3. Clear communication and explanation</a:t>
            </a:r>
          </a:p>
          <a:p>
            <a:r>
              <a:rPr lang="en-US" sz="5600" dirty="0"/>
              <a:t>4. Empowered customer service representatives</a:t>
            </a:r>
          </a:p>
          <a:p>
            <a:r>
              <a:rPr lang="en-US" sz="5600" dirty="0"/>
              <a:t>5. Access to relevant information and resources</a:t>
            </a:r>
          </a:p>
          <a:p>
            <a:br>
              <a:rPr lang="en-US" dirty="0"/>
            </a:br>
            <a:endParaRPr lang="en-PK" dirty="0"/>
          </a:p>
        </p:txBody>
      </p:sp>
    </p:spTree>
    <p:extLst>
      <p:ext uri="{BB962C8B-B14F-4D97-AF65-F5344CB8AC3E}">
        <p14:creationId xmlns:p14="http://schemas.microsoft.com/office/powerpoint/2010/main" val="3817226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FFDBC-54F1-C2FA-3B53-B6853541ECD6}"/>
              </a:ext>
            </a:extLst>
          </p:cNvPr>
          <p:cNvSpPr>
            <a:spLocks noGrp="1"/>
          </p:cNvSpPr>
          <p:nvPr>
            <p:ph type="title"/>
          </p:nvPr>
        </p:nvSpPr>
        <p:spPr>
          <a:xfrm>
            <a:off x="838200" y="1"/>
            <a:ext cx="10515600" cy="1061883"/>
          </a:xfrm>
        </p:spPr>
        <p:txBody>
          <a:bodyPr>
            <a:normAutofit/>
          </a:bodyPr>
          <a:lstStyle/>
          <a:p>
            <a:pPr algn="ctr"/>
            <a:r>
              <a:rPr lang="en-US" sz="6000" b="1" dirty="0">
                <a:highlight>
                  <a:srgbClr val="FFFF00"/>
                </a:highlight>
              </a:rPr>
              <a:t>FCR Metrics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4E489FF2-4B98-E0F0-DE65-DB09EAFDD6C4}"/>
              </a:ext>
            </a:extLst>
          </p:cNvPr>
          <p:cNvSpPr>
            <a:spLocks noGrp="1"/>
          </p:cNvSpPr>
          <p:nvPr>
            <p:ph idx="1"/>
          </p:nvPr>
        </p:nvSpPr>
        <p:spPr>
          <a:xfrm>
            <a:off x="0" y="1061884"/>
            <a:ext cx="11353800" cy="5115079"/>
          </a:xfrm>
        </p:spPr>
        <p:txBody>
          <a:bodyPr>
            <a:normAutofit/>
          </a:bodyPr>
          <a:lstStyle/>
          <a:p>
            <a:r>
              <a:rPr lang="en-US" sz="4800" dirty="0"/>
              <a:t>1. First Contact Resolution Rate (%)</a:t>
            </a:r>
          </a:p>
          <a:p>
            <a:r>
              <a:rPr lang="en-US" sz="4800" dirty="0"/>
              <a:t>2. Repeat Contact Rate (%)</a:t>
            </a:r>
          </a:p>
          <a:p>
            <a:r>
              <a:rPr lang="en-US" sz="4800" dirty="0"/>
              <a:t>3. Resolution Time (seconds/minutes)</a:t>
            </a:r>
          </a:p>
          <a:p>
            <a:r>
              <a:rPr lang="en-US" sz="4800" dirty="0"/>
              <a:t>4. Customer Satisfaction (CSAT) score</a:t>
            </a:r>
          </a:p>
          <a:p>
            <a:r>
              <a:rPr lang="en-US" sz="4800" dirty="0"/>
              <a:t>5. Net Promoter Score (NPS)</a:t>
            </a:r>
          </a:p>
          <a:p>
            <a:br>
              <a:rPr lang="en-US" dirty="0"/>
            </a:br>
            <a:endParaRPr lang="en-PK" dirty="0"/>
          </a:p>
        </p:txBody>
      </p:sp>
    </p:spTree>
    <p:extLst>
      <p:ext uri="{BB962C8B-B14F-4D97-AF65-F5344CB8AC3E}">
        <p14:creationId xmlns:p14="http://schemas.microsoft.com/office/powerpoint/2010/main" val="535563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BAA9F-E703-0470-ABE2-7F147B3A0890}"/>
              </a:ext>
            </a:extLst>
          </p:cNvPr>
          <p:cNvSpPr>
            <a:spLocks noGrp="1"/>
          </p:cNvSpPr>
          <p:nvPr>
            <p:ph type="title"/>
          </p:nvPr>
        </p:nvSpPr>
        <p:spPr>
          <a:xfrm>
            <a:off x="838200" y="1"/>
            <a:ext cx="10515600" cy="1047134"/>
          </a:xfrm>
        </p:spPr>
        <p:txBody>
          <a:bodyPr>
            <a:normAutofit/>
          </a:bodyPr>
          <a:lstStyle/>
          <a:p>
            <a:pPr algn="ctr"/>
            <a:r>
              <a:rPr lang="en-US" sz="6600" b="1" dirty="0">
                <a:highlight>
                  <a:srgbClr val="FFFF00"/>
                </a:highlight>
              </a:rPr>
              <a:t>Industry Benchmarks</a:t>
            </a:r>
            <a:endParaRPr lang="en-PK" sz="6600" b="1" dirty="0">
              <a:highlight>
                <a:srgbClr val="FFFF00"/>
              </a:highlight>
            </a:endParaRPr>
          </a:p>
        </p:txBody>
      </p:sp>
      <p:sp>
        <p:nvSpPr>
          <p:cNvPr id="3" name="Content Placeholder 2">
            <a:extLst>
              <a:ext uri="{FF2B5EF4-FFF2-40B4-BE49-F238E27FC236}">
                <a16:creationId xmlns:a16="http://schemas.microsoft.com/office/drawing/2014/main" id="{44D3C7F2-BFAC-9E62-4619-B2695D4CFC89}"/>
              </a:ext>
            </a:extLst>
          </p:cNvPr>
          <p:cNvSpPr>
            <a:spLocks noGrp="1"/>
          </p:cNvSpPr>
          <p:nvPr>
            <p:ph idx="1"/>
          </p:nvPr>
        </p:nvSpPr>
        <p:spPr>
          <a:xfrm>
            <a:off x="103239" y="1238864"/>
            <a:ext cx="12088761" cy="5619135"/>
          </a:xfrm>
        </p:spPr>
        <p:txBody>
          <a:bodyPr/>
          <a:lstStyle/>
          <a:p>
            <a:r>
              <a:rPr lang="en-US" sz="6000" dirty="0"/>
              <a:t>1. Average FCR rate: 70-80%</a:t>
            </a:r>
          </a:p>
          <a:p>
            <a:r>
              <a:rPr lang="en-US" sz="6000" dirty="0"/>
              <a:t>2. Best-in-class FCR rate: 90%+</a:t>
            </a:r>
          </a:p>
          <a:p>
            <a:r>
              <a:rPr lang="en-US" sz="6000" dirty="0"/>
              <a:t>3. Target resolution time: &lt;5 minutes</a:t>
            </a:r>
          </a:p>
          <a:p>
            <a:br>
              <a:rPr lang="en-US" dirty="0"/>
            </a:br>
            <a:endParaRPr lang="en-PK" dirty="0"/>
          </a:p>
        </p:txBody>
      </p:sp>
    </p:spTree>
    <p:extLst>
      <p:ext uri="{BB962C8B-B14F-4D97-AF65-F5344CB8AC3E}">
        <p14:creationId xmlns:p14="http://schemas.microsoft.com/office/powerpoint/2010/main" val="3983724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296E2-3E40-293D-AD1C-0F45188DFEA9}"/>
              </a:ext>
            </a:extLst>
          </p:cNvPr>
          <p:cNvSpPr>
            <a:spLocks noGrp="1"/>
          </p:cNvSpPr>
          <p:nvPr>
            <p:ph type="title"/>
          </p:nvPr>
        </p:nvSpPr>
        <p:spPr>
          <a:xfrm>
            <a:off x="838200" y="206478"/>
            <a:ext cx="10515600" cy="825910"/>
          </a:xfrm>
        </p:spPr>
        <p:txBody>
          <a:bodyPr>
            <a:normAutofit fontScale="90000"/>
          </a:bodyPr>
          <a:lstStyle/>
          <a:p>
            <a:pPr algn="ctr"/>
            <a:r>
              <a:rPr lang="en-US" sz="6600" b="1" dirty="0">
                <a:highlight>
                  <a:srgbClr val="FFFF00"/>
                </a:highlight>
              </a:rPr>
              <a:t>Strategies to Improve FCR</a:t>
            </a:r>
            <a:endParaRPr lang="en-PK" sz="6600" b="1" dirty="0">
              <a:highlight>
                <a:srgbClr val="FFFF00"/>
              </a:highlight>
            </a:endParaRPr>
          </a:p>
        </p:txBody>
      </p:sp>
      <p:sp>
        <p:nvSpPr>
          <p:cNvPr id="3" name="Content Placeholder 2">
            <a:extLst>
              <a:ext uri="{FF2B5EF4-FFF2-40B4-BE49-F238E27FC236}">
                <a16:creationId xmlns:a16="http://schemas.microsoft.com/office/drawing/2014/main" id="{3903B333-D019-0510-5365-237FEC511067}"/>
              </a:ext>
            </a:extLst>
          </p:cNvPr>
          <p:cNvSpPr>
            <a:spLocks noGrp="1"/>
          </p:cNvSpPr>
          <p:nvPr>
            <p:ph idx="1"/>
          </p:nvPr>
        </p:nvSpPr>
        <p:spPr>
          <a:xfrm>
            <a:off x="0" y="1150374"/>
            <a:ext cx="12192000" cy="5604387"/>
          </a:xfrm>
        </p:spPr>
        <p:txBody>
          <a:bodyPr>
            <a:normAutofit fontScale="85000" lnSpcReduction="10000"/>
          </a:bodyPr>
          <a:lstStyle/>
          <a:p>
            <a:r>
              <a:rPr lang="en-US" sz="5600" dirty="0"/>
              <a:t>1. Provide thorough training to customer service representatives</a:t>
            </a:r>
          </a:p>
          <a:p>
            <a:r>
              <a:rPr lang="en-US" sz="5600" dirty="0"/>
              <a:t>2. Implement knowledge management systems</a:t>
            </a:r>
          </a:p>
          <a:p>
            <a:r>
              <a:rPr lang="en-US" sz="5600" dirty="0"/>
              <a:t>3. Streamline processes and eliminate unnecessary steps</a:t>
            </a:r>
          </a:p>
          <a:p>
            <a:r>
              <a:rPr lang="en-US" sz="5600" dirty="0"/>
              <a:t>4. Empower representatives to make decisions</a:t>
            </a:r>
          </a:p>
          <a:p>
            <a:r>
              <a:rPr lang="en-US" sz="5600" dirty="0"/>
              <a:t>5. Conduct root cause analysis of repeat issues</a:t>
            </a:r>
          </a:p>
          <a:p>
            <a:br>
              <a:rPr lang="en-US" dirty="0"/>
            </a:br>
            <a:endParaRPr lang="en-PK" dirty="0"/>
          </a:p>
        </p:txBody>
      </p:sp>
    </p:spTree>
    <p:extLst>
      <p:ext uri="{BB962C8B-B14F-4D97-AF65-F5344CB8AC3E}">
        <p14:creationId xmlns:p14="http://schemas.microsoft.com/office/powerpoint/2010/main" val="307478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0BC4D-E5C6-5DBF-C5F9-F22E1C89E9E9}"/>
              </a:ext>
            </a:extLst>
          </p:cNvPr>
          <p:cNvSpPr>
            <a:spLocks noGrp="1"/>
          </p:cNvSpPr>
          <p:nvPr>
            <p:ph type="title"/>
          </p:nvPr>
        </p:nvSpPr>
        <p:spPr>
          <a:xfrm>
            <a:off x="838200" y="1"/>
            <a:ext cx="10515600" cy="973393"/>
          </a:xfrm>
        </p:spPr>
        <p:txBody>
          <a:bodyPr>
            <a:normAutofit/>
          </a:bodyPr>
          <a:lstStyle/>
          <a:p>
            <a:pPr algn="ctr"/>
            <a:r>
              <a:rPr lang="en-US" sz="6000" b="1" dirty="0">
                <a:highlight>
                  <a:srgbClr val="FFFF00"/>
                </a:highlight>
              </a:rPr>
              <a:t>Tools and Technologies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1012890D-08BC-6C37-FCED-473051B74923}"/>
              </a:ext>
            </a:extLst>
          </p:cNvPr>
          <p:cNvSpPr>
            <a:spLocks noGrp="1"/>
          </p:cNvSpPr>
          <p:nvPr>
            <p:ph idx="1"/>
          </p:nvPr>
        </p:nvSpPr>
        <p:spPr>
          <a:xfrm>
            <a:off x="0" y="973394"/>
            <a:ext cx="12192000" cy="5884606"/>
          </a:xfrm>
        </p:spPr>
        <p:txBody>
          <a:bodyPr>
            <a:normAutofit/>
          </a:bodyPr>
          <a:lstStyle/>
          <a:p>
            <a:r>
              <a:rPr lang="en-US" sz="4800" dirty="0"/>
              <a:t>1. Customer Relationship Management (CRM) software</a:t>
            </a:r>
          </a:p>
          <a:p>
            <a:r>
              <a:rPr lang="en-US" sz="4800" dirty="0"/>
              <a:t>2. Knowledge Base and FAQ systems</a:t>
            </a:r>
          </a:p>
          <a:p>
            <a:r>
              <a:rPr lang="en-US" sz="4800" dirty="0"/>
              <a:t>3. Chatbots and AI-powered support</a:t>
            </a:r>
          </a:p>
          <a:p>
            <a:r>
              <a:rPr lang="en-US" sz="4800" dirty="0"/>
              <a:t>4. Call recording and analytics tools</a:t>
            </a:r>
          </a:p>
          <a:p>
            <a:r>
              <a:rPr lang="en-US" sz="4800" dirty="0"/>
              <a:t>5. Quality monitoring and coaching software</a:t>
            </a:r>
          </a:p>
          <a:p>
            <a:br>
              <a:rPr lang="en-US" dirty="0"/>
            </a:br>
            <a:endParaRPr lang="en-PK" dirty="0"/>
          </a:p>
        </p:txBody>
      </p:sp>
    </p:spTree>
    <p:extLst>
      <p:ext uri="{BB962C8B-B14F-4D97-AF65-F5344CB8AC3E}">
        <p14:creationId xmlns:p14="http://schemas.microsoft.com/office/powerpoint/2010/main" val="4152234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013B3-97EE-52C4-40DD-457CA44061B4}"/>
              </a:ext>
            </a:extLst>
          </p:cNvPr>
          <p:cNvSpPr>
            <a:spLocks noGrp="1"/>
          </p:cNvSpPr>
          <p:nvPr>
            <p:ph type="title"/>
          </p:nvPr>
        </p:nvSpPr>
        <p:spPr>
          <a:xfrm>
            <a:off x="838200" y="1"/>
            <a:ext cx="10515600" cy="840657"/>
          </a:xfrm>
        </p:spPr>
        <p:txBody>
          <a:bodyPr>
            <a:normAutofit fontScale="90000"/>
          </a:bodyPr>
          <a:lstStyle/>
          <a:p>
            <a:pPr algn="ctr"/>
            <a:r>
              <a:rPr lang="en-US" sz="6000" b="1" dirty="0">
                <a:highlight>
                  <a:srgbClr val="FFFF00"/>
                </a:highlight>
              </a:rPr>
              <a:t>Best Practices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A69B413B-25A2-2592-F70E-4E6B58822A3D}"/>
              </a:ext>
            </a:extLst>
          </p:cNvPr>
          <p:cNvSpPr>
            <a:spLocks noGrp="1"/>
          </p:cNvSpPr>
          <p:nvPr>
            <p:ph idx="1"/>
          </p:nvPr>
        </p:nvSpPr>
        <p:spPr>
          <a:xfrm>
            <a:off x="0" y="1076632"/>
            <a:ext cx="12192000" cy="5899355"/>
          </a:xfrm>
        </p:spPr>
        <p:txBody>
          <a:bodyPr>
            <a:normAutofit fontScale="92500"/>
          </a:bodyPr>
          <a:lstStyle/>
          <a:p>
            <a:r>
              <a:rPr lang="en-US" sz="5400" dirty="0"/>
              <a:t>1. Monitor and track FCR metrics regularly</a:t>
            </a:r>
          </a:p>
          <a:p>
            <a:r>
              <a:rPr lang="en-US" sz="5400" dirty="0"/>
              <a:t>2. Recognize and reward high FCR performers</a:t>
            </a:r>
          </a:p>
          <a:p>
            <a:r>
              <a:rPr lang="en-US" sz="5400" dirty="0"/>
              <a:t>3. Continuously gather customer feedback</a:t>
            </a:r>
          </a:p>
          <a:p>
            <a:r>
              <a:rPr lang="en-US" sz="5400" dirty="0"/>
              <a:t>4. Analyze and address root causes of repeat issues</a:t>
            </a:r>
          </a:p>
          <a:p>
            <a:r>
              <a:rPr lang="en-US" sz="5400" dirty="0"/>
              <a:t>5. Foster a customer-centric culture</a:t>
            </a:r>
          </a:p>
          <a:p>
            <a:br>
              <a:rPr lang="en-US" dirty="0"/>
            </a:br>
            <a:endParaRPr lang="en-PK" dirty="0"/>
          </a:p>
        </p:txBody>
      </p:sp>
    </p:spTree>
    <p:extLst>
      <p:ext uri="{BB962C8B-B14F-4D97-AF65-F5344CB8AC3E}">
        <p14:creationId xmlns:p14="http://schemas.microsoft.com/office/powerpoint/2010/main" val="2131836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5C7EC-7811-8777-2EC2-8D7ED4155FB9}"/>
              </a:ext>
            </a:extLst>
          </p:cNvPr>
          <p:cNvSpPr>
            <a:spLocks noGrp="1"/>
          </p:cNvSpPr>
          <p:nvPr>
            <p:ph type="title"/>
          </p:nvPr>
        </p:nvSpPr>
        <p:spPr>
          <a:xfrm>
            <a:off x="838200" y="1"/>
            <a:ext cx="10515600" cy="1032386"/>
          </a:xfrm>
        </p:spPr>
        <p:txBody>
          <a:bodyPr>
            <a:normAutofit/>
          </a:bodyPr>
          <a:lstStyle/>
          <a:p>
            <a:pPr algn="ctr"/>
            <a:r>
              <a:rPr lang="en-US" sz="6000" b="1" dirty="0">
                <a:highlight>
                  <a:srgbClr val="FFFF00"/>
                </a:highlight>
              </a:rPr>
              <a:t>Net Promoter Score (NPS)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91E22156-6503-AFF3-6B8B-95BD883DD874}"/>
              </a:ext>
            </a:extLst>
          </p:cNvPr>
          <p:cNvSpPr>
            <a:spLocks noGrp="1"/>
          </p:cNvSpPr>
          <p:nvPr>
            <p:ph idx="1"/>
          </p:nvPr>
        </p:nvSpPr>
        <p:spPr>
          <a:xfrm>
            <a:off x="0" y="1150374"/>
            <a:ext cx="12192000" cy="5707626"/>
          </a:xfrm>
        </p:spPr>
        <p:txBody>
          <a:bodyPr>
            <a:normAutofit fontScale="92500" lnSpcReduction="10000"/>
          </a:bodyPr>
          <a:lstStyle/>
          <a:p>
            <a:r>
              <a:rPr lang="en-US" sz="3600" dirty="0"/>
              <a:t>Net Promoter Score (NPS) is a widely used metric that measures customer loyalty by asking one simple question: How likely are you to recommend our brand, product, or service to a friend or colleague? This question is rated on a scale of 0-10, and respondents are grouped into three categories:</a:t>
            </a:r>
          </a:p>
          <a:p>
            <a:r>
              <a:rPr lang="en-US" sz="3600" dirty="0"/>
              <a:t>- *Promoters* (score 9-10): Loyal enthusiasts who will keep buying and refer others, fueling growth ¹ ².</a:t>
            </a:r>
          </a:p>
          <a:p>
            <a:r>
              <a:rPr lang="en-US" sz="3600" dirty="0"/>
              <a:t>- *Passives* (score 7-8): Satisfied but unenthusiastic customers who are vulnerable to competitive offerings ¹ ².</a:t>
            </a:r>
          </a:p>
          <a:p>
            <a:r>
              <a:rPr lang="en-US" sz="3600" dirty="0"/>
              <a:t>- *Detractors* (score 0-6): Unhappy customers who can damage your brand and impede growth through negative word-of-mouth ¹ ².</a:t>
            </a:r>
          </a:p>
          <a:p>
            <a:pPr marL="0" indent="0">
              <a:buNone/>
            </a:pPr>
            <a:br>
              <a:rPr lang="en-US" dirty="0"/>
            </a:br>
            <a:endParaRPr lang="en-PK" dirty="0"/>
          </a:p>
        </p:txBody>
      </p:sp>
    </p:spTree>
    <p:extLst>
      <p:ext uri="{BB962C8B-B14F-4D97-AF65-F5344CB8AC3E}">
        <p14:creationId xmlns:p14="http://schemas.microsoft.com/office/powerpoint/2010/main" val="2397613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1CD56-87BD-FEA3-F535-B579FDC806AE}"/>
              </a:ext>
            </a:extLst>
          </p:cNvPr>
          <p:cNvSpPr>
            <a:spLocks noGrp="1"/>
          </p:cNvSpPr>
          <p:nvPr>
            <p:ph type="title"/>
          </p:nvPr>
        </p:nvSpPr>
        <p:spPr>
          <a:xfrm>
            <a:off x="838200" y="1"/>
            <a:ext cx="10515600" cy="1002889"/>
          </a:xfrm>
        </p:spPr>
        <p:txBody>
          <a:bodyPr>
            <a:normAutofit/>
          </a:bodyPr>
          <a:lstStyle/>
          <a:p>
            <a:pPr algn="ctr"/>
            <a:r>
              <a:rPr lang="en-US" sz="6000" b="1" dirty="0">
                <a:highlight>
                  <a:srgbClr val="FFFF00"/>
                </a:highlight>
              </a:rPr>
              <a:t>NPS score</a:t>
            </a:r>
            <a:endParaRPr lang="en-PK" sz="6000" b="1" dirty="0">
              <a:highlight>
                <a:srgbClr val="FFFF00"/>
              </a:highlight>
            </a:endParaRPr>
          </a:p>
        </p:txBody>
      </p:sp>
      <p:sp>
        <p:nvSpPr>
          <p:cNvPr id="3" name="Content Placeholder 2">
            <a:extLst>
              <a:ext uri="{FF2B5EF4-FFF2-40B4-BE49-F238E27FC236}">
                <a16:creationId xmlns:a16="http://schemas.microsoft.com/office/drawing/2014/main" id="{82F579B2-CE17-294D-6B1E-FEADF33BF8B6}"/>
              </a:ext>
            </a:extLst>
          </p:cNvPr>
          <p:cNvSpPr>
            <a:spLocks noGrp="1"/>
          </p:cNvSpPr>
          <p:nvPr>
            <p:ph idx="1"/>
          </p:nvPr>
        </p:nvSpPr>
        <p:spPr>
          <a:xfrm>
            <a:off x="0" y="1002890"/>
            <a:ext cx="12192000" cy="5855110"/>
          </a:xfrm>
        </p:spPr>
        <p:txBody>
          <a:bodyPr>
            <a:normAutofit fontScale="92500" lnSpcReduction="20000"/>
          </a:bodyPr>
          <a:lstStyle/>
          <a:p>
            <a:r>
              <a:rPr lang="en-US" sz="3900" dirty="0"/>
              <a:t>The NPS score is calculated by subtracting the percentage of Detractors from the percentage of Promoters. For example, if 10% of respondents are Detractors, 20% are Passives, and 70% are Promoters, your NPS score would be 60.</a:t>
            </a:r>
            <a:br>
              <a:rPr lang="en-US" sz="3900" dirty="0"/>
            </a:br>
            <a:endParaRPr lang="en-US" sz="3900" dirty="0"/>
          </a:p>
          <a:p>
            <a:r>
              <a:rPr lang="en-US" sz="3900" dirty="0"/>
              <a:t>But what's a good NPS score? Well, it varies by industry. Here are some general guidelines:</a:t>
            </a:r>
          </a:p>
          <a:p>
            <a:r>
              <a:rPr lang="en-US" sz="3900" dirty="0"/>
              <a:t>- *Above 0*: Good</a:t>
            </a:r>
          </a:p>
          <a:p>
            <a:r>
              <a:rPr lang="en-US" sz="3900" dirty="0"/>
              <a:t>- *Above 20*: Favorable</a:t>
            </a:r>
          </a:p>
          <a:p>
            <a:r>
              <a:rPr lang="en-US" sz="3900" dirty="0"/>
              <a:t>- *Above 50*: Excellent</a:t>
            </a:r>
          </a:p>
          <a:p>
            <a:r>
              <a:rPr lang="en-US" sz="3900" dirty="0"/>
              <a:t>- *Above 80*: World-class </a:t>
            </a:r>
          </a:p>
          <a:p>
            <a:pPr marL="0" indent="0">
              <a:buNone/>
            </a:pPr>
            <a:br>
              <a:rPr lang="en-US" dirty="0"/>
            </a:br>
            <a:endParaRPr lang="en-PK" dirty="0"/>
          </a:p>
        </p:txBody>
      </p:sp>
    </p:spTree>
    <p:extLst>
      <p:ext uri="{BB962C8B-B14F-4D97-AF65-F5344CB8AC3E}">
        <p14:creationId xmlns:p14="http://schemas.microsoft.com/office/powerpoint/2010/main" val="657453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50758-725D-F6A2-B99F-D02D3C5FFA57}"/>
              </a:ext>
            </a:extLst>
          </p:cNvPr>
          <p:cNvSpPr>
            <a:spLocks noGrp="1"/>
          </p:cNvSpPr>
          <p:nvPr>
            <p:ph type="title"/>
          </p:nvPr>
        </p:nvSpPr>
        <p:spPr>
          <a:xfrm>
            <a:off x="838200" y="1"/>
            <a:ext cx="10515600" cy="958644"/>
          </a:xfrm>
        </p:spPr>
        <p:txBody>
          <a:bodyPr>
            <a:normAutofit/>
          </a:bodyPr>
          <a:lstStyle/>
          <a:p>
            <a:pPr algn="ctr"/>
            <a:r>
              <a:rPr lang="en-US" sz="6000" b="1" dirty="0">
                <a:highlight>
                  <a:srgbClr val="FFFF00"/>
                </a:highlight>
              </a:rPr>
              <a:t>NPS score</a:t>
            </a:r>
            <a:endParaRPr lang="en-PK" sz="6000" b="1" dirty="0"/>
          </a:p>
        </p:txBody>
      </p:sp>
      <p:sp>
        <p:nvSpPr>
          <p:cNvPr id="3" name="Content Placeholder 2">
            <a:extLst>
              <a:ext uri="{FF2B5EF4-FFF2-40B4-BE49-F238E27FC236}">
                <a16:creationId xmlns:a16="http://schemas.microsoft.com/office/drawing/2014/main" id="{79E4953A-A818-713E-83E0-15FF0E948FA1}"/>
              </a:ext>
            </a:extLst>
          </p:cNvPr>
          <p:cNvSpPr>
            <a:spLocks noGrp="1"/>
          </p:cNvSpPr>
          <p:nvPr>
            <p:ph idx="1"/>
          </p:nvPr>
        </p:nvSpPr>
        <p:spPr>
          <a:xfrm>
            <a:off x="0" y="1253612"/>
            <a:ext cx="12192000" cy="5604387"/>
          </a:xfrm>
        </p:spPr>
        <p:txBody>
          <a:bodyPr>
            <a:normAutofit lnSpcReduction="10000"/>
          </a:bodyPr>
          <a:lstStyle/>
          <a:p>
            <a:pPr algn="l"/>
            <a:r>
              <a:rPr lang="en-US" sz="4000" b="0" i="0" dirty="0">
                <a:solidFill>
                  <a:srgbClr val="222222"/>
                </a:solidFill>
                <a:effectLst/>
                <a:latin typeface="Arial" panose="020B0604020202020204" pitchFamily="34" charset="0"/>
              </a:rPr>
              <a:t>Keep in mind that NPS scores can vary substantially between industries. For instance, the grocery industry has an average NPS of 30, while the consumer payments industry's average is -6.</a:t>
            </a:r>
            <a:br>
              <a:rPr lang="en-US" sz="4000" b="0" i="0" dirty="0">
                <a:solidFill>
                  <a:srgbClr val="222222"/>
                </a:solidFill>
                <a:effectLst/>
                <a:latin typeface="Arial" panose="020B0604020202020204" pitchFamily="34" charset="0"/>
              </a:rPr>
            </a:br>
            <a:endParaRPr lang="en-US" sz="4000" b="0" i="0" dirty="0">
              <a:solidFill>
                <a:srgbClr val="222222"/>
              </a:solidFill>
              <a:effectLst/>
              <a:latin typeface="Arial" panose="020B0604020202020204" pitchFamily="34" charset="0"/>
            </a:endParaRPr>
          </a:p>
          <a:p>
            <a:pPr algn="l"/>
            <a:r>
              <a:rPr lang="en-US" sz="4000" b="0" i="0" dirty="0">
                <a:solidFill>
                  <a:srgbClr val="222222"/>
                </a:solidFill>
                <a:effectLst/>
                <a:latin typeface="Arial" panose="020B0604020202020204" pitchFamily="34" charset="0"/>
              </a:rPr>
              <a:t>NPS is not just a metric; it's a benchmark to track and improve customer experience. By analyzing your NPS score, you can identify areas to improve and prioritize changes to enhance customer loyalty and growth.</a:t>
            </a:r>
          </a:p>
          <a:p>
            <a:endParaRPr lang="en-PK" dirty="0"/>
          </a:p>
        </p:txBody>
      </p:sp>
    </p:spTree>
    <p:extLst>
      <p:ext uri="{BB962C8B-B14F-4D97-AF65-F5344CB8AC3E}">
        <p14:creationId xmlns:p14="http://schemas.microsoft.com/office/powerpoint/2010/main" val="3894172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21B4C-F1A4-3229-66F0-BFCBB89C559F}"/>
              </a:ext>
            </a:extLst>
          </p:cNvPr>
          <p:cNvSpPr>
            <a:spLocks noGrp="1"/>
          </p:cNvSpPr>
          <p:nvPr>
            <p:ph type="title"/>
          </p:nvPr>
        </p:nvSpPr>
        <p:spPr>
          <a:xfrm>
            <a:off x="838200" y="1"/>
            <a:ext cx="10515600" cy="1076631"/>
          </a:xfrm>
        </p:spPr>
        <p:txBody>
          <a:bodyPr>
            <a:normAutofit/>
          </a:bodyPr>
          <a:lstStyle/>
          <a:p>
            <a:pPr algn="ctr"/>
            <a:r>
              <a:rPr lang="en-US" sz="6000" b="1" dirty="0">
                <a:highlight>
                  <a:srgbClr val="FFFF00"/>
                </a:highlight>
              </a:rPr>
              <a:t>Customer Satisfaction (CSAT)</a:t>
            </a:r>
            <a:endParaRPr lang="en-PK" sz="6000" b="1" dirty="0">
              <a:highlight>
                <a:srgbClr val="FFFF00"/>
              </a:highlight>
            </a:endParaRPr>
          </a:p>
        </p:txBody>
      </p:sp>
      <p:sp>
        <p:nvSpPr>
          <p:cNvPr id="3" name="Content Placeholder 2">
            <a:extLst>
              <a:ext uri="{FF2B5EF4-FFF2-40B4-BE49-F238E27FC236}">
                <a16:creationId xmlns:a16="http://schemas.microsoft.com/office/drawing/2014/main" id="{88E4A566-1913-AD05-B3CB-57D022F273DE}"/>
              </a:ext>
            </a:extLst>
          </p:cNvPr>
          <p:cNvSpPr>
            <a:spLocks noGrp="1"/>
          </p:cNvSpPr>
          <p:nvPr>
            <p:ph idx="1"/>
          </p:nvPr>
        </p:nvSpPr>
        <p:spPr>
          <a:xfrm>
            <a:off x="0" y="1076632"/>
            <a:ext cx="12192000" cy="5928852"/>
          </a:xfrm>
        </p:spPr>
        <p:txBody>
          <a:bodyPr>
            <a:normAutofit lnSpcReduction="10000"/>
          </a:bodyPr>
          <a:lstStyle/>
          <a:p>
            <a:r>
              <a:rPr lang="en-US" sz="4400" dirty="0"/>
              <a:t>Customer Satisfaction (CSAT) is a crucial metric that measures how well a product, service, or experience meets customer expectations.</a:t>
            </a:r>
          </a:p>
          <a:p>
            <a:r>
              <a:rPr lang="en-US" sz="4400" dirty="0"/>
              <a:t>*Types of CSAT Metrics:*</a:t>
            </a:r>
          </a:p>
          <a:p>
            <a:pPr marL="0" indent="0">
              <a:buNone/>
            </a:pPr>
            <a:r>
              <a:rPr lang="en-US" sz="4400" dirty="0"/>
              <a:t>1. Transactional CSAT: Measures satisfaction after a specific interaction.</a:t>
            </a:r>
          </a:p>
          <a:p>
            <a:pPr marL="0" indent="0">
              <a:buNone/>
            </a:pPr>
            <a:r>
              <a:rPr lang="en-US" sz="4400" dirty="0"/>
              <a:t>2. Relational CSAT: Evaluates overall satisfaction with the brand.</a:t>
            </a:r>
          </a:p>
          <a:p>
            <a:pPr marL="0" indent="0">
              <a:buNone/>
            </a:pPr>
            <a:br>
              <a:rPr lang="en-US" dirty="0"/>
            </a:br>
            <a:endParaRPr lang="en-PK" dirty="0"/>
          </a:p>
        </p:txBody>
      </p:sp>
    </p:spTree>
    <p:extLst>
      <p:ext uri="{BB962C8B-B14F-4D97-AF65-F5344CB8AC3E}">
        <p14:creationId xmlns:p14="http://schemas.microsoft.com/office/powerpoint/2010/main" val="366331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C2D16-AA6B-CDCE-56B7-183AAC6C910B}"/>
              </a:ext>
            </a:extLst>
          </p:cNvPr>
          <p:cNvSpPr>
            <a:spLocks noGrp="1"/>
          </p:cNvSpPr>
          <p:nvPr>
            <p:ph type="title"/>
          </p:nvPr>
        </p:nvSpPr>
        <p:spPr>
          <a:xfrm>
            <a:off x="838200" y="1"/>
            <a:ext cx="10515600" cy="1002889"/>
          </a:xfrm>
        </p:spPr>
        <p:txBody>
          <a:bodyPr>
            <a:normAutofit/>
          </a:bodyPr>
          <a:lstStyle/>
          <a:p>
            <a:pPr algn="ctr"/>
            <a:r>
              <a:rPr lang="en-US" sz="6000" b="1" dirty="0">
                <a:highlight>
                  <a:srgbClr val="FFFF00"/>
                </a:highlight>
              </a:rPr>
              <a:t>CSAT Measurement Methods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BC8823F7-1BAD-C140-6FBD-19AF89F0337B}"/>
              </a:ext>
            </a:extLst>
          </p:cNvPr>
          <p:cNvSpPr>
            <a:spLocks noGrp="1"/>
          </p:cNvSpPr>
          <p:nvPr>
            <p:ph idx="1"/>
          </p:nvPr>
        </p:nvSpPr>
        <p:spPr>
          <a:xfrm>
            <a:off x="0" y="1386348"/>
            <a:ext cx="12192000" cy="5471652"/>
          </a:xfrm>
        </p:spPr>
        <p:txBody>
          <a:bodyPr>
            <a:normAutofit/>
          </a:bodyPr>
          <a:lstStyle/>
          <a:p>
            <a:r>
              <a:rPr lang="en-US" sz="5400" dirty="0"/>
              <a:t>1. Surveys (online, phone, in-person)</a:t>
            </a:r>
          </a:p>
          <a:p>
            <a:r>
              <a:rPr lang="en-US" sz="5400" dirty="0"/>
              <a:t>2. Feedback forms</a:t>
            </a:r>
          </a:p>
          <a:p>
            <a:r>
              <a:rPr lang="en-US" sz="5400" dirty="0"/>
              <a:t>3. Social media monitoring</a:t>
            </a:r>
          </a:p>
          <a:p>
            <a:r>
              <a:rPr lang="en-US" sz="5400" dirty="0"/>
              <a:t>4. Net Promoter Score (NPS)</a:t>
            </a:r>
          </a:p>
          <a:p>
            <a:r>
              <a:rPr lang="en-US" sz="5400" dirty="0"/>
              <a:t>5. Customer Effort Score (CES)</a:t>
            </a:r>
          </a:p>
          <a:p>
            <a:pPr marL="0" indent="0">
              <a:buNone/>
            </a:pPr>
            <a:br>
              <a:rPr lang="en-US" dirty="0"/>
            </a:br>
            <a:endParaRPr lang="en-PK" dirty="0"/>
          </a:p>
        </p:txBody>
      </p:sp>
    </p:spTree>
    <p:extLst>
      <p:ext uri="{BB962C8B-B14F-4D97-AF65-F5344CB8AC3E}">
        <p14:creationId xmlns:p14="http://schemas.microsoft.com/office/powerpoint/2010/main" val="5476640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F0A8-F0A5-74C8-C4B0-86CFF710DEE3}"/>
              </a:ext>
            </a:extLst>
          </p:cNvPr>
          <p:cNvSpPr>
            <a:spLocks noGrp="1"/>
          </p:cNvSpPr>
          <p:nvPr>
            <p:ph type="title"/>
          </p:nvPr>
        </p:nvSpPr>
        <p:spPr>
          <a:xfrm>
            <a:off x="838200" y="1"/>
            <a:ext cx="10515600" cy="973393"/>
          </a:xfrm>
        </p:spPr>
        <p:txBody>
          <a:bodyPr>
            <a:normAutofit/>
          </a:bodyPr>
          <a:lstStyle/>
          <a:p>
            <a:pPr algn="ctr"/>
            <a:r>
              <a:rPr lang="en-US" sz="6000" b="1" dirty="0">
                <a:highlight>
                  <a:srgbClr val="FFFF00"/>
                </a:highlight>
              </a:rPr>
              <a:t>CSAT Benefits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39782C9E-D8E5-3EEF-8893-055D9600161D}"/>
              </a:ext>
            </a:extLst>
          </p:cNvPr>
          <p:cNvSpPr>
            <a:spLocks noGrp="1"/>
          </p:cNvSpPr>
          <p:nvPr>
            <p:ph idx="1"/>
          </p:nvPr>
        </p:nvSpPr>
        <p:spPr>
          <a:xfrm>
            <a:off x="0" y="1430594"/>
            <a:ext cx="12192000" cy="5427405"/>
          </a:xfrm>
        </p:spPr>
        <p:txBody>
          <a:bodyPr>
            <a:normAutofit/>
          </a:bodyPr>
          <a:lstStyle/>
          <a:p>
            <a:r>
              <a:rPr lang="en-US" sz="4800" dirty="0"/>
              <a:t>1. Improved customer retention</a:t>
            </a:r>
          </a:p>
          <a:p>
            <a:r>
              <a:rPr lang="en-US" sz="4800" dirty="0"/>
              <a:t>2. Increased loyalty and advocacy</a:t>
            </a:r>
          </a:p>
          <a:p>
            <a:r>
              <a:rPr lang="en-US" sz="4800" dirty="0"/>
              <a:t>3. Enhanced reputation and brand image</a:t>
            </a:r>
          </a:p>
          <a:p>
            <a:r>
              <a:rPr lang="en-US" sz="4800" dirty="0"/>
              <a:t>4. Increased revenue and growth</a:t>
            </a:r>
          </a:p>
          <a:p>
            <a:r>
              <a:rPr lang="en-US" sz="4800" dirty="0"/>
              <a:t>5. Better decision-making</a:t>
            </a:r>
          </a:p>
          <a:p>
            <a:pPr marL="0" indent="0">
              <a:buNone/>
            </a:pPr>
            <a:br>
              <a:rPr lang="en-US" dirty="0"/>
            </a:br>
            <a:endParaRPr lang="en-PK" dirty="0"/>
          </a:p>
        </p:txBody>
      </p:sp>
    </p:spTree>
    <p:extLst>
      <p:ext uri="{BB962C8B-B14F-4D97-AF65-F5344CB8AC3E}">
        <p14:creationId xmlns:p14="http://schemas.microsoft.com/office/powerpoint/2010/main" val="5477643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443E2-79C0-77E3-0665-FC7D066F8FFE}"/>
              </a:ext>
            </a:extLst>
          </p:cNvPr>
          <p:cNvSpPr>
            <a:spLocks noGrp="1"/>
          </p:cNvSpPr>
          <p:nvPr>
            <p:ph type="title"/>
          </p:nvPr>
        </p:nvSpPr>
        <p:spPr>
          <a:xfrm>
            <a:off x="838200" y="1"/>
            <a:ext cx="10515600" cy="929147"/>
          </a:xfrm>
        </p:spPr>
        <p:txBody>
          <a:bodyPr>
            <a:normAutofit/>
          </a:bodyPr>
          <a:lstStyle/>
          <a:p>
            <a:pPr algn="ctr"/>
            <a:r>
              <a:rPr lang="en-US" sz="6000" b="1" dirty="0">
                <a:highlight>
                  <a:srgbClr val="FFFF00"/>
                </a:highlight>
              </a:rPr>
              <a:t>CSAT Metrics and Benchmarks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B3A483C3-E45D-A074-165F-3FDEE5B70662}"/>
              </a:ext>
            </a:extLst>
          </p:cNvPr>
          <p:cNvSpPr>
            <a:spLocks noGrp="1"/>
          </p:cNvSpPr>
          <p:nvPr>
            <p:ph idx="1"/>
          </p:nvPr>
        </p:nvSpPr>
        <p:spPr>
          <a:xfrm>
            <a:off x="103239" y="1179870"/>
            <a:ext cx="12088761" cy="5678129"/>
          </a:xfrm>
        </p:spPr>
        <p:txBody>
          <a:bodyPr>
            <a:normAutofit/>
          </a:bodyPr>
          <a:lstStyle/>
          <a:p>
            <a:r>
              <a:rPr lang="en-US" sz="5400" dirty="0"/>
              <a:t>1. CSAT score (% satisfied customers)</a:t>
            </a:r>
          </a:p>
          <a:p>
            <a:r>
              <a:rPr lang="en-US" sz="5400" dirty="0"/>
              <a:t>2. Customer Retention Rate (%)</a:t>
            </a:r>
          </a:p>
          <a:p>
            <a:r>
              <a:rPr lang="en-US" sz="5400" dirty="0"/>
              <a:t>3. Customer Churn Rate (%)</a:t>
            </a:r>
          </a:p>
          <a:p>
            <a:r>
              <a:rPr lang="en-US" sz="5400" dirty="0"/>
              <a:t>4. NPS (Net Promoter Score)</a:t>
            </a:r>
          </a:p>
          <a:p>
            <a:r>
              <a:rPr lang="en-US" sz="5400" dirty="0"/>
              <a:t>5. CES (Customer Effort Score)</a:t>
            </a:r>
          </a:p>
          <a:p>
            <a:pPr marL="0" indent="0">
              <a:buNone/>
            </a:pPr>
            <a:br>
              <a:rPr lang="en-US" dirty="0"/>
            </a:br>
            <a:endParaRPr lang="en-PK" dirty="0"/>
          </a:p>
        </p:txBody>
      </p:sp>
    </p:spTree>
    <p:extLst>
      <p:ext uri="{BB962C8B-B14F-4D97-AF65-F5344CB8AC3E}">
        <p14:creationId xmlns:p14="http://schemas.microsoft.com/office/powerpoint/2010/main" val="178116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D61D0-62E3-47FE-41DD-E48F3969E14B}"/>
              </a:ext>
            </a:extLst>
          </p:cNvPr>
          <p:cNvSpPr>
            <a:spLocks noGrp="1"/>
          </p:cNvSpPr>
          <p:nvPr>
            <p:ph type="title"/>
          </p:nvPr>
        </p:nvSpPr>
        <p:spPr>
          <a:xfrm>
            <a:off x="838200" y="1"/>
            <a:ext cx="10515600" cy="1135625"/>
          </a:xfrm>
        </p:spPr>
        <p:txBody>
          <a:bodyPr>
            <a:normAutofit/>
          </a:bodyPr>
          <a:lstStyle/>
          <a:p>
            <a:pPr algn="ctr"/>
            <a:r>
              <a:rPr lang="en-US" sz="6000" b="1" dirty="0">
                <a:highlight>
                  <a:srgbClr val="FFFF00"/>
                </a:highlight>
              </a:rPr>
              <a:t>Industry CSAT Benchmarks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70942383-8005-578C-381F-2CB899B83954}"/>
              </a:ext>
            </a:extLst>
          </p:cNvPr>
          <p:cNvSpPr>
            <a:spLocks noGrp="1"/>
          </p:cNvSpPr>
          <p:nvPr>
            <p:ph idx="1"/>
          </p:nvPr>
        </p:nvSpPr>
        <p:spPr>
          <a:xfrm>
            <a:off x="103239" y="1135626"/>
            <a:ext cx="12088761" cy="5722373"/>
          </a:xfrm>
        </p:spPr>
        <p:txBody>
          <a:bodyPr>
            <a:normAutofit/>
          </a:bodyPr>
          <a:lstStyle/>
          <a:p>
            <a:r>
              <a:rPr lang="en-US" sz="5400" dirty="0"/>
              <a:t>1. Retail: 80-90% CSAT</a:t>
            </a:r>
          </a:p>
          <a:p>
            <a:r>
              <a:rPr lang="en-US" sz="5400" dirty="0"/>
              <a:t>2. Healthcare: 85-95% CSAT</a:t>
            </a:r>
          </a:p>
          <a:p>
            <a:r>
              <a:rPr lang="en-US" sz="5400" dirty="0"/>
              <a:t>3. Financial Services: 75-90% CSAT</a:t>
            </a:r>
          </a:p>
          <a:p>
            <a:r>
              <a:rPr lang="en-US" sz="5400" dirty="0"/>
              <a:t>4. Technology: 85-95% CSAT</a:t>
            </a:r>
          </a:p>
          <a:p>
            <a:r>
              <a:rPr lang="en-US" sz="5400" dirty="0"/>
              <a:t>5. Hospitality: 90-95% CSAT</a:t>
            </a:r>
          </a:p>
          <a:p>
            <a:br>
              <a:rPr lang="en-US" dirty="0"/>
            </a:br>
            <a:endParaRPr lang="en-PK" dirty="0"/>
          </a:p>
        </p:txBody>
      </p:sp>
    </p:spTree>
    <p:extLst>
      <p:ext uri="{BB962C8B-B14F-4D97-AF65-F5344CB8AC3E}">
        <p14:creationId xmlns:p14="http://schemas.microsoft.com/office/powerpoint/2010/main" val="2489830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3066D-BDD3-C034-247B-E134ED4E2EC3}"/>
              </a:ext>
            </a:extLst>
          </p:cNvPr>
          <p:cNvSpPr>
            <a:spLocks noGrp="1"/>
          </p:cNvSpPr>
          <p:nvPr>
            <p:ph type="title"/>
          </p:nvPr>
        </p:nvSpPr>
        <p:spPr>
          <a:xfrm>
            <a:off x="838200" y="117988"/>
            <a:ext cx="10515600" cy="914400"/>
          </a:xfrm>
        </p:spPr>
        <p:txBody>
          <a:bodyPr>
            <a:normAutofit/>
          </a:bodyPr>
          <a:lstStyle/>
          <a:p>
            <a:pPr algn="ctr"/>
            <a:r>
              <a:rPr lang="en-US" sz="6000" b="1" dirty="0">
                <a:highlight>
                  <a:srgbClr val="FFFF00"/>
                </a:highlight>
              </a:rPr>
              <a:t>Factors Influencing CSAT</a:t>
            </a:r>
            <a:endParaRPr lang="en-PK" sz="6000" b="1" dirty="0">
              <a:highlight>
                <a:srgbClr val="FFFF00"/>
              </a:highlight>
            </a:endParaRPr>
          </a:p>
        </p:txBody>
      </p:sp>
      <p:sp>
        <p:nvSpPr>
          <p:cNvPr id="3" name="Content Placeholder 2">
            <a:extLst>
              <a:ext uri="{FF2B5EF4-FFF2-40B4-BE49-F238E27FC236}">
                <a16:creationId xmlns:a16="http://schemas.microsoft.com/office/drawing/2014/main" id="{53A025A4-03A9-B22D-97AD-462114C0445D}"/>
              </a:ext>
            </a:extLst>
          </p:cNvPr>
          <p:cNvSpPr>
            <a:spLocks noGrp="1"/>
          </p:cNvSpPr>
          <p:nvPr>
            <p:ph idx="1"/>
          </p:nvPr>
        </p:nvSpPr>
        <p:spPr>
          <a:xfrm>
            <a:off x="0" y="1032388"/>
            <a:ext cx="12192000" cy="5825612"/>
          </a:xfrm>
        </p:spPr>
        <p:txBody>
          <a:bodyPr>
            <a:normAutofit/>
          </a:bodyPr>
          <a:lstStyle/>
          <a:p>
            <a:r>
              <a:rPr lang="en-US" sz="6000" dirty="0"/>
              <a:t>1. Quality of product/service</a:t>
            </a:r>
          </a:p>
          <a:p>
            <a:r>
              <a:rPr lang="en-US" sz="6000" dirty="0"/>
              <a:t>2. Price and value</a:t>
            </a:r>
          </a:p>
          <a:p>
            <a:r>
              <a:rPr lang="en-US" sz="6000" dirty="0"/>
              <a:t>3. Customer support</a:t>
            </a:r>
          </a:p>
          <a:p>
            <a:r>
              <a:rPr lang="en-US" sz="6000" dirty="0"/>
              <a:t>4. Communication and transparency</a:t>
            </a:r>
          </a:p>
          <a:p>
            <a:r>
              <a:rPr lang="en-US" sz="6000" dirty="0"/>
              <a:t>5. Convenience and accessibility</a:t>
            </a:r>
          </a:p>
          <a:p>
            <a:br>
              <a:rPr lang="en-US" dirty="0"/>
            </a:br>
            <a:endParaRPr lang="en-PK" dirty="0"/>
          </a:p>
        </p:txBody>
      </p:sp>
    </p:spTree>
    <p:extLst>
      <p:ext uri="{BB962C8B-B14F-4D97-AF65-F5344CB8AC3E}">
        <p14:creationId xmlns:p14="http://schemas.microsoft.com/office/powerpoint/2010/main" val="3783544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187AD-5088-F36D-4208-A7B3B57630A2}"/>
              </a:ext>
            </a:extLst>
          </p:cNvPr>
          <p:cNvSpPr>
            <a:spLocks noGrp="1"/>
          </p:cNvSpPr>
          <p:nvPr>
            <p:ph type="title"/>
          </p:nvPr>
        </p:nvSpPr>
        <p:spPr>
          <a:xfrm>
            <a:off x="838200" y="1"/>
            <a:ext cx="10515600" cy="929147"/>
          </a:xfrm>
        </p:spPr>
        <p:txBody>
          <a:bodyPr>
            <a:normAutofit/>
          </a:bodyPr>
          <a:lstStyle/>
          <a:p>
            <a:pPr algn="ctr"/>
            <a:r>
              <a:rPr lang="en-US" sz="6000" b="1" dirty="0">
                <a:highlight>
                  <a:srgbClr val="FFFF00"/>
                </a:highlight>
              </a:rPr>
              <a:t>Strategies to Improve CSAT</a:t>
            </a:r>
            <a:endParaRPr lang="en-PK" sz="6000" b="1" dirty="0">
              <a:highlight>
                <a:srgbClr val="FFFF00"/>
              </a:highlight>
            </a:endParaRPr>
          </a:p>
        </p:txBody>
      </p:sp>
      <p:sp>
        <p:nvSpPr>
          <p:cNvPr id="3" name="Content Placeholder 2">
            <a:extLst>
              <a:ext uri="{FF2B5EF4-FFF2-40B4-BE49-F238E27FC236}">
                <a16:creationId xmlns:a16="http://schemas.microsoft.com/office/drawing/2014/main" id="{F57D5225-5188-F492-C54D-ED64E37B7CBF}"/>
              </a:ext>
            </a:extLst>
          </p:cNvPr>
          <p:cNvSpPr>
            <a:spLocks noGrp="1"/>
          </p:cNvSpPr>
          <p:nvPr>
            <p:ph idx="1"/>
          </p:nvPr>
        </p:nvSpPr>
        <p:spPr>
          <a:xfrm>
            <a:off x="0" y="1076632"/>
            <a:ext cx="12192000" cy="5781367"/>
          </a:xfrm>
        </p:spPr>
        <p:txBody>
          <a:bodyPr>
            <a:normAutofit fontScale="92500" lnSpcReduction="10000"/>
          </a:bodyPr>
          <a:lstStyle/>
          <a:p>
            <a:r>
              <a:rPr lang="en-US" sz="6000" dirty="0"/>
              <a:t>1. Collect and act on customer feedback</a:t>
            </a:r>
          </a:p>
          <a:p>
            <a:r>
              <a:rPr lang="en-US" sz="6000" dirty="0"/>
              <a:t>2. Empower customer support teams</a:t>
            </a:r>
          </a:p>
          <a:p>
            <a:r>
              <a:rPr lang="en-US" sz="6000" dirty="0"/>
              <a:t>3. Streamline processes and reduce effort</a:t>
            </a:r>
          </a:p>
          <a:p>
            <a:r>
              <a:rPr lang="en-US" sz="6000" dirty="0"/>
              <a:t>4. Enhance product/service quality</a:t>
            </a:r>
          </a:p>
          <a:p>
            <a:r>
              <a:rPr lang="en-US" sz="6000" dirty="0"/>
              <a:t>5. Foster a customer-centric culture</a:t>
            </a:r>
          </a:p>
          <a:p>
            <a:br>
              <a:rPr lang="en-US" dirty="0"/>
            </a:br>
            <a:endParaRPr lang="en-PK" dirty="0"/>
          </a:p>
        </p:txBody>
      </p:sp>
    </p:spTree>
    <p:extLst>
      <p:ext uri="{BB962C8B-B14F-4D97-AF65-F5344CB8AC3E}">
        <p14:creationId xmlns:p14="http://schemas.microsoft.com/office/powerpoint/2010/main" val="17593763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AFDA1-7EDB-EB2E-8399-3734F53AEC71}"/>
              </a:ext>
            </a:extLst>
          </p:cNvPr>
          <p:cNvSpPr>
            <a:spLocks noGrp="1"/>
          </p:cNvSpPr>
          <p:nvPr>
            <p:ph type="title"/>
          </p:nvPr>
        </p:nvSpPr>
        <p:spPr>
          <a:xfrm>
            <a:off x="838200" y="1"/>
            <a:ext cx="10515600" cy="1076631"/>
          </a:xfrm>
        </p:spPr>
        <p:txBody>
          <a:bodyPr>
            <a:normAutofit/>
          </a:bodyPr>
          <a:lstStyle/>
          <a:p>
            <a:pPr algn="ctr"/>
            <a:r>
              <a:rPr lang="en-US" sz="6000" b="1" i="0" dirty="0">
                <a:solidFill>
                  <a:srgbClr val="222222"/>
                </a:solidFill>
                <a:effectLst/>
                <a:highlight>
                  <a:srgbClr val="FFFF00"/>
                </a:highlight>
                <a:latin typeface="Arial" panose="020B0604020202020204" pitchFamily="34" charset="0"/>
              </a:rPr>
              <a:t>Tools and Technologies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A60FA52E-3CA8-3F8B-903A-36D95A1FC964}"/>
              </a:ext>
            </a:extLst>
          </p:cNvPr>
          <p:cNvSpPr>
            <a:spLocks noGrp="1"/>
          </p:cNvSpPr>
          <p:nvPr>
            <p:ph idx="1"/>
          </p:nvPr>
        </p:nvSpPr>
        <p:spPr>
          <a:xfrm>
            <a:off x="0" y="1076632"/>
            <a:ext cx="12192000" cy="5100331"/>
          </a:xfrm>
        </p:spPr>
        <p:txBody>
          <a:bodyPr/>
          <a:lstStyle/>
          <a:p>
            <a:pPr algn="l"/>
            <a:r>
              <a:rPr lang="en-US" sz="4800" b="0" i="0" dirty="0">
                <a:solidFill>
                  <a:srgbClr val="222222"/>
                </a:solidFill>
                <a:effectLst/>
                <a:latin typeface="Arial" panose="020B0604020202020204" pitchFamily="34" charset="0"/>
              </a:rPr>
              <a:t>1. Customer Relationship Management (CRM) software</a:t>
            </a:r>
          </a:p>
          <a:p>
            <a:pPr algn="l"/>
            <a:r>
              <a:rPr lang="en-US" sz="4800" b="0" i="0" dirty="0">
                <a:solidFill>
                  <a:srgbClr val="222222"/>
                </a:solidFill>
                <a:effectLst/>
                <a:latin typeface="Arial" panose="020B0604020202020204" pitchFamily="34" charset="0"/>
              </a:rPr>
              <a:t>2. Customer Experience Management (CEM) platforms</a:t>
            </a:r>
          </a:p>
          <a:p>
            <a:pPr algn="l"/>
            <a:r>
              <a:rPr lang="en-US" sz="4800" b="0" i="0" dirty="0">
                <a:solidFill>
                  <a:srgbClr val="222222"/>
                </a:solidFill>
                <a:effectLst/>
                <a:latin typeface="Arial" panose="020B0604020202020204" pitchFamily="34" charset="0"/>
              </a:rPr>
              <a:t>3. Survey and feedback tools (e.g., SurveyMonkey)</a:t>
            </a:r>
          </a:p>
          <a:p>
            <a:pPr algn="l"/>
            <a:r>
              <a:rPr lang="en-US" sz="4800" b="0" i="0" dirty="0">
                <a:solidFill>
                  <a:srgbClr val="222222"/>
                </a:solidFill>
                <a:effectLst/>
                <a:latin typeface="Arial" panose="020B0604020202020204" pitchFamily="34" charset="0"/>
              </a:rPr>
              <a:t>4. Social media</a:t>
            </a:r>
          </a:p>
          <a:p>
            <a:endParaRPr lang="en-PK" dirty="0"/>
          </a:p>
        </p:txBody>
      </p:sp>
    </p:spTree>
    <p:extLst>
      <p:ext uri="{BB962C8B-B14F-4D97-AF65-F5344CB8AC3E}">
        <p14:creationId xmlns:p14="http://schemas.microsoft.com/office/powerpoint/2010/main" val="3354625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B93E5-9AAC-04C5-D834-203F039B96E1}"/>
              </a:ext>
            </a:extLst>
          </p:cNvPr>
          <p:cNvSpPr>
            <a:spLocks noGrp="1"/>
          </p:cNvSpPr>
          <p:nvPr>
            <p:ph type="title"/>
          </p:nvPr>
        </p:nvSpPr>
        <p:spPr>
          <a:xfrm>
            <a:off x="838200" y="0"/>
            <a:ext cx="10515600" cy="870155"/>
          </a:xfrm>
        </p:spPr>
        <p:txBody>
          <a:bodyPr>
            <a:normAutofit fontScale="90000"/>
          </a:bodyPr>
          <a:lstStyle/>
          <a:p>
            <a:pPr algn="ctr"/>
            <a:r>
              <a:rPr lang="en-US" sz="6000" b="1" dirty="0">
                <a:highlight>
                  <a:srgbClr val="FFFF00"/>
                </a:highlight>
              </a:rPr>
              <a:t>Customer retention rate</a:t>
            </a:r>
            <a:endParaRPr lang="en-PK" sz="6000" b="1" dirty="0">
              <a:highlight>
                <a:srgbClr val="FFFF00"/>
              </a:highlight>
            </a:endParaRPr>
          </a:p>
        </p:txBody>
      </p:sp>
      <p:sp>
        <p:nvSpPr>
          <p:cNvPr id="3" name="Content Placeholder 2">
            <a:extLst>
              <a:ext uri="{FF2B5EF4-FFF2-40B4-BE49-F238E27FC236}">
                <a16:creationId xmlns:a16="http://schemas.microsoft.com/office/drawing/2014/main" id="{3738B1B2-22C8-CF87-8CF2-8ED011AC181F}"/>
              </a:ext>
            </a:extLst>
          </p:cNvPr>
          <p:cNvSpPr>
            <a:spLocks noGrp="1"/>
          </p:cNvSpPr>
          <p:nvPr>
            <p:ph idx="1"/>
          </p:nvPr>
        </p:nvSpPr>
        <p:spPr>
          <a:xfrm>
            <a:off x="0" y="1165123"/>
            <a:ext cx="12192000" cy="5810864"/>
          </a:xfrm>
        </p:spPr>
        <p:txBody>
          <a:bodyPr>
            <a:normAutofit/>
          </a:bodyPr>
          <a:lstStyle/>
          <a:p>
            <a:r>
              <a:rPr lang="en-US" sz="4000" dirty="0"/>
              <a:t>Customer retention rate is the percentage of existing customers who remain loyal to a business over a specific period of time. It's a crucial metric that helps businesses understand how well they're meeting customer needs and identifying areas for improvement.</a:t>
            </a:r>
          </a:p>
          <a:p>
            <a:r>
              <a:rPr lang="en-US" sz="4000" dirty="0"/>
              <a:t>To calculate customer retention rate, you'll need to know the number of customers at the start of the period, the number of new customers acquired during that period, and the number of customers at the end of the period.</a:t>
            </a:r>
            <a:endParaRPr lang="en-PK" dirty="0"/>
          </a:p>
        </p:txBody>
      </p:sp>
    </p:spTree>
    <p:extLst>
      <p:ext uri="{BB962C8B-B14F-4D97-AF65-F5344CB8AC3E}">
        <p14:creationId xmlns:p14="http://schemas.microsoft.com/office/powerpoint/2010/main" val="40644764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F3687-35A8-5362-454E-0793936346FD}"/>
              </a:ext>
            </a:extLst>
          </p:cNvPr>
          <p:cNvSpPr>
            <a:spLocks noGrp="1"/>
          </p:cNvSpPr>
          <p:nvPr>
            <p:ph type="title"/>
          </p:nvPr>
        </p:nvSpPr>
        <p:spPr>
          <a:xfrm>
            <a:off x="838200" y="1"/>
            <a:ext cx="10515600" cy="973393"/>
          </a:xfrm>
        </p:spPr>
        <p:txBody>
          <a:bodyPr>
            <a:normAutofit/>
          </a:bodyPr>
          <a:lstStyle/>
          <a:p>
            <a:pPr algn="ctr"/>
            <a:r>
              <a:rPr lang="en-US" sz="6000" b="1" dirty="0">
                <a:highlight>
                  <a:srgbClr val="FFFF00"/>
                </a:highlight>
              </a:rPr>
              <a:t>Customer Retention Rate Formula</a:t>
            </a:r>
            <a:endParaRPr lang="en-PK" sz="6000" b="1" dirty="0">
              <a:highlight>
                <a:srgbClr val="FFFF00"/>
              </a:highlight>
            </a:endParaRPr>
          </a:p>
        </p:txBody>
      </p:sp>
      <p:sp>
        <p:nvSpPr>
          <p:cNvPr id="3" name="Content Placeholder 2">
            <a:extLst>
              <a:ext uri="{FF2B5EF4-FFF2-40B4-BE49-F238E27FC236}">
                <a16:creationId xmlns:a16="http://schemas.microsoft.com/office/drawing/2014/main" id="{125FB2FD-9C09-B413-1DF9-18EF0E622738}"/>
              </a:ext>
            </a:extLst>
          </p:cNvPr>
          <p:cNvSpPr>
            <a:spLocks noGrp="1"/>
          </p:cNvSpPr>
          <p:nvPr>
            <p:ph idx="1"/>
          </p:nvPr>
        </p:nvSpPr>
        <p:spPr>
          <a:xfrm>
            <a:off x="0" y="973394"/>
            <a:ext cx="12192000" cy="5884605"/>
          </a:xfrm>
        </p:spPr>
        <p:txBody>
          <a:bodyPr>
            <a:normAutofit fontScale="92500" lnSpcReduction="10000"/>
          </a:bodyPr>
          <a:lstStyle/>
          <a:p>
            <a:r>
              <a:rPr lang="en-US" sz="4000" dirty="0"/>
              <a:t>((Customers at End - New Customers) / Customers at Start) x 100 </a:t>
            </a:r>
          </a:p>
          <a:p>
            <a:r>
              <a:rPr lang="en-US" sz="4000" dirty="0"/>
              <a:t>For example, if you start with 100 customers, lose 10, but gain 20 new ones, your customer retention rate would be 90%.</a:t>
            </a:r>
          </a:p>
          <a:p>
            <a:r>
              <a:rPr lang="en-US" sz="4000" dirty="0"/>
              <a:t>*Why is Customer Retention Rate Important?*</a:t>
            </a:r>
          </a:p>
          <a:p>
            <a:r>
              <a:rPr lang="en-US" sz="4000" dirty="0"/>
              <a:t>A high customer retention rate indicates satisfied, loyal customers, leading to increased revenue and long-term business growth. In fact, a 5% increase in customer retention can result in a 25-95% profit increase.</a:t>
            </a:r>
          </a:p>
          <a:p>
            <a:br>
              <a:rPr lang="en-US" dirty="0"/>
            </a:br>
            <a:endParaRPr lang="en-PK" dirty="0"/>
          </a:p>
        </p:txBody>
      </p:sp>
    </p:spTree>
    <p:extLst>
      <p:ext uri="{BB962C8B-B14F-4D97-AF65-F5344CB8AC3E}">
        <p14:creationId xmlns:p14="http://schemas.microsoft.com/office/powerpoint/2010/main" val="3225019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CDCCD-9841-6DBE-7383-CA2FAD65A693}"/>
              </a:ext>
            </a:extLst>
          </p:cNvPr>
          <p:cNvSpPr>
            <a:spLocks noGrp="1"/>
          </p:cNvSpPr>
          <p:nvPr>
            <p:ph type="title"/>
          </p:nvPr>
        </p:nvSpPr>
        <p:spPr>
          <a:xfrm>
            <a:off x="0" y="1"/>
            <a:ext cx="12192000" cy="1120876"/>
          </a:xfrm>
        </p:spPr>
        <p:txBody>
          <a:bodyPr>
            <a:normAutofit/>
          </a:bodyPr>
          <a:lstStyle/>
          <a:p>
            <a:pPr algn="ctr"/>
            <a:r>
              <a:rPr lang="en-US" sz="5400" b="1" dirty="0">
                <a:highlight>
                  <a:srgbClr val="FFFF00"/>
                </a:highlight>
              </a:rPr>
              <a:t>Factors Affecting Customer Retention Rate</a:t>
            </a:r>
            <a:endParaRPr lang="en-PK" sz="5400" b="1" dirty="0">
              <a:highlight>
                <a:srgbClr val="FFFF00"/>
              </a:highlight>
            </a:endParaRPr>
          </a:p>
        </p:txBody>
      </p:sp>
      <p:sp>
        <p:nvSpPr>
          <p:cNvPr id="3" name="Content Placeholder 2">
            <a:extLst>
              <a:ext uri="{FF2B5EF4-FFF2-40B4-BE49-F238E27FC236}">
                <a16:creationId xmlns:a16="http://schemas.microsoft.com/office/drawing/2014/main" id="{EA6D424F-ACE7-E8E3-97C4-495D0775E985}"/>
              </a:ext>
            </a:extLst>
          </p:cNvPr>
          <p:cNvSpPr>
            <a:spLocks noGrp="1"/>
          </p:cNvSpPr>
          <p:nvPr>
            <p:ph idx="1"/>
          </p:nvPr>
        </p:nvSpPr>
        <p:spPr>
          <a:xfrm>
            <a:off x="-1" y="1120877"/>
            <a:ext cx="12191999" cy="5737122"/>
          </a:xfrm>
        </p:spPr>
        <p:txBody>
          <a:bodyPr/>
          <a:lstStyle/>
          <a:p>
            <a:r>
              <a:rPr lang="en-US" sz="5400" dirty="0"/>
              <a:t>Quality of product/service</a:t>
            </a:r>
          </a:p>
          <a:p>
            <a:r>
              <a:rPr lang="en-US" sz="5400" dirty="0"/>
              <a:t>Price and value</a:t>
            </a:r>
          </a:p>
          <a:p>
            <a:r>
              <a:rPr lang="en-US" sz="5400" dirty="0"/>
              <a:t>Customer support</a:t>
            </a:r>
          </a:p>
          <a:p>
            <a:r>
              <a:rPr lang="en-US" sz="5400" dirty="0"/>
              <a:t>Communication and transparency</a:t>
            </a:r>
          </a:p>
          <a:p>
            <a:r>
              <a:rPr lang="en-US" sz="5400" dirty="0"/>
              <a:t>Convenience and accessibility</a:t>
            </a:r>
            <a:br>
              <a:rPr lang="en-US" sz="5400" dirty="0"/>
            </a:br>
            <a:endParaRPr lang="en-PK" dirty="0"/>
          </a:p>
        </p:txBody>
      </p:sp>
    </p:spTree>
    <p:extLst>
      <p:ext uri="{BB962C8B-B14F-4D97-AF65-F5344CB8AC3E}">
        <p14:creationId xmlns:p14="http://schemas.microsoft.com/office/powerpoint/2010/main" val="28523848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B57A0-4A79-CA17-A0AB-E32213656938}"/>
              </a:ext>
            </a:extLst>
          </p:cNvPr>
          <p:cNvSpPr>
            <a:spLocks noGrp="1"/>
          </p:cNvSpPr>
          <p:nvPr>
            <p:ph type="title"/>
          </p:nvPr>
        </p:nvSpPr>
        <p:spPr>
          <a:xfrm>
            <a:off x="0" y="1"/>
            <a:ext cx="12192000" cy="1386347"/>
          </a:xfrm>
        </p:spPr>
        <p:txBody>
          <a:bodyPr>
            <a:noAutofit/>
          </a:bodyPr>
          <a:lstStyle/>
          <a:p>
            <a:pPr algn="ctr"/>
            <a:r>
              <a:rPr lang="en-US" sz="6000" b="0" i="0" dirty="0">
                <a:solidFill>
                  <a:srgbClr val="222222"/>
                </a:solidFill>
                <a:effectLst/>
                <a:highlight>
                  <a:srgbClr val="FFFF00"/>
                </a:highlight>
                <a:latin typeface="Arial" panose="020B0604020202020204" pitchFamily="34" charset="0"/>
              </a:rPr>
              <a:t>Improving Customer Retention Rate</a:t>
            </a:r>
            <a:endParaRPr lang="en-PK" sz="6000" dirty="0">
              <a:highlight>
                <a:srgbClr val="FFFF00"/>
              </a:highlight>
            </a:endParaRPr>
          </a:p>
        </p:txBody>
      </p:sp>
      <p:sp>
        <p:nvSpPr>
          <p:cNvPr id="3" name="Content Placeholder 2">
            <a:extLst>
              <a:ext uri="{FF2B5EF4-FFF2-40B4-BE49-F238E27FC236}">
                <a16:creationId xmlns:a16="http://schemas.microsoft.com/office/drawing/2014/main" id="{1CA42CCF-028B-6568-64DF-42FA970D4BDA}"/>
              </a:ext>
            </a:extLst>
          </p:cNvPr>
          <p:cNvSpPr>
            <a:spLocks noGrp="1"/>
          </p:cNvSpPr>
          <p:nvPr>
            <p:ph idx="1"/>
          </p:nvPr>
        </p:nvSpPr>
        <p:spPr>
          <a:xfrm>
            <a:off x="0" y="1386348"/>
            <a:ext cx="12192000" cy="5471652"/>
          </a:xfrm>
        </p:spPr>
        <p:txBody>
          <a:bodyPr>
            <a:normAutofit/>
          </a:bodyPr>
          <a:lstStyle/>
          <a:p>
            <a:pPr algn="l"/>
            <a:r>
              <a:rPr lang="en-US" sz="4000" b="0" i="0" dirty="0">
                <a:solidFill>
                  <a:srgbClr val="222222"/>
                </a:solidFill>
                <a:effectLst/>
                <a:latin typeface="Arial" panose="020B0604020202020204" pitchFamily="34" charset="0"/>
              </a:rPr>
              <a:t>Improve user onboarding</a:t>
            </a:r>
          </a:p>
          <a:p>
            <a:pPr algn="l"/>
            <a:r>
              <a:rPr lang="en-US" sz="4000" b="0" i="0" dirty="0">
                <a:solidFill>
                  <a:srgbClr val="222222"/>
                </a:solidFill>
                <a:effectLst/>
                <a:latin typeface="Arial" panose="020B0604020202020204" pitchFamily="34" charset="0"/>
              </a:rPr>
              <a:t>Create achievable roadmaps with customers</a:t>
            </a:r>
          </a:p>
          <a:p>
            <a:pPr algn="l"/>
            <a:r>
              <a:rPr lang="en-US" sz="4000" b="0" i="0" dirty="0">
                <a:solidFill>
                  <a:srgbClr val="222222"/>
                </a:solidFill>
                <a:effectLst/>
                <a:latin typeface="Arial" panose="020B0604020202020204" pitchFamily="34" charset="0"/>
              </a:rPr>
              <a:t>Personalize customer experiences</a:t>
            </a:r>
          </a:p>
          <a:p>
            <a:pPr algn="l"/>
            <a:r>
              <a:rPr lang="en-US" sz="4000" b="0" i="0" dirty="0">
                <a:solidFill>
                  <a:srgbClr val="222222"/>
                </a:solidFill>
                <a:effectLst/>
                <a:latin typeface="Arial" panose="020B0604020202020204" pitchFamily="34" charset="0"/>
              </a:rPr>
              <a:t>Enhance customer support</a:t>
            </a:r>
          </a:p>
          <a:p>
            <a:pPr algn="l"/>
            <a:r>
              <a:rPr lang="en-US" sz="4000" b="0" i="0" dirty="0">
                <a:solidFill>
                  <a:srgbClr val="222222"/>
                </a:solidFill>
                <a:effectLst/>
                <a:latin typeface="Arial" panose="020B0604020202020204" pitchFamily="34" charset="0"/>
              </a:rPr>
              <a:t>Foster a customer-centric culture</a:t>
            </a:r>
          </a:p>
          <a:p>
            <a:pPr algn="l"/>
            <a:r>
              <a:rPr lang="en-US" sz="4000" b="0" i="0" dirty="0">
                <a:solidFill>
                  <a:srgbClr val="222222"/>
                </a:solidFill>
                <a:effectLst/>
                <a:latin typeface="Arial" panose="020B0604020202020204" pitchFamily="34" charset="0"/>
              </a:rPr>
              <a:t>By tracking and improving customer retention rate, businesses can reduce churn, increase revenue, and build a loyal customer base.</a:t>
            </a:r>
          </a:p>
          <a:p>
            <a:endParaRPr lang="en-PK" dirty="0"/>
          </a:p>
        </p:txBody>
      </p:sp>
    </p:spTree>
    <p:extLst>
      <p:ext uri="{BB962C8B-B14F-4D97-AF65-F5344CB8AC3E}">
        <p14:creationId xmlns:p14="http://schemas.microsoft.com/office/powerpoint/2010/main" val="2628227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F8A10-DBA0-EF62-8574-2EA30667CF34}"/>
              </a:ext>
            </a:extLst>
          </p:cNvPr>
          <p:cNvSpPr>
            <a:spLocks noGrp="1"/>
          </p:cNvSpPr>
          <p:nvPr>
            <p:ph type="title"/>
          </p:nvPr>
        </p:nvSpPr>
        <p:spPr>
          <a:xfrm>
            <a:off x="838200" y="1"/>
            <a:ext cx="10515600" cy="1047134"/>
          </a:xfrm>
        </p:spPr>
        <p:txBody>
          <a:bodyPr>
            <a:normAutofit/>
          </a:bodyPr>
          <a:lstStyle/>
          <a:p>
            <a:pPr algn="ctr"/>
            <a:r>
              <a:rPr lang="en-US" sz="6000" b="1" dirty="0">
                <a:highlight>
                  <a:srgbClr val="FFFF00"/>
                </a:highlight>
              </a:rPr>
              <a:t>*Tools and Techniques:*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13F38DEA-9B30-3230-73B8-36EC5E72567A}"/>
              </a:ext>
            </a:extLst>
          </p:cNvPr>
          <p:cNvSpPr>
            <a:spLocks noGrp="1"/>
          </p:cNvSpPr>
          <p:nvPr>
            <p:ph idx="1"/>
          </p:nvPr>
        </p:nvSpPr>
        <p:spPr>
          <a:xfrm>
            <a:off x="0" y="1194618"/>
            <a:ext cx="12192000" cy="5663381"/>
          </a:xfrm>
        </p:spPr>
        <p:txBody>
          <a:bodyPr>
            <a:normAutofit fontScale="55000" lnSpcReduction="20000"/>
          </a:bodyPr>
          <a:lstStyle/>
          <a:p>
            <a:pPr marL="0" indent="0">
              <a:buNone/>
            </a:pPr>
            <a:r>
              <a:rPr lang="en-US" sz="9800" dirty="0"/>
              <a:t>1. Voice of the Customer (VOC)</a:t>
            </a:r>
          </a:p>
          <a:p>
            <a:pPr marL="0" indent="0">
              <a:buNone/>
            </a:pPr>
            <a:r>
              <a:rPr lang="en-US" sz="9800" dirty="0"/>
              <a:t>2. Quality Function Deployment (QFD)</a:t>
            </a:r>
          </a:p>
          <a:p>
            <a:pPr marL="0" indent="0">
              <a:buNone/>
            </a:pPr>
            <a:r>
              <a:rPr lang="en-US" sz="9800" dirty="0"/>
              <a:t>3. Failure Mode and Effects Analysis (FMEA)</a:t>
            </a:r>
          </a:p>
          <a:p>
            <a:pPr marL="0" indent="0">
              <a:buNone/>
            </a:pPr>
            <a:r>
              <a:rPr lang="en-US" sz="9800" dirty="0"/>
              <a:t>4. Six Sigma</a:t>
            </a:r>
          </a:p>
          <a:p>
            <a:pPr marL="0" indent="0">
              <a:buNone/>
            </a:pPr>
            <a:r>
              <a:rPr lang="en-US" sz="9800" dirty="0"/>
              <a:t>5. Lean</a:t>
            </a:r>
          </a:p>
          <a:p>
            <a:pPr marL="0" indent="0">
              <a:buNone/>
            </a:pPr>
            <a:r>
              <a:rPr lang="en-US" sz="9800" dirty="0"/>
              <a:t>6. Customer Journey Mapping</a:t>
            </a:r>
          </a:p>
          <a:p>
            <a:pPr marL="0" indent="0">
              <a:buNone/>
            </a:pPr>
            <a:br>
              <a:rPr lang="en-US" dirty="0"/>
            </a:br>
            <a:endParaRPr lang="en-PK" dirty="0"/>
          </a:p>
        </p:txBody>
      </p:sp>
    </p:spTree>
    <p:extLst>
      <p:ext uri="{BB962C8B-B14F-4D97-AF65-F5344CB8AC3E}">
        <p14:creationId xmlns:p14="http://schemas.microsoft.com/office/powerpoint/2010/main" val="191900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D63DA-1ED0-8F56-B525-23CC0DD5A23E}"/>
              </a:ext>
            </a:extLst>
          </p:cNvPr>
          <p:cNvSpPr>
            <a:spLocks noGrp="1"/>
          </p:cNvSpPr>
          <p:nvPr>
            <p:ph type="title"/>
          </p:nvPr>
        </p:nvSpPr>
        <p:spPr>
          <a:xfrm>
            <a:off x="838200" y="162233"/>
            <a:ext cx="10515600" cy="1002890"/>
          </a:xfrm>
        </p:spPr>
        <p:txBody>
          <a:bodyPr>
            <a:normAutofit/>
          </a:bodyPr>
          <a:lstStyle/>
          <a:p>
            <a:pPr algn="ctr"/>
            <a:r>
              <a:rPr lang="en-US" sz="6000" b="1" dirty="0">
                <a:highlight>
                  <a:srgbClr val="FFFF00"/>
                </a:highlight>
              </a:rPr>
              <a:t>Voice of the Customer (VOC)</a:t>
            </a:r>
            <a:endParaRPr lang="en-PK" sz="6000" b="1" dirty="0">
              <a:highlight>
                <a:srgbClr val="FFFF00"/>
              </a:highlight>
            </a:endParaRPr>
          </a:p>
        </p:txBody>
      </p:sp>
      <p:sp>
        <p:nvSpPr>
          <p:cNvPr id="3" name="Content Placeholder 2">
            <a:extLst>
              <a:ext uri="{FF2B5EF4-FFF2-40B4-BE49-F238E27FC236}">
                <a16:creationId xmlns:a16="http://schemas.microsoft.com/office/drawing/2014/main" id="{24F9A4B6-075A-3874-5E97-8DA975C2CAC7}"/>
              </a:ext>
            </a:extLst>
          </p:cNvPr>
          <p:cNvSpPr>
            <a:spLocks noGrp="1"/>
          </p:cNvSpPr>
          <p:nvPr>
            <p:ph idx="1"/>
          </p:nvPr>
        </p:nvSpPr>
        <p:spPr>
          <a:xfrm>
            <a:off x="0" y="1165122"/>
            <a:ext cx="12192000" cy="5692877"/>
          </a:xfrm>
        </p:spPr>
        <p:txBody>
          <a:bodyPr/>
          <a:lstStyle/>
          <a:p>
            <a:r>
              <a:rPr lang="en-US" sz="4800" dirty="0"/>
              <a:t>Voice of the Customer (VOC) is a critical component of Customer Experience Management, focusing on capturing and understanding customer feedback, preferences, and expectations.</a:t>
            </a:r>
          </a:p>
          <a:p>
            <a:pPr marL="0" indent="0">
              <a:buNone/>
            </a:pPr>
            <a:br>
              <a:rPr lang="en-US" dirty="0"/>
            </a:br>
            <a:endParaRPr lang="en-PK" dirty="0"/>
          </a:p>
        </p:txBody>
      </p:sp>
    </p:spTree>
    <p:extLst>
      <p:ext uri="{BB962C8B-B14F-4D97-AF65-F5344CB8AC3E}">
        <p14:creationId xmlns:p14="http://schemas.microsoft.com/office/powerpoint/2010/main" val="772580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EE37-F527-83D7-CE8D-9F125A4AE3D3}"/>
              </a:ext>
            </a:extLst>
          </p:cNvPr>
          <p:cNvSpPr>
            <a:spLocks noGrp="1"/>
          </p:cNvSpPr>
          <p:nvPr>
            <p:ph type="title"/>
          </p:nvPr>
        </p:nvSpPr>
        <p:spPr>
          <a:xfrm>
            <a:off x="838200" y="1"/>
            <a:ext cx="10515600" cy="914399"/>
          </a:xfrm>
        </p:spPr>
        <p:txBody>
          <a:bodyPr>
            <a:normAutofit fontScale="90000"/>
          </a:bodyPr>
          <a:lstStyle/>
          <a:p>
            <a:pPr algn="ctr"/>
            <a:r>
              <a:rPr lang="en-US" sz="6000" b="1" dirty="0">
                <a:highlight>
                  <a:srgbClr val="FFFF00"/>
                </a:highlight>
              </a:rPr>
              <a:t>VOC Objectives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9FB88122-301A-EDD5-BBC6-1CEED32C8FF8}"/>
              </a:ext>
            </a:extLst>
          </p:cNvPr>
          <p:cNvSpPr>
            <a:spLocks noGrp="1"/>
          </p:cNvSpPr>
          <p:nvPr>
            <p:ph idx="1"/>
          </p:nvPr>
        </p:nvSpPr>
        <p:spPr>
          <a:xfrm>
            <a:off x="0" y="1076632"/>
            <a:ext cx="12192000" cy="5781367"/>
          </a:xfrm>
        </p:spPr>
        <p:txBody>
          <a:bodyPr>
            <a:normAutofit lnSpcReduction="10000"/>
          </a:bodyPr>
          <a:lstStyle/>
          <a:p>
            <a:r>
              <a:rPr lang="en-US" sz="4800" dirty="0"/>
              <a:t>1. Understand customer needs and preferences</a:t>
            </a:r>
          </a:p>
          <a:p>
            <a:r>
              <a:rPr lang="en-US" sz="4800" dirty="0"/>
              <a:t>2. Identify pain points and areas for improvement</a:t>
            </a:r>
          </a:p>
          <a:p>
            <a:r>
              <a:rPr lang="en-US" sz="4800" dirty="0"/>
              <a:t>3. Inform product/service development and innovation</a:t>
            </a:r>
          </a:p>
          <a:p>
            <a:r>
              <a:rPr lang="en-US" sz="4800" dirty="0"/>
              <a:t>4. Enhance customer satisfaction and loyalty</a:t>
            </a:r>
          </a:p>
          <a:p>
            <a:r>
              <a:rPr lang="en-US" sz="4800" dirty="0"/>
              <a:t>5. Drive business growth and competitiveness</a:t>
            </a:r>
          </a:p>
          <a:p>
            <a:br>
              <a:rPr lang="en-US" dirty="0"/>
            </a:br>
            <a:endParaRPr lang="en-PK" dirty="0"/>
          </a:p>
        </p:txBody>
      </p:sp>
    </p:spTree>
    <p:extLst>
      <p:ext uri="{BB962C8B-B14F-4D97-AF65-F5344CB8AC3E}">
        <p14:creationId xmlns:p14="http://schemas.microsoft.com/office/powerpoint/2010/main" val="19537806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601A1-4D02-73CC-68C1-465C0F2F2011}"/>
              </a:ext>
            </a:extLst>
          </p:cNvPr>
          <p:cNvSpPr>
            <a:spLocks noGrp="1"/>
          </p:cNvSpPr>
          <p:nvPr>
            <p:ph type="title"/>
          </p:nvPr>
        </p:nvSpPr>
        <p:spPr>
          <a:xfrm>
            <a:off x="838200" y="1"/>
            <a:ext cx="10515600" cy="1135625"/>
          </a:xfrm>
        </p:spPr>
        <p:txBody>
          <a:bodyPr>
            <a:normAutofit/>
          </a:bodyPr>
          <a:lstStyle/>
          <a:p>
            <a:pPr algn="ctr"/>
            <a:r>
              <a:rPr lang="en-US" sz="6000" b="1" dirty="0">
                <a:highlight>
                  <a:srgbClr val="FFFF00"/>
                </a:highlight>
              </a:rPr>
              <a:t>VOC Collection Methods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2EEA4F86-5711-B44B-9686-C04764EBE7DF}"/>
              </a:ext>
            </a:extLst>
          </p:cNvPr>
          <p:cNvSpPr>
            <a:spLocks noGrp="1"/>
          </p:cNvSpPr>
          <p:nvPr>
            <p:ph idx="1"/>
          </p:nvPr>
        </p:nvSpPr>
        <p:spPr>
          <a:xfrm>
            <a:off x="0" y="1135626"/>
            <a:ext cx="12192000" cy="5722374"/>
          </a:xfrm>
        </p:spPr>
        <p:txBody>
          <a:bodyPr>
            <a:normAutofit lnSpcReduction="10000"/>
          </a:bodyPr>
          <a:lstStyle/>
          <a:p>
            <a:r>
              <a:rPr lang="en-US" sz="4400" dirty="0"/>
              <a:t>1. Surveys (online, phone, in-person)</a:t>
            </a:r>
          </a:p>
          <a:p>
            <a:r>
              <a:rPr lang="en-US" sz="4400" dirty="0"/>
              <a:t>2. Focus groups and interviews</a:t>
            </a:r>
          </a:p>
          <a:p>
            <a:r>
              <a:rPr lang="en-US" sz="4400" dirty="0"/>
              <a:t>3. Social media monitoring</a:t>
            </a:r>
          </a:p>
          <a:p>
            <a:r>
              <a:rPr lang="en-US" sz="4400" dirty="0"/>
              <a:t>4. Customer reviews and ratings</a:t>
            </a:r>
          </a:p>
          <a:p>
            <a:r>
              <a:rPr lang="en-US" sz="4400" dirty="0"/>
              <a:t>5. Complaint and feedback forms</a:t>
            </a:r>
          </a:p>
          <a:p>
            <a:r>
              <a:rPr lang="en-US" sz="4400" dirty="0"/>
              <a:t>6. Net Promoter Score (NPS) analysis</a:t>
            </a:r>
          </a:p>
          <a:p>
            <a:r>
              <a:rPr lang="en-US" sz="4400" dirty="0"/>
              <a:t>7. Customer journey mapping</a:t>
            </a:r>
          </a:p>
          <a:p>
            <a:br>
              <a:rPr lang="en-US" dirty="0"/>
            </a:br>
            <a:endParaRPr lang="en-PK" dirty="0"/>
          </a:p>
        </p:txBody>
      </p:sp>
    </p:spTree>
    <p:extLst>
      <p:ext uri="{BB962C8B-B14F-4D97-AF65-F5344CB8AC3E}">
        <p14:creationId xmlns:p14="http://schemas.microsoft.com/office/powerpoint/2010/main" val="19889699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5DF2B-D6CD-5425-CB10-68DA30119FF4}"/>
              </a:ext>
            </a:extLst>
          </p:cNvPr>
          <p:cNvSpPr>
            <a:spLocks noGrp="1"/>
          </p:cNvSpPr>
          <p:nvPr>
            <p:ph type="title"/>
          </p:nvPr>
        </p:nvSpPr>
        <p:spPr>
          <a:xfrm>
            <a:off x="838200" y="1"/>
            <a:ext cx="10515600" cy="1061883"/>
          </a:xfrm>
        </p:spPr>
        <p:txBody>
          <a:bodyPr>
            <a:normAutofit/>
          </a:bodyPr>
          <a:lstStyle/>
          <a:p>
            <a:pPr algn="ctr"/>
            <a:r>
              <a:rPr lang="en-US" sz="6000" b="1" dirty="0">
                <a:highlight>
                  <a:srgbClr val="FFFF00"/>
                </a:highlight>
              </a:rPr>
              <a:t>VOC Analysis Techniques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860D3404-3EAB-F3F9-3678-5B19946FF46E}"/>
              </a:ext>
            </a:extLst>
          </p:cNvPr>
          <p:cNvSpPr>
            <a:spLocks noGrp="1"/>
          </p:cNvSpPr>
          <p:nvPr>
            <p:ph idx="1"/>
          </p:nvPr>
        </p:nvSpPr>
        <p:spPr>
          <a:xfrm>
            <a:off x="0" y="1061884"/>
            <a:ext cx="12192000" cy="5796116"/>
          </a:xfrm>
        </p:spPr>
        <p:txBody>
          <a:bodyPr>
            <a:normAutofit/>
          </a:bodyPr>
          <a:lstStyle/>
          <a:p>
            <a:r>
              <a:rPr lang="en-US" sz="5400" dirty="0"/>
              <a:t>1. Text analytics and sentiment analysis</a:t>
            </a:r>
          </a:p>
          <a:p>
            <a:r>
              <a:rPr lang="en-US" sz="5400" dirty="0"/>
              <a:t>2. Theme and root cause analysis</a:t>
            </a:r>
          </a:p>
          <a:p>
            <a:r>
              <a:rPr lang="en-US" sz="5400" dirty="0"/>
              <a:t>3. Statistical analysis and modeling</a:t>
            </a:r>
          </a:p>
          <a:p>
            <a:r>
              <a:rPr lang="en-US" sz="5400" dirty="0"/>
              <a:t>4. Customer segmentation and profiling</a:t>
            </a:r>
          </a:p>
          <a:p>
            <a:r>
              <a:rPr lang="en-US" sz="5400" dirty="0"/>
              <a:t>5. Gap analysis and prioritization</a:t>
            </a:r>
          </a:p>
          <a:p>
            <a:br>
              <a:rPr lang="en-US" dirty="0"/>
            </a:br>
            <a:endParaRPr lang="en-PK" dirty="0"/>
          </a:p>
        </p:txBody>
      </p:sp>
    </p:spTree>
    <p:extLst>
      <p:ext uri="{BB962C8B-B14F-4D97-AF65-F5344CB8AC3E}">
        <p14:creationId xmlns:p14="http://schemas.microsoft.com/office/powerpoint/2010/main" val="39078308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3DA6F-F61E-FD04-976F-D34F73743FC1}"/>
              </a:ext>
            </a:extLst>
          </p:cNvPr>
          <p:cNvSpPr>
            <a:spLocks noGrp="1"/>
          </p:cNvSpPr>
          <p:nvPr>
            <p:ph type="title"/>
          </p:nvPr>
        </p:nvSpPr>
        <p:spPr>
          <a:xfrm>
            <a:off x="838200" y="1"/>
            <a:ext cx="10515600" cy="1017638"/>
          </a:xfrm>
        </p:spPr>
        <p:txBody>
          <a:bodyPr>
            <a:normAutofit/>
          </a:bodyPr>
          <a:lstStyle/>
          <a:p>
            <a:pPr algn="ctr"/>
            <a:r>
              <a:rPr lang="en-US" sz="6000" b="1" dirty="0">
                <a:highlight>
                  <a:srgbClr val="FFFF00"/>
                </a:highlight>
              </a:rPr>
              <a:t>VOC Benefits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F7744C4C-DC4E-07DF-4DEF-44D28AED4DC8}"/>
              </a:ext>
            </a:extLst>
          </p:cNvPr>
          <p:cNvSpPr>
            <a:spLocks noGrp="1"/>
          </p:cNvSpPr>
          <p:nvPr>
            <p:ph idx="1"/>
          </p:nvPr>
        </p:nvSpPr>
        <p:spPr>
          <a:xfrm>
            <a:off x="0" y="1017638"/>
            <a:ext cx="12192000" cy="5840361"/>
          </a:xfrm>
        </p:spPr>
        <p:txBody>
          <a:bodyPr>
            <a:normAutofit fontScale="92500"/>
          </a:bodyPr>
          <a:lstStyle/>
          <a:p>
            <a:r>
              <a:rPr lang="en-US" sz="5400" dirty="0"/>
              <a:t>1. Improved customer satisfaction and loyalty</a:t>
            </a:r>
          </a:p>
          <a:p>
            <a:r>
              <a:rPr lang="en-US" sz="5400" dirty="0"/>
              <a:t>2. Enhanced product/service development</a:t>
            </a:r>
          </a:p>
          <a:p>
            <a:r>
              <a:rPr lang="en-US" sz="5400" dirty="0"/>
              <a:t>3. Increased revenue and growth</a:t>
            </a:r>
          </a:p>
          <a:p>
            <a:r>
              <a:rPr lang="en-US" sz="5400" dirty="0"/>
              <a:t>4. Competitive advantage</a:t>
            </a:r>
          </a:p>
          <a:p>
            <a:r>
              <a:rPr lang="en-US" sz="5400" dirty="0"/>
              <a:t>5. Better decision-making</a:t>
            </a:r>
          </a:p>
          <a:p>
            <a:br>
              <a:rPr lang="en-US" dirty="0"/>
            </a:br>
            <a:endParaRPr lang="en-PK" dirty="0"/>
          </a:p>
        </p:txBody>
      </p:sp>
    </p:spTree>
    <p:extLst>
      <p:ext uri="{BB962C8B-B14F-4D97-AF65-F5344CB8AC3E}">
        <p14:creationId xmlns:p14="http://schemas.microsoft.com/office/powerpoint/2010/main" val="18740479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AA92B-B358-AD20-81EF-723BFA79F7B5}"/>
              </a:ext>
            </a:extLst>
          </p:cNvPr>
          <p:cNvSpPr>
            <a:spLocks noGrp="1"/>
          </p:cNvSpPr>
          <p:nvPr>
            <p:ph type="title"/>
          </p:nvPr>
        </p:nvSpPr>
        <p:spPr>
          <a:xfrm>
            <a:off x="838200" y="1"/>
            <a:ext cx="10515600" cy="1047134"/>
          </a:xfrm>
        </p:spPr>
        <p:txBody>
          <a:bodyPr>
            <a:normAutofit/>
          </a:bodyPr>
          <a:lstStyle/>
          <a:p>
            <a:pPr algn="ctr"/>
            <a:r>
              <a:rPr lang="en-US" sz="6000" b="1" dirty="0">
                <a:highlight>
                  <a:srgbClr val="FFFF00"/>
                </a:highlight>
              </a:rPr>
              <a:t>VOC Best Practices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FB05B65A-2878-7DA3-8286-0A57F66D0FB7}"/>
              </a:ext>
            </a:extLst>
          </p:cNvPr>
          <p:cNvSpPr>
            <a:spLocks noGrp="1"/>
          </p:cNvSpPr>
          <p:nvPr>
            <p:ph idx="1"/>
          </p:nvPr>
        </p:nvSpPr>
        <p:spPr>
          <a:xfrm>
            <a:off x="0" y="1047135"/>
            <a:ext cx="12192000" cy="5810864"/>
          </a:xfrm>
        </p:spPr>
        <p:txBody>
          <a:bodyPr>
            <a:normAutofit/>
          </a:bodyPr>
          <a:lstStyle/>
          <a:p>
            <a:r>
              <a:rPr lang="en-US" sz="4800" dirty="0"/>
              <a:t>1. Collect feedback across multiple touchpoints</a:t>
            </a:r>
          </a:p>
          <a:p>
            <a:r>
              <a:rPr lang="en-US" sz="4800" dirty="0"/>
              <a:t>2. Analyze and act on feedback promptly</a:t>
            </a:r>
          </a:p>
          <a:p>
            <a:r>
              <a:rPr lang="en-US" sz="4800" dirty="0"/>
              <a:t>3. Close the loop with customers</a:t>
            </a:r>
          </a:p>
          <a:p>
            <a:r>
              <a:rPr lang="en-US" sz="4800" dirty="0"/>
              <a:t>4. Integrate VOC into business strategy</a:t>
            </a:r>
          </a:p>
          <a:p>
            <a:r>
              <a:rPr lang="en-US" sz="4800" dirty="0"/>
              <a:t>5. Continuously monitor and improve VOC processes</a:t>
            </a:r>
          </a:p>
          <a:p>
            <a:br>
              <a:rPr lang="en-US" dirty="0"/>
            </a:br>
            <a:endParaRPr lang="en-PK" dirty="0"/>
          </a:p>
        </p:txBody>
      </p:sp>
    </p:spTree>
    <p:extLst>
      <p:ext uri="{BB962C8B-B14F-4D97-AF65-F5344CB8AC3E}">
        <p14:creationId xmlns:p14="http://schemas.microsoft.com/office/powerpoint/2010/main" val="24255725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0684A-11E3-64B1-908B-4AE4B53C8A50}"/>
              </a:ext>
            </a:extLst>
          </p:cNvPr>
          <p:cNvSpPr>
            <a:spLocks noGrp="1"/>
          </p:cNvSpPr>
          <p:nvPr>
            <p:ph type="title"/>
          </p:nvPr>
        </p:nvSpPr>
        <p:spPr>
          <a:xfrm>
            <a:off x="838200" y="1"/>
            <a:ext cx="10515600" cy="988141"/>
          </a:xfrm>
        </p:spPr>
        <p:txBody>
          <a:bodyPr>
            <a:normAutofit/>
          </a:bodyPr>
          <a:lstStyle/>
          <a:p>
            <a:pPr algn="ctr"/>
            <a:r>
              <a:rPr lang="en-US" sz="6000" b="1" dirty="0">
                <a:highlight>
                  <a:srgbClr val="FFFF00"/>
                </a:highlight>
              </a:rPr>
              <a:t>VOC Tools and Technologies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F5010425-D8FC-37C8-349C-C38CC49E23A4}"/>
              </a:ext>
            </a:extLst>
          </p:cNvPr>
          <p:cNvSpPr>
            <a:spLocks noGrp="1"/>
          </p:cNvSpPr>
          <p:nvPr>
            <p:ph idx="1"/>
          </p:nvPr>
        </p:nvSpPr>
        <p:spPr>
          <a:xfrm>
            <a:off x="0" y="1106129"/>
            <a:ext cx="12192000" cy="5070834"/>
          </a:xfrm>
        </p:spPr>
        <p:txBody>
          <a:bodyPr>
            <a:normAutofit fontScale="85000" lnSpcReduction="20000"/>
          </a:bodyPr>
          <a:lstStyle/>
          <a:p>
            <a:r>
              <a:rPr lang="en-US" sz="5200" dirty="0"/>
              <a:t>1. Customer Experience Management (CEM) platforms</a:t>
            </a:r>
          </a:p>
          <a:p>
            <a:r>
              <a:rPr lang="en-US" sz="5200" dirty="0"/>
              <a:t>2. Survey and feedback software (e.g., SurveyMonkey)</a:t>
            </a:r>
          </a:p>
          <a:p>
            <a:r>
              <a:rPr lang="en-US" sz="5200" dirty="0"/>
              <a:t>3. Social media monitoring tools (e.g., Hootsuite)</a:t>
            </a:r>
          </a:p>
          <a:p>
            <a:r>
              <a:rPr lang="en-US" sz="5200" dirty="0"/>
              <a:t>4. Text analytics software (e.g., IBM Watson)</a:t>
            </a:r>
          </a:p>
          <a:p>
            <a:r>
              <a:rPr lang="en-US" sz="5200" dirty="0"/>
              <a:t>5. Customer Relationship Management (CRM) systems</a:t>
            </a:r>
          </a:p>
          <a:p>
            <a:br>
              <a:rPr lang="en-US" dirty="0"/>
            </a:br>
            <a:endParaRPr lang="en-PK" dirty="0"/>
          </a:p>
        </p:txBody>
      </p:sp>
    </p:spTree>
    <p:extLst>
      <p:ext uri="{BB962C8B-B14F-4D97-AF65-F5344CB8AC3E}">
        <p14:creationId xmlns:p14="http://schemas.microsoft.com/office/powerpoint/2010/main" val="7691059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9CF9C-7618-0D6D-BE3A-6B6495D68D5B}"/>
              </a:ext>
            </a:extLst>
          </p:cNvPr>
          <p:cNvSpPr>
            <a:spLocks noGrp="1"/>
          </p:cNvSpPr>
          <p:nvPr>
            <p:ph type="title"/>
          </p:nvPr>
        </p:nvSpPr>
        <p:spPr>
          <a:xfrm>
            <a:off x="838200" y="1"/>
            <a:ext cx="10515600" cy="1091380"/>
          </a:xfrm>
        </p:spPr>
        <p:txBody>
          <a:bodyPr>
            <a:normAutofit/>
          </a:bodyPr>
          <a:lstStyle/>
          <a:p>
            <a:pPr algn="ctr"/>
            <a:r>
              <a:rPr lang="en-US" sz="6000" b="1" dirty="0">
                <a:highlight>
                  <a:srgbClr val="FFFF00"/>
                </a:highlight>
              </a:rPr>
              <a:t>VOC Metrics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B6A40E54-66F1-955B-833A-E615A03E2CB2}"/>
              </a:ext>
            </a:extLst>
          </p:cNvPr>
          <p:cNvSpPr>
            <a:spLocks noGrp="1"/>
          </p:cNvSpPr>
          <p:nvPr>
            <p:ph idx="1"/>
          </p:nvPr>
        </p:nvSpPr>
        <p:spPr>
          <a:xfrm>
            <a:off x="-1" y="1091381"/>
            <a:ext cx="12300155" cy="5766618"/>
          </a:xfrm>
        </p:spPr>
        <p:txBody>
          <a:bodyPr>
            <a:normAutofit/>
          </a:bodyPr>
          <a:lstStyle/>
          <a:p>
            <a:r>
              <a:rPr lang="en-US" sz="5400" dirty="0"/>
              <a:t>1. Customer Satisfaction (CSAT)</a:t>
            </a:r>
          </a:p>
          <a:p>
            <a:r>
              <a:rPr lang="en-US" sz="5400" dirty="0"/>
              <a:t>2. Net Promoter Score (NPS)</a:t>
            </a:r>
          </a:p>
          <a:p>
            <a:r>
              <a:rPr lang="en-US" sz="5400" dirty="0"/>
              <a:t>3. Customer Effort Score (CES)</a:t>
            </a:r>
          </a:p>
          <a:p>
            <a:r>
              <a:rPr lang="en-US" sz="5400" dirty="0"/>
              <a:t>4. Customer Retention Rate</a:t>
            </a:r>
          </a:p>
          <a:p>
            <a:r>
              <a:rPr lang="en-US" sz="5400" dirty="0"/>
              <a:t>5. Customer Lifetime Value (CLV)</a:t>
            </a:r>
          </a:p>
          <a:p>
            <a:br>
              <a:rPr lang="en-US" dirty="0"/>
            </a:br>
            <a:endParaRPr lang="en-PK" dirty="0"/>
          </a:p>
        </p:txBody>
      </p:sp>
    </p:spTree>
    <p:extLst>
      <p:ext uri="{BB962C8B-B14F-4D97-AF65-F5344CB8AC3E}">
        <p14:creationId xmlns:p14="http://schemas.microsoft.com/office/powerpoint/2010/main" val="1881047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F6EF4-A167-58A8-90D0-729B24D77657}"/>
              </a:ext>
            </a:extLst>
          </p:cNvPr>
          <p:cNvSpPr>
            <a:spLocks noGrp="1"/>
          </p:cNvSpPr>
          <p:nvPr>
            <p:ph type="title"/>
          </p:nvPr>
        </p:nvSpPr>
        <p:spPr>
          <a:xfrm>
            <a:off x="838200" y="1"/>
            <a:ext cx="10515600" cy="1179870"/>
          </a:xfrm>
        </p:spPr>
        <p:txBody>
          <a:bodyPr>
            <a:normAutofit/>
          </a:bodyPr>
          <a:lstStyle/>
          <a:p>
            <a:pPr algn="ctr"/>
            <a:r>
              <a:rPr lang="en-US" sz="6000" b="1" dirty="0">
                <a:highlight>
                  <a:srgbClr val="FFFF00"/>
                </a:highlight>
              </a:rPr>
              <a:t>Industry Applications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ECB7231E-8699-AF66-61FC-D89548B17990}"/>
              </a:ext>
            </a:extLst>
          </p:cNvPr>
          <p:cNvSpPr>
            <a:spLocks noGrp="1"/>
          </p:cNvSpPr>
          <p:nvPr>
            <p:ph idx="1"/>
          </p:nvPr>
        </p:nvSpPr>
        <p:spPr>
          <a:xfrm>
            <a:off x="-132735" y="1076632"/>
            <a:ext cx="12324735" cy="5781367"/>
          </a:xfrm>
        </p:spPr>
        <p:txBody>
          <a:bodyPr>
            <a:normAutofit/>
          </a:bodyPr>
          <a:lstStyle/>
          <a:p>
            <a:r>
              <a:rPr lang="en-US" sz="5400" dirty="0"/>
              <a:t>1. Retail and e-commerce</a:t>
            </a:r>
          </a:p>
          <a:p>
            <a:r>
              <a:rPr lang="en-US" sz="5400" dirty="0"/>
              <a:t>2. Healthcare and pharmaceuticals</a:t>
            </a:r>
          </a:p>
          <a:p>
            <a:r>
              <a:rPr lang="en-US" sz="5400" dirty="0"/>
              <a:t>3. Financial services and banking</a:t>
            </a:r>
          </a:p>
          <a:p>
            <a:r>
              <a:rPr lang="en-US" sz="5400" dirty="0"/>
              <a:t>4. Technology and software</a:t>
            </a:r>
          </a:p>
          <a:p>
            <a:r>
              <a:rPr lang="en-US" sz="5400" dirty="0"/>
              <a:t>5. Hospitality and travel</a:t>
            </a:r>
          </a:p>
          <a:p>
            <a:br>
              <a:rPr lang="en-US" dirty="0"/>
            </a:br>
            <a:endParaRPr lang="en-PK" dirty="0"/>
          </a:p>
        </p:txBody>
      </p:sp>
    </p:spTree>
    <p:extLst>
      <p:ext uri="{BB962C8B-B14F-4D97-AF65-F5344CB8AC3E}">
        <p14:creationId xmlns:p14="http://schemas.microsoft.com/office/powerpoint/2010/main" val="14200059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6B174-41DF-0018-750F-2C57DDD92840}"/>
              </a:ext>
            </a:extLst>
          </p:cNvPr>
          <p:cNvSpPr>
            <a:spLocks noGrp="1"/>
          </p:cNvSpPr>
          <p:nvPr>
            <p:ph type="title"/>
          </p:nvPr>
        </p:nvSpPr>
        <p:spPr>
          <a:xfrm>
            <a:off x="838200" y="1"/>
            <a:ext cx="10515600" cy="1091380"/>
          </a:xfrm>
        </p:spPr>
        <p:txBody>
          <a:bodyPr>
            <a:normAutofit fontScale="90000"/>
          </a:bodyPr>
          <a:lstStyle/>
          <a:p>
            <a:pPr algn="ctr"/>
            <a:r>
              <a:rPr lang="en-US" sz="6000" b="1" dirty="0">
                <a:highlight>
                  <a:srgbClr val="FFFF00"/>
                </a:highlight>
              </a:rPr>
              <a:t>Quality Function Deployment (QFD)</a:t>
            </a:r>
            <a:endParaRPr lang="en-PK" sz="6000" b="1" dirty="0">
              <a:highlight>
                <a:srgbClr val="FFFF00"/>
              </a:highlight>
            </a:endParaRPr>
          </a:p>
        </p:txBody>
      </p:sp>
      <p:sp>
        <p:nvSpPr>
          <p:cNvPr id="3" name="Content Placeholder 2">
            <a:extLst>
              <a:ext uri="{FF2B5EF4-FFF2-40B4-BE49-F238E27FC236}">
                <a16:creationId xmlns:a16="http://schemas.microsoft.com/office/drawing/2014/main" id="{CCB6E4B0-E919-95E5-5F6A-1C09714A8CDA}"/>
              </a:ext>
            </a:extLst>
          </p:cNvPr>
          <p:cNvSpPr>
            <a:spLocks noGrp="1"/>
          </p:cNvSpPr>
          <p:nvPr>
            <p:ph idx="1"/>
          </p:nvPr>
        </p:nvSpPr>
        <p:spPr>
          <a:xfrm>
            <a:off x="0" y="1091381"/>
            <a:ext cx="12192000" cy="5766618"/>
          </a:xfrm>
        </p:spPr>
        <p:txBody>
          <a:bodyPr/>
          <a:lstStyle/>
          <a:p>
            <a:r>
              <a:rPr lang="en-US" sz="5400" dirty="0"/>
              <a:t>Quality Function Deployment (QFD) is a methodology that translates customer requirements into design specifications, ensuring customer satisfaction and quality throughout the product development process.</a:t>
            </a:r>
          </a:p>
          <a:p>
            <a:pPr marL="0" indent="0">
              <a:buNone/>
            </a:pPr>
            <a:br>
              <a:rPr lang="en-US" dirty="0"/>
            </a:br>
            <a:endParaRPr lang="en-PK" dirty="0"/>
          </a:p>
        </p:txBody>
      </p:sp>
    </p:spTree>
    <p:extLst>
      <p:ext uri="{BB962C8B-B14F-4D97-AF65-F5344CB8AC3E}">
        <p14:creationId xmlns:p14="http://schemas.microsoft.com/office/powerpoint/2010/main" val="2062942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63727-777B-BF7E-ACE0-867B489EA7AB}"/>
              </a:ext>
            </a:extLst>
          </p:cNvPr>
          <p:cNvSpPr>
            <a:spLocks noGrp="1"/>
          </p:cNvSpPr>
          <p:nvPr>
            <p:ph type="title"/>
          </p:nvPr>
        </p:nvSpPr>
        <p:spPr>
          <a:xfrm>
            <a:off x="838200" y="1"/>
            <a:ext cx="10515600" cy="1032386"/>
          </a:xfrm>
        </p:spPr>
        <p:txBody>
          <a:bodyPr>
            <a:normAutofit/>
          </a:bodyPr>
          <a:lstStyle/>
          <a:p>
            <a:pPr algn="ctr"/>
            <a:r>
              <a:rPr lang="en-US" sz="6000" b="1" dirty="0">
                <a:highlight>
                  <a:srgbClr val="FFFF00"/>
                </a:highlight>
              </a:rPr>
              <a:t>QFD Objectives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D3A0BF1D-7542-80BB-19A6-646B2B2E7C4C}"/>
              </a:ext>
            </a:extLst>
          </p:cNvPr>
          <p:cNvSpPr>
            <a:spLocks noGrp="1"/>
          </p:cNvSpPr>
          <p:nvPr>
            <p:ph idx="1"/>
          </p:nvPr>
        </p:nvSpPr>
        <p:spPr>
          <a:xfrm>
            <a:off x="0" y="1032387"/>
            <a:ext cx="12192000" cy="5825612"/>
          </a:xfrm>
        </p:spPr>
        <p:txBody>
          <a:bodyPr>
            <a:normAutofit/>
          </a:bodyPr>
          <a:lstStyle/>
          <a:p>
            <a:r>
              <a:rPr lang="en-US" sz="4800" dirty="0"/>
              <a:t>1. Identify customer needs and priorities</a:t>
            </a:r>
          </a:p>
          <a:p>
            <a:r>
              <a:rPr lang="en-US" sz="4800" dirty="0"/>
              <a:t>2. Translate customer requirements into design specifications</a:t>
            </a:r>
          </a:p>
          <a:p>
            <a:r>
              <a:rPr lang="en-US" sz="4800" dirty="0"/>
              <a:t>3. Ensure customer satisfaction and quality</a:t>
            </a:r>
          </a:p>
          <a:p>
            <a:r>
              <a:rPr lang="en-US" sz="4800" dirty="0"/>
              <a:t>4. Reduce development time and costs</a:t>
            </a:r>
          </a:p>
          <a:p>
            <a:r>
              <a:rPr lang="en-US" sz="4800" dirty="0"/>
              <a:t>5. Improve communication among teams</a:t>
            </a:r>
          </a:p>
          <a:p>
            <a:br>
              <a:rPr lang="en-US" dirty="0"/>
            </a:br>
            <a:endParaRPr lang="en-PK" dirty="0"/>
          </a:p>
        </p:txBody>
      </p:sp>
    </p:spTree>
    <p:extLst>
      <p:ext uri="{BB962C8B-B14F-4D97-AF65-F5344CB8AC3E}">
        <p14:creationId xmlns:p14="http://schemas.microsoft.com/office/powerpoint/2010/main" val="7668933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96B7-5AF3-0519-D861-1208098357A1}"/>
              </a:ext>
            </a:extLst>
          </p:cNvPr>
          <p:cNvSpPr>
            <a:spLocks noGrp="1"/>
          </p:cNvSpPr>
          <p:nvPr>
            <p:ph type="title"/>
          </p:nvPr>
        </p:nvSpPr>
        <p:spPr>
          <a:xfrm>
            <a:off x="838200" y="1"/>
            <a:ext cx="10515600" cy="973393"/>
          </a:xfrm>
        </p:spPr>
        <p:txBody>
          <a:bodyPr>
            <a:normAutofit/>
          </a:bodyPr>
          <a:lstStyle/>
          <a:p>
            <a:pPr algn="ctr"/>
            <a:r>
              <a:rPr lang="en-US" sz="6000" b="1" dirty="0">
                <a:highlight>
                  <a:srgbClr val="FFFF00"/>
                </a:highlight>
              </a:rPr>
              <a:t>QFD Process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0B470E22-6C5D-D34B-9C23-FF2DE893397B}"/>
              </a:ext>
            </a:extLst>
          </p:cNvPr>
          <p:cNvSpPr>
            <a:spLocks noGrp="1"/>
          </p:cNvSpPr>
          <p:nvPr>
            <p:ph idx="1"/>
          </p:nvPr>
        </p:nvSpPr>
        <p:spPr>
          <a:xfrm>
            <a:off x="0" y="973394"/>
            <a:ext cx="12192000" cy="5203569"/>
          </a:xfrm>
        </p:spPr>
        <p:txBody>
          <a:bodyPr>
            <a:normAutofit fontScale="85000" lnSpcReduction="20000"/>
          </a:bodyPr>
          <a:lstStyle/>
          <a:p>
            <a:r>
              <a:rPr lang="en-US" sz="5200" dirty="0"/>
              <a:t>1. Identify customer requirements (Voice of the Customer)</a:t>
            </a:r>
          </a:p>
          <a:p>
            <a:r>
              <a:rPr lang="en-US" sz="5200" dirty="0"/>
              <a:t>2. Prioritize customer requirements</a:t>
            </a:r>
          </a:p>
          <a:p>
            <a:r>
              <a:rPr lang="en-US" sz="5200" dirty="0"/>
              <a:t>3. Develop design specifications (technical requirements)</a:t>
            </a:r>
          </a:p>
          <a:p>
            <a:r>
              <a:rPr lang="en-US" sz="5200" dirty="0"/>
              <a:t>4. Establish relationships between customer requirements and design specifications</a:t>
            </a:r>
          </a:p>
          <a:p>
            <a:r>
              <a:rPr lang="en-US" sz="5200" dirty="0"/>
              <a:t>5. Evaluate and refine design specifications</a:t>
            </a:r>
          </a:p>
          <a:p>
            <a:br>
              <a:rPr lang="en-US" dirty="0"/>
            </a:br>
            <a:endParaRPr lang="en-PK" dirty="0"/>
          </a:p>
        </p:txBody>
      </p:sp>
    </p:spTree>
    <p:extLst>
      <p:ext uri="{BB962C8B-B14F-4D97-AF65-F5344CB8AC3E}">
        <p14:creationId xmlns:p14="http://schemas.microsoft.com/office/powerpoint/2010/main" val="30092658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1D7C2-0078-F031-5EEA-A2DB9E2286D6}"/>
              </a:ext>
            </a:extLst>
          </p:cNvPr>
          <p:cNvSpPr>
            <a:spLocks noGrp="1"/>
          </p:cNvSpPr>
          <p:nvPr>
            <p:ph type="title"/>
          </p:nvPr>
        </p:nvSpPr>
        <p:spPr>
          <a:xfrm>
            <a:off x="838200" y="1"/>
            <a:ext cx="10515600" cy="929147"/>
          </a:xfrm>
        </p:spPr>
        <p:txBody>
          <a:bodyPr>
            <a:normAutofit/>
          </a:bodyPr>
          <a:lstStyle/>
          <a:p>
            <a:pPr algn="ctr"/>
            <a:r>
              <a:rPr lang="en-US" sz="6000" b="1" dirty="0">
                <a:highlight>
                  <a:srgbClr val="FFFF00"/>
                </a:highlight>
              </a:rPr>
              <a:t>QFD Tools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EB10F03F-1743-7246-4F33-5B2E103B0352}"/>
              </a:ext>
            </a:extLst>
          </p:cNvPr>
          <p:cNvSpPr>
            <a:spLocks noGrp="1"/>
          </p:cNvSpPr>
          <p:nvPr>
            <p:ph idx="1"/>
          </p:nvPr>
        </p:nvSpPr>
        <p:spPr>
          <a:xfrm>
            <a:off x="0" y="929148"/>
            <a:ext cx="12192000" cy="5928851"/>
          </a:xfrm>
        </p:spPr>
        <p:txBody>
          <a:bodyPr>
            <a:normAutofit/>
          </a:bodyPr>
          <a:lstStyle/>
          <a:p>
            <a:r>
              <a:rPr lang="en-US" sz="6000" dirty="0"/>
              <a:t>1. House of Quality (HOQ) matrix</a:t>
            </a:r>
          </a:p>
          <a:p>
            <a:r>
              <a:rPr lang="en-US" sz="6000" dirty="0"/>
              <a:t>2. Customer Requirement Table</a:t>
            </a:r>
          </a:p>
          <a:p>
            <a:r>
              <a:rPr lang="en-US" sz="6000" dirty="0"/>
              <a:t>3. Technical Requirement Table</a:t>
            </a:r>
          </a:p>
          <a:p>
            <a:r>
              <a:rPr lang="en-US" sz="6000" dirty="0"/>
              <a:t>4. Correlation Matrix</a:t>
            </a:r>
          </a:p>
          <a:p>
            <a:r>
              <a:rPr lang="en-US" sz="6000" dirty="0"/>
              <a:t>5. Roof Matrix</a:t>
            </a:r>
          </a:p>
          <a:p>
            <a:br>
              <a:rPr lang="en-US" dirty="0"/>
            </a:br>
            <a:endParaRPr lang="en-PK" dirty="0"/>
          </a:p>
        </p:txBody>
      </p:sp>
    </p:spTree>
    <p:extLst>
      <p:ext uri="{BB962C8B-B14F-4D97-AF65-F5344CB8AC3E}">
        <p14:creationId xmlns:p14="http://schemas.microsoft.com/office/powerpoint/2010/main" val="26455331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C114C-51BF-FEFF-8426-F0BCA9FEC63D}"/>
              </a:ext>
            </a:extLst>
          </p:cNvPr>
          <p:cNvSpPr>
            <a:spLocks noGrp="1"/>
          </p:cNvSpPr>
          <p:nvPr>
            <p:ph type="title"/>
          </p:nvPr>
        </p:nvSpPr>
        <p:spPr>
          <a:xfrm>
            <a:off x="838200" y="1"/>
            <a:ext cx="10515600" cy="1135625"/>
          </a:xfrm>
        </p:spPr>
        <p:txBody>
          <a:bodyPr>
            <a:normAutofit/>
          </a:bodyPr>
          <a:lstStyle/>
          <a:p>
            <a:pPr algn="ctr"/>
            <a:r>
              <a:rPr lang="en-US" sz="6000" b="1" dirty="0">
                <a:highlight>
                  <a:srgbClr val="FFFF00"/>
                </a:highlight>
              </a:rPr>
              <a:t>House of Quality (HOQ) Matrix</a:t>
            </a:r>
            <a:endParaRPr lang="en-PK" sz="6000" b="1" dirty="0">
              <a:highlight>
                <a:srgbClr val="FFFF00"/>
              </a:highlight>
            </a:endParaRPr>
          </a:p>
        </p:txBody>
      </p:sp>
      <p:sp>
        <p:nvSpPr>
          <p:cNvPr id="3" name="Content Placeholder 2">
            <a:extLst>
              <a:ext uri="{FF2B5EF4-FFF2-40B4-BE49-F238E27FC236}">
                <a16:creationId xmlns:a16="http://schemas.microsoft.com/office/drawing/2014/main" id="{B04F239C-B2D5-474A-4368-89675DF927A3}"/>
              </a:ext>
            </a:extLst>
          </p:cNvPr>
          <p:cNvSpPr>
            <a:spLocks noGrp="1"/>
          </p:cNvSpPr>
          <p:nvPr>
            <p:ph idx="1"/>
          </p:nvPr>
        </p:nvSpPr>
        <p:spPr>
          <a:xfrm>
            <a:off x="0" y="1135626"/>
            <a:ext cx="12192000" cy="5722373"/>
          </a:xfrm>
        </p:spPr>
        <p:txBody>
          <a:bodyPr>
            <a:normAutofit fontScale="92500" lnSpcReduction="10000"/>
          </a:bodyPr>
          <a:lstStyle/>
          <a:p>
            <a:pPr marL="0" indent="0">
              <a:buNone/>
            </a:pPr>
            <a:endParaRPr lang="en-US" sz="3900" dirty="0"/>
          </a:p>
          <a:p>
            <a:r>
              <a:rPr lang="en-US" sz="3900" dirty="0"/>
              <a:t>A diagrammatic representation of customer requirements, design specifications, and their relationships.</a:t>
            </a:r>
          </a:p>
          <a:p>
            <a:r>
              <a:rPr lang="en-US" sz="3900" dirty="0"/>
              <a:t>*Benefits:*</a:t>
            </a:r>
          </a:p>
          <a:p>
            <a:r>
              <a:rPr lang="en-US" sz="3900" dirty="0"/>
              <a:t>1. Improved customer satisfaction</a:t>
            </a:r>
          </a:p>
          <a:p>
            <a:r>
              <a:rPr lang="en-US" sz="3900" dirty="0"/>
              <a:t>2. Reduced defects and rework</a:t>
            </a:r>
          </a:p>
          <a:p>
            <a:r>
              <a:rPr lang="en-US" sz="3900" dirty="0"/>
              <a:t>3. Enhanced quality and reliability</a:t>
            </a:r>
          </a:p>
          <a:p>
            <a:r>
              <a:rPr lang="en-US" sz="3900" dirty="0"/>
              <a:t>4. Faster time-to-market</a:t>
            </a:r>
          </a:p>
          <a:p>
            <a:r>
              <a:rPr lang="en-US" sz="3900" dirty="0"/>
              <a:t>5. Increased team collaboration</a:t>
            </a:r>
          </a:p>
          <a:p>
            <a:pPr marL="0" indent="0">
              <a:buNone/>
            </a:pPr>
            <a:br>
              <a:rPr lang="en-US" dirty="0"/>
            </a:br>
            <a:endParaRPr lang="en-PK" dirty="0"/>
          </a:p>
        </p:txBody>
      </p:sp>
    </p:spTree>
    <p:extLst>
      <p:ext uri="{BB962C8B-B14F-4D97-AF65-F5344CB8AC3E}">
        <p14:creationId xmlns:p14="http://schemas.microsoft.com/office/powerpoint/2010/main" val="15469917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BDD86-C2D6-1FC9-6720-BAEFCABD9D01}"/>
              </a:ext>
            </a:extLst>
          </p:cNvPr>
          <p:cNvSpPr>
            <a:spLocks noGrp="1"/>
          </p:cNvSpPr>
          <p:nvPr>
            <p:ph type="title"/>
          </p:nvPr>
        </p:nvSpPr>
        <p:spPr>
          <a:xfrm>
            <a:off x="838200" y="1"/>
            <a:ext cx="10515600" cy="870154"/>
          </a:xfrm>
        </p:spPr>
        <p:txBody>
          <a:bodyPr>
            <a:normAutofit fontScale="90000"/>
          </a:bodyPr>
          <a:lstStyle/>
          <a:p>
            <a:pPr algn="ctr"/>
            <a:r>
              <a:rPr lang="en-US" sz="6000" b="1" dirty="0">
                <a:highlight>
                  <a:srgbClr val="FFFF00"/>
                </a:highlight>
              </a:rPr>
              <a:t>Industry Applications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AFF48E29-547B-B0E5-1B65-B4955584BAFA}"/>
              </a:ext>
            </a:extLst>
          </p:cNvPr>
          <p:cNvSpPr>
            <a:spLocks noGrp="1"/>
          </p:cNvSpPr>
          <p:nvPr>
            <p:ph idx="1"/>
          </p:nvPr>
        </p:nvSpPr>
        <p:spPr>
          <a:xfrm>
            <a:off x="0" y="752168"/>
            <a:ext cx="12192000" cy="6105831"/>
          </a:xfrm>
        </p:spPr>
        <p:txBody>
          <a:bodyPr>
            <a:normAutofit/>
          </a:bodyPr>
          <a:lstStyle/>
          <a:p>
            <a:r>
              <a:rPr lang="en-US" sz="5400" dirty="0"/>
              <a:t>1. Manufacturing</a:t>
            </a:r>
          </a:p>
          <a:p>
            <a:r>
              <a:rPr lang="en-US" sz="5400" dirty="0"/>
              <a:t>2. Healthcare</a:t>
            </a:r>
          </a:p>
          <a:p>
            <a:r>
              <a:rPr lang="en-US" sz="5400" dirty="0"/>
              <a:t>3. Automotive</a:t>
            </a:r>
          </a:p>
          <a:p>
            <a:r>
              <a:rPr lang="en-US" sz="5400" dirty="0"/>
              <a:t>4. Aerospace</a:t>
            </a:r>
          </a:p>
          <a:p>
            <a:r>
              <a:rPr lang="en-US" sz="5400" dirty="0"/>
              <a:t>5. Software development</a:t>
            </a:r>
          </a:p>
          <a:p>
            <a:br>
              <a:rPr lang="en-US" dirty="0"/>
            </a:br>
            <a:endParaRPr lang="en-PK" dirty="0"/>
          </a:p>
        </p:txBody>
      </p:sp>
    </p:spTree>
    <p:extLst>
      <p:ext uri="{BB962C8B-B14F-4D97-AF65-F5344CB8AC3E}">
        <p14:creationId xmlns:p14="http://schemas.microsoft.com/office/powerpoint/2010/main" val="28011482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EB34-68D1-50FC-BD9D-A742E012B780}"/>
              </a:ext>
            </a:extLst>
          </p:cNvPr>
          <p:cNvSpPr>
            <a:spLocks noGrp="1"/>
          </p:cNvSpPr>
          <p:nvPr>
            <p:ph type="title"/>
          </p:nvPr>
        </p:nvSpPr>
        <p:spPr>
          <a:xfrm>
            <a:off x="838200" y="1"/>
            <a:ext cx="10515600" cy="929147"/>
          </a:xfrm>
        </p:spPr>
        <p:txBody>
          <a:bodyPr>
            <a:normAutofit/>
          </a:bodyPr>
          <a:lstStyle/>
          <a:p>
            <a:pPr algn="ctr"/>
            <a:r>
              <a:rPr lang="en-US" sz="6000" b="1" dirty="0">
                <a:highlight>
                  <a:srgbClr val="FFFF00"/>
                </a:highlight>
              </a:rPr>
              <a:t>QFD Best Practices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C441705C-356E-684E-AB87-FD8D07DE50BE}"/>
              </a:ext>
            </a:extLst>
          </p:cNvPr>
          <p:cNvSpPr>
            <a:spLocks noGrp="1"/>
          </p:cNvSpPr>
          <p:nvPr>
            <p:ph idx="1"/>
          </p:nvPr>
        </p:nvSpPr>
        <p:spPr>
          <a:xfrm>
            <a:off x="0" y="1032387"/>
            <a:ext cx="12192000" cy="5825612"/>
          </a:xfrm>
        </p:spPr>
        <p:txBody>
          <a:bodyPr>
            <a:normAutofit/>
          </a:bodyPr>
          <a:lstStyle/>
          <a:p>
            <a:r>
              <a:rPr lang="en-US" sz="4800" dirty="0"/>
              <a:t>1. Involve cross-functional teams</a:t>
            </a:r>
          </a:p>
          <a:p>
            <a:r>
              <a:rPr lang="en-US" sz="4800" dirty="0"/>
              <a:t>2. Conduct regular customer feedback</a:t>
            </a:r>
          </a:p>
          <a:p>
            <a:r>
              <a:rPr lang="en-US" sz="4800" dirty="0"/>
              <a:t>3. Use data-driven decision-making</a:t>
            </a:r>
          </a:p>
          <a:p>
            <a:r>
              <a:rPr lang="en-US" sz="4800" dirty="0"/>
              <a:t>4. Continuously refine and update QFD</a:t>
            </a:r>
          </a:p>
          <a:p>
            <a:r>
              <a:rPr lang="en-US" sz="4800" dirty="0"/>
              <a:t>5. Integrate QFD with other quality initiatives</a:t>
            </a:r>
          </a:p>
          <a:p>
            <a:br>
              <a:rPr lang="en-US" dirty="0"/>
            </a:br>
            <a:endParaRPr lang="en-PK" dirty="0"/>
          </a:p>
        </p:txBody>
      </p:sp>
    </p:spTree>
    <p:extLst>
      <p:ext uri="{BB962C8B-B14F-4D97-AF65-F5344CB8AC3E}">
        <p14:creationId xmlns:p14="http://schemas.microsoft.com/office/powerpoint/2010/main" val="4100593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4092A-1DBC-8E64-0CE1-7690B7835167}"/>
              </a:ext>
            </a:extLst>
          </p:cNvPr>
          <p:cNvSpPr>
            <a:spLocks noGrp="1"/>
          </p:cNvSpPr>
          <p:nvPr>
            <p:ph type="title"/>
          </p:nvPr>
        </p:nvSpPr>
        <p:spPr>
          <a:xfrm>
            <a:off x="838200" y="1"/>
            <a:ext cx="10515600" cy="988141"/>
          </a:xfrm>
        </p:spPr>
        <p:txBody>
          <a:bodyPr>
            <a:normAutofit/>
          </a:bodyPr>
          <a:lstStyle/>
          <a:p>
            <a:pPr algn="ctr"/>
            <a:r>
              <a:rPr lang="en-US" sz="6000" b="1" dirty="0">
                <a:highlight>
                  <a:srgbClr val="FFFF00"/>
                </a:highlight>
              </a:rPr>
              <a:t>Common Challenges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198FF552-F94E-BDD8-97FB-B42466080592}"/>
              </a:ext>
            </a:extLst>
          </p:cNvPr>
          <p:cNvSpPr>
            <a:spLocks noGrp="1"/>
          </p:cNvSpPr>
          <p:nvPr>
            <p:ph idx="1"/>
          </p:nvPr>
        </p:nvSpPr>
        <p:spPr>
          <a:xfrm>
            <a:off x="0" y="988142"/>
            <a:ext cx="12192000" cy="5869858"/>
          </a:xfrm>
        </p:spPr>
        <p:txBody>
          <a:bodyPr>
            <a:normAutofit fontScale="92500" lnSpcReduction="10000"/>
          </a:bodyPr>
          <a:lstStyle/>
          <a:p>
            <a:pPr marL="0" indent="0">
              <a:buNone/>
            </a:pPr>
            <a:r>
              <a:rPr lang="en-US" sz="6600" dirty="0"/>
              <a:t>1. Difficulty in identifying customer requirements</a:t>
            </a:r>
          </a:p>
          <a:p>
            <a:pPr marL="0" indent="0">
              <a:buNone/>
            </a:pPr>
            <a:r>
              <a:rPr lang="en-US" sz="6600" dirty="0"/>
              <a:t>2. Inadequate resources and training</a:t>
            </a:r>
          </a:p>
          <a:p>
            <a:pPr marL="0" indent="0">
              <a:buNone/>
            </a:pPr>
            <a:r>
              <a:rPr lang="en-US" sz="6600" dirty="0"/>
              <a:t>3. Insufficient data and metrics</a:t>
            </a:r>
          </a:p>
          <a:p>
            <a:pPr marL="0" indent="0">
              <a:buNone/>
            </a:pPr>
            <a:r>
              <a:rPr lang="en-US" sz="6600" dirty="0"/>
              <a:t>4. Resistance to change</a:t>
            </a:r>
          </a:p>
          <a:p>
            <a:pPr marL="0" indent="0">
              <a:buNone/>
            </a:pPr>
            <a:r>
              <a:rPr lang="en-US" sz="6600" dirty="0"/>
              <a:t>5. Ineffective communication</a:t>
            </a:r>
          </a:p>
          <a:p>
            <a:pPr marL="0" indent="0">
              <a:buNone/>
            </a:pPr>
            <a:br>
              <a:rPr lang="en-US" dirty="0"/>
            </a:br>
            <a:endParaRPr lang="en-PK" dirty="0"/>
          </a:p>
        </p:txBody>
      </p:sp>
    </p:spTree>
    <p:extLst>
      <p:ext uri="{BB962C8B-B14F-4D97-AF65-F5344CB8AC3E}">
        <p14:creationId xmlns:p14="http://schemas.microsoft.com/office/powerpoint/2010/main" val="7794334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4B6BE-40F8-4757-307E-C3FB55DBF329}"/>
              </a:ext>
            </a:extLst>
          </p:cNvPr>
          <p:cNvSpPr>
            <a:spLocks noGrp="1"/>
          </p:cNvSpPr>
          <p:nvPr>
            <p:ph type="title"/>
          </p:nvPr>
        </p:nvSpPr>
        <p:spPr>
          <a:xfrm>
            <a:off x="0" y="1"/>
            <a:ext cx="12192000" cy="1283109"/>
          </a:xfrm>
        </p:spPr>
        <p:txBody>
          <a:bodyPr>
            <a:noAutofit/>
          </a:bodyPr>
          <a:lstStyle/>
          <a:p>
            <a:pPr algn="ctr"/>
            <a:r>
              <a:rPr lang="en-US" sz="6000" b="1" dirty="0">
                <a:highlight>
                  <a:srgbClr val="FFFF00"/>
                </a:highlight>
              </a:rPr>
              <a:t>Relationship to Other Quality Initiatives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5E96F51E-944F-E30A-7128-DC2A740A0CB0}"/>
              </a:ext>
            </a:extLst>
          </p:cNvPr>
          <p:cNvSpPr>
            <a:spLocks noGrp="1"/>
          </p:cNvSpPr>
          <p:nvPr>
            <p:ph idx="1"/>
          </p:nvPr>
        </p:nvSpPr>
        <p:spPr>
          <a:xfrm>
            <a:off x="0" y="1283110"/>
            <a:ext cx="12192000" cy="5574890"/>
          </a:xfrm>
        </p:spPr>
        <p:txBody>
          <a:bodyPr>
            <a:normAutofit/>
          </a:bodyPr>
          <a:lstStyle/>
          <a:p>
            <a:r>
              <a:rPr lang="en-US" sz="5400" dirty="0"/>
              <a:t>1. Total Quality Management (TQM)</a:t>
            </a:r>
          </a:p>
          <a:p>
            <a:r>
              <a:rPr lang="en-US" sz="5400" dirty="0"/>
              <a:t>2. Six Sigma</a:t>
            </a:r>
          </a:p>
          <a:p>
            <a:r>
              <a:rPr lang="en-US" sz="5400" dirty="0"/>
              <a:t>3. Lean Manufacturing</a:t>
            </a:r>
          </a:p>
          <a:p>
            <a:r>
              <a:rPr lang="en-US" sz="5400" dirty="0"/>
              <a:t>4. Design for Six Sigma (DFSS)</a:t>
            </a:r>
          </a:p>
          <a:p>
            <a:r>
              <a:rPr lang="en-US" sz="5400" dirty="0"/>
              <a:t>5. Continuous Improvement (Kaizen)</a:t>
            </a:r>
          </a:p>
          <a:p>
            <a:pPr marL="0" indent="0">
              <a:buNone/>
            </a:pPr>
            <a:br>
              <a:rPr lang="en-US" dirty="0"/>
            </a:br>
            <a:endParaRPr lang="en-PK" dirty="0"/>
          </a:p>
        </p:txBody>
      </p:sp>
    </p:spTree>
    <p:extLst>
      <p:ext uri="{BB962C8B-B14F-4D97-AF65-F5344CB8AC3E}">
        <p14:creationId xmlns:p14="http://schemas.microsoft.com/office/powerpoint/2010/main" val="1700736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5A732-04D9-04AF-8ED7-DCD2379FA266}"/>
              </a:ext>
            </a:extLst>
          </p:cNvPr>
          <p:cNvSpPr>
            <a:spLocks noGrp="1"/>
          </p:cNvSpPr>
          <p:nvPr>
            <p:ph type="title"/>
          </p:nvPr>
        </p:nvSpPr>
        <p:spPr>
          <a:xfrm>
            <a:off x="0" y="147485"/>
            <a:ext cx="12192000" cy="1543204"/>
          </a:xfrm>
        </p:spPr>
        <p:txBody>
          <a:bodyPr>
            <a:noAutofit/>
          </a:bodyPr>
          <a:lstStyle/>
          <a:p>
            <a:pPr algn="ctr"/>
            <a:r>
              <a:rPr lang="en-US" sz="6000" b="1" dirty="0">
                <a:highlight>
                  <a:srgbClr val="FFFF00"/>
                </a:highlight>
              </a:rPr>
              <a:t>Failure Mode and Effects Analysis (FMEA)</a:t>
            </a:r>
            <a:endParaRPr lang="en-PK" sz="6000" b="1" dirty="0">
              <a:highlight>
                <a:srgbClr val="FFFF00"/>
              </a:highlight>
            </a:endParaRPr>
          </a:p>
        </p:txBody>
      </p:sp>
      <p:sp>
        <p:nvSpPr>
          <p:cNvPr id="3" name="Content Placeholder 2">
            <a:extLst>
              <a:ext uri="{FF2B5EF4-FFF2-40B4-BE49-F238E27FC236}">
                <a16:creationId xmlns:a16="http://schemas.microsoft.com/office/drawing/2014/main" id="{997C9161-46D6-D2B5-F03C-00623B471FE9}"/>
              </a:ext>
            </a:extLst>
          </p:cNvPr>
          <p:cNvSpPr>
            <a:spLocks noGrp="1"/>
          </p:cNvSpPr>
          <p:nvPr>
            <p:ph idx="1"/>
          </p:nvPr>
        </p:nvSpPr>
        <p:spPr>
          <a:xfrm>
            <a:off x="-1" y="1825624"/>
            <a:ext cx="12191999" cy="5032375"/>
          </a:xfrm>
        </p:spPr>
        <p:txBody>
          <a:bodyPr>
            <a:normAutofit lnSpcReduction="10000"/>
          </a:bodyPr>
          <a:lstStyle/>
          <a:p>
            <a:r>
              <a:rPr lang="en-US" sz="3600" dirty="0"/>
              <a:t>Failure Mode and Effects Analysis (FMEA) is a structured approach to identify, evaluate, and prioritize potential failures in products, processes, and services.</a:t>
            </a:r>
          </a:p>
          <a:p>
            <a:r>
              <a:rPr lang="en-US" sz="3600" dirty="0"/>
              <a:t>*FMEA Objectives:*</a:t>
            </a:r>
          </a:p>
          <a:p>
            <a:r>
              <a:rPr lang="en-US" sz="3600" dirty="0"/>
              <a:t>1. Identify potential failures</a:t>
            </a:r>
          </a:p>
          <a:p>
            <a:r>
              <a:rPr lang="en-US" sz="3600" dirty="0"/>
              <a:t>2. Assess failure risks</a:t>
            </a:r>
          </a:p>
          <a:p>
            <a:r>
              <a:rPr lang="en-US" sz="3600" dirty="0"/>
              <a:t>3. Prioritize mitigation efforts</a:t>
            </a:r>
          </a:p>
          <a:p>
            <a:r>
              <a:rPr lang="en-US" sz="3600" dirty="0"/>
              <a:t>4. Reduce failure rates</a:t>
            </a:r>
          </a:p>
          <a:p>
            <a:r>
              <a:rPr lang="en-US" sz="3600" dirty="0"/>
              <a:t>5. Improve reliability and quality</a:t>
            </a:r>
          </a:p>
          <a:p>
            <a:pPr marL="0" indent="0">
              <a:buNone/>
            </a:pPr>
            <a:endParaRPr lang="en-PK" dirty="0"/>
          </a:p>
        </p:txBody>
      </p:sp>
    </p:spTree>
    <p:extLst>
      <p:ext uri="{BB962C8B-B14F-4D97-AF65-F5344CB8AC3E}">
        <p14:creationId xmlns:p14="http://schemas.microsoft.com/office/powerpoint/2010/main" val="6501723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4FB1A-7D39-B6AF-57F5-1E8539BFB232}"/>
              </a:ext>
            </a:extLst>
          </p:cNvPr>
          <p:cNvSpPr>
            <a:spLocks noGrp="1"/>
          </p:cNvSpPr>
          <p:nvPr>
            <p:ph type="title"/>
          </p:nvPr>
        </p:nvSpPr>
        <p:spPr>
          <a:xfrm>
            <a:off x="838200" y="1"/>
            <a:ext cx="10515600" cy="1076631"/>
          </a:xfrm>
        </p:spPr>
        <p:txBody>
          <a:bodyPr>
            <a:normAutofit/>
          </a:bodyPr>
          <a:lstStyle/>
          <a:p>
            <a:pPr algn="ctr"/>
            <a:r>
              <a:rPr lang="en-US" sz="6000" b="1" dirty="0">
                <a:highlight>
                  <a:srgbClr val="FFFF00"/>
                </a:highlight>
              </a:rPr>
              <a:t>FMEA Process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9995FF4A-D646-AC85-FFBF-C19EC1790500}"/>
              </a:ext>
            </a:extLst>
          </p:cNvPr>
          <p:cNvSpPr>
            <a:spLocks noGrp="1"/>
          </p:cNvSpPr>
          <p:nvPr>
            <p:ph idx="1"/>
          </p:nvPr>
        </p:nvSpPr>
        <p:spPr>
          <a:xfrm>
            <a:off x="0" y="1076632"/>
            <a:ext cx="12192000" cy="5781367"/>
          </a:xfrm>
        </p:spPr>
        <p:txBody>
          <a:bodyPr>
            <a:normAutofit lnSpcReduction="10000"/>
          </a:bodyPr>
          <a:lstStyle/>
          <a:p>
            <a:r>
              <a:rPr lang="en-US" sz="4800" dirty="0"/>
              <a:t>1. Define scope and boundaries</a:t>
            </a:r>
          </a:p>
          <a:p>
            <a:r>
              <a:rPr lang="en-US" sz="4800" dirty="0"/>
              <a:t>2. Identify potential failure modes</a:t>
            </a:r>
          </a:p>
          <a:p>
            <a:r>
              <a:rPr lang="en-US" sz="4800" dirty="0"/>
              <a:t>3. Determine failure effects and severity</a:t>
            </a:r>
          </a:p>
          <a:p>
            <a:r>
              <a:rPr lang="en-US" sz="4800" dirty="0"/>
              <a:t>4. Calculate failure probability (Occurrence)</a:t>
            </a:r>
          </a:p>
          <a:p>
            <a:r>
              <a:rPr lang="en-US" sz="4800" dirty="0"/>
              <a:t>5. Calculate failure detection probability (Detection)</a:t>
            </a:r>
          </a:p>
          <a:p>
            <a:r>
              <a:rPr lang="en-US" sz="4800" dirty="0"/>
              <a:t>6. Calculate Risk Priority Number (RPN)</a:t>
            </a:r>
          </a:p>
          <a:p>
            <a:br>
              <a:rPr lang="en-US" dirty="0"/>
            </a:br>
            <a:endParaRPr lang="en-PK" dirty="0"/>
          </a:p>
        </p:txBody>
      </p:sp>
    </p:spTree>
    <p:extLst>
      <p:ext uri="{BB962C8B-B14F-4D97-AF65-F5344CB8AC3E}">
        <p14:creationId xmlns:p14="http://schemas.microsoft.com/office/powerpoint/2010/main" val="19414507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3127-3BC0-4497-F5CB-C77BFF42BFA9}"/>
              </a:ext>
            </a:extLst>
          </p:cNvPr>
          <p:cNvSpPr>
            <a:spLocks noGrp="1"/>
          </p:cNvSpPr>
          <p:nvPr>
            <p:ph type="title"/>
          </p:nvPr>
        </p:nvSpPr>
        <p:spPr>
          <a:xfrm>
            <a:off x="838200" y="1"/>
            <a:ext cx="10515600" cy="1120876"/>
          </a:xfrm>
        </p:spPr>
        <p:txBody>
          <a:bodyPr>
            <a:normAutofit/>
          </a:bodyPr>
          <a:lstStyle/>
          <a:p>
            <a:pPr algn="ctr"/>
            <a:r>
              <a:rPr lang="en-US" sz="6000" b="1" dirty="0">
                <a:highlight>
                  <a:srgbClr val="FFFF00"/>
                </a:highlight>
              </a:rPr>
              <a:t>FMEA Tools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67B63FFF-633F-D87B-EEF5-116CDCE271B5}"/>
              </a:ext>
            </a:extLst>
          </p:cNvPr>
          <p:cNvSpPr>
            <a:spLocks noGrp="1"/>
          </p:cNvSpPr>
          <p:nvPr>
            <p:ph idx="1"/>
          </p:nvPr>
        </p:nvSpPr>
        <p:spPr>
          <a:xfrm>
            <a:off x="0" y="1120877"/>
            <a:ext cx="12192000" cy="5737122"/>
          </a:xfrm>
        </p:spPr>
        <p:txBody>
          <a:bodyPr>
            <a:normAutofit/>
          </a:bodyPr>
          <a:lstStyle/>
          <a:p>
            <a:r>
              <a:rPr lang="en-US" sz="6000" dirty="0"/>
              <a:t>1. FMEA table/template</a:t>
            </a:r>
          </a:p>
          <a:p>
            <a:r>
              <a:rPr lang="en-US" sz="6000" dirty="0"/>
              <a:t>2. Fishbone diagrams</a:t>
            </a:r>
          </a:p>
          <a:p>
            <a:r>
              <a:rPr lang="en-US" sz="6000" dirty="0"/>
              <a:t>3. Pareto analysis</a:t>
            </a:r>
          </a:p>
          <a:p>
            <a:r>
              <a:rPr lang="en-US" sz="6000" dirty="0"/>
              <a:t>4. Fault tree analysis</a:t>
            </a:r>
          </a:p>
          <a:p>
            <a:r>
              <a:rPr lang="en-US" sz="6000" dirty="0"/>
              <a:t>5. Reliability block diagrams</a:t>
            </a:r>
          </a:p>
          <a:p>
            <a:br>
              <a:rPr lang="en-US" dirty="0"/>
            </a:br>
            <a:endParaRPr lang="en-PK" dirty="0"/>
          </a:p>
        </p:txBody>
      </p:sp>
    </p:spTree>
    <p:extLst>
      <p:ext uri="{BB962C8B-B14F-4D97-AF65-F5344CB8AC3E}">
        <p14:creationId xmlns:p14="http://schemas.microsoft.com/office/powerpoint/2010/main" val="20677947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F223D-46B5-8272-A974-6847DF30571E}"/>
              </a:ext>
            </a:extLst>
          </p:cNvPr>
          <p:cNvSpPr>
            <a:spLocks noGrp="1"/>
          </p:cNvSpPr>
          <p:nvPr>
            <p:ph type="title"/>
          </p:nvPr>
        </p:nvSpPr>
        <p:spPr>
          <a:xfrm>
            <a:off x="838200" y="1"/>
            <a:ext cx="10515600" cy="1076631"/>
          </a:xfrm>
        </p:spPr>
        <p:txBody>
          <a:bodyPr>
            <a:normAutofit/>
          </a:bodyPr>
          <a:lstStyle/>
          <a:p>
            <a:pPr algn="ctr"/>
            <a:r>
              <a:rPr lang="en-US" sz="6000" b="1" dirty="0">
                <a:highlight>
                  <a:srgbClr val="FFFF00"/>
                </a:highlight>
              </a:rPr>
              <a:t>Risk Priority Number (RPN)</a:t>
            </a:r>
            <a:endParaRPr lang="en-PK" sz="6000" b="1" dirty="0">
              <a:highlight>
                <a:srgbClr val="FFFF00"/>
              </a:highlight>
            </a:endParaRPr>
          </a:p>
        </p:txBody>
      </p:sp>
      <p:sp>
        <p:nvSpPr>
          <p:cNvPr id="3" name="Content Placeholder 2">
            <a:extLst>
              <a:ext uri="{FF2B5EF4-FFF2-40B4-BE49-F238E27FC236}">
                <a16:creationId xmlns:a16="http://schemas.microsoft.com/office/drawing/2014/main" id="{E81C3ACA-E499-451A-723A-1CAA6129B55F}"/>
              </a:ext>
            </a:extLst>
          </p:cNvPr>
          <p:cNvSpPr>
            <a:spLocks noGrp="1"/>
          </p:cNvSpPr>
          <p:nvPr>
            <p:ph idx="1"/>
          </p:nvPr>
        </p:nvSpPr>
        <p:spPr>
          <a:xfrm>
            <a:off x="0" y="1076632"/>
            <a:ext cx="12192000" cy="5100331"/>
          </a:xfrm>
        </p:spPr>
        <p:txBody>
          <a:bodyPr>
            <a:normAutofit/>
          </a:bodyPr>
          <a:lstStyle/>
          <a:p>
            <a:r>
              <a:rPr lang="en-US" sz="4800" dirty="0"/>
              <a:t>RPN = Severity × Occurrence × Detection</a:t>
            </a:r>
          </a:p>
          <a:p>
            <a:r>
              <a:rPr lang="en-US" sz="4800" dirty="0"/>
              <a:t>- Severity (1-10): Impact of failure</a:t>
            </a:r>
          </a:p>
          <a:p>
            <a:r>
              <a:rPr lang="en-US" sz="4800" dirty="0"/>
              <a:t>- Occurrence (1-10): Likelihood of failure</a:t>
            </a:r>
          </a:p>
          <a:p>
            <a:r>
              <a:rPr lang="en-US" sz="4800" dirty="0"/>
              <a:t>- Detection (1-10): Likelihood of detecting failure</a:t>
            </a:r>
          </a:p>
          <a:p>
            <a:br>
              <a:rPr lang="en-US" dirty="0"/>
            </a:br>
            <a:endParaRPr lang="en-PK" dirty="0"/>
          </a:p>
        </p:txBody>
      </p:sp>
    </p:spTree>
    <p:extLst>
      <p:ext uri="{BB962C8B-B14F-4D97-AF65-F5344CB8AC3E}">
        <p14:creationId xmlns:p14="http://schemas.microsoft.com/office/powerpoint/2010/main" val="7238643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D0FC0-F778-6B51-9DE9-561756164562}"/>
              </a:ext>
            </a:extLst>
          </p:cNvPr>
          <p:cNvSpPr>
            <a:spLocks noGrp="1"/>
          </p:cNvSpPr>
          <p:nvPr>
            <p:ph type="title"/>
          </p:nvPr>
        </p:nvSpPr>
        <p:spPr>
          <a:xfrm>
            <a:off x="838200" y="1"/>
            <a:ext cx="10515600" cy="1076631"/>
          </a:xfrm>
        </p:spPr>
        <p:txBody>
          <a:bodyPr>
            <a:normAutofit/>
          </a:bodyPr>
          <a:lstStyle/>
          <a:p>
            <a:pPr algn="ctr"/>
            <a:r>
              <a:rPr lang="en-US" sz="6000" b="1" dirty="0">
                <a:highlight>
                  <a:srgbClr val="FFFF00"/>
                </a:highlight>
              </a:rPr>
              <a:t>FMEA Benefits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163CCB22-721C-9108-84B3-56299CDE7C81}"/>
              </a:ext>
            </a:extLst>
          </p:cNvPr>
          <p:cNvSpPr>
            <a:spLocks noGrp="1"/>
          </p:cNvSpPr>
          <p:nvPr>
            <p:ph idx="1"/>
          </p:nvPr>
        </p:nvSpPr>
        <p:spPr>
          <a:xfrm>
            <a:off x="0" y="1238865"/>
            <a:ext cx="12192000" cy="5619134"/>
          </a:xfrm>
        </p:spPr>
        <p:txBody>
          <a:bodyPr>
            <a:normAutofit/>
          </a:bodyPr>
          <a:lstStyle/>
          <a:p>
            <a:r>
              <a:rPr lang="en-US" sz="5400" dirty="0"/>
              <a:t>1. Reduced failure rates</a:t>
            </a:r>
          </a:p>
          <a:p>
            <a:r>
              <a:rPr lang="en-US" sz="5400" dirty="0"/>
              <a:t>2. Improved reliability and quality</a:t>
            </a:r>
          </a:p>
          <a:p>
            <a:r>
              <a:rPr lang="en-US" sz="5400" dirty="0"/>
              <a:t>3. Enhanced safety</a:t>
            </a:r>
          </a:p>
          <a:p>
            <a:r>
              <a:rPr lang="en-US" sz="5400" dirty="0"/>
              <a:t>4. Increased customer satisfaction</a:t>
            </a:r>
          </a:p>
          <a:p>
            <a:r>
              <a:rPr lang="en-US" sz="5400" dirty="0"/>
              <a:t>5. Cost savings</a:t>
            </a:r>
          </a:p>
          <a:p>
            <a:br>
              <a:rPr lang="en-US" dirty="0"/>
            </a:br>
            <a:endParaRPr lang="en-PK" dirty="0"/>
          </a:p>
        </p:txBody>
      </p:sp>
    </p:spTree>
    <p:extLst>
      <p:ext uri="{BB962C8B-B14F-4D97-AF65-F5344CB8AC3E}">
        <p14:creationId xmlns:p14="http://schemas.microsoft.com/office/powerpoint/2010/main" val="35832553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ECFE6-2A44-2AA2-174E-A84F694D6E09}"/>
              </a:ext>
            </a:extLst>
          </p:cNvPr>
          <p:cNvSpPr>
            <a:spLocks noGrp="1"/>
          </p:cNvSpPr>
          <p:nvPr>
            <p:ph type="title"/>
          </p:nvPr>
        </p:nvSpPr>
        <p:spPr>
          <a:xfrm>
            <a:off x="838200" y="1"/>
            <a:ext cx="10515600" cy="973393"/>
          </a:xfrm>
        </p:spPr>
        <p:txBody>
          <a:bodyPr>
            <a:normAutofit/>
          </a:bodyPr>
          <a:lstStyle/>
          <a:p>
            <a:pPr algn="ctr"/>
            <a:r>
              <a:rPr lang="en-US" sz="6000" b="1" dirty="0">
                <a:highlight>
                  <a:srgbClr val="FFFF00"/>
                </a:highlight>
              </a:rPr>
              <a:t>Industry Applications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A90A7BFE-2A92-6F49-DCA0-85DD12A41857}"/>
              </a:ext>
            </a:extLst>
          </p:cNvPr>
          <p:cNvSpPr>
            <a:spLocks noGrp="1"/>
          </p:cNvSpPr>
          <p:nvPr>
            <p:ph idx="1"/>
          </p:nvPr>
        </p:nvSpPr>
        <p:spPr>
          <a:xfrm>
            <a:off x="0" y="1106129"/>
            <a:ext cx="12192000" cy="5751870"/>
          </a:xfrm>
        </p:spPr>
        <p:txBody>
          <a:bodyPr>
            <a:normAutofit/>
          </a:bodyPr>
          <a:lstStyle/>
          <a:p>
            <a:r>
              <a:rPr lang="en-US" sz="6000" dirty="0"/>
              <a:t>1. Automotive</a:t>
            </a:r>
          </a:p>
          <a:p>
            <a:r>
              <a:rPr lang="en-US" sz="6000" dirty="0"/>
              <a:t>2. Aerospace</a:t>
            </a:r>
          </a:p>
          <a:p>
            <a:r>
              <a:rPr lang="en-US" sz="6000" dirty="0"/>
              <a:t>3. Healthcare</a:t>
            </a:r>
          </a:p>
          <a:p>
            <a:r>
              <a:rPr lang="en-US" sz="6000" dirty="0"/>
              <a:t>4. Manufacturing</a:t>
            </a:r>
          </a:p>
          <a:p>
            <a:r>
              <a:rPr lang="en-US" sz="6000" dirty="0"/>
              <a:t>5. Software development</a:t>
            </a:r>
          </a:p>
          <a:p>
            <a:br>
              <a:rPr lang="en-US" dirty="0"/>
            </a:br>
            <a:endParaRPr lang="en-PK" dirty="0"/>
          </a:p>
        </p:txBody>
      </p:sp>
    </p:spTree>
    <p:extLst>
      <p:ext uri="{BB962C8B-B14F-4D97-AF65-F5344CB8AC3E}">
        <p14:creationId xmlns:p14="http://schemas.microsoft.com/office/powerpoint/2010/main" val="36356621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B43A-AE42-7607-68D2-35061D5C8521}"/>
              </a:ext>
            </a:extLst>
          </p:cNvPr>
          <p:cNvSpPr>
            <a:spLocks noGrp="1"/>
          </p:cNvSpPr>
          <p:nvPr>
            <p:ph type="title"/>
          </p:nvPr>
        </p:nvSpPr>
        <p:spPr>
          <a:xfrm>
            <a:off x="838200" y="1"/>
            <a:ext cx="10515600" cy="1047134"/>
          </a:xfrm>
        </p:spPr>
        <p:txBody>
          <a:bodyPr>
            <a:normAutofit/>
          </a:bodyPr>
          <a:lstStyle/>
          <a:p>
            <a:pPr algn="ctr"/>
            <a:r>
              <a:rPr lang="en-US" sz="6000" b="1" dirty="0">
                <a:highlight>
                  <a:srgbClr val="FFFF00"/>
                </a:highlight>
              </a:rPr>
              <a:t>FMEA Best Practices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4D04B647-F12C-D515-0B79-A0B5DB3CCCD7}"/>
              </a:ext>
            </a:extLst>
          </p:cNvPr>
          <p:cNvSpPr>
            <a:spLocks noGrp="1"/>
          </p:cNvSpPr>
          <p:nvPr>
            <p:ph idx="1"/>
          </p:nvPr>
        </p:nvSpPr>
        <p:spPr>
          <a:xfrm>
            <a:off x="0" y="1238865"/>
            <a:ext cx="12192000" cy="4938098"/>
          </a:xfrm>
        </p:spPr>
        <p:txBody>
          <a:bodyPr>
            <a:normAutofit lnSpcReduction="10000"/>
          </a:bodyPr>
          <a:lstStyle/>
          <a:p>
            <a:r>
              <a:rPr lang="en-US" sz="5400" dirty="0"/>
              <a:t>1. Multidisciplinary teams</a:t>
            </a:r>
          </a:p>
          <a:p>
            <a:r>
              <a:rPr lang="en-US" sz="5400" dirty="0"/>
              <a:t>2. Regular reviews and updates</a:t>
            </a:r>
          </a:p>
          <a:p>
            <a:r>
              <a:rPr lang="en-US" sz="5400" dirty="0"/>
              <a:t>3. Data-driven decision-making</a:t>
            </a:r>
          </a:p>
          <a:p>
            <a:r>
              <a:rPr lang="en-US" sz="5400" dirty="0"/>
              <a:t>4. Prioritize high-RPN items</a:t>
            </a:r>
          </a:p>
          <a:p>
            <a:r>
              <a:rPr lang="en-US" sz="5400" dirty="0"/>
              <a:t>5. Implement corrective actions</a:t>
            </a:r>
          </a:p>
          <a:p>
            <a:br>
              <a:rPr lang="en-US" dirty="0"/>
            </a:br>
            <a:endParaRPr lang="en-PK" dirty="0"/>
          </a:p>
        </p:txBody>
      </p:sp>
    </p:spTree>
    <p:extLst>
      <p:ext uri="{BB962C8B-B14F-4D97-AF65-F5344CB8AC3E}">
        <p14:creationId xmlns:p14="http://schemas.microsoft.com/office/powerpoint/2010/main" val="419635864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5C899-D67E-D38B-FDB3-14796201004C}"/>
              </a:ext>
            </a:extLst>
          </p:cNvPr>
          <p:cNvSpPr>
            <a:spLocks noGrp="1"/>
          </p:cNvSpPr>
          <p:nvPr>
            <p:ph type="title"/>
          </p:nvPr>
        </p:nvSpPr>
        <p:spPr>
          <a:xfrm>
            <a:off x="838200" y="1"/>
            <a:ext cx="10515600" cy="1002889"/>
          </a:xfrm>
        </p:spPr>
        <p:txBody>
          <a:bodyPr>
            <a:normAutofit/>
          </a:bodyPr>
          <a:lstStyle/>
          <a:p>
            <a:pPr algn="ctr"/>
            <a:r>
              <a:rPr lang="en-US" sz="6000" b="1" dirty="0">
                <a:highlight>
                  <a:srgbClr val="FFFF00"/>
                </a:highlight>
              </a:rPr>
              <a:t>Common Challenges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7A78005E-12E8-228C-C80C-C2BC85CDB51F}"/>
              </a:ext>
            </a:extLst>
          </p:cNvPr>
          <p:cNvSpPr>
            <a:spLocks noGrp="1"/>
          </p:cNvSpPr>
          <p:nvPr>
            <p:ph idx="1"/>
          </p:nvPr>
        </p:nvSpPr>
        <p:spPr>
          <a:xfrm>
            <a:off x="0" y="1150374"/>
            <a:ext cx="12192000" cy="5707625"/>
          </a:xfrm>
        </p:spPr>
        <p:txBody>
          <a:bodyPr>
            <a:normAutofit lnSpcReduction="10000"/>
          </a:bodyPr>
          <a:lstStyle/>
          <a:p>
            <a:r>
              <a:rPr lang="en-US" sz="5400" dirty="0"/>
              <a:t>1. Difficulty in identifying potential failures</a:t>
            </a:r>
          </a:p>
          <a:p>
            <a:r>
              <a:rPr lang="en-US" sz="5400" dirty="0"/>
              <a:t>2. Inadequate data and metrics</a:t>
            </a:r>
          </a:p>
          <a:p>
            <a:r>
              <a:rPr lang="en-US" sz="5400" dirty="0"/>
              <a:t>3. Insufficient resources and training</a:t>
            </a:r>
          </a:p>
          <a:p>
            <a:r>
              <a:rPr lang="en-US" sz="5400" dirty="0"/>
              <a:t>4. Resistance to change</a:t>
            </a:r>
          </a:p>
          <a:p>
            <a:r>
              <a:rPr lang="en-US" sz="5400" dirty="0"/>
              <a:t>5. Ineffective communication</a:t>
            </a:r>
          </a:p>
          <a:p>
            <a:br>
              <a:rPr lang="en-US" dirty="0"/>
            </a:br>
            <a:endParaRPr lang="en-PK" dirty="0"/>
          </a:p>
        </p:txBody>
      </p:sp>
    </p:spTree>
    <p:extLst>
      <p:ext uri="{BB962C8B-B14F-4D97-AF65-F5344CB8AC3E}">
        <p14:creationId xmlns:p14="http://schemas.microsoft.com/office/powerpoint/2010/main" val="20263022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F418-9C2C-ACC1-57DF-BBC2FC5663C2}"/>
              </a:ext>
            </a:extLst>
          </p:cNvPr>
          <p:cNvSpPr>
            <a:spLocks noGrp="1"/>
          </p:cNvSpPr>
          <p:nvPr>
            <p:ph type="title"/>
          </p:nvPr>
        </p:nvSpPr>
        <p:spPr>
          <a:xfrm>
            <a:off x="0" y="1"/>
            <a:ext cx="12192000" cy="1032386"/>
          </a:xfrm>
        </p:spPr>
        <p:txBody>
          <a:bodyPr>
            <a:noAutofit/>
          </a:bodyPr>
          <a:lstStyle/>
          <a:p>
            <a:pPr algn="ctr"/>
            <a:r>
              <a:rPr lang="en-US" sz="6000" b="1" dirty="0">
                <a:highlight>
                  <a:srgbClr val="FFFF00"/>
                </a:highlight>
              </a:rPr>
              <a:t>Relationship to Other Quality Initiatives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37C094D1-ACE3-CD61-6702-2BDB643A4079}"/>
              </a:ext>
            </a:extLst>
          </p:cNvPr>
          <p:cNvSpPr>
            <a:spLocks noGrp="1"/>
          </p:cNvSpPr>
          <p:nvPr>
            <p:ph idx="1"/>
          </p:nvPr>
        </p:nvSpPr>
        <p:spPr>
          <a:xfrm>
            <a:off x="0" y="1032386"/>
            <a:ext cx="12192000" cy="5973097"/>
          </a:xfrm>
        </p:spPr>
        <p:txBody>
          <a:bodyPr>
            <a:normAutofit/>
          </a:bodyPr>
          <a:lstStyle/>
          <a:p>
            <a:r>
              <a:rPr lang="en-US" sz="6000" dirty="0"/>
              <a:t>1. Six Sigma</a:t>
            </a:r>
          </a:p>
          <a:p>
            <a:r>
              <a:rPr lang="en-US" sz="6000" dirty="0"/>
              <a:t>2. Lean Manufacturing</a:t>
            </a:r>
          </a:p>
          <a:p>
            <a:r>
              <a:rPr lang="en-US" sz="6000" dirty="0"/>
              <a:t>3. Total Quality Management (TQM)</a:t>
            </a:r>
          </a:p>
          <a:p>
            <a:r>
              <a:rPr lang="en-US" sz="6000" dirty="0"/>
              <a:t>4. Design for Six Sigma (DFSS)</a:t>
            </a:r>
          </a:p>
          <a:p>
            <a:r>
              <a:rPr lang="en-US" sz="6000" dirty="0"/>
              <a:t>5. Continuous Improvement (Kaizen)</a:t>
            </a:r>
          </a:p>
          <a:p>
            <a:br>
              <a:rPr lang="en-US" dirty="0"/>
            </a:br>
            <a:endParaRPr lang="en-PK" dirty="0"/>
          </a:p>
        </p:txBody>
      </p:sp>
    </p:spTree>
    <p:extLst>
      <p:ext uri="{BB962C8B-B14F-4D97-AF65-F5344CB8AC3E}">
        <p14:creationId xmlns:p14="http://schemas.microsoft.com/office/powerpoint/2010/main" val="13038559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FE116-BF16-657B-C803-E1FCCEAB990C}"/>
              </a:ext>
            </a:extLst>
          </p:cNvPr>
          <p:cNvSpPr>
            <a:spLocks noGrp="1"/>
          </p:cNvSpPr>
          <p:nvPr>
            <p:ph type="title"/>
          </p:nvPr>
        </p:nvSpPr>
        <p:spPr>
          <a:xfrm>
            <a:off x="838200" y="1"/>
            <a:ext cx="10515600" cy="1047134"/>
          </a:xfrm>
        </p:spPr>
        <p:txBody>
          <a:bodyPr>
            <a:normAutofit/>
          </a:bodyPr>
          <a:lstStyle/>
          <a:p>
            <a:pPr algn="ctr"/>
            <a:r>
              <a:rPr lang="en-US" sz="6000" b="1" dirty="0">
                <a:highlight>
                  <a:srgbClr val="FFFF00"/>
                </a:highlight>
              </a:rPr>
              <a:t>Six Sigma</a:t>
            </a:r>
            <a:endParaRPr lang="en-PK" sz="6000" b="1" dirty="0">
              <a:highlight>
                <a:srgbClr val="FFFF00"/>
              </a:highlight>
            </a:endParaRPr>
          </a:p>
        </p:txBody>
      </p:sp>
      <p:sp>
        <p:nvSpPr>
          <p:cNvPr id="3" name="Content Placeholder 2">
            <a:extLst>
              <a:ext uri="{FF2B5EF4-FFF2-40B4-BE49-F238E27FC236}">
                <a16:creationId xmlns:a16="http://schemas.microsoft.com/office/drawing/2014/main" id="{99D96832-2D3C-E7C6-3B3A-446B6E4AF1DB}"/>
              </a:ext>
            </a:extLst>
          </p:cNvPr>
          <p:cNvSpPr>
            <a:spLocks noGrp="1"/>
          </p:cNvSpPr>
          <p:nvPr>
            <p:ph idx="1"/>
          </p:nvPr>
        </p:nvSpPr>
        <p:spPr>
          <a:xfrm>
            <a:off x="0" y="1238865"/>
            <a:ext cx="12192000" cy="4938098"/>
          </a:xfrm>
        </p:spPr>
        <p:txBody>
          <a:bodyPr>
            <a:normAutofit fontScale="92500" lnSpcReduction="10000"/>
          </a:bodyPr>
          <a:lstStyle/>
          <a:p>
            <a:r>
              <a:rPr lang="en-US" sz="3600" dirty="0"/>
              <a:t>Six Sigma is a data-driven methodology for improving quality, reducing defects, and enhancing process efficiency.</a:t>
            </a:r>
          </a:p>
          <a:p>
            <a:r>
              <a:rPr lang="en-US" sz="3600" dirty="0"/>
              <a:t>*Key Principles:*</a:t>
            </a:r>
          </a:p>
          <a:p>
            <a:r>
              <a:rPr lang="en-US" sz="3600" dirty="0"/>
              <a:t>1. Define: Identify problems and goals</a:t>
            </a:r>
          </a:p>
          <a:p>
            <a:r>
              <a:rPr lang="en-US" sz="3600" dirty="0"/>
              <a:t>2. Measure: Collect data to understand processes</a:t>
            </a:r>
          </a:p>
          <a:p>
            <a:r>
              <a:rPr lang="en-US" sz="3600" dirty="0"/>
              <a:t>3. Analyze: Identify root causes of defects</a:t>
            </a:r>
          </a:p>
          <a:p>
            <a:r>
              <a:rPr lang="en-US" sz="3600" dirty="0"/>
              <a:t>4. Improve: Implement solutions</a:t>
            </a:r>
          </a:p>
          <a:p>
            <a:r>
              <a:rPr lang="en-US" sz="3600" dirty="0"/>
              <a:t>5. Control: Monitor and sustain improvements</a:t>
            </a:r>
          </a:p>
          <a:p>
            <a:br>
              <a:rPr lang="en-US" dirty="0"/>
            </a:br>
            <a:endParaRPr lang="en-PK" dirty="0"/>
          </a:p>
        </p:txBody>
      </p:sp>
    </p:spTree>
    <p:extLst>
      <p:ext uri="{BB962C8B-B14F-4D97-AF65-F5344CB8AC3E}">
        <p14:creationId xmlns:p14="http://schemas.microsoft.com/office/powerpoint/2010/main" val="21450107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5C0F3-E688-3A69-9CEA-9B09BA2D6C8C}"/>
              </a:ext>
            </a:extLst>
          </p:cNvPr>
          <p:cNvSpPr>
            <a:spLocks noGrp="1"/>
          </p:cNvSpPr>
          <p:nvPr>
            <p:ph type="title"/>
          </p:nvPr>
        </p:nvSpPr>
        <p:spPr>
          <a:xfrm>
            <a:off x="838200" y="1"/>
            <a:ext cx="10515600" cy="1061883"/>
          </a:xfrm>
        </p:spPr>
        <p:txBody>
          <a:bodyPr>
            <a:normAutofit/>
          </a:bodyPr>
          <a:lstStyle/>
          <a:p>
            <a:pPr algn="ctr"/>
            <a:r>
              <a:rPr lang="en-US" sz="6000" b="1" dirty="0">
                <a:highlight>
                  <a:srgbClr val="FFFF00"/>
                </a:highlight>
              </a:rPr>
              <a:t>Six Sigma Belts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F18C5760-E204-C762-80EE-7F7067C370B7}"/>
              </a:ext>
            </a:extLst>
          </p:cNvPr>
          <p:cNvSpPr>
            <a:spLocks noGrp="1"/>
          </p:cNvSpPr>
          <p:nvPr>
            <p:ph idx="1"/>
          </p:nvPr>
        </p:nvSpPr>
        <p:spPr>
          <a:xfrm>
            <a:off x="0" y="1165123"/>
            <a:ext cx="12192000" cy="5692876"/>
          </a:xfrm>
        </p:spPr>
        <p:txBody>
          <a:bodyPr>
            <a:normAutofit fontScale="92500"/>
          </a:bodyPr>
          <a:lstStyle/>
          <a:p>
            <a:r>
              <a:rPr lang="en-US" sz="5400" dirty="0"/>
              <a:t>1. White Belt: Basic knowledge</a:t>
            </a:r>
          </a:p>
          <a:p>
            <a:r>
              <a:rPr lang="en-US" sz="5400" dirty="0"/>
              <a:t>2. Yellow Belt: Participation in improvement projects</a:t>
            </a:r>
          </a:p>
          <a:p>
            <a:r>
              <a:rPr lang="en-US" sz="5400" dirty="0"/>
              <a:t>3. Green Belt: Lead small-scale projects</a:t>
            </a:r>
          </a:p>
          <a:p>
            <a:r>
              <a:rPr lang="en-US" sz="5400" dirty="0"/>
              <a:t>4. Black Belt: Lead complex projects</a:t>
            </a:r>
          </a:p>
          <a:p>
            <a:r>
              <a:rPr lang="en-US" sz="5400" dirty="0"/>
              <a:t>5. Master Black Belt: Expertise and leadership</a:t>
            </a:r>
          </a:p>
          <a:p>
            <a:br>
              <a:rPr lang="en-US" dirty="0"/>
            </a:br>
            <a:endParaRPr lang="en-PK" dirty="0"/>
          </a:p>
        </p:txBody>
      </p:sp>
    </p:spTree>
    <p:extLst>
      <p:ext uri="{BB962C8B-B14F-4D97-AF65-F5344CB8AC3E}">
        <p14:creationId xmlns:p14="http://schemas.microsoft.com/office/powerpoint/2010/main" val="4273681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321EE-31FB-3A25-9AEE-5E1EF2FB0354}"/>
              </a:ext>
            </a:extLst>
          </p:cNvPr>
          <p:cNvSpPr>
            <a:spLocks noGrp="1"/>
          </p:cNvSpPr>
          <p:nvPr>
            <p:ph type="title"/>
          </p:nvPr>
        </p:nvSpPr>
        <p:spPr>
          <a:xfrm>
            <a:off x="838200" y="0"/>
            <a:ext cx="10515600" cy="1061883"/>
          </a:xfrm>
        </p:spPr>
        <p:txBody>
          <a:bodyPr>
            <a:normAutofit/>
          </a:bodyPr>
          <a:lstStyle/>
          <a:p>
            <a:pPr algn="ctr"/>
            <a:r>
              <a:rPr lang="en-US" sz="6000" b="1" dirty="0">
                <a:highlight>
                  <a:srgbClr val="FFFF00"/>
                </a:highlight>
              </a:rPr>
              <a:t>Six Sigma Methodologies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20C52AED-A61A-EC93-6B43-B75F51AFFF04}"/>
              </a:ext>
            </a:extLst>
          </p:cNvPr>
          <p:cNvSpPr>
            <a:spLocks noGrp="1"/>
          </p:cNvSpPr>
          <p:nvPr>
            <p:ph idx="1"/>
          </p:nvPr>
        </p:nvSpPr>
        <p:spPr>
          <a:xfrm>
            <a:off x="0" y="1194619"/>
            <a:ext cx="12192000" cy="5855110"/>
          </a:xfrm>
        </p:spPr>
        <p:txBody>
          <a:bodyPr/>
          <a:lstStyle/>
          <a:p>
            <a:r>
              <a:rPr lang="en-US" sz="5400" dirty="0"/>
              <a:t>1. DMAIC (Define, Measure, Analyze, Improve, Control)</a:t>
            </a:r>
          </a:p>
          <a:p>
            <a:r>
              <a:rPr lang="en-US" sz="5400" dirty="0"/>
              <a:t>2. DMADV (Define, Measure, Analyze, Design, Verify)</a:t>
            </a:r>
          </a:p>
          <a:p>
            <a:r>
              <a:rPr lang="en-US" sz="5400" dirty="0"/>
              <a:t>3. DFSS (Design for Six Sigma)</a:t>
            </a:r>
          </a:p>
          <a:p>
            <a:br>
              <a:rPr lang="en-US" dirty="0"/>
            </a:br>
            <a:endParaRPr lang="en-PK" dirty="0"/>
          </a:p>
        </p:txBody>
      </p:sp>
    </p:spTree>
    <p:extLst>
      <p:ext uri="{BB962C8B-B14F-4D97-AF65-F5344CB8AC3E}">
        <p14:creationId xmlns:p14="http://schemas.microsoft.com/office/powerpoint/2010/main" val="30849768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093ED-30B9-EBC6-5FA3-C437D70D89AE}"/>
              </a:ext>
            </a:extLst>
          </p:cNvPr>
          <p:cNvSpPr>
            <a:spLocks noGrp="1"/>
          </p:cNvSpPr>
          <p:nvPr>
            <p:ph type="title"/>
          </p:nvPr>
        </p:nvSpPr>
        <p:spPr>
          <a:xfrm>
            <a:off x="838200" y="1"/>
            <a:ext cx="10515600" cy="1091380"/>
          </a:xfrm>
        </p:spPr>
        <p:txBody>
          <a:bodyPr>
            <a:normAutofit/>
          </a:bodyPr>
          <a:lstStyle/>
          <a:p>
            <a:pPr algn="ctr"/>
            <a:r>
              <a:rPr lang="en-US" sz="6000" b="1" dirty="0">
                <a:highlight>
                  <a:srgbClr val="FFFF00"/>
                </a:highlight>
              </a:rPr>
              <a:t>Six Sigma Tools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46216395-D62A-2491-6CD1-30DC2839855D}"/>
              </a:ext>
            </a:extLst>
          </p:cNvPr>
          <p:cNvSpPr>
            <a:spLocks noGrp="1"/>
          </p:cNvSpPr>
          <p:nvPr>
            <p:ph idx="1"/>
          </p:nvPr>
        </p:nvSpPr>
        <p:spPr>
          <a:xfrm>
            <a:off x="0" y="1268360"/>
            <a:ext cx="12192000" cy="5589639"/>
          </a:xfrm>
        </p:spPr>
        <p:txBody>
          <a:bodyPr>
            <a:normAutofit/>
          </a:bodyPr>
          <a:lstStyle/>
          <a:p>
            <a:r>
              <a:rPr lang="en-US" sz="4800" dirty="0"/>
              <a:t>1. Statistical Process Control (SPC)</a:t>
            </a:r>
          </a:p>
          <a:p>
            <a:r>
              <a:rPr lang="en-US" sz="4800" dirty="0"/>
              <a:t>2. Control Charts</a:t>
            </a:r>
          </a:p>
          <a:p>
            <a:r>
              <a:rPr lang="en-US" sz="4800" dirty="0"/>
              <a:t>3. Pareto Analysis</a:t>
            </a:r>
          </a:p>
          <a:p>
            <a:r>
              <a:rPr lang="en-US" sz="4800" dirty="0"/>
              <a:t>4. Fishbone Diagrams</a:t>
            </a:r>
          </a:p>
          <a:p>
            <a:r>
              <a:rPr lang="en-US" sz="4800" dirty="0"/>
              <a:t>5. Root Cause Analysis (RCA)</a:t>
            </a:r>
          </a:p>
          <a:p>
            <a:r>
              <a:rPr lang="en-US" sz="4800" dirty="0"/>
              <a:t>6. Failure Mode and Effects Analysis (FMEA)</a:t>
            </a:r>
          </a:p>
          <a:p>
            <a:br>
              <a:rPr lang="en-US" dirty="0"/>
            </a:br>
            <a:endParaRPr lang="en-PK" dirty="0"/>
          </a:p>
        </p:txBody>
      </p:sp>
    </p:spTree>
    <p:extLst>
      <p:ext uri="{BB962C8B-B14F-4D97-AF65-F5344CB8AC3E}">
        <p14:creationId xmlns:p14="http://schemas.microsoft.com/office/powerpoint/2010/main" val="42533882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03864-58A7-DA60-43E8-BF1EFC1F759E}"/>
              </a:ext>
            </a:extLst>
          </p:cNvPr>
          <p:cNvSpPr>
            <a:spLocks noGrp="1"/>
          </p:cNvSpPr>
          <p:nvPr>
            <p:ph type="title"/>
          </p:nvPr>
        </p:nvSpPr>
        <p:spPr>
          <a:xfrm>
            <a:off x="838200" y="1"/>
            <a:ext cx="10515600" cy="1135625"/>
          </a:xfrm>
        </p:spPr>
        <p:txBody>
          <a:bodyPr>
            <a:normAutofit/>
          </a:bodyPr>
          <a:lstStyle/>
          <a:p>
            <a:pPr algn="ctr"/>
            <a:r>
              <a:rPr lang="en-US" sz="6000" b="1" dirty="0">
                <a:highlight>
                  <a:srgbClr val="FFFF00"/>
                </a:highlight>
              </a:rPr>
              <a:t>Benefits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E5AA79E9-279F-5CA2-90A1-F722B9C72BC9}"/>
              </a:ext>
            </a:extLst>
          </p:cNvPr>
          <p:cNvSpPr>
            <a:spLocks noGrp="1"/>
          </p:cNvSpPr>
          <p:nvPr>
            <p:ph idx="1"/>
          </p:nvPr>
        </p:nvSpPr>
        <p:spPr>
          <a:xfrm>
            <a:off x="0" y="1135626"/>
            <a:ext cx="12192000" cy="5722373"/>
          </a:xfrm>
        </p:spPr>
        <p:txBody>
          <a:bodyPr>
            <a:normAutofit/>
          </a:bodyPr>
          <a:lstStyle/>
          <a:p>
            <a:r>
              <a:rPr lang="en-US" sz="5400" dirty="0"/>
              <a:t>1. Reduced defects and errors</a:t>
            </a:r>
          </a:p>
          <a:p>
            <a:r>
              <a:rPr lang="en-US" sz="5400" dirty="0"/>
              <a:t>2. Improved quality and reliability</a:t>
            </a:r>
          </a:p>
          <a:p>
            <a:r>
              <a:rPr lang="en-US" sz="5400" dirty="0"/>
              <a:t>3. Increased efficiency and productivity</a:t>
            </a:r>
          </a:p>
          <a:p>
            <a:r>
              <a:rPr lang="en-US" sz="5400" dirty="0"/>
              <a:t>4. Enhanced customer satisfaction</a:t>
            </a:r>
          </a:p>
          <a:p>
            <a:r>
              <a:rPr lang="en-US" sz="5400" dirty="0"/>
              <a:t>5. Cost savings</a:t>
            </a:r>
          </a:p>
          <a:p>
            <a:br>
              <a:rPr lang="en-US" dirty="0"/>
            </a:br>
            <a:endParaRPr lang="en-PK" dirty="0"/>
          </a:p>
        </p:txBody>
      </p:sp>
    </p:spTree>
    <p:extLst>
      <p:ext uri="{BB962C8B-B14F-4D97-AF65-F5344CB8AC3E}">
        <p14:creationId xmlns:p14="http://schemas.microsoft.com/office/powerpoint/2010/main" val="13144883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407E-A0D6-9622-2686-EBEF04D24CE9}"/>
              </a:ext>
            </a:extLst>
          </p:cNvPr>
          <p:cNvSpPr>
            <a:spLocks noGrp="1"/>
          </p:cNvSpPr>
          <p:nvPr>
            <p:ph type="title"/>
          </p:nvPr>
        </p:nvSpPr>
        <p:spPr>
          <a:xfrm>
            <a:off x="838200" y="1"/>
            <a:ext cx="10515600" cy="1002889"/>
          </a:xfrm>
        </p:spPr>
        <p:txBody>
          <a:bodyPr>
            <a:normAutofit/>
          </a:bodyPr>
          <a:lstStyle/>
          <a:p>
            <a:pPr algn="ctr"/>
            <a:r>
              <a:rPr lang="en-US" sz="6000" b="1" dirty="0">
                <a:highlight>
                  <a:srgbClr val="FFFF00"/>
                </a:highlight>
              </a:rPr>
              <a:t>Industry Applications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F81D4F75-39C3-C275-B726-B5E439C9ECD7}"/>
              </a:ext>
            </a:extLst>
          </p:cNvPr>
          <p:cNvSpPr>
            <a:spLocks noGrp="1"/>
          </p:cNvSpPr>
          <p:nvPr>
            <p:ph idx="1"/>
          </p:nvPr>
        </p:nvSpPr>
        <p:spPr>
          <a:xfrm>
            <a:off x="0" y="1283110"/>
            <a:ext cx="12192000" cy="5574889"/>
          </a:xfrm>
        </p:spPr>
        <p:txBody>
          <a:bodyPr>
            <a:normAutofit/>
          </a:bodyPr>
          <a:lstStyle/>
          <a:p>
            <a:r>
              <a:rPr lang="en-US" sz="5400" dirty="0"/>
              <a:t>1. Manufacturing</a:t>
            </a:r>
          </a:p>
          <a:p>
            <a:r>
              <a:rPr lang="en-US" sz="5400" dirty="0"/>
              <a:t>2. Healthcare</a:t>
            </a:r>
          </a:p>
          <a:p>
            <a:r>
              <a:rPr lang="en-US" sz="5400" dirty="0"/>
              <a:t>3. Financial Services</a:t>
            </a:r>
          </a:p>
          <a:p>
            <a:r>
              <a:rPr lang="en-US" sz="5400" dirty="0"/>
              <a:t>4. Technology</a:t>
            </a:r>
          </a:p>
          <a:p>
            <a:r>
              <a:rPr lang="en-US" sz="5400" dirty="0"/>
              <a:t>5. Service Industries</a:t>
            </a:r>
          </a:p>
          <a:p>
            <a:br>
              <a:rPr lang="en-US" dirty="0"/>
            </a:br>
            <a:endParaRPr lang="en-PK" dirty="0"/>
          </a:p>
        </p:txBody>
      </p:sp>
    </p:spTree>
    <p:extLst>
      <p:ext uri="{BB962C8B-B14F-4D97-AF65-F5344CB8AC3E}">
        <p14:creationId xmlns:p14="http://schemas.microsoft.com/office/powerpoint/2010/main" val="4533709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E93CB-C87C-F402-96BD-633F8A0A5490}"/>
              </a:ext>
            </a:extLst>
          </p:cNvPr>
          <p:cNvSpPr>
            <a:spLocks noGrp="1"/>
          </p:cNvSpPr>
          <p:nvPr>
            <p:ph type="title"/>
          </p:nvPr>
        </p:nvSpPr>
        <p:spPr>
          <a:xfrm>
            <a:off x="838200" y="1"/>
            <a:ext cx="10515600" cy="1091380"/>
          </a:xfrm>
        </p:spPr>
        <p:txBody>
          <a:bodyPr>
            <a:normAutofit/>
          </a:bodyPr>
          <a:lstStyle/>
          <a:p>
            <a:pPr algn="ctr"/>
            <a:r>
              <a:rPr lang="en-US" sz="6600" b="1" dirty="0">
                <a:highlight>
                  <a:srgbClr val="FFFF00"/>
                </a:highlight>
              </a:rPr>
              <a:t>Six Sigma Certification</a:t>
            </a:r>
            <a:endParaRPr lang="en-PK" sz="6600" b="1" dirty="0">
              <a:highlight>
                <a:srgbClr val="FFFF00"/>
              </a:highlight>
            </a:endParaRPr>
          </a:p>
        </p:txBody>
      </p:sp>
      <p:sp>
        <p:nvSpPr>
          <p:cNvPr id="3" name="Content Placeholder 2">
            <a:extLst>
              <a:ext uri="{FF2B5EF4-FFF2-40B4-BE49-F238E27FC236}">
                <a16:creationId xmlns:a16="http://schemas.microsoft.com/office/drawing/2014/main" id="{8A7FCE61-26DD-F40D-6F07-2821533B310C}"/>
              </a:ext>
            </a:extLst>
          </p:cNvPr>
          <p:cNvSpPr>
            <a:spLocks noGrp="1"/>
          </p:cNvSpPr>
          <p:nvPr>
            <p:ph idx="1"/>
          </p:nvPr>
        </p:nvSpPr>
        <p:spPr>
          <a:xfrm>
            <a:off x="0" y="1209368"/>
            <a:ext cx="12192000" cy="5530645"/>
          </a:xfrm>
        </p:spPr>
        <p:txBody>
          <a:bodyPr/>
          <a:lstStyle/>
          <a:p>
            <a:r>
              <a:rPr lang="en-US" sz="6000" dirty="0"/>
              <a:t>1. American Society for Quality (ASQ)</a:t>
            </a:r>
          </a:p>
          <a:p>
            <a:r>
              <a:rPr lang="en-US" sz="6000" dirty="0"/>
              <a:t>2. International Association for Six Sigma Certification (IASSC)</a:t>
            </a:r>
          </a:p>
          <a:p>
            <a:r>
              <a:rPr lang="en-US" sz="6000" dirty="0"/>
              <a:t>3. Council for Six Sigma Certification (CSSC)</a:t>
            </a:r>
          </a:p>
          <a:p>
            <a:br>
              <a:rPr lang="en-US" dirty="0"/>
            </a:br>
            <a:endParaRPr lang="en-PK" dirty="0"/>
          </a:p>
        </p:txBody>
      </p:sp>
    </p:spTree>
    <p:extLst>
      <p:ext uri="{BB962C8B-B14F-4D97-AF65-F5344CB8AC3E}">
        <p14:creationId xmlns:p14="http://schemas.microsoft.com/office/powerpoint/2010/main" val="3163134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71BDE-84A2-5E6A-E4C7-4742B1A12294}"/>
              </a:ext>
            </a:extLst>
          </p:cNvPr>
          <p:cNvSpPr>
            <a:spLocks noGrp="1"/>
          </p:cNvSpPr>
          <p:nvPr>
            <p:ph type="title"/>
          </p:nvPr>
        </p:nvSpPr>
        <p:spPr>
          <a:xfrm>
            <a:off x="838200" y="0"/>
            <a:ext cx="10515600" cy="1342104"/>
          </a:xfrm>
        </p:spPr>
        <p:txBody>
          <a:bodyPr>
            <a:normAutofit/>
          </a:bodyPr>
          <a:lstStyle/>
          <a:p>
            <a:pPr algn="ctr"/>
            <a:r>
              <a:rPr lang="en-US" sz="6000" b="1" dirty="0">
                <a:highlight>
                  <a:srgbClr val="FFFF00"/>
                </a:highlight>
              </a:rPr>
              <a:t>Common Challenges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518F682D-15C2-674E-11E5-6E0C003BA6A5}"/>
              </a:ext>
            </a:extLst>
          </p:cNvPr>
          <p:cNvSpPr>
            <a:spLocks noGrp="1"/>
          </p:cNvSpPr>
          <p:nvPr>
            <p:ph idx="1"/>
          </p:nvPr>
        </p:nvSpPr>
        <p:spPr>
          <a:xfrm>
            <a:off x="0" y="1342104"/>
            <a:ext cx="12192000" cy="5515896"/>
          </a:xfrm>
        </p:spPr>
        <p:txBody>
          <a:bodyPr>
            <a:normAutofit/>
          </a:bodyPr>
          <a:lstStyle/>
          <a:p>
            <a:r>
              <a:rPr lang="en-US" sz="5400" dirty="0"/>
              <a:t>1. Lack of leadership commitment</a:t>
            </a:r>
          </a:p>
          <a:p>
            <a:r>
              <a:rPr lang="en-US" sz="5400" dirty="0"/>
              <a:t>2. Insufficient training and resources</a:t>
            </a:r>
          </a:p>
          <a:p>
            <a:r>
              <a:rPr lang="en-US" sz="5400" dirty="0"/>
              <a:t>3. Resistance to change</a:t>
            </a:r>
          </a:p>
          <a:p>
            <a:r>
              <a:rPr lang="en-US" sz="5400" dirty="0"/>
              <a:t>4. Difficulty in sustaining improvements</a:t>
            </a:r>
          </a:p>
          <a:p>
            <a:r>
              <a:rPr lang="en-US" sz="5400" dirty="0"/>
              <a:t>5. Inadequate metrics and data</a:t>
            </a:r>
          </a:p>
          <a:p>
            <a:br>
              <a:rPr lang="en-US" dirty="0"/>
            </a:br>
            <a:endParaRPr lang="en-PK" dirty="0"/>
          </a:p>
        </p:txBody>
      </p:sp>
    </p:spTree>
    <p:extLst>
      <p:ext uri="{BB962C8B-B14F-4D97-AF65-F5344CB8AC3E}">
        <p14:creationId xmlns:p14="http://schemas.microsoft.com/office/powerpoint/2010/main" val="37405000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FE789-5837-33A9-7B66-1A1D5C37AEC8}"/>
              </a:ext>
            </a:extLst>
          </p:cNvPr>
          <p:cNvSpPr>
            <a:spLocks noGrp="1"/>
          </p:cNvSpPr>
          <p:nvPr>
            <p:ph type="title"/>
          </p:nvPr>
        </p:nvSpPr>
        <p:spPr>
          <a:xfrm>
            <a:off x="838200" y="1"/>
            <a:ext cx="10515600" cy="1002889"/>
          </a:xfrm>
        </p:spPr>
        <p:txBody>
          <a:bodyPr>
            <a:normAutofit/>
          </a:bodyPr>
          <a:lstStyle/>
          <a:p>
            <a:pPr algn="ctr"/>
            <a:r>
              <a:rPr lang="en-US" sz="6000" b="1" dirty="0">
                <a:highlight>
                  <a:srgbClr val="FFFF00"/>
                </a:highlight>
              </a:rPr>
              <a:t>Best Practices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5EDA68E7-6A90-196C-989C-3B1087518E1C}"/>
              </a:ext>
            </a:extLst>
          </p:cNvPr>
          <p:cNvSpPr>
            <a:spLocks noGrp="1"/>
          </p:cNvSpPr>
          <p:nvPr>
            <p:ph idx="1"/>
          </p:nvPr>
        </p:nvSpPr>
        <p:spPr>
          <a:xfrm>
            <a:off x="0" y="1283110"/>
            <a:ext cx="12192000" cy="4893853"/>
          </a:xfrm>
        </p:spPr>
        <p:txBody>
          <a:bodyPr>
            <a:normAutofit lnSpcReduction="10000"/>
          </a:bodyPr>
          <a:lstStyle/>
          <a:p>
            <a:r>
              <a:rPr lang="en-US" sz="5400" dirty="0"/>
              <a:t>1. Engage leadership and stakeholders</a:t>
            </a:r>
          </a:p>
          <a:p>
            <a:r>
              <a:rPr lang="en-US" sz="5400" dirty="0"/>
              <a:t>2. Focus on customer needs</a:t>
            </a:r>
          </a:p>
          <a:p>
            <a:r>
              <a:rPr lang="en-US" sz="5400" dirty="0"/>
              <a:t>3. Use data-driven decision-making</a:t>
            </a:r>
          </a:p>
          <a:p>
            <a:r>
              <a:rPr lang="en-US" sz="5400" dirty="0"/>
              <a:t>4. Continuously monitor and improve</a:t>
            </a:r>
          </a:p>
          <a:p>
            <a:r>
              <a:rPr lang="en-US" sz="5400" dirty="0"/>
              <a:t>5. Recognize and reward successes</a:t>
            </a:r>
          </a:p>
          <a:p>
            <a:br>
              <a:rPr lang="en-US" dirty="0"/>
            </a:br>
            <a:endParaRPr lang="en-PK" dirty="0"/>
          </a:p>
        </p:txBody>
      </p:sp>
    </p:spTree>
    <p:extLst>
      <p:ext uri="{BB962C8B-B14F-4D97-AF65-F5344CB8AC3E}">
        <p14:creationId xmlns:p14="http://schemas.microsoft.com/office/powerpoint/2010/main" val="36922970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E1E75-A2B8-4D76-8FCD-0685C230C0B7}"/>
              </a:ext>
            </a:extLst>
          </p:cNvPr>
          <p:cNvSpPr>
            <a:spLocks noGrp="1"/>
          </p:cNvSpPr>
          <p:nvPr>
            <p:ph type="title"/>
          </p:nvPr>
        </p:nvSpPr>
        <p:spPr>
          <a:xfrm>
            <a:off x="838200" y="1"/>
            <a:ext cx="10515600" cy="1179870"/>
          </a:xfrm>
        </p:spPr>
        <p:txBody>
          <a:bodyPr>
            <a:normAutofit/>
          </a:bodyPr>
          <a:lstStyle/>
          <a:p>
            <a:pPr algn="ctr"/>
            <a:r>
              <a:rPr lang="en-US" sz="6000" b="1" dirty="0">
                <a:highlight>
                  <a:srgbClr val="FFFF00"/>
                </a:highlight>
              </a:rPr>
              <a:t>Lean</a:t>
            </a:r>
            <a:endParaRPr lang="en-PK" sz="6000" b="1" dirty="0">
              <a:highlight>
                <a:srgbClr val="FFFF00"/>
              </a:highlight>
            </a:endParaRPr>
          </a:p>
        </p:txBody>
      </p:sp>
      <p:sp>
        <p:nvSpPr>
          <p:cNvPr id="3" name="Content Placeholder 2">
            <a:extLst>
              <a:ext uri="{FF2B5EF4-FFF2-40B4-BE49-F238E27FC236}">
                <a16:creationId xmlns:a16="http://schemas.microsoft.com/office/drawing/2014/main" id="{BF4383B6-0590-078E-82C8-838A3DAA0BC8}"/>
              </a:ext>
            </a:extLst>
          </p:cNvPr>
          <p:cNvSpPr>
            <a:spLocks noGrp="1"/>
          </p:cNvSpPr>
          <p:nvPr>
            <p:ph idx="1"/>
          </p:nvPr>
        </p:nvSpPr>
        <p:spPr>
          <a:xfrm>
            <a:off x="0" y="1283110"/>
            <a:ext cx="12192000" cy="5574889"/>
          </a:xfrm>
        </p:spPr>
        <p:txBody>
          <a:bodyPr>
            <a:normAutofit fontScale="92500" lnSpcReduction="10000"/>
          </a:bodyPr>
          <a:lstStyle/>
          <a:p>
            <a:r>
              <a:rPr lang="en-US" sz="3900" dirty="0"/>
              <a:t>Lean is a management philosophy focused on eliminating waste, optimizing processes, and maximizing value for customers.</a:t>
            </a:r>
          </a:p>
          <a:p>
            <a:r>
              <a:rPr lang="en-US" sz="3900" dirty="0"/>
              <a:t>_Key Principles:</a:t>
            </a:r>
          </a:p>
          <a:p>
            <a:r>
              <a:rPr lang="en-US" sz="3900" dirty="0"/>
              <a:t>1. Define Value: Identify value from the customer's perspective</a:t>
            </a:r>
          </a:p>
          <a:p>
            <a:r>
              <a:rPr lang="en-US" sz="3900" dirty="0"/>
              <a:t>2. Map Value Stream: Visualize and analyze processes</a:t>
            </a:r>
          </a:p>
          <a:p>
            <a:r>
              <a:rPr lang="en-US" sz="3900" dirty="0"/>
              <a:t>3. Create Flow: Eliminate waste and optimize processes</a:t>
            </a:r>
          </a:p>
          <a:p>
            <a:r>
              <a:rPr lang="en-US" sz="3900" dirty="0"/>
              <a:t>4. Pull: Produce only what is needed</a:t>
            </a:r>
          </a:p>
          <a:p>
            <a:r>
              <a:rPr lang="en-US" sz="3900" dirty="0"/>
              <a:t>5. Pursue Perfection: Continuously improve</a:t>
            </a:r>
          </a:p>
          <a:p>
            <a:br>
              <a:rPr lang="en-US" dirty="0"/>
            </a:br>
            <a:endParaRPr lang="en-PK" dirty="0"/>
          </a:p>
        </p:txBody>
      </p:sp>
    </p:spTree>
    <p:extLst>
      <p:ext uri="{BB962C8B-B14F-4D97-AF65-F5344CB8AC3E}">
        <p14:creationId xmlns:p14="http://schemas.microsoft.com/office/powerpoint/2010/main" val="7947839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1AF57-DE1B-9299-977F-CEE7594E4F2D}"/>
              </a:ext>
            </a:extLst>
          </p:cNvPr>
          <p:cNvSpPr>
            <a:spLocks noGrp="1"/>
          </p:cNvSpPr>
          <p:nvPr>
            <p:ph type="title"/>
          </p:nvPr>
        </p:nvSpPr>
        <p:spPr>
          <a:xfrm>
            <a:off x="838200" y="1"/>
            <a:ext cx="10515600" cy="1017638"/>
          </a:xfrm>
        </p:spPr>
        <p:txBody>
          <a:bodyPr>
            <a:normAutofit/>
          </a:bodyPr>
          <a:lstStyle/>
          <a:p>
            <a:pPr algn="ctr"/>
            <a:r>
              <a:rPr lang="en-US" sz="6000" b="1" i="0" dirty="0">
                <a:solidFill>
                  <a:srgbClr val="222222"/>
                </a:solidFill>
                <a:effectLst/>
                <a:highlight>
                  <a:srgbClr val="FFFF00"/>
                </a:highlight>
                <a:latin typeface="Arial" panose="020B0604020202020204" pitchFamily="34" charset="0"/>
              </a:rPr>
              <a:t>Lean Tools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08554528-7D60-5BBF-0A4C-E90CA65F5B03}"/>
              </a:ext>
            </a:extLst>
          </p:cNvPr>
          <p:cNvSpPr>
            <a:spLocks noGrp="1"/>
          </p:cNvSpPr>
          <p:nvPr>
            <p:ph idx="1"/>
          </p:nvPr>
        </p:nvSpPr>
        <p:spPr>
          <a:xfrm>
            <a:off x="0" y="1209368"/>
            <a:ext cx="12192000" cy="5648632"/>
          </a:xfrm>
        </p:spPr>
        <p:txBody>
          <a:bodyPr>
            <a:normAutofit/>
          </a:bodyPr>
          <a:lstStyle/>
          <a:p>
            <a:pPr algn="l"/>
            <a:r>
              <a:rPr lang="en-US" sz="4400" b="0" i="0" dirty="0">
                <a:solidFill>
                  <a:srgbClr val="222222"/>
                </a:solidFill>
                <a:effectLst/>
                <a:latin typeface="Arial" panose="020B0604020202020204" pitchFamily="34" charset="0"/>
              </a:rPr>
              <a:t>1. Value Stream Mapping (VSM)</a:t>
            </a:r>
          </a:p>
          <a:p>
            <a:pPr algn="l"/>
            <a:r>
              <a:rPr lang="en-US" sz="4400" b="0" i="0" dirty="0">
                <a:solidFill>
                  <a:srgbClr val="222222"/>
                </a:solidFill>
                <a:effectLst/>
                <a:latin typeface="Arial" panose="020B0604020202020204" pitchFamily="34" charset="0"/>
              </a:rPr>
              <a:t>2. Root Cause Analysis (RCA)</a:t>
            </a:r>
          </a:p>
          <a:p>
            <a:pPr algn="l"/>
            <a:r>
              <a:rPr lang="en-US" sz="4400" b="0" i="0" dirty="0">
                <a:solidFill>
                  <a:srgbClr val="222222"/>
                </a:solidFill>
                <a:effectLst/>
                <a:latin typeface="Arial" panose="020B0604020202020204" pitchFamily="34" charset="0"/>
              </a:rPr>
              <a:t>3. Fishbone Diagrams</a:t>
            </a:r>
          </a:p>
          <a:p>
            <a:pPr algn="l"/>
            <a:r>
              <a:rPr lang="en-US" sz="4400" b="0" i="0" dirty="0">
                <a:solidFill>
                  <a:srgbClr val="222222"/>
                </a:solidFill>
                <a:effectLst/>
                <a:latin typeface="Arial" panose="020B0604020202020204" pitchFamily="34" charset="0"/>
              </a:rPr>
              <a:t>4. Pareto Analysis</a:t>
            </a:r>
          </a:p>
          <a:p>
            <a:pPr algn="l"/>
            <a:r>
              <a:rPr lang="en-US" sz="4400" b="0" i="0" dirty="0">
                <a:solidFill>
                  <a:srgbClr val="222222"/>
                </a:solidFill>
                <a:effectLst/>
                <a:latin typeface="Arial" panose="020B0604020202020204" pitchFamily="34" charset="0"/>
              </a:rPr>
              <a:t>5. Kanban</a:t>
            </a:r>
          </a:p>
          <a:p>
            <a:pPr algn="l"/>
            <a:r>
              <a:rPr lang="en-US" sz="4400" b="0" i="0" dirty="0">
                <a:solidFill>
                  <a:srgbClr val="222222"/>
                </a:solidFill>
                <a:effectLst/>
                <a:latin typeface="Arial" panose="020B0604020202020204" pitchFamily="34" charset="0"/>
              </a:rPr>
              <a:t>6. Total Productive Maintenance (TPM)</a:t>
            </a:r>
          </a:p>
          <a:p>
            <a:pPr algn="l"/>
            <a:r>
              <a:rPr lang="en-US" sz="4400" b="0" i="0" dirty="0">
                <a:solidFill>
                  <a:srgbClr val="222222"/>
                </a:solidFill>
                <a:effectLst/>
                <a:latin typeface="Arial" panose="020B0604020202020204" pitchFamily="34" charset="0"/>
              </a:rPr>
              <a:t>7. 5S</a:t>
            </a:r>
            <a:endParaRPr lang="en-US" b="0" i="0" dirty="0">
              <a:solidFill>
                <a:srgbClr val="222222"/>
              </a:solidFill>
              <a:effectLst/>
              <a:latin typeface="Arial" panose="020B0604020202020204" pitchFamily="34" charset="0"/>
            </a:endParaRPr>
          </a:p>
          <a:p>
            <a:endParaRPr lang="en-PK" dirty="0"/>
          </a:p>
        </p:txBody>
      </p:sp>
    </p:spTree>
    <p:extLst>
      <p:ext uri="{BB962C8B-B14F-4D97-AF65-F5344CB8AC3E}">
        <p14:creationId xmlns:p14="http://schemas.microsoft.com/office/powerpoint/2010/main" val="27148282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24320-66B3-E857-FFAB-A546FD6E056E}"/>
              </a:ext>
            </a:extLst>
          </p:cNvPr>
          <p:cNvSpPr>
            <a:spLocks noGrp="1"/>
          </p:cNvSpPr>
          <p:nvPr>
            <p:ph type="title"/>
          </p:nvPr>
        </p:nvSpPr>
        <p:spPr>
          <a:xfrm>
            <a:off x="838200" y="1"/>
            <a:ext cx="10515600" cy="1091380"/>
          </a:xfrm>
        </p:spPr>
        <p:txBody>
          <a:bodyPr>
            <a:normAutofit/>
          </a:bodyPr>
          <a:lstStyle/>
          <a:p>
            <a:pPr algn="ctr"/>
            <a:r>
              <a:rPr lang="en-US" sz="6000" b="1" dirty="0">
                <a:highlight>
                  <a:srgbClr val="FFFF00"/>
                </a:highlight>
              </a:rPr>
              <a:t>Types of Waste</a:t>
            </a:r>
            <a:endParaRPr lang="en-PK" sz="6000" b="1" dirty="0">
              <a:highlight>
                <a:srgbClr val="FFFF00"/>
              </a:highlight>
            </a:endParaRPr>
          </a:p>
        </p:txBody>
      </p:sp>
      <p:sp>
        <p:nvSpPr>
          <p:cNvPr id="3" name="Content Placeholder 2">
            <a:extLst>
              <a:ext uri="{FF2B5EF4-FFF2-40B4-BE49-F238E27FC236}">
                <a16:creationId xmlns:a16="http://schemas.microsoft.com/office/drawing/2014/main" id="{152B1613-7DF7-60E3-DF58-46090253C591}"/>
              </a:ext>
            </a:extLst>
          </p:cNvPr>
          <p:cNvSpPr>
            <a:spLocks noGrp="1"/>
          </p:cNvSpPr>
          <p:nvPr>
            <p:ph idx="1"/>
          </p:nvPr>
        </p:nvSpPr>
        <p:spPr>
          <a:xfrm>
            <a:off x="0" y="1327355"/>
            <a:ext cx="12192000" cy="4849608"/>
          </a:xfrm>
        </p:spPr>
        <p:txBody>
          <a:bodyPr>
            <a:normAutofit fontScale="85000" lnSpcReduction="20000"/>
          </a:bodyPr>
          <a:lstStyle/>
          <a:p>
            <a:r>
              <a:rPr lang="en-US" sz="5200" dirty="0"/>
              <a:t>1. Transportation Waste</a:t>
            </a:r>
          </a:p>
          <a:p>
            <a:r>
              <a:rPr lang="en-US" sz="5200" dirty="0"/>
              <a:t>2. Inventory Waste</a:t>
            </a:r>
          </a:p>
          <a:p>
            <a:r>
              <a:rPr lang="en-US" sz="5200" dirty="0"/>
              <a:t>3. Motion Waste</a:t>
            </a:r>
          </a:p>
          <a:p>
            <a:r>
              <a:rPr lang="en-US" sz="5200" dirty="0"/>
              <a:t>4. Waiting Waste</a:t>
            </a:r>
          </a:p>
          <a:p>
            <a:r>
              <a:rPr lang="en-US" sz="5200" dirty="0"/>
              <a:t>5. Overproduction Waste</a:t>
            </a:r>
          </a:p>
          <a:p>
            <a:r>
              <a:rPr lang="en-US" sz="5200" dirty="0"/>
              <a:t>6. Overprocessing Waste</a:t>
            </a:r>
          </a:p>
          <a:p>
            <a:r>
              <a:rPr lang="en-US" sz="5200" dirty="0"/>
              <a:t>7. Defect Waste</a:t>
            </a:r>
          </a:p>
          <a:p>
            <a:br>
              <a:rPr lang="en-US" dirty="0"/>
            </a:br>
            <a:endParaRPr lang="en-PK" dirty="0"/>
          </a:p>
        </p:txBody>
      </p:sp>
    </p:spTree>
    <p:extLst>
      <p:ext uri="{BB962C8B-B14F-4D97-AF65-F5344CB8AC3E}">
        <p14:creationId xmlns:p14="http://schemas.microsoft.com/office/powerpoint/2010/main" val="11744993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B293A-3696-378D-A8DC-24A934B53B5C}"/>
              </a:ext>
            </a:extLst>
          </p:cNvPr>
          <p:cNvSpPr>
            <a:spLocks noGrp="1"/>
          </p:cNvSpPr>
          <p:nvPr>
            <p:ph type="title"/>
          </p:nvPr>
        </p:nvSpPr>
        <p:spPr>
          <a:xfrm>
            <a:off x="838200" y="1"/>
            <a:ext cx="10515600" cy="943896"/>
          </a:xfrm>
        </p:spPr>
        <p:txBody>
          <a:bodyPr>
            <a:normAutofit/>
          </a:bodyPr>
          <a:lstStyle/>
          <a:p>
            <a:pPr algn="ctr"/>
            <a:r>
              <a:rPr lang="en-US" sz="6000" b="1" dirty="0">
                <a:highlight>
                  <a:srgbClr val="FFFF00"/>
                </a:highlight>
              </a:rPr>
              <a:t>Lean Methodologies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2BDA96DA-BBBD-B1DB-8567-70967B76712D}"/>
              </a:ext>
            </a:extLst>
          </p:cNvPr>
          <p:cNvSpPr>
            <a:spLocks noGrp="1"/>
          </p:cNvSpPr>
          <p:nvPr>
            <p:ph idx="1"/>
          </p:nvPr>
        </p:nvSpPr>
        <p:spPr>
          <a:xfrm>
            <a:off x="0" y="1120877"/>
            <a:ext cx="12192000" cy="5056086"/>
          </a:xfrm>
        </p:spPr>
        <p:txBody>
          <a:bodyPr>
            <a:normAutofit lnSpcReduction="10000"/>
          </a:bodyPr>
          <a:lstStyle/>
          <a:p>
            <a:r>
              <a:rPr lang="en-US" sz="5400" dirty="0"/>
              <a:t>1. Lean Manufacturing</a:t>
            </a:r>
          </a:p>
          <a:p>
            <a:r>
              <a:rPr lang="en-US" sz="5400" dirty="0"/>
              <a:t>2. Lean Six Sigma</a:t>
            </a:r>
          </a:p>
          <a:p>
            <a:r>
              <a:rPr lang="en-US" sz="5400" dirty="0"/>
              <a:t>3. Agile</a:t>
            </a:r>
          </a:p>
          <a:p>
            <a:r>
              <a:rPr lang="en-US" sz="5400" dirty="0"/>
              <a:t>4. Scrum</a:t>
            </a:r>
          </a:p>
          <a:p>
            <a:r>
              <a:rPr lang="en-US" sz="5400" dirty="0"/>
              <a:t>5. Kaizen</a:t>
            </a:r>
          </a:p>
          <a:p>
            <a:br>
              <a:rPr lang="en-US" dirty="0"/>
            </a:br>
            <a:endParaRPr lang="en-PK" dirty="0"/>
          </a:p>
        </p:txBody>
      </p:sp>
    </p:spTree>
    <p:extLst>
      <p:ext uri="{BB962C8B-B14F-4D97-AF65-F5344CB8AC3E}">
        <p14:creationId xmlns:p14="http://schemas.microsoft.com/office/powerpoint/2010/main" val="36139356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AFBF6-A197-BBAA-F378-67EA34C9F176}"/>
              </a:ext>
            </a:extLst>
          </p:cNvPr>
          <p:cNvSpPr>
            <a:spLocks noGrp="1"/>
          </p:cNvSpPr>
          <p:nvPr>
            <p:ph type="title"/>
          </p:nvPr>
        </p:nvSpPr>
        <p:spPr>
          <a:xfrm>
            <a:off x="838200" y="1"/>
            <a:ext cx="10515600" cy="1017638"/>
          </a:xfrm>
        </p:spPr>
        <p:txBody>
          <a:bodyPr>
            <a:normAutofit/>
          </a:bodyPr>
          <a:lstStyle/>
          <a:p>
            <a:pPr algn="ctr"/>
            <a:r>
              <a:rPr lang="en-US" sz="6000" b="1" dirty="0">
                <a:highlight>
                  <a:srgbClr val="FFFF00"/>
                </a:highlight>
              </a:rPr>
              <a:t>Benefits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A0FFC4BB-8CE0-76F9-7085-5E19BCA94241}"/>
              </a:ext>
            </a:extLst>
          </p:cNvPr>
          <p:cNvSpPr>
            <a:spLocks noGrp="1"/>
          </p:cNvSpPr>
          <p:nvPr>
            <p:ph idx="1"/>
          </p:nvPr>
        </p:nvSpPr>
        <p:spPr>
          <a:xfrm>
            <a:off x="0" y="1150374"/>
            <a:ext cx="12192000" cy="5026589"/>
          </a:xfrm>
        </p:spPr>
        <p:txBody>
          <a:bodyPr>
            <a:normAutofit lnSpcReduction="10000"/>
          </a:bodyPr>
          <a:lstStyle/>
          <a:p>
            <a:r>
              <a:rPr lang="en-US" sz="5400" dirty="0"/>
              <a:t>1. Improved efficiency</a:t>
            </a:r>
          </a:p>
          <a:p>
            <a:r>
              <a:rPr lang="en-US" sz="5400" dirty="0"/>
              <a:t>2. Reduced waste and costs</a:t>
            </a:r>
          </a:p>
          <a:p>
            <a:r>
              <a:rPr lang="en-US" sz="5400" dirty="0"/>
              <a:t>3. Enhanced customer satisfaction</a:t>
            </a:r>
          </a:p>
          <a:p>
            <a:r>
              <a:rPr lang="en-US" sz="5400" dirty="0"/>
              <a:t>4. Increased productivity</a:t>
            </a:r>
          </a:p>
          <a:p>
            <a:r>
              <a:rPr lang="en-US" sz="5400" dirty="0"/>
              <a:t>5. Better quality</a:t>
            </a:r>
          </a:p>
          <a:p>
            <a:br>
              <a:rPr lang="en-US" dirty="0"/>
            </a:br>
            <a:endParaRPr lang="en-PK" dirty="0"/>
          </a:p>
        </p:txBody>
      </p:sp>
    </p:spTree>
    <p:extLst>
      <p:ext uri="{BB962C8B-B14F-4D97-AF65-F5344CB8AC3E}">
        <p14:creationId xmlns:p14="http://schemas.microsoft.com/office/powerpoint/2010/main" val="4585044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4609A-52D6-AD0F-3B40-21FDC5EF511A}"/>
              </a:ext>
            </a:extLst>
          </p:cNvPr>
          <p:cNvSpPr>
            <a:spLocks noGrp="1"/>
          </p:cNvSpPr>
          <p:nvPr>
            <p:ph type="title"/>
          </p:nvPr>
        </p:nvSpPr>
        <p:spPr>
          <a:xfrm>
            <a:off x="838200" y="1"/>
            <a:ext cx="10515600" cy="1165122"/>
          </a:xfrm>
        </p:spPr>
        <p:txBody>
          <a:bodyPr>
            <a:normAutofit/>
          </a:bodyPr>
          <a:lstStyle/>
          <a:p>
            <a:pPr algn="ctr"/>
            <a:r>
              <a:rPr lang="en-US" sz="6000" b="1" dirty="0">
                <a:highlight>
                  <a:srgbClr val="FFFF00"/>
                </a:highlight>
              </a:rPr>
              <a:t>Industry Applications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7125ECB0-CD54-0478-28F6-690C071E89C1}"/>
              </a:ext>
            </a:extLst>
          </p:cNvPr>
          <p:cNvSpPr>
            <a:spLocks noGrp="1"/>
          </p:cNvSpPr>
          <p:nvPr>
            <p:ph idx="1"/>
          </p:nvPr>
        </p:nvSpPr>
        <p:spPr>
          <a:xfrm>
            <a:off x="0" y="1165123"/>
            <a:ext cx="12192000" cy="5011840"/>
          </a:xfrm>
        </p:spPr>
        <p:txBody>
          <a:bodyPr>
            <a:normAutofit/>
          </a:bodyPr>
          <a:lstStyle/>
          <a:p>
            <a:r>
              <a:rPr lang="en-US" sz="4800" dirty="0"/>
              <a:t>1. Manufacturing</a:t>
            </a:r>
          </a:p>
          <a:p>
            <a:r>
              <a:rPr lang="en-US" sz="4800" dirty="0"/>
              <a:t>2. Healthcare</a:t>
            </a:r>
          </a:p>
          <a:p>
            <a:r>
              <a:rPr lang="en-US" sz="4800" dirty="0"/>
              <a:t>3. Software Development</a:t>
            </a:r>
          </a:p>
          <a:p>
            <a:r>
              <a:rPr lang="en-US" sz="4800" dirty="0"/>
              <a:t>4. Financial Services</a:t>
            </a:r>
          </a:p>
          <a:p>
            <a:r>
              <a:rPr lang="en-US" sz="4800" dirty="0"/>
              <a:t>5. Service Industries</a:t>
            </a:r>
          </a:p>
          <a:p>
            <a:br>
              <a:rPr lang="en-US" dirty="0"/>
            </a:br>
            <a:endParaRPr lang="en-PK" dirty="0"/>
          </a:p>
        </p:txBody>
      </p:sp>
    </p:spTree>
    <p:extLst>
      <p:ext uri="{BB962C8B-B14F-4D97-AF65-F5344CB8AC3E}">
        <p14:creationId xmlns:p14="http://schemas.microsoft.com/office/powerpoint/2010/main" val="9380654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A8E4B-5F9B-029F-4B06-FB2FA90453E5}"/>
              </a:ext>
            </a:extLst>
          </p:cNvPr>
          <p:cNvSpPr>
            <a:spLocks noGrp="1"/>
          </p:cNvSpPr>
          <p:nvPr>
            <p:ph type="title"/>
          </p:nvPr>
        </p:nvSpPr>
        <p:spPr>
          <a:xfrm>
            <a:off x="838200" y="1"/>
            <a:ext cx="10515600" cy="1002889"/>
          </a:xfrm>
        </p:spPr>
        <p:txBody>
          <a:bodyPr>
            <a:normAutofit/>
          </a:bodyPr>
          <a:lstStyle/>
          <a:p>
            <a:pPr algn="ctr"/>
            <a:r>
              <a:rPr lang="en-US" sz="6000" b="1" dirty="0">
                <a:highlight>
                  <a:srgbClr val="FFFF00"/>
                </a:highlight>
              </a:rPr>
              <a:t>Lean Certification</a:t>
            </a:r>
            <a:endParaRPr lang="en-PK" sz="6000" b="1" dirty="0">
              <a:highlight>
                <a:srgbClr val="FFFF00"/>
              </a:highlight>
            </a:endParaRPr>
          </a:p>
        </p:txBody>
      </p:sp>
      <p:sp>
        <p:nvSpPr>
          <p:cNvPr id="3" name="Content Placeholder 2">
            <a:extLst>
              <a:ext uri="{FF2B5EF4-FFF2-40B4-BE49-F238E27FC236}">
                <a16:creationId xmlns:a16="http://schemas.microsoft.com/office/drawing/2014/main" id="{69C989E4-2CF1-6298-021E-A6E41411C711}"/>
              </a:ext>
            </a:extLst>
          </p:cNvPr>
          <p:cNvSpPr>
            <a:spLocks noGrp="1"/>
          </p:cNvSpPr>
          <p:nvPr>
            <p:ph idx="1"/>
          </p:nvPr>
        </p:nvSpPr>
        <p:spPr>
          <a:xfrm>
            <a:off x="0" y="1209368"/>
            <a:ext cx="12192000" cy="4967595"/>
          </a:xfrm>
        </p:spPr>
        <p:txBody>
          <a:bodyPr/>
          <a:lstStyle/>
          <a:p>
            <a:r>
              <a:rPr lang="en-US" sz="6000" dirty="0"/>
              <a:t>1. Lean Six Sigma Certification</a:t>
            </a:r>
          </a:p>
          <a:p>
            <a:r>
              <a:rPr lang="en-US" sz="6000" dirty="0"/>
              <a:t>2. Certified Lean Professional (CLP)</a:t>
            </a:r>
          </a:p>
          <a:p>
            <a:r>
              <a:rPr lang="en-US" sz="6000" dirty="0"/>
              <a:t>3. Lean Management Certification</a:t>
            </a:r>
          </a:p>
          <a:p>
            <a:br>
              <a:rPr lang="en-US" dirty="0"/>
            </a:br>
            <a:endParaRPr lang="en-PK" dirty="0"/>
          </a:p>
        </p:txBody>
      </p:sp>
    </p:spTree>
    <p:extLst>
      <p:ext uri="{BB962C8B-B14F-4D97-AF65-F5344CB8AC3E}">
        <p14:creationId xmlns:p14="http://schemas.microsoft.com/office/powerpoint/2010/main" val="29626454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AD718-AAAE-3B6A-E49F-5FFACA79BEAC}"/>
              </a:ext>
            </a:extLst>
          </p:cNvPr>
          <p:cNvSpPr>
            <a:spLocks noGrp="1"/>
          </p:cNvSpPr>
          <p:nvPr>
            <p:ph type="title"/>
          </p:nvPr>
        </p:nvSpPr>
        <p:spPr>
          <a:xfrm>
            <a:off x="0" y="-486697"/>
            <a:ext cx="12192000" cy="2312322"/>
          </a:xfrm>
        </p:spPr>
        <p:txBody>
          <a:bodyPr>
            <a:normAutofit/>
          </a:bodyPr>
          <a:lstStyle/>
          <a:p>
            <a:pPr algn="ctr"/>
            <a:r>
              <a:rPr lang="en-US" sz="6000" b="1" dirty="0">
                <a:highlight>
                  <a:srgbClr val="FFFF00"/>
                </a:highlight>
              </a:rPr>
              <a:t>Common Challenges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432AFECA-AEDD-B10B-AD51-1BC4C39CD64D}"/>
              </a:ext>
            </a:extLst>
          </p:cNvPr>
          <p:cNvSpPr>
            <a:spLocks noGrp="1"/>
          </p:cNvSpPr>
          <p:nvPr>
            <p:ph idx="1"/>
          </p:nvPr>
        </p:nvSpPr>
        <p:spPr>
          <a:xfrm>
            <a:off x="0" y="1651818"/>
            <a:ext cx="12192000" cy="5206181"/>
          </a:xfrm>
        </p:spPr>
        <p:txBody>
          <a:bodyPr>
            <a:normAutofit/>
          </a:bodyPr>
          <a:lstStyle/>
          <a:p>
            <a:r>
              <a:rPr lang="en-US" sz="4800" dirty="0"/>
              <a:t>1. Resistance to change</a:t>
            </a:r>
          </a:p>
          <a:p>
            <a:r>
              <a:rPr lang="en-US" sz="4800" dirty="0"/>
              <a:t>2. Lack of leadership commitment</a:t>
            </a:r>
          </a:p>
          <a:p>
            <a:r>
              <a:rPr lang="en-US" sz="4800" dirty="0"/>
              <a:t>3. Insufficient training</a:t>
            </a:r>
          </a:p>
          <a:p>
            <a:r>
              <a:rPr lang="en-US" sz="4800" dirty="0"/>
              <a:t>4. Difficulty in sustaining improvements</a:t>
            </a:r>
          </a:p>
          <a:p>
            <a:r>
              <a:rPr lang="en-US" sz="4800" dirty="0"/>
              <a:t>5. Cultural barriers</a:t>
            </a:r>
          </a:p>
          <a:p>
            <a:br>
              <a:rPr lang="en-US" dirty="0"/>
            </a:br>
            <a:endParaRPr lang="en-PK" dirty="0"/>
          </a:p>
        </p:txBody>
      </p:sp>
    </p:spTree>
    <p:extLst>
      <p:ext uri="{BB962C8B-B14F-4D97-AF65-F5344CB8AC3E}">
        <p14:creationId xmlns:p14="http://schemas.microsoft.com/office/powerpoint/2010/main" val="16208700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63229-3A71-150D-0F73-4BFE02B151A3}"/>
              </a:ext>
            </a:extLst>
          </p:cNvPr>
          <p:cNvSpPr>
            <a:spLocks noGrp="1"/>
          </p:cNvSpPr>
          <p:nvPr>
            <p:ph type="title"/>
          </p:nvPr>
        </p:nvSpPr>
        <p:spPr>
          <a:xfrm>
            <a:off x="838200" y="1"/>
            <a:ext cx="10515600" cy="1135625"/>
          </a:xfrm>
        </p:spPr>
        <p:txBody>
          <a:bodyPr>
            <a:normAutofit/>
          </a:bodyPr>
          <a:lstStyle/>
          <a:p>
            <a:pPr algn="ctr"/>
            <a:r>
              <a:rPr lang="en-US" sz="6000" b="1" dirty="0">
                <a:highlight>
                  <a:srgbClr val="FFFF00"/>
                </a:highlight>
              </a:rPr>
              <a:t>Best Practices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34510217-2F85-7BD0-A282-BF81765BDEFA}"/>
              </a:ext>
            </a:extLst>
          </p:cNvPr>
          <p:cNvSpPr>
            <a:spLocks noGrp="1"/>
          </p:cNvSpPr>
          <p:nvPr>
            <p:ph idx="1"/>
          </p:nvPr>
        </p:nvSpPr>
        <p:spPr>
          <a:xfrm>
            <a:off x="0" y="1312606"/>
            <a:ext cx="12192000" cy="5545393"/>
          </a:xfrm>
        </p:spPr>
        <p:txBody>
          <a:bodyPr>
            <a:normAutofit lnSpcReduction="10000"/>
          </a:bodyPr>
          <a:lstStyle/>
          <a:p>
            <a:r>
              <a:rPr lang="en-US" sz="5400" dirty="0"/>
              <a:t>1. Engage employees in improvement efforts</a:t>
            </a:r>
          </a:p>
          <a:p>
            <a:r>
              <a:rPr lang="en-US" sz="5400" dirty="0"/>
              <a:t>2. Focus on customer value</a:t>
            </a:r>
          </a:p>
          <a:p>
            <a:r>
              <a:rPr lang="en-US" sz="5400" dirty="0"/>
              <a:t>3. Use data-driven decision-making</a:t>
            </a:r>
          </a:p>
          <a:p>
            <a:r>
              <a:rPr lang="en-US" sz="5400" dirty="0"/>
              <a:t>4. Continuously monitor and improve</a:t>
            </a:r>
          </a:p>
          <a:p>
            <a:r>
              <a:rPr lang="en-US" sz="5400" dirty="0"/>
              <a:t>5. Recognize and reward successes</a:t>
            </a:r>
          </a:p>
          <a:p>
            <a:br>
              <a:rPr lang="en-US" dirty="0"/>
            </a:br>
            <a:endParaRPr lang="en-PK" dirty="0"/>
          </a:p>
        </p:txBody>
      </p:sp>
    </p:spTree>
    <p:extLst>
      <p:ext uri="{BB962C8B-B14F-4D97-AF65-F5344CB8AC3E}">
        <p14:creationId xmlns:p14="http://schemas.microsoft.com/office/powerpoint/2010/main" val="32664366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E0ED-ABE7-5805-FD90-E704778313C8}"/>
              </a:ext>
            </a:extLst>
          </p:cNvPr>
          <p:cNvSpPr>
            <a:spLocks noGrp="1"/>
          </p:cNvSpPr>
          <p:nvPr>
            <p:ph type="title"/>
          </p:nvPr>
        </p:nvSpPr>
        <p:spPr>
          <a:xfrm>
            <a:off x="838200" y="1"/>
            <a:ext cx="10515600" cy="1209367"/>
          </a:xfrm>
        </p:spPr>
        <p:txBody>
          <a:bodyPr>
            <a:normAutofit/>
          </a:bodyPr>
          <a:lstStyle/>
          <a:p>
            <a:pPr algn="ctr"/>
            <a:r>
              <a:rPr lang="en-US" sz="6000" b="1" dirty="0">
                <a:highlight>
                  <a:srgbClr val="FFFF00"/>
                </a:highlight>
              </a:rPr>
              <a:t>Customer Journey Mapping (CJM)</a:t>
            </a:r>
            <a:endParaRPr lang="en-PK" sz="6000" b="1" dirty="0">
              <a:highlight>
                <a:srgbClr val="FFFF00"/>
              </a:highlight>
            </a:endParaRPr>
          </a:p>
        </p:txBody>
      </p:sp>
      <p:sp>
        <p:nvSpPr>
          <p:cNvPr id="3" name="Content Placeholder 2">
            <a:extLst>
              <a:ext uri="{FF2B5EF4-FFF2-40B4-BE49-F238E27FC236}">
                <a16:creationId xmlns:a16="http://schemas.microsoft.com/office/drawing/2014/main" id="{56B45C7B-A4B1-9F06-C1CF-DC4CA17F6328}"/>
              </a:ext>
            </a:extLst>
          </p:cNvPr>
          <p:cNvSpPr>
            <a:spLocks noGrp="1"/>
          </p:cNvSpPr>
          <p:nvPr>
            <p:ph idx="1"/>
          </p:nvPr>
        </p:nvSpPr>
        <p:spPr>
          <a:xfrm>
            <a:off x="0" y="1327355"/>
            <a:ext cx="12192000" cy="5530644"/>
          </a:xfrm>
        </p:spPr>
        <p:txBody>
          <a:bodyPr>
            <a:normAutofit fontScale="55000" lnSpcReduction="20000"/>
          </a:bodyPr>
          <a:lstStyle/>
          <a:p>
            <a:r>
              <a:rPr lang="en-US" sz="6500" dirty="0"/>
              <a:t>Customer Journey Mapping (CJM) is a visual representation of the customer's experience across all touchpoints and interactions with a brand, product, or service.</a:t>
            </a:r>
            <a:br>
              <a:rPr lang="en-US" sz="6500" dirty="0"/>
            </a:br>
            <a:endParaRPr lang="en-US" sz="6500" dirty="0"/>
          </a:p>
          <a:p>
            <a:r>
              <a:rPr lang="en-US" sz="6500" dirty="0"/>
              <a:t>*Benefits:*</a:t>
            </a:r>
          </a:p>
          <a:p>
            <a:r>
              <a:rPr lang="en-US" sz="6500" dirty="0"/>
              <a:t>1. Improved customer understanding</a:t>
            </a:r>
          </a:p>
          <a:p>
            <a:r>
              <a:rPr lang="en-US" sz="6500" dirty="0"/>
              <a:t>2. Enhanced customer experience</a:t>
            </a:r>
          </a:p>
          <a:p>
            <a:r>
              <a:rPr lang="en-US" sz="6500" dirty="0"/>
              <a:t>3. Increased customer satisfaction</a:t>
            </a:r>
          </a:p>
          <a:p>
            <a:r>
              <a:rPr lang="en-US" sz="6500" dirty="0"/>
              <a:t>4. Reduced pain points and friction</a:t>
            </a:r>
          </a:p>
          <a:p>
            <a:r>
              <a:rPr lang="en-US" sz="6500" dirty="0"/>
              <a:t>5. Improved loyalty and retention</a:t>
            </a:r>
          </a:p>
          <a:p>
            <a:br>
              <a:rPr lang="en-US" dirty="0"/>
            </a:br>
            <a:endParaRPr lang="en-PK" dirty="0"/>
          </a:p>
        </p:txBody>
      </p:sp>
    </p:spTree>
    <p:extLst>
      <p:ext uri="{BB962C8B-B14F-4D97-AF65-F5344CB8AC3E}">
        <p14:creationId xmlns:p14="http://schemas.microsoft.com/office/powerpoint/2010/main" val="256814021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4332-41EE-96AE-D55F-2BEE56FD663D}"/>
              </a:ext>
            </a:extLst>
          </p:cNvPr>
          <p:cNvSpPr>
            <a:spLocks noGrp="1"/>
          </p:cNvSpPr>
          <p:nvPr>
            <p:ph type="title"/>
          </p:nvPr>
        </p:nvSpPr>
        <p:spPr>
          <a:xfrm>
            <a:off x="838200" y="1"/>
            <a:ext cx="10515600" cy="1017638"/>
          </a:xfrm>
        </p:spPr>
        <p:txBody>
          <a:bodyPr>
            <a:normAutofit/>
          </a:bodyPr>
          <a:lstStyle/>
          <a:p>
            <a:pPr algn="ctr"/>
            <a:r>
              <a:rPr lang="en-US" sz="6000" b="1" dirty="0">
                <a:highlight>
                  <a:srgbClr val="FFFF00"/>
                </a:highlight>
              </a:rPr>
              <a:t>Components of CJM</a:t>
            </a:r>
            <a:endParaRPr lang="en-PK" sz="6000" b="1" dirty="0">
              <a:highlight>
                <a:srgbClr val="FFFF00"/>
              </a:highlight>
            </a:endParaRPr>
          </a:p>
        </p:txBody>
      </p:sp>
      <p:sp>
        <p:nvSpPr>
          <p:cNvPr id="3" name="Content Placeholder 2">
            <a:extLst>
              <a:ext uri="{FF2B5EF4-FFF2-40B4-BE49-F238E27FC236}">
                <a16:creationId xmlns:a16="http://schemas.microsoft.com/office/drawing/2014/main" id="{F7DBA875-D7B8-2F4C-50A0-1CE26EC64024}"/>
              </a:ext>
            </a:extLst>
          </p:cNvPr>
          <p:cNvSpPr>
            <a:spLocks noGrp="1"/>
          </p:cNvSpPr>
          <p:nvPr>
            <p:ph idx="1"/>
          </p:nvPr>
        </p:nvSpPr>
        <p:spPr>
          <a:xfrm>
            <a:off x="0" y="1017639"/>
            <a:ext cx="12192000" cy="5840360"/>
          </a:xfrm>
        </p:spPr>
        <p:txBody>
          <a:bodyPr>
            <a:normAutofit/>
          </a:bodyPr>
          <a:lstStyle/>
          <a:p>
            <a:r>
              <a:rPr lang="en-US" sz="4800" dirty="0"/>
              <a:t>1. Customer personas</a:t>
            </a:r>
          </a:p>
          <a:p>
            <a:r>
              <a:rPr lang="en-US" sz="4800" dirty="0"/>
              <a:t>2. Touchpoints (pre-purchase, purchase, post-purchase)</a:t>
            </a:r>
          </a:p>
          <a:p>
            <a:r>
              <a:rPr lang="en-US" sz="4800" dirty="0"/>
              <a:t>3. Emotions and pain points</a:t>
            </a:r>
          </a:p>
          <a:p>
            <a:r>
              <a:rPr lang="en-US" sz="4800" dirty="0"/>
              <a:t>4. Thoughts and feelings</a:t>
            </a:r>
          </a:p>
          <a:p>
            <a:r>
              <a:rPr lang="en-US" sz="4800" dirty="0"/>
              <a:t>5. Actions and behaviors</a:t>
            </a:r>
          </a:p>
          <a:p>
            <a:br>
              <a:rPr lang="en-US" dirty="0"/>
            </a:br>
            <a:endParaRPr lang="en-PK" dirty="0"/>
          </a:p>
        </p:txBody>
      </p:sp>
    </p:spTree>
    <p:extLst>
      <p:ext uri="{BB962C8B-B14F-4D97-AF65-F5344CB8AC3E}">
        <p14:creationId xmlns:p14="http://schemas.microsoft.com/office/powerpoint/2010/main" val="7645708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0C470-95E0-06A0-033D-F4E7759F0E3F}"/>
              </a:ext>
            </a:extLst>
          </p:cNvPr>
          <p:cNvSpPr>
            <a:spLocks noGrp="1"/>
          </p:cNvSpPr>
          <p:nvPr>
            <p:ph type="title"/>
          </p:nvPr>
        </p:nvSpPr>
        <p:spPr>
          <a:xfrm>
            <a:off x="838200" y="1"/>
            <a:ext cx="10515600" cy="1135625"/>
          </a:xfrm>
        </p:spPr>
        <p:txBody>
          <a:bodyPr>
            <a:normAutofit/>
          </a:bodyPr>
          <a:lstStyle/>
          <a:p>
            <a:pPr algn="ctr"/>
            <a:r>
              <a:rPr lang="en-US" sz="6000" b="1" dirty="0">
                <a:highlight>
                  <a:srgbClr val="FFFF00"/>
                </a:highlight>
              </a:rPr>
              <a:t>CJM Process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176D8288-87E0-D48B-A55E-6DFD219C0492}"/>
              </a:ext>
            </a:extLst>
          </p:cNvPr>
          <p:cNvSpPr>
            <a:spLocks noGrp="1"/>
          </p:cNvSpPr>
          <p:nvPr>
            <p:ph idx="1"/>
          </p:nvPr>
        </p:nvSpPr>
        <p:spPr>
          <a:xfrm>
            <a:off x="0" y="1238865"/>
            <a:ext cx="12192000" cy="4938098"/>
          </a:xfrm>
        </p:spPr>
        <p:txBody>
          <a:bodyPr>
            <a:normAutofit fontScale="92500" lnSpcReduction="20000"/>
          </a:bodyPr>
          <a:lstStyle/>
          <a:p>
            <a:r>
              <a:rPr lang="en-US" sz="5800" dirty="0"/>
              <a:t>1. Define scope and objectives</a:t>
            </a:r>
          </a:p>
          <a:p>
            <a:r>
              <a:rPr lang="en-US" sz="5800" dirty="0"/>
              <a:t>2. Gather customer data and feedback</a:t>
            </a:r>
          </a:p>
          <a:p>
            <a:r>
              <a:rPr lang="en-US" sz="5800" dirty="0"/>
              <a:t>3. Identify customer personas</a:t>
            </a:r>
          </a:p>
          <a:p>
            <a:r>
              <a:rPr lang="en-US" sz="5800" dirty="0"/>
              <a:t>4. Map touchpoints and interactions</a:t>
            </a:r>
          </a:p>
          <a:p>
            <a:r>
              <a:rPr lang="en-US" sz="5800" dirty="0"/>
              <a:t>5. Analyze and prioritize pain points</a:t>
            </a:r>
          </a:p>
          <a:p>
            <a:r>
              <a:rPr lang="en-US" sz="5800" dirty="0"/>
              <a:t>6. Develop solutions and improvements</a:t>
            </a:r>
          </a:p>
          <a:p>
            <a:br>
              <a:rPr lang="en-US" dirty="0"/>
            </a:br>
            <a:endParaRPr lang="en-PK" dirty="0"/>
          </a:p>
        </p:txBody>
      </p:sp>
    </p:spTree>
    <p:extLst>
      <p:ext uri="{BB962C8B-B14F-4D97-AF65-F5344CB8AC3E}">
        <p14:creationId xmlns:p14="http://schemas.microsoft.com/office/powerpoint/2010/main" val="26649684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C153E-DB19-F1FE-355A-B5387DC8FA11}"/>
              </a:ext>
            </a:extLst>
          </p:cNvPr>
          <p:cNvSpPr>
            <a:spLocks noGrp="1"/>
          </p:cNvSpPr>
          <p:nvPr>
            <p:ph type="title"/>
          </p:nvPr>
        </p:nvSpPr>
        <p:spPr>
          <a:xfrm>
            <a:off x="838200" y="1"/>
            <a:ext cx="10515600" cy="1165122"/>
          </a:xfrm>
        </p:spPr>
        <p:txBody>
          <a:bodyPr>
            <a:normAutofit/>
          </a:bodyPr>
          <a:lstStyle/>
          <a:p>
            <a:pPr algn="ctr"/>
            <a:r>
              <a:rPr lang="en-US" sz="6000" b="1" dirty="0">
                <a:highlight>
                  <a:srgbClr val="FFFF00"/>
                </a:highlight>
              </a:rPr>
              <a:t>Tools and Techniques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B1FAC4DB-0A5D-19C0-1350-99FDBA91668C}"/>
              </a:ext>
            </a:extLst>
          </p:cNvPr>
          <p:cNvSpPr>
            <a:spLocks noGrp="1"/>
          </p:cNvSpPr>
          <p:nvPr>
            <p:ph idx="1"/>
          </p:nvPr>
        </p:nvSpPr>
        <p:spPr>
          <a:xfrm>
            <a:off x="0" y="1165123"/>
            <a:ext cx="12192000" cy="5011840"/>
          </a:xfrm>
        </p:spPr>
        <p:txBody>
          <a:bodyPr>
            <a:normAutofit lnSpcReduction="10000"/>
          </a:bodyPr>
          <a:lstStyle/>
          <a:p>
            <a:r>
              <a:rPr lang="en-US" sz="4800" dirty="0"/>
              <a:t>1. Visual mapping software (e.g., Mural, Asana)</a:t>
            </a:r>
          </a:p>
          <a:p>
            <a:r>
              <a:rPr lang="en-US" sz="4800" dirty="0"/>
              <a:t>2. Sticky notes and whiteboards</a:t>
            </a:r>
          </a:p>
          <a:p>
            <a:r>
              <a:rPr lang="en-US" sz="4800" dirty="0"/>
              <a:t>3. Customer feedback surveys</a:t>
            </a:r>
          </a:p>
          <a:p>
            <a:r>
              <a:rPr lang="en-US" sz="4800" dirty="0"/>
              <a:t>4. Interviews and focus groups</a:t>
            </a:r>
          </a:p>
          <a:p>
            <a:r>
              <a:rPr lang="en-US" sz="4800" dirty="0"/>
              <a:t>5. Analytics and data tools (e.g., Google Analytics)</a:t>
            </a:r>
          </a:p>
          <a:p>
            <a:br>
              <a:rPr lang="en-US" dirty="0"/>
            </a:br>
            <a:endParaRPr lang="en-PK" dirty="0"/>
          </a:p>
        </p:txBody>
      </p:sp>
    </p:spTree>
    <p:extLst>
      <p:ext uri="{BB962C8B-B14F-4D97-AF65-F5344CB8AC3E}">
        <p14:creationId xmlns:p14="http://schemas.microsoft.com/office/powerpoint/2010/main" val="17907873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0DB4B-DCE5-6734-8C88-FB6CE3F59748}"/>
              </a:ext>
            </a:extLst>
          </p:cNvPr>
          <p:cNvSpPr>
            <a:spLocks noGrp="1"/>
          </p:cNvSpPr>
          <p:nvPr>
            <p:ph type="title"/>
          </p:nvPr>
        </p:nvSpPr>
        <p:spPr>
          <a:xfrm>
            <a:off x="838200" y="1"/>
            <a:ext cx="10515600" cy="1165122"/>
          </a:xfrm>
        </p:spPr>
        <p:txBody>
          <a:bodyPr>
            <a:normAutofit/>
          </a:bodyPr>
          <a:lstStyle/>
          <a:p>
            <a:pPr algn="ctr"/>
            <a:r>
              <a:rPr lang="en-US" sz="6000" b="1" i="0" dirty="0">
                <a:solidFill>
                  <a:srgbClr val="222222"/>
                </a:solidFill>
                <a:effectLst/>
                <a:highlight>
                  <a:srgbClr val="FFFF00"/>
                </a:highlight>
                <a:latin typeface="Arial" panose="020B0604020202020204" pitchFamily="34" charset="0"/>
              </a:rPr>
              <a:t>Types of CJM</a:t>
            </a:r>
            <a:endParaRPr lang="en-PK" sz="6000" b="1" dirty="0">
              <a:highlight>
                <a:srgbClr val="FFFF00"/>
              </a:highlight>
            </a:endParaRPr>
          </a:p>
        </p:txBody>
      </p:sp>
      <p:sp>
        <p:nvSpPr>
          <p:cNvPr id="3" name="Content Placeholder 2">
            <a:extLst>
              <a:ext uri="{FF2B5EF4-FFF2-40B4-BE49-F238E27FC236}">
                <a16:creationId xmlns:a16="http://schemas.microsoft.com/office/drawing/2014/main" id="{6D8D0503-8635-5F5A-5874-25AE82249CC6}"/>
              </a:ext>
            </a:extLst>
          </p:cNvPr>
          <p:cNvSpPr>
            <a:spLocks noGrp="1"/>
          </p:cNvSpPr>
          <p:nvPr>
            <p:ph idx="1"/>
          </p:nvPr>
        </p:nvSpPr>
        <p:spPr>
          <a:xfrm>
            <a:off x="-1" y="1342103"/>
            <a:ext cx="12078929" cy="5515896"/>
          </a:xfrm>
        </p:spPr>
        <p:txBody>
          <a:bodyPr/>
          <a:lstStyle/>
          <a:p>
            <a:pPr marL="0" indent="0" algn="l">
              <a:buNone/>
            </a:pPr>
            <a:endParaRPr lang="en-US" sz="5400" b="0" i="0" dirty="0">
              <a:solidFill>
                <a:srgbClr val="222222"/>
              </a:solidFill>
              <a:effectLst/>
              <a:latin typeface="Arial" panose="020B0604020202020204" pitchFamily="34" charset="0"/>
            </a:endParaRPr>
          </a:p>
          <a:p>
            <a:pPr algn="l"/>
            <a:r>
              <a:rPr lang="en-US" sz="5400" b="0" i="0" dirty="0">
                <a:solidFill>
                  <a:srgbClr val="222222"/>
                </a:solidFill>
                <a:effectLst/>
                <a:latin typeface="Arial" panose="020B0604020202020204" pitchFamily="34" charset="0"/>
              </a:rPr>
              <a:t>1. Current State CJM (as-is)</a:t>
            </a:r>
          </a:p>
          <a:p>
            <a:pPr algn="l"/>
            <a:r>
              <a:rPr lang="en-US" sz="5400" b="0" i="0" dirty="0">
                <a:solidFill>
                  <a:srgbClr val="222222"/>
                </a:solidFill>
                <a:effectLst/>
                <a:latin typeface="Arial" panose="020B0604020202020204" pitchFamily="34" charset="0"/>
              </a:rPr>
              <a:t>2. Future State CJM (to-be)</a:t>
            </a:r>
          </a:p>
          <a:p>
            <a:pPr algn="l"/>
            <a:r>
              <a:rPr lang="en-US" sz="5400" b="0" i="0" dirty="0">
                <a:solidFill>
                  <a:srgbClr val="222222"/>
                </a:solidFill>
                <a:effectLst/>
                <a:latin typeface="Arial" panose="020B0604020202020204" pitchFamily="34" charset="0"/>
              </a:rPr>
              <a:t>3. Ideal State CJM (ideal)</a:t>
            </a:r>
          </a:p>
          <a:p>
            <a:pPr algn="l"/>
            <a:r>
              <a:rPr lang="en-US" sz="5400" b="0" i="0" dirty="0">
                <a:solidFill>
                  <a:srgbClr val="222222"/>
                </a:solidFill>
                <a:effectLst/>
                <a:latin typeface="Arial" panose="020B0604020202020204" pitchFamily="34" charset="0"/>
              </a:rPr>
              <a:t>4. Service Blueprinting</a:t>
            </a:r>
          </a:p>
          <a:p>
            <a:pPr marL="0" indent="0" algn="l">
              <a:buNone/>
            </a:pPr>
            <a:endParaRPr lang="en-US" b="0" i="0" dirty="0">
              <a:solidFill>
                <a:srgbClr val="222222"/>
              </a:solidFill>
              <a:effectLst/>
              <a:latin typeface="Arial" panose="020B0604020202020204" pitchFamily="34" charset="0"/>
            </a:endParaRPr>
          </a:p>
          <a:p>
            <a:endParaRPr lang="en-PK" dirty="0"/>
          </a:p>
        </p:txBody>
      </p:sp>
    </p:spTree>
    <p:extLst>
      <p:ext uri="{BB962C8B-B14F-4D97-AF65-F5344CB8AC3E}">
        <p14:creationId xmlns:p14="http://schemas.microsoft.com/office/powerpoint/2010/main" val="35345498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237CE-BB0B-E72A-CFEC-2D51DA14343B}"/>
              </a:ext>
            </a:extLst>
          </p:cNvPr>
          <p:cNvSpPr>
            <a:spLocks noGrp="1"/>
          </p:cNvSpPr>
          <p:nvPr>
            <p:ph type="title"/>
          </p:nvPr>
        </p:nvSpPr>
        <p:spPr>
          <a:xfrm>
            <a:off x="838200" y="103239"/>
            <a:ext cx="10515600" cy="884903"/>
          </a:xfrm>
        </p:spPr>
        <p:txBody>
          <a:bodyPr>
            <a:normAutofit fontScale="90000"/>
          </a:bodyPr>
          <a:lstStyle/>
          <a:p>
            <a:pPr algn="ctr"/>
            <a:r>
              <a:rPr lang="en-US" sz="6000" b="1" i="0" dirty="0">
                <a:solidFill>
                  <a:srgbClr val="222222"/>
                </a:solidFill>
                <a:effectLst/>
                <a:highlight>
                  <a:srgbClr val="FFFF00"/>
                </a:highlight>
                <a:latin typeface="Arial" panose="020B0604020202020204" pitchFamily="34" charset="0"/>
              </a:rPr>
              <a:t>Benefits</a:t>
            </a:r>
            <a:endParaRPr lang="en-PK" sz="6000" b="1" dirty="0">
              <a:highlight>
                <a:srgbClr val="FFFF00"/>
              </a:highlight>
            </a:endParaRPr>
          </a:p>
        </p:txBody>
      </p:sp>
      <p:sp>
        <p:nvSpPr>
          <p:cNvPr id="3" name="Content Placeholder 2">
            <a:extLst>
              <a:ext uri="{FF2B5EF4-FFF2-40B4-BE49-F238E27FC236}">
                <a16:creationId xmlns:a16="http://schemas.microsoft.com/office/drawing/2014/main" id="{1AEA5AB9-0C75-3B41-98F7-6054949E10E7}"/>
              </a:ext>
            </a:extLst>
          </p:cNvPr>
          <p:cNvSpPr>
            <a:spLocks noGrp="1"/>
          </p:cNvSpPr>
          <p:nvPr>
            <p:ph idx="1"/>
          </p:nvPr>
        </p:nvSpPr>
        <p:spPr>
          <a:xfrm>
            <a:off x="0" y="1106130"/>
            <a:ext cx="12192000" cy="5070834"/>
          </a:xfrm>
        </p:spPr>
        <p:txBody>
          <a:bodyPr/>
          <a:lstStyle/>
          <a:p>
            <a:pPr algn="l" rtl="0"/>
            <a:r>
              <a:rPr lang="en-US" sz="5400" b="0" i="0" dirty="0">
                <a:solidFill>
                  <a:srgbClr val="222222"/>
                </a:solidFill>
                <a:effectLst/>
                <a:latin typeface="Arial" panose="020B0604020202020204" pitchFamily="34" charset="0"/>
              </a:rPr>
              <a:t>1. Enhanced customer loyalty</a:t>
            </a:r>
          </a:p>
          <a:p>
            <a:pPr algn="l" rtl="0"/>
            <a:r>
              <a:rPr lang="en-US" sz="5400" b="0" i="0" dirty="0">
                <a:solidFill>
                  <a:srgbClr val="222222"/>
                </a:solidFill>
                <a:effectLst/>
                <a:latin typeface="Arial" panose="020B0604020202020204" pitchFamily="34" charset="0"/>
              </a:rPr>
              <a:t>2. Improved quality and reliability</a:t>
            </a:r>
          </a:p>
          <a:p>
            <a:pPr algn="l" rtl="0"/>
            <a:r>
              <a:rPr lang="en-US" sz="5400" b="0" i="0" dirty="0">
                <a:solidFill>
                  <a:srgbClr val="222222"/>
                </a:solidFill>
                <a:effectLst/>
                <a:latin typeface="Arial" panose="020B0604020202020204" pitchFamily="34" charset="0"/>
              </a:rPr>
              <a:t>3. Increased employee engagement</a:t>
            </a:r>
          </a:p>
          <a:p>
            <a:pPr algn="l" rtl="0"/>
            <a:r>
              <a:rPr lang="en-US" sz="5400" b="0" i="0" dirty="0">
                <a:solidFill>
                  <a:srgbClr val="222222"/>
                </a:solidFill>
                <a:effectLst/>
                <a:latin typeface="Arial" panose="020B0604020202020204" pitchFamily="34" charset="0"/>
              </a:rPr>
              <a:t>4. Better supply chain management</a:t>
            </a:r>
          </a:p>
          <a:p>
            <a:br>
              <a:rPr lang="en-US" dirty="0"/>
            </a:br>
            <a:endParaRPr lang="en-PK" dirty="0"/>
          </a:p>
        </p:txBody>
      </p:sp>
    </p:spTree>
    <p:extLst>
      <p:ext uri="{BB962C8B-B14F-4D97-AF65-F5344CB8AC3E}">
        <p14:creationId xmlns:p14="http://schemas.microsoft.com/office/powerpoint/2010/main" val="16782471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3558</Words>
  <Application>Microsoft Office PowerPoint</Application>
  <PresentationFormat>Widescreen</PresentationFormat>
  <Paragraphs>578</Paragraphs>
  <Slides>84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84</vt:i4>
      </vt:variant>
    </vt:vector>
  </HeadingPairs>
  <TitlesOfParts>
    <vt:vector size="88" baseType="lpstr">
      <vt:lpstr>Arial</vt:lpstr>
      <vt:lpstr>Calibri</vt:lpstr>
      <vt:lpstr>Calibri Light</vt:lpstr>
      <vt:lpstr>Office Theme</vt:lpstr>
      <vt:lpstr>The Customer-Centric Quality Paradigm</vt:lpstr>
      <vt:lpstr>Customer-Centric Quality Framework</vt:lpstr>
      <vt:lpstr>Customer-Centric Quality Metrics</vt:lpstr>
      <vt:lpstr>5-Star Quality Rating</vt:lpstr>
      <vt:lpstr>Benefits of 5-Star Quality Rating:*</vt:lpstr>
      <vt:lpstr>Industries Using 5-Star Quality Rating</vt:lpstr>
      <vt:lpstr>Assessment and Evaluation Methods:*</vt:lpstr>
      <vt:lpstr>Rating Scale</vt:lpstr>
      <vt:lpstr>Best Practices</vt:lpstr>
      <vt:lpstr>First Contact Resolution (FCR)</vt:lpstr>
      <vt:lpstr>Benefits</vt:lpstr>
      <vt:lpstr>Key Drivers of FCR</vt:lpstr>
      <vt:lpstr>FCR Metrics</vt:lpstr>
      <vt:lpstr>Industry Benchmarks</vt:lpstr>
      <vt:lpstr>Strategies to Improve FCR</vt:lpstr>
      <vt:lpstr>Tools and Technologies</vt:lpstr>
      <vt:lpstr>Best Practices</vt:lpstr>
      <vt:lpstr>Net Promoter Score (NPS)</vt:lpstr>
      <vt:lpstr>NPS score</vt:lpstr>
      <vt:lpstr>NPS score</vt:lpstr>
      <vt:lpstr>Customer Satisfaction (CSAT)</vt:lpstr>
      <vt:lpstr>CSAT Measurement Methods</vt:lpstr>
      <vt:lpstr>CSAT Benefits</vt:lpstr>
      <vt:lpstr>CSAT Metrics and Benchmarks</vt:lpstr>
      <vt:lpstr>Industry CSAT Benchmarks</vt:lpstr>
      <vt:lpstr>Factors Influencing CSAT</vt:lpstr>
      <vt:lpstr>Strategies to Improve CSAT</vt:lpstr>
      <vt:lpstr>Tools and Technologies</vt:lpstr>
      <vt:lpstr>Customer retention rate</vt:lpstr>
      <vt:lpstr>Customer Retention Rate Formula</vt:lpstr>
      <vt:lpstr>Factors Affecting Customer Retention Rate</vt:lpstr>
      <vt:lpstr>Improving Customer Retention Rate</vt:lpstr>
      <vt:lpstr>*Tools and Techniques:*</vt:lpstr>
      <vt:lpstr>Voice of the Customer (VOC)</vt:lpstr>
      <vt:lpstr>VOC Objectives</vt:lpstr>
      <vt:lpstr>VOC Collection Methods</vt:lpstr>
      <vt:lpstr>VOC Analysis Techniques</vt:lpstr>
      <vt:lpstr>VOC Benefits</vt:lpstr>
      <vt:lpstr>VOC Best Practices</vt:lpstr>
      <vt:lpstr>VOC Tools and Technologies</vt:lpstr>
      <vt:lpstr>VOC Metrics</vt:lpstr>
      <vt:lpstr>Industry Applications</vt:lpstr>
      <vt:lpstr>Quality Function Deployment (QFD)</vt:lpstr>
      <vt:lpstr>QFD Objectives</vt:lpstr>
      <vt:lpstr>QFD Process</vt:lpstr>
      <vt:lpstr>QFD Tools</vt:lpstr>
      <vt:lpstr>House of Quality (HOQ) Matrix</vt:lpstr>
      <vt:lpstr>Industry Applications</vt:lpstr>
      <vt:lpstr>QFD Best Practices</vt:lpstr>
      <vt:lpstr>Common Challenges</vt:lpstr>
      <vt:lpstr>Relationship to Other Quality Initiatives</vt:lpstr>
      <vt:lpstr>Failure Mode and Effects Analysis (FMEA)</vt:lpstr>
      <vt:lpstr>FMEA Process</vt:lpstr>
      <vt:lpstr>FMEA Tools</vt:lpstr>
      <vt:lpstr>Risk Priority Number (RPN)</vt:lpstr>
      <vt:lpstr>FMEA Benefits</vt:lpstr>
      <vt:lpstr>Industry Applications</vt:lpstr>
      <vt:lpstr>FMEA Best Practices</vt:lpstr>
      <vt:lpstr>Common Challenges</vt:lpstr>
      <vt:lpstr>Relationship to Other Quality Initiatives</vt:lpstr>
      <vt:lpstr>Six Sigma</vt:lpstr>
      <vt:lpstr>Six Sigma Belts</vt:lpstr>
      <vt:lpstr>Six Sigma Methodologies</vt:lpstr>
      <vt:lpstr>Six Sigma Tools</vt:lpstr>
      <vt:lpstr>Benefits</vt:lpstr>
      <vt:lpstr>Industry Applications</vt:lpstr>
      <vt:lpstr>Six Sigma Certification</vt:lpstr>
      <vt:lpstr>Common Challenges</vt:lpstr>
      <vt:lpstr>Best Practices</vt:lpstr>
      <vt:lpstr>Lean</vt:lpstr>
      <vt:lpstr>Lean Tools</vt:lpstr>
      <vt:lpstr>Types of Waste</vt:lpstr>
      <vt:lpstr>Lean Methodologies</vt:lpstr>
      <vt:lpstr>Benefits</vt:lpstr>
      <vt:lpstr>Industry Applications</vt:lpstr>
      <vt:lpstr>Lean Certification</vt:lpstr>
      <vt:lpstr>Common Challenges</vt:lpstr>
      <vt:lpstr>Best Practices</vt:lpstr>
      <vt:lpstr>Customer Journey Mapping (CJM)</vt:lpstr>
      <vt:lpstr>Components of CJM</vt:lpstr>
      <vt:lpstr>CJM Process</vt:lpstr>
      <vt:lpstr>Tools and Techniques</vt:lpstr>
      <vt:lpstr>Types of CJM</vt:lpstr>
      <vt:lpstr>Benefits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ColSial</dc:creator>
  <cp:lastModifiedBy>ColSial</cp:lastModifiedBy>
  <cp:revision>196</cp:revision>
  <dcterms:created xsi:type="dcterms:W3CDTF">2024-09-24T05:26:35Z</dcterms:created>
  <dcterms:modified xsi:type="dcterms:W3CDTF">2024-10-06T07:54:03Z</dcterms:modified>
</cp:coreProperties>
</file>