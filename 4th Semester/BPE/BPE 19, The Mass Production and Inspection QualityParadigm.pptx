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77843-71A2-17D0-1E2E-0DFBD2F9E2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F634D7-495C-8441-74B9-6E7652F8A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29CF0-5A42-A067-8AD0-DCBF2FC32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EAEF8-0C7C-468A-B187-AABC55B4ED04}" type="datetimeFigureOut">
              <a:rPr lang="en-PK" smtClean="0"/>
              <a:t>24/09/2024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8931B0-89D8-F6B7-60EF-120E193CC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B1B7F5-CDD6-EE80-8DEB-4919EDF34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02885-5C76-49B0-9B44-C06476E4BD3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55138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B4BDB-FFDC-3A48-78C1-ED955B53D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E7280F-B2F8-3961-9CA8-EB068BB39D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B63307-FD90-4F90-B85D-F539EBFEB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EAEF8-0C7C-468A-B187-AABC55B4ED04}" type="datetimeFigureOut">
              <a:rPr lang="en-PK" smtClean="0"/>
              <a:t>24/09/2024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A101AE-7FF8-F6DC-ADD4-D06A57C96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92D9F-820E-A192-EE82-5C718167F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02885-5C76-49B0-9B44-C06476E4BD3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18914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0F4FD-4576-7A20-4B36-60E59E889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40E7F9-902B-247E-C584-0CDB5E3D73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913AB1-5BC9-8352-EEDA-69FCC949D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EAEF8-0C7C-468A-B187-AABC55B4ED04}" type="datetimeFigureOut">
              <a:rPr lang="en-PK" smtClean="0"/>
              <a:t>24/09/2024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CCFDAD-3CA6-DCD9-B3E5-DE87D656A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37DC39-E3A4-024A-E963-C8823C0B5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02885-5C76-49B0-9B44-C06476E4BD3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60982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36B01-06B5-7686-F86C-09C77E803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103A4-DFF0-61E7-DBDC-69C81C4576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B75943-792A-7C22-700F-4592E07A15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2273E-A551-29E1-8C8E-D38AEA8C4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EAEF8-0C7C-468A-B187-AABC55B4ED04}" type="datetimeFigureOut">
              <a:rPr lang="en-PK" smtClean="0"/>
              <a:t>24/09/2024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EEC8BB-01EF-6F6F-4DE4-2CA7D716B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B16493-7F15-A867-6204-FE0C870B1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02885-5C76-49B0-9B44-C06476E4BD3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71689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A24D8-95E6-0015-17E2-F073B761A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BF0EBA-695D-5098-6A51-58B247F34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EC489A-6625-E48F-1F64-D0BB5B870A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123C20-B3AA-617D-AFD5-9E70DEDCB9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40E220-5361-3787-9A2D-D04C553639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363594-FBA9-18FC-9772-22CA3DAE4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EAEF8-0C7C-468A-B187-AABC55B4ED04}" type="datetimeFigureOut">
              <a:rPr lang="en-PK" smtClean="0"/>
              <a:t>24/09/2024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09285C-607C-DAB0-2BB6-8AAA78B0E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D661D9-4B8F-03BB-056C-35EEB8FA4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02885-5C76-49B0-9B44-C06476E4BD3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37752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AB1A3-F169-5D7E-6F19-5D3D5C80C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7AD9CA-337F-3F96-D0BD-936D5D6C0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EAEF8-0C7C-468A-B187-AABC55B4ED04}" type="datetimeFigureOut">
              <a:rPr lang="en-PK" smtClean="0"/>
              <a:t>24/09/2024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9F3412-A289-E244-2C2B-B719CCAD9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469219-9E41-12F3-E936-2A01BC690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02885-5C76-49B0-9B44-C06476E4BD3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16100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DF3D5C-FBE0-1EB0-24FC-FE5265D4C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EAEF8-0C7C-468A-B187-AABC55B4ED04}" type="datetimeFigureOut">
              <a:rPr lang="en-PK" smtClean="0"/>
              <a:t>24/09/2024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C8B164-55A7-FD9D-A29C-07611E756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DACD15-9287-A5EB-2D6D-02A542F77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02885-5C76-49B0-9B44-C06476E4BD3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80188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99196-1516-8E9A-8BE3-20ACF8E43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6D7A3-DE04-F005-3717-B5503FAAE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E63284-2FA9-AADF-7231-032ABFE9E1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3A075B-16C9-6D93-793D-5E682116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EAEF8-0C7C-468A-B187-AABC55B4ED04}" type="datetimeFigureOut">
              <a:rPr lang="en-PK" smtClean="0"/>
              <a:t>24/09/2024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AD8419-4554-9D9C-175D-6C9988D23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2D42F5-5F4C-7C09-96EF-2BC605E71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02885-5C76-49B0-9B44-C06476E4BD3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0697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74136-60A2-075D-1EDF-93FA7350D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5D1DE5-3679-E2EE-0074-FFD4D90658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2E553B-14A3-E53C-EA47-1F6D857406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B664AC-6BC1-9FA0-C9A4-02575F173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EAEF8-0C7C-468A-B187-AABC55B4ED04}" type="datetimeFigureOut">
              <a:rPr lang="en-PK" smtClean="0"/>
              <a:t>24/09/2024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336E7F-9019-2A63-D090-44A6C1D74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F1AD2F-2CD4-02E8-E404-949861322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02885-5C76-49B0-9B44-C06476E4BD3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88713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0F0E8-E874-0F5C-B6EB-8FF2D4B72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2503DD-E601-CE62-6096-2EB97F00EE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7E59E4-3A90-ABEC-1B91-64942C001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EAEF8-0C7C-468A-B187-AABC55B4ED04}" type="datetimeFigureOut">
              <a:rPr lang="en-PK" smtClean="0"/>
              <a:t>24/09/2024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0C156-2C06-15F4-3634-F8A9BAD39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3E677E-4A58-C2F8-9315-968088D53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02885-5C76-49B0-9B44-C06476E4BD3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74377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76911D-EC5A-36D5-DDAD-562430E804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4036D1-3898-0344-9F65-7A99B81652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3C36E-FB7D-5F78-F136-2EABDF874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EAEF8-0C7C-468A-B187-AABC55B4ED04}" type="datetimeFigureOut">
              <a:rPr lang="en-PK" smtClean="0"/>
              <a:t>24/09/2024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6EE34-8A69-AC56-59B3-479D41F66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8AFEA-117D-2AF2-30F7-54F8BD361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02885-5C76-49B0-9B44-C06476E4BD3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28574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DEBA4D-03DA-3179-F83A-F68026ED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5BC47C-B439-06F3-028D-08DF4255F0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E44AE6-F1EE-3185-7BC1-EF5F6F7A8A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1EAEF8-0C7C-468A-B187-AABC55B4ED04}" type="datetimeFigureOut">
              <a:rPr lang="en-PK" smtClean="0"/>
              <a:t>24/09/2024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E0AF8-A7C6-6ED2-AE2B-DBEEA6D175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1A354F-FD5B-7F11-09DB-F2B1FA864E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F02885-5C76-49B0-9B44-C06476E4BD3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30800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C18CA-CFEF-02D8-BB74-6915F274EB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"/>
            <a:ext cx="12192000" cy="1179869"/>
          </a:xfrm>
        </p:spPr>
        <p:txBody>
          <a:bodyPr>
            <a:normAutofit/>
          </a:bodyPr>
          <a:lstStyle/>
          <a:p>
            <a:r>
              <a:rPr lang="en-US" sz="3600" b="1" i="0" dirty="0">
                <a:solidFill>
                  <a:srgbClr val="222222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The Mass Production and Inspection </a:t>
            </a:r>
            <a:r>
              <a:rPr lang="en-US" sz="3600" b="1" i="0" dirty="0" err="1">
                <a:solidFill>
                  <a:srgbClr val="222222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QualityParadigm</a:t>
            </a:r>
            <a:br>
              <a:rPr lang="en-US" sz="3600" b="1" i="0" dirty="0">
                <a:solidFill>
                  <a:srgbClr val="222222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</a:br>
            <a:endParaRPr lang="en-PK" sz="3600" b="1" dirty="0">
              <a:highlight>
                <a:srgbClr val="FFFF00"/>
              </a:highligh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0AF9AD-9665-04FE-DC91-78156C7D1E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002890"/>
            <a:ext cx="12191999" cy="5855109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3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The Mass Production and Inspection Quality Paradigm focuses on ensuring quality through post-production inspection and testing.</a:t>
            </a:r>
            <a:br>
              <a:rPr lang="en-US" sz="3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endParaRPr lang="en-US" sz="36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en-US" sz="3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*Key Characteristics:*</a:t>
            </a:r>
            <a:br>
              <a:rPr lang="en-US" sz="3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endParaRPr lang="en-US" sz="36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en-US" sz="3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1. Emphasis on quantity over quality</a:t>
            </a:r>
          </a:p>
          <a:p>
            <a:pPr algn="l"/>
            <a:r>
              <a:rPr lang="en-US" sz="3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2. Production-focused, rather than customer-focused</a:t>
            </a:r>
          </a:p>
          <a:p>
            <a:pPr algn="l"/>
            <a:r>
              <a:rPr lang="en-US" sz="3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3. Quality control through inspection and testing</a:t>
            </a:r>
          </a:p>
          <a:p>
            <a:pPr algn="l"/>
            <a:r>
              <a:rPr lang="en-US" sz="3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4. Defect detection and correction</a:t>
            </a:r>
          </a:p>
          <a:p>
            <a:pPr algn="l"/>
            <a:r>
              <a:rPr lang="en-US" sz="3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5. Standardized processes</a:t>
            </a:r>
          </a:p>
          <a:p>
            <a:endParaRPr lang="en-PK" sz="3600" dirty="0"/>
          </a:p>
        </p:txBody>
      </p:sp>
    </p:spTree>
    <p:extLst>
      <p:ext uri="{BB962C8B-B14F-4D97-AF65-F5344CB8AC3E}">
        <p14:creationId xmlns:p14="http://schemas.microsoft.com/office/powerpoint/2010/main" val="2995639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064BB-2911-AE51-0F53-08EFB5495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73393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highlight>
                  <a:srgbClr val="FFFF00"/>
                </a:highlight>
              </a:rPr>
              <a:t>Quality Control Methods</a:t>
            </a:r>
            <a:endParaRPr lang="en-PK" sz="6000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79D4E-AB21-E602-C015-E3D8039B2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sz="7700" dirty="0"/>
              <a:t>1. Inspection and testing</a:t>
            </a:r>
          </a:p>
          <a:p>
            <a:r>
              <a:rPr lang="en-US" sz="7700" dirty="0"/>
              <a:t>2. Statistical Process Control (SPC)</a:t>
            </a:r>
          </a:p>
          <a:p>
            <a:r>
              <a:rPr lang="en-US" sz="7700" dirty="0"/>
              <a:t>3. Total Quality Control (TQC)</a:t>
            </a:r>
          </a:p>
          <a:p>
            <a:r>
              <a:rPr lang="en-US" sz="7700" dirty="0"/>
              <a:t>4. Quality Circles</a:t>
            </a:r>
          </a:p>
          <a:p>
            <a:r>
              <a:rPr lang="en-US" sz="7700" dirty="0"/>
              <a:t>5. Failure Mode and Effects Analysis (FMEA)</a:t>
            </a:r>
          </a:p>
          <a:p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13891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59144-D6D9-9516-153D-A0A6D53D5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91380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highlight>
                  <a:srgbClr val="FFFF00"/>
                </a:highlight>
              </a:rPr>
              <a:t>Quality Metrics</a:t>
            </a:r>
            <a:endParaRPr lang="en-PK" sz="6000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3C079-2DFB-2C3F-E3A0-62AE1DAA5A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5800" dirty="0"/>
              <a:t>1. Defect rate</a:t>
            </a:r>
          </a:p>
          <a:p>
            <a:r>
              <a:rPr lang="en-US" sz="5800" dirty="0"/>
              <a:t>2. Yield rate</a:t>
            </a:r>
          </a:p>
          <a:p>
            <a:r>
              <a:rPr lang="en-US" sz="5800" dirty="0"/>
              <a:t>3. First-Pass Yield (FPY)</a:t>
            </a:r>
          </a:p>
          <a:p>
            <a:r>
              <a:rPr lang="en-US" sz="5800" dirty="0"/>
              <a:t>4. Rolled Throughput Yield (RTY)</a:t>
            </a:r>
          </a:p>
          <a:p>
            <a:r>
              <a:rPr lang="en-US" sz="5800" dirty="0"/>
              <a:t>5. Cost of Quality (COQ)</a:t>
            </a:r>
          </a:p>
          <a:p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016242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DF5C5-C1EA-E6EB-922B-EE0F401FD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209367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highlight>
                  <a:srgbClr val="FFFF00"/>
                </a:highlight>
              </a:rPr>
              <a:t>Tools and Techniques</a:t>
            </a:r>
            <a:endParaRPr lang="en-PK" sz="6000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02E72-86DF-C2DD-6431-0E8C6049F7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4400" dirty="0"/>
              <a:t>1. Fishbone Diagrams (Ishikawa)</a:t>
            </a:r>
          </a:p>
          <a:p>
            <a:r>
              <a:rPr lang="en-US" sz="4400" dirty="0"/>
              <a:t>2. Pareto Analysis</a:t>
            </a:r>
          </a:p>
          <a:p>
            <a:r>
              <a:rPr lang="en-US" sz="4400" dirty="0"/>
              <a:t>3. Control Charts</a:t>
            </a:r>
          </a:p>
          <a:p>
            <a:r>
              <a:rPr lang="en-US" sz="4400" dirty="0"/>
              <a:t>4. Histograms</a:t>
            </a:r>
          </a:p>
          <a:p>
            <a:r>
              <a:rPr lang="en-US" sz="4400" dirty="0"/>
              <a:t>5. Root Cause Analysis (RCA)</a:t>
            </a:r>
          </a:p>
          <a:p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082130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B4C21-180A-A907-DF93-272DA120C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1439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>
                <a:highlight>
                  <a:srgbClr val="FFFF00"/>
                </a:highlight>
              </a:rPr>
              <a:t>Limitations</a:t>
            </a:r>
            <a:endParaRPr lang="en-PK" sz="6000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9DE03-4FE1-5283-D1FF-7776196551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5200" dirty="0"/>
              <a:t>1. Focus on detection rather than prevention</a:t>
            </a:r>
          </a:p>
          <a:p>
            <a:r>
              <a:rPr lang="en-US" sz="5200" dirty="0"/>
              <a:t>2. High inspection costs</a:t>
            </a:r>
          </a:p>
          <a:p>
            <a:r>
              <a:rPr lang="en-US" sz="5200" dirty="0"/>
              <a:t>3. Limited emphasis on continuous improvement</a:t>
            </a:r>
          </a:p>
          <a:p>
            <a:r>
              <a:rPr lang="en-US" sz="5200" dirty="0"/>
              <a:t>4. Reactivity rather than proactivity</a:t>
            </a:r>
          </a:p>
          <a:p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295696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C0677-8C8F-3219-85FD-14CABB746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73393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highlight>
                  <a:srgbClr val="FFFF00"/>
                </a:highlight>
              </a:rPr>
              <a:t>Evolution</a:t>
            </a:r>
            <a:endParaRPr lang="en-PK" sz="6000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98C74-6CEA-DA8F-4E33-E01E9D6147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4200" dirty="0"/>
              <a:t>The Mass Production and Inspection Quality Paradigm has evolved into more advanced quality paradigms, such as:</a:t>
            </a:r>
            <a:br>
              <a:rPr lang="en-US" sz="4200" dirty="0"/>
            </a:br>
            <a:endParaRPr lang="en-US" sz="4200" dirty="0"/>
          </a:p>
          <a:p>
            <a:r>
              <a:rPr lang="en-US" sz="4200" dirty="0"/>
              <a:t>1. Total Quality Management (TQM)</a:t>
            </a:r>
          </a:p>
          <a:p>
            <a:r>
              <a:rPr lang="en-US" sz="4200" dirty="0"/>
              <a:t>2. Lean</a:t>
            </a:r>
          </a:p>
          <a:p>
            <a:r>
              <a:rPr lang="en-US" sz="4200" dirty="0"/>
              <a:t>3. Six Sigma</a:t>
            </a:r>
          </a:p>
          <a:p>
            <a:r>
              <a:rPr lang="en-US" sz="4200" dirty="0"/>
              <a:t>4. Customer-Centric Quality</a:t>
            </a:r>
          </a:p>
          <a:p>
            <a:pPr marL="0" indent="0">
              <a:buNone/>
            </a:pPr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509426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83314-4308-5E7B-B136-5B5CF03D6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32386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highlight>
                  <a:srgbClr val="FFFF00"/>
                </a:highlight>
              </a:rPr>
              <a:t>Industry Applications</a:t>
            </a:r>
            <a:endParaRPr lang="en-PK" sz="6000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4EB9D-0AF4-6CFB-E2AF-053325521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5400" dirty="0"/>
              <a:t>The Mass Production and Inspection Quality Paradigm focuses on ensuring quality through post-production inspection and testing.</a:t>
            </a:r>
          </a:p>
          <a:p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130370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60E02-FDB2-1D6F-AC66-542ADDF22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120876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highlight>
                  <a:srgbClr val="FFFF00"/>
                </a:highlight>
              </a:rPr>
              <a:t>Key Characteristics</a:t>
            </a:r>
            <a:endParaRPr lang="en-PK" sz="6000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442E4-2221-2014-8AF6-A9A83DBA7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4700" dirty="0"/>
              <a:t>1. Emphasis on quantity over quality</a:t>
            </a:r>
          </a:p>
          <a:p>
            <a:r>
              <a:rPr lang="en-US" sz="4700" dirty="0"/>
              <a:t>2. Production-focused, rather than customer-focused</a:t>
            </a:r>
          </a:p>
          <a:p>
            <a:r>
              <a:rPr lang="en-US" sz="4700" dirty="0"/>
              <a:t>3. Quality control through inspection and testing</a:t>
            </a:r>
          </a:p>
          <a:p>
            <a:r>
              <a:rPr lang="en-US" sz="4700" dirty="0"/>
              <a:t>4. Defect detection and correction</a:t>
            </a:r>
          </a:p>
          <a:p>
            <a:r>
              <a:rPr lang="en-US" sz="4700" dirty="0"/>
              <a:t>5. Standardized processes</a:t>
            </a:r>
          </a:p>
          <a:p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675077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52FA5-565C-257B-0540-6EF54A18F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58644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highlight>
                  <a:srgbClr val="FFFF00"/>
                </a:highlight>
              </a:rPr>
              <a:t>Quality Control Methods</a:t>
            </a:r>
            <a:endParaRPr lang="en-PK" sz="6000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F57EC-91E0-145A-DFB2-1A2FCE9F23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5600" dirty="0"/>
              <a:t>1. Inspection and testing</a:t>
            </a:r>
          </a:p>
          <a:p>
            <a:r>
              <a:rPr lang="en-US" sz="5600" dirty="0"/>
              <a:t>2. Statistical Process Control (SPC)</a:t>
            </a:r>
          </a:p>
          <a:p>
            <a:r>
              <a:rPr lang="en-US" sz="5600" dirty="0"/>
              <a:t>3. Total Quality Control (TQC)</a:t>
            </a:r>
          </a:p>
          <a:p>
            <a:r>
              <a:rPr lang="en-US" sz="5600" dirty="0"/>
              <a:t>4. Quality Circles</a:t>
            </a:r>
          </a:p>
          <a:p>
            <a:r>
              <a:rPr lang="en-US" sz="5600" dirty="0"/>
              <a:t>5. Failure Mode and Effects Analysis (FMEA)</a:t>
            </a:r>
          </a:p>
          <a:p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1464533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2E283-0A72-F272-922E-7EBC16764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>
                <a:highlight>
                  <a:srgbClr val="FFFF00"/>
                </a:highlight>
              </a:rPr>
              <a:t>Quality Metrics</a:t>
            </a:r>
            <a:endParaRPr lang="en-PK" sz="6000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DBCCD-5FF7-A258-F0D8-7F17889A37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5800" dirty="0"/>
              <a:t>1. Defect rate</a:t>
            </a:r>
          </a:p>
          <a:p>
            <a:r>
              <a:rPr lang="en-US" sz="5800" dirty="0"/>
              <a:t>2. Yield rate</a:t>
            </a:r>
          </a:p>
          <a:p>
            <a:r>
              <a:rPr lang="en-US" sz="5800" dirty="0"/>
              <a:t>3. First-Pass Yield (FPY)</a:t>
            </a:r>
          </a:p>
          <a:p>
            <a:r>
              <a:rPr lang="en-US" sz="5800" dirty="0"/>
              <a:t>4. Rolled Throughput Yield (RTY)</a:t>
            </a:r>
          </a:p>
          <a:p>
            <a:r>
              <a:rPr lang="en-US" sz="5800" dirty="0"/>
              <a:t>5. Cost of Quality (COQ)</a:t>
            </a:r>
          </a:p>
          <a:p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006849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482DB-C6FC-E99A-EFD3-9355B067E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201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>
                <a:highlight>
                  <a:srgbClr val="FFFF00"/>
                </a:highlight>
              </a:rPr>
              <a:t>Tools and Techniques</a:t>
            </a:r>
            <a:endParaRPr lang="en-PK" sz="6000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4433F-4563-1FC6-9544-0A80938139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4800" dirty="0"/>
              <a:t>1. Fishbone Diagrams (Ishikawa)</a:t>
            </a:r>
          </a:p>
          <a:p>
            <a:r>
              <a:rPr lang="en-US" sz="4800" dirty="0"/>
              <a:t>2. Pareto Analysis</a:t>
            </a:r>
          </a:p>
          <a:p>
            <a:r>
              <a:rPr lang="en-US" sz="4800" dirty="0"/>
              <a:t>3. Control Charts</a:t>
            </a:r>
          </a:p>
          <a:p>
            <a:r>
              <a:rPr lang="en-US" sz="4800" dirty="0"/>
              <a:t>4. Histograms</a:t>
            </a:r>
          </a:p>
          <a:p>
            <a:r>
              <a:rPr lang="en-US" sz="4800" dirty="0"/>
              <a:t>5. Root Cause Analysis (RCA)</a:t>
            </a:r>
          </a:p>
          <a:p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0899652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EB303-4870-4567-4F46-43A5B0338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251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>
                <a:highlight>
                  <a:srgbClr val="FFFF00"/>
                </a:highlight>
              </a:rPr>
              <a:t>Limitations</a:t>
            </a:r>
            <a:endParaRPr lang="en-PK" sz="6000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C6B12-3957-A530-BC52-23B74D3A6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4800" dirty="0"/>
              <a:t>1. Focus on detection rather than prevention</a:t>
            </a:r>
          </a:p>
          <a:p>
            <a:r>
              <a:rPr lang="en-US" sz="4800" dirty="0"/>
              <a:t>2. High inspection costs</a:t>
            </a:r>
          </a:p>
          <a:p>
            <a:r>
              <a:rPr lang="en-US" sz="4800" dirty="0"/>
              <a:t>3. Limited emphasis on continuous improvement</a:t>
            </a:r>
          </a:p>
          <a:p>
            <a:r>
              <a:rPr lang="en-US" sz="4800" dirty="0"/>
              <a:t>4. Reactivity rather than proactivity</a:t>
            </a:r>
          </a:p>
          <a:p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2249687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45238-0217-D959-3553-C5EFBA31A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6078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>
                <a:highlight>
                  <a:srgbClr val="FFFF00"/>
                </a:highlight>
              </a:rPr>
              <a:t>Evolution</a:t>
            </a:r>
            <a:endParaRPr lang="en-PK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5D479-9898-5DFE-2E5A-07D0EA2C9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 marL="0" indent="0">
              <a:buNone/>
            </a:pPr>
            <a:endParaRPr lang="en-US" sz="9800" dirty="0"/>
          </a:p>
          <a:p>
            <a:r>
              <a:rPr lang="en-US" sz="9800" dirty="0"/>
              <a:t>The Mass Production and Inspection Quality Paradigm has evolved into more advanced quality paradigms, such as:</a:t>
            </a:r>
            <a:br>
              <a:rPr lang="en-US" sz="9800" dirty="0"/>
            </a:br>
            <a:endParaRPr lang="en-US" sz="9800" dirty="0"/>
          </a:p>
          <a:p>
            <a:r>
              <a:rPr lang="en-US" sz="9800" dirty="0"/>
              <a:t>1. Total Quality Management (TQM)</a:t>
            </a:r>
          </a:p>
          <a:p>
            <a:r>
              <a:rPr lang="en-US" sz="9800" dirty="0"/>
              <a:t>2. Lean</a:t>
            </a:r>
          </a:p>
          <a:p>
            <a:r>
              <a:rPr lang="en-US" sz="9800" dirty="0"/>
              <a:t>3. Six Sigma</a:t>
            </a:r>
          </a:p>
          <a:p>
            <a:r>
              <a:rPr lang="en-US" sz="9800" dirty="0"/>
              <a:t>4. Customer-Centric Quality</a:t>
            </a:r>
          </a:p>
          <a:p>
            <a:pPr marL="0" indent="0">
              <a:buNone/>
            </a:pPr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717665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1A088-E484-4AE8-9469-29ED9706C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776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>
                <a:highlight>
                  <a:srgbClr val="FFFF00"/>
                </a:highlight>
              </a:rPr>
              <a:t>Industry Applications</a:t>
            </a:r>
            <a:endParaRPr lang="en-PK" sz="6000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21407-F39D-AEA1-237E-C4B5EC71C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6000" dirty="0"/>
              <a:t>1. Manufacturing (e.g., automotive, aerospace)</a:t>
            </a:r>
          </a:p>
          <a:p>
            <a:r>
              <a:rPr lang="en-US" sz="6000" dirty="0"/>
              <a:t>2. Assembly-line production</a:t>
            </a:r>
          </a:p>
          <a:p>
            <a:r>
              <a:rPr lang="en-US" sz="6000" dirty="0"/>
              <a:t>3. High-volume production</a:t>
            </a:r>
          </a:p>
          <a:p>
            <a:pPr marL="0" indent="0">
              <a:buNone/>
            </a:pPr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9509393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4EA69-80B4-EB47-7394-4EF80A615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201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>
                <a:highlight>
                  <a:srgbClr val="FFFF00"/>
                </a:highlight>
              </a:rPr>
              <a:t>Best Practices</a:t>
            </a:r>
            <a:endParaRPr lang="en-PK" sz="6000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14312-E560-B19B-A4C8-53B1BB879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5200" dirty="0"/>
              <a:t>1. Implement statistical process control</a:t>
            </a:r>
          </a:p>
          <a:p>
            <a:r>
              <a:rPr lang="en-US" sz="5200" dirty="0"/>
              <a:t>2. Conduct regular inspections and testing</a:t>
            </a:r>
          </a:p>
          <a:p>
            <a:r>
              <a:rPr lang="en-US" sz="5200" dirty="0"/>
              <a:t>3. Analyze and address defects</a:t>
            </a:r>
          </a:p>
          <a:p>
            <a:r>
              <a:rPr lang="en-US" sz="5200" dirty="0"/>
              <a:t>4. Continuously train and educate employees</a:t>
            </a:r>
          </a:p>
          <a:p>
            <a:r>
              <a:rPr lang="en-US" sz="5200" dirty="0"/>
              <a:t>5. Monitor and adjust processes</a:t>
            </a:r>
          </a:p>
          <a:p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3031012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23379-ECCA-883E-ADDE-CAD774A61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6000" b="1" dirty="0">
                <a:highlight>
                  <a:srgbClr val="FFFF00"/>
                </a:highlight>
              </a:rPr>
              <a:t>Notable Models</a:t>
            </a:r>
            <a:endParaRPr lang="en-PK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828113-8C74-4F4E-BF5D-7080922968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6500" dirty="0"/>
              <a:t>1. Ford's Assembly-Line Production</a:t>
            </a:r>
          </a:p>
          <a:p>
            <a:r>
              <a:rPr lang="en-US" sz="6500" dirty="0"/>
              <a:t>2. Taylor's Scientific Management</a:t>
            </a:r>
          </a:p>
          <a:p>
            <a:r>
              <a:rPr lang="en-US" sz="6500" dirty="0"/>
              <a:t>3. Shewhart's Statistical Quality Control</a:t>
            </a:r>
          </a:p>
          <a:p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149641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536</Words>
  <Application>Microsoft Office PowerPoint</Application>
  <PresentationFormat>Widescreen</PresentationFormat>
  <Paragraphs>104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The Mass Production and Inspection QualityParadigm </vt:lpstr>
      <vt:lpstr>Quality Control Methods</vt:lpstr>
      <vt:lpstr>Quality Metrics</vt:lpstr>
      <vt:lpstr>Tools and Techniques</vt:lpstr>
      <vt:lpstr>Limitations</vt:lpstr>
      <vt:lpstr>Evolution</vt:lpstr>
      <vt:lpstr>Industry Applications</vt:lpstr>
      <vt:lpstr>Key Characteristics</vt:lpstr>
      <vt:lpstr>Quality Control Methods</vt:lpstr>
      <vt:lpstr>Quality Metrics</vt:lpstr>
      <vt:lpstr>Tools and Techniques</vt:lpstr>
      <vt:lpstr>Limitations</vt:lpstr>
      <vt:lpstr>Evolution</vt:lpstr>
      <vt:lpstr>Industry Applications</vt:lpstr>
      <vt:lpstr>Best Practices</vt:lpstr>
      <vt:lpstr>Notable Models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ColSial</dc:creator>
  <cp:lastModifiedBy>ColSial</cp:lastModifiedBy>
  <cp:revision>32</cp:revision>
  <dcterms:created xsi:type="dcterms:W3CDTF">2024-09-24T05:30:53Z</dcterms:created>
  <dcterms:modified xsi:type="dcterms:W3CDTF">2024-09-24T14:06:38Z</dcterms:modified>
</cp:coreProperties>
</file>