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9" r:id="rId4"/>
    <p:sldId id="258" r:id="rId5"/>
    <p:sldId id="260" r:id="rId6"/>
    <p:sldId id="261" r:id="rId7"/>
    <p:sldId id="262" r:id="rId8"/>
    <p:sldId id="263" r:id="rId9"/>
    <p:sldId id="264" r:id="rId10"/>
    <p:sldId id="265" r:id="rId11"/>
    <p:sldId id="269" r:id="rId12"/>
    <p:sldId id="270" r:id="rId13"/>
    <p:sldId id="271" r:id="rId14"/>
    <p:sldId id="272" r:id="rId15"/>
    <p:sldId id="266" r:id="rId16"/>
    <p:sldId id="26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118" autoAdjust="0"/>
    <p:restoredTop sz="94660"/>
  </p:normalViewPr>
  <p:slideViewPr>
    <p:cSldViewPr snapToGrid="0">
      <p:cViewPr varScale="1">
        <p:scale>
          <a:sx n="67" d="100"/>
          <a:sy n="67" d="100"/>
        </p:scale>
        <p:origin x="-900" y="-9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96A08C-E0B8-42C5-BF57-1B2EC25A4BAA}" type="datetimeFigureOut">
              <a:rPr lang="en-US" smtClean="0"/>
              <a:pPr/>
              <a:t>11/22/2024</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3A626AC5-6804-4055-862A-84F626574FDB}" type="slidenum">
              <a:rPr lang="en-US" smtClean="0"/>
              <a:pPr/>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2948468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96A08C-E0B8-42C5-BF57-1B2EC25A4BAA}"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626AC5-6804-4055-862A-84F626574FDB}" type="slidenum">
              <a:rPr lang="en-US" smtClean="0"/>
              <a:pPr/>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2785962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96A08C-E0B8-42C5-BF57-1B2EC25A4BAA}"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626AC5-6804-4055-862A-84F626574FDB}" type="slidenum">
              <a:rPr lang="en-US" smtClean="0"/>
              <a:pPr/>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4247950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96A08C-E0B8-42C5-BF57-1B2EC25A4BAA}"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626AC5-6804-4055-862A-84F626574FDB}" type="slidenum">
              <a:rPr lang="en-US" smtClean="0"/>
              <a:pPr/>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1158548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96A08C-E0B8-42C5-BF57-1B2EC25A4BAA}" type="datetimeFigureOut">
              <a:rPr lang="en-US" smtClean="0"/>
              <a:pPr/>
              <a:t>11/22/2024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626AC5-6804-4055-862A-84F626574FDB}" type="slidenum">
              <a:rPr lang="en-US" smtClean="0"/>
              <a:pPr/>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3335513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96A08C-E0B8-42C5-BF57-1B2EC25A4BAA}" type="datetimeFigureOut">
              <a:rPr lang="en-US" smtClean="0"/>
              <a:pPr/>
              <a:t>11/22/2024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626AC5-6804-4055-862A-84F626574FDB}" type="slidenum">
              <a:rPr lang="en-US" smtClean="0"/>
              <a:pPr/>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1685345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96A08C-E0B8-42C5-BF57-1B2EC25A4BAA}" type="datetimeFigureOut">
              <a:rPr lang="en-US" smtClean="0"/>
              <a:pPr/>
              <a:t>11/22/2024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626AC5-6804-4055-862A-84F626574FDB}" type="slidenum">
              <a:rPr lang="en-US" smtClean="0"/>
              <a:pPr/>
              <a:t>‹#›</a:t>
            </a:fld>
            <a:endParaRPr lang="en-US"/>
          </a:p>
        </p:txBody>
      </p:sp>
    </p:spTree>
    <p:extLst>
      <p:ext uri="{BB962C8B-B14F-4D97-AF65-F5344CB8AC3E}">
        <p14:creationId xmlns="" xmlns:p14="http://schemas.microsoft.com/office/powerpoint/2010/main" val="1393288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96A08C-E0B8-42C5-BF57-1B2EC25A4BAA}" type="datetimeFigureOut">
              <a:rPr lang="en-US" smtClean="0"/>
              <a:pPr/>
              <a:t>11/22/2024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626AC5-6804-4055-862A-84F626574FDB}" type="slidenum">
              <a:rPr lang="en-US" smtClean="0"/>
              <a:pPr/>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1897506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AC96A08C-E0B8-42C5-BF57-1B2EC25A4BAA}" type="datetimeFigureOut">
              <a:rPr lang="en-US" smtClean="0"/>
              <a:pPr/>
              <a:t>11/22/2024</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3A626AC5-6804-4055-862A-84F626574FDB}" type="slidenum">
              <a:rPr lang="en-US" smtClean="0"/>
              <a:pPr/>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311099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96A08C-E0B8-42C5-BF57-1B2EC25A4BAA}"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626AC5-6804-4055-862A-84F626574FDB}" type="slidenum">
              <a:rPr lang="en-US" smtClean="0"/>
              <a:pPr/>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4197700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96A08C-E0B8-42C5-BF57-1B2EC25A4BAA}" type="datetimeFigureOut">
              <a:rPr lang="en-US" smtClean="0"/>
              <a:pPr/>
              <a:t>11/22/2024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626AC5-6804-4055-862A-84F626574FDB}" type="slidenum">
              <a:rPr lang="en-US" smtClean="0"/>
              <a:pPr/>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 xmlns:p14="http://schemas.microsoft.com/office/powerpoint/2010/main" val="1758945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C96A08C-E0B8-42C5-BF57-1B2EC25A4BAA}" type="datetimeFigureOut">
              <a:rPr lang="en-US" smtClean="0"/>
              <a:pPr/>
              <a:t>11/22/2024</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3A626AC5-6804-4055-862A-84F626574FDB}" type="slidenum">
              <a:rPr lang="en-US" smtClean="0"/>
              <a:pPr/>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78615394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6C8ADB6-97DE-4176-B9BA-F01D862FA3D3}"/>
              </a:ext>
            </a:extLst>
          </p:cNvPr>
          <p:cNvSpPr>
            <a:spLocks noGrp="1"/>
          </p:cNvSpPr>
          <p:nvPr>
            <p:ph type="ctrTitle"/>
          </p:nvPr>
        </p:nvSpPr>
        <p:spPr>
          <a:xfrm>
            <a:off x="2408254" y="811823"/>
            <a:ext cx="8637073" cy="3598252"/>
          </a:xfrm>
        </p:spPr>
        <p:txBody>
          <a:bodyPr>
            <a:normAutofit fontScale="90000"/>
          </a:bodyPr>
          <a:lstStyle/>
          <a:p>
            <a:r>
              <a:rPr lang="en-US" dirty="0"/>
              <a:t>Presentation</a:t>
            </a:r>
            <a:br>
              <a:rPr lang="en-US" dirty="0"/>
            </a:br>
            <a:r>
              <a:rPr lang="en-US" dirty="0"/>
              <a:t/>
            </a:r>
            <a:br>
              <a:rPr lang="en-US" dirty="0"/>
            </a:br>
            <a:r>
              <a:rPr lang="en-US" sz="4000" dirty="0" smtClean="0"/>
              <a:t>title</a:t>
            </a:r>
            <a:r>
              <a:rPr lang="en-US" sz="4000" dirty="0"/>
              <a:t>: 10 Strategic Operations Management </a:t>
            </a:r>
            <a:r>
              <a:rPr lang="en-US" sz="4000" dirty="0" smtClean="0"/>
              <a:t>Decisions</a:t>
            </a:r>
            <a:r>
              <a:rPr lang="en-US" dirty="0" smtClean="0"/>
              <a:t/>
            </a:r>
            <a:br>
              <a:rPr lang="en-US" dirty="0" smtClean="0"/>
            </a:br>
            <a:r>
              <a:rPr lang="en-US" dirty="0" smtClean="0"/>
              <a:t>reading: 01</a:t>
            </a:r>
            <a:endParaRPr lang="en-US" dirty="0"/>
          </a:p>
        </p:txBody>
      </p:sp>
    </p:spTree>
    <p:extLst>
      <p:ext uri="{BB962C8B-B14F-4D97-AF65-F5344CB8AC3E}">
        <p14:creationId xmlns="" xmlns:p14="http://schemas.microsoft.com/office/powerpoint/2010/main" val="3060891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D026BB-0BA9-404C-8FFD-AC226D99C918}"/>
              </a:ext>
            </a:extLst>
          </p:cNvPr>
          <p:cNvSpPr>
            <a:spLocks noGrp="1"/>
          </p:cNvSpPr>
          <p:nvPr>
            <p:ph type="title"/>
          </p:nvPr>
        </p:nvSpPr>
        <p:spPr/>
        <p:txBody>
          <a:bodyPr/>
          <a:lstStyle/>
          <a:p>
            <a:r>
              <a:rPr lang="en-US" dirty="0"/>
              <a:t>Group members</a:t>
            </a:r>
          </a:p>
        </p:txBody>
      </p:sp>
      <p:sp>
        <p:nvSpPr>
          <p:cNvPr id="3" name="Content Placeholder 2">
            <a:extLst>
              <a:ext uri="{FF2B5EF4-FFF2-40B4-BE49-F238E27FC236}">
                <a16:creationId xmlns="" xmlns:a16="http://schemas.microsoft.com/office/drawing/2014/main" id="{C6409FAC-4366-42B2-86BF-E7412096ADD6}"/>
              </a:ext>
            </a:extLst>
          </p:cNvPr>
          <p:cNvSpPr>
            <a:spLocks noGrp="1"/>
          </p:cNvSpPr>
          <p:nvPr>
            <p:ph idx="1"/>
          </p:nvPr>
        </p:nvSpPr>
        <p:spPr/>
        <p:txBody>
          <a:bodyPr>
            <a:normAutofit/>
          </a:bodyPr>
          <a:lstStyle/>
          <a:p>
            <a:r>
              <a:rPr lang="en-US" sz="3200" dirty="0"/>
              <a:t>Hasan Raza</a:t>
            </a:r>
          </a:p>
          <a:p>
            <a:r>
              <a:rPr lang="en-US" sz="3200" dirty="0"/>
              <a:t>Muhammad </a:t>
            </a:r>
            <a:r>
              <a:rPr lang="en-US" sz="3200" dirty="0" err="1"/>
              <a:t>Shahmeer</a:t>
            </a:r>
            <a:endParaRPr lang="en-US" sz="3200" dirty="0"/>
          </a:p>
          <a:p>
            <a:r>
              <a:rPr lang="en-US" sz="3200" dirty="0"/>
              <a:t>Hammad Ahmed</a:t>
            </a:r>
          </a:p>
        </p:txBody>
      </p:sp>
    </p:spTree>
    <p:extLst>
      <p:ext uri="{BB962C8B-B14F-4D97-AF65-F5344CB8AC3E}">
        <p14:creationId xmlns="" xmlns:p14="http://schemas.microsoft.com/office/powerpoint/2010/main" val="4027366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021568-35D2-4C72-AE12-AA55311176B0}"/>
              </a:ext>
            </a:extLst>
          </p:cNvPr>
          <p:cNvSpPr>
            <a:spLocks noGrp="1"/>
          </p:cNvSpPr>
          <p:nvPr>
            <p:ph type="title"/>
          </p:nvPr>
        </p:nvSpPr>
        <p:spPr>
          <a:xfrm>
            <a:off x="1451579" y="867037"/>
            <a:ext cx="9603275" cy="1049235"/>
          </a:xfrm>
        </p:spPr>
        <p:txBody>
          <a:bodyPr>
            <a:normAutofit/>
          </a:bodyPr>
          <a:lstStyle/>
          <a:p>
            <a:r>
              <a:rPr lang="en-US" sz="2800" dirty="0"/>
              <a:t>Introduction:</a:t>
            </a:r>
          </a:p>
        </p:txBody>
      </p:sp>
      <p:sp>
        <p:nvSpPr>
          <p:cNvPr id="3" name="Content Placeholder 2">
            <a:extLst>
              <a:ext uri="{FF2B5EF4-FFF2-40B4-BE49-F238E27FC236}">
                <a16:creationId xmlns="" xmlns:a16="http://schemas.microsoft.com/office/drawing/2014/main" id="{BBEAD0F0-6A3C-4A42-BF4D-2E92667C3338}"/>
              </a:ext>
            </a:extLst>
          </p:cNvPr>
          <p:cNvSpPr>
            <a:spLocks noGrp="1"/>
          </p:cNvSpPr>
          <p:nvPr>
            <p:ph idx="1"/>
          </p:nvPr>
        </p:nvSpPr>
        <p:spPr>
          <a:xfrm>
            <a:off x="1451579" y="1843088"/>
            <a:ext cx="9603275" cy="4086225"/>
          </a:xfrm>
        </p:spPr>
        <p:txBody>
          <a:bodyPr>
            <a:normAutofit fontScale="70000" lnSpcReduction="20000"/>
          </a:bodyPr>
          <a:lstStyle/>
          <a:p>
            <a:r>
              <a:rPr lang="en-US" sz="3400" dirty="0"/>
              <a:t>What is Operations Management?</a:t>
            </a:r>
          </a:p>
          <a:p>
            <a:pPr marL="0" indent="0">
              <a:buNone/>
            </a:pPr>
            <a:r>
              <a:rPr lang="en-US" sz="3400" dirty="0"/>
              <a:t>	Managing processes to create goods and services efficiently.</a:t>
            </a:r>
          </a:p>
          <a:p>
            <a:r>
              <a:rPr lang="en-US" sz="3400" dirty="0"/>
              <a:t>Importance of the 10 Strategic Decisions</a:t>
            </a:r>
          </a:p>
          <a:p>
            <a:pPr marL="0" indent="0">
              <a:buNone/>
            </a:pPr>
            <a:r>
              <a:rPr lang="en-US" sz="3400" dirty="0"/>
              <a:t>	</a:t>
            </a:r>
            <a:r>
              <a:rPr lang="en-US" sz="3400" dirty="0" err="1"/>
              <a:t>i</a:t>
            </a:r>
            <a:r>
              <a:rPr lang="en-US" sz="3400" dirty="0"/>
              <a:t>- Framework for improving efficiency and adaptability.</a:t>
            </a:r>
          </a:p>
          <a:p>
            <a:pPr marL="0" indent="0">
              <a:buNone/>
            </a:pPr>
            <a:r>
              <a:rPr lang="en-US" sz="3400" dirty="0"/>
              <a:t>	ii- Ensures consistency in costs, quality, and resource management.</a:t>
            </a:r>
          </a:p>
          <a:p>
            <a:pPr marL="0" indent="0">
              <a:buNone/>
            </a:pPr>
            <a:r>
              <a:rPr lang="en-US" sz="3400" dirty="0"/>
              <a:t>	iii- Helps organizations align operations with long-term goals.</a:t>
            </a:r>
          </a:p>
          <a:p>
            <a:r>
              <a:rPr lang="en-US" sz="3400" dirty="0"/>
              <a:t>In 2008, Ford utilized these strategies to improve flexibility, survive the financial crisis, and avoid government bailouts</a:t>
            </a:r>
            <a:r>
              <a:rPr lang="en-US" sz="2400" dirty="0"/>
              <a:t>.</a:t>
            </a:r>
          </a:p>
        </p:txBody>
      </p:sp>
    </p:spTree>
    <p:extLst>
      <p:ext uri="{BB962C8B-B14F-4D97-AF65-F5344CB8AC3E}">
        <p14:creationId xmlns="" xmlns:p14="http://schemas.microsoft.com/office/powerpoint/2010/main" val="803701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4D6246A-B0EF-4ED6-87B0-656A6259C8E6}"/>
              </a:ext>
            </a:extLst>
          </p:cNvPr>
          <p:cNvSpPr>
            <a:spLocks noGrp="1"/>
          </p:cNvSpPr>
          <p:nvPr>
            <p:ph type="title"/>
          </p:nvPr>
        </p:nvSpPr>
        <p:spPr>
          <a:xfrm>
            <a:off x="1451579" y="804520"/>
            <a:ext cx="9603275" cy="824256"/>
          </a:xfrm>
        </p:spPr>
        <p:txBody>
          <a:bodyPr/>
          <a:lstStyle/>
          <a:p>
            <a:r>
              <a:rPr lang="en-US" dirty="0"/>
              <a:t>Goods and Services:</a:t>
            </a:r>
          </a:p>
        </p:txBody>
      </p:sp>
      <p:sp>
        <p:nvSpPr>
          <p:cNvPr id="3" name="Content Placeholder 2">
            <a:extLst>
              <a:ext uri="{FF2B5EF4-FFF2-40B4-BE49-F238E27FC236}">
                <a16:creationId xmlns="" xmlns:a16="http://schemas.microsoft.com/office/drawing/2014/main" id="{8DD03C8E-33A7-4712-A6DD-EFC30A8A6051}"/>
              </a:ext>
            </a:extLst>
          </p:cNvPr>
          <p:cNvSpPr>
            <a:spLocks noGrp="1"/>
          </p:cNvSpPr>
          <p:nvPr>
            <p:ph idx="1"/>
          </p:nvPr>
        </p:nvSpPr>
        <p:spPr>
          <a:xfrm>
            <a:off x="1451579" y="1853754"/>
            <a:ext cx="9603275" cy="4432746"/>
          </a:xfrm>
        </p:spPr>
        <p:txBody>
          <a:bodyPr>
            <a:normAutofit fontScale="92500" lnSpcReduction="20000"/>
          </a:bodyPr>
          <a:lstStyle/>
          <a:p>
            <a:r>
              <a:rPr lang="en-US" sz="2400" b="1" dirty="0"/>
              <a:t>Definition:</a:t>
            </a:r>
          </a:p>
          <a:p>
            <a:pPr marL="0" indent="0">
              <a:buNone/>
            </a:pPr>
            <a:r>
              <a:rPr lang="en-US" sz="2400" dirty="0"/>
              <a:t>	</a:t>
            </a:r>
            <a:r>
              <a:rPr lang="en-US" sz="2600" dirty="0"/>
              <a:t>Focuses on ensuring consistency in costs, quality, and resources across all business divisions.</a:t>
            </a:r>
          </a:p>
          <a:p>
            <a:r>
              <a:rPr lang="en-US" sz="2600" b="1" dirty="0"/>
              <a:t>Importance:</a:t>
            </a:r>
          </a:p>
          <a:p>
            <a:pPr marL="0" indent="0">
              <a:buNone/>
            </a:pPr>
            <a:r>
              <a:rPr lang="en-US" sz="2600" dirty="0"/>
              <a:t>	Maintains product and service standards.</a:t>
            </a:r>
          </a:p>
          <a:p>
            <a:pPr marL="0" indent="0">
              <a:buNone/>
            </a:pPr>
            <a:r>
              <a:rPr lang="en-US" sz="2600" dirty="0"/>
              <a:t>	Builds customer trust and satisfaction</a:t>
            </a:r>
            <a:r>
              <a:rPr lang="en-US" sz="2600" dirty="0" smtClean="0"/>
              <a:t>.</a:t>
            </a:r>
          </a:p>
          <a:p>
            <a:pPr marL="0" indent="0"/>
            <a:r>
              <a:rPr lang="en-US" sz="2600" dirty="0" smtClean="0"/>
              <a:t> This </a:t>
            </a:r>
            <a:r>
              <a:rPr lang="en-US" sz="2600" dirty="0" smtClean="0"/>
              <a:t>decision involves determining what goods or services to produce and ensuring their consistency in quality, cost, and resources. For instance, Toyota maintains its reputation for reliability by testing every component during production, ensuring high-quality standards.</a:t>
            </a:r>
            <a:endParaRPr lang="en-US" sz="2600" dirty="0"/>
          </a:p>
        </p:txBody>
      </p:sp>
    </p:spTree>
    <p:extLst>
      <p:ext uri="{BB962C8B-B14F-4D97-AF65-F5344CB8AC3E}">
        <p14:creationId xmlns="" xmlns:p14="http://schemas.microsoft.com/office/powerpoint/2010/main" val="1749279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E3B1B08-43EF-46BF-9953-D6D3EAADC33C}"/>
              </a:ext>
            </a:extLst>
          </p:cNvPr>
          <p:cNvSpPr>
            <a:spLocks noGrp="1"/>
          </p:cNvSpPr>
          <p:nvPr>
            <p:ph type="title"/>
          </p:nvPr>
        </p:nvSpPr>
        <p:spPr/>
        <p:txBody>
          <a:bodyPr/>
          <a:lstStyle/>
          <a:p>
            <a:r>
              <a:rPr lang="en-US" dirty="0"/>
              <a:t>Quality Management:</a:t>
            </a:r>
          </a:p>
        </p:txBody>
      </p:sp>
      <p:sp>
        <p:nvSpPr>
          <p:cNvPr id="3" name="Content Placeholder 2">
            <a:extLst>
              <a:ext uri="{FF2B5EF4-FFF2-40B4-BE49-F238E27FC236}">
                <a16:creationId xmlns="" xmlns:a16="http://schemas.microsoft.com/office/drawing/2014/main" id="{B667A29C-B1FB-4918-8156-73E2048E6183}"/>
              </a:ext>
            </a:extLst>
          </p:cNvPr>
          <p:cNvSpPr>
            <a:spLocks noGrp="1"/>
          </p:cNvSpPr>
          <p:nvPr>
            <p:ph idx="1"/>
          </p:nvPr>
        </p:nvSpPr>
        <p:spPr/>
        <p:txBody>
          <a:bodyPr>
            <a:normAutofit fontScale="92500" lnSpcReduction="20000"/>
          </a:bodyPr>
          <a:lstStyle/>
          <a:p>
            <a:r>
              <a:rPr lang="en-US" sz="2800" dirty="0"/>
              <a:t>Ensuring products and services meet customer expectations</a:t>
            </a:r>
            <a:r>
              <a:rPr lang="en-US" sz="2800" dirty="0" smtClean="0"/>
              <a:t>.</a:t>
            </a:r>
            <a:endParaRPr lang="en-US" sz="2800" dirty="0"/>
          </a:p>
          <a:p>
            <a:r>
              <a:rPr lang="en-US" sz="2800" dirty="0"/>
              <a:t>Identifying customer demands through market research</a:t>
            </a:r>
            <a:r>
              <a:rPr lang="en-US" sz="2800" b="1" dirty="0" smtClean="0"/>
              <a:t>.</a:t>
            </a:r>
          </a:p>
          <a:p>
            <a:r>
              <a:rPr lang="en-US" sz="2800" dirty="0" smtClean="0"/>
              <a:t>Quality management ensures products and services meet customer expectations. </a:t>
            </a:r>
            <a:endParaRPr lang="en-US" sz="2800" dirty="0" smtClean="0"/>
          </a:p>
          <a:p>
            <a:r>
              <a:rPr lang="en-US" sz="2800" dirty="0" smtClean="0"/>
              <a:t>Google</a:t>
            </a:r>
            <a:r>
              <a:rPr lang="en-US" sz="2800" dirty="0" smtClean="0"/>
              <a:t>, for example, uses continuous updates and small-scale testing to maintain the quality of services like Gmail and Google Search, ensuring customer satisfaction.</a:t>
            </a:r>
            <a:endParaRPr lang="en-US" sz="2800" dirty="0"/>
          </a:p>
        </p:txBody>
      </p:sp>
    </p:spTree>
    <p:extLst>
      <p:ext uri="{BB962C8B-B14F-4D97-AF65-F5344CB8AC3E}">
        <p14:creationId xmlns="" xmlns:p14="http://schemas.microsoft.com/office/powerpoint/2010/main" val="3602839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79DABB4-183D-4FFF-8E9C-90B6FA14334F}"/>
              </a:ext>
            </a:extLst>
          </p:cNvPr>
          <p:cNvSpPr>
            <a:spLocks noGrp="1"/>
          </p:cNvSpPr>
          <p:nvPr>
            <p:ph type="title"/>
          </p:nvPr>
        </p:nvSpPr>
        <p:spPr>
          <a:xfrm>
            <a:off x="1537303" y="920973"/>
            <a:ext cx="9603275" cy="1263204"/>
          </a:xfrm>
        </p:spPr>
        <p:txBody>
          <a:bodyPr>
            <a:normAutofit/>
          </a:bodyPr>
          <a:lstStyle/>
          <a:p>
            <a:r>
              <a:rPr lang="en-US" dirty="0"/>
              <a:t> Process and Capacity Design:</a:t>
            </a:r>
          </a:p>
        </p:txBody>
      </p:sp>
      <p:sp>
        <p:nvSpPr>
          <p:cNvPr id="3" name="Content Placeholder 2">
            <a:extLst>
              <a:ext uri="{FF2B5EF4-FFF2-40B4-BE49-F238E27FC236}">
                <a16:creationId xmlns="" xmlns:a16="http://schemas.microsoft.com/office/drawing/2014/main" id="{5AC689FB-DDF6-45A9-B77F-CA3BD881D9F6}"/>
              </a:ext>
            </a:extLst>
          </p:cNvPr>
          <p:cNvSpPr>
            <a:spLocks noGrp="1"/>
          </p:cNvSpPr>
          <p:nvPr>
            <p:ph idx="1"/>
          </p:nvPr>
        </p:nvSpPr>
        <p:spPr>
          <a:xfrm>
            <a:off x="1451578" y="1855712"/>
            <a:ext cx="9603275" cy="3889768"/>
          </a:xfrm>
        </p:spPr>
        <p:txBody>
          <a:bodyPr>
            <a:noAutofit/>
          </a:bodyPr>
          <a:lstStyle/>
          <a:p>
            <a:r>
              <a:rPr lang="en-US" sz="2400" dirty="0"/>
              <a:t>Designing strategies to meet production goals efficiently</a:t>
            </a:r>
            <a:r>
              <a:rPr lang="en-US" sz="2400" dirty="0" smtClean="0"/>
              <a:t>.</a:t>
            </a:r>
            <a:endParaRPr lang="en-US" sz="2400" dirty="0"/>
          </a:p>
          <a:p>
            <a:r>
              <a:rPr lang="en-US" sz="2400" dirty="0" smtClean="0"/>
              <a:t>Utilizing </a:t>
            </a:r>
            <a:r>
              <a:rPr lang="en-US" sz="2400" dirty="0"/>
              <a:t>technology and mapping processes for optimization</a:t>
            </a:r>
            <a:r>
              <a:rPr lang="en-US" sz="2800" dirty="0" smtClean="0"/>
              <a:t>.</a:t>
            </a:r>
          </a:p>
          <a:p>
            <a:r>
              <a:rPr lang="en-US" sz="2400" dirty="0" smtClean="0"/>
              <a:t>This decision involves designing processes to align with production goals</a:t>
            </a:r>
            <a:r>
              <a:rPr lang="en-US" sz="2400" dirty="0" smtClean="0"/>
              <a:t>.</a:t>
            </a:r>
          </a:p>
          <a:p>
            <a:r>
              <a:rPr lang="en-US" sz="2400" dirty="0" smtClean="0"/>
              <a:t> </a:t>
            </a:r>
            <a:r>
              <a:rPr lang="en-US" sz="2400" dirty="0" smtClean="0"/>
              <a:t>For example, Jet Blue Airways reduces flight turnaround times by automating tasks like baggage handling, saving time and improving passenger experience</a:t>
            </a:r>
            <a:r>
              <a:rPr lang="en-US" sz="2800" b="1" dirty="0" smtClean="0"/>
              <a:t>.</a:t>
            </a:r>
            <a:endParaRPr lang="en-US" sz="2800" b="1" dirty="0"/>
          </a:p>
        </p:txBody>
      </p:sp>
    </p:spTree>
    <p:extLst>
      <p:ext uri="{BB962C8B-B14F-4D97-AF65-F5344CB8AC3E}">
        <p14:creationId xmlns="" xmlns:p14="http://schemas.microsoft.com/office/powerpoint/2010/main" val="616331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C9FC894-392C-4A41-A391-AEA4DA605EC2}"/>
              </a:ext>
            </a:extLst>
          </p:cNvPr>
          <p:cNvSpPr>
            <a:spLocks noGrp="1"/>
          </p:cNvSpPr>
          <p:nvPr>
            <p:ph type="title"/>
          </p:nvPr>
        </p:nvSpPr>
        <p:spPr/>
        <p:txBody>
          <a:bodyPr/>
          <a:lstStyle/>
          <a:p>
            <a:r>
              <a:rPr lang="en-US" dirty="0"/>
              <a:t>Location:</a:t>
            </a:r>
          </a:p>
        </p:txBody>
      </p:sp>
      <p:sp>
        <p:nvSpPr>
          <p:cNvPr id="3" name="Content Placeholder 2">
            <a:extLst>
              <a:ext uri="{FF2B5EF4-FFF2-40B4-BE49-F238E27FC236}">
                <a16:creationId xmlns="" xmlns:a16="http://schemas.microsoft.com/office/drawing/2014/main" id="{8BB98F17-105A-4755-B59F-C930331B3770}"/>
              </a:ext>
            </a:extLst>
          </p:cNvPr>
          <p:cNvSpPr>
            <a:spLocks noGrp="1"/>
          </p:cNvSpPr>
          <p:nvPr>
            <p:ph idx="1"/>
          </p:nvPr>
        </p:nvSpPr>
        <p:spPr/>
        <p:txBody>
          <a:bodyPr>
            <a:normAutofit lnSpcReduction="10000"/>
          </a:bodyPr>
          <a:lstStyle/>
          <a:p>
            <a:r>
              <a:rPr lang="en-US" sz="2800" dirty="0"/>
              <a:t>Selecting strategic locations for supply chain efficiency</a:t>
            </a:r>
            <a:r>
              <a:rPr lang="en-US" sz="2800" dirty="0" smtClean="0"/>
              <a:t>.</a:t>
            </a:r>
            <a:endParaRPr lang="en-US" sz="2800" dirty="0"/>
          </a:p>
          <a:p>
            <a:r>
              <a:rPr lang="en-US" sz="2800" dirty="0"/>
              <a:t>Ensuring easy access </a:t>
            </a:r>
            <a:r>
              <a:rPr lang="en-US" sz="2800" dirty="0" smtClean="0"/>
              <a:t>to </a:t>
            </a:r>
            <a:r>
              <a:rPr lang="en-US" sz="2800" dirty="0"/>
              <a:t>customers and suppliers</a:t>
            </a:r>
            <a:r>
              <a:rPr lang="en-US" sz="2800" dirty="0" smtClean="0"/>
              <a:t>.</a:t>
            </a:r>
          </a:p>
          <a:p>
            <a:r>
              <a:rPr lang="en-US" sz="2800" dirty="0" smtClean="0"/>
              <a:t>Location strategy ensures businesses can efficiently manage their supply chain and serve customers. </a:t>
            </a:r>
          </a:p>
          <a:p>
            <a:r>
              <a:rPr lang="en-US" sz="2800" dirty="0" smtClean="0"/>
              <a:t>For example, Ford strategically places factories globally to reduce shipping costs and meet local demands</a:t>
            </a:r>
          </a:p>
          <a:p>
            <a:endParaRPr lang="en-US" sz="2800" dirty="0" smtClean="0"/>
          </a:p>
        </p:txBody>
      </p:sp>
    </p:spTree>
    <p:extLst>
      <p:ext uri="{BB962C8B-B14F-4D97-AF65-F5344CB8AC3E}">
        <p14:creationId xmlns="" xmlns:p14="http://schemas.microsoft.com/office/powerpoint/2010/main" val="2643857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29EBE79-174C-4D12-A108-D3E31F64D3DB}"/>
              </a:ext>
            </a:extLst>
          </p:cNvPr>
          <p:cNvSpPr>
            <a:spLocks noGrp="1"/>
          </p:cNvSpPr>
          <p:nvPr>
            <p:ph type="title"/>
          </p:nvPr>
        </p:nvSpPr>
        <p:spPr/>
        <p:txBody>
          <a:bodyPr/>
          <a:lstStyle/>
          <a:p>
            <a:r>
              <a:rPr lang="en-US" dirty="0"/>
              <a:t>Layout Design and Strategy:</a:t>
            </a:r>
          </a:p>
        </p:txBody>
      </p:sp>
      <p:sp>
        <p:nvSpPr>
          <p:cNvPr id="3" name="Content Placeholder 2">
            <a:extLst>
              <a:ext uri="{FF2B5EF4-FFF2-40B4-BE49-F238E27FC236}">
                <a16:creationId xmlns="" xmlns:a16="http://schemas.microsoft.com/office/drawing/2014/main" id="{82D48B7D-8BA1-4A54-84D3-AF6C5B681FDD}"/>
              </a:ext>
            </a:extLst>
          </p:cNvPr>
          <p:cNvSpPr>
            <a:spLocks noGrp="1"/>
          </p:cNvSpPr>
          <p:nvPr>
            <p:ph idx="1"/>
          </p:nvPr>
        </p:nvSpPr>
        <p:spPr/>
        <p:txBody>
          <a:bodyPr>
            <a:normAutofit/>
          </a:bodyPr>
          <a:lstStyle/>
          <a:p>
            <a:r>
              <a:rPr lang="en-US" sz="2800" dirty="0"/>
              <a:t>Optimizing workstation and material placement</a:t>
            </a:r>
            <a:r>
              <a:rPr lang="en-US" sz="2800" dirty="0" smtClean="0"/>
              <a:t>.</a:t>
            </a:r>
            <a:endParaRPr lang="en-US" sz="2800" dirty="0"/>
          </a:p>
          <a:p>
            <a:r>
              <a:rPr lang="en-US" sz="2800" dirty="0"/>
              <a:t>Improving operational flow and efficiency</a:t>
            </a:r>
            <a:r>
              <a:rPr lang="en-US" sz="2800" dirty="0" smtClean="0"/>
              <a:t>.</a:t>
            </a:r>
          </a:p>
          <a:p>
            <a:r>
              <a:rPr lang="en-US" sz="2800" dirty="0" smtClean="0"/>
              <a:t>This decision optimizes workspace organization for better material flow and efficiency. In automotive factories, workstations are arranged for sequential assembly, minimizing movement and saving time</a:t>
            </a:r>
          </a:p>
          <a:p>
            <a:endParaRPr lang="en-US" sz="2800" dirty="0" smtClean="0"/>
          </a:p>
        </p:txBody>
      </p:sp>
    </p:spTree>
    <p:extLst>
      <p:ext uri="{BB962C8B-B14F-4D97-AF65-F5344CB8AC3E}">
        <p14:creationId xmlns="" xmlns:p14="http://schemas.microsoft.com/office/powerpoint/2010/main" val="1090680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660621C-F300-4462-A489-EDD08694776A}"/>
              </a:ext>
            </a:extLst>
          </p:cNvPr>
          <p:cNvSpPr>
            <a:spLocks noGrp="1"/>
          </p:cNvSpPr>
          <p:nvPr>
            <p:ph type="title"/>
          </p:nvPr>
        </p:nvSpPr>
        <p:spPr/>
        <p:txBody>
          <a:bodyPr/>
          <a:lstStyle/>
          <a:p>
            <a:r>
              <a:rPr lang="en-US" dirty="0"/>
              <a:t>Human Resources and Job Design:</a:t>
            </a:r>
          </a:p>
        </p:txBody>
      </p:sp>
      <p:sp>
        <p:nvSpPr>
          <p:cNvPr id="3" name="Content Placeholder 2">
            <a:extLst>
              <a:ext uri="{FF2B5EF4-FFF2-40B4-BE49-F238E27FC236}">
                <a16:creationId xmlns="" xmlns:a16="http://schemas.microsoft.com/office/drawing/2014/main" id="{8BF990A4-3BC9-45AB-A90A-178C1B568E5D}"/>
              </a:ext>
            </a:extLst>
          </p:cNvPr>
          <p:cNvSpPr>
            <a:spLocks noGrp="1"/>
          </p:cNvSpPr>
          <p:nvPr>
            <p:ph idx="1"/>
          </p:nvPr>
        </p:nvSpPr>
        <p:spPr/>
        <p:txBody>
          <a:bodyPr>
            <a:normAutofit/>
          </a:bodyPr>
          <a:lstStyle/>
          <a:p>
            <a:r>
              <a:rPr lang="en-US" sz="2800" dirty="0"/>
              <a:t>Providing continuous employee training and satisfaction programs.</a:t>
            </a:r>
          </a:p>
          <a:p>
            <a:r>
              <a:rPr lang="en-US" sz="2800" dirty="0" smtClean="0"/>
              <a:t>Implementing </a:t>
            </a:r>
            <a:r>
              <a:rPr lang="en-US" sz="2800" dirty="0"/>
              <a:t>regular reviews and improvement initiatives</a:t>
            </a:r>
            <a:r>
              <a:rPr lang="en-US" sz="2800" dirty="0" smtClean="0"/>
              <a:t>.</a:t>
            </a:r>
          </a:p>
          <a:p>
            <a:r>
              <a:rPr lang="en-US" sz="2800" dirty="0" smtClean="0"/>
              <a:t>This decision focuses on training and motivating employees. For example, Google offers perks like flexible hours and training programs, improving employee satisfaction and productivity.</a:t>
            </a:r>
          </a:p>
          <a:p>
            <a:pPr>
              <a:buNone/>
            </a:pPr>
            <a:endParaRPr lang="en-US" sz="2800" dirty="0" smtClean="0"/>
          </a:p>
        </p:txBody>
      </p:sp>
    </p:spTree>
    <p:extLst>
      <p:ext uri="{BB962C8B-B14F-4D97-AF65-F5344CB8AC3E}">
        <p14:creationId xmlns="" xmlns:p14="http://schemas.microsoft.com/office/powerpoint/2010/main" val="3869454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C5E6FF0-538F-4F80-93D9-A5F5766470E6}"/>
              </a:ext>
            </a:extLst>
          </p:cNvPr>
          <p:cNvSpPr>
            <a:spLocks noGrp="1"/>
          </p:cNvSpPr>
          <p:nvPr>
            <p:ph idx="1"/>
          </p:nvPr>
        </p:nvSpPr>
        <p:spPr/>
        <p:txBody>
          <a:bodyPr>
            <a:normAutofit/>
          </a:bodyPr>
          <a:lstStyle/>
          <a:p>
            <a:r>
              <a:rPr lang="en-US" sz="2800" dirty="0"/>
              <a:t>Streamlining operations for cost-effectiveness</a:t>
            </a:r>
            <a:r>
              <a:rPr lang="en-US" sz="2800" dirty="0" smtClean="0"/>
              <a:t>.</a:t>
            </a:r>
            <a:endParaRPr lang="en-US" sz="2800" dirty="0"/>
          </a:p>
          <a:p>
            <a:r>
              <a:rPr lang="en-US" sz="2800" dirty="0"/>
              <a:t>Building trusted partnerships for reliable supply </a:t>
            </a:r>
            <a:r>
              <a:rPr lang="en-US" sz="2800" dirty="0" smtClean="0"/>
              <a:t>chains</a:t>
            </a:r>
          </a:p>
          <a:p>
            <a:r>
              <a:rPr lang="en-US" sz="2800" dirty="0" smtClean="0"/>
              <a:t>Supply chain management involves building strong supplier relationships. For instance, Ford ensures a reliable supply of parts by maintaining strong partnerships with its suppliers</a:t>
            </a:r>
          </a:p>
          <a:p>
            <a:pPr>
              <a:buNone/>
            </a:pPr>
            <a:endParaRPr lang="en-US" sz="2800" dirty="0" smtClean="0"/>
          </a:p>
        </p:txBody>
      </p:sp>
      <p:sp>
        <p:nvSpPr>
          <p:cNvPr id="5" name="Title 4">
            <a:extLst>
              <a:ext uri="{FF2B5EF4-FFF2-40B4-BE49-F238E27FC236}">
                <a16:creationId xmlns="" xmlns:a16="http://schemas.microsoft.com/office/drawing/2014/main" id="{6E3ED63A-C864-466A-8996-F60212516681}"/>
              </a:ext>
            </a:extLst>
          </p:cNvPr>
          <p:cNvSpPr>
            <a:spLocks noGrp="1"/>
          </p:cNvSpPr>
          <p:nvPr>
            <p:ph type="title"/>
          </p:nvPr>
        </p:nvSpPr>
        <p:spPr/>
        <p:txBody>
          <a:bodyPr/>
          <a:lstStyle/>
          <a:p>
            <a:r>
              <a:rPr lang="en-US" dirty="0"/>
              <a:t>Supply Chain Management:</a:t>
            </a:r>
          </a:p>
        </p:txBody>
      </p:sp>
    </p:spTree>
    <p:extLst>
      <p:ext uri="{BB962C8B-B14F-4D97-AF65-F5344CB8AC3E}">
        <p14:creationId xmlns="" xmlns:p14="http://schemas.microsoft.com/office/powerpoint/2010/main" val="2348403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39E6A5-62D4-40E3-9A08-0047BFBA6F3F}"/>
              </a:ext>
            </a:extLst>
          </p:cNvPr>
          <p:cNvSpPr>
            <a:spLocks noGrp="1"/>
          </p:cNvSpPr>
          <p:nvPr>
            <p:ph type="title"/>
          </p:nvPr>
        </p:nvSpPr>
        <p:spPr/>
        <p:txBody>
          <a:bodyPr/>
          <a:lstStyle/>
          <a:p>
            <a:r>
              <a:rPr lang="en-US" dirty="0"/>
              <a:t> Inventory:</a:t>
            </a:r>
          </a:p>
        </p:txBody>
      </p:sp>
      <p:sp>
        <p:nvSpPr>
          <p:cNvPr id="3" name="Content Placeholder 2">
            <a:extLst>
              <a:ext uri="{FF2B5EF4-FFF2-40B4-BE49-F238E27FC236}">
                <a16:creationId xmlns="" xmlns:a16="http://schemas.microsoft.com/office/drawing/2014/main" id="{5B29F228-B6DC-4551-A4A6-B920E8ADBA35}"/>
              </a:ext>
            </a:extLst>
          </p:cNvPr>
          <p:cNvSpPr>
            <a:spLocks noGrp="1"/>
          </p:cNvSpPr>
          <p:nvPr>
            <p:ph idx="1"/>
          </p:nvPr>
        </p:nvSpPr>
        <p:spPr/>
        <p:txBody>
          <a:bodyPr>
            <a:normAutofit/>
          </a:bodyPr>
          <a:lstStyle/>
          <a:p>
            <a:r>
              <a:rPr lang="en-US" sz="2800" dirty="0"/>
              <a:t>Strategizing inventory control to handle market challenges</a:t>
            </a:r>
            <a:r>
              <a:rPr lang="en-US" sz="2800" dirty="0" smtClean="0"/>
              <a:t>.</a:t>
            </a:r>
            <a:endParaRPr lang="en-US" sz="2800" dirty="0"/>
          </a:p>
          <a:p>
            <a:r>
              <a:rPr lang="en-US" sz="2800" dirty="0"/>
              <a:t>Addressing factors like weather, supply shortages, and labor issues</a:t>
            </a:r>
            <a:r>
              <a:rPr lang="en-US" sz="2800" dirty="0" smtClean="0"/>
              <a:t>.</a:t>
            </a:r>
          </a:p>
          <a:p>
            <a:r>
              <a:rPr lang="en-US" sz="2800" dirty="0" smtClean="0"/>
              <a:t>Inventory management ensures the right stock levels. For example, Toyota uses Just-in-Time (JIT) systems, reducing storage costs by delivering parts only when needed</a:t>
            </a:r>
            <a:r>
              <a:rPr lang="en-US" sz="2800" b="1" dirty="0" smtClean="0"/>
              <a:t>.</a:t>
            </a:r>
          </a:p>
          <a:p>
            <a:endParaRPr lang="en-US" sz="2800" dirty="0" smtClean="0"/>
          </a:p>
        </p:txBody>
      </p:sp>
    </p:spTree>
    <p:extLst>
      <p:ext uri="{BB962C8B-B14F-4D97-AF65-F5344CB8AC3E}">
        <p14:creationId xmlns="" xmlns:p14="http://schemas.microsoft.com/office/powerpoint/2010/main" val="737001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E1E105-23F1-47D1-979E-7D350271070B}"/>
              </a:ext>
            </a:extLst>
          </p:cNvPr>
          <p:cNvSpPr>
            <a:spLocks noGrp="1"/>
          </p:cNvSpPr>
          <p:nvPr>
            <p:ph type="title"/>
          </p:nvPr>
        </p:nvSpPr>
        <p:spPr/>
        <p:txBody>
          <a:bodyPr/>
          <a:lstStyle/>
          <a:p>
            <a:r>
              <a:rPr lang="en-US" dirty="0"/>
              <a:t>Scheduling:</a:t>
            </a:r>
          </a:p>
        </p:txBody>
      </p:sp>
      <p:sp>
        <p:nvSpPr>
          <p:cNvPr id="3" name="Content Placeholder 2">
            <a:extLst>
              <a:ext uri="{FF2B5EF4-FFF2-40B4-BE49-F238E27FC236}">
                <a16:creationId xmlns="" xmlns:a16="http://schemas.microsoft.com/office/drawing/2014/main" id="{D3AF222D-17BF-4F28-A151-48A766F50120}"/>
              </a:ext>
            </a:extLst>
          </p:cNvPr>
          <p:cNvSpPr>
            <a:spLocks noGrp="1"/>
          </p:cNvSpPr>
          <p:nvPr>
            <p:ph idx="1"/>
          </p:nvPr>
        </p:nvSpPr>
        <p:spPr/>
        <p:txBody>
          <a:bodyPr>
            <a:normAutofit/>
          </a:bodyPr>
          <a:lstStyle/>
          <a:p>
            <a:r>
              <a:rPr lang="en-US" sz="2800" dirty="0"/>
              <a:t>Balancing production and workforce requirements</a:t>
            </a:r>
            <a:r>
              <a:rPr lang="en-US" sz="2800" dirty="0" smtClean="0"/>
              <a:t>.</a:t>
            </a:r>
            <a:endParaRPr lang="en-US" sz="2800" dirty="0"/>
          </a:p>
          <a:p>
            <a:r>
              <a:rPr lang="en-US" sz="2800" dirty="0" smtClean="0"/>
              <a:t>Ensuring </a:t>
            </a:r>
            <a:r>
              <a:rPr lang="en-US" sz="2800" dirty="0"/>
              <a:t>efficient allocation of resources and </a:t>
            </a:r>
            <a:r>
              <a:rPr lang="en-US" sz="2800" dirty="0" smtClean="0"/>
              <a:t>time</a:t>
            </a:r>
          </a:p>
          <a:p>
            <a:r>
              <a:rPr lang="en-US" sz="2800" dirty="0" smtClean="0"/>
              <a:t>Scheduling balances production tasks and personnel availability. </a:t>
            </a:r>
            <a:endParaRPr lang="en-US" sz="2800" dirty="0" smtClean="0"/>
          </a:p>
          <a:p>
            <a:r>
              <a:rPr lang="en-US" sz="2800" dirty="0" smtClean="0"/>
              <a:t>For </a:t>
            </a:r>
            <a:r>
              <a:rPr lang="en-US" sz="2800" dirty="0" smtClean="0"/>
              <a:t>example, hospitals schedule doctors for peak hours, while offices plan staff tasks around project deadlines</a:t>
            </a:r>
          </a:p>
          <a:p>
            <a:pPr>
              <a:buNone/>
            </a:pPr>
            <a:endParaRPr lang="en-US" sz="2800" dirty="0" smtClean="0"/>
          </a:p>
        </p:txBody>
      </p:sp>
    </p:spTree>
    <p:extLst>
      <p:ext uri="{BB962C8B-B14F-4D97-AF65-F5344CB8AC3E}">
        <p14:creationId xmlns="" xmlns:p14="http://schemas.microsoft.com/office/powerpoint/2010/main" val="4167722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AF34C7-B677-421B-AD62-15FA0906193D}"/>
              </a:ext>
            </a:extLst>
          </p:cNvPr>
          <p:cNvSpPr>
            <a:spLocks noGrp="1"/>
          </p:cNvSpPr>
          <p:nvPr>
            <p:ph type="title"/>
          </p:nvPr>
        </p:nvSpPr>
        <p:spPr/>
        <p:txBody>
          <a:bodyPr/>
          <a:lstStyle/>
          <a:p>
            <a:r>
              <a:rPr lang="en-US" dirty="0"/>
              <a:t>Maintenance:</a:t>
            </a:r>
          </a:p>
        </p:txBody>
      </p:sp>
      <p:sp>
        <p:nvSpPr>
          <p:cNvPr id="3" name="Content Placeholder 2">
            <a:extLst>
              <a:ext uri="{FF2B5EF4-FFF2-40B4-BE49-F238E27FC236}">
                <a16:creationId xmlns="" xmlns:a16="http://schemas.microsoft.com/office/drawing/2014/main" id="{0083DF88-7380-4BE6-99DB-D86F1FC1E692}"/>
              </a:ext>
            </a:extLst>
          </p:cNvPr>
          <p:cNvSpPr>
            <a:spLocks noGrp="1"/>
          </p:cNvSpPr>
          <p:nvPr>
            <p:ph idx="1"/>
          </p:nvPr>
        </p:nvSpPr>
        <p:spPr/>
        <p:txBody>
          <a:bodyPr>
            <a:normAutofit/>
          </a:bodyPr>
          <a:lstStyle/>
          <a:p>
            <a:r>
              <a:rPr lang="en-US" sz="2800" dirty="0"/>
              <a:t>Maintaining quality and reliability of processes and resources.</a:t>
            </a:r>
          </a:p>
          <a:p>
            <a:r>
              <a:rPr lang="en-US" sz="2800" dirty="0" smtClean="0"/>
              <a:t>Focusing </a:t>
            </a:r>
            <a:r>
              <a:rPr lang="en-US" sz="2800" dirty="0"/>
              <a:t>on preventive measures for people, machines, and systems</a:t>
            </a:r>
            <a:r>
              <a:rPr lang="en-US" sz="2800" b="1" dirty="0" smtClean="0"/>
              <a:t>.</a:t>
            </a:r>
          </a:p>
          <a:p>
            <a:r>
              <a:rPr lang="en-US" sz="2800" dirty="0" smtClean="0"/>
              <a:t>Maintenance ensures the smooth functioning of machines and processes. Factories, for instance, schedule regular equipment checks to prevent breakdowns and avoid delays</a:t>
            </a:r>
          </a:p>
          <a:p>
            <a:endParaRPr lang="en-US" sz="2800" b="1" dirty="0" smtClean="0"/>
          </a:p>
        </p:txBody>
      </p:sp>
    </p:spTree>
    <p:extLst>
      <p:ext uri="{BB962C8B-B14F-4D97-AF65-F5344CB8AC3E}">
        <p14:creationId xmlns="" xmlns:p14="http://schemas.microsoft.com/office/powerpoint/2010/main" val="784040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AF34C7-B677-421B-AD62-15FA0906193D}"/>
              </a:ext>
            </a:extLst>
          </p:cNvPr>
          <p:cNvSpPr>
            <a:spLocks noGrp="1"/>
          </p:cNvSpPr>
          <p:nvPr>
            <p:ph type="title"/>
          </p:nvPr>
        </p:nvSpPr>
        <p:spPr/>
        <p:txBody>
          <a:bodyPr/>
          <a:lstStyle/>
          <a:p>
            <a:r>
              <a:rPr lang="en-US" dirty="0" smtClean="0"/>
              <a:t>CONCLUSION</a:t>
            </a:r>
            <a:endParaRPr lang="en-US" dirty="0"/>
          </a:p>
        </p:txBody>
      </p:sp>
      <p:sp>
        <p:nvSpPr>
          <p:cNvPr id="3" name="Content Placeholder 2">
            <a:extLst>
              <a:ext uri="{FF2B5EF4-FFF2-40B4-BE49-F238E27FC236}">
                <a16:creationId xmlns="" xmlns:a16="http://schemas.microsoft.com/office/drawing/2014/main" id="{0083DF88-7380-4BE6-99DB-D86F1FC1E692}"/>
              </a:ext>
            </a:extLst>
          </p:cNvPr>
          <p:cNvSpPr>
            <a:spLocks noGrp="1"/>
          </p:cNvSpPr>
          <p:nvPr>
            <p:ph idx="1"/>
          </p:nvPr>
        </p:nvSpPr>
        <p:spPr/>
        <p:txBody>
          <a:bodyPr>
            <a:normAutofit/>
          </a:bodyPr>
          <a:lstStyle/>
          <a:p>
            <a:r>
              <a:rPr lang="en-US" sz="2800" dirty="0" smtClean="0"/>
              <a:t>The 10 strategic operations management decisions help businesses improve efficiency, quality, and adaptability. Applying these principles allows companies to achieve long-term success across industries.</a:t>
            </a:r>
            <a:endParaRPr lang="en-US" sz="2800" dirty="0"/>
          </a:p>
        </p:txBody>
      </p:sp>
    </p:spTree>
    <p:extLst>
      <p:ext uri="{BB962C8B-B14F-4D97-AF65-F5344CB8AC3E}">
        <p14:creationId xmlns="" xmlns:p14="http://schemas.microsoft.com/office/powerpoint/2010/main" val="784040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5FAF1A2-C7C5-4CC8-9F9A-F7D609B50B7C}"/>
              </a:ext>
            </a:extLst>
          </p:cNvPr>
          <p:cNvSpPr>
            <a:spLocks noGrp="1"/>
          </p:cNvSpPr>
          <p:nvPr>
            <p:ph idx="1"/>
          </p:nvPr>
        </p:nvSpPr>
        <p:spPr>
          <a:xfrm>
            <a:off x="1470629" y="1851660"/>
            <a:ext cx="9603275" cy="3500385"/>
          </a:xfrm>
        </p:spPr>
        <p:txBody>
          <a:bodyPr/>
          <a:lstStyle/>
          <a:p>
            <a:endParaRPr lang="en-US" dirty="0"/>
          </a:p>
          <a:p>
            <a:endParaRPr lang="en-US" dirty="0"/>
          </a:p>
          <a:p>
            <a:pPr marL="0" indent="0">
              <a:buNone/>
            </a:pPr>
            <a:r>
              <a:rPr lang="en-US" sz="6000" dirty="0"/>
              <a:t>       ANY QUESTIONS</a:t>
            </a:r>
          </a:p>
        </p:txBody>
      </p:sp>
    </p:spTree>
    <p:extLst>
      <p:ext uri="{BB962C8B-B14F-4D97-AF65-F5344CB8AC3E}">
        <p14:creationId xmlns="" xmlns:p14="http://schemas.microsoft.com/office/powerpoint/2010/main" val="3477122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C8F98A8-976F-4072-AFFD-97F24D17C4BC}"/>
              </a:ext>
            </a:extLst>
          </p:cNvPr>
          <p:cNvSpPr>
            <a:spLocks noGrp="1"/>
          </p:cNvSpPr>
          <p:nvPr>
            <p:ph idx="1"/>
          </p:nvPr>
        </p:nvSpPr>
        <p:spPr>
          <a:xfrm>
            <a:off x="1451579" y="1872857"/>
            <a:ext cx="9603275" cy="3450613"/>
          </a:xfrm>
        </p:spPr>
        <p:txBody>
          <a:bodyPr/>
          <a:lstStyle/>
          <a:p>
            <a:endParaRPr lang="en-US" dirty="0"/>
          </a:p>
          <a:p>
            <a:endParaRPr lang="en-US" dirty="0"/>
          </a:p>
          <a:p>
            <a:pPr marL="0" indent="0">
              <a:buNone/>
            </a:pPr>
            <a:r>
              <a:rPr lang="en-US" sz="4800" dirty="0"/>
              <a:t>                </a:t>
            </a:r>
            <a:r>
              <a:rPr lang="en-US" sz="6000" dirty="0"/>
              <a:t>THANK YOU</a:t>
            </a:r>
          </a:p>
        </p:txBody>
      </p:sp>
    </p:spTree>
    <p:extLst>
      <p:ext uri="{BB962C8B-B14F-4D97-AF65-F5344CB8AC3E}">
        <p14:creationId xmlns="" xmlns:p14="http://schemas.microsoft.com/office/powerpoint/2010/main" val="319953729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103</TotalTime>
  <Words>362</Words>
  <Application>Microsoft Office PowerPoint</Application>
  <PresentationFormat>Custom</PresentationFormat>
  <Paragraphs>68</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Gallery</vt:lpstr>
      <vt:lpstr>Presentation  title: 10 Strategic Operations Management Decisions reading: 01</vt:lpstr>
      <vt:lpstr>Group members</vt:lpstr>
      <vt:lpstr>Introduction:</vt:lpstr>
      <vt:lpstr>Goods and Services:</vt:lpstr>
      <vt:lpstr>Quality Management:</vt:lpstr>
      <vt:lpstr> Process and Capacity Design:</vt:lpstr>
      <vt:lpstr>Location:</vt:lpstr>
      <vt:lpstr>Layout Design and Strategy:</vt:lpstr>
      <vt:lpstr>Human Resources and Job Design:</vt:lpstr>
      <vt:lpstr>Supply Chain Management:</vt:lpstr>
      <vt:lpstr> Inventory:</vt:lpstr>
      <vt:lpstr>Scheduling:</vt:lpstr>
      <vt:lpstr>Maintenance:</vt:lpstr>
      <vt:lpstr>CONCLUSION</vt:lpstr>
      <vt:lpstr>Slide 15</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Chapter 02: Strategy, value chain, business initiatives and competitive advantage </dc:title>
  <dc:creator>hassan ahmed</dc:creator>
  <cp:lastModifiedBy>Director (Admin)</cp:lastModifiedBy>
  <cp:revision>40</cp:revision>
  <dcterms:created xsi:type="dcterms:W3CDTF">2024-10-18T09:02:53Z</dcterms:created>
  <dcterms:modified xsi:type="dcterms:W3CDTF">2024-11-22T11:42:00Z</dcterms:modified>
</cp:coreProperties>
</file>