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9" r:id="rId3"/>
    <p:sldId id="261" r:id="rId4"/>
    <p:sldId id="263" r:id="rId5"/>
    <p:sldId id="264" r:id="rId6"/>
    <p:sldId id="265" r:id="rId7"/>
    <p:sldId id="266" r:id="rId8"/>
    <p:sldId id="267" r:id="rId9"/>
    <p:sldId id="268" r:id="rId10"/>
    <p:sldId id="269" r:id="rId11"/>
    <p:sldId id="270" r:id="rId12"/>
    <p:sldId id="275" r:id="rId13"/>
    <p:sldId id="272" r:id="rId14"/>
    <p:sldId id="273" r:id="rId15"/>
    <p:sldId id="276" r:id="rId16"/>
    <p:sldId id="277" r:id="rId17"/>
    <p:sldId id="278" r:id="rId18"/>
    <p:sldId id="288" r:id="rId19"/>
    <p:sldId id="289" r:id="rId20"/>
    <p:sldId id="290" r:id="rId21"/>
    <p:sldId id="279" r:id="rId22"/>
    <p:sldId id="280" r:id="rId23"/>
    <p:sldId id="282" r:id="rId24"/>
    <p:sldId id="283" r:id="rId25"/>
    <p:sldId id="284" r:id="rId26"/>
    <p:sldId id="285" r:id="rId27"/>
    <p:sldId id="274"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C9FECC-ECFC-42A2-B893-AB2A73E058D8}" type="datetimeFigureOut">
              <a:rPr lang="en-US" smtClean="0"/>
              <a:t>9/21/2024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8944A8-0F90-4700-B443-CC9323F8018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68944A8-0F90-4700-B443-CC9323F80183}"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Database Administrator:</a:t>
            </a:r>
            <a:r>
              <a:rPr lang="en-US" dirty="0"/>
              <a:t> The basic role of a Database Administrator is to store and manage the information in the database. They are responsible for reviewing the contents in the database. They are performing all the activities related to maintaining the database and responsible for designing, implementing the database. Also their responsible is to backed up data regularly and prevent from unauthorized access. They are also known as Database Coordinator or Database Programmer. </a:t>
            </a:r>
            <a:br>
              <a:rPr lang="en-US" dirty="0"/>
            </a:br>
            <a:br>
              <a:rPr lang="en-US" dirty="0"/>
            </a:br>
            <a:r>
              <a:rPr lang="en-US" dirty="0"/>
              <a:t>The different functionalities of a database administrator are maintaining database system software, developing physical database structures and data dictionary. </a:t>
            </a:r>
            <a:br>
              <a:rPr lang="en-US" dirty="0"/>
            </a:br>
            <a:br>
              <a:rPr lang="en-US" dirty="0"/>
            </a:br>
            <a:r>
              <a:rPr lang="en-US" b="1" dirty="0"/>
              <a:t>Data Administrator: </a:t>
            </a:r>
            <a:r>
              <a:rPr lang="en-US" dirty="0"/>
              <a:t>The Data Administrator is responsible for defining data elements, data names and their relationship with the database analyst. The basic responsible is how to install and configure the RDBMS applications and also they have to know the requirements of the software application in terms of functions and assure the data integrity. They are also known as Data Analyst. Following are some basic steps for a Data Administrator, </a:t>
            </a:r>
            <a:br>
              <a:rPr lang="en-US" dirty="0"/>
            </a:br>
            <a:br>
              <a:rPr lang="en-US" dirty="0"/>
            </a:br>
            <a:r>
              <a:rPr lang="en-US" dirty="0"/>
              <a:t>• Specification of organization data. </a:t>
            </a:r>
            <a:br>
              <a:rPr lang="en-US" dirty="0"/>
            </a:br>
            <a:r>
              <a:rPr lang="en-US" dirty="0"/>
              <a:t>• The design and maintenance of data management application. </a:t>
            </a:r>
            <a:br>
              <a:rPr lang="en-US" dirty="0"/>
            </a:br>
            <a:r>
              <a:rPr lang="en-US" dirty="0"/>
              <a:t>• Validating the data and files. </a:t>
            </a:r>
            <a:br>
              <a:rPr lang="en-US" dirty="0"/>
            </a:br>
            <a:r>
              <a:rPr lang="en-US" dirty="0"/>
              <a:t>• Security of files or databases.</a:t>
            </a:r>
          </a:p>
        </p:txBody>
      </p:sp>
      <p:sp>
        <p:nvSpPr>
          <p:cNvPr id="4" name="Slide Number Placeholder 3"/>
          <p:cNvSpPr>
            <a:spLocks noGrp="1"/>
          </p:cNvSpPr>
          <p:nvPr>
            <p:ph type="sldNum" sz="quarter" idx="10"/>
          </p:nvPr>
        </p:nvSpPr>
        <p:spPr/>
        <p:txBody>
          <a:bodyPr/>
          <a:lstStyle/>
          <a:p>
            <a:fld id="{D68944A8-0F90-4700-B443-CC9323F80183}" type="slidenum">
              <a:rPr lang="en-US" smtClean="0"/>
              <a:t>23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68944A8-0F90-4700-B443-CC9323F80183}" type="slidenum">
              <a:rPr lang="en-US" smtClean="0"/>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762000"/>
            <a:ext cx="685621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52697" y="762000"/>
            <a:ext cx="2193989"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02386" y="1298448"/>
            <a:ext cx="54864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825011" y="4670246"/>
            <a:ext cx="54864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1816F5-45A4-4365-984B-5DA37CD021CB}" type="datetime1">
              <a:rPr lang="en-US" smtClean="0"/>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BA6A4-4AC1-4AE5-BF17-AC49EE4BA73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69B086A-443F-488D-BD9B-3E632118E777}" type="datetime1">
              <a:rPr lang="en-US" smtClean="0"/>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85800" y="1219200"/>
            <a:ext cx="1148195" cy="365125"/>
          </a:xfrm>
          <a:effectLst>
            <a:outerShdw blurRad="50800" dist="38100" dir="5400000" algn="t" rotWithShape="0">
              <a:prstClr val="black">
                <a:alpha val="40000"/>
              </a:prstClr>
            </a:outerShdw>
          </a:effectLst>
        </p:spPr>
        <p:txBody>
          <a:bodyPr>
            <a:prstTxWarp prst="textArchDown">
              <a:avLst/>
            </a:prstTxWarp>
          </a:bodyPr>
          <a:lstStyle>
            <a:lvl1pPr algn="ctr">
              <a:defRPr sz="4400" b="0" u="sng"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defRPr>
            </a:lvl1pPr>
          </a:lstStyle>
          <a:p>
            <a:fld id="{4FCBA6A4-4AC1-4AE5-BF17-AC49EE4BA738}"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00934" y="1298448"/>
            <a:ext cx="54864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14650" y="4672584"/>
            <a:ext cx="54864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15EC3A-21A1-4FA1-A4F0-28BA43E7E144}" type="datetime1">
              <a:rPr lang="en-US" smtClean="0"/>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BA6A4-4AC1-4AE5-BF17-AC49EE4BA73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0934" y="868680"/>
            <a:ext cx="260604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63590" y="868680"/>
            <a:ext cx="260604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7409940A-7AE9-40A6-876B-BC4D1CDD3465}" type="datetime1">
              <a:rPr lang="en-US" smtClean="0"/>
              <a:t>9/21/2024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CBA6A4-4AC1-4AE5-BF17-AC49EE4BA73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00934" y="1023586"/>
            <a:ext cx="260604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900934" y="1930936"/>
            <a:ext cx="260604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63847" y="1023587"/>
            <a:ext cx="260604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63847" y="1930936"/>
            <a:ext cx="260604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B25941F8-F478-417C-94C6-25D6965157ED}" type="datetime1">
              <a:rPr lang="en-US" smtClean="0"/>
              <a:t>9/21/2024</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CBA6A4-4AC1-4AE5-BF17-AC49EE4BA73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0C26BE44-8CF2-43F2-9244-9443974A56E1}" type="datetime1">
              <a:rPr lang="en-US" smtClean="0"/>
              <a:t>9/21/2024</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CBA6A4-4AC1-4AE5-BF17-AC49EE4BA73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F14C6EE-5D49-4EE2-91EF-1CEFF1AAC6BC}" type="datetime1">
              <a:rPr lang="en-US" smtClean="0"/>
              <a:t>9/21/2024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CBA6A4-4AC1-4AE5-BF17-AC49EE4BA73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2900934" y="868680"/>
            <a:ext cx="54864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2024" y="3494176"/>
            <a:ext cx="212598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694DE6A4-F4A4-4295-87A2-FF7ADB5DB34D}" type="datetime1">
              <a:rPr lang="en-US" smtClean="0"/>
              <a:t>9/21/2024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CBA6A4-4AC1-4AE5-BF17-AC49EE4BA73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677983" y="767419"/>
            <a:ext cx="6086423"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92024" y="3493008"/>
            <a:ext cx="212598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E378D75D-C504-4647-AC93-0EAD4132D4A7}" type="datetime1">
              <a:rPr lang="en-US" smtClean="0"/>
              <a:t>9/21/2024</a:t>
            </a:fld>
            <a:endParaRPr lang="en-US"/>
          </a:p>
        </p:txBody>
      </p:sp>
      <p:sp>
        <p:nvSpPr>
          <p:cNvPr id="9" name="Footer Placeholder 8"/>
          <p:cNvSpPr>
            <a:spLocks noGrp="1"/>
          </p:cNvSpPr>
          <p:nvPr>
            <p:ph type="ftr" sz="quarter" idx="11"/>
          </p:nvPr>
        </p:nvSpPr>
        <p:spPr>
          <a:xfrm>
            <a:off x="2624326" y="6356351"/>
            <a:ext cx="4433638" cy="365125"/>
          </a:xfrm>
        </p:spPr>
        <p:txBody>
          <a:bodyPr/>
          <a:lstStyle/>
          <a:p>
            <a:endParaRPr lang="en-US"/>
          </a:p>
        </p:txBody>
      </p:sp>
      <p:sp>
        <p:nvSpPr>
          <p:cNvPr id="10" name="Slide Number Placeholder 9"/>
          <p:cNvSpPr>
            <a:spLocks noGrp="1"/>
          </p:cNvSpPr>
          <p:nvPr>
            <p:ph type="sldNum" sz="quarter" idx="12"/>
          </p:nvPr>
        </p:nvSpPr>
        <p:spPr/>
        <p:txBody>
          <a:bodyPr/>
          <a:lstStyle/>
          <a:p>
            <a:fld id="{4FCBA6A4-4AC1-4AE5-BF17-AC49EE4BA73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781C2F-8BCC-4BFD-82D3-4F6FB2067DDD}" type="datetime1">
              <a:rPr lang="en-US" smtClean="0"/>
              <a:t>9/21/2024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CBA6A4-4AC1-4AE5-BF17-AC49EE4BA73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5750" y="990600"/>
            <a:ext cx="211455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0934" y="868680"/>
            <a:ext cx="54864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62198C-479E-467F-BFB8-011CB7805D03}" type="datetime1">
              <a:rPr lang="en-US" smtClean="0"/>
              <a:t>9/21/2024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CBA6A4-4AC1-4AE5-BF17-AC49EE4BA73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89689" y="1123838"/>
            <a:ext cx="221061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2901951" y="864108"/>
            <a:ext cx="54864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96849" y="6356351"/>
            <a:ext cx="20574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F0BEE9C0-DDE8-43DB-8A80-050788B577BD}" type="datetime1">
              <a:rPr lang="en-US" smtClean="0"/>
              <a:t>9/21/2024</a:t>
            </a:fld>
            <a:endParaRPr lang="en-US"/>
          </a:p>
        </p:txBody>
      </p:sp>
      <p:sp>
        <p:nvSpPr>
          <p:cNvPr id="5" name="Footer Placeholder 4"/>
          <p:cNvSpPr>
            <a:spLocks noGrp="1"/>
          </p:cNvSpPr>
          <p:nvPr>
            <p:ph type="ftr" sz="quarter" idx="3"/>
          </p:nvPr>
        </p:nvSpPr>
        <p:spPr>
          <a:xfrm>
            <a:off x="2901951" y="6356351"/>
            <a:ext cx="4433638"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7975602" y="6356351"/>
            <a:ext cx="1148195" cy="365125"/>
          </a:xfrm>
          <a:prstGeom prst="rect">
            <a:avLst/>
          </a:prstGeom>
        </p:spPr>
        <p:txBody>
          <a:bodyPr vert="horz" lIns="91440" tIns="45720" rIns="91440" bIns="45720" rtlCol="0" anchor="ctr"/>
          <a:lstStyle>
            <a:lvl1pPr algn="r">
              <a:defRPr sz="1200" b="1">
                <a:solidFill>
                  <a:schemeClr val="accent1"/>
                </a:solidFill>
              </a:defRPr>
            </a:lvl1pPr>
          </a:lstStyle>
          <a:p>
            <a:fld id="{4FCBA6A4-4AC1-4AE5-BF17-AC49EE4BA73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anose="05020102010507070707"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90800" y="1600200"/>
            <a:ext cx="4191000" cy="990600"/>
          </a:xfrm>
        </p:spPr>
        <p:txBody>
          <a:bodyPr>
            <a:noAutofit/>
          </a:bodyPr>
          <a:lstStyle/>
          <a:p>
            <a:r>
              <a:rPr lang="en-US" sz="4000" b="1" dirty="0">
                <a:effectLst>
                  <a:outerShdw blurRad="38100" dist="38100" dir="2700000" algn="tl">
                    <a:srgbClr val="000000">
                      <a:alpha val="43137"/>
                    </a:srgbClr>
                  </a:outerShdw>
                </a:effectLst>
              </a:rPr>
              <a:t>Introduction to Database Systems</a:t>
            </a:r>
          </a:p>
        </p:txBody>
      </p:sp>
      <p:sp>
        <p:nvSpPr>
          <p:cNvPr id="8" name="Rectangle 7"/>
          <p:cNvSpPr/>
          <p:nvPr/>
        </p:nvSpPr>
        <p:spPr>
          <a:xfrm>
            <a:off x="7086600" y="838200"/>
            <a:ext cx="1502784" cy="523220"/>
          </a:xfrm>
          <a:prstGeom prst="rect">
            <a:avLst/>
          </a:prstGeom>
        </p:spPr>
        <p:txBody>
          <a:bodyPr wrap="none">
            <a:spAutoFit/>
          </a:bodyPr>
          <a:lstStyle/>
          <a:p>
            <a:r>
              <a:rPr lang="en-US" sz="2800" dirty="0">
                <a:solidFill>
                  <a:schemeClr val="bg1">
                    <a:lumMod val="50000"/>
                  </a:schemeClr>
                </a:solidFill>
              </a:rPr>
              <a:t>Fall 2024</a:t>
            </a:r>
          </a:p>
        </p:txBody>
      </p:sp>
      <p:pic>
        <p:nvPicPr>
          <p:cNvPr id="1031" name="Picture 7" descr="C:\Users\SALMAN\Desktop\database-symbol-hi.png"/>
          <p:cNvPicPr>
            <a:picLocks noChangeAspect="1" noChangeArrowheads="1"/>
          </p:cNvPicPr>
          <p:nvPr/>
        </p:nvPicPr>
        <p:blipFill>
          <a:blip r:embed="rId3"/>
          <a:srcRect/>
          <a:stretch>
            <a:fillRect/>
          </a:stretch>
        </p:blipFill>
        <p:spPr bwMode="auto">
          <a:xfrm>
            <a:off x="541337" y="990600"/>
            <a:ext cx="1897063" cy="2093913"/>
          </a:xfrm>
          <a:prstGeom prst="rect">
            <a:avLst/>
          </a:prstGeom>
          <a:noFill/>
        </p:spPr>
      </p:pic>
      <p:sp>
        <p:nvSpPr>
          <p:cNvPr id="13" name="TextBox 12"/>
          <p:cNvSpPr txBox="1"/>
          <p:nvPr/>
        </p:nvSpPr>
        <p:spPr>
          <a:xfrm>
            <a:off x="7162800" y="5486400"/>
            <a:ext cx="1739579" cy="523220"/>
          </a:xfrm>
          <a:prstGeom prst="rect">
            <a:avLst/>
          </a:prstGeom>
          <a:noFill/>
        </p:spPr>
        <p:txBody>
          <a:bodyPr wrap="none" rtlCol="0">
            <a:spAutoFit/>
          </a:bodyPr>
          <a:lstStyle/>
          <a:p>
            <a:r>
              <a:rPr lang="en-US" sz="2800" dirty="0">
                <a:solidFill>
                  <a:schemeClr val="bg1">
                    <a:lumMod val="50000"/>
                  </a:schemeClr>
                </a:solidFill>
              </a:rPr>
              <a:t>Lecture - 1</a:t>
            </a:r>
          </a:p>
        </p:txBody>
      </p:sp>
      <p:pic>
        <p:nvPicPr>
          <p:cNvPr id="1034" name="Picture 10" descr="C:\Users\SALMAN\Desktop\PDF.png"/>
          <p:cNvPicPr>
            <a:picLocks noChangeAspect="1" noChangeArrowheads="1"/>
          </p:cNvPicPr>
          <p:nvPr/>
        </p:nvPicPr>
        <p:blipFill>
          <a:blip r:embed="rId4"/>
          <a:srcRect/>
          <a:stretch>
            <a:fillRect/>
          </a:stretch>
        </p:blipFill>
        <p:spPr bwMode="auto">
          <a:xfrm>
            <a:off x="7010400" y="3581400"/>
            <a:ext cx="1981200" cy="1981200"/>
          </a:xfrm>
          <a:prstGeom prst="rect">
            <a:avLst/>
          </a:prstGeom>
          <a:noFill/>
        </p:spPr>
      </p:pic>
      <p:sp>
        <p:nvSpPr>
          <p:cNvPr id="17" name="Slide Number Placeholder 16"/>
          <p:cNvSpPr>
            <a:spLocks noGrp="1"/>
          </p:cNvSpPr>
          <p:nvPr>
            <p:ph type="sldNum" sz="quarter" idx="12"/>
          </p:nvPr>
        </p:nvSpPr>
        <p:spPr/>
        <p:txBody>
          <a:bodyPr/>
          <a:lstStyle/>
          <a:p>
            <a:fld id="{4FCBA6A4-4AC1-4AE5-BF17-AC49EE4BA738}" type="slidenum">
              <a:rPr lang="en-US" smtClean="0"/>
              <a:t>1</a:t>
            </a:fld>
            <a:endParaRPr lang="en-US" dirty="0"/>
          </a:p>
        </p:txBody>
      </p:sp>
      <p:sp>
        <p:nvSpPr>
          <p:cNvPr id="5" name="Subtitle 4">
            <a:extLst>
              <a:ext uri="{FF2B5EF4-FFF2-40B4-BE49-F238E27FC236}">
                <a16:creationId xmlns:a16="http://schemas.microsoft.com/office/drawing/2014/main" id="{F44391DA-22C3-87B9-8208-F31531298394}"/>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Course Motivation</a:t>
            </a:r>
          </a:p>
        </p:txBody>
      </p:sp>
      <p:sp>
        <p:nvSpPr>
          <p:cNvPr id="3" name="Content Placeholder 2"/>
          <p:cNvSpPr>
            <a:spLocks noGrp="1"/>
          </p:cNvSpPr>
          <p:nvPr>
            <p:ph idx="1"/>
          </p:nvPr>
        </p:nvSpPr>
        <p:spPr/>
        <p:txBody>
          <a:bodyPr>
            <a:noAutofit/>
          </a:bodyPr>
          <a:lstStyle/>
          <a:p>
            <a:pPr marL="468630" lvl="1" indent="-347980" algn="just">
              <a:spcBef>
                <a:spcPts val="1200"/>
              </a:spcBef>
              <a:spcAft>
                <a:spcPts val="0"/>
              </a:spcAft>
              <a:buSzPct val="110000"/>
              <a:buFont typeface="Wingdings" panose="05000000000000000000" pitchFamily="2" charset="2"/>
              <a:buChar char="§"/>
            </a:pPr>
            <a:r>
              <a:rPr lang="en-US" sz="2800" dirty="0"/>
              <a:t>Databases are used in building many software systems like</a:t>
            </a:r>
          </a:p>
          <a:p>
            <a:pPr marL="925830" lvl="2" indent="-347980" algn="just">
              <a:spcBef>
                <a:spcPts val="600"/>
              </a:spcBef>
              <a:spcAft>
                <a:spcPts val="0"/>
              </a:spcAft>
              <a:buSzPct val="110000"/>
              <a:buFont typeface="Wingdings" panose="05000000000000000000" pitchFamily="2" charset="2"/>
              <a:buChar char="§"/>
            </a:pPr>
            <a:r>
              <a:rPr lang="en-US" sz="2000" dirty="0"/>
              <a:t>banking systems, </a:t>
            </a:r>
          </a:p>
          <a:p>
            <a:pPr marL="925830" lvl="2" indent="-347980" algn="just">
              <a:spcBef>
                <a:spcPts val="600"/>
              </a:spcBef>
              <a:spcAft>
                <a:spcPts val="0"/>
              </a:spcAft>
              <a:buSzPct val="110000"/>
              <a:buFont typeface="Wingdings" panose="05000000000000000000" pitchFamily="2" charset="2"/>
              <a:buChar char="§"/>
            </a:pPr>
            <a:r>
              <a:rPr lang="en-US" sz="2000" dirty="0"/>
              <a:t>video games,</a:t>
            </a:r>
          </a:p>
          <a:p>
            <a:pPr marL="925830" lvl="2" indent="-347980" algn="just">
              <a:spcBef>
                <a:spcPts val="600"/>
              </a:spcBef>
              <a:spcAft>
                <a:spcPts val="0"/>
              </a:spcAft>
              <a:buSzPct val="110000"/>
              <a:buFont typeface="Wingdings" panose="05000000000000000000" pitchFamily="2" charset="2"/>
              <a:buChar char="§"/>
            </a:pPr>
            <a:r>
              <a:rPr lang="en-US" sz="2000" dirty="0"/>
              <a:t>or dynamic websites</a:t>
            </a:r>
            <a:endParaRPr lang="en-US" sz="2600" dirty="0"/>
          </a:p>
          <a:p>
            <a:pPr marL="468630" lvl="1" indent="-347980" algn="just">
              <a:spcBef>
                <a:spcPts val="1200"/>
              </a:spcBef>
              <a:spcAft>
                <a:spcPts val="0"/>
              </a:spcAft>
              <a:buSzPct val="110000"/>
              <a:buFont typeface="Wingdings" panose="05000000000000000000" pitchFamily="2" charset="2"/>
              <a:buChar char="§"/>
            </a:pPr>
            <a:r>
              <a:rPr lang="en-US" sz="2800" dirty="0"/>
              <a:t>Databases are so important that computer science graduates frequently refer to their database class as the one most useful to them in their  other courses and careers.</a:t>
            </a:r>
          </a:p>
          <a:p>
            <a:pPr marL="468630" lvl="1" indent="-347980" algn="just">
              <a:spcBef>
                <a:spcPts val="1200"/>
              </a:spcBef>
              <a:spcAft>
                <a:spcPts val="0"/>
              </a:spcAft>
              <a:buSzPct val="110000"/>
              <a:buFont typeface="Wingdings" panose="05000000000000000000" pitchFamily="2" charset="2"/>
              <a:buChar char="§"/>
            </a:pPr>
            <a:endParaRPr lang="en-US" sz="2800" dirty="0"/>
          </a:p>
        </p:txBody>
      </p:sp>
      <p:sp>
        <p:nvSpPr>
          <p:cNvPr id="4" name="Slide Number Placeholder 3"/>
          <p:cNvSpPr>
            <a:spLocks noGrp="1"/>
          </p:cNvSpPr>
          <p:nvPr>
            <p:ph type="sldNum" sz="quarter" idx="12"/>
          </p:nvPr>
        </p:nvSpPr>
        <p:spPr/>
        <p:txBody>
          <a:bodyPr/>
          <a:lstStyle/>
          <a:p>
            <a:fld id="{4FCBA6A4-4AC1-4AE5-BF17-AC49EE4BA738}" type="slidenum">
              <a:rPr lang="en-US" smtClean="0"/>
              <a:t>2</a:t>
            </a:fld>
            <a:endParaRPr lang="en-US" dirty="0"/>
          </a:p>
        </p:txBody>
      </p:sp>
      <p:pic>
        <p:nvPicPr>
          <p:cNvPr id="4098" name="Picture 2" descr="C:\Users\SALMAN\Desktop\success1.jpg"/>
          <p:cNvPicPr>
            <a:picLocks noChangeAspect="1" noChangeArrowheads="1"/>
          </p:cNvPicPr>
          <p:nvPr/>
        </p:nvPicPr>
        <p:blipFill>
          <a:blip r:embed="rId2" cstate="print"/>
          <a:srcRect/>
          <a:stretch>
            <a:fillRect/>
          </a:stretch>
        </p:blipFill>
        <p:spPr bwMode="auto">
          <a:xfrm>
            <a:off x="0" y="4572000"/>
            <a:ext cx="3048000" cy="2252663"/>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ALMAN AHMED\Desktop\0321523067.jpg"/>
          <p:cNvPicPr>
            <a:picLocks noChangeAspect="1" noChangeArrowheads="1"/>
          </p:cNvPicPr>
          <p:nvPr/>
        </p:nvPicPr>
        <p:blipFill>
          <a:blip r:embed="rId2"/>
          <a:srcRect/>
          <a:stretch>
            <a:fillRect/>
          </a:stretch>
        </p:blipFill>
        <p:spPr bwMode="auto">
          <a:xfrm>
            <a:off x="3611380" y="3581400"/>
            <a:ext cx="4933950" cy="3276600"/>
          </a:xfrm>
          <a:prstGeom prst="rect">
            <a:avLst/>
          </a:prstGeom>
          <a:noFill/>
        </p:spPr>
      </p:pic>
      <p:sp>
        <p:nvSpPr>
          <p:cNvPr id="2" name="Title 1"/>
          <p:cNvSpPr>
            <a:spLocks noGrp="1"/>
          </p:cNvSpPr>
          <p:nvPr>
            <p:ph type="title"/>
          </p:nvPr>
        </p:nvSpPr>
        <p:spPr/>
        <p:txBody>
          <a:bodyPr/>
          <a:lstStyle/>
          <a:p>
            <a:pPr algn="ctr"/>
            <a:r>
              <a:rPr lang="en-US" sz="4000" dirty="0"/>
              <a:t>Literature</a:t>
            </a:r>
            <a:br>
              <a:rPr lang="en-US" sz="4000" dirty="0"/>
            </a:br>
            <a:br>
              <a:rPr lang="en-US" sz="4000" dirty="0"/>
            </a:br>
            <a:endParaRPr lang="en-US" dirty="0"/>
          </a:p>
        </p:txBody>
      </p:sp>
      <p:sp>
        <p:nvSpPr>
          <p:cNvPr id="3" name="Content Placeholder 2"/>
          <p:cNvSpPr>
            <a:spLocks noGrp="1"/>
          </p:cNvSpPr>
          <p:nvPr>
            <p:ph idx="1"/>
          </p:nvPr>
        </p:nvSpPr>
        <p:spPr>
          <a:xfrm>
            <a:off x="2901950" y="864108"/>
            <a:ext cx="5708649" cy="5120640"/>
          </a:xfrm>
        </p:spPr>
        <p:txBody>
          <a:bodyPr>
            <a:normAutofit/>
          </a:bodyPr>
          <a:lstStyle/>
          <a:p>
            <a:pPr marL="468630" lvl="1" indent="-347980" algn="just">
              <a:spcBef>
                <a:spcPts val="1200"/>
              </a:spcBef>
              <a:spcAft>
                <a:spcPts val="0"/>
              </a:spcAft>
              <a:buSzPct val="110000"/>
              <a:buFont typeface="Wingdings" panose="05000000000000000000" pitchFamily="2" charset="2"/>
              <a:buChar char="§"/>
            </a:pPr>
            <a:r>
              <a:rPr lang="en-US" sz="2800" dirty="0"/>
              <a:t>The primary text book for the course is </a:t>
            </a:r>
          </a:p>
          <a:p>
            <a:pPr marL="925830" lvl="2" indent="-347980">
              <a:spcBef>
                <a:spcPts val="1200"/>
              </a:spcBef>
              <a:spcAft>
                <a:spcPts val="0"/>
              </a:spcAft>
              <a:buSzPct val="110000"/>
              <a:buFont typeface="Wingdings" panose="05000000000000000000" pitchFamily="2" charset="2"/>
              <a:buChar char="§"/>
            </a:pPr>
            <a:r>
              <a:rPr lang="en-US" sz="2400" dirty="0"/>
              <a:t>“Database Systems, A practical approach to design, implementation and management”</a:t>
            </a:r>
          </a:p>
          <a:p>
            <a:pPr marL="925830" lvl="2" indent="-347980">
              <a:spcBef>
                <a:spcPts val="1200"/>
              </a:spcBef>
              <a:spcAft>
                <a:spcPts val="0"/>
              </a:spcAft>
              <a:buSzPct val="110000"/>
              <a:buFont typeface="Wingdings" panose="05000000000000000000" pitchFamily="2" charset="2"/>
              <a:buChar char="§"/>
            </a:pPr>
            <a:r>
              <a:rPr lang="en-US" sz="2400" dirty="0"/>
              <a:t>Sixth Edition</a:t>
            </a:r>
          </a:p>
          <a:p>
            <a:pPr marL="925830" lvl="2" indent="-347980">
              <a:spcBef>
                <a:spcPts val="1200"/>
              </a:spcBef>
              <a:spcAft>
                <a:spcPts val="0"/>
              </a:spcAft>
              <a:buSzPct val="110000"/>
              <a:buFont typeface="Wingdings" panose="05000000000000000000" pitchFamily="2" charset="2"/>
              <a:buChar char="§"/>
            </a:pPr>
            <a:r>
              <a:rPr lang="en-US" sz="2400" dirty="0"/>
              <a:t>Thomas Connolly, Carolyn </a:t>
            </a:r>
            <a:r>
              <a:rPr lang="en-US" sz="2400" dirty="0" err="1"/>
              <a:t>Begg</a:t>
            </a:r>
            <a:r>
              <a:rPr lang="en-US" sz="2400" dirty="0"/>
              <a:t>, Addison Wesley</a:t>
            </a:r>
          </a:p>
          <a:p>
            <a:pPr marL="925830" lvl="2" indent="-347980">
              <a:spcBef>
                <a:spcPts val="1200"/>
              </a:spcBef>
              <a:spcAft>
                <a:spcPts val="0"/>
              </a:spcAft>
              <a:buSzPct val="110000"/>
              <a:buFont typeface="Wingdings" panose="05000000000000000000" pitchFamily="2" charset="2"/>
              <a:buChar char="§"/>
            </a:pPr>
            <a:endParaRPr lang="en-US" sz="2400" dirty="0"/>
          </a:p>
          <a:p>
            <a:pPr marL="925830" lvl="2" indent="-347980">
              <a:spcBef>
                <a:spcPts val="1200"/>
              </a:spcBef>
              <a:spcAft>
                <a:spcPts val="0"/>
              </a:spcAft>
              <a:buSzPct val="110000"/>
              <a:buFont typeface="Wingdings" panose="05000000000000000000" pitchFamily="2" charset="2"/>
              <a:buChar char="§"/>
            </a:pPr>
            <a:endParaRPr lang="en-US" sz="2400" dirty="0"/>
          </a:p>
          <a:p>
            <a:pPr marL="925830" lvl="2" indent="-347980">
              <a:spcBef>
                <a:spcPts val="1200"/>
              </a:spcBef>
              <a:spcAft>
                <a:spcPts val="0"/>
              </a:spcAft>
              <a:buSzPct val="110000"/>
              <a:buFont typeface="Wingdings" panose="05000000000000000000" pitchFamily="2" charset="2"/>
              <a:buChar char="§"/>
            </a:pPr>
            <a:endParaRPr lang="en-US" sz="2400" dirty="0"/>
          </a:p>
          <a:p>
            <a:pPr marL="925830" lvl="2" indent="-347980">
              <a:spcBef>
                <a:spcPts val="1200"/>
              </a:spcBef>
              <a:spcAft>
                <a:spcPts val="0"/>
              </a:spcAft>
              <a:buSzPct val="110000"/>
              <a:buFont typeface="Wingdings" panose="05000000000000000000" pitchFamily="2" charset="2"/>
              <a:buChar char="§"/>
            </a:pPr>
            <a:endParaRPr lang="en-US" sz="2400" dirty="0"/>
          </a:p>
        </p:txBody>
      </p:sp>
      <p:sp>
        <p:nvSpPr>
          <p:cNvPr id="4" name="Slide Number Placeholder 3"/>
          <p:cNvSpPr>
            <a:spLocks noGrp="1"/>
          </p:cNvSpPr>
          <p:nvPr>
            <p:ph type="sldNum" sz="quarter" idx="12"/>
          </p:nvPr>
        </p:nvSpPr>
        <p:spPr/>
        <p:txBody>
          <a:bodyPr/>
          <a:lstStyle/>
          <a:p>
            <a:fld id="{4FCBA6A4-4AC1-4AE5-BF17-AC49EE4BA738}" type="slidenum">
              <a:rPr lang="en-US" smtClean="0"/>
              <a:t>3</a:t>
            </a:fld>
            <a:endParaRPr lang="en-US" dirty="0"/>
          </a:p>
        </p:txBody>
      </p:sp>
      <p:pic>
        <p:nvPicPr>
          <p:cNvPr id="6147" name="Picture 3" descr="C:\Users\SALMAN\Desktop\Picture1.jpg"/>
          <p:cNvPicPr>
            <a:picLocks noChangeAspect="1" noChangeArrowheads="1"/>
          </p:cNvPicPr>
          <p:nvPr/>
        </p:nvPicPr>
        <p:blipFill>
          <a:blip r:embed="rId3" cstate="print"/>
          <a:srcRect/>
          <a:stretch>
            <a:fillRect/>
          </a:stretch>
        </p:blipFill>
        <p:spPr bwMode="auto">
          <a:xfrm>
            <a:off x="0" y="3581400"/>
            <a:ext cx="2590800" cy="32766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What is Database?</a:t>
            </a:r>
          </a:p>
        </p:txBody>
      </p:sp>
      <p:sp>
        <p:nvSpPr>
          <p:cNvPr id="6" name="Subtitle 5"/>
          <p:cNvSpPr>
            <a:spLocks noGrp="1"/>
          </p:cNvSpPr>
          <p:nvPr>
            <p:ph type="subTitle" idx="1"/>
          </p:nvPr>
        </p:nvSpPr>
        <p:spPr/>
        <p:txBody>
          <a:bodyPr>
            <a:normAutofit/>
          </a:bodyPr>
          <a:lstStyle/>
          <a:p>
            <a:r>
              <a:rPr lang="en-US" sz="2400" dirty="0"/>
              <a:t>Chapter – 1 (Introduction to database)</a:t>
            </a:r>
          </a:p>
        </p:txBody>
      </p:sp>
      <p:sp>
        <p:nvSpPr>
          <p:cNvPr id="4" name="Slide Number Placeholder 3"/>
          <p:cNvSpPr>
            <a:spLocks noGrp="1"/>
          </p:cNvSpPr>
          <p:nvPr>
            <p:ph type="sldNum" sz="quarter" idx="12"/>
          </p:nvPr>
        </p:nvSpPr>
        <p:spPr/>
        <p:txBody>
          <a:bodyPr/>
          <a:lstStyle/>
          <a:p>
            <a:fld id="{4FCBA6A4-4AC1-4AE5-BF17-AC49EE4BA738}" type="slidenum">
              <a:rPr lang="en-US" smtClean="0"/>
              <a:t>4</a:t>
            </a:fld>
            <a:endParaRPr lang="en-US" dirty="0"/>
          </a:p>
        </p:txBody>
      </p:sp>
      <p:pic>
        <p:nvPicPr>
          <p:cNvPr id="8194" name="Picture 2" descr="C:\Users\SALMAN\Desktop\database-symbol-hi.png"/>
          <p:cNvPicPr>
            <a:picLocks noChangeAspect="1" noChangeArrowheads="1"/>
          </p:cNvPicPr>
          <p:nvPr/>
        </p:nvPicPr>
        <p:blipFill>
          <a:blip r:embed="rId2"/>
          <a:srcRect/>
          <a:stretch>
            <a:fillRect/>
          </a:stretch>
        </p:blipFill>
        <p:spPr bwMode="auto">
          <a:xfrm>
            <a:off x="4419600" y="2590800"/>
            <a:ext cx="1897063" cy="2093913"/>
          </a:xfrm>
          <a:prstGeom prst="rect">
            <a:avLst/>
          </a:prstGeom>
          <a:noFill/>
        </p:spPr>
      </p:pic>
      <p:pic>
        <p:nvPicPr>
          <p:cNvPr id="8195" name="Picture 3" descr="C:\Users\SALMAN\Desktop\Database Inactive Hot.png"/>
          <p:cNvPicPr>
            <a:picLocks noChangeAspect="1" noChangeArrowheads="1"/>
          </p:cNvPicPr>
          <p:nvPr/>
        </p:nvPicPr>
        <p:blipFill>
          <a:blip r:embed="rId3"/>
          <a:srcRect/>
          <a:stretch>
            <a:fillRect/>
          </a:stretch>
        </p:blipFill>
        <p:spPr bwMode="auto">
          <a:xfrm>
            <a:off x="7696200" y="2362200"/>
            <a:ext cx="781050" cy="22288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Definition</a:t>
            </a:r>
          </a:p>
        </p:txBody>
      </p:sp>
      <p:sp>
        <p:nvSpPr>
          <p:cNvPr id="3" name="Content Placeholder 2"/>
          <p:cNvSpPr>
            <a:spLocks noGrp="1"/>
          </p:cNvSpPr>
          <p:nvPr>
            <p:ph idx="1"/>
          </p:nvPr>
        </p:nvSpPr>
        <p:spPr/>
        <p:txBody>
          <a:bodyPr>
            <a:normAutofit/>
          </a:bodyPr>
          <a:lstStyle/>
          <a:p>
            <a:pPr marL="468630" lvl="1" indent="-347980" algn="just">
              <a:spcBef>
                <a:spcPts val="1200"/>
              </a:spcBef>
              <a:spcAft>
                <a:spcPts val="0"/>
              </a:spcAft>
              <a:buSzPct val="110000"/>
              <a:buFont typeface="Wingdings" panose="05000000000000000000" pitchFamily="2" charset="2"/>
              <a:buChar char="§"/>
            </a:pPr>
            <a:r>
              <a:rPr lang="en-US" sz="2800" dirty="0"/>
              <a:t>A database is a shared collection of logically related data that is stored to meet the requirements of different users of an organization</a:t>
            </a:r>
          </a:p>
        </p:txBody>
      </p:sp>
      <p:sp>
        <p:nvSpPr>
          <p:cNvPr id="4" name="Slide Number Placeholder 3"/>
          <p:cNvSpPr>
            <a:spLocks noGrp="1"/>
          </p:cNvSpPr>
          <p:nvPr>
            <p:ph type="sldNum" sz="quarter" idx="12"/>
          </p:nvPr>
        </p:nvSpPr>
        <p:spPr/>
        <p:txBody>
          <a:bodyPr/>
          <a:lstStyle/>
          <a:p>
            <a:fld id="{4FCBA6A4-4AC1-4AE5-BF17-AC49EE4BA738}" type="slidenum">
              <a:rPr lang="en-US" smtClean="0"/>
              <a:t>5</a:t>
            </a:fld>
            <a:endParaRPr lang="en-US" dirty="0"/>
          </a:p>
        </p:txBody>
      </p:sp>
      <p:pic>
        <p:nvPicPr>
          <p:cNvPr id="10242" name="Picture 2" descr="C:\Users\SALMAN\Desktop\Database Inactive Hot.png"/>
          <p:cNvPicPr>
            <a:picLocks noChangeAspect="1" noChangeArrowheads="1"/>
          </p:cNvPicPr>
          <p:nvPr/>
        </p:nvPicPr>
        <p:blipFill>
          <a:blip r:embed="rId2"/>
          <a:srcRect/>
          <a:stretch>
            <a:fillRect/>
          </a:stretch>
        </p:blipFill>
        <p:spPr bwMode="auto">
          <a:xfrm>
            <a:off x="838200" y="4495800"/>
            <a:ext cx="1143000" cy="11430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688" y="1123838"/>
            <a:ext cx="2324912" cy="4601183"/>
          </a:xfrm>
        </p:spPr>
        <p:txBody>
          <a:bodyPr>
            <a:normAutofit/>
          </a:bodyPr>
          <a:lstStyle/>
          <a:p>
            <a:pPr algn="ctr"/>
            <a:r>
              <a:rPr lang="en-US" sz="2800" dirty="0"/>
              <a:t>The Concept of Shared Organizational Database</a:t>
            </a:r>
            <a:br>
              <a:rPr lang="en-US" sz="2800" dirty="0"/>
            </a:br>
            <a:endParaRPr lang="en-US" sz="2800" dirty="0"/>
          </a:p>
        </p:txBody>
      </p:sp>
      <p:sp>
        <p:nvSpPr>
          <p:cNvPr id="4" name="Slide Number Placeholder 3"/>
          <p:cNvSpPr>
            <a:spLocks noGrp="1"/>
          </p:cNvSpPr>
          <p:nvPr>
            <p:ph type="sldNum" sz="quarter" idx="12"/>
          </p:nvPr>
        </p:nvSpPr>
        <p:spPr/>
        <p:txBody>
          <a:bodyPr/>
          <a:lstStyle/>
          <a:p>
            <a:fld id="{4FCBA6A4-4AC1-4AE5-BF17-AC49EE4BA738}" type="slidenum">
              <a:rPr lang="en-US" smtClean="0"/>
              <a:t>6</a:t>
            </a:fld>
            <a:endParaRPr lang="en-US" dirty="0"/>
          </a:p>
        </p:txBody>
      </p:sp>
      <p:pic>
        <p:nvPicPr>
          <p:cNvPr id="9218" name="Picture 2" descr="C:\Users\SALMAN\Desktop\iStock_000012056523XSmall.jpg"/>
          <p:cNvPicPr>
            <a:picLocks noGrp="1" noChangeAspect="1" noChangeArrowheads="1"/>
          </p:cNvPicPr>
          <p:nvPr>
            <p:ph idx="1"/>
          </p:nvPr>
        </p:nvPicPr>
        <p:blipFill>
          <a:blip r:embed="rId2"/>
          <a:srcRect/>
          <a:stretch>
            <a:fillRect/>
          </a:stretch>
        </p:blipFill>
        <p:spPr bwMode="auto">
          <a:xfrm>
            <a:off x="0" y="4495800"/>
            <a:ext cx="2590800" cy="2133600"/>
          </a:xfrm>
          <a:prstGeom prst="rect">
            <a:avLst/>
          </a:prstGeom>
          <a:noFill/>
        </p:spPr>
      </p:pic>
      <p:sp>
        <p:nvSpPr>
          <p:cNvPr id="7" name="Rectangle 6"/>
          <p:cNvSpPr/>
          <p:nvPr/>
        </p:nvSpPr>
        <p:spPr>
          <a:xfrm>
            <a:off x="4495800" y="6858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Registration</a:t>
            </a:r>
          </a:p>
        </p:txBody>
      </p:sp>
      <p:sp>
        <p:nvSpPr>
          <p:cNvPr id="8" name="Rectangle 7"/>
          <p:cNvSpPr/>
          <p:nvPr/>
        </p:nvSpPr>
        <p:spPr>
          <a:xfrm>
            <a:off x="3581400" y="16764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Attendance</a:t>
            </a:r>
          </a:p>
        </p:txBody>
      </p:sp>
      <p:sp>
        <p:nvSpPr>
          <p:cNvPr id="9" name="Rectangle 8"/>
          <p:cNvSpPr/>
          <p:nvPr/>
        </p:nvSpPr>
        <p:spPr>
          <a:xfrm>
            <a:off x="2895600" y="28194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Exam</a:t>
            </a:r>
          </a:p>
        </p:txBody>
      </p:sp>
      <p:sp>
        <p:nvSpPr>
          <p:cNvPr id="10" name="Rectangle 9"/>
          <p:cNvSpPr/>
          <p:nvPr/>
        </p:nvSpPr>
        <p:spPr>
          <a:xfrm>
            <a:off x="3657600" y="38862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Accounts</a:t>
            </a:r>
          </a:p>
        </p:txBody>
      </p:sp>
      <p:sp>
        <p:nvSpPr>
          <p:cNvPr id="11" name="Rectangle 10"/>
          <p:cNvSpPr/>
          <p:nvPr/>
        </p:nvSpPr>
        <p:spPr>
          <a:xfrm>
            <a:off x="4648200" y="48768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Admission</a:t>
            </a:r>
          </a:p>
        </p:txBody>
      </p:sp>
      <p:pic>
        <p:nvPicPr>
          <p:cNvPr id="9220" name="Picture 4" descr="C:\Users\SALMAN\Desktop\Database Inactive Hot.png"/>
          <p:cNvPicPr>
            <a:picLocks noChangeAspect="1" noChangeArrowheads="1"/>
          </p:cNvPicPr>
          <p:nvPr/>
        </p:nvPicPr>
        <p:blipFill>
          <a:blip r:embed="rId3"/>
          <a:srcRect/>
          <a:stretch>
            <a:fillRect/>
          </a:stretch>
        </p:blipFill>
        <p:spPr bwMode="auto">
          <a:xfrm>
            <a:off x="6629400" y="2667000"/>
            <a:ext cx="781050" cy="781050"/>
          </a:xfrm>
          <a:prstGeom prst="rect">
            <a:avLst/>
          </a:prstGeom>
          <a:noFill/>
        </p:spPr>
      </p:pic>
      <p:sp>
        <p:nvSpPr>
          <p:cNvPr id="13" name="TextBox 12"/>
          <p:cNvSpPr txBox="1"/>
          <p:nvPr/>
        </p:nvSpPr>
        <p:spPr>
          <a:xfrm>
            <a:off x="7391401" y="2362200"/>
            <a:ext cx="553998" cy="1355499"/>
          </a:xfrm>
          <a:prstGeom prst="rect">
            <a:avLst/>
          </a:prstGeom>
        </p:spPr>
        <p:style>
          <a:lnRef idx="0">
            <a:schemeClr val="accent2"/>
          </a:lnRef>
          <a:fillRef idx="3">
            <a:schemeClr val="accent2"/>
          </a:fillRef>
          <a:effectRef idx="3">
            <a:schemeClr val="accent2"/>
          </a:effectRef>
          <a:fontRef idx="minor">
            <a:schemeClr val="lt1"/>
          </a:fontRef>
        </p:style>
        <p:txBody>
          <a:bodyPr vert="vert" wrap="none" rtlCol="0">
            <a:spAutoFit/>
          </a:bodyPr>
          <a:lstStyle/>
          <a:p>
            <a:r>
              <a:rPr lang="en-US" sz="2400" b="1" dirty="0"/>
              <a:t>Database</a:t>
            </a:r>
            <a:endParaRPr lang="en-US" b="1" dirty="0"/>
          </a:p>
        </p:txBody>
      </p:sp>
      <p:cxnSp>
        <p:nvCxnSpPr>
          <p:cNvPr id="15" name="Straight Arrow Connector 14"/>
          <p:cNvCxnSpPr/>
          <p:nvPr/>
        </p:nvCxnSpPr>
        <p:spPr>
          <a:xfrm rot="16200000" flipH="1">
            <a:off x="6019799" y="1523999"/>
            <a:ext cx="990602" cy="5334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486400" y="2133600"/>
            <a:ext cx="8382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800600" y="3200400"/>
            <a:ext cx="1295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5562600" y="3581400"/>
            <a:ext cx="914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flipH="1" flipV="1">
            <a:off x="6172200" y="3962400"/>
            <a:ext cx="685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200400" y="5802868"/>
            <a:ext cx="48768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b="1" dirty="0"/>
              <a:t>University Management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123838"/>
            <a:ext cx="2324912" cy="4601183"/>
          </a:xfrm>
        </p:spPr>
        <p:txBody>
          <a:bodyPr/>
          <a:lstStyle/>
          <a:p>
            <a:pPr algn="ctr"/>
            <a:r>
              <a:rPr lang="en-US" sz="2800" b="1" dirty="0">
                <a:effectLst>
                  <a:outerShdw blurRad="38100" dist="38100" dir="2700000" algn="tl">
                    <a:srgbClr val="000000">
                      <a:alpha val="43137"/>
                    </a:srgbClr>
                  </a:outerShdw>
                </a:effectLst>
              </a:rPr>
              <a:t>A brief History</a:t>
            </a:r>
            <a:br>
              <a:rPr lang="en-US" sz="2800" b="1" dirty="0">
                <a:effectLst>
                  <a:outerShdw blurRad="38100" dist="38100" dir="2700000" algn="tl">
                    <a:srgbClr val="000000">
                      <a:alpha val="43137"/>
                    </a:srgbClr>
                  </a:outerShdw>
                </a:effectLst>
              </a:rPr>
            </a:br>
            <a:br>
              <a:rPr lang="en-US" sz="2800" b="1" dirty="0">
                <a:effectLst>
                  <a:outerShdw blurRad="38100" dist="38100" dir="2700000" algn="tl">
                    <a:srgbClr val="000000">
                      <a:alpha val="43137"/>
                    </a:srgbClr>
                  </a:outerShdw>
                </a:effectLst>
              </a:rPr>
            </a:br>
            <a:r>
              <a:rPr lang="en-US" dirty="0"/>
              <a:t>File Based Systems</a:t>
            </a:r>
          </a:p>
        </p:txBody>
      </p:sp>
      <p:sp>
        <p:nvSpPr>
          <p:cNvPr id="3" name="Content Placeholder 2"/>
          <p:cNvSpPr>
            <a:spLocks noGrp="1"/>
          </p:cNvSpPr>
          <p:nvPr>
            <p:ph idx="1"/>
          </p:nvPr>
        </p:nvSpPr>
        <p:spPr/>
        <p:txBody>
          <a:bodyPr>
            <a:normAutofit/>
          </a:bodyPr>
          <a:lstStyle/>
          <a:p>
            <a:pPr marL="468630" lvl="1" indent="-347980" algn="just">
              <a:spcBef>
                <a:spcPts val="1200"/>
              </a:spcBef>
              <a:spcAft>
                <a:spcPts val="0"/>
              </a:spcAft>
              <a:buSzPct val="110000"/>
              <a:buFont typeface="Wingdings" panose="05000000000000000000" pitchFamily="2" charset="2"/>
              <a:buChar char="§"/>
            </a:pPr>
            <a:r>
              <a:rPr lang="en-US" sz="2800" dirty="0"/>
              <a:t>A collection of application programs that perform services for the system end-users such as the production of reports. Each program defines and manages its own data.</a:t>
            </a:r>
          </a:p>
          <a:p>
            <a:pPr marL="468630" lvl="1" indent="-347980" algn="just">
              <a:spcBef>
                <a:spcPts val="1200"/>
              </a:spcBef>
              <a:spcAft>
                <a:spcPts val="0"/>
              </a:spcAft>
              <a:buSzPct val="110000"/>
              <a:buFont typeface="Wingdings" panose="05000000000000000000" pitchFamily="2" charset="2"/>
              <a:buChar char="§"/>
            </a:pPr>
            <a:endParaRPr lang="en-US" sz="2800" dirty="0"/>
          </a:p>
          <a:p>
            <a:pPr marL="468630" lvl="1" indent="-347980" algn="just">
              <a:spcBef>
                <a:spcPts val="1200"/>
              </a:spcBef>
              <a:spcAft>
                <a:spcPts val="0"/>
              </a:spcAft>
              <a:buSzPct val="110000"/>
              <a:buFont typeface="Wingdings" panose="05000000000000000000" pitchFamily="2" charset="2"/>
              <a:buChar char="§"/>
            </a:pPr>
            <a:endParaRPr lang="en-US" sz="2800" dirty="0"/>
          </a:p>
          <a:p>
            <a:pPr marL="468630" lvl="1" indent="-347980" algn="just">
              <a:spcBef>
                <a:spcPts val="1200"/>
              </a:spcBef>
              <a:spcAft>
                <a:spcPts val="0"/>
              </a:spcAft>
              <a:buSzPct val="110000"/>
              <a:buFont typeface="Wingdings" panose="05000000000000000000" pitchFamily="2" charset="2"/>
              <a:buChar char="§"/>
            </a:pPr>
            <a:endParaRPr lang="en-US" sz="2800" dirty="0"/>
          </a:p>
          <a:p>
            <a:pPr marL="468630" lvl="1" indent="-347980" algn="just">
              <a:spcBef>
                <a:spcPts val="1200"/>
              </a:spcBef>
              <a:spcAft>
                <a:spcPts val="0"/>
              </a:spcAft>
              <a:buSzPct val="110000"/>
              <a:buFont typeface="Wingdings" panose="05000000000000000000" pitchFamily="2" charset="2"/>
              <a:buChar char="§"/>
            </a:pPr>
            <a:endParaRPr lang="en-US" sz="2800" dirty="0"/>
          </a:p>
          <a:p>
            <a:pPr marL="468630" lvl="1" indent="-347980" algn="just">
              <a:spcBef>
                <a:spcPts val="1200"/>
              </a:spcBef>
              <a:spcAft>
                <a:spcPts val="0"/>
              </a:spcAft>
              <a:buSzPct val="110000"/>
              <a:buFont typeface="Wingdings" panose="05000000000000000000" pitchFamily="2" charset="2"/>
              <a:buChar char="§"/>
            </a:pPr>
            <a:endParaRPr lang="en-US" sz="2800" dirty="0"/>
          </a:p>
        </p:txBody>
      </p:sp>
      <p:sp>
        <p:nvSpPr>
          <p:cNvPr id="4" name="Slide Number Placeholder 3"/>
          <p:cNvSpPr>
            <a:spLocks noGrp="1"/>
          </p:cNvSpPr>
          <p:nvPr>
            <p:ph type="sldNum" sz="quarter" idx="12"/>
          </p:nvPr>
        </p:nvSpPr>
        <p:spPr/>
        <p:txBody>
          <a:bodyPr/>
          <a:lstStyle/>
          <a:p>
            <a:fld id="{4FCBA6A4-4AC1-4AE5-BF17-AC49EE4BA738}" type="slidenum">
              <a:rPr lang="en-US" smtClean="0"/>
              <a:t>7</a:t>
            </a:fld>
            <a:endParaRPr lang="en-US" dirty="0"/>
          </a:p>
        </p:txBody>
      </p:sp>
      <p:pic>
        <p:nvPicPr>
          <p:cNvPr id="11266" name="Picture 2" descr="C:\Users\SALMAN\Desktop\graphics1.png"/>
          <p:cNvPicPr>
            <a:picLocks noChangeAspect="1" noChangeArrowheads="1"/>
          </p:cNvPicPr>
          <p:nvPr/>
        </p:nvPicPr>
        <p:blipFill>
          <a:blip r:embed="rId2"/>
          <a:srcRect/>
          <a:stretch>
            <a:fillRect/>
          </a:stretch>
        </p:blipFill>
        <p:spPr bwMode="auto">
          <a:xfrm>
            <a:off x="3228975" y="3352800"/>
            <a:ext cx="5153025" cy="292417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688" y="1123838"/>
            <a:ext cx="2324912" cy="4601183"/>
          </a:xfrm>
        </p:spPr>
        <p:txBody>
          <a:bodyPr>
            <a:normAutofit/>
          </a:bodyPr>
          <a:lstStyle/>
          <a:p>
            <a:pPr algn="ctr"/>
            <a:r>
              <a:rPr lang="en-US" sz="4000" dirty="0"/>
              <a:t>File Based Systems </a:t>
            </a:r>
            <a:br>
              <a:rPr lang="en-US" sz="4000" dirty="0"/>
            </a:br>
            <a:endParaRPr lang="en-US" sz="4000" dirty="0"/>
          </a:p>
        </p:txBody>
      </p:sp>
      <p:sp>
        <p:nvSpPr>
          <p:cNvPr id="4" name="Slide Number Placeholder 3"/>
          <p:cNvSpPr>
            <a:spLocks noGrp="1"/>
          </p:cNvSpPr>
          <p:nvPr>
            <p:ph type="sldNum" sz="quarter" idx="12"/>
          </p:nvPr>
        </p:nvSpPr>
        <p:spPr/>
        <p:txBody>
          <a:bodyPr/>
          <a:lstStyle/>
          <a:p>
            <a:fld id="{4FCBA6A4-4AC1-4AE5-BF17-AC49EE4BA738}" type="slidenum">
              <a:rPr lang="en-US" smtClean="0"/>
              <a:t>8</a:t>
            </a:fld>
            <a:endParaRPr lang="en-US" dirty="0"/>
          </a:p>
        </p:txBody>
      </p:sp>
      <p:sp>
        <p:nvSpPr>
          <p:cNvPr id="7" name="Rectangle 6"/>
          <p:cNvSpPr/>
          <p:nvPr/>
        </p:nvSpPr>
        <p:spPr>
          <a:xfrm>
            <a:off x="4495800" y="6858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Registration</a:t>
            </a:r>
          </a:p>
        </p:txBody>
      </p:sp>
      <p:sp>
        <p:nvSpPr>
          <p:cNvPr id="8" name="Rectangle 7"/>
          <p:cNvSpPr/>
          <p:nvPr/>
        </p:nvSpPr>
        <p:spPr>
          <a:xfrm>
            <a:off x="3581400" y="16764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Attendance</a:t>
            </a:r>
          </a:p>
        </p:txBody>
      </p:sp>
      <p:sp>
        <p:nvSpPr>
          <p:cNvPr id="9" name="Rectangle 8"/>
          <p:cNvSpPr/>
          <p:nvPr/>
        </p:nvSpPr>
        <p:spPr>
          <a:xfrm>
            <a:off x="2895600" y="27432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Exam</a:t>
            </a:r>
          </a:p>
        </p:txBody>
      </p:sp>
      <p:sp>
        <p:nvSpPr>
          <p:cNvPr id="10" name="Rectangle 9"/>
          <p:cNvSpPr/>
          <p:nvPr/>
        </p:nvSpPr>
        <p:spPr>
          <a:xfrm>
            <a:off x="3657600" y="38100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Accounts</a:t>
            </a:r>
          </a:p>
        </p:txBody>
      </p:sp>
      <p:sp>
        <p:nvSpPr>
          <p:cNvPr id="11" name="Rectangle 10"/>
          <p:cNvSpPr/>
          <p:nvPr/>
        </p:nvSpPr>
        <p:spPr>
          <a:xfrm>
            <a:off x="4648200" y="48768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Admission</a:t>
            </a:r>
          </a:p>
        </p:txBody>
      </p:sp>
      <p:cxnSp>
        <p:nvCxnSpPr>
          <p:cNvPr id="15" name="Straight Arrow Connector 14"/>
          <p:cNvCxnSpPr/>
          <p:nvPr/>
        </p:nvCxnSpPr>
        <p:spPr>
          <a:xfrm>
            <a:off x="5562600" y="1905000"/>
            <a:ext cx="1752600" cy="9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6172200" y="990600"/>
            <a:ext cx="1143000" cy="9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800600" y="2971800"/>
            <a:ext cx="2590800" cy="9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5562600" y="4029075"/>
            <a:ext cx="1828800" cy="9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477000" y="5105400"/>
            <a:ext cx="762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200400" y="5802868"/>
            <a:ext cx="48768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b="1" dirty="0"/>
              <a:t>University Management System</a:t>
            </a:r>
          </a:p>
        </p:txBody>
      </p:sp>
      <p:sp>
        <p:nvSpPr>
          <p:cNvPr id="28" name="TextBox 27"/>
          <p:cNvSpPr txBox="1"/>
          <p:nvPr/>
        </p:nvSpPr>
        <p:spPr>
          <a:xfrm>
            <a:off x="8001010" y="609600"/>
            <a:ext cx="369332" cy="746358"/>
          </a:xfrm>
          <a:prstGeom prst="rect">
            <a:avLst/>
          </a:prstGeom>
        </p:spPr>
        <p:style>
          <a:lnRef idx="0">
            <a:schemeClr val="accent2"/>
          </a:lnRef>
          <a:fillRef idx="3">
            <a:schemeClr val="accent2"/>
          </a:fillRef>
          <a:effectRef idx="3">
            <a:schemeClr val="accent2"/>
          </a:effectRef>
          <a:fontRef idx="minor">
            <a:schemeClr val="lt1"/>
          </a:fontRef>
        </p:style>
        <p:txBody>
          <a:bodyPr vert="vert" wrap="none" rtlCol="0">
            <a:spAutoFit/>
          </a:bodyPr>
          <a:lstStyle/>
          <a:p>
            <a:r>
              <a:rPr lang="en-US" sz="1200" b="1" dirty="0"/>
              <a:t>Data Files</a:t>
            </a:r>
          </a:p>
        </p:txBody>
      </p:sp>
      <p:sp>
        <p:nvSpPr>
          <p:cNvPr id="42" name="AutoShape 18"/>
          <p:cNvSpPr>
            <a:spLocks noChangeArrowheads="1"/>
          </p:cNvSpPr>
          <p:nvPr/>
        </p:nvSpPr>
        <p:spPr bwMode="auto">
          <a:xfrm>
            <a:off x="7467600" y="762000"/>
            <a:ext cx="372177" cy="457200"/>
          </a:xfrm>
          <a:prstGeom prst="can">
            <a:avLst>
              <a:gd name="adj" fmla="val 32353"/>
            </a:avLst>
          </a:prstGeom>
          <a:gradFill rotWithShape="0">
            <a:gsLst>
              <a:gs pos="0">
                <a:schemeClr val="bg1"/>
              </a:gs>
              <a:gs pos="100000">
                <a:schemeClr val="accent1"/>
              </a:gs>
            </a:gsLst>
            <a:lin ang="5400000" scaled="1"/>
          </a:gradFill>
          <a:ln w="9525">
            <a:solidFill>
              <a:schemeClr val="tx1"/>
            </a:solidFill>
            <a:miter lim="800000"/>
          </a:ln>
        </p:spPr>
        <p:txBody>
          <a:bodyPr wrap="none" anchor="ctr"/>
          <a:lstStyle/>
          <a:p>
            <a:pPr algn="ctr"/>
            <a:endParaRPr lang="en-US" dirty="0">
              <a:latin typeface="Tahoma" panose="020B0604030504040204" pitchFamily="34" charset="0"/>
            </a:endParaRPr>
          </a:p>
        </p:txBody>
      </p:sp>
      <p:sp>
        <p:nvSpPr>
          <p:cNvPr id="43" name="TextBox 42"/>
          <p:cNvSpPr txBox="1"/>
          <p:nvPr/>
        </p:nvSpPr>
        <p:spPr>
          <a:xfrm>
            <a:off x="8001010" y="1539642"/>
            <a:ext cx="369332" cy="746358"/>
          </a:xfrm>
          <a:prstGeom prst="rect">
            <a:avLst/>
          </a:prstGeom>
        </p:spPr>
        <p:style>
          <a:lnRef idx="0">
            <a:schemeClr val="accent2"/>
          </a:lnRef>
          <a:fillRef idx="3">
            <a:schemeClr val="accent2"/>
          </a:fillRef>
          <a:effectRef idx="3">
            <a:schemeClr val="accent2"/>
          </a:effectRef>
          <a:fontRef idx="minor">
            <a:schemeClr val="lt1"/>
          </a:fontRef>
        </p:style>
        <p:txBody>
          <a:bodyPr vert="vert" wrap="none" rtlCol="0">
            <a:spAutoFit/>
          </a:bodyPr>
          <a:lstStyle/>
          <a:p>
            <a:r>
              <a:rPr lang="en-US" sz="1200" b="1" dirty="0"/>
              <a:t>Data Files</a:t>
            </a:r>
          </a:p>
        </p:txBody>
      </p:sp>
      <p:sp>
        <p:nvSpPr>
          <p:cNvPr id="44" name="AutoShape 18"/>
          <p:cNvSpPr>
            <a:spLocks noChangeArrowheads="1"/>
          </p:cNvSpPr>
          <p:nvPr/>
        </p:nvSpPr>
        <p:spPr bwMode="auto">
          <a:xfrm>
            <a:off x="7467600" y="1692042"/>
            <a:ext cx="372177" cy="457200"/>
          </a:xfrm>
          <a:prstGeom prst="can">
            <a:avLst>
              <a:gd name="adj" fmla="val 32353"/>
            </a:avLst>
          </a:prstGeom>
          <a:gradFill rotWithShape="0">
            <a:gsLst>
              <a:gs pos="0">
                <a:schemeClr val="bg1"/>
              </a:gs>
              <a:gs pos="100000">
                <a:schemeClr val="accent1"/>
              </a:gs>
            </a:gsLst>
            <a:lin ang="5400000" scaled="1"/>
          </a:gradFill>
          <a:ln w="9525">
            <a:solidFill>
              <a:schemeClr val="tx1"/>
            </a:solidFill>
            <a:miter lim="800000"/>
          </a:ln>
        </p:spPr>
        <p:txBody>
          <a:bodyPr wrap="none" anchor="ctr"/>
          <a:lstStyle/>
          <a:p>
            <a:pPr algn="ctr"/>
            <a:endParaRPr lang="en-US" dirty="0">
              <a:latin typeface="Tahoma" panose="020B0604030504040204" pitchFamily="34" charset="0"/>
            </a:endParaRPr>
          </a:p>
        </p:txBody>
      </p:sp>
      <p:sp>
        <p:nvSpPr>
          <p:cNvPr id="45" name="TextBox 44"/>
          <p:cNvSpPr txBox="1"/>
          <p:nvPr/>
        </p:nvSpPr>
        <p:spPr>
          <a:xfrm>
            <a:off x="8001010" y="2606442"/>
            <a:ext cx="369332" cy="746358"/>
          </a:xfrm>
          <a:prstGeom prst="rect">
            <a:avLst/>
          </a:prstGeom>
        </p:spPr>
        <p:style>
          <a:lnRef idx="0">
            <a:schemeClr val="accent2"/>
          </a:lnRef>
          <a:fillRef idx="3">
            <a:schemeClr val="accent2"/>
          </a:fillRef>
          <a:effectRef idx="3">
            <a:schemeClr val="accent2"/>
          </a:effectRef>
          <a:fontRef idx="minor">
            <a:schemeClr val="lt1"/>
          </a:fontRef>
        </p:style>
        <p:txBody>
          <a:bodyPr vert="vert" wrap="none" rtlCol="0">
            <a:spAutoFit/>
          </a:bodyPr>
          <a:lstStyle/>
          <a:p>
            <a:r>
              <a:rPr lang="en-US" sz="1200" b="1" dirty="0"/>
              <a:t>Data Files</a:t>
            </a:r>
          </a:p>
        </p:txBody>
      </p:sp>
      <p:sp>
        <p:nvSpPr>
          <p:cNvPr id="46" name="AutoShape 18"/>
          <p:cNvSpPr>
            <a:spLocks noChangeArrowheads="1"/>
          </p:cNvSpPr>
          <p:nvPr/>
        </p:nvSpPr>
        <p:spPr bwMode="auto">
          <a:xfrm>
            <a:off x="7467600" y="2758842"/>
            <a:ext cx="372177" cy="457200"/>
          </a:xfrm>
          <a:prstGeom prst="can">
            <a:avLst>
              <a:gd name="adj" fmla="val 32353"/>
            </a:avLst>
          </a:prstGeom>
          <a:gradFill rotWithShape="0">
            <a:gsLst>
              <a:gs pos="0">
                <a:schemeClr val="bg1"/>
              </a:gs>
              <a:gs pos="100000">
                <a:schemeClr val="accent1"/>
              </a:gs>
            </a:gsLst>
            <a:lin ang="5400000" scaled="1"/>
          </a:gradFill>
          <a:ln w="9525">
            <a:solidFill>
              <a:schemeClr val="tx1"/>
            </a:solidFill>
            <a:miter lim="800000"/>
          </a:ln>
        </p:spPr>
        <p:txBody>
          <a:bodyPr wrap="none" anchor="ctr"/>
          <a:lstStyle/>
          <a:p>
            <a:pPr algn="ctr"/>
            <a:endParaRPr lang="en-US" dirty="0">
              <a:latin typeface="Tahoma" panose="020B0604030504040204" pitchFamily="34" charset="0"/>
            </a:endParaRPr>
          </a:p>
        </p:txBody>
      </p:sp>
      <p:sp>
        <p:nvSpPr>
          <p:cNvPr id="47" name="TextBox 46"/>
          <p:cNvSpPr txBox="1"/>
          <p:nvPr/>
        </p:nvSpPr>
        <p:spPr>
          <a:xfrm>
            <a:off x="8001010" y="3597042"/>
            <a:ext cx="369332" cy="746358"/>
          </a:xfrm>
          <a:prstGeom prst="rect">
            <a:avLst/>
          </a:prstGeom>
        </p:spPr>
        <p:style>
          <a:lnRef idx="0">
            <a:schemeClr val="accent2"/>
          </a:lnRef>
          <a:fillRef idx="3">
            <a:schemeClr val="accent2"/>
          </a:fillRef>
          <a:effectRef idx="3">
            <a:schemeClr val="accent2"/>
          </a:effectRef>
          <a:fontRef idx="minor">
            <a:schemeClr val="lt1"/>
          </a:fontRef>
        </p:style>
        <p:txBody>
          <a:bodyPr vert="vert" wrap="none" rtlCol="0">
            <a:spAutoFit/>
          </a:bodyPr>
          <a:lstStyle/>
          <a:p>
            <a:r>
              <a:rPr lang="en-US" sz="1200" b="1" dirty="0"/>
              <a:t>Data Files</a:t>
            </a:r>
          </a:p>
        </p:txBody>
      </p:sp>
      <p:sp>
        <p:nvSpPr>
          <p:cNvPr id="48" name="AutoShape 18"/>
          <p:cNvSpPr>
            <a:spLocks noChangeArrowheads="1"/>
          </p:cNvSpPr>
          <p:nvPr/>
        </p:nvSpPr>
        <p:spPr bwMode="auto">
          <a:xfrm>
            <a:off x="7467600" y="3749442"/>
            <a:ext cx="372177" cy="457200"/>
          </a:xfrm>
          <a:prstGeom prst="can">
            <a:avLst>
              <a:gd name="adj" fmla="val 32353"/>
            </a:avLst>
          </a:prstGeom>
          <a:gradFill rotWithShape="0">
            <a:gsLst>
              <a:gs pos="0">
                <a:schemeClr val="bg1"/>
              </a:gs>
              <a:gs pos="100000">
                <a:schemeClr val="accent1"/>
              </a:gs>
            </a:gsLst>
            <a:lin ang="5400000" scaled="1"/>
          </a:gradFill>
          <a:ln w="9525">
            <a:solidFill>
              <a:schemeClr val="tx1"/>
            </a:solidFill>
            <a:miter lim="800000"/>
          </a:ln>
        </p:spPr>
        <p:txBody>
          <a:bodyPr wrap="none" anchor="ctr"/>
          <a:lstStyle/>
          <a:p>
            <a:pPr algn="ctr"/>
            <a:endParaRPr lang="en-US" dirty="0">
              <a:latin typeface="Tahoma" panose="020B0604030504040204" pitchFamily="34" charset="0"/>
            </a:endParaRPr>
          </a:p>
        </p:txBody>
      </p:sp>
      <p:sp>
        <p:nvSpPr>
          <p:cNvPr id="49" name="TextBox 48"/>
          <p:cNvSpPr txBox="1"/>
          <p:nvPr/>
        </p:nvSpPr>
        <p:spPr>
          <a:xfrm>
            <a:off x="8001010" y="4740042"/>
            <a:ext cx="369332" cy="746358"/>
          </a:xfrm>
          <a:prstGeom prst="rect">
            <a:avLst/>
          </a:prstGeom>
        </p:spPr>
        <p:style>
          <a:lnRef idx="0">
            <a:schemeClr val="accent2"/>
          </a:lnRef>
          <a:fillRef idx="3">
            <a:schemeClr val="accent2"/>
          </a:fillRef>
          <a:effectRef idx="3">
            <a:schemeClr val="accent2"/>
          </a:effectRef>
          <a:fontRef idx="minor">
            <a:schemeClr val="lt1"/>
          </a:fontRef>
        </p:style>
        <p:txBody>
          <a:bodyPr vert="vert" wrap="none" rtlCol="0">
            <a:spAutoFit/>
          </a:bodyPr>
          <a:lstStyle/>
          <a:p>
            <a:r>
              <a:rPr lang="en-US" sz="1200" b="1" dirty="0"/>
              <a:t>Data Files</a:t>
            </a:r>
          </a:p>
        </p:txBody>
      </p:sp>
      <p:sp>
        <p:nvSpPr>
          <p:cNvPr id="50" name="AutoShape 18"/>
          <p:cNvSpPr>
            <a:spLocks noChangeArrowheads="1"/>
          </p:cNvSpPr>
          <p:nvPr/>
        </p:nvSpPr>
        <p:spPr bwMode="auto">
          <a:xfrm>
            <a:off x="7467600" y="4892442"/>
            <a:ext cx="372177" cy="457200"/>
          </a:xfrm>
          <a:prstGeom prst="can">
            <a:avLst>
              <a:gd name="adj" fmla="val 32353"/>
            </a:avLst>
          </a:prstGeom>
          <a:gradFill rotWithShape="0">
            <a:gsLst>
              <a:gs pos="0">
                <a:schemeClr val="bg1"/>
              </a:gs>
              <a:gs pos="100000">
                <a:schemeClr val="accent1"/>
              </a:gs>
            </a:gsLst>
            <a:lin ang="5400000" scaled="1"/>
          </a:gradFill>
          <a:ln w="9525">
            <a:solidFill>
              <a:schemeClr val="tx1"/>
            </a:solidFill>
            <a:miter lim="800000"/>
          </a:ln>
        </p:spPr>
        <p:txBody>
          <a:bodyPr wrap="none" anchor="ctr"/>
          <a:lstStyle/>
          <a:p>
            <a:pPr algn="ctr"/>
            <a:endParaRPr lang="en-US" dirty="0">
              <a:latin typeface="Tahoma" panose="020B060403050404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180" y="1123838"/>
            <a:ext cx="2324911" cy="4601183"/>
          </a:xfrm>
        </p:spPr>
        <p:txBody>
          <a:bodyPr/>
          <a:lstStyle/>
          <a:p>
            <a:pPr algn="ctr"/>
            <a:br>
              <a:rPr lang="en-US" dirty="0"/>
            </a:br>
            <a:r>
              <a:rPr lang="en-US" dirty="0"/>
              <a:t>File Based Systems Limitations </a:t>
            </a:r>
            <a:br>
              <a:rPr lang="en-US" dirty="0"/>
            </a:br>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t>9</a:t>
            </a:fld>
            <a:endParaRPr lang="en-US" dirty="0"/>
          </a:p>
        </p:txBody>
      </p:sp>
      <p:graphicFrame>
        <p:nvGraphicFramePr>
          <p:cNvPr id="5" name="Group 76"/>
          <p:cNvGraphicFramePr>
            <a:graphicFrameLocks noGrp="1"/>
          </p:cNvGraphicFramePr>
          <p:nvPr/>
        </p:nvGraphicFramePr>
        <p:xfrm>
          <a:off x="2971800" y="762001"/>
          <a:ext cx="5486399" cy="2718130"/>
        </p:xfrm>
        <a:graphic>
          <a:graphicData uri="http://schemas.openxmlformats.org/drawingml/2006/table">
            <a:tbl>
              <a:tblPr/>
              <a:tblGrid>
                <a:gridCol w="1498718">
                  <a:extLst>
                    <a:ext uri="{9D8B030D-6E8A-4147-A177-3AD203B41FA5}">
                      <a16:colId xmlns:a16="http://schemas.microsoft.com/office/drawing/2014/main" val="20000"/>
                    </a:ext>
                  </a:extLst>
                </a:gridCol>
                <a:gridCol w="311921">
                  <a:extLst>
                    <a:ext uri="{9D8B030D-6E8A-4147-A177-3AD203B41FA5}">
                      <a16:colId xmlns:a16="http://schemas.microsoft.com/office/drawing/2014/main" val="20001"/>
                    </a:ext>
                  </a:extLst>
                </a:gridCol>
                <a:gridCol w="1481627">
                  <a:extLst>
                    <a:ext uri="{9D8B030D-6E8A-4147-A177-3AD203B41FA5}">
                      <a16:colId xmlns:a16="http://schemas.microsoft.com/office/drawing/2014/main" val="20002"/>
                    </a:ext>
                  </a:extLst>
                </a:gridCol>
                <a:gridCol w="392039">
                  <a:extLst>
                    <a:ext uri="{9D8B030D-6E8A-4147-A177-3AD203B41FA5}">
                      <a16:colId xmlns:a16="http://schemas.microsoft.com/office/drawing/2014/main" val="20003"/>
                    </a:ext>
                  </a:extLst>
                </a:gridCol>
                <a:gridCol w="1802094">
                  <a:extLst>
                    <a:ext uri="{9D8B030D-6E8A-4147-A177-3AD203B41FA5}">
                      <a16:colId xmlns:a16="http://schemas.microsoft.com/office/drawing/2014/main" val="20004"/>
                    </a:ext>
                  </a:extLst>
                </a:gridCol>
              </a:tblGrid>
              <a:tr h="43213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900" b="1" i="0" u="none" strike="noStrike" cap="none" normalizeH="0" baseline="0" dirty="0">
                          <a:ln>
                            <a:noFill/>
                          </a:ln>
                          <a:solidFill>
                            <a:srgbClr val="33CC33"/>
                          </a:solidFill>
                          <a:effectLst/>
                          <a:latin typeface="Times New Roman" panose="02020603050405020304" pitchFamily="18" charset="0"/>
                          <a:cs typeface="Times New Roman" panose="02020603050405020304" pitchFamily="18" charset="0"/>
                        </a:rPr>
                        <a:t>Account</a:t>
                      </a:r>
                      <a:endParaRPr kumimoji="0" lang="en-US" sz="1900" b="0" i="0" u="none" strike="noStrike" cap="none" normalizeH="0" baseline="0" dirty="0">
                        <a:ln>
                          <a:noFill/>
                        </a:ln>
                        <a:solidFill>
                          <a:srgbClr val="33CC33"/>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a:ln>
                          <a:noFill/>
                        </a:ln>
                        <a:solidFill>
                          <a:srgbClr val="33CC33"/>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900" b="1" i="0" u="none" strike="noStrike" cap="none" normalizeH="0" baseline="0">
                          <a:ln>
                            <a:noFill/>
                          </a:ln>
                          <a:solidFill>
                            <a:srgbClr val="33CC33"/>
                          </a:solidFill>
                          <a:effectLst/>
                          <a:latin typeface="Times New Roman" panose="02020603050405020304" pitchFamily="18" charset="0"/>
                          <a:cs typeface="Times New Roman" panose="02020603050405020304" pitchFamily="18" charset="0"/>
                        </a:rPr>
                        <a:t>Exam</a:t>
                      </a:r>
                      <a:endParaRPr kumimoji="0" lang="en-US" sz="1900" b="0" i="0" u="none" strike="noStrike" cap="none" normalizeH="0" baseline="0">
                        <a:ln>
                          <a:noFill/>
                        </a:ln>
                        <a:solidFill>
                          <a:srgbClr val="33CC33"/>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a:ln>
                          <a:noFill/>
                        </a:ln>
                        <a:solidFill>
                          <a:srgbClr val="33CC33"/>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900" b="1" i="0" u="none" strike="noStrike" cap="none" normalizeH="0" baseline="0" dirty="0">
                          <a:ln>
                            <a:noFill/>
                          </a:ln>
                          <a:solidFill>
                            <a:srgbClr val="33CC33"/>
                          </a:solidFill>
                          <a:effectLst/>
                          <a:latin typeface="Times New Roman" panose="02020603050405020304" pitchFamily="18" charset="0"/>
                          <a:cs typeface="Times New Roman" panose="02020603050405020304" pitchFamily="18" charset="0"/>
                        </a:rPr>
                        <a:t>Registration</a:t>
                      </a:r>
                      <a:endParaRPr kumimoji="0" lang="en-US" sz="1900" b="1" i="0" u="none" strike="noStrike" cap="none" normalizeH="0" baseline="0" dirty="0">
                        <a:ln>
                          <a:noFill/>
                        </a:ln>
                        <a:solidFill>
                          <a:srgbClr val="33CC33"/>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977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Reg_Number</a:t>
                      </a:r>
                      <a:endParaRPr kumimoji="0" lang="en-US" sz="19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a:ln>
                          <a:noFill/>
                        </a:ln>
                        <a:solidFill>
                          <a:srgbClr val="33CC33"/>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Reg_Number</a:t>
                      </a:r>
                      <a:endParaRPr kumimoji="0" lang="en-US" sz="19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Reg_Number</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977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Name</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a:ln>
                          <a:noFill/>
                        </a:ln>
                        <a:solidFill>
                          <a:srgbClr val="33CC33"/>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Name</a:t>
                      </a:r>
                      <a:endParaRPr kumimoji="0" lang="en-US" sz="19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Name</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977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Father Name</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dirty="0">
                        <a:ln>
                          <a:noFill/>
                        </a:ln>
                        <a:solidFill>
                          <a:srgbClr val="33CC33"/>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Address</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Father Name</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977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dirty="0">
                        <a:ln>
                          <a:noFill/>
                        </a:ln>
                        <a:solidFill>
                          <a:srgbClr val="33CC33"/>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Phone</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977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Fine</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dirty="0">
                        <a:ln>
                          <a:noFill/>
                        </a:ln>
                        <a:solidFill>
                          <a:srgbClr val="33CC33"/>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Semester</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Address</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977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Address</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Grade</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9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a:t>
                      </a:r>
                      <a:endParaRPr kumimoji="0" lang="en-US" sz="1900" b="0" i="0" u="none" strike="noStrike" cap="none" normalizeH="0" baseline="0" dirty="0">
                        <a:ln>
                          <a:noFill/>
                        </a:ln>
                        <a:solidFill>
                          <a:schemeClr val="tx1"/>
                        </a:solidFill>
                        <a:effectLst/>
                        <a:latin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 name="Rectangle 5"/>
          <p:cNvSpPr/>
          <p:nvPr/>
        </p:nvSpPr>
        <p:spPr>
          <a:xfrm>
            <a:off x="2667000" y="3581400"/>
            <a:ext cx="6172200" cy="2369880"/>
          </a:xfrm>
          <a:prstGeom prst="rect">
            <a:avLst/>
          </a:prstGeom>
        </p:spPr>
        <p:txBody>
          <a:bodyPr wrap="square">
            <a:spAutoFit/>
          </a:bodyPr>
          <a:lstStyle/>
          <a:p>
            <a:pPr marL="468630" lvl="1" indent="-347980">
              <a:lnSpc>
                <a:spcPct val="90000"/>
              </a:lnSpc>
              <a:spcBef>
                <a:spcPts val="1200"/>
              </a:spcBef>
              <a:buClr>
                <a:schemeClr val="accent1"/>
              </a:buClr>
              <a:buSzPct val="110000"/>
              <a:buFont typeface="Wingdings" panose="05000000000000000000" pitchFamily="2" charset="2"/>
              <a:buChar char="§"/>
            </a:pPr>
            <a:r>
              <a:rPr lang="en-US" sz="2000" b="1" dirty="0">
                <a:solidFill>
                  <a:schemeClr val="tx1">
                    <a:lumMod val="65000"/>
                    <a:lumOff val="35000"/>
                  </a:schemeClr>
                </a:solidFill>
              </a:rPr>
              <a:t>Separation and isolation of data </a:t>
            </a:r>
            <a:r>
              <a:rPr lang="en-US" sz="2000" dirty="0">
                <a:solidFill>
                  <a:schemeClr val="tx1">
                    <a:lumMod val="65000"/>
                    <a:lumOff val="35000"/>
                  </a:schemeClr>
                </a:solidFill>
              </a:rPr>
              <a:t>(more than two files)</a:t>
            </a:r>
          </a:p>
          <a:p>
            <a:pPr marL="468630" lvl="1" indent="-347980">
              <a:lnSpc>
                <a:spcPct val="90000"/>
              </a:lnSpc>
              <a:spcBef>
                <a:spcPts val="1200"/>
              </a:spcBef>
              <a:buClr>
                <a:schemeClr val="accent1"/>
              </a:buClr>
              <a:buSzPct val="110000"/>
              <a:buFont typeface="Wingdings" panose="05000000000000000000" pitchFamily="2" charset="2"/>
              <a:buChar char="§"/>
            </a:pPr>
            <a:r>
              <a:rPr lang="en-US" sz="2000" b="1" dirty="0">
                <a:solidFill>
                  <a:schemeClr val="tx1">
                    <a:lumMod val="65000"/>
                    <a:lumOff val="35000"/>
                  </a:schemeClr>
                </a:solidFill>
              </a:rPr>
              <a:t>Duplication of data</a:t>
            </a:r>
            <a:r>
              <a:rPr lang="en-US" sz="2000" dirty="0">
                <a:solidFill>
                  <a:schemeClr val="tx1">
                    <a:lumMod val="65000"/>
                    <a:lumOff val="35000"/>
                  </a:schemeClr>
                </a:solidFill>
              </a:rPr>
              <a:t> </a:t>
            </a:r>
          </a:p>
          <a:p>
            <a:pPr marL="468630" lvl="1" indent="-347980">
              <a:lnSpc>
                <a:spcPct val="90000"/>
              </a:lnSpc>
              <a:spcBef>
                <a:spcPts val="1200"/>
              </a:spcBef>
              <a:buClr>
                <a:schemeClr val="accent1"/>
              </a:buClr>
              <a:buSzPct val="110000"/>
              <a:buFont typeface="Wingdings" panose="05000000000000000000" pitchFamily="2" charset="2"/>
              <a:buChar char="§"/>
            </a:pPr>
            <a:r>
              <a:rPr lang="en-US" sz="2000" b="1" dirty="0">
                <a:solidFill>
                  <a:schemeClr val="tx1">
                    <a:lumMod val="65000"/>
                    <a:lumOff val="35000"/>
                  </a:schemeClr>
                </a:solidFill>
              </a:rPr>
              <a:t>Data dependence (</a:t>
            </a:r>
            <a:r>
              <a:rPr lang="en-US" sz="2000" dirty="0">
                <a:solidFill>
                  <a:schemeClr val="tx1">
                    <a:lumMod val="65000"/>
                    <a:lumOff val="35000"/>
                  </a:schemeClr>
                </a:solidFill>
              </a:rPr>
              <a:t>Applications</a:t>
            </a:r>
            <a:r>
              <a:rPr lang="en-US" sz="2000" b="1" dirty="0">
                <a:solidFill>
                  <a:schemeClr val="tx1">
                    <a:lumMod val="65000"/>
                    <a:lumOff val="35000"/>
                  </a:schemeClr>
                </a:solidFill>
              </a:rPr>
              <a:t>)</a:t>
            </a:r>
          </a:p>
          <a:p>
            <a:pPr marL="468630" lvl="1" indent="-347980">
              <a:lnSpc>
                <a:spcPct val="90000"/>
              </a:lnSpc>
              <a:spcBef>
                <a:spcPts val="1200"/>
              </a:spcBef>
              <a:buClr>
                <a:schemeClr val="accent1"/>
              </a:buClr>
              <a:buSzPct val="110000"/>
              <a:buFont typeface="Wingdings" panose="05000000000000000000" pitchFamily="2" charset="2"/>
              <a:buChar char="§"/>
            </a:pPr>
            <a:r>
              <a:rPr lang="en-US" sz="2000" b="1" dirty="0">
                <a:solidFill>
                  <a:schemeClr val="tx1">
                    <a:lumMod val="65000"/>
                    <a:lumOff val="35000"/>
                  </a:schemeClr>
                </a:solidFill>
              </a:rPr>
              <a:t>Incompatible file formats (</a:t>
            </a:r>
            <a:r>
              <a:rPr lang="en-US" sz="2000" dirty="0">
                <a:solidFill>
                  <a:schemeClr val="tx1">
                    <a:lumMod val="65000"/>
                    <a:lumOff val="35000"/>
                  </a:schemeClr>
                </a:solidFill>
              </a:rPr>
              <a:t>Programming Lang.</a:t>
            </a:r>
            <a:r>
              <a:rPr lang="en-US" sz="2000" b="1" dirty="0">
                <a:solidFill>
                  <a:schemeClr val="tx1">
                    <a:lumMod val="65000"/>
                    <a:lumOff val="35000"/>
                  </a:schemeClr>
                </a:solidFill>
              </a:rPr>
              <a:t>)</a:t>
            </a:r>
          </a:p>
          <a:p>
            <a:pPr marL="468630" lvl="1" indent="-347980">
              <a:lnSpc>
                <a:spcPct val="90000"/>
              </a:lnSpc>
              <a:spcBef>
                <a:spcPts val="1200"/>
              </a:spcBef>
              <a:buClr>
                <a:schemeClr val="accent1"/>
              </a:buClr>
              <a:buSzPct val="110000"/>
              <a:buFont typeface="Wingdings" panose="05000000000000000000" pitchFamily="2" charset="2"/>
              <a:buChar char="§"/>
            </a:pPr>
            <a:r>
              <a:rPr lang="en-US" sz="2000" b="1" dirty="0">
                <a:solidFill>
                  <a:schemeClr val="tx1">
                    <a:lumMod val="65000"/>
                    <a:lumOff val="35000"/>
                  </a:schemeClr>
                </a:solidFill>
              </a:rPr>
              <a:t>Fixed queries of application programs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br>
              <a:rPr lang="en-US" sz="4000" dirty="0"/>
            </a:br>
            <a:r>
              <a:rPr lang="en-US" sz="4000" dirty="0"/>
              <a:t>Database Approach </a:t>
            </a:r>
            <a:br>
              <a:rPr lang="en-US" sz="4000" dirty="0"/>
            </a:br>
            <a:br>
              <a:rPr lang="en-US" sz="4000" dirty="0"/>
            </a:br>
            <a:r>
              <a:rPr lang="en-US" sz="3200" b="1" dirty="0">
                <a:effectLst>
                  <a:outerShdw blurRad="38100" dist="38100" dir="2700000" algn="tl">
                    <a:srgbClr val="000000">
                      <a:alpha val="43137"/>
                    </a:srgbClr>
                  </a:outerShdw>
                </a:effectLst>
              </a:rPr>
              <a:t>Advantages</a:t>
            </a:r>
            <a:br>
              <a:rPr lang="en-US" sz="4000" dirty="0"/>
            </a:br>
            <a:endParaRPr lang="en-US" sz="4000" dirty="0"/>
          </a:p>
        </p:txBody>
      </p:sp>
      <p:sp>
        <p:nvSpPr>
          <p:cNvPr id="4" name="Slide Number Placeholder 3"/>
          <p:cNvSpPr>
            <a:spLocks noGrp="1"/>
          </p:cNvSpPr>
          <p:nvPr>
            <p:ph type="sldNum" sz="quarter" idx="12"/>
          </p:nvPr>
        </p:nvSpPr>
        <p:spPr/>
        <p:txBody>
          <a:bodyPr/>
          <a:lstStyle/>
          <a:p>
            <a:fld id="{4FCBA6A4-4AC1-4AE5-BF17-AC49EE4BA738}" type="slidenum">
              <a:rPr lang="en-US" smtClean="0"/>
              <a:t>10</a:t>
            </a:fld>
            <a:endParaRPr lang="en-US" dirty="0"/>
          </a:p>
        </p:txBody>
      </p:sp>
      <p:sp>
        <p:nvSpPr>
          <p:cNvPr id="8" name="Rectangle 7"/>
          <p:cNvSpPr/>
          <p:nvPr/>
        </p:nvSpPr>
        <p:spPr>
          <a:xfrm>
            <a:off x="4495800" y="6858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Registration</a:t>
            </a:r>
          </a:p>
        </p:txBody>
      </p:sp>
      <p:sp>
        <p:nvSpPr>
          <p:cNvPr id="9" name="Rectangle 8"/>
          <p:cNvSpPr/>
          <p:nvPr/>
        </p:nvSpPr>
        <p:spPr>
          <a:xfrm>
            <a:off x="3581400" y="16764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Attendance</a:t>
            </a:r>
          </a:p>
        </p:txBody>
      </p:sp>
      <p:sp>
        <p:nvSpPr>
          <p:cNvPr id="10" name="Rectangle 9"/>
          <p:cNvSpPr/>
          <p:nvPr/>
        </p:nvSpPr>
        <p:spPr>
          <a:xfrm>
            <a:off x="2895600" y="28194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Exam</a:t>
            </a:r>
          </a:p>
        </p:txBody>
      </p:sp>
      <p:sp>
        <p:nvSpPr>
          <p:cNvPr id="11" name="Rectangle 10"/>
          <p:cNvSpPr/>
          <p:nvPr/>
        </p:nvSpPr>
        <p:spPr>
          <a:xfrm>
            <a:off x="3657600" y="38862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Accounts</a:t>
            </a:r>
          </a:p>
        </p:txBody>
      </p:sp>
      <p:sp>
        <p:nvSpPr>
          <p:cNvPr id="12" name="Rectangle 11"/>
          <p:cNvSpPr/>
          <p:nvPr/>
        </p:nvSpPr>
        <p:spPr>
          <a:xfrm>
            <a:off x="4648200" y="4876800"/>
            <a:ext cx="1600200" cy="5334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000" b="1" dirty="0">
                <a:effectLst>
                  <a:outerShdw blurRad="38100" dist="38100" dir="2700000" algn="tl">
                    <a:srgbClr val="000000">
                      <a:alpha val="43137"/>
                    </a:srgbClr>
                  </a:outerShdw>
                </a:effectLst>
              </a:rPr>
              <a:t>Admission</a:t>
            </a:r>
          </a:p>
        </p:txBody>
      </p:sp>
      <p:pic>
        <p:nvPicPr>
          <p:cNvPr id="13" name="Picture 4" descr="C:\Users\SALMAN\Desktop\Database Inactive Hot.png"/>
          <p:cNvPicPr>
            <a:picLocks noChangeAspect="1" noChangeArrowheads="1"/>
          </p:cNvPicPr>
          <p:nvPr/>
        </p:nvPicPr>
        <p:blipFill>
          <a:blip r:embed="rId2"/>
          <a:srcRect/>
          <a:stretch>
            <a:fillRect/>
          </a:stretch>
        </p:blipFill>
        <p:spPr bwMode="auto">
          <a:xfrm>
            <a:off x="7467599" y="2743200"/>
            <a:ext cx="781050" cy="781050"/>
          </a:xfrm>
          <a:prstGeom prst="rect">
            <a:avLst/>
          </a:prstGeom>
          <a:noFill/>
        </p:spPr>
      </p:pic>
      <p:sp>
        <p:nvSpPr>
          <p:cNvPr id="14" name="TextBox 13"/>
          <p:cNvSpPr txBox="1"/>
          <p:nvPr/>
        </p:nvSpPr>
        <p:spPr>
          <a:xfrm>
            <a:off x="8229600" y="2438400"/>
            <a:ext cx="553998" cy="1355499"/>
          </a:xfrm>
          <a:prstGeom prst="rect">
            <a:avLst/>
          </a:prstGeom>
        </p:spPr>
        <p:style>
          <a:lnRef idx="0">
            <a:schemeClr val="accent2"/>
          </a:lnRef>
          <a:fillRef idx="3">
            <a:schemeClr val="accent2"/>
          </a:fillRef>
          <a:effectRef idx="3">
            <a:schemeClr val="accent2"/>
          </a:effectRef>
          <a:fontRef idx="minor">
            <a:schemeClr val="lt1"/>
          </a:fontRef>
        </p:style>
        <p:txBody>
          <a:bodyPr vert="vert" wrap="none" rtlCol="0">
            <a:spAutoFit/>
          </a:bodyPr>
          <a:lstStyle/>
          <a:p>
            <a:r>
              <a:rPr lang="en-US" sz="2400" b="1" dirty="0"/>
              <a:t>Database</a:t>
            </a:r>
            <a:endParaRPr lang="en-US" b="1" dirty="0"/>
          </a:p>
        </p:txBody>
      </p:sp>
      <p:cxnSp>
        <p:nvCxnSpPr>
          <p:cNvPr id="15" name="Straight Arrow Connector 14"/>
          <p:cNvCxnSpPr/>
          <p:nvPr/>
        </p:nvCxnSpPr>
        <p:spPr>
          <a:xfrm rot="16200000" flipH="1">
            <a:off x="5867401" y="1676400"/>
            <a:ext cx="1066801" cy="457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486400" y="1905000"/>
            <a:ext cx="7620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800600" y="3200400"/>
            <a:ext cx="1295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5562600" y="3505200"/>
            <a:ext cx="7620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flipH="1" flipV="1">
            <a:off x="6096000" y="3962400"/>
            <a:ext cx="7620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200400" y="5802868"/>
            <a:ext cx="48768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b="1" dirty="0"/>
              <a:t>University Management System</a:t>
            </a:r>
          </a:p>
        </p:txBody>
      </p:sp>
      <p:sp>
        <p:nvSpPr>
          <p:cNvPr id="24" name="TextBox 23"/>
          <p:cNvSpPr txBox="1"/>
          <p:nvPr/>
        </p:nvSpPr>
        <p:spPr>
          <a:xfrm>
            <a:off x="6324600" y="2971800"/>
            <a:ext cx="811441" cy="369332"/>
          </a:xfrm>
          <a:prstGeom prst="rect">
            <a:avLst/>
          </a:prstGeom>
        </p:spPr>
        <p:style>
          <a:lnRef idx="0">
            <a:schemeClr val="accent4"/>
          </a:lnRef>
          <a:fillRef idx="3">
            <a:schemeClr val="accent4"/>
          </a:fillRef>
          <a:effectRef idx="3">
            <a:schemeClr val="accent4"/>
          </a:effectRef>
          <a:fontRef idx="minor">
            <a:schemeClr val="lt1"/>
          </a:fontRef>
        </p:style>
        <p:txBody>
          <a:bodyPr wrap="none" rtlCol="0">
            <a:spAutoFit/>
          </a:bodyPr>
          <a:lstStyle/>
          <a:p>
            <a:r>
              <a:rPr lang="en-US" b="1" dirty="0">
                <a:effectLst>
                  <a:outerShdw blurRad="38100" dist="38100" dir="2700000" algn="tl">
                    <a:srgbClr val="000000">
                      <a:alpha val="43137"/>
                    </a:srgbClr>
                  </a:outerShdw>
                </a:effectLst>
              </a:rPr>
              <a:t>DBMS</a:t>
            </a:r>
          </a:p>
        </p:txBody>
      </p:sp>
      <p:cxnSp>
        <p:nvCxnSpPr>
          <p:cNvPr id="29" name="Straight Arrow Connector 28"/>
          <p:cNvCxnSpPr>
            <a:stCxn id="24" idx="3"/>
            <a:endCxn id="13" idx="1"/>
          </p:cNvCxnSpPr>
          <p:nvPr/>
        </p:nvCxnSpPr>
        <p:spPr>
          <a:xfrm flipV="1">
            <a:off x="7136041" y="3133725"/>
            <a:ext cx="331558" cy="22741"/>
          </a:xfrm>
          <a:prstGeom prst="straightConnector1">
            <a:avLst/>
          </a:prstGeom>
          <a:ln>
            <a:tailEnd type="arrow"/>
          </a:ln>
          <a:effectLst>
            <a:outerShdw blurRad="50800" dist="38100" dir="5400000" algn="t" rotWithShape="0">
              <a:prstClr val="black">
                <a:alpha val="40000"/>
              </a:prstClr>
            </a:outerShdw>
          </a:effectLst>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123838"/>
            <a:ext cx="2514600" cy="4601183"/>
          </a:xfrm>
        </p:spPr>
        <p:txBody>
          <a:bodyPr/>
          <a:lstStyle/>
          <a:p>
            <a:pPr algn="ctr"/>
            <a:r>
              <a:rPr lang="en-US" dirty="0"/>
              <a:t>Database Advantages</a:t>
            </a:r>
          </a:p>
        </p:txBody>
      </p:sp>
      <p:sp>
        <p:nvSpPr>
          <p:cNvPr id="3" name="Content Placeholder 2"/>
          <p:cNvSpPr>
            <a:spLocks noGrp="1"/>
          </p:cNvSpPr>
          <p:nvPr>
            <p:ph idx="1"/>
          </p:nvPr>
        </p:nvSpPr>
        <p:spPr>
          <a:xfrm>
            <a:off x="2901950" y="864108"/>
            <a:ext cx="5784850" cy="5120640"/>
          </a:xfrm>
        </p:spPr>
        <p:txBody>
          <a:bodyPr>
            <a:normAutofit/>
          </a:bodyPr>
          <a:lstStyle/>
          <a:p>
            <a:pPr marL="468630" lvl="1" indent="-347980" algn="just">
              <a:spcBef>
                <a:spcPts val="1200"/>
              </a:spcBef>
              <a:spcAft>
                <a:spcPts val="0"/>
              </a:spcAft>
              <a:buSzPct val="110000"/>
              <a:buFont typeface="Wingdings" panose="05000000000000000000" pitchFamily="2" charset="2"/>
              <a:buChar char="§"/>
            </a:pPr>
            <a:r>
              <a:rPr lang="en-US" sz="2800" dirty="0"/>
              <a:t>Data sharing </a:t>
            </a:r>
          </a:p>
          <a:p>
            <a:pPr marL="468630" lvl="1" indent="-347980" algn="just">
              <a:spcBef>
                <a:spcPts val="1200"/>
              </a:spcBef>
              <a:spcAft>
                <a:spcPts val="0"/>
              </a:spcAft>
              <a:buSzPct val="110000"/>
              <a:buFont typeface="Wingdings" panose="05000000000000000000" pitchFamily="2" charset="2"/>
              <a:buChar char="§"/>
            </a:pPr>
            <a:r>
              <a:rPr lang="en-US" sz="2800" dirty="0"/>
              <a:t>Reduced Redundancy (</a:t>
            </a:r>
            <a:r>
              <a:rPr lang="en-US" dirty="0"/>
              <a:t>Duplication</a:t>
            </a:r>
            <a:r>
              <a:rPr lang="en-US" sz="2800" dirty="0"/>
              <a:t>)</a:t>
            </a:r>
          </a:p>
          <a:p>
            <a:pPr marL="468630" lvl="1" indent="-347980" algn="just">
              <a:spcBef>
                <a:spcPts val="1200"/>
              </a:spcBef>
              <a:spcAft>
                <a:spcPts val="0"/>
              </a:spcAft>
              <a:buSzPct val="110000"/>
              <a:buFont typeface="Wingdings" panose="05000000000000000000" pitchFamily="2" charset="2"/>
              <a:buChar char="§"/>
            </a:pPr>
            <a:r>
              <a:rPr lang="en-US" sz="2800" dirty="0"/>
              <a:t>Data independent (</a:t>
            </a:r>
            <a:r>
              <a:rPr lang="en-US" dirty="0"/>
              <a:t>Self description of data</a:t>
            </a:r>
            <a:r>
              <a:rPr lang="en-US" sz="2800" dirty="0"/>
              <a:t>)</a:t>
            </a:r>
          </a:p>
          <a:p>
            <a:pPr marL="468630" lvl="1" indent="-347980" algn="just">
              <a:spcBef>
                <a:spcPts val="1200"/>
              </a:spcBef>
              <a:spcAft>
                <a:spcPts val="0"/>
              </a:spcAft>
              <a:buSzPct val="110000"/>
              <a:buFont typeface="Wingdings" panose="05000000000000000000" pitchFamily="2" charset="2"/>
              <a:buChar char="§"/>
            </a:pPr>
            <a:r>
              <a:rPr lang="en-US" sz="2800" dirty="0"/>
              <a:t>Data Integrity (</a:t>
            </a:r>
            <a:r>
              <a:rPr lang="en-US" dirty="0"/>
              <a:t>Correctness</a:t>
            </a:r>
            <a:r>
              <a:rPr lang="en-US" sz="2800" dirty="0"/>
              <a:t>)</a:t>
            </a:r>
          </a:p>
        </p:txBody>
      </p:sp>
      <p:sp>
        <p:nvSpPr>
          <p:cNvPr id="4" name="Slide Number Placeholder 3"/>
          <p:cNvSpPr>
            <a:spLocks noGrp="1"/>
          </p:cNvSpPr>
          <p:nvPr>
            <p:ph type="sldNum" sz="quarter" idx="12"/>
          </p:nvPr>
        </p:nvSpPr>
        <p:spPr/>
        <p:txBody>
          <a:bodyPr/>
          <a:lstStyle/>
          <a:p>
            <a:fld id="{4FCBA6A4-4AC1-4AE5-BF17-AC49EE4BA738}" type="slidenum">
              <a:rPr lang="en-US" smtClean="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a:t>Database Management System</a:t>
            </a:r>
            <a:br>
              <a:rPr lang="en-US" sz="2800" dirty="0"/>
            </a:br>
            <a:br>
              <a:rPr lang="en-US" sz="2800" dirty="0"/>
            </a:br>
            <a:r>
              <a:rPr lang="en-US" sz="4400" dirty="0"/>
              <a:t>DBMS</a:t>
            </a:r>
            <a:endParaRPr lang="en-US" sz="2800" dirty="0"/>
          </a:p>
        </p:txBody>
      </p:sp>
      <p:sp>
        <p:nvSpPr>
          <p:cNvPr id="3" name="Content Placeholder 2"/>
          <p:cNvSpPr>
            <a:spLocks noGrp="1"/>
          </p:cNvSpPr>
          <p:nvPr>
            <p:ph idx="1"/>
          </p:nvPr>
        </p:nvSpPr>
        <p:spPr>
          <a:xfrm>
            <a:off x="2819400" y="864108"/>
            <a:ext cx="5714999" cy="5120640"/>
          </a:xfrm>
        </p:spPr>
        <p:txBody>
          <a:bodyPr>
            <a:normAutofit/>
          </a:bodyPr>
          <a:lstStyle/>
          <a:p>
            <a:pPr marL="468630" lvl="1" indent="-347980" algn="just">
              <a:spcBef>
                <a:spcPts val="1200"/>
              </a:spcBef>
              <a:spcAft>
                <a:spcPts val="0"/>
              </a:spcAft>
              <a:buSzPct val="110000"/>
              <a:buFont typeface="Wingdings" panose="05000000000000000000" pitchFamily="2" charset="2"/>
              <a:buChar char="§"/>
            </a:pPr>
            <a:r>
              <a:rPr lang="en-US" sz="2400" dirty="0"/>
              <a:t>A software system that enables users to define, create, maintain, and control access to the database.</a:t>
            </a:r>
          </a:p>
          <a:p>
            <a:pPr marL="468630" lvl="1" indent="-347980" algn="just">
              <a:spcBef>
                <a:spcPts val="1200"/>
              </a:spcBef>
              <a:spcAft>
                <a:spcPts val="0"/>
              </a:spcAft>
              <a:buSzPct val="110000"/>
              <a:buFont typeface="Wingdings" panose="05000000000000000000" pitchFamily="2" charset="2"/>
              <a:buChar char="§"/>
            </a:pPr>
            <a:endParaRPr lang="en-US" sz="2400" dirty="0"/>
          </a:p>
          <a:p>
            <a:pPr marL="468630" lvl="1" indent="-347980" algn="just">
              <a:spcBef>
                <a:spcPts val="1200"/>
              </a:spcBef>
              <a:spcAft>
                <a:spcPts val="0"/>
              </a:spcAft>
              <a:buSzPct val="110000"/>
              <a:buFont typeface="Wingdings" panose="05000000000000000000" pitchFamily="2" charset="2"/>
              <a:buChar char="§"/>
            </a:pPr>
            <a:r>
              <a:rPr lang="en-US" sz="2400" dirty="0"/>
              <a:t>The DBMS is the software that interacts with the users application programs and the database.</a:t>
            </a:r>
          </a:p>
        </p:txBody>
      </p:sp>
      <p:sp>
        <p:nvSpPr>
          <p:cNvPr id="4" name="Slide Number Placeholder 3"/>
          <p:cNvSpPr>
            <a:spLocks noGrp="1"/>
          </p:cNvSpPr>
          <p:nvPr>
            <p:ph type="sldNum" sz="quarter" idx="12"/>
          </p:nvPr>
        </p:nvSpPr>
        <p:spPr/>
        <p:txBody>
          <a:bodyPr/>
          <a:lstStyle/>
          <a:p>
            <a:fld id="{4FCBA6A4-4AC1-4AE5-BF17-AC49EE4BA738}" type="slidenum">
              <a:rPr lang="en-US" smtClean="0"/>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688" y="1123838"/>
            <a:ext cx="2324911" cy="4601183"/>
          </a:xfrm>
        </p:spPr>
        <p:txBody>
          <a:bodyPr/>
          <a:lstStyle/>
          <a:p>
            <a:pPr algn="ctr"/>
            <a:r>
              <a:rPr lang="en-US" dirty="0"/>
              <a:t>Application Program</a:t>
            </a:r>
          </a:p>
        </p:txBody>
      </p:sp>
      <p:sp>
        <p:nvSpPr>
          <p:cNvPr id="3" name="Content Placeholder 2"/>
          <p:cNvSpPr>
            <a:spLocks noGrp="1"/>
          </p:cNvSpPr>
          <p:nvPr>
            <p:ph idx="1"/>
          </p:nvPr>
        </p:nvSpPr>
        <p:spPr/>
        <p:txBody>
          <a:bodyPr>
            <a:normAutofit/>
          </a:bodyPr>
          <a:lstStyle/>
          <a:p>
            <a:pPr marL="468630" lvl="1" indent="-347980" algn="just">
              <a:spcBef>
                <a:spcPts val="1200"/>
              </a:spcBef>
              <a:spcAft>
                <a:spcPts val="0"/>
              </a:spcAft>
              <a:buSzPct val="110000"/>
              <a:buFont typeface="Wingdings" panose="05000000000000000000" pitchFamily="2" charset="2"/>
              <a:buChar char="§"/>
            </a:pPr>
            <a:r>
              <a:rPr lang="en-US" sz="2800" dirty="0"/>
              <a:t>A computer program that interacts with the database by issuing an appropriate request (typically an SQL statement) to the DBMS.</a:t>
            </a:r>
          </a:p>
        </p:txBody>
      </p:sp>
      <p:sp>
        <p:nvSpPr>
          <p:cNvPr id="4" name="Slide Number Placeholder 3"/>
          <p:cNvSpPr>
            <a:spLocks noGrp="1"/>
          </p:cNvSpPr>
          <p:nvPr>
            <p:ph type="sldNum" sz="quarter" idx="12"/>
          </p:nvPr>
        </p:nvSpPr>
        <p:spPr/>
        <p:txBody>
          <a:bodyPr/>
          <a:lstStyle/>
          <a:p>
            <a:fld id="{4FCBA6A4-4AC1-4AE5-BF17-AC49EE4BA738}" type="slidenum">
              <a:rPr lang="en-US" smtClean="0"/>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689" y="1123839"/>
            <a:ext cx="2210612" cy="1924162"/>
          </a:xfrm>
        </p:spPr>
        <p:txBody>
          <a:bodyPr/>
          <a:lstStyle/>
          <a:p>
            <a:pPr algn="ctr"/>
            <a:r>
              <a:rPr lang="en-US" dirty="0"/>
              <a:t>Data Flow</a:t>
            </a:r>
          </a:p>
        </p:txBody>
      </p:sp>
      <p:sp>
        <p:nvSpPr>
          <p:cNvPr id="4" name="Slide Number Placeholder 3"/>
          <p:cNvSpPr>
            <a:spLocks noGrp="1"/>
          </p:cNvSpPr>
          <p:nvPr>
            <p:ph type="sldNum" sz="quarter" idx="12"/>
          </p:nvPr>
        </p:nvSpPr>
        <p:spPr/>
        <p:txBody>
          <a:bodyPr/>
          <a:lstStyle/>
          <a:p>
            <a:fld id="{4FCBA6A4-4AC1-4AE5-BF17-AC49EE4BA738}" type="slidenum">
              <a:rPr lang="en-US" smtClean="0"/>
              <a:t>14</a:t>
            </a:fld>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9689" y="2362199"/>
            <a:ext cx="8925281" cy="3895725"/>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a:t>DBMS Services</a:t>
            </a:r>
          </a:p>
        </p:txBody>
      </p:sp>
      <p:sp>
        <p:nvSpPr>
          <p:cNvPr id="3" name="Content Placeholder 2"/>
          <p:cNvSpPr>
            <a:spLocks noGrp="1"/>
          </p:cNvSpPr>
          <p:nvPr>
            <p:ph idx="1"/>
          </p:nvPr>
        </p:nvSpPr>
        <p:spPr>
          <a:xfrm>
            <a:off x="2590800" y="685800"/>
            <a:ext cx="6172200" cy="5562600"/>
          </a:xfrm>
        </p:spPr>
        <p:txBody>
          <a:bodyPr>
            <a:normAutofit/>
          </a:bodyPr>
          <a:lstStyle/>
          <a:p>
            <a:pPr marL="468630" lvl="1" indent="-347980" algn="just">
              <a:spcBef>
                <a:spcPts val="1200"/>
              </a:spcBef>
              <a:spcAft>
                <a:spcPts val="0"/>
              </a:spcAft>
              <a:buSzPct val="110000"/>
              <a:buFont typeface="Wingdings" panose="05000000000000000000" pitchFamily="2" charset="2"/>
              <a:buChar char="§"/>
            </a:pPr>
            <a:r>
              <a:rPr lang="en-US" sz="2400" dirty="0"/>
              <a:t>DBMS allows users to define the database, usually through a </a:t>
            </a:r>
            <a:r>
              <a:rPr lang="en-US" sz="2400" b="1" dirty="0"/>
              <a:t>Data Definition Language (DDL) </a:t>
            </a:r>
            <a:r>
              <a:rPr lang="en-US" sz="2400" dirty="0"/>
              <a:t>which  </a:t>
            </a:r>
            <a:r>
              <a:rPr lang="en-US" sz="2400" b="1" dirty="0"/>
              <a:t>specify</a:t>
            </a:r>
            <a:r>
              <a:rPr lang="en-US" sz="2400" dirty="0"/>
              <a:t> the </a:t>
            </a:r>
            <a:r>
              <a:rPr lang="en-US" sz="2400" b="1" dirty="0"/>
              <a:t>data types, structures and the constraints </a:t>
            </a:r>
            <a:r>
              <a:rPr lang="en-US" sz="2400" dirty="0"/>
              <a:t>on the data to be stored in the database. </a:t>
            </a:r>
          </a:p>
          <a:p>
            <a:pPr marL="468630" lvl="1" indent="-347980" algn="just">
              <a:spcBef>
                <a:spcPts val="1200"/>
              </a:spcBef>
              <a:spcAft>
                <a:spcPts val="0"/>
              </a:spcAft>
              <a:buSzPct val="110000"/>
              <a:buFont typeface="Wingdings" panose="05000000000000000000" pitchFamily="2" charset="2"/>
              <a:buChar char="§"/>
            </a:pPr>
            <a:r>
              <a:rPr lang="en-US" sz="2400" dirty="0"/>
              <a:t>Example: </a:t>
            </a:r>
          </a:p>
          <a:p>
            <a:pPr marL="925830" lvl="2" indent="-347980" algn="just">
              <a:spcBef>
                <a:spcPts val="1200"/>
              </a:spcBef>
              <a:spcAft>
                <a:spcPts val="0"/>
              </a:spcAft>
              <a:buSzPct val="110000"/>
              <a:buFont typeface="Wingdings" panose="05000000000000000000" pitchFamily="2" charset="2"/>
              <a:buChar char="§"/>
            </a:pPr>
            <a:r>
              <a:rPr lang="en-US" sz="2200" dirty="0"/>
              <a:t>Student Name should be of type char of length 100.</a:t>
            </a:r>
          </a:p>
          <a:p>
            <a:pPr marL="925830" lvl="2" indent="-347980" algn="just">
              <a:spcBef>
                <a:spcPts val="1200"/>
              </a:spcBef>
              <a:spcAft>
                <a:spcPts val="0"/>
              </a:spcAft>
              <a:buSzPct val="110000"/>
              <a:buFont typeface="Wingdings" panose="05000000000000000000" pitchFamily="2" charset="2"/>
              <a:buChar char="§"/>
            </a:pPr>
            <a:r>
              <a:rPr lang="en-US" sz="2200" dirty="0"/>
              <a:t>GPA value must be greater than 2.0 to pass the semester    </a:t>
            </a:r>
          </a:p>
        </p:txBody>
      </p:sp>
      <p:sp>
        <p:nvSpPr>
          <p:cNvPr id="4" name="Slide Number Placeholder 3"/>
          <p:cNvSpPr>
            <a:spLocks noGrp="1"/>
          </p:cNvSpPr>
          <p:nvPr>
            <p:ph type="sldNum" sz="quarter" idx="12"/>
          </p:nvPr>
        </p:nvSpPr>
        <p:spPr/>
        <p:txBody>
          <a:bodyPr/>
          <a:lstStyle/>
          <a:p>
            <a:fld id="{4FCBA6A4-4AC1-4AE5-BF17-AC49EE4BA738}" type="slidenum">
              <a:rPr lang="en-US" smtClean="0"/>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a:t>DBMS Services</a:t>
            </a:r>
          </a:p>
        </p:txBody>
      </p:sp>
      <p:sp>
        <p:nvSpPr>
          <p:cNvPr id="3" name="Content Placeholder 2"/>
          <p:cNvSpPr>
            <a:spLocks noGrp="1"/>
          </p:cNvSpPr>
          <p:nvPr>
            <p:ph idx="1"/>
          </p:nvPr>
        </p:nvSpPr>
        <p:spPr>
          <a:xfrm>
            <a:off x="2667000" y="685800"/>
            <a:ext cx="6096000" cy="5638800"/>
          </a:xfrm>
        </p:spPr>
        <p:txBody>
          <a:bodyPr>
            <a:noAutofit/>
          </a:bodyPr>
          <a:lstStyle/>
          <a:p>
            <a:pPr marL="468630" lvl="1" indent="-347980" algn="just">
              <a:spcBef>
                <a:spcPts val="1200"/>
              </a:spcBef>
              <a:spcAft>
                <a:spcPts val="0"/>
              </a:spcAft>
              <a:buSzPct val="110000"/>
              <a:buFont typeface="Wingdings" panose="05000000000000000000" pitchFamily="2" charset="2"/>
              <a:buChar char="§"/>
            </a:pPr>
            <a:r>
              <a:rPr lang="en-US" sz="2400" dirty="0"/>
              <a:t>DBMS allows users to insert, update, delete, and retrieve data from the database, usually through a</a:t>
            </a:r>
            <a:r>
              <a:rPr lang="en-US" sz="2400" b="1" dirty="0"/>
              <a:t> Data Manipulation Language(DML).</a:t>
            </a:r>
          </a:p>
          <a:p>
            <a:pPr marL="468630" lvl="1" indent="-347980" algn="just">
              <a:spcBef>
                <a:spcPts val="1200"/>
              </a:spcBef>
              <a:spcAft>
                <a:spcPts val="0"/>
              </a:spcAft>
              <a:buSzPct val="110000"/>
              <a:buFont typeface="Wingdings" panose="05000000000000000000" pitchFamily="2" charset="2"/>
              <a:buChar char="§"/>
            </a:pPr>
            <a:r>
              <a:rPr lang="en-US" sz="2400" b="1" dirty="0"/>
              <a:t>Structured Query Language </a:t>
            </a:r>
            <a:r>
              <a:rPr lang="en-US" sz="2400" dirty="0"/>
              <a:t>(SQL, pronounced ‘S-Q-L’, or sometimes ‘See-</a:t>
            </a:r>
            <a:r>
              <a:rPr lang="en-US" sz="2400" dirty="0" err="1"/>
              <a:t>Quel</a:t>
            </a:r>
            <a:r>
              <a:rPr lang="en-US" sz="2400" dirty="0"/>
              <a:t>’) standard for Relational DBMS.</a:t>
            </a:r>
          </a:p>
          <a:p>
            <a:pPr marL="925830" lvl="2" indent="-347980" algn="just">
              <a:spcBef>
                <a:spcPts val="1200"/>
              </a:spcBef>
              <a:spcAft>
                <a:spcPts val="0"/>
              </a:spcAft>
              <a:buSzPct val="110000"/>
              <a:buFont typeface="Wingdings" panose="05000000000000000000" pitchFamily="2" charset="2"/>
              <a:buChar char="§"/>
            </a:pPr>
            <a:r>
              <a:rPr lang="en-US" sz="2000" dirty="0"/>
              <a:t>Give the student names whose CGPA is greater than 3.0 (Select)</a:t>
            </a:r>
          </a:p>
          <a:p>
            <a:pPr marL="925830" lvl="2" indent="-347980" algn="just">
              <a:spcBef>
                <a:spcPts val="1200"/>
              </a:spcBef>
              <a:spcAft>
                <a:spcPts val="0"/>
              </a:spcAft>
              <a:buSzPct val="110000"/>
              <a:buFont typeface="Wingdings" panose="05000000000000000000" pitchFamily="2" charset="2"/>
              <a:buChar char="§"/>
            </a:pPr>
            <a:r>
              <a:rPr lang="en-US" sz="2000" dirty="0"/>
              <a:t>Insert new Student information like Name, Age, Father Name, Program, e</a:t>
            </a:r>
            <a:r>
              <a:rPr lang="en-US" sz="2400" dirty="0"/>
              <a:t>tc (Insert)</a:t>
            </a:r>
            <a:endParaRPr lang="en-US" sz="2000" dirty="0"/>
          </a:p>
          <a:p>
            <a:pPr marL="925830" lvl="2" indent="-347980" algn="just">
              <a:spcBef>
                <a:spcPts val="1200"/>
              </a:spcBef>
              <a:spcAft>
                <a:spcPts val="0"/>
              </a:spcAft>
              <a:buSzPct val="110000"/>
              <a:buFont typeface="Wingdings" panose="05000000000000000000" pitchFamily="2" charset="2"/>
              <a:buChar char="§"/>
            </a:pPr>
            <a:r>
              <a:rPr lang="en-US" sz="2000" dirty="0"/>
              <a:t>Delete the record of student having </a:t>
            </a:r>
            <a:r>
              <a:rPr lang="en-US" sz="2000" dirty="0" err="1"/>
              <a:t>Reg</a:t>
            </a:r>
            <a:r>
              <a:rPr lang="en-US" sz="2000" dirty="0"/>
              <a:t># BC123456 (Delete)</a:t>
            </a:r>
          </a:p>
          <a:p>
            <a:pPr marL="925830" lvl="2" indent="-347980" algn="just">
              <a:spcBef>
                <a:spcPts val="1200"/>
              </a:spcBef>
              <a:spcAft>
                <a:spcPts val="0"/>
              </a:spcAft>
              <a:buSzPct val="110000"/>
              <a:buFont typeface="Wingdings" panose="05000000000000000000" pitchFamily="2" charset="2"/>
              <a:buChar char="§"/>
            </a:pPr>
            <a:r>
              <a:rPr lang="en-US" sz="2000" dirty="0"/>
              <a:t>Update the Address of  Student whose mobile number was 033312345678 (Update)</a:t>
            </a:r>
          </a:p>
        </p:txBody>
      </p:sp>
      <p:sp>
        <p:nvSpPr>
          <p:cNvPr id="4" name="Slide Number Placeholder 3"/>
          <p:cNvSpPr>
            <a:spLocks noGrp="1"/>
          </p:cNvSpPr>
          <p:nvPr>
            <p:ph type="sldNum" sz="quarter" idx="12"/>
          </p:nvPr>
        </p:nvSpPr>
        <p:spPr/>
        <p:txBody>
          <a:bodyPr/>
          <a:lstStyle/>
          <a:p>
            <a:fld id="{4FCBA6A4-4AC1-4AE5-BF17-AC49EE4BA738}" type="slidenum">
              <a:rPr lang="en-US" smtClean="0"/>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a:t>DBMS Services</a:t>
            </a:r>
          </a:p>
        </p:txBody>
      </p:sp>
      <p:sp>
        <p:nvSpPr>
          <p:cNvPr id="3" name="Content Placeholder 2"/>
          <p:cNvSpPr>
            <a:spLocks noGrp="1"/>
          </p:cNvSpPr>
          <p:nvPr>
            <p:ph idx="1"/>
          </p:nvPr>
        </p:nvSpPr>
        <p:spPr/>
        <p:txBody>
          <a:bodyPr>
            <a:normAutofit/>
          </a:bodyPr>
          <a:lstStyle/>
          <a:p>
            <a:pPr marL="468630" lvl="1" indent="-347980" algn="just">
              <a:spcBef>
                <a:spcPts val="1200"/>
              </a:spcBef>
              <a:spcAft>
                <a:spcPts val="0"/>
              </a:spcAft>
              <a:buSzPct val="110000"/>
              <a:buFont typeface="Wingdings" panose="05000000000000000000" pitchFamily="2" charset="2"/>
              <a:buChar char="§"/>
            </a:pPr>
            <a:r>
              <a:rPr lang="en-US" sz="3200" dirty="0"/>
              <a:t>DBMS provides controlled access to the database</a:t>
            </a:r>
          </a:p>
          <a:p>
            <a:pPr marL="925830" lvl="2" indent="-347980" algn="just">
              <a:spcBef>
                <a:spcPts val="1200"/>
              </a:spcBef>
              <a:spcAft>
                <a:spcPts val="0"/>
              </a:spcAft>
              <a:buSzPct val="110000"/>
              <a:buFont typeface="Wingdings" panose="05000000000000000000" pitchFamily="2" charset="2"/>
              <a:buChar char="§"/>
            </a:pPr>
            <a:r>
              <a:rPr lang="en-US" sz="2400" dirty="0"/>
              <a:t>A security system</a:t>
            </a:r>
          </a:p>
          <a:p>
            <a:pPr marL="925830" lvl="2" indent="-347980" algn="just">
              <a:spcBef>
                <a:spcPts val="1200"/>
              </a:spcBef>
              <a:spcAft>
                <a:spcPts val="0"/>
              </a:spcAft>
              <a:buSzPct val="110000"/>
              <a:buFont typeface="Wingdings" panose="05000000000000000000" pitchFamily="2" charset="2"/>
              <a:buChar char="§"/>
            </a:pPr>
            <a:r>
              <a:rPr lang="en-US" sz="2400" dirty="0"/>
              <a:t>An integrity system</a:t>
            </a:r>
          </a:p>
          <a:p>
            <a:pPr marL="925830" lvl="2" indent="-347980" algn="just">
              <a:spcBef>
                <a:spcPts val="1200"/>
              </a:spcBef>
              <a:spcAft>
                <a:spcPts val="0"/>
              </a:spcAft>
              <a:buSzPct val="110000"/>
              <a:buFont typeface="Wingdings" panose="05000000000000000000" pitchFamily="2" charset="2"/>
              <a:buChar char="§"/>
            </a:pPr>
            <a:r>
              <a:rPr lang="en-US" sz="2400" dirty="0"/>
              <a:t>A concurrency control system</a:t>
            </a:r>
          </a:p>
          <a:p>
            <a:pPr marL="925830" lvl="2" indent="-347980" algn="just">
              <a:spcBef>
                <a:spcPts val="1200"/>
              </a:spcBef>
              <a:spcAft>
                <a:spcPts val="0"/>
              </a:spcAft>
              <a:buSzPct val="110000"/>
              <a:buFont typeface="Wingdings" panose="05000000000000000000" pitchFamily="2" charset="2"/>
              <a:buChar char="§"/>
            </a:pPr>
            <a:r>
              <a:rPr lang="en-US" sz="2400" dirty="0"/>
              <a:t>A recovery control system</a:t>
            </a:r>
          </a:p>
          <a:p>
            <a:pPr marL="925830" lvl="2" indent="-347980" algn="just">
              <a:spcBef>
                <a:spcPts val="1200"/>
              </a:spcBef>
              <a:spcAft>
                <a:spcPts val="0"/>
              </a:spcAft>
              <a:buSzPct val="110000"/>
              <a:buFont typeface="Wingdings" panose="05000000000000000000" pitchFamily="2" charset="2"/>
              <a:buChar char="§"/>
            </a:pPr>
            <a:r>
              <a:rPr lang="en-US" sz="2400" dirty="0"/>
              <a:t>A user-accessible catalog</a:t>
            </a:r>
          </a:p>
        </p:txBody>
      </p:sp>
      <p:sp>
        <p:nvSpPr>
          <p:cNvPr id="4" name="Slide Number Placeholder 3"/>
          <p:cNvSpPr>
            <a:spLocks noGrp="1"/>
          </p:cNvSpPr>
          <p:nvPr>
            <p:ph type="sldNum" sz="quarter" idx="12"/>
          </p:nvPr>
        </p:nvSpPr>
        <p:spPr/>
        <p:txBody>
          <a:bodyPr/>
          <a:lstStyle/>
          <a:p>
            <a:fld id="{4FCBA6A4-4AC1-4AE5-BF17-AC49EE4BA738}" type="slidenum">
              <a:rPr lang="en-US" smtClean="0"/>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DBMS Services</a:t>
            </a:r>
          </a:p>
        </p:txBody>
      </p:sp>
      <p:sp>
        <p:nvSpPr>
          <p:cNvPr id="3" name="Content Placeholder 2"/>
          <p:cNvSpPr>
            <a:spLocks noGrp="1"/>
          </p:cNvSpPr>
          <p:nvPr>
            <p:ph idx="1"/>
          </p:nvPr>
        </p:nvSpPr>
        <p:spPr>
          <a:xfrm>
            <a:off x="2590800" y="533400"/>
            <a:ext cx="6172200" cy="5867400"/>
          </a:xfrm>
        </p:spPr>
        <p:txBody>
          <a:bodyPr>
            <a:noAutofit/>
          </a:bodyPr>
          <a:lstStyle/>
          <a:p>
            <a:pPr marL="468630" indent="-347980" algn="just">
              <a:buFont typeface="Wingdings" panose="05000000000000000000" pitchFamily="2" charset="2"/>
              <a:buChar char="§"/>
            </a:pPr>
            <a:r>
              <a:rPr lang="en-US" sz="2800" b="1" dirty="0"/>
              <a:t>Data Processing</a:t>
            </a:r>
          </a:p>
          <a:p>
            <a:pPr marL="971550" lvl="1" indent="-347980" algn="just">
              <a:buFont typeface="Wingdings" panose="05000000000000000000" pitchFamily="2" charset="2"/>
              <a:buChar char="§"/>
            </a:pPr>
            <a:r>
              <a:rPr lang="en-US" sz="2400" dirty="0"/>
              <a:t>A DBMS must provide users with the ability to store, retrieve, and update data in the database.</a:t>
            </a:r>
          </a:p>
          <a:p>
            <a:pPr marL="971550" lvl="1" indent="-347980" algn="just">
              <a:buFont typeface="Wingdings" panose="05000000000000000000" pitchFamily="2" charset="2"/>
              <a:buChar char="§"/>
            </a:pPr>
            <a:r>
              <a:rPr lang="en-US" sz="2400" dirty="0"/>
              <a:t>DBMS should hide the internal physical implementation details (such as file organization and storage structures) from the user.</a:t>
            </a:r>
          </a:p>
          <a:p>
            <a:pPr marL="468630" indent="-347980" algn="just">
              <a:buFont typeface="Wingdings" panose="05000000000000000000" pitchFamily="2" charset="2"/>
              <a:buChar char="§"/>
            </a:pPr>
            <a:r>
              <a:rPr lang="en-US" sz="2800" b="1" dirty="0"/>
              <a:t>A user accessible Catalog</a:t>
            </a:r>
          </a:p>
          <a:p>
            <a:pPr marL="971550" lvl="1" indent="-347980" algn="just">
              <a:buFont typeface="Wingdings" panose="05000000000000000000" pitchFamily="2" charset="2"/>
              <a:buChar char="§"/>
            </a:pPr>
            <a:r>
              <a:rPr lang="en-US" sz="2400" dirty="0"/>
              <a:t>A DBMS must provide a catalog in which descriptions of data items are stored and which is accessible to users.</a:t>
            </a:r>
          </a:p>
          <a:p>
            <a:pPr marL="468630" indent="-347980" algn="just">
              <a:buFont typeface="Wingdings" panose="05000000000000000000" pitchFamily="2" charset="2"/>
              <a:buChar char="§"/>
            </a:pPr>
            <a:r>
              <a:rPr lang="en-US" sz="2800" b="1" dirty="0"/>
              <a:t>Transaction Support</a:t>
            </a:r>
          </a:p>
          <a:p>
            <a:pPr marL="971550" lvl="1" indent="-347980" algn="just">
              <a:buFont typeface="Wingdings" panose="05000000000000000000" pitchFamily="2" charset="2"/>
              <a:buChar char="§"/>
            </a:pPr>
            <a:r>
              <a:rPr lang="en-US" sz="2400" dirty="0"/>
              <a:t>A DBMS must provide a mechanism which will ensure either that all the updates corresponding to a given transaction are made or that none of them is made.</a:t>
            </a:r>
            <a:endParaRPr lang="en-US" sz="2800" dirty="0"/>
          </a:p>
        </p:txBody>
      </p:sp>
      <p:sp>
        <p:nvSpPr>
          <p:cNvPr id="4" name="Slide Number Placeholder 3"/>
          <p:cNvSpPr>
            <a:spLocks noGrp="1"/>
          </p:cNvSpPr>
          <p:nvPr>
            <p:ph type="sldNum" sz="quarter" idx="12"/>
          </p:nvPr>
        </p:nvSpPr>
        <p:spPr/>
        <p:txBody>
          <a:bodyPr/>
          <a:lstStyle/>
          <a:p>
            <a:fld id="{4FCBA6A4-4AC1-4AE5-BF17-AC49EE4BA738}" type="slidenum">
              <a:rPr lang="en-US" smtClean="0"/>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DBMS Services</a:t>
            </a:r>
          </a:p>
        </p:txBody>
      </p:sp>
      <p:sp>
        <p:nvSpPr>
          <p:cNvPr id="3" name="Content Placeholder 2"/>
          <p:cNvSpPr>
            <a:spLocks noGrp="1"/>
          </p:cNvSpPr>
          <p:nvPr>
            <p:ph idx="1"/>
          </p:nvPr>
        </p:nvSpPr>
        <p:spPr>
          <a:xfrm>
            <a:off x="2667000" y="864108"/>
            <a:ext cx="5721351" cy="5120640"/>
          </a:xfrm>
        </p:spPr>
        <p:txBody>
          <a:bodyPr>
            <a:normAutofit/>
          </a:bodyPr>
          <a:lstStyle/>
          <a:p>
            <a:pPr marL="468630" indent="-347980" algn="just">
              <a:buFont typeface="Wingdings" panose="05000000000000000000" pitchFamily="2" charset="2"/>
              <a:buChar char="§"/>
            </a:pPr>
            <a:r>
              <a:rPr lang="en-US" sz="2800" b="1" dirty="0"/>
              <a:t>Concurrency Control Services</a:t>
            </a:r>
          </a:p>
          <a:p>
            <a:pPr marL="971550" lvl="1" indent="-347980" algn="just">
              <a:buFont typeface="Wingdings" panose="05000000000000000000" pitchFamily="2" charset="2"/>
              <a:buChar char="§"/>
            </a:pPr>
            <a:r>
              <a:rPr lang="en-US" sz="2400" dirty="0"/>
              <a:t>A DBMS must provide a mechanism to ensure that the database is updated correctly when multiple users are updating the database concurrently.</a:t>
            </a:r>
          </a:p>
          <a:p>
            <a:pPr marL="971550" lvl="1" indent="-347980" algn="just">
              <a:buFont typeface="Wingdings" panose="05000000000000000000" pitchFamily="2" charset="2"/>
              <a:buChar char="§"/>
            </a:pPr>
            <a:endParaRPr lang="en-US" sz="2400" dirty="0"/>
          </a:p>
          <a:p>
            <a:pPr marL="971550" lvl="1" indent="-347980" algn="just">
              <a:buFont typeface="Wingdings" panose="05000000000000000000" pitchFamily="2" charset="2"/>
              <a:buChar char="§"/>
            </a:pPr>
            <a:endParaRPr lang="en-US" sz="2400" dirty="0"/>
          </a:p>
          <a:p>
            <a:pPr marL="971550" lvl="1" indent="-347980" algn="just">
              <a:buFont typeface="Wingdings" panose="05000000000000000000" pitchFamily="2" charset="2"/>
              <a:buChar char="§"/>
            </a:pPr>
            <a:endParaRPr lang="en-US" sz="2400" dirty="0"/>
          </a:p>
          <a:p>
            <a:pPr marL="971550" lvl="1" indent="-347980" algn="just">
              <a:buFont typeface="Wingdings" panose="05000000000000000000" pitchFamily="2" charset="2"/>
              <a:buChar char="§"/>
            </a:pPr>
            <a:endParaRPr lang="en-US" sz="2400" dirty="0"/>
          </a:p>
          <a:p>
            <a:pPr marL="971550" lvl="1" indent="-347980" algn="just">
              <a:buFont typeface="Wingdings" panose="05000000000000000000" pitchFamily="2" charset="2"/>
              <a:buChar char="§"/>
            </a:pPr>
            <a:endParaRPr lang="en-US" sz="2400" dirty="0"/>
          </a:p>
          <a:p>
            <a:pPr marL="971550" lvl="1" indent="-347980" algn="just">
              <a:buFont typeface="Wingdings" panose="05000000000000000000" pitchFamily="2" charset="2"/>
              <a:buChar char="§"/>
            </a:pPr>
            <a:endParaRPr lang="en-US" sz="2400" dirty="0"/>
          </a:p>
          <a:p>
            <a:pPr marL="971550" lvl="1" indent="-347980" algn="just">
              <a:buFont typeface="Wingdings" panose="05000000000000000000" pitchFamily="2" charset="2"/>
              <a:buChar char="§"/>
            </a:pPr>
            <a:endParaRPr lang="en-US" sz="2400" dirty="0"/>
          </a:p>
          <a:p>
            <a:pPr marL="971550" lvl="1" indent="-347980" algn="just">
              <a:buFont typeface="Wingdings" panose="05000000000000000000" pitchFamily="2" charset="2"/>
              <a:buChar char="§"/>
            </a:pPr>
            <a:endParaRPr lang="en-US" sz="2400" dirty="0"/>
          </a:p>
          <a:p>
            <a:pPr marL="971550" lvl="1" indent="-347980" algn="just">
              <a:buFont typeface="Wingdings" panose="05000000000000000000" pitchFamily="2" charset="2"/>
              <a:buChar char="§"/>
            </a:pPr>
            <a:endParaRPr lang="en-US" sz="2400" dirty="0"/>
          </a:p>
        </p:txBody>
      </p:sp>
      <p:sp>
        <p:nvSpPr>
          <p:cNvPr id="4" name="Slide Number Placeholder 3"/>
          <p:cNvSpPr>
            <a:spLocks noGrp="1"/>
          </p:cNvSpPr>
          <p:nvPr>
            <p:ph type="sldNum" sz="quarter" idx="12"/>
          </p:nvPr>
        </p:nvSpPr>
        <p:spPr/>
        <p:txBody>
          <a:bodyPr/>
          <a:lstStyle/>
          <a:p>
            <a:fld id="{4FCBA6A4-4AC1-4AE5-BF17-AC49EE4BA738}" type="slidenum">
              <a:rPr lang="en-US" smtClean="0"/>
              <a:t>19</a:t>
            </a:fld>
            <a:endParaRPr lang="en-US" dirty="0"/>
          </a:p>
        </p:txBody>
      </p:sp>
      <p:pic>
        <p:nvPicPr>
          <p:cNvPr id="5" name="Picture 3"/>
          <p:cNvPicPr>
            <a:picLocks noChangeAspect="1" noChangeArrowheads="1"/>
          </p:cNvPicPr>
          <p:nvPr/>
        </p:nvPicPr>
        <p:blipFill>
          <a:blip r:embed="rId2"/>
          <a:srcRect/>
          <a:stretch>
            <a:fillRect/>
          </a:stretch>
        </p:blipFill>
        <p:spPr bwMode="auto">
          <a:xfrm>
            <a:off x="2590800" y="2819400"/>
            <a:ext cx="6553200" cy="28194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DBMS Services</a:t>
            </a:r>
          </a:p>
        </p:txBody>
      </p:sp>
      <p:sp>
        <p:nvSpPr>
          <p:cNvPr id="3" name="Content Placeholder 2"/>
          <p:cNvSpPr>
            <a:spLocks noGrp="1"/>
          </p:cNvSpPr>
          <p:nvPr>
            <p:ph idx="1"/>
          </p:nvPr>
        </p:nvSpPr>
        <p:spPr>
          <a:xfrm>
            <a:off x="2514600" y="381000"/>
            <a:ext cx="6357938" cy="5867400"/>
          </a:xfrm>
        </p:spPr>
        <p:txBody>
          <a:bodyPr>
            <a:noAutofit/>
          </a:bodyPr>
          <a:lstStyle/>
          <a:p>
            <a:pPr marL="468630" indent="-347980" algn="just">
              <a:buFont typeface="Wingdings" panose="05000000000000000000" pitchFamily="2" charset="2"/>
              <a:buChar char="§"/>
            </a:pPr>
            <a:r>
              <a:rPr lang="en-US" sz="2800" b="1" dirty="0"/>
              <a:t>Recovery services</a:t>
            </a:r>
          </a:p>
          <a:p>
            <a:pPr marL="971550" lvl="1" indent="-347980" algn="just">
              <a:buFont typeface="Wingdings" panose="05000000000000000000" pitchFamily="2" charset="2"/>
              <a:buChar char="§"/>
            </a:pPr>
            <a:r>
              <a:rPr lang="en-US" sz="2400" dirty="0"/>
              <a:t>A DBMS must provide a mechanism for recovering the database in the event that the database is damaged in any way</a:t>
            </a:r>
          </a:p>
          <a:p>
            <a:pPr marL="468630" indent="-347980" algn="just">
              <a:buFont typeface="Wingdings" panose="05000000000000000000" pitchFamily="2" charset="2"/>
              <a:buChar char="§"/>
            </a:pPr>
            <a:r>
              <a:rPr lang="en-US" sz="2800" b="1" dirty="0"/>
              <a:t>Authorization services</a:t>
            </a:r>
          </a:p>
          <a:p>
            <a:pPr marL="971550" lvl="1" indent="-347980" algn="just">
              <a:buFont typeface="Wingdings" panose="05000000000000000000" pitchFamily="2" charset="2"/>
              <a:buChar char="§"/>
            </a:pPr>
            <a:r>
              <a:rPr lang="en-US" sz="2400" dirty="0"/>
              <a:t>A DBMS must provide a mechanism to ensure that only authorized users can access the database.</a:t>
            </a:r>
          </a:p>
          <a:p>
            <a:pPr marL="468630" indent="-347980" algn="just">
              <a:buFont typeface="Wingdings" panose="05000000000000000000" pitchFamily="2" charset="2"/>
              <a:buChar char="§"/>
            </a:pPr>
            <a:r>
              <a:rPr lang="en-US" sz="2800" b="1" dirty="0"/>
              <a:t>Support for data communication</a:t>
            </a:r>
          </a:p>
          <a:p>
            <a:pPr marL="971550" lvl="1" indent="-347980" algn="just">
              <a:buFont typeface="Wingdings" panose="05000000000000000000" pitchFamily="2" charset="2"/>
              <a:buChar char="§"/>
            </a:pPr>
            <a:r>
              <a:rPr lang="en-US" sz="2400" dirty="0"/>
              <a:t>A DBMS must be capable of integrating with communication software.</a:t>
            </a:r>
          </a:p>
          <a:p>
            <a:pPr marL="971550" lvl="1" indent="-347980" algn="just">
              <a:buFont typeface="Wingdings" panose="05000000000000000000" pitchFamily="2" charset="2"/>
              <a:buChar char="§"/>
            </a:pPr>
            <a:r>
              <a:rPr lang="en-US" sz="2400" dirty="0"/>
              <a:t>Data Communication Manager </a:t>
            </a:r>
            <a:r>
              <a:rPr lang="en-US" sz="2400" b="1" dirty="0"/>
              <a:t>(DCM)</a:t>
            </a:r>
          </a:p>
          <a:p>
            <a:pPr marL="468630" indent="-347980" algn="just">
              <a:buFont typeface="Wingdings" panose="05000000000000000000" pitchFamily="2" charset="2"/>
              <a:buChar char="§"/>
            </a:pPr>
            <a:r>
              <a:rPr lang="en-US" sz="2800" b="1" dirty="0"/>
              <a:t>Integrity services</a:t>
            </a:r>
          </a:p>
          <a:p>
            <a:pPr marL="971550" lvl="1" indent="-347980" algn="just">
              <a:buFont typeface="Wingdings" panose="05000000000000000000" pitchFamily="2" charset="2"/>
              <a:buChar char="§"/>
            </a:pPr>
            <a:r>
              <a:rPr lang="en-US" sz="2400" dirty="0"/>
              <a:t>Database integrity refers to the correctness and consistency of stored data</a:t>
            </a:r>
          </a:p>
        </p:txBody>
      </p:sp>
      <p:sp>
        <p:nvSpPr>
          <p:cNvPr id="4" name="Slide Number Placeholder 3"/>
          <p:cNvSpPr>
            <a:spLocks noGrp="1"/>
          </p:cNvSpPr>
          <p:nvPr>
            <p:ph type="sldNum" sz="quarter" idx="12"/>
          </p:nvPr>
        </p:nvSpPr>
        <p:spPr/>
        <p:txBody>
          <a:bodyPr/>
          <a:lstStyle/>
          <a:p>
            <a:fld id="{4FCBA6A4-4AC1-4AE5-BF17-AC49EE4BA738}" type="slidenum">
              <a:rPr lang="en-US" smtClean="0"/>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dirty="0"/>
              <a:t>View</a:t>
            </a:r>
            <a:endParaRPr lang="en-US" dirty="0"/>
          </a:p>
        </p:txBody>
      </p:sp>
      <p:sp>
        <p:nvSpPr>
          <p:cNvPr id="3" name="Content Placeholder 2"/>
          <p:cNvSpPr>
            <a:spLocks noGrp="1"/>
          </p:cNvSpPr>
          <p:nvPr>
            <p:ph idx="1"/>
          </p:nvPr>
        </p:nvSpPr>
        <p:spPr/>
        <p:txBody>
          <a:bodyPr>
            <a:normAutofit/>
          </a:bodyPr>
          <a:lstStyle/>
          <a:p>
            <a:pPr marL="468630" lvl="1" indent="-347980" algn="just">
              <a:spcBef>
                <a:spcPts val="1200"/>
              </a:spcBef>
              <a:spcAft>
                <a:spcPts val="0"/>
              </a:spcAft>
              <a:buSzPct val="110000"/>
              <a:buFont typeface="Wingdings" panose="05000000000000000000" pitchFamily="2" charset="2"/>
              <a:buChar char="§"/>
            </a:pPr>
            <a:r>
              <a:rPr lang="en-US" sz="2800" dirty="0"/>
              <a:t>Allows each user to have his or her own view of the database.</a:t>
            </a:r>
          </a:p>
          <a:p>
            <a:pPr marL="468630" lvl="1" indent="-347980" algn="just">
              <a:spcBef>
                <a:spcPts val="1200"/>
              </a:spcBef>
              <a:spcAft>
                <a:spcPts val="0"/>
              </a:spcAft>
              <a:buSzPct val="110000"/>
              <a:buFont typeface="Wingdings" panose="05000000000000000000" pitchFamily="2" charset="2"/>
              <a:buChar char="§"/>
            </a:pPr>
            <a:r>
              <a:rPr lang="en-US" sz="2800" dirty="0"/>
              <a:t>A view is essentially some subset of the database.</a:t>
            </a:r>
            <a:r>
              <a:rPr lang="en-GB" sz="2800" dirty="0"/>
              <a:t> </a:t>
            </a:r>
          </a:p>
        </p:txBody>
      </p:sp>
      <p:sp>
        <p:nvSpPr>
          <p:cNvPr id="4" name="Slide Number Placeholder 3"/>
          <p:cNvSpPr>
            <a:spLocks noGrp="1"/>
          </p:cNvSpPr>
          <p:nvPr>
            <p:ph type="sldNum" sz="quarter" idx="12"/>
          </p:nvPr>
        </p:nvSpPr>
        <p:spPr/>
        <p:txBody>
          <a:bodyPr/>
          <a:lstStyle/>
          <a:p>
            <a:fld id="{4FCBA6A4-4AC1-4AE5-BF17-AC49EE4BA738}" type="slidenum">
              <a:rPr lang="en-US" smtClean="0"/>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a:t>View Benefit </a:t>
            </a:r>
          </a:p>
        </p:txBody>
      </p:sp>
      <p:sp>
        <p:nvSpPr>
          <p:cNvPr id="3" name="Content Placeholder 2"/>
          <p:cNvSpPr>
            <a:spLocks noGrp="1"/>
          </p:cNvSpPr>
          <p:nvPr>
            <p:ph idx="1"/>
          </p:nvPr>
        </p:nvSpPr>
        <p:spPr/>
        <p:txBody>
          <a:bodyPr>
            <a:normAutofit/>
          </a:bodyPr>
          <a:lstStyle/>
          <a:p>
            <a:pPr marL="468630" lvl="1" indent="-347980" algn="just">
              <a:spcBef>
                <a:spcPts val="1200"/>
              </a:spcBef>
              <a:spcAft>
                <a:spcPts val="0"/>
              </a:spcAft>
              <a:buSzPct val="110000"/>
              <a:buFont typeface="Wingdings" panose="05000000000000000000" pitchFamily="2" charset="2"/>
              <a:buChar char="§"/>
            </a:pPr>
            <a:r>
              <a:rPr lang="en-US" sz="2800" dirty="0"/>
              <a:t>Provide a level of security</a:t>
            </a:r>
          </a:p>
          <a:p>
            <a:pPr marL="468630" lvl="1" indent="-347980" algn="just">
              <a:spcBef>
                <a:spcPts val="1200"/>
              </a:spcBef>
              <a:spcAft>
                <a:spcPts val="0"/>
              </a:spcAft>
              <a:buSzPct val="110000"/>
              <a:buNone/>
            </a:pPr>
            <a:endParaRPr lang="en-US" sz="2800" dirty="0"/>
          </a:p>
          <a:p>
            <a:pPr marL="468630" lvl="1" indent="-347980" algn="just">
              <a:spcBef>
                <a:spcPts val="1200"/>
              </a:spcBef>
              <a:spcAft>
                <a:spcPts val="0"/>
              </a:spcAft>
              <a:buSzPct val="110000"/>
              <a:buFont typeface="Wingdings" panose="05000000000000000000" pitchFamily="2" charset="2"/>
              <a:buChar char="§"/>
            </a:pPr>
            <a:r>
              <a:rPr lang="en-US" sz="2800" dirty="0"/>
              <a:t>Provide a mechanism to customize the appearance of the database</a:t>
            </a:r>
            <a:endParaRPr lang="en-GB" sz="2800" dirty="0"/>
          </a:p>
          <a:p>
            <a:pPr marL="468630" lvl="1" indent="-347980" algn="just">
              <a:spcBef>
                <a:spcPts val="1200"/>
              </a:spcBef>
              <a:spcAft>
                <a:spcPts val="0"/>
              </a:spcAft>
              <a:buSzPct val="110000"/>
              <a:buFont typeface="Wingdings" panose="05000000000000000000" pitchFamily="2" charset="2"/>
              <a:buChar char="§"/>
            </a:pPr>
            <a:endParaRPr lang="en-US" sz="2800" dirty="0"/>
          </a:p>
          <a:p>
            <a:pPr marL="468630" lvl="1" indent="-347980" algn="just">
              <a:spcBef>
                <a:spcPts val="1200"/>
              </a:spcBef>
              <a:spcAft>
                <a:spcPts val="0"/>
              </a:spcAft>
              <a:buSzPct val="110000"/>
              <a:buFont typeface="Wingdings" panose="05000000000000000000" pitchFamily="2" charset="2"/>
              <a:buChar char="§"/>
            </a:pPr>
            <a:r>
              <a:rPr lang="en-US" sz="2800" dirty="0"/>
              <a:t>Present a consistent, unchanging picture of the structure of the database, even if the underlying database is changed</a:t>
            </a:r>
            <a:endParaRPr lang="en-GB" sz="2800" dirty="0"/>
          </a:p>
        </p:txBody>
      </p:sp>
      <p:sp>
        <p:nvSpPr>
          <p:cNvPr id="4" name="Slide Number Placeholder 3"/>
          <p:cNvSpPr>
            <a:spLocks noGrp="1"/>
          </p:cNvSpPr>
          <p:nvPr>
            <p:ph type="sldNum" sz="quarter" idx="12"/>
          </p:nvPr>
        </p:nvSpPr>
        <p:spPr/>
        <p:txBody>
          <a:bodyPr/>
          <a:lstStyle/>
          <a:p>
            <a:fld id="{4FCBA6A4-4AC1-4AE5-BF17-AC49EE4BA738}" type="slidenum">
              <a:rPr lang="en-US" smtClean="0"/>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590800" cy="4601183"/>
          </a:xfrm>
        </p:spPr>
        <p:txBody>
          <a:bodyPr/>
          <a:lstStyle/>
          <a:p>
            <a:pPr algn="ctr"/>
            <a:r>
              <a:rPr lang="en-US" dirty="0"/>
              <a:t>Roles in Database Environment</a:t>
            </a:r>
          </a:p>
        </p:txBody>
      </p:sp>
      <p:sp>
        <p:nvSpPr>
          <p:cNvPr id="3" name="Content Placeholder 2"/>
          <p:cNvSpPr>
            <a:spLocks noGrp="1"/>
          </p:cNvSpPr>
          <p:nvPr>
            <p:ph idx="1"/>
          </p:nvPr>
        </p:nvSpPr>
        <p:spPr/>
        <p:txBody>
          <a:bodyPr>
            <a:normAutofit/>
          </a:bodyPr>
          <a:lstStyle/>
          <a:p>
            <a:pPr algn="just"/>
            <a:r>
              <a:rPr lang="en-GB" b="1" dirty="0">
                <a:latin typeface="Times"/>
              </a:rPr>
              <a:t>Data Administrator</a:t>
            </a:r>
            <a:r>
              <a:rPr lang="en-GB" dirty="0">
                <a:latin typeface="Times"/>
              </a:rPr>
              <a:t> (</a:t>
            </a:r>
            <a:r>
              <a:rPr lang="en-GB" b="1" dirty="0">
                <a:latin typeface="Times"/>
              </a:rPr>
              <a:t>DA</a:t>
            </a:r>
            <a:r>
              <a:rPr lang="en-GB" dirty="0">
                <a:latin typeface="Times"/>
              </a:rPr>
              <a:t>)</a:t>
            </a:r>
          </a:p>
          <a:p>
            <a:pPr algn="just">
              <a:buNone/>
            </a:pPr>
            <a:r>
              <a:rPr lang="en-US" dirty="0">
                <a:latin typeface="Times"/>
              </a:rPr>
              <a:t>	</a:t>
            </a:r>
            <a:r>
              <a:rPr lang="en-US" sz="1600" dirty="0"/>
              <a:t>The Data Administrator is responsible for defining data elements, data names and their relationship. </a:t>
            </a:r>
            <a:endParaRPr lang="en-GB" dirty="0">
              <a:latin typeface="Times"/>
            </a:endParaRPr>
          </a:p>
          <a:p>
            <a:r>
              <a:rPr lang="en-GB" b="1" dirty="0">
                <a:latin typeface="Times"/>
              </a:rPr>
              <a:t>Database Administrator (DBA)</a:t>
            </a:r>
          </a:p>
          <a:p>
            <a:pPr algn="just">
              <a:buNone/>
            </a:pPr>
            <a:r>
              <a:rPr lang="en-US" dirty="0">
                <a:latin typeface="Times"/>
              </a:rPr>
              <a:t> 	</a:t>
            </a:r>
            <a:r>
              <a:rPr lang="en-US" sz="1800" dirty="0"/>
              <a:t>The basic role of a Database Administrator is to store and manage the information in the database. </a:t>
            </a:r>
          </a:p>
          <a:p>
            <a:pPr algn="just">
              <a:buNone/>
            </a:pPr>
            <a:r>
              <a:rPr lang="en-US" sz="1800" dirty="0"/>
              <a:t>	The different functionalities of a database administrator are maintaining database system software, developing physical database structures and data dictionary.</a:t>
            </a:r>
            <a:endParaRPr lang="en-GB" b="1" dirty="0">
              <a:latin typeface="Times"/>
            </a:endParaRPr>
          </a:p>
          <a:p>
            <a:r>
              <a:rPr lang="en-GB" b="1" dirty="0">
                <a:latin typeface="Times"/>
              </a:rPr>
              <a:t>Database Designers (Logical and Physical)</a:t>
            </a:r>
          </a:p>
          <a:p>
            <a:r>
              <a:rPr lang="en-GB" b="1" dirty="0">
                <a:latin typeface="Times"/>
              </a:rPr>
              <a:t>Application Programmers</a:t>
            </a:r>
          </a:p>
          <a:p>
            <a:r>
              <a:rPr lang="en-GB" b="1" dirty="0">
                <a:latin typeface="Times"/>
              </a:rPr>
              <a:t>End Users</a:t>
            </a:r>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23838"/>
            <a:ext cx="2667000" cy="4601183"/>
          </a:xfrm>
        </p:spPr>
        <p:txBody>
          <a:bodyPr/>
          <a:lstStyle/>
          <a:p>
            <a:pPr algn="ctr"/>
            <a:r>
              <a:rPr lang="en-US" dirty="0"/>
              <a:t>Advantages of </a:t>
            </a:r>
            <a:r>
              <a:rPr lang="en-US" sz="6600" dirty="0"/>
              <a:t>DBMS</a:t>
            </a:r>
            <a:endParaRPr lang="en-US" dirty="0"/>
          </a:p>
        </p:txBody>
      </p:sp>
      <p:sp>
        <p:nvSpPr>
          <p:cNvPr id="3" name="Content Placeholder 2"/>
          <p:cNvSpPr>
            <a:spLocks noGrp="1"/>
          </p:cNvSpPr>
          <p:nvPr>
            <p:ph idx="1"/>
          </p:nvPr>
        </p:nvSpPr>
        <p:spPr/>
        <p:txBody>
          <a:bodyPr>
            <a:normAutofit/>
          </a:bodyPr>
          <a:lstStyle/>
          <a:p>
            <a:r>
              <a:rPr lang="en-GB" b="1" dirty="0">
                <a:latin typeface="Times"/>
              </a:rPr>
              <a:t>Control of data redundancy</a:t>
            </a:r>
          </a:p>
          <a:p>
            <a:r>
              <a:rPr lang="en-GB" b="1" dirty="0">
                <a:latin typeface="Times"/>
              </a:rPr>
              <a:t>Data consistency</a:t>
            </a:r>
          </a:p>
          <a:p>
            <a:r>
              <a:rPr lang="en-GB" b="1" dirty="0">
                <a:latin typeface="Times"/>
              </a:rPr>
              <a:t>More information from the same amount of data</a:t>
            </a:r>
          </a:p>
          <a:p>
            <a:r>
              <a:rPr lang="en-GB" b="1" dirty="0">
                <a:latin typeface="Times"/>
              </a:rPr>
              <a:t>Sharing of data</a:t>
            </a:r>
          </a:p>
          <a:p>
            <a:r>
              <a:rPr lang="en-GB" b="1" dirty="0">
                <a:latin typeface="Times"/>
              </a:rPr>
              <a:t>Improved data integrity</a:t>
            </a:r>
          </a:p>
          <a:p>
            <a:r>
              <a:rPr lang="en-GB" b="1" dirty="0">
                <a:latin typeface="Times"/>
              </a:rPr>
              <a:t>Improved security</a:t>
            </a:r>
          </a:p>
          <a:p>
            <a:r>
              <a:rPr lang="en-GB" b="1" dirty="0">
                <a:latin typeface="Times"/>
              </a:rPr>
              <a:t>Improved maintenance through data independence</a:t>
            </a:r>
          </a:p>
          <a:p>
            <a:r>
              <a:rPr lang="en-GB" b="1" dirty="0">
                <a:latin typeface="Times"/>
              </a:rPr>
              <a:t>Improved backup and recovery services</a:t>
            </a:r>
          </a:p>
          <a:p>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688" y="1123838"/>
            <a:ext cx="2324911" cy="4601183"/>
          </a:xfrm>
        </p:spPr>
        <p:txBody>
          <a:bodyPr/>
          <a:lstStyle/>
          <a:p>
            <a:pPr algn="ctr"/>
            <a:r>
              <a:rPr lang="en-US" sz="2800" dirty="0"/>
              <a:t>Disadvantages</a:t>
            </a:r>
            <a:r>
              <a:rPr lang="en-US" sz="4000" dirty="0"/>
              <a:t> </a:t>
            </a:r>
            <a:r>
              <a:rPr lang="en-US" dirty="0"/>
              <a:t>of </a:t>
            </a:r>
            <a:r>
              <a:rPr lang="en-US" sz="6000" dirty="0"/>
              <a:t>DBMS</a:t>
            </a:r>
            <a:endParaRPr lang="en-US" dirty="0"/>
          </a:p>
        </p:txBody>
      </p:sp>
      <p:sp>
        <p:nvSpPr>
          <p:cNvPr id="3" name="Content Placeholder 2"/>
          <p:cNvSpPr>
            <a:spLocks noGrp="1"/>
          </p:cNvSpPr>
          <p:nvPr>
            <p:ph idx="1"/>
          </p:nvPr>
        </p:nvSpPr>
        <p:spPr/>
        <p:txBody>
          <a:bodyPr/>
          <a:lstStyle/>
          <a:p>
            <a:r>
              <a:rPr lang="en-GB" b="1" dirty="0">
                <a:latin typeface="Times"/>
              </a:rPr>
              <a:t>Complexity</a:t>
            </a:r>
          </a:p>
          <a:p>
            <a:r>
              <a:rPr lang="en-GB" b="1" dirty="0">
                <a:latin typeface="Times"/>
              </a:rPr>
              <a:t>Size</a:t>
            </a:r>
          </a:p>
          <a:p>
            <a:r>
              <a:rPr lang="en-GB" b="1" dirty="0">
                <a:latin typeface="Times"/>
              </a:rPr>
              <a:t>Cost of DBMS</a:t>
            </a:r>
          </a:p>
          <a:p>
            <a:r>
              <a:rPr lang="en-GB" b="1" dirty="0">
                <a:latin typeface="Times"/>
              </a:rPr>
              <a:t>Additional hardware costs</a:t>
            </a:r>
          </a:p>
          <a:p>
            <a:r>
              <a:rPr lang="en-GB" b="1" dirty="0">
                <a:latin typeface="Times"/>
              </a:rPr>
              <a:t>Cost of conversion</a:t>
            </a:r>
          </a:p>
          <a:p>
            <a:r>
              <a:rPr lang="en-GB" b="1" dirty="0">
                <a:latin typeface="Times"/>
              </a:rPr>
              <a:t>Performance</a:t>
            </a:r>
          </a:p>
          <a:p>
            <a:r>
              <a:rPr lang="en-GB" b="1" dirty="0">
                <a:latin typeface="Times"/>
              </a:rPr>
              <a:t>Higher impact of a failure</a:t>
            </a:r>
          </a:p>
          <a:p>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a:t>
            </a:r>
          </a:p>
        </p:txBody>
      </p:sp>
      <p:sp>
        <p:nvSpPr>
          <p:cNvPr id="3" name="Content Placeholder 2"/>
          <p:cNvSpPr>
            <a:spLocks noGrp="1"/>
          </p:cNvSpPr>
          <p:nvPr>
            <p:ph idx="1"/>
          </p:nvPr>
        </p:nvSpPr>
        <p:spPr/>
        <p:txBody>
          <a:bodyPr/>
          <a:lstStyle/>
          <a:p>
            <a:r>
              <a:rPr lang="en-GB" b="1" dirty="0">
                <a:latin typeface="Times"/>
              </a:rPr>
              <a:t>First-generation</a:t>
            </a:r>
            <a:r>
              <a:rPr lang="en-GB" sz="2400" b="1" dirty="0">
                <a:latin typeface="Times"/>
              </a:rPr>
              <a:t> </a:t>
            </a:r>
          </a:p>
          <a:p>
            <a:pPr lvl="1"/>
            <a:r>
              <a:rPr lang="en-GB" sz="2400" b="1" dirty="0">
                <a:latin typeface="Times"/>
              </a:rPr>
              <a:t>Hierarchical and Network</a:t>
            </a:r>
          </a:p>
          <a:p>
            <a:pPr lvl="1"/>
            <a:endParaRPr lang="en-GB" sz="2400" b="1" dirty="0">
              <a:latin typeface="Times"/>
            </a:endParaRPr>
          </a:p>
          <a:p>
            <a:r>
              <a:rPr lang="en-GB" b="1" dirty="0">
                <a:latin typeface="Times"/>
              </a:rPr>
              <a:t>Second generation</a:t>
            </a:r>
          </a:p>
          <a:p>
            <a:pPr lvl="1"/>
            <a:r>
              <a:rPr lang="en-GB" sz="2400" b="1" dirty="0">
                <a:latin typeface="Times"/>
              </a:rPr>
              <a:t>Relational</a:t>
            </a:r>
          </a:p>
          <a:p>
            <a:pPr lvl="1"/>
            <a:endParaRPr lang="en-GB" sz="2400" b="1" dirty="0">
              <a:latin typeface="Times"/>
            </a:endParaRPr>
          </a:p>
          <a:p>
            <a:r>
              <a:rPr lang="en-GB" b="1" dirty="0">
                <a:latin typeface="Times"/>
              </a:rPr>
              <a:t>Third generation</a:t>
            </a:r>
          </a:p>
          <a:p>
            <a:pPr lvl="1"/>
            <a:r>
              <a:rPr lang="en-GB" sz="2400" b="1" dirty="0">
                <a:latin typeface="Times"/>
              </a:rPr>
              <a:t>Object-Relational</a:t>
            </a:r>
          </a:p>
          <a:p>
            <a:pPr lvl="1"/>
            <a:r>
              <a:rPr lang="en-GB" sz="2400" b="1" dirty="0">
                <a:latin typeface="Times"/>
              </a:rPr>
              <a:t>Object-Oriented</a:t>
            </a:r>
            <a:endParaRPr lang="en-US" dirty="0"/>
          </a:p>
        </p:txBody>
      </p:sp>
      <p:sp>
        <p:nvSpPr>
          <p:cNvPr id="4" name="Slide Number Placeholder 3"/>
          <p:cNvSpPr>
            <a:spLocks noGrp="1"/>
          </p:cNvSpPr>
          <p:nvPr>
            <p:ph type="sldNum" sz="quarter" idx="12"/>
          </p:nvPr>
        </p:nvSpPr>
        <p:spPr/>
        <p:txBody>
          <a:bodyPr/>
          <a:lstStyle/>
          <a:p>
            <a:fld id="{4FCBA6A4-4AC1-4AE5-BF17-AC49EE4BA738}" type="slidenum">
              <a:rPr lang="en-US" smtClean="0"/>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Thank You</a:t>
            </a:r>
          </a:p>
        </p:txBody>
      </p:sp>
      <p:sp>
        <p:nvSpPr>
          <p:cNvPr id="4" name="Slide Number Placeholder 3"/>
          <p:cNvSpPr>
            <a:spLocks noGrp="1"/>
          </p:cNvSpPr>
          <p:nvPr>
            <p:ph type="sldNum" sz="quarter" idx="12"/>
          </p:nvPr>
        </p:nvSpPr>
        <p:spPr/>
        <p:txBody>
          <a:bodyPr/>
          <a:lstStyle/>
          <a:p>
            <a:fld id="{4FCBA6A4-4AC1-4AE5-BF17-AC49EE4BA738}" type="slidenum">
              <a:rPr lang="en-US" smtClean="0"/>
              <a:t>27</a:t>
            </a:fld>
            <a:endParaRPr lang="en-US" dirty="0"/>
          </a:p>
        </p:txBody>
      </p:sp>
    </p:spTree>
  </p:cSld>
  <p:clrMapOvr>
    <a:masterClrMapping/>
  </p:clrMapOvr>
</p:sld>
</file>

<file path=ppt/theme/theme1.xml><?xml version="1.0" encoding="utf-8"?>
<a:theme xmlns:a="http://schemas.openxmlformats.org/drawingml/2006/main" name="Theme1">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1</TotalTime>
  <Words>1234</Words>
  <Application>Microsoft Office PowerPoint</Application>
  <PresentationFormat>On-screen Show (4:3)</PresentationFormat>
  <Paragraphs>217</Paragraphs>
  <Slides>27</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Calibri</vt:lpstr>
      <vt:lpstr>Corbel</vt:lpstr>
      <vt:lpstr>Tahoma</vt:lpstr>
      <vt:lpstr>Times</vt:lpstr>
      <vt:lpstr>Times New Roman</vt:lpstr>
      <vt:lpstr>Wingdings</vt:lpstr>
      <vt:lpstr>Wingdings 2</vt:lpstr>
      <vt:lpstr>Theme1</vt:lpstr>
      <vt:lpstr>Introduction to Database Systems</vt:lpstr>
      <vt:lpstr>Course Motivation</vt:lpstr>
      <vt:lpstr>Literature  </vt:lpstr>
      <vt:lpstr>What is Database?</vt:lpstr>
      <vt:lpstr>Definition</vt:lpstr>
      <vt:lpstr>The Concept of Shared Organizational Database </vt:lpstr>
      <vt:lpstr>A brief History  File Based Systems</vt:lpstr>
      <vt:lpstr>File Based Systems  </vt:lpstr>
      <vt:lpstr> File Based Systems Limitations  </vt:lpstr>
      <vt:lpstr> Database Approach   Advantages </vt:lpstr>
      <vt:lpstr>Database Advantages</vt:lpstr>
      <vt:lpstr>Database Management System  DBMS</vt:lpstr>
      <vt:lpstr>Application Program</vt:lpstr>
      <vt:lpstr>Data Flow</vt:lpstr>
      <vt:lpstr>DBMS Services</vt:lpstr>
      <vt:lpstr>DBMS Services</vt:lpstr>
      <vt:lpstr>DBMS Services</vt:lpstr>
      <vt:lpstr>DBMS Services</vt:lpstr>
      <vt:lpstr>DBMS Services</vt:lpstr>
      <vt:lpstr>DBMS Services</vt:lpstr>
      <vt:lpstr>View</vt:lpstr>
      <vt:lpstr>View Benefit </vt:lpstr>
      <vt:lpstr>Roles in Database Environment</vt:lpstr>
      <vt:lpstr>Advantages of DBMS</vt:lpstr>
      <vt:lpstr>Disadvantages of DBMS</vt:lpstr>
      <vt:lpstr>History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dc:title>
  <dc:creator>SALMAN</dc:creator>
  <cp:lastModifiedBy>Anas Bilal</cp:lastModifiedBy>
  <cp:revision>180</cp:revision>
  <dcterms:created xsi:type="dcterms:W3CDTF">2014-02-17T16:56:00Z</dcterms:created>
  <dcterms:modified xsi:type="dcterms:W3CDTF">2024-09-21T17:33:35Z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0x010100EAC25F5A5569D94094B77E3017ADC69C</vt:lpwstr>
  </property>
  <property fmtid="{D5CDD505-2E9C-101B-9397-08002B2CF9AE}" pid="3" name="KSOProductBuildVer">
    <vt:lpwstr>1033-11.2.0.10017</vt:lpwstr>
  </property>
</Properties>
</file>