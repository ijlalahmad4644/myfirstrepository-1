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40"/>
  </p:notesMasterIdLst>
  <p:sldIdLst>
    <p:sldId id="256" r:id="rId5"/>
    <p:sldId id="276" r:id="rId6"/>
    <p:sldId id="277" r:id="rId7"/>
    <p:sldId id="280" r:id="rId8"/>
    <p:sldId id="278" r:id="rId9"/>
    <p:sldId id="279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90" r:id="rId19"/>
    <p:sldId id="289" r:id="rId20"/>
    <p:sldId id="291" r:id="rId21"/>
    <p:sldId id="292" r:id="rId22"/>
    <p:sldId id="293" r:id="rId23"/>
    <p:sldId id="294" r:id="rId24"/>
    <p:sldId id="295" r:id="rId25"/>
    <p:sldId id="296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274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22" autoAdjust="0"/>
    <p:restoredTop sz="92652" autoAdjust="0"/>
  </p:normalViewPr>
  <p:slideViewPr>
    <p:cSldViewPr>
      <p:cViewPr varScale="1">
        <p:scale>
          <a:sx n="111" d="100"/>
          <a:sy n="111" d="100"/>
        </p:scale>
        <p:origin x="20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9FECC-ECFC-42A2-B893-AB2A73E058D8}" type="datetimeFigureOut">
              <a:rPr lang="en-US" smtClean="0"/>
              <a:pPr/>
              <a:t>9/30/2024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944A8-0F90-4700-B443-CC9323F801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02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944A8-0F90-4700-B443-CC9323F8018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01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944A8-0F90-4700-B443-CC9323F8018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92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816F5-45A4-4365-984B-5DA37CD021CB}" type="datetime1">
              <a:rPr lang="en-US" smtClean="0"/>
              <a:pPr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63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0" y="864108"/>
            <a:ext cx="6096001" cy="5120640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Font typeface="Arial" pitchFamily="34" charset="0"/>
              <a:buChar char="•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B086A-443F-488D-BD9B-3E632118E777}" type="datetime1">
              <a:rPr lang="en-US" smtClean="0"/>
              <a:pPr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" y="1219200"/>
            <a:ext cx="1148195" cy="36512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prstTxWarp prst="textArchDown">
              <a:avLst/>
            </a:prstTxWarp>
          </a:bodyPr>
          <a:lstStyle>
            <a:lvl1pPr algn="ctr">
              <a:defRPr sz="4400" b="0" u="sng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4FCBA6A4-4AC1-4AE5-BF17-AC49EE4BA7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37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EC3A-21A1-4FA1-A4F0-28BA43E7E144}" type="datetime1">
              <a:rPr lang="en-US" smtClean="0"/>
              <a:pPr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04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40A-7AE9-40A6-876B-BC4D1CDD3465}" type="datetime1">
              <a:rPr lang="en-US" smtClean="0"/>
              <a:pPr/>
              <a:t>9/30/2024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5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941F8-F478-417C-94C6-25D6965157ED}" type="datetime1">
              <a:rPr lang="en-US" smtClean="0"/>
              <a:pPr/>
              <a:t>9/30/2024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9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6BE44-8CF2-43F2-9244-9443974A56E1}" type="datetime1">
              <a:rPr lang="en-US" smtClean="0"/>
              <a:pPr/>
              <a:t>9/30/2024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5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C6EE-5D49-4EE2-91EF-1CEFF1AAC6BC}" type="datetime1">
              <a:rPr lang="en-US" smtClean="0"/>
              <a:pPr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582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494176"/>
            <a:ext cx="212598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E6A4-F4A4-4295-87A2-FF7ADB5DB34D}" type="datetime1">
              <a:rPr lang="en-US" smtClean="0"/>
              <a:pPr/>
              <a:t>9/30/2024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66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493008"/>
            <a:ext cx="212598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D75D-C504-4647-AC93-0EAD4132D4A7}" type="datetime1">
              <a:rPr lang="en-US" smtClean="0"/>
              <a:pPr/>
              <a:t>9/30/2024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3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1C2F-8BCC-4BFD-82D3-4F6FB2067DDD}" type="datetime1">
              <a:rPr lang="en-US" smtClean="0"/>
              <a:pPr/>
              <a:t>9/30/2024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23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2198C-479E-467F-BFB8-011CB7805D03}" type="datetime1">
              <a:rPr lang="en-US" smtClean="0"/>
              <a:pPr/>
              <a:t>9/30/2024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4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0BEE9C0-DDE8-43DB-8A80-050788B577BD}" type="datetime1">
              <a:rPr lang="en-US" smtClean="0"/>
              <a:pPr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CBA6A4-4AC1-4AE5-BF17-AC49EE4BA7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56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0800" y="1600200"/>
            <a:ext cx="4191000" cy="990600"/>
          </a:xfrm>
        </p:spPr>
        <p:txBody>
          <a:bodyPr>
            <a:no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2895600"/>
            <a:ext cx="5410200" cy="914400"/>
          </a:xfrm>
        </p:spPr>
        <p:txBody>
          <a:bodyPr>
            <a:normAutofit fontScale="25000" lnSpcReduction="20000"/>
          </a:bodyPr>
          <a:lstStyle/>
          <a:p>
            <a:endParaRPr lang="en-US" sz="14400" dirty="0"/>
          </a:p>
          <a:p>
            <a:r>
              <a:rPr lang="en-US" sz="1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en-US" sz="96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838200"/>
            <a:ext cx="15027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Fall 2024</a:t>
            </a:r>
          </a:p>
        </p:txBody>
      </p:sp>
      <p:pic>
        <p:nvPicPr>
          <p:cNvPr id="1031" name="Picture 7" descr="C:\Users\SALMAN\Desktop\database-symbol-hi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337" y="990600"/>
            <a:ext cx="1897063" cy="2093913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7162800" y="5486400"/>
            <a:ext cx="171014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Week 04</a:t>
            </a:r>
            <a:br>
              <a:rPr lang="en-US" sz="28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Ch 02-TB1</a:t>
            </a:r>
          </a:p>
        </p:txBody>
      </p:sp>
      <p:pic>
        <p:nvPicPr>
          <p:cNvPr id="1034" name="Picture 10" descr="C:\Users\SALMAN\Desktop\PDF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0400" y="3581400"/>
            <a:ext cx="1981200" cy="1981200"/>
          </a:xfrm>
          <a:prstGeom prst="rect">
            <a:avLst/>
          </a:prstGeom>
          <a:noFill/>
        </p:spPr>
      </p:pic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Entity–Relationship</a:t>
            </a:r>
            <a:br>
              <a:rPr lang="en-US" dirty="0"/>
            </a:br>
            <a:r>
              <a:rPr lang="en-US" dirty="0"/>
              <a:t>Modeling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Reading Assignment:</a:t>
            </a:r>
          </a:p>
          <a:p>
            <a:r>
              <a:rPr lang="en-US" dirty="0"/>
              <a:t>Chapter 2: Entity-Relationship Modeling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E-R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8313" indent="-468313"/>
            <a:r>
              <a:rPr lang="en-US" sz="2800" dirty="0"/>
              <a:t>A semantic data model, used for the graphical representation of the conceptual database design</a:t>
            </a:r>
          </a:p>
          <a:p>
            <a:pPr marL="468313" indent="-468313"/>
            <a:r>
              <a:rPr lang="en-US" sz="2800" dirty="0"/>
              <a:t>Major components are </a:t>
            </a:r>
          </a:p>
          <a:p>
            <a:pPr marL="468313" indent="-468313"/>
            <a:endParaRPr lang="en-US" sz="2800" dirty="0"/>
          </a:p>
          <a:p>
            <a:pPr marL="917575" lvl="1" indent="-454025"/>
            <a:r>
              <a:rPr lang="en-US" sz="2400" dirty="0"/>
              <a:t>Entities</a:t>
            </a:r>
          </a:p>
          <a:p>
            <a:pPr marL="917575" lvl="1" indent="-454025"/>
            <a:r>
              <a:rPr lang="en-US" sz="2400" dirty="0"/>
              <a:t>Attributes</a:t>
            </a:r>
          </a:p>
          <a:p>
            <a:pPr marL="917575" lvl="1" indent="-454025"/>
            <a:r>
              <a:rPr lang="en-US" sz="2400" dirty="0"/>
              <a:t>Relationships</a:t>
            </a:r>
          </a:p>
          <a:p>
            <a:pPr marL="971233" lvl="1" indent="-468313"/>
            <a:endParaRPr lang="en-US" sz="2600" dirty="0"/>
          </a:p>
          <a:p>
            <a:pPr marL="468313" indent="-468313"/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Entity Relationship </a:t>
            </a:r>
            <a:r>
              <a:rPr lang="en-US" dirty="0"/>
              <a:t>(ER)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590800" y="457200"/>
            <a:ext cx="6553200" cy="777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62812E-6 L -3.33333E-6 -0.28862 " pathEditMode="relative" ptsTypes="AA">
                                      <p:cBhvr>
                                        <p:cTn id="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8313" indent="-468313"/>
            <a:r>
              <a:rPr lang="en-US" sz="2800" dirty="0"/>
              <a:t>Term used to mean three different meanings</a:t>
            </a:r>
          </a:p>
          <a:p>
            <a:pPr marL="468313" indent="-468313"/>
            <a:endParaRPr lang="en-US" sz="2800" dirty="0"/>
          </a:p>
          <a:p>
            <a:pPr marL="917575" lvl="1" indent="-454025"/>
            <a:r>
              <a:rPr lang="en-US" sz="2400" dirty="0"/>
              <a:t>Entity type</a:t>
            </a:r>
          </a:p>
          <a:p>
            <a:pPr marL="917575" lvl="1" indent="-454025"/>
            <a:r>
              <a:rPr lang="en-US" sz="2400" dirty="0"/>
              <a:t>Entity instance</a:t>
            </a:r>
          </a:p>
          <a:p>
            <a:pPr marL="917575" lvl="1" indent="-454025"/>
            <a:r>
              <a:rPr lang="en-US" sz="2400" dirty="0"/>
              <a:t>Entity set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0800" y="864108"/>
            <a:ext cx="6248400" cy="5120640"/>
          </a:xfrm>
        </p:spPr>
        <p:txBody>
          <a:bodyPr>
            <a:normAutofit/>
          </a:bodyPr>
          <a:lstStyle/>
          <a:p>
            <a:pPr marL="468313" indent="-468313"/>
            <a:r>
              <a:rPr lang="en-US" sz="2800" dirty="0"/>
              <a:t>A name/label assigned to items/objects that exist in an environment and that have similar properties</a:t>
            </a:r>
          </a:p>
          <a:p>
            <a:pPr marL="468313" indent="-468313"/>
            <a:r>
              <a:rPr lang="en-US" sz="2800" dirty="0"/>
              <a:t>It could be person, place, event or even concept</a:t>
            </a:r>
          </a:p>
          <a:p>
            <a:pPr marL="468313" indent="-468313"/>
            <a:r>
              <a:rPr lang="en-US" sz="2800" dirty="0"/>
              <a:t>Distinguishable from other entity types on the basis of properties </a:t>
            </a:r>
          </a:p>
          <a:p>
            <a:pPr marL="468313" indent="-468313"/>
            <a:r>
              <a:rPr lang="en-US" sz="2800" dirty="0"/>
              <a:t>can be objects with a physical (or ‘real’) existence or objects with a conceptual (or ‘abstract’) existence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8"/>
            <a:ext cx="2590800" cy="4601183"/>
          </a:xfrm>
        </p:spPr>
        <p:txBody>
          <a:bodyPr/>
          <a:lstStyle/>
          <a:p>
            <a:r>
              <a:rPr lang="en-US" sz="4000" dirty="0"/>
              <a:t>Entity</a:t>
            </a:r>
            <a:br>
              <a:rPr lang="en-US" sz="4000" dirty="0"/>
            </a:br>
            <a:r>
              <a:rPr lang="en-US" dirty="0"/>
              <a:t>Instance</a:t>
            </a:r>
            <a:br>
              <a:rPr lang="en-US" sz="3200" dirty="0"/>
            </a:br>
            <a:r>
              <a:rPr lang="en-US" sz="3200" dirty="0"/>
              <a:t>and </a:t>
            </a:r>
            <a:br>
              <a:rPr lang="en-US" sz="3200" dirty="0"/>
            </a:br>
            <a:r>
              <a:rPr lang="en-US" sz="3200" dirty="0"/>
              <a:t>Entity Set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8313" indent="-468313"/>
            <a:r>
              <a:rPr lang="en-US" sz="2800" dirty="0"/>
              <a:t>A particular object belonging to a particular entity type</a:t>
            </a:r>
          </a:p>
          <a:p>
            <a:pPr marL="468313" indent="-468313"/>
            <a:r>
              <a:rPr lang="en-US" sz="2800" dirty="0"/>
              <a:t>A uniquely identifiable object of an entity type.</a:t>
            </a:r>
          </a:p>
          <a:p>
            <a:pPr marL="468313" indent="-468313"/>
            <a:endParaRPr lang="en-US" sz="2800" dirty="0"/>
          </a:p>
          <a:p>
            <a:pPr marL="917575" lvl="1" indent="-454025"/>
            <a:r>
              <a:rPr lang="en-US" sz="2400" dirty="0"/>
              <a:t>Entity Type: </a:t>
            </a:r>
            <a:r>
              <a:rPr lang="en-US" sz="2400" dirty="0">
                <a:highlight>
                  <a:srgbClr val="FFFF00"/>
                </a:highlight>
              </a:rPr>
              <a:t>Student</a:t>
            </a:r>
          </a:p>
          <a:p>
            <a:pPr marL="917575" lvl="1" indent="-454025"/>
            <a:r>
              <a:rPr lang="en-US" sz="2400" dirty="0"/>
              <a:t>Entity Instance: </a:t>
            </a:r>
            <a:r>
              <a:rPr lang="en-US" sz="2400" dirty="0">
                <a:highlight>
                  <a:srgbClr val="FFFF00"/>
                </a:highlight>
              </a:rPr>
              <a:t>Farooq, </a:t>
            </a:r>
            <a:r>
              <a:rPr lang="en-US" sz="2400" dirty="0" err="1">
                <a:highlight>
                  <a:srgbClr val="FFFF00"/>
                </a:highlight>
              </a:rPr>
              <a:t>ali</a:t>
            </a:r>
            <a:r>
              <a:rPr lang="en-US" sz="2400" dirty="0">
                <a:highlight>
                  <a:srgbClr val="FFFF00"/>
                </a:highlight>
              </a:rPr>
              <a:t>, hamza, </a:t>
            </a:r>
            <a:r>
              <a:rPr lang="en-US" sz="2400" dirty="0" err="1">
                <a:highlight>
                  <a:srgbClr val="FFFF00"/>
                </a:highlight>
              </a:rPr>
              <a:t>umar</a:t>
            </a:r>
            <a:r>
              <a:rPr lang="en-US" sz="2400" dirty="0">
                <a:highlight>
                  <a:srgbClr val="FFFF00"/>
                </a:highlight>
              </a:rPr>
              <a:t>, bse203123, </a:t>
            </a:r>
          </a:p>
          <a:p>
            <a:pPr marL="917575" lvl="1" indent="-454025"/>
            <a:r>
              <a:rPr lang="en-US" sz="2400" dirty="0"/>
              <a:t>Entity Set: All Students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Entity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8313" indent="-468313"/>
            <a:r>
              <a:rPr lang="en-US" sz="2800" dirty="0"/>
              <a:t>Entity types can be classified into</a:t>
            </a:r>
          </a:p>
          <a:p>
            <a:pPr marL="468313" indent="-468313">
              <a:buNone/>
            </a:pPr>
            <a:r>
              <a:rPr lang="en-US" sz="2800" dirty="0"/>
              <a:t> </a:t>
            </a:r>
          </a:p>
          <a:p>
            <a:pPr marL="917575" lvl="1" indent="-454025"/>
            <a:r>
              <a:rPr lang="en-US" sz="2400" dirty="0"/>
              <a:t>Regular/Strong/Independent</a:t>
            </a:r>
          </a:p>
          <a:p>
            <a:pPr marL="917575" lvl="1" indent="-454025"/>
            <a:r>
              <a:rPr lang="en-US" sz="2400" dirty="0"/>
              <a:t>Weak/Dependent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8"/>
            <a:ext cx="2590800" cy="4601183"/>
          </a:xfrm>
        </p:spPr>
        <p:txBody>
          <a:bodyPr/>
          <a:lstStyle/>
          <a:p>
            <a:r>
              <a:rPr lang="en-US" dirty="0"/>
              <a:t>Strong Entity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8313" indent="-468313"/>
            <a:r>
              <a:rPr lang="en-US" sz="2800" dirty="0"/>
              <a:t>A strong/regular entity type is the one whose instances can exist independently, i.e., without being linked to other instances</a:t>
            </a:r>
          </a:p>
          <a:p>
            <a:pPr marL="468313" indent="-468313"/>
            <a:r>
              <a:rPr lang="en-US" sz="2800" dirty="0"/>
              <a:t>Strong ETs have their own identity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8"/>
            <a:ext cx="2590800" cy="4601183"/>
          </a:xfrm>
        </p:spPr>
        <p:txBody>
          <a:bodyPr/>
          <a:lstStyle/>
          <a:p>
            <a:r>
              <a:rPr lang="en-US" dirty="0"/>
              <a:t>Weak </a:t>
            </a:r>
            <a:br>
              <a:rPr lang="en-US" dirty="0"/>
            </a:br>
            <a:r>
              <a:rPr lang="en-US" dirty="0"/>
              <a:t>Entity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8313" indent="-468313"/>
            <a:r>
              <a:rPr lang="en-US" sz="2800" dirty="0"/>
              <a:t>An entity type whose instances cannot exist without being linked with instances of some other entity type, i.e., they cannot exist independently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Entity Types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8313" indent="-468313"/>
            <a:r>
              <a:rPr lang="en-US" sz="2800" dirty="0"/>
              <a:t>Singular noun recommended</a:t>
            </a:r>
          </a:p>
          <a:p>
            <a:pPr marL="468313" indent="-468313"/>
            <a:r>
              <a:rPr lang="en-US" sz="2800" dirty="0"/>
              <a:t>Organization specific names</a:t>
            </a:r>
          </a:p>
          <a:p>
            <a:pPr marL="468313" indent="-468313"/>
            <a:r>
              <a:rPr lang="en-US" sz="2800" dirty="0"/>
              <a:t>Write in capitals</a:t>
            </a:r>
          </a:p>
          <a:p>
            <a:pPr marL="468313" indent="-468313"/>
            <a:r>
              <a:rPr lang="en-US" sz="2800" dirty="0"/>
              <a:t> Abbreviations can be used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Symbols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fld id="{4FCBA6A4-4AC1-4AE5-BF17-AC49EE4BA738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2947670" y="1524000"/>
            <a:ext cx="5500157" cy="1504667"/>
            <a:chOff x="288" y="960"/>
            <a:chExt cx="5197" cy="1296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4176" y="960"/>
              <a:ext cx="1200" cy="459"/>
            </a:xfrm>
            <a:prstGeom prst="rect">
              <a:avLst/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sz="4400">
                <a:solidFill>
                  <a:srgbClr val="FF0000"/>
                </a:solidFill>
              </a:endParaRPr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288" y="960"/>
              <a:ext cx="3272" cy="504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3200" dirty="0">
                  <a:solidFill>
                    <a:srgbClr val="FF0000"/>
                  </a:solidFill>
                </a:rPr>
                <a:t>Regular Entity Type</a:t>
              </a: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4176" y="1728"/>
              <a:ext cx="1200" cy="528"/>
            </a:xfrm>
            <a:prstGeom prst="rect">
              <a:avLst/>
            </a:prstGeom>
            <a:noFill/>
            <a:ln w="76200" cmpd="dbl">
              <a:solidFill>
                <a:schemeClr val="accent1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sz="4400">
                <a:solidFill>
                  <a:srgbClr val="FF0000"/>
                </a:solidFill>
              </a:endParaRP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88" y="1728"/>
              <a:ext cx="2940" cy="504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3200" dirty="0">
                  <a:solidFill>
                    <a:srgbClr val="FF0000"/>
                  </a:solidFill>
                </a:rPr>
                <a:t>Weak Entity Type</a:t>
              </a: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4014" y="1034"/>
              <a:ext cx="1471" cy="45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sz="2800" dirty="0">
                  <a:solidFill>
                    <a:srgbClr val="FF0000"/>
                  </a:solidFill>
                </a:rPr>
                <a:t>STRONG</a:t>
              </a:r>
              <a:endParaRPr lang="en-US" sz="3200" dirty="0">
                <a:solidFill>
                  <a:srgbClr val="FF0000"/>
                </a:solidFill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4204" y="1741"/>
              <a:ext cx="1091" cy="45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sz="2800" dirty="0">
                  <a:solidFill>
                    <a:srgbClr val="FF0000"/>
                  </a:solidFill>
                </a:rPr>
                <a:t>WEAK</a:t>
              </a:r>
              <a:endParaRPr lang="en-US" sz="3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3429000" y="3581400"/>
            <a:ext cx="4419600" cy="780197"/>
            <a:chOff x="912" y="2400"/>
            <a:chExt cx="3984" cy="672"/>
          </a:xfrm>
        </p:grpSpPr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912" y="2400"/>
              <a:ext cx="1584" cy="672"/>
            </a:xfrm>
            <a:prstGeom prst="rect">
              <a:avLst/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sz="4400">
                <a:solidFill>
                  <a:srgbClr val="FF0000"/>
                </a:solidFill>
              </a:endParaRP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3312" y="2400"/>
              <a:ext cx="1584" cy="672"/>
            </a:xfrm>
            <a:prstGeom prst="rect">
              <a:avLst/>
            </a:prstGeom>
            <a:noFill/>
            <a:ln w="76200" cmpd="dbl">
              <a:solidFill>
                <a:schemeClr val="accent1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sz="4400">
                <a:solidFill>
                  <a:srgbClr val="FF0000"/>
                </a:solidFill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2496" y="2736"/>
              <a:ext cx="816" cy="0"/>
            </a:xfrm>
            <a:prstGeom prst="line">
              <a:avLst/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967" y="2534"/>
              <a:ext cx="1481" cy="34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000" dirty="0">
                  <a:solidFill>
                    <a:srgbClr val="FF0000"/>
                  </a:solidFill>
                </a:rPr>
                <a:t>EMPPLOYEE</a:t>
              </a:r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3401" y="2592"/>
              <a:ext cx="1495" cy="318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dirty="0">
                  <a:solidFill>
                    <a:srgbClr val="FF0000"/>
                  </a:solidFill>
                </a:rPr>
                <a:t>DEPENDENTS</a:t>
              </a:r>
            </a:p>
          </p:txBody>
        </p:sp>
      </p:grpSp>
      <p:grpSp>
        <p:nvGrpSpPr>
          <p:cNvPr id="19" name="Group 16"/>
          <p:cNvGrpSpPr>
            <a:grpSpLocks/>
          </p:cNvGrpSpPr>
          <p:nvPr/>
        </p:nvGrpSpPr>
        <p:grpSpPr bwMode="auto">
          <a:xfrm>
            <a:off x="3397885" y="5089525"/>
            <a:ext cx="4216399" cy="780197"/>
            <a:chOff x="864" y="3360"/>
            <a:chExt cx="3984" cy="672"/>
          </a:xfrm>
        </p:grpSpPr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864" y="3360"/>
              <a:ext cx="1584" cy="672"/>
            </a:xfrm>
            <a:prstGeom prst="rect">
              <a:avLst/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sz="4400">
                <a:solidFill>
                  <a:srgbClr val="FF0000"/>
                </a:solidFill>
              </a:endParaRPr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3264" y="3360"/>
              <a:ext cx="1584" cy="672"/>
            </a:xfrm>
            <a:prstGeom prst="rect">
              <a:avLst/>
            </a:prstGeom>
            <a:noFill/>
            <a:ln w="76200" cmpd="dbl">
              <a:solidFill>
                <a:schemeClr val="accent1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sz="4400">
                <a:solidFill>
                  <a:srgbClr val="FF0000"/>
                </a:solidFill>
              </a:endParaRP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2448" y="3696"/>
              <a:ext cx="816" cy="0"/>
            </a:xfrm>
            <a:prstGeom prst="line">
              <a:avLst/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1104" y="3504"/>
              <a:ext cx="820" cy="34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000" dirty="0">
                  <a:solidFill>
                    <a:srgbClr val="FF0000"/>
                  </a:solidFill>
                </a:rPr>
                <a:t>BOOK</a:t>
              </a:r>
            </a:p>
          </p:txBody>
        </p:sp>
        <p:sp>
          <p:nvSpPr>
            <p:cNvPr id="24" name="Text Box 21"/>
            <p:cNvSpPr txBox="1">
              <a:spLocks noChangeArrowheads="1"/>
            </p:cNvSpPr>
            <p:nvPr/>
          </p:nvSpPr>
          <p:spPr bwMode="auto">
            <a:xfrm>
              <a:off x="3312" y="3552"/>
              <a:ext cx="1285" cy="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dirty="0">
                  <a:solidFill>
                    <a:srgbClr val="FF0000"/>
                  </a:solidFill>
                </a:rPr>
                <a:t>BOOKCOPY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8"/>
            <a:ext cx="2514599" cy="4601183"/>
          </a:xfrm>
        </p:spPr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8313" indent="-468313"/>
            <a:r>
              <a:rPr lang="en-US" sz="2800" dirty="0"/>
              <a:t>An attribute of an entity type is a defining property or quality of the instances of that entity type. </a:t>
            </a:r>
          </a:p>
          <a:p>
            <a:pPr marL="468313" indent="-468313"/>
            <a:r>
              <a:rPr lang="en-US" sz="2800" dirty="0"/>
              <a:t>Entity instances of same entity type have the same attributes. (e.g. Student Identification, Student Name)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Domain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8313" indent="-468313"/>
            <a:r>
              <a:rPr lang="en-US" sz="2800" dirty="0"/>
              <a:t>Every attribute has a domain</a:t>
            </a:r>
          </a:p>
          <a:p>
            <a:pPr marL="468313" indent="-468313"/>
            <a:r>
              <a:rPr lang="en-US" sz="2800" dirty="0"/>
              <a:t>Each attribute is associated with a set of values called a domain.</a:t>
            </a:r>
          </a:p>
          <a:p>
            <a:pPr marL="468313" indent="-468313"/>
            <a:r>
              <a:rPr lang="en-US" sz="2800" dirty="0"/>
              <a:t>The attributes in an entity set get the values from the same domain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Symbols for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8313" indent="-468313"/>
            <a:r>
              <a:rPr lang="en-US" sz="2800" dirty="0"/>
              <a:t>Each represented as an oval, linked with an ET symbol</a:t>
            </a:r>
          </a:p>
          <a:p>
            <a:pPr marL="468313" indent="-468313"/>
            <a:endParaRPr lang="en-US" sz="2800" dirty="0"/>
          </a:p>
          <a:p>
            <a:pPr marL="4171633" lvl="8" indent="-468313"/>
            <a:r>
              <a:rPr lang="en-US" sz="2200" dirty="0"/>
              <a:t>CGPA</a:t>
            </a:r>
          </a:p>
          <a:p>
            <a:pPr marL="468313" indent="-468313"/>
            <a:r>
              <a:rPr lang="en-US" sz="2800" dirty="0"/>
              <a:t>STUDENT</a:t>
            </a:r>
          </a:p>
          <a:p>
            <a:pPr marL="468313" indent="-468313"/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2971800" y="3276600"/>
            <a:ext cx="5334000" cy="1066800"/>
            <a:chOff x="1776" y="3024"/>
            <a:chExt cx="3360" cy="672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1776" y="3072"/>
              <a:ext cx="1344" cy="6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6"/>
            <p:cNvSpPr>
              <a:spLocks noChangeArrowheads="1"/>
            </p:cNvSpPr>
            <p:nvPr/>
          </p:nvSpPr>
          <p:spPr bwMode="auto">
            <a:xfrm>
              <a:off x="3984" y="3024"/>
              <a:ext cx="1152" cy="48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 flipV="1">
              <a:off x="3120" y="3264"/>
              <a:ext cx="864" cy="14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8313" indent="-468313"/>
            <a:r>
              <a:rPr lang="en-US" sz="2800" dirty="0"/>
              <a:t>Single </a:t>
            </a:r>
            <a:r>
              <a:rPr lang="en-US" sz="2800" dirty="0" err="1"/>
              <a:t>vs</a:t>
            </a:r>
            <a:r>
              <a:rPr lang="en-US" sz="2800" dirty="0"/>
              <a:t> composite</a:t>
            </a:r>
          </a:p>
          <a:p>
            <a:pPr marL="468313" indent="-468313"/>
            <a:r>
              <a:rPr lang="en-US" sz="2800" dirty="0"/>
              <a:t>Single valued </a:t>
            </a:r>
            <a:r>
              <a:rPr lang="en-US" sz="2800" dirty="0" err="1"/>
              <a:t>vs</a:t>
            </a:r>
            <a:r>
              <a:rPr lang="en-US" sz="2800" dirty="0"/>
              <a:t> multi-valued</a:t>
            </a:r>
          </a:p>
          <a:p>
            <a:pPr marL="468313" indent="-468313"/>
            <a:r>
              <a:rPr lang="en-US" sz="2800" dirty="0"/>
              <a:t>Stored </a:t>
            </a:r>
            <a:r>
              <a:rPr lang="en-US" sz="2800" dirty="0" err="1"/>
              <a:t>vs</a:t>
            </a:r>
            <a:r>
              <a:rPr lang="en-US" sz="2800" dirty="0"/>
              <a:t> derived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</a:t>
            </a:r>
            <a:br>
              <a:rPr lang="en-US" dirty="0"/>
            </a:br>
            <a:r>
              <a:rPr lang="en-US" dirty="0" err="1"/>
              <a:t>vs</a:t>
            </a:r>
            <a:r>
              <a:rPr lang="en-US" dirty="0"/>
              <a:t> composite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/>
              <a:t>Simple  Attribute: </a:t>
            </a:r>
            <a:r>
              <a:rPr lang="en-US" sz="2800" dirty="0"/>
              <a:t>An attribute composed of a single component with an independent existence. It can not be further divided. Sometimes Called Atomic.</a:t>
            </a:r>
          </a:p>
          <a:p>
            <a:pPr lvl="1"/>
            <a:r>
              <a:rPr lang="en-US" sz="2400" dirty="0"/>
              <a:t>Position and Salary</a:t>
            </a:r>
          </a:p>
          <a:p>
            <a:pPr lvl="1"/>
            <a:r>
              <a:rPr lang="en-US" sz="2400" dirty="0"/>
              <a:t>SALARY (FIXED SALARY/HOURLY-BASED)</a:t>
            </a:r>
          </a:p>
          <a:p>
            <a:pPr lvl="1"/>
            <a:endParaRPr lang="en-US" sz="2400" dirty="0"/>
          </a:p>
          <a:p>
            <a:r>
              <a:rPr lang="en-US" sz="2800" b="1" dirty="0"/>
              <a:t>Composite Attribute:</a:t>
            </a:r>
            <a:r>
              <a:rPr lang="en-US" sz="2800" dirty="0"/>
              <a:t>  An attribute composed of multiple components, each with an independent existence. </a:t>
            </a:r>
          </a:p>
          <a:p>
            <a:pPr lvl="1"/>
            <a:r>
              <a:rPr lang="en-US" sz="2400" dirty="0"/>
              <a:t>Address (house #, street, city, postal code, country)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Single-Valued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vs</a:t>
            </a:r>
            <a:r>
              <a:rPr lang="en-US" dirty="0"/>
              <a:t> </a:t>
            </a:r>
            <a:br>
              <a:rPr lang="en-US" dirty="0"/>
            </a:br>
            <a:r>
              <a:rPr lang="en-US" sz="2800" dirty="0"/>
              <a:t>Multi-Valued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Single-valued Attribute:</a:t>
            </a:r>
            <a:r>
              <a:rPr lang="en-US" sz="2800" dirty="0"/>
              <a:t>  An attribute that holds a single value for each occurrence of an entity type.</a:t>
            </a:r>
          </a:p>
          <a:p>
            <a:pPr lvl="1"/>
            <a:r>
              <a:rPr lang="en-US" sz="2400" dirty="0"/>
              <a:t>Branch Number</a:t>
            </a:r>
          </a:p>
          <a:p>
            <a:pPr lvl="1"/>
            <a:endParaRPr lang="en-US" sz="2400" dirty="0"/>
          </a:p>
          <a:p>
            <a:r>
              <a:rPr lang="en-US" sz="2800" b="1" dirty="0"/>
              <a:t>Multi-valued Attribute:</a:t>
            </a:r>
            <a:r>
              <a:rPr lang="en-US" sz="2800" dirty="0"/>
              <a:t>  An attribute that holds multiple values for each occurrence of an entity type.</a:t>
            </a:r>
          </a:p>
          <a:p>
            <a:pPr lvl="1"/>
            <a:r>
              <a:rPr lang="en-US" sz="2400" dirty="0"/>
              <a:t>Phone Number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Derived</a:t>
            </a:r>
            <a:br>
              <a:rPr lang="en-US" dirty="0"/>
            </a:br>
            <a:r>
              <a:rPr lang="en-US" dirty="0" err="1"/>
              <a:t>vs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Stored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Derived Attribute:</a:t>
            </a:r>
            <a:r>
              <a:rPr lang="en-US" sz="2800" dirty="0"/>
              <a:t> An attribute that represents a value that is derivable from the value of a related attribute or set of attributes, not necessarily in the same  entity type.</a:t>
            </a:r>
          </a:p>
          <a:p>
            <a:pPr lvl="1"/>
            <a:r>
              <a:rPr lang="en-US" sz="2600" dirty="0"/>
              <a:t>Duration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Symbols for Attributes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2871248" y="990601"/>
            <a:ext cx="3605752" cy="874713"/>
            <a:chOff x="960" y="1248"/>
            <a:chExt cx="3120" cy="551"/>
          </a:xfrm>
        </p:grpSpPr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2976" y="1344"/>
              <a:ext cx="1104" cy="384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960" y="1248"/>
              <a:ext cx="1632" cy="55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40000"/>
                </a:lnSpc>
                <a:buFont typeface="Wingdings" pitchFamily="2" charset="2"/>
                <a:buNone/>
              </a:pPr>
              <a:r>
                <a:rPr lang="en-US" sz="4000" dirty="0">
                  <a:solidFill>
                    <a:srgbClr val="FF0000"/>
                  </a:solidFill>
                </a:rPr>
                <a:t>Simple</a:t>
              </a:r>
            </a:p>
          </p:txBody>
        </p:sp>
      </p:grpSp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2819286" y="1981200"/>
            <a:ext cx="5943717" cy="1676400"/>
            <a:chOff x="473" y="1680"/>
            <a:chExt cx="5143" cy="1056"/>
          </a:xfrm>
        </p:grpSpPr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2976" y="1968"/>
              <a:ext cx="1104" cy="384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4512" y="1680"/>
              <a:ext cx="1104" cy="384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auto">
            <a:xfrm>
              <a:off x="4512" y="2352"/>
              <a:ext cx="1104" cy="384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V="1">
              <a:off x="4032" y="1920"/>
              <a:ext cx="528" cy="19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4032" y="2256"/>
              <a:ext cx="480" cy="24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473" y="1968"/>
              <a:ext cx="2156" cy="446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4000" dirty="0">
                  <a:solidFill>
                    <a:srgbClr val="FF0000"/>
                  </a:solidFill>
                </a:rPr>
                <a:t>Composite</a:t>
              </a:r>
            </a:p>
          </p:txBody>
        </p:sp>
      </p:grpSp>
      <p:grpSp>
        <p:nvGrpSpPr>
          <p:cNvPr id="15" name="Group 13"/>
          <p:cNvGrpSpPr>
            <a:grpSpLocks/>
          </p:cNvGrpSpPr>
          <p:nvPr/>
        </p:nvGrpSpPr>
        <p:grpSpPr bwMode="auto">
          <a:xfrm>
            <a:off x="2823065" y="3962397"/>
            <a:ext cx="4548799" cy="708025"/>
            <a:chOff x="960" y="2592"/>
            <a:chExt cx="3936" cy="446"/>
          </a:xfrm>
        </p:grpSpPr>
        <p:sp>
          <p:nvSpPr>
            <p:cNvPr id="16" name="Oval 14"/>
            <p:cNvSpPr>
              <a:spLocks noChangeArrowheads="1"/>
            </p:cNvSpPr>
            <p:nvPr/>
          </p:nvSpPr>
          <p:spPr bwMode="auto">
            <a:xfrm>
              <a:off x="3792" y="2592"/>
              <a:ext cx="1104" cy="384"/>
            </a:xfrm>
            <a:prstGeom prst="ellipse">
              <a:avLst/>
            </a:prstGeom>
            <a:noFill/>
            <a:ln w="76200" cmpd="dbl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960" y="2592"/>
              <a:ext cx="2475" cy="446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4000" dirty="0">
                  <a:solidFill>
                    <a:srgbClr val="FF0000"/>
                  </a:solidFill>
                </a:rPr>
                <a:t>Multi-valued</a:t>
              </a:r>
            </a:p>
          </p:txBody>
        </p:sp>
      </p:grpSp>
      <p:grpSp>
        <p:nvGrpSpPr>
          <p:cNvPr id="18" name="Group 16"/>
          <p:cNvGrpSpPr>
            <a:grpSpLocks/>
          </p:cNvGrpSpPr>
          <p:nvPr/>
        </p:nvGrpSpPr>
        <p:grpSpPr bwMode="auto">
          <a:xfrm>
            <a:off x="2819400" y="5105400"/>
            <a:ext cx="3605752" cy="708025"/>
            <a:chOff x="960" y="3216"/>
            <a:chExt cx="3120" cy="446"/>
          </a:xfrm>
        </p:grpSpPr>
        <p:sp>
          <p:nvSpPr>
            <p:cNvPr id="19" name="Oval 17"/>
            <p:cNvSpPr>
              <a:spLocks noChangeArrowheads="1"/>
            </p:cNvSpPr>
            <p:nvPr/>
          </p:nvSpPr>
          <p:spPr bwMode="auto">
            <a:xfrm>
              <a:off x="2976" y="3264"/>
              <a:ext cx="1104" cy="384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960" y="3216"/>
              <a:ext cx="1593" cy="446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4000" dirty="0">
                  <a:solidFill>
                    <a:srgbClr val="FF0000"/>
                  </a:solidFill>
                </a:rPr>
                <a:t>Derived</a:t>
              </a:r>
              <a:endParaRPr lang="en-US" sz="44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5" name="Group 3"/>
          <p:cNvGrpSpPr>
            <a:grpSpLocks noGrp="1"/>
          </p:cNvGrpSpPr>
          <p:nvPr/>
        </p:nvGrpSpPr>
        <p:grpSpPr bwMode="auto">
          <a:xfrm>
            <a:off x="2667000" y="863600"/>
            <a:ext cx="6096000" cy="5121275"/>
            <a:chOff x="0" y="1152"/>
            <a:chExt cx="5760" cy="2448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1800" y="2201"/>
              <a:ext cx="1813" cy="25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800">
                  <a:solidFill>
                    <a:schemeClr val="accent6"/>
                  </a:solidFill>
                </a:rPr>
                <a:t>EMPLOYEE</a:t>
              </a: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2160" y="1152"/>
              <a:ext cx="1296" cy="48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2232" y="1254"/>
              <a:ext cx="1070" cy="25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800" dirty="0" err="1">
                  <a:solidFill>
                    <a:schemeClr val="accent6"/>
                  </a:solidFill>
                </a:rPr>
                <a:t>empId</a:t>
              </a:r>
              <a:endParaRPr lang="en-US" sz="2800" dirty="0">
                <a:solidFill>
                  <a:schemeClr val="accent6"/>
                </a:solidFill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3792" y="1152"/>
              <a:ext cx="1296" cy="48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3792" y="1276"/>
              <a:ext cx="1235" cy="19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000" dirty="0" err="1">
                  <a:solidFill>
                    <a:schemeClr val="accent6"/>
                  </a:solidFill>
                </a:rPr>
                <a:t>empName</a:t>
              </a:r>
              <a:endParaRPr lang="en-US" sz="2800" dirty="0">
                <a:solidFill>
                  <a:schemeClr val="accent6"/>
                </a:solidFill>
              </a:endParaRPr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auto">
            <a:xfrm>
              <a:off x="528" y="1152"/>
              <a:ext cx="1296" cy="48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576" y="1276"/>
              <a:ext cx="1282" cy="19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000" dirty="0">
                  <a:solidFill>
                    <a:schemeClr val="accent6"/>
                  </a:solidFill>
                </a:rPr>
                <a:t>Experience</a:t>
              </a:r>
            </a:p>
          </p:txBody>
        </p:sp>
        <p:sp>
          <p:nvSpPr>
            <p:cNvPr id="13" name="Oval 11"/>
            <p:cNvSpPr>
              <a:spLocks noChangeArrowheads="1"/>
            </p:cNvSpPr>
            <p:nvPr/>
          </p:nvSpPr>
          <p:spPr bwMode="auto">
            <a:xfrm>
              <a:off x="1428" y="3120"/>
              <a:ext cx="1404" cy="480"/>
            </a:xfrm>
            <a:prstGeom prst="ellipse">
              <a:avLst/>
            </a:prstGeom>
            <a:noFill/>
            <a:ln w="76200" cmpd="dbl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1536" y="3243"/>
              <a:ext cx="1223" cy="19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000" dirty="0" err="1">
                  <a:solidFill>
                    <a:schemeClr val="accent6"/>
                  </a:solidFill>
                </a:rPr>
                <a:t>emp_Qual</a:t>
              </a:r>
              <a:endParaRPr lang="en-US" sz="2000" dirty="0">
                <a:solidFill>
                  <a:schemeClr val="accent6"/>
                </a:solidFill>
              </a:endParaRPr>
            </a:p>
          </p:txBody>
        </p:sp>
        <p:sp>
          <p:nvSpPr>
            <p:cNvPr id="15" name="Oval 13"/>
            <p:cNvSpPr>
              <a:spLocks noChangeArrowheads="1"/>
            </p:cNvSpPr>
            <p:nvPr/>
          </p:nvSpPr>
          <p:spPr bwMode="auto">
            <a:xfrm>
              <a:off x="2976" y="3120"/>
              <a:ext cx="1296" cy="48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3240" y="3214"/>
              <a:ext cx="883" cy="22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400" dirty="0">
                  <a:solidFill>
                    <a:schemeClr val="accent6"/>
                  </a:solidFill>
                </a:rPr>
                <a:t>street</a:t>
              </a:r>
              <a:endParaRPr lang="en-US" sz="2800" dirty="0">
                <a:solidFill>
                  <a:schemeClr val="accent6"/>
                </a:solidFill>
              </a:endParaRPr>
            </a:p>
          </p:txBody>
        </p:sp>
        <p:sp>
          <p:nvSpPr>
            <p:cNvPr id="17" name="Oval 15"/>
            <p:cNvSpPr>
              <a:spLocks noChangeArrowheads="1"/>
            </p:cNvSpPr>
            <p:nvPr/>
          </p:nvSpPr>
          <p:spPr bwMode="auto">
            <a:xfrm>
              <a:off x="0" y="3120"/>
              <a:ext cx="1296" cy="48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72" y="3243"/>
              <a:ext cx="1180" cy="19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000" dirty="0" err="1">
                  <a:solidFill>
                    <a:schemeClr val="accent6"/>
                  </a:solidFill>
                </a:rPr>
                <a:t>dateHired</a:t>
              </a:r>
              <a:endParaRPr lang="en-US" sz="2000" dirty="0">
                <a:solidFill>
                  <a:schemeClr val="accent6"/>
                </a:solidFill>
              </a:endParaRPr>
            </a:p>
          </p:txBody>
        </p:sp>
        <p:sp>
          <p:nvSpPr>
            <p:cNvPr id="19" name="Oval 17"/>
            <p:cNvSpPr>
              <a:spLocks noChangeArrowheads="1"/>
            </p:cNvSpPr>
            <p:nvPr/>
          </p:nvSpPr>
          <p:spPr bwMode="auto">
            <a:xfrm>
              <a:off x="4464" y="3120"/>
              <a:ext cx="1296" cy="48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4608" y="3280"/>
              <a:ext cx="1074" cy="19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000" dirty="0" err="1">
                  <a:solidFill>
                    <a:schemeClr val="accent6"/>
                  </a:solidFill>
                </a:rPr>
                <a:t>houseNo</a:t>
              </a:r>
              <a:endParaRPr lang="en-US" sz="2000" dirty="0">
                <a:solidFill>
                  <a:schemeClr val="accent6"/>
                </a:solidFill>
              </a:endParaRPr>
            </a:p>
          </p:txBody>
        </p:sp>
        <p:sp>
          <p:nvSpPr>
            <p:cNvPr id="21" name="Oval 19"/>
            <p:cNvSpPr>
              <a:spLocks noChangeArrowheads="1"/>
            </p:cNvSpPr>
            <p:nvPr/>
          </p:nvSpPr>
          <p:spPr bwMode="auto">
            <a:xfrm>
              <a:off x="3936" y="2112"/>
              <a:ext cx="1296" cy="48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22" name="Text Box 20"/>
            <p:cNvSpPr txBox="1">
              <a:spLocks noChangeArrowheads="1"/>
            </p:cNvSpPr>
            <p:nvPr/>
          </p:nvSpPr>
          <p:spPr bwMode="auto">
            <a:xfrm>
              <a:off x="4104" y="2230"/>
              <a:ext cx="1108" cy="22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400" dirty="0">
                  <a:solidFill>
                    <a:schemeClr val="accent6"/>
                  </a:solidFill>
                </a:rPr>
                <a:t>address</a:t>
              </a:r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 flipH="1">
              <a:off x="624" y="2448"/>
              <a:ext cx="1584" cy="67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>
              <a:off x="2112" y="2451"/>
              <a:ext cx="480" cy="63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4752" y="2592"/>
              <a:ext cx="336" cy="5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 flipH="1">
              <a:off x="3792" y="2544"/>
              <a:ext cx="384" cy="57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 flipH="1" flipV="1">
              <a:off x="3600" y="2320"/>
              <a:ext cx="317" cy="2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 flipH="1">
              <a:off x="3456" y="1632"/>
              <a:ext cx="960" cy="56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 flipH="1">
              <a:off x="2832" y="1632"/>
              <a:ext cx="0" cy="57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1248" y="1632"/>
              <a:ext cx="950" cy="55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8313" indent="-468313">
              <a:lnSpc>
                <a:spcPct val="110000"/>
              </a:lnSpc>
            </a:pPr>
            <a:r>
              <a:rPr lang="en-US" sz="2800" dirty="0"/>
              <a:t>An attribute or set of attributes to identify an entity instance uniquely</a:t>
            </a:r>
          </a:p>
          <a:p>
            <a:pPr marL="468313" indent="-468313">
              <a:lnSpc>
                <a:spcPct val="110000"/>
              </a:lnSpc>
            </a:pPr>
            <a:r>
              <a:rPr lang="en-US" sz="2800" dirty="0"/>
              <a:t>Types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Super key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Candidate key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Composite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Primary key</a:t>
            </a:r>
          </a:p>
          <a:p>
            <a:pPr lvl="1">
              <a:lnSpc>
                <a:spcPct val="110000"/>
              </a:lnSpc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0"/>
            <a:ext cx="2514600" cy="4601183"/>
          </a:xfrm>
        </p:spPr>
        <p:txBody>
          <a:bodyPr/>
          <a:lstStyle/>
          <a:p>
            <a:r>
              <a:rPr lang="en-US" dirty="0"/>
              <a:t>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Relationship type: </a:t>
            </a:r>
            <a:r>
              <a:rPr lang="en-US" sz="2800" dirty="0"/>
              <a:t>A set of meaningful associations among entity types.</a:t>
            </a:r>
          </a:p>
          <a:p>
            <a:endParaRPr lang="en-US" sz="2800" dirty="0"/>
          </a:p>
          <a:p>
            <a:r>
              <a:rPr lang="en-US" sz="2800" b="1" dirty="0"/>
              <a:t>Relationship Occurrence:</a:t>
            </a:r>
            <a:r>
              <a:rPr lang="en-US" sz="2800" dirty="0"/>
              <a:t> A uniquely identifiable association, which includes one occurrence from each participating entity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8"/>
            <a:ext cx="2514599" cy="4601183"/>
          </a:xfrm>
        </p:spPr>
        <p:txBody>
          <a:bodyPr/>
          <a:lstStyle/>
          <a:p>
            <a:r>
              <a:rPr lang="en-US" dirty="0"/>
              <a:t>Relationship </a:t>
            </a:r>
            <a:r>
              <a:rPr lang="en-US" sz="2800" dirty="0"/>
              <a:t>Representation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667000" y="1752600"/>
            <a:ext cx="6113269" cy="334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8"/>
            <a:ext cx="2514599" cy="4601183"/>
          </a:xfrm>
        </p:spPr>
        <p:txBody>
          <a:bodyPr/>
          <a:lstStyle/>
          <a:p>
            <a:r>
              <a:rPr lang="en-US" dirty="0"/>
              <a:t>Individual Occurrences of HAS relationship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667000" y="1524000"/>
            <a:ext cx="6096000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8313" indent="-468313">
              <a:tabLst>
                <a:tab pos="463550" algn="l"/>
              </a:tabLst>
            </a:pPr>
            <a:r>
              <a:rPr lang="en-US" sz="2400" dirty="0"/>
              <a:t>STUDENT and COURSE have ENROLL relationship</a:t>
            </a:r>
          </a:p>
          <a:p>
            <a:pPr marL="468313" indent="-468313">
              <a:tabLst>
                <a:tab pos="463550" algn="l"/>
              </a:tabLst>
            </a:pPr>
            <a:r>
              <a:rPr lang="en-US" sz="2400" dirty="0"/>
              <a:t>However, it can also be named as STD_CLS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8"/>
            <a:ext cx="2514599" cy="4601183"/>
          </a:xfrm>
        </p:spPr>
        <p:txBody>
          <a:bodyPr/>
          <a:lstStyle/>
          <a:p>
            <a:r>
              <a:rPr lang="en-US" dirty="0"/>
              <a:t>Participants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8313" indent="-468313">
              <a:tabLst>
                <a:tab pos="463550" algn="l"/>
              </a:tabLst>
            </a:pPr>
            <a:r>
              <a:rPr lang="en-US" sz="2800" dirty="0"/>
              <a:t>Entities involved in a relationship are called its participants</a:t>
            </a:r>
          </a:p>
          <a:p>
            <a:pPr marL="468313" indent="-468313">
              <a:tabLst>
                <a:tab pos="463550" algn="l"/>
              </a:tabLst>
            </a:pPr>
            <a:r>
              <a:rPr lang="en-US" sz="2800" dirty="0"/>
              <a:t>The participation of an entity in a relationship is total participation when all entities of that set might be participant in the relationship otherwise it is partial participation.</a:t>
            </a:r>
          </a:p>
          <a:p>
            <a:pPr marL="468313" indent="-468313">
              <a:tabLst>
                <a:tab pos="463550" algn="l"/>
              </a:tabLst>
            </a:pPr>
            <a:endParaRPr lang="en-US" sz="2800" dirty="0"/>
          </a:p>
          <a:p>
            <a:pPr marL="971233" lvl="1" indent="-468313">
              <a:tabLst>
                <a:tab pos="463550" algn="l"/>
              </a:tabLst>
            </a:pPr>
            <a:r>
              <a:rPr lang="en-US" sz="2800" dirty="0"/>
              <a:t>if every </a:t>
            </a:r>
            <a:r>
              <a:rPr lang="en-US" sz="2800" b="1" i="1" dirty="0"/>
              <a:t>Part</a:t>
            </a:r>
            <a:r>
              <a:rPr lang="en-US" sz="2800" dirty="0"/>
              <a:t> is supplied by a </a:t>
            </a:r>
            <a:r>
              <a:rPr lang="en-US" sz="2800" b="1" i="1" dirty="0"/>
              <a:t>Supplier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8"/>
            <a:ext cx="2514600" cy="4601183"/>
          </a:xfrm>
        </p:spPr>
        <p:txBody>
          <a:bodyPr/>
          <a:lstStyle/>
          <a:p>
            <a:r>
              <a:rPr lang="en-US" dirty="0"/>
              <a:t>Degree of Relationship Type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8313" indent="-414338"/>
            <a:r>
              <a:rPr lang="en-US" sz="2800" dirty="0"/>
              <a:t>The number of participating entity types in a relationship.</a:t>
            </a:r>
          </a:p>
          <a:p>
            <a:pPr marL="468313" indent="-414338"/>
            <a:r>
              <a:rPr lang="en-US" sz="2800" b="1" dirty="0"/>
              <a:t>Unary Relationship</a:t>
            </a:r>
          </a:p>
          <a:p>
            <a:pPr marL="468313" indent="-414338"/>
            <a:endParaRPr lang="en-US" sz="2800" dirty="0"/>
          </a:p>
          <a:p>
            <a:pPr marL="468313" indent="-414338"/>
            <a:r>
              <a:rPr lang="en-US" sz="2800" dirty="0"/>
              <a:t>A </a:t>
            </a:r>
            <a:r>
              <a:rPr lang="en-US" sz="2800" b="1" dirty="0"/>
              <a:t>Binary</a:t>
            </a:r>
            <a:r>
              <a:rPr lang="en-US" sz="2800" dirty="0"/>
              <a:t> relationship is the one that links two entity sets e.g. STUDENT-CLASS</a:t>
            </a:r>
          </a:p>
          <a:p>
            <a:pPr marL="468313" indent="-414338"/>
            <a:endParaRPr lang="en-US" sz="2800" dirty="0"/>
          </a:p>
          <a:p>
            <a:pPr marL="468313" indent="-414338"/>
            <a:r>
              <a:rPr lang="en-US" sz="2800" dirty="0"/>
              <a:t>A </a:t>
            </a:r>
            <a:r>
              <a:rPr lang="en-US" sz="2800" b="1" dirty="0"/>
              <a:t>Ternary</a:t>
            </a:r>
            <a:r>
              <a:rPr lang="en-US" sz="2800" dirty="0"/>
              <a:t> relationship is the one that involves three entities e.g.      STUDENT-CLASS-FACULTY.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8"/>
            <a:ext cx="2514599" cy="4601183"/>
          </a:xfrm>
        </p:spPr>
        <p:txBody>
          <a:bodyPr/>
          <a:lstStyle/>
          <a:p>
            <a:r>
              <a:rPr lang="en-US" dirty="0"/>
              <a:t>Degree of Relationship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19400" y="3962400"/>
            <a:ext cx="5867400" cy="2065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3200" y="2133600"/>
            <a:ext cx="5962962" cy="1344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14800" y="457200"/>
            <a:ext cx="2514600" cy="1475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8"/>
            <a:ext cx="2514599" cy="4601183"/>
          </a:xfrm>
        </p:spPr>
        <p:txBody>
          <a:bodyPr/>
          <a:lstStyle/>
          <a:p>
            <a:r>
              <a:rPr lang="en-US" dirty="0"/>
              <a:t>Relationship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8313" indent="-414338"/>
            <a:r>
              <a:rPr lang="en-US" sz="2800" dirty="0"/>
              <a:t>Relationships can be formally described in an ordered pair form. </a:t>
            </a:r>
          </a:p>
          <a:p>
            <a:pPr marL="468313" indent="-414338"/>
            <a:r>
              <a:rPr lang="en-US" sz="2800" dirty="0"/>
              <a:t>For Example,</a:t>
            </a:r>
          </a:p>
          <a:p>
            <a:pPr marL="468313" indent="-414338">
              <a:buNone/>
            </a:pPr>
            <a:r>
              <a:rPr lang="en-US" sz="2800" dirty="0"/>
              <a:t>	Enroll = </a:t>
            </a:r>
            <a:r>
              <a:rPr lang="en-US" sz="2800" dirty="0">
                <a:solidFill>
                  <a:schemeClr val="accent1"/>
                </a:solidFill>
              </a:rPr>
              <a:t>{(S1001, ART103A), </a:t>
            </a:r>
            <a:r>
              <a:rPr lang="en-US" sz="2800" dirty="0"/>
              <a:t>(S1020, CS201A), (S1002, CSC201A)}</a:t>
            </a:r>
          </a:p>
          <a:p>
            <a:pPr marL="468313" indent="-414338">
              <a:buNone/>
            </a:pPr>
            <a:r>
              <a:rPr lang="en-US" sz="2800" dirty="0"/>
              <a:t>	Example {(</a:t>
            </a:r>
            <a:r>
              <a:rPr lang="en-US" sz="2800" dirty="0">
                <a:solidFill>
                  <a:srgbClr val="FF0000"/>
                </a:solidFill>
              </a:rPr>
              <a:t>S1013, MCS4, </a:t>
            </a:r>
            <a:r>
              <a:rPr lang="en-US" sz="2800" dirty="0" err="1">
                <a:solidFill>
                  <a:srgbClr val="FF0000"/>
                </a:solidFill>
              </a:rPr>
              <a:t>Adnan</a:t>
            </a:r>
            <a:r>
              <a:rPr lang="en-US" sz="2800" dirty="0"/>
              <a:t>), (</a:t>
            </a:r>
            <a:r>
              <a:rPr lang="en-US" sz="2800" dirty="0">
                <a:solidFill>
                  <a:srgbClr val="FF0000"/>
                </a:solidFill>
              </a:rPr>
              <a:t>S1023, MCS3, Ahmed</a:t>
            </a:r>
            <a:r>
              <a:rPr lang="en-US" sz="2800" dirty="0"/>
              <a:t>)}</a:t>
            </a:r>
          </a:p>
          <a:p>
            <a:pPr marL="468313" indent="-414338">
              <a:buNone/>
            </a:pPr>
            <a:endParaRPr lang="en-US" sz="2800" dirty="0"/>
          </a:p>
          <a:p>
            <a:pPr marL="468313" indent="-414338"/>
            <a:r>
              <a:rPr lang="en-US" sz="2800" dirty="0"/>
              <a:t>Entire set is relationship set and each ordered pair is an instance of the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8"/>
            <a:ext cx="2590800" cy="4601183"/>
          </a:xfrm>
        </p:spPr>
        <p:txBody>
          <a:bodyPr/>
          <a:lstStyle/>
          <a:p>
            <a:r>
              <a:rPr lang="en-US" dirty="0"/>
              <a:t>Cardinality of </a:t>
            </a:r>
            <a:r>
              <a:rPr lang="en-US" sz="3200" dirty="0"/>
              <a:t>Relationships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8313" indent="-414338"/>
            <a:r>
              <a:rPr lang="en-US" sz="2800" dirty="0"/>
              <a:t>Number of instances of one entity type that can possibly be related to instances of other entity type</a:t>
            </a:r>
          </a:p>
          <a:p>
            <a:pPr marL="468313" indent="-414338"/>
            <a:endParaRPr lang="en-US" sz="2800" dirty="0"/>
          </a:p>
          <a:p>
            <a:pPr marL="468313" indent="-414338"/>
            <a:r>
              <a:rPr lang="en-US" sz="2800" dirty="0"/>
              <a:t>Types of Cardinalities </a:t>
            </a:r>
          </a:p>
          <a:p>
            <a:pPr marL="971233" lvl="1" indent="-414338"/>
            <a:r>
              <a:rPr lang="en-US" sz="2600" dirty="0"/>
              <a:t>One to One (1:1)</a:t>
            </a:r>
          </a:p>
          <a:p>
            <a:pPr marL="971233" lvl="1" indent="-414338"/>
            <a:r>
              <a:rPr lang="en-US" sz="2600" dirty="0"/>
              <a:t>One to Many (1:*)</a:t>
            </a:r>
          </a:p>
          <a:p>
            <a:pPr marL="971233" lvl="1" indent="-414338"/>
            <a:r>
              <a:rPr lang="en-US" sz="2600" dirty="0"/>
              <a:t>Many to Many (*:*)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8"/>
            <a:ext cx="2590799" cy="4601183"/>
          </a:xfrm>
        </p:spPr>
        <p:txBody>
          <a:bodyPr/>
          <a:lstStyle/>
          <a:p>
            <a:r>
              <a:rPr lang="en-US" dirty="0"/>
              <a:t>One to One</a:t>
            </a:r>
            <a:br>
              <a:rPr lang="en-US" dirty="0"/>
            </a:br>
            <a:r>
              <a:rPr lang="en-US" dirty="0"/>
              <a:t>(1:1)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667000" y="609600"/>
            <a:ext cx="61722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0800" y="3352800"/>
            <a:ext cx="6248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8"/>
            <a:ext cx="2590800" cy="4601183"/>
          </a:xfrm>
        </p:spPr>
        <p:txBody>
          <a:bodyPr/>
          <a:lstStyle/>
          <a:p>
            <a:r>
              <a:rPr lang="en-US" dirty="0"/>
              <a:t>One to Many</a:t>
            </a:r>
            <a:br>
              <a:rPr lang="en-US" dirty="0"/>
            </a:br>
            <a:r>
              <a:rPr lang="en-US" dirty="0"/>
              <a:t> (1:*)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1684" y="533400"/>
            <a:ext cx="6177516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3200" y="3505200"/>
            <a:ext cx="6096001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38"/>
            <a:ext cx="2514600" cy="4601183"/>
          </a:xfrm>
        </p:spPr>
        <p:txBody>
          <a:bodyPr>
            <a:normAutofit/>
          </a:bodyPr>
          <a:lstStyle/>
          <a:p>
            <a:r>
              <a:rPr lang="en-US" sz="3200" dirty="0"/>
              <a:t>Many to Many</a:t>
            </a:r>
            <a:br>
              <a:rPr lang="en-US" sz="3200" dirty="0"/>
            </a:br>
            <a:r>
              <a:rPr lang="en-US" sz="3200" dirty="0"/>
              <a:t> (*:*)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590800" y="762000"/>
            <a:ext cx="6553200" cy="266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0800" y="3429000"/>
            <a:ext cx="6553200" cy="2754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A6A4-4AC1-4AE5-BF17-AC49EE4BA738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cess04_16x9.potx" id="{948F7032-B2AB-41B3-AE97-712995A7FE85}" vid="{A1454562-8AB1-4F49-B342-1C5B3989EC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C25F5A5569D94094B77E3017ADC69C" ma:contentTypeVersion="2" ma:contentTypeDescription="Create a new document." ma:contentTypeScope="" ma:versionID="9e0159d7b1dab93614b4bd2ebff07d13">
  <xsd:schema xmlns:xsd="http://www.w3.org/2001/XMLSchema" xmlns:xs="http://www.w3.org/2001/XMLSchema" xmlns:p="http://schemas.microsoft.com/office/2006/metadata/properties" xmlns:ns2="eac09ab3-58ef-4187-9d71-bf4a22f125d9" targetNamespace="http://schemas.microsoft.com/office/2006/metadata/properties" ma:root="true" ma:fieldsID="1e5ef3ec9496191f2f675a59baae81eb" ns2:_="">
    <xsd:import namespace="eac09ab3-58ef-4187-9d71-bf4a22f12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c09ab3-58ef-4187-9d71-bf4a22f125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386EE5-7A46-4D18-A962-69E7ACA30C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c09ab3-58ef-4187-9d71-bf4a22f125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853140F-A5AF-4AE4-8157-E82199130F3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D992FCB-AA1F-47A7-AD3F-4EAA4F2AEC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11266</TotalTime>
  <Words>913</Words>
  <Application>Microsoft Office PowerPoint</Application>
  <PresentationFormat>On-screen Show (4:3)</PresentationFormat>
  <Paragraphs>189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Corbel</vt:lpstr>
      <vt:lpstr>Times New Roman</vt:lpstr>
      <vt:lpstr>Wingdings</vt:lpstr>
      <vt:lpstr>Wingdings 2</vt:lpstr>
      <vt:lpstr>Theme1</vt:lpstr>
      <vt:lpstr>Database Systems</vt:lpstr>
      <vt:lpstr>Entity–Relationship Modeling</vt:lpstr>
      <vt:lpstr>E-R Data Model</vt:lpstr>
      <vt:lpstr>Entity Relationship (ER) diagram</vt:lpstr>
      <vt:lpstr>Entity</vt:lpstr>
      <vt:lpstr>Entity Type</vt:lpstr>
      <vt:lpstr>Entity Instance and  Entity Set</vt:lpstr>
      <vt:lpstr>Types of Entity Types</vt:lpstr>
      <vt:lpstr>Strong Entity Types</vt:lpstr>
      <vt:lpstr>Weak  Entity Types</vt:lpstr>
      <vt:lpstr>Naming Entity Types </vt:lpstr>
      <vt:lpstr>Entity Symbols</vt:lpstr>
      <vt:lpstr>Attributes</vt:lpstr>
      <vt:lpstr>Attribute Domain </vt:lpstr>
      <vt:lpstr>Symbols for Attributes</vt:lpstr>
      <vt:lpstr>Types of Attributes</vt:lpstr>
      <vt:lpstr>Single  vs composite</vt:lpstr>
      <vt:lpstr>Single-Valued  vs  Multi-Valued</vt:lpstr>
      <vt:lpstr>Derived vs  Stored</vt:lpstr>
      <vt:lpstr>Symbols for Attributes</vt:lpstr>
      <vt:lpstr>Example</vt:lpstr>
      <vt:lpstr>PowerPoint Presentation</vt:lpstr>
      <vt:lpstr>Relationship</vt:lpstr>
      <vt:lpstr>Relationship Representation</vt:lpstr>
      <vt:lpstr>Individual Occurrences of HAS relationship type</vt:lpstr>
      <vt:lpstr>Naming</vt:lpstr>
      <vt:lpstr>Participants</vt:lpstr>
      <vt:lpstr>Degree of Relationship Type </vt:lpstr>
      <vt:lpstr>Degree of Relationship Type</vt:lpstr>
      <vt:lpstr>Relationship Types</vt:lpstr>
      <vt:lpstr>Cardinality of Relationships</vt:lpstr>
      <vt:lpstr>One to One (1:1)</vt:lpstr>
      <vt:lpstr>One to Many  (1:*)</vt:lpstr>
      <vt:lpstr>Many to Many  (*:*)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</dc:title>
  <dc:creator>SALMAN</dc:creator>
  <cp:lastModifiedBy>Anas Bilal</cp:lastModifiedBy>
  <cp:revision>565</cp:revision>
  <dcterms:created xsi:type="dcterms:W3CDTF">2014-02-17T16:56:43Z</dcterms:created>
  <dcterms:modified xsi:type="dcterms:W3CDTF">2024-09-30T15:41:26Z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0x010100EAC25F5A5569D94094B77E3017ADC69C</vt:lpwstr>
  </property>
</Properties>
</file>