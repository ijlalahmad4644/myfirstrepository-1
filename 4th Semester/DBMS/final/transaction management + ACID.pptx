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01" r:id="rId1"/>
  </p:sldMasterIdLst>
  <p:notesMasterIdLst>
    <p:notesMasterId r:id="rId48"/>
  </p:notesMasterIdLst>
  <p:handoutMasterIdLst>
    <p:handoutMasterId r:id="rId49"/>
  </p:handoutMasterIdLst>
  <p:sldIdLst>
    <p:sldId id="320" r:id="rId2"/>
    <p:sldId id="256" r:id="rId3"/>
    <p:sldId id="257" r:id="rId4"/>
    <p:sldId id="259" r:id="rId5"/>
    <p:sldId id="381" r:id="rId6"/>
    <p:sldId id="382" r:id="rId7"/>
    <p:sldId id="386" r:id="rId8"/>
    <p:sldId id="345" r:id="rId9"/>
    <p:sldId id="383" r:id="rId10"/>
    <p:sldId id="260" r:id="rId11"/>
    <p:sldId id="385" r:id="rId12"/>
    <p:sldId id="384" r:id="rId13"/>
    <p:sldId id="258" r:id="rId14"/>
    <p:sldId id="261" r:id="rId15"/>
    <p:sldId id="262" r:id="rId16"/>
    <p:sldId id="265" r:id="rId17"/>
    <p:sldId id="266" r:id="rId18"/>
    <p:sldId id="267" r:id="rId19"/>
    <p:sldId id="376" r:id="rId20"/>
    <p:sldId id="268" r:id="rId21"/>
    <p:sldId id="269" r:id="rId22"/>
    <p:sldId id="270" r:id="rId23"/>
    <p:sldId id="373" r:id="rId24"/>
    <p:sldId id="271" r:id="rId25"/>
    <p:sldId id="272" r:id="rId26"/>
    <p:sldId id="273" r:id="rId27"/>
    <p:sldId id="325" r:id="rId28"/>
    <p:sldId id="274" r:id="rId29"/>
    <p:sldId id="275" r:id="rId30"/>
    <p:sldId id="276" r:id="rId31"/>
    <p:sldId id="326" r:id="rId32"/>
    <p:sldId id="329" r:id="rId33"/>
    <p:sldId id="330" r:id="rId34"/>
    <p:sldId id="277" r:id="rId35"/>
    <p:sldId id="278" r:id="rId36"/>
    <p:sldId id="279" r:id="rId37"/>
    <p:sldId id="332" r:id="rId38"/>
    <p:sldId id="375" r:id="rId39"/>
    <p:sldId id="334" r:id="rId40"/>
    <p:sldId id="341" r:id="rId41"/>
    <p:sldId id="377" r:id="rId42"/>
    <p:sldId id="282" r:id="rId43"/>
    <p:sldId id="281" r:id="rId44"/>
    <p:sldId id="378" r:id="rId45"/>
    <p:sldId id="379" r:id="rId46"/>
    <p:sldId id="380" r:id="rId47"/>
  </p:sldIdLst>
  <p:sldSz cx="9144000" cy="6858000" type="screen4x3"/>
  <p:notesSz cx="6997700" cy="9283700"/>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69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566" y="72"/>
      </p:cViewPr>
      <p:guideLst>
        <p:guide orient="horz" pos="69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324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8514"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448515" name="Rectangle 3"/>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448516" name="Rectangle 4"/>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448517" name="Rectangle 5"/>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fld id="{29E57153-A580-4B5E-9B53-6B87B5A1FB9A}"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ctr"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6147" name="Rectangle 3"/>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ctr" anchorCtr="0" compatLnSpc="1">
            <a:prstTxWarp prst="textNoShape">
              <a:avLst/>
            </a:prstTxWarp>
          </a:bodyPr>
          <a:lstStyle>
            <a:lvl1pPr algn="r" defTabSz="930275">
              <a:defRPr sz="1300">
                <a:latin typeface="Times New Roman" charset="0"/>
                <a:ea typeface="+mn-ea"/>
                <a:cs typeface="+mn-cs"/>
              </a:defRPr>
            </a:lvl1pPr>
          </a:lstStyle>
          <a:p>
            <a:pPr>
              <a:defRPr/>
            </a:pPr>
            <a:endParaRPr lang="en-US"/>
          </a:p>
        </p:txBody>
      </p:sp>
      <p:sp>
        <p:nvSpPr>
          <p:cNvPr id="43012"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Times New Roman" charset="0"/>
                <a:ea typeface="+mn-ea"/>
                <a:cs typeface="+mn-cs"/>
              </a:defRPr>
            </a:lvl1pPr>
          </a:lstStyle>
          <a:p>
            <a:pPr>
              <a:defRPr/>
            </a:pPr>
            <a:endParaRPr lang="en-US"/>
          </a:p>
        </p:txBody>
      </p:sp>
      <p:sp>
        <p:nvSpPr>
          <p:cNvPr id="6151" name="Rectangle 7"/>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atin typeface="Times New Roman" panose="02020603050405020304" pitchFamily="18" charset="0"/>
              </a:defRPr>
            </a:lvl1pPr>
          </a:lstStyle>
          <a:p>
            <a:fld id="{5B7CC90F-195F-4DEF-A4DA-F5B0A181CF9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79FD97-3E05-4AF7-9FA7-5D40E8EC0B1C}" type="slidenum">
              <a:rPr lang="en-US" altLang="en-US" sz="1300">
                <a:latin typeface="Times New Roman" panose="02020603050405020304" pitchFamily="18" charset="0"/>
              </a:rPr>
              <a:pPr/>
              <a:t>1</a:t>
            </a:fld>
            <a:endParaRPr lang="en-US" altLang="en-US" sz="1300">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017DEB3-15EC-4046-B6FC-7059E5DE6572}" type="slidenum">
              <a:rPr lang="en-US" altLang="en-US" sz="1300">
                <a:latin typeface="Times New Roman" panose="02020603050405020304" pitchFamily="18" charset="0"/>
              </a:rPr>
              <a:pPr/>
              <a:t>2</a:t>
            </a:fld>
            <a:endParaRPr lang="en-US" altLang="en-US" sz="1300">
              <a:latin typeface="Times New Roman" panose="02020603050405020304" pitchFamily="18"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A90F1DB-8581-4412-BE09-331FFC345D8A}" type="slidenum">
              <a:rPr lang="en-US" altLang="en-US" sz="1300">
                <a:latin typeface="Times New Roman" panose="02020603050405020304" pitchFamily="18" charset="0"/>
              </a:rPr>
              <a:pPr/>
              <a:t>3</a:t>
            </a:fld>
            <a:endParaRPr lang="en-US" altLang="en-US" sz="1300">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357C7EE-1394-4754-ABAC-F51DB6C77C16}" type="slidenum">
              <a:rPr lang="en-US" altLang="en-US" sz="1300">
                <a:latin typeface="Times New Roman" panose="02020603050405020304" pitchFamily="18" charset="0"/>
              </a:rPr>
              <a:pPr/>
              <a:t>4</a:t>
            </a:fld>
            <a:endParaRPr lang="en-US" altLang="en-US" sz="1300">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357C7EE-1394-4754-ABAC-F51DB6C77C16}" type="slidenum">
              <a:rPr lang="en-US" altLang="en-US" sz="1300">
                <a:latin typeface="Times New Roman" panose="02020603050405020304" pitchFamily="18" charset="0"/>
              </a:rPr>
              <a:pPr/>
              <a:t>5</a:t>
            </a:fld>
            <a:endParaRPr lang="en-US" altLang="en-US" sz="1300">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84369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357C7EE-1394-4754-ABAC-F51DB6C77C16}" type="slidenum">
              <a:rPr lang="en-US" altLang="en-US" sz="1300">
                <a:latin typeface="Times New Roman" panose="02020603050405020304" pitchFamily="18" charset="0"/>
              </a:rPr>
              <a:pPr/>
              <a:t>6</a:t>
            </a:fld>
            <a:endParaRPr lang="en-US" altLang="en-US" sz="1300">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38720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357C7EE-1394-4754-ABAC-F51DB6C77C16}" type="slidenum">
              <a:rPr lang="en-US" altLang="en-US" sz="1300">
                <a:latin typeface="Times New Roman" panose="02020603050405020304" pitchFamily="18" charset="0"/>
              </a:rPr>
              <a:pPr/>
              <a:t>7</a:t>
            </a:fld>
            <a:endParaRPr lang="en-US" altLang="en-US" sz="1300">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28914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C96B228-294A-4543-9668-830A4BA10FD0}" type="slidenum">
              <a:rPr lang="en-US" altLang="en-US" sz="1300">
                <a:latin typeface="Times New Roman" panose="02020603050405020304" pitchFamily="18" charset="0"/>
              </a:rPr>
              <a:pPr/>
              <a:t>8</a:t>
            </a:fld>
            <a:endParaRPr lang="en-US" altLang="en-US" sz="1300">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C96B228-294A-4543-9668-830A4BA10FD0}" type="slidenum">
              <a:rPr lang="en-US" altLang="en-US" sz="1300">
                <a:latin typeface="Times New Roman" panose="02020603050405020304" pitchFamily="18" charset="0"/>
              </a:rPr>
              <a:pPr/>
              <a:t>9</a:t>
            </a:fld>
            <a:endParaRPr lang="en-US" altLang="en-US" sz="1300">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002566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B368A3B-2500-44E1-A876-1D192EB39441}" type="slidenum">
              <a:rPr lang="en-US" altLang="en-US" sz="1300">
                <a:latin typeface="Times New Roman" panose="02020603050405020304" pitchFamily="18" charset="0"/>
              </a:rPr>
              <a:pPr/>
              <a:t>10</a:t>
            </a:fld>
            <a:endParaRPr lang="en-US" altLang="en-US" sz="1300">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B368A3B-2500-44E1-A876-1D192EB39441}" type="slidenum">
              <a:rPr lang="en-US" altLang="en-US" sz="1300">
                <a:latin typeface="Times New Roman" panose="02020603050405020304" pitchFamily="18" charset="0"/>
              </a:rPr>
              <a:pPr/>
              <a:t>11</a:t>
            </a:fld>
            <a:endParaRPr lang="en-US" altLang="en-US" sz="1300">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62889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B368A3B-2500-44E1-A876-1D192EB39441}" type="slidenum">
              <a:rPr lang="en-US" altLang="en-US" sz="1300">
                <a:latin typeface="Times New Roman" panose="02020603050405020304" pitchFamily="18" charset="0"/>
              </a:rPr>
              <a:pPr/>
              <a:t>12</a:t>
            </a:fld>
            <a:endParaRPr lang="en-US" altLang="en-US" sz="1300">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968057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C7B586B-FBE3-4075-88E9-19535EAEDE53}" type="slidenum">
              <a:rPr lang="en-US" altLang="en-US" sz="1300">
                <a:latin typeface="Times New Roman" panose="02020603050405020304" pitchFamily="18" charset="0"/>
              </a:rPr>
              <a:pPr/>
              <a:t>13</a:t>
            </a:fld>
            <a:endParaRPr lang="en-US" altLang="en-US" sz="1300">
              <a:latin typeface="Times New Roman" panose="02020603050405020304" pitchFamily="18"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09CAF58-8E40-42E6-AEEE-83BAC72A0401}" type="slidenum">
              <a:rPr lang="en-US" altLang="en-US" sz="1300">
                <a:latin typeface="Times New Roman" panose="02020603050405020304" pitchFamily="18" charset="0"/>
              </a:rPr>
              <a:pPr/>
              <a:t>14</a:t>
            </a:fld>
            <a:endParaRPr lang="en-US" altLang="en-US" sz="1300">
              <a:latin typeface="Times New Roman" panose="02020603050405020304" pitchFamily="18"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6D1BF8E-E101-475A-9CDD-3A67C3D2CCFD}" type="slidenum">
              <a:rPr lang="en-US" altLang="en-US" sz="1300">
                <a:latin typeface="Times New Roman" panose="02020603050405020304" pitchFamily="18" charset="0"/>
              </a:rPr>
              <a:pPr/>
              <a:t>15</a:t>
            </a:fld>
            <a:endParaRPr lang="en-US" altLang="en-US" sz="1300">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5C1AAF5-6AEA-4D14-8684-0B8539C0EA31}" type="slidenum">
              <a:rPr lang="en-US" altLang="en-US" sz="1300">
                <a:latin typeface="Times New Roman" panose="02020603050405020304" pitchFamily="18" charset="0"/>
              </a:rPr>
              <a:pPr/>
              <a:t>16</a:t>
            </a:fld>
            <a:endParaRPr lang="en-US" altLang="en-US" sz="1300">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181E236-F3CF-4317-8D23-91C03DF91DAA}" type="slidenum">
              <a:rPr lang="en-US" altLang="en-US" sz="1300">
                <a:latin typeface="Times New Roman" panose="02020603050405020304" pitchFamily="18" charset="0"/>
              </a:rPr>
              <a:pPr/>
              <a:t>17</a:t>
            </a:fld>
            <a:endParaRPr lang="en-US" altLang="en-US" sz="1300">
              <a:latin typeface="Times New Roman" panose="02020603050405020304" pitchFamily="18"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5FD32BD-82F1-48BD-AD09-96AD51164653}" type="slidenum">
              <a:rPr lang="en-US" altLang="en-US" sz="1300">
                <a:latin typeface="Times New Roman" panose="02020603050405020304" pitchFamily="18" charset="0"/>
              </a:rPr>
              <a:pPr/>
              <a:t>18</a:t>
            </a:fld>
            <a:endParaRPr lang="en-US" altLang="en-US" sz="1300">
              <a:latin typeface="Times New Roman" panose="02020603050405020304" pitchFamily="18"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45A69C5-4E79-40C5-A40D-3DE0D1BB057D}" type="slidenum">
              <a:rPr lang="en-US" altLang="en-US" sz="1300">
                <a:latin typeface="Times New Roman" panose="02020603050405020304" pitchFamily="18" charset="0"/>
              </a:rPr>
              <a:pPr/>
              <a:t>19</a:t>
            </a:fld>
            <a:endParaRPr lang="en-US" altLang="en-US" sz="1300">
              <a:latin typeface="Times New Roman" panose="02020603050405020304" pitchFamily="18"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66EED2-8886-4DAB-8F39-47600D19EAAD}" type="slidenum">
              <a:rPr lang="en-US" altLang="en-US" sz="1300">
                <a:latin typeface="Times New Roman" panose="02020603050405020304" pitchFamily="18" charset="0"/>
              </a:rPr>
              <a:pPr/>
              <a:t>20</a:t>
            </a:fld>
            <a:endParaRPr lang="en-US" altLang="en-US" sz="1300">
              <a:latin typeface="Times New Roman" panose="02020603050405020304" pitchFamily="18"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C0A219B-7ED1-4E4A-95DF-430BAF20189A}" type="slidenum">
              <a:rPr lang="en-US" altLang="en-US" sz="1300">
                <a:latin typeface="Times New Roman" panose="02020603050405020304" pitchFamily="18" charset="0"/>
              </a:rPr>
              <a:pPr/>
              <a:t>21</a:t>
            </a:fld>
            <a:endParaRPr lang="en-US" altLang="en-US" sz="1300">
              <a:latin typeface="Times New Roman" panose="02020603050405020304"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181FFE9-0679-4531-AB67-8E0EAB444F99}" type="slidenum">
              <a:rPr lang="en-US" altLang="en-US" sz="1300">
                <a:latin typeface="Times New Roman" panose="02020603050405020304" pitchFamily="18" charset="0"/>
              </a:rPr>
              <a:pPr/>
              <a:t>22</a:t>
            </a:fld>
            <a:endParaRPr lang="en-US" altLang="en-US" sz="1300">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E9D46A0-8FB9-4F36-8A68-841EE000AD2B}" type="slidenum">
              <a:rPr lang="en-US" altLang="en-US" sz="1300">
                <a:latin typeface="Times New Roman" panose="02020603050405020304" pitchFamily="18" charset="0"/>
              </a:rPr>
              <a:pPr/>
              <a:t>23</a:t>
            </a:fld>
            <a:endParaRPr lang="en-US" altLang="en-US" sz="1300">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DA3BC2A-3044-458B-B1BD-DEB1040FB7FC}" type="slidenum">
              <a:rPr lang="en-US" altLang="en-US" sz="1300">
                <a:latin typeface="Times New Roman" panose="02020603050405020304" pitchFamily="18" charset="0"/>
              </a:rPr>
              <a:pPr/>
              <a:t>24</a:t>
            </a:fld>
            <a:endParaRPr lang="en-US" altLang="en-US" sz="1300">
              <a:latin typeface="Times New Roman" panose="02020603050405020304"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470FF04-BD4D-47CF-853F-6CFC89ED42D1}" type="slidenum">
              <a:rPr lang="en-US" altLang="en-US" sz="1300">
                <a:latin typeface="Times New Roman" panose="02020603050405020304" pitchFamily="18" charset="0"/>
              </a:rPr>
              <a:pPr/>
              <a:t>25</a:t>
            </a:fld>
            <a:endParaRPr lang="en-US" altLang="en-US" sz="1300">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C98D951-B8BF-4FE7-8FF8-B9812C3DBA9F}" type="slidenum">
              <a:rPr lang="en-US" altLang="en-US" sz="1300">
                <a:latin typeface="Times New Roman" panose="02020603050405020304" pitchFamily="18" charset="0"/>
              </a:rPr>
              <a:pPr/>
              <a:t>26</a:t>
            </a:fld>
            <a:endParaRPr lang="en-US" altLang="en-US" sz="130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BAB2A54-CE49-40F1-BE38-E3DCEF43F856}" type="slidenum">
              <a:rPr lang="en-US" altLang="en-US" sz="1300">
                <a:latin typeface="Times New Roman" panose="02020603050405020304" pitchFamily="18" charset="0"/>
              </a:rPr>
              <a:pPr/>
              <a:t>27</a:t>
            </a:fld>
            <a:endParaRPr lang="en-US" altLang="en-US" sz="1300">
              <a:latin typeface="Times New Roman" panose="02020603050405020304"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3120282-FA19-4407-98A6-B549395434D4}" type="slidenum">
              <a:rPr lang="en-US" altLang="en-US" sz="1300">
                <a:latin typeface="Times New Roman" panose="02020603050405020304" pitchFamily="18" charset="0"/>
              </a:rPr>
              <a:pPr/>
              <a:t>28</a:t>
            </a:fld>
            <a:endParaRPr lang="en-US" altLang="en-US" sz="130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8B704F0-BAEA-48FC-A020-011B0A01BDD0}" type="slidenum">
              <a:rPr lang="en-US" altLang="en-US" sz="1300">
                <a:latin typeface="Times New Roman" panose="02020603050405020304" pitchFamily="18" charset="0"/>
              </a:rPr>
              <a:pPr/>
              <a:t>29</a:t>
            </a:fld>
            <a:endParaRPr lang="en-US" altLang="en-US" sz="1300">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56BDD98-9085-4F65-9BDF-1B839A8B4DC6}" type="slidenum">
              <a:rPr lang="en-US" altLang="en-US" sz="1300">
                <a:latin typeface="Times New Roman" panose="02020603050405020304" pitchFamily="18" charset="0"/>
              </a:rPr>
              <a:pPr/>
              <a:t>30</a:t>
            </a:fld>
            <a:endParaRPr lang="en-US" altLang="en-US" sz="1300">
              <a:latin typeface="Times New Roman" panose="02020603050405020304"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9AF8D3E-D4BC-4C85-BC46-168123D4B1D3}" type="slidenum">
              <a:rPr lang="en-US" altLang="en-US" sz="1300">
                <a:latin typeface="Times New Roman" panose="02020603050405020304" pitchFamily="18" charset="0"/>
              </a:rPr>
              <a:pPr/>
              <a:t>31</a:t>
            </a:fld>
            <a:endParaRPr lang="en-US" altLang="en-US" sz="1300">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589F052-F191-428D-AF67-B65E8960DD5C}" type="slidenum">
              <a:rPr lang="en-US" altLang="en-US" sz="1300">
                <a:latin typeface="Times New Roman" panose="02020603050405020304" pitchFamily="18" charset="0"/>
              </a:rPr>
              <a:pPr/>
              <a:t>32</a:t>
            </a:fld>
            <a:endParaRPr lang="en-US" altLang="en-US" sz="1300">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DD8D6FB-95B3-4852-BB48-80936A26FC18}" type="slidenum">
              <a:rPr lang="en-US" altLang="en-US" sz="1300">
                <a:latin typeface="Times New Roman" panose="02020603050405020304" pitchFamily="18" charset="0"/>
              </a:rPr>
              <a:pPr/>
              <a:t>33</a:t>
            </a:fld>
            <a:endParaRPr lang="en-US" altLang="en-US" sz="130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78FB941-5722-4BA5-84DF-FC78527A2BB7}" type="slidenum">
              <a:rPr lang="en-US" altLang="en-US" sz="1300">
                <a:latin typeface="Times New Roman" panose="02020603050405020304" pitchFamily="18" charset="0"/>
              </a:rPr>
              <a:pPr/>
              <a:t>34</a:t>
            </a:fld>
            <a:endParaRPr lang="en-US" altLang="en-US" sz="1300">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37B947-B885-486A-9E0E-5DB5F2D174C2}" type="slidenum">
              <a:rPr lang="en-US" altLang="en-US" sz="1300">
                <a:latin typeface="Times New Roman" panose="02020603050405020304" pitchFamily="18" charset="0"/>
              </a:rPr>
              <a:pPr/>
              <a:t>35</a:t>
            </a:fld>
            <a:endParaRPr lang="en-US" altLang="en-US" sz="1300">
              <a:latin typeface="Times New Roman" panose="02020603050405020304"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8F6C2F6-402D-422C-BB49-ADCD5F850701}" type="slidenum">
              <a:rPr lang="en-US" altLang="en-US" sz="1300">
                <a:latin typeface="Times New Roman" panose="02020603050405020304" pitchFamily="18" charset="0"/>
              </a:rPr>
              <a:pPr/>
              <a:t>36</a:t>
            </a:fld>
            <a:endParaRPr lang="en-US" altLang="en-US" sz="1300">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6C7905A-2CC2-4593-BC50-F4A9103CA5F9}" type="slidenum">
              <a:rPr lang="en-US" altLang="en-US" sz="1300">
                <a:latin typeface="Times New Roman" panose="02020603050405020304" pitchFamily="18" charset="0"/>
              </a:rPr>
              <a:pPr/>
              <a:t>37</a:t>
            </a:fld>
            <a:endParaRPr lang="en-US" altLang="en-US" sz="130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B47C592-32BF-47BB-9678-D5FB42722EAA}" type="slidenum">
              <a:rPr lang="en-US" altLang="en-US" sz="1300">
                <a:latin typeface="Times New Roman" panose="02020603050405020304" pitchFamily="18" charset="0"/>
              </a:rPr>
              <a:pPr/>
              <a:t>38</a:t>
            </a:fld>
            <a:endParaRPr lang="en-US" altLang="en-US" sz="1300">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9955DDF8-1267-474D-9F61-95CB06392C59}" type="slidenum">
              <a:rPr lang="en-US" altLang="en-US" sz="1300">
                <a:latin typeface="Times New Roman" panose="02020603050405020304" pitchFamily="18" charset="0"/>
              </a:rPr>
              <a:pPr/>
              <a:t>39</a:t>
            </a:fld>
            <a:endParaRPr lang="en-US" altLang="en-US" sz="1300">
              <a:latin typeface="Times New Roman" panose="02020603050405020304"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3F68DF0-6905-4D9D-ACCA-81F50CE25A46}" type="slidenum">
              <a:rPr lang="en-US" altLang="en-US" sz="1300">
                <a:latin typeface="Times New Roman" panose="02020603050405020304" pitchFamily="18" charset="0"/>
              </a:rPr>
              <a:pPr/>
              <a:t>40</a:t>
            </a:fld>
            <a:endParaRPr lang="en-US" altLang="en-US" sz="13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7114055-A8AE-4C05-AC7A-46A0B6A29489}" type="slidenum">
              <a:rPr lang="en-US" altLang="en-US" sz="1300">
                <a:latin typeface="Times New Roman" panose="02020603050405020304" pitchFamily="18" charset="0"/>
              </a:rPr>
              <a:pPr/>
              <a:t>41</a:t>
            </a:fld>
            <a:endParaRPr lang="en-US" altLang="en-US" sz="130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8D4DD0DF-53A0-4666-9689-6AAB81C4795A}" type="slidenum">
              <a:rPr lang="en-US" altLang="en-US" sz="1300">
                <a:latin typeface="Times New Roman" panose="02020603050405020304" pitchFamily="18" charset="0"/>
              </a:rPr>
              <a:pPr/>
              <a:t>42</a:t>
            </a:fld>
            <a:endParaRPr lang="en-US" altLang="en-US" sz="13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BBB09A6-5E06-46D1-A99F-E344CBBF67B7}" type="slidenum">
              <a:rPr lang="en-US" altLang="en-US" sz="1300">
                <a:latin typeface="Times New Roman" panose="02020603050405020304" pitchFamily="18" charset="0"/>
              </a:rPr>
              <a:pPr/>
              <a:t>43</a:t>
            </a:fld>
            <a:endParaRPr lang="en-US" altLang="en-US" sz="130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AB433D2-BE84-467A-82DB-DBFCF9F936A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4874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a:extLst>
              <a:ext uri="{FF2B5EF4-FFF2-40B4-BE49-F238E27FC236}">
                <a16:creationId xmlns:a16="http://schemas.microsoft.com/office/drawing/2014/main" id="{E5B7FE48-B4A0-4404-A94E-2D4837BDADF1}"/>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B11C6810-CB31-4E30-9B86-57880A05BB4E}" type="slidenum">
              <a:rPr lang="en-US" altLang="en-US" smtClean="0"/>
              <a:pPr/>
              <a:t>‹#›</a:t>
            </a:fld>
            <a:endParaRPr lang="en-US" altLang="en-US"/>
          </a:p>
        </p:txBody>
      </p:sp>
      <p:pic>
        <p:nvPicPr>
          <p:cNvPr id="9" name="Picture 8" descr="Cover-6Ed"/>
          <p:cNvPicPr>
            <a:picLocks noChangeAspect="1" noChangeArrowheads="1"/>
          </p:cNvPicPr>
          <p:nvPr/>
        </p:nvPicPr>
        <p:blipFill>
          <a:blip r:embed="rId3"/>
          <a:stretch>
            <a:fillRect/>
          </a:stretch>
        </p:blipFill>
        <p:spPr bwMode="auto">
          <a:xfrm>
            <a:off x="0" y="12336"/>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77026798-0827-482F-848C-054321BDF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2299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37424" y="1102497"/>
            <a:ext cx="8408126"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E42D457B-4574-44A7-82F5-364A95AA2566}"/>
              </a:ext>
            </a:extLst>
          </p:cNvPr>
          <p:cNvSpPr>
            <a:spLocks noGrp="1" noChangeArrowheads="1"/>
          </p:cNvSpPr>
          <p:nvPr>
            <p:ph type="sldNum" sz="quarter" idx="10"/>
          </p:nvPr>
        </p:nvSpPr>
        <p:spPr>
          <a:xfrm>
            <a:off x="6778487" y="6388691"/>
            <a:ext cx="1905000" cy="457200"/>
          </a:xfrm>
          <a:ln/>
        </p:spPr>
        <p:txBody>
          <a:bodyPr/>
          <a:lstStyle>
            <a:lvl1pPr>
              <a:defRPr/>
            </a:lvl1pPr>
          </a:lstStyle>
          <a:p>
            <a:fld id="{4AAA266F-A005-4455-9502-E3724A964F5A}" type="slidenum">
              <a:rPr lang="en-US" altLang="en-US" smtClean="0"/>
              <a:pPr/>
              <a:t>‹#›</a:t>
            </a:fld>
            <a:endParaRPr lang="en-US" altLang="en-US"/>
          </a:p>
        </p:txBody>
      </p:sp>
    </p:spTree>
    <p:extLst>
      <p:ext uri="{BB962C8B-B14F-4D97-AF65-F5344CB8AC3E}">
        <p14:creationId xmlns:p14="http://schemas.microsoft.com/office/powerpoint/2010/main" val="2809995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244747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74863" y="4073662"/>
            <a:ext cx="7772400" cy="1500187"/>
          </a:xfrm>
        </p:spPr>
        <p:txBody>
          <a:bodyPr anchor="b"/>
          <a:lstStyle>
            <a:lvl1pPr marL="342900" indent="-342900">
              <a:buFont typeface="Wingdings" panose="05000000000000000000" pitchFamily="2" charset="2"/>
              <a:buChar char="§"/>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3">
            <a:extLst>
              <a:ext uri="{FF2B5EF4-FFF2-40B4-BE49-F238E27FC236}">
                <a16:creationId xmlns:a16="http://schemas.microsoft.com/office/drawing/2014/main" id="{9833A2CD-6A4B-4240-88F1-B4D7FEB50A79}"/>
              </a:ext>
            </a:extLst>
          </p:cNvPr>
          <p:cNvSpPr>
            <a:spLocks noGrp="1" noChangeArrowheads="1"/>
          </p:cNvSpPr>
          <p:nvPr>
            <p:ph type="sldNum" sz="quarter" idx="10"/>
          </p:nvPr>
        </p:nvSpPr>
        <p:spPr>
          <a:ln/>
        </p:spPr>
        <p:txBody>
          <a:bodyPr/>
          <a:lstStyle>
            <a:lvl1pPr>
              <a:defRPr/>
            </a:lvl1pPr>
          </a:lstStyle>
          <a:p>
            <a:fld id="{18E6A8F2-4A8B-4A99-BE4D-D3A869CE7587}" type="slidenum">
              <a:rPr lang="en-US" altLang="en-US" smtClean="0"/>
              <a:pPr/>
              <a:t>‹#›</a:t>
            </a:fld>
            <a:endParaRPr lang="en-US" altLang="en-US"/>
          </a:p>
        </p:txBody>
      </p:sp>
    </p:spTree>
    <p:extLst>
      <p:ext uri="{BB962C8B-B14F-4D97-AF65-F5344CB8AC3E}">
        <p14:creationId xmlns:p14="http://schemas.microsoft.com/office/powerpoint/2010/main" val="12534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Rectangle 3">
            <a:extLst>
              <a:ext uri="{FF2B5EF4-FFF2-40B4-BE49-F238E27FC236}">
                <a16:creationId xmlns:a16="http://schemas.microsoft.com/office/drawing/2014/main" id="{BC4FAFEB-DA24-40E3-81A3-2C7117781D6B}"/>
              </a:ext>
            </a:extLst>
          </p:cNvPr>
          <p:cNvSpPr>
            <a:spLocks noGrp="1" noChangeArrowheads="1"/>
          </p:cNvSpPr>
          <p:nvPr>
            <p:ph type="sldNum" sz="quarter" idx="10"/>
          </p:nvPr>
        </p:nvSpPr>
        <p:spPr>
          <a:ln/>
        </p:spPr>
        <p:txBody>
          <a:bodyPr/>
          <a:lstStyle>
            <a:lvl1pPr>
              <a:defRPr/>
            </a:lvl1pPr>
          </a:lstStyle>
          <a:p>
            <a:fld id="{B11C6810-CB31-4E30-9B86-57880A05BB4E}" type="slidenum">
              <a:rPr lang="en-US" altLang="en-US" smtClean="0"/>
              <a:pPr/>
              <a:t>‹#›</a:t>
            </a:fld>
            <a:endParaRPr lang="en-US" altLang="en-US"/>
          </a:p>
        </p:txBody>
      </p:sp>
      <p:sp>
        <p:nvSpPr>
          <p:cNvPr id="6" name="Content Placeholder 2">
            <a:extLst>
              <a:ext uri="{FF2B5EF4-FFF2-40B4-BE49-F238E27FC236}">
                <a16:creationId xmlns:a16="http://schemas.microsoft.com/office/drawing/2014/main" id="{EE86E211-15D2-459B-B331-A82FFB150BE0}"/>
              </a:ext>
            </a:extLst>
          </p:cNvPr>
          <p:cNvSpPr>
            <a:spLocks noGrp="1"/>
          </p:cNvSpPr>
          <p:nvPr>
            <p:ph idx="1"/>
          </p:nvPr>
        </p:nvSpPr>
        <p:spPr>
          <a:xfrm>
            <a:off x="437424" y="1102497"/>
            <a:ext cx="3985352" cy="5367972"/>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SzPct val="1000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SzPct val="100000"/>
              <a:buFont typeface="Wingdings" panose="05000000000000000000" pitchFamily="2" charset="2"/>
              <a:buChar char="§"/>
              <a:defRPr sz="17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23287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42096E68-496F-4499-93E9-D10C62B93D1A}"/>
              </a:ext>
            </a:extLst>
          </p:cNvPr>
          <p:cNvSpPr>
            <a:spLocks noGrp="1" noChangeArrowheads="1"/>
          </p:cNvSpPr>
          <p:nvPr>
            <p:ph type="sldNum" sz="quarter" idx="10"/>
          </p:nvPr>
        </p:nvSpPr>
        <p:spPr>
          <a:ln/>
        </p:spPr>
        <p:txBody>
          <a:bodyPr/>
          <a:lstStyle>
            <a:lvl1pPr>
              <a:defRPr/>
            </a:lvl1pPr>
          </a:lstStyle>
          <a:p>
            <a:fld id="{7F51659C-1AF3-4FAF-8545-8F03FEBA5E08}" type="slidenum">
              <a:rPr lang="en-US" altLang="en-US" smtClean="0"/>
              <a:pPr/>
              <a:t>‹#›</a:t>
            </a:fld>
            <a:endParaRPr lang="en-US" altLang="en-US"/>
          </a:p>
        </p:txBody>
      </p:sp>
    </p:spTree>
    <p:extLst>
      <p:ext uri="{BB962C8B-B14F-4D97-AF65-F5344CB8AC3E}">
        <p14:creationId xmlns:p14="http://schemas.microsoft.com/office/powerpoint/2010/main" val="2019400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F8A17BCC-393D-48FB-8CCD-31D1E0C6FA40}"/>
              </a:ext>
            </a:extLst>
          </p:cNvPr>
          <p:cNvSpPr>
            <a:spLocks noGrp="1" noChangeArrowheads="1"/>
          </p:cNvSpPr>
          <p:nvPr>
            <p:ph type="sldNum" sz="quarter" idx="10"/>
          </p:nvPr>
        </p:nvSpPr>
        <p:spPr>
          <a:ln/>
        </p:spPr>
        <p:txBody>
          <a:bodyPr/>
          <a:lstStyle>
            <a:lvl1pPr>
              <a:defRPr/>
            </a:lvl1pPr>
          </a:lstStyle>
          <a:p>
            <a:fld id="{E25CEF85-9243-4C03-980F-FEC8A6A7A10E}" type="slidenum">
              <a:rPr lang="en-US" altLang="en-US" smtClean="0"/>
              <a:pPr/>
              <a:t>‹#›</a:t>
            </a:fld>
            <a:endParaRPr lang="en-US" altLang="en-US"/>
          </a:p>
        </p:txBody>
      </p:sp>
    </p:spTree>
    <p:extLst>
      <p:ext uri="{BB962C8B-B14F-4D97-AF65-F5344CB8AC3E}">
        <p14:creationId xmlns:p14="http://schemas.microsoft.com/office/powerpoint/2010/main" val="1594279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54EDB4F-7D4C-4F34-9AD3-169F9858A5EE}"/>
              </a:ext>
            </a:extLst>
          </p:cNvPr>
          <p:cNvSpPr>
            <a:spLocks noGrp="1" noChangeArrowheads="1"/>
          </p:cNvSpPr>
          <p:nvPr>
            <p:ph type="sldNum" sz="quarter" idx="10"/>
          </p:nvPr>
        </p:nvSpPr>
        <p:spPr>
          <a:ln/>
        </p:spPr>
        <p:txBody>
          <a:bodyPr/>
          <a:lstStyle>
            <a:lvl1pPr>
              <a:defRPr/>
            </a:lvl1pPr>
          </a:lstStyle>
          <a:p>
            <a:fld id="{0E8A1303-5D2D-4597-85C3-1555E5FE4DD1}" type="slidenum">
              <a:rPr lang="en-US" altLang="en-US" smtClean="0"/>
              <a:pPr/>
              <a:t>‹#›</a:t>
            </a:fld>
            <a:endParaRPr lang="en-US" altLang="en-US"/>
          </a:p>
        </p:txBody>
      </p:sp>
    </p:spTree>
    <p:extLst>
      <p:ext uri="{BB962C8B-B14F-4D97-AF65-F5344CB8AC3E}">
        <p14:creationId xmlns:p14="http://schemas.microsoft.com/office/powerpoint/2010/main" val="1698326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AA8DFBA5-2441-4C97-8340-430BD863557C}"/>
              </a:ext>
            </a:extLst>
          </p:cNvPr>
          <p:cNvSpPr>
            <a:spLocks noGrp="1" noChangeArrowheads="1"/>
          </p:cNvSpPr>
          <p:nvPr>
            <p:ph type="sldNum" sz="quarter" idx="10"/>
          </p:nvPr>
        </p:nvSpPr>
        <p:spPr>
          <a:ln/>
        </p:spPr>
        <p:txBody>
          <a:bodyPr/>
          <a:lstStyle>
            <a:lvl1pPr>
              <a:defRPr/>
            </a:lvl1pPr>
          </a:lstStyle>
          <a:p>
            <a:fld id="{2E1EFD54-8803-427D-A9AB-631036F81CDF}" type="slidenum">
              <a:rPr lang="en-US" altLang="en-US" smtClean="0"/>
              <a:pPr/>
              <a:t>‹#›</a:t>
            </a:fld>
            <a:endParaRPr lang="en-US" altLang="en-US"/>
          </a:p>
        </p:txBody>
      </p:sp>
    </p:spTree>
    <p:extLst>
      <p:ext uri="{BB962C8B-B14F-4D97-AF65-F5344CB8AC3E}">
        <p14:creationId xmlns:p14="http://schemas.microsoft.com/office/powerpoint/2010/main" val="905527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3">
            <a:extLst>
              <a:ext uri="{FF2B5EF4-FFF2-40B4-BE49-F238E27FC236}">
                <a16:creationId xmlns:a16="http://schemas.microsoft.com/office/drawing/2014/main" id="{D8B4ACE8-FA36-4C9A-B2D0-93D5FB40D304}"/>
              </a:ext>
            </a:extLst>
          </p:cNvPr>
          <p:cNvSpPr>
            <a:spLocks noGrp="1" noChangeArrowheads="1"/>
          </p:cNvSpPr>
          <p:nvPr>
            <p:ph type="sldNum" sz="quarter" idx="10"/>
          </p:nvPr>
        </p:nvSpPr>
        <p:spPr>
          <a:ln/>
        </p:spPr>
        <p:txBody>
          <a:bodyPr/>
          <a:lstStyle>
            <a:lvl1pPr>
              <a:defRPr/>
            </a:lvl1pPr>
          </a:lstStyle>
          <a:p>
            <a:fld id="{30068018-0522-4E2C-B8D9-E5451E9A4DAA}" type="slidenum">
              <a:rPr lang="en-US" altLang="en-US" smtClean="0"/>
              <a:pPr/>
              <a:t>‹#›</a:t>
            </a:fld>
            <a:endParaRPr lang="en-US" altLang="en-US"/>
          </a:p>
        </p:txBody>
      </p:sp>
    </p:spTree>
    <p:extLst>
      <p:ext uri="{BB962C8B-B14F-4D97-AF65-F5344CB8AC3E}">
        <p14:creationId xmlns:p14="http://schemas.microsoft.com/office/powerpoint/2010/main" val="3473103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a:extLst>
              <a:ext uri="{FF2B5EF4-FFF2-40B4-BE49-F238E27FC236}">
                <a16:creationId xmlns:a16="http://schemas.microsoft.com/office/drawing/2014/main" id="{7677CD6D-A5E2-4543-81E0-D97745649CEB}"/>
              </a:ext>
            </a:extLst>
          </p:cNvPr>
          <p:cNvSpPr>
            <a:spLocks noGrp="1" noChangeArrowheads="1"/>
          </p:cNvSpPr>
          <p:nvPr>
            <p:ph type="sldNum" sz="quarter" idx="10"/>
          </p:nvPr>
        </p:nvSpPr>
        <p:spPr>
          <a:ln/>
        </p:spPr>
        <p:txBody>
          <a:bodyPr/>
          <a:lstStyle>
            <a:lvl1pPr>
              <a:defRPr/>
            </a:lvl1pPr>
          </a:lstStyle>
          <a:p>
            <a:fld id="{59BA9BFC-BC4C-47B6-8B8E-F3902B6E8A4A}" type="slidenum">
              <a:rPr lang="en-US" altLang="en-US" smtClean="0"/>
              <a:pPr/>
              <a:t>‹#›</a:t>
            </a:fld>
            <a:endParaRPr lang="en-US" altLang="en-US"/>
          </a:p>
        </p:txBody>
      </p:sp>
    </p:spTree>
    <p:extLst>
      <p:ext uri="{BB962C8B-B14F-4D97-AF65-F5344CB8AC3E}">
        <p14:creationId xmlns:p14="http://schemas.microsoft.com/office/powerpoint/2010/main" val="618782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66D4BD1A-4145-49C3-8D7D-1F956B760305}"/>
              </a:ext>
            </a:extLst>
          </p:cNvPr>
          <p:cNvSpPr>
            <a:spLocks noGrp="1" noChangeArrowheads="1"/>
          </p:cNvSpPr>
          <p:nvPr>
            <p:ph type="sldNum" sz="quarter" idx="10"/>
          </p:nvPr>
        </p:nvSpPr>
        <p:spPr>
          <a:ln/>
        </p:spPr>
        <p:txBody>
          <a:bodyPr/>
          <a:lstStyle>
            <a:lvl1pPr>
              <a:defRPr/>
            </a:lvl1pPr>
          </a:lstStyle>
          <a:p>
            <a:fld id="{21C98E8D-185A-414A-A518-5C49E7B6295A}" type="slidenum">
              <a:rPr lang="en-US" altLang="en-US" smtClean="0"/>
              <a:pPr/>
              <a:t>‹#›</a:t>
            </a:fld>
            <a:endParaRPr lang="en-US" altLang="en-US"/>
          </a:p>
        </p:txBody>
      </p:sp>
    </p:spTree>
    <p:extLst>
      <p:ext uri="{BB962C8B-B14F-4D97-AF65-F5344CB8AC3E}">
        <p14:creationId xmlns:p14="http://schemas.microsoft.com/office/powerpoint/2010/main" val="820080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8350" y="117475"/>
            <a:ext cx="8077200" cy="609600"/>
          </a:xfrm>
        </p:spPr>
        <p:txBody>
          <a:bodyPr/>
          <a:lstStyle/>
          <a:p>
            <a:r>
              <a:rPr lang="en-US"/>
              <a:t>Click to edit Master title style</a:t>
            </a:r>
          </a:p>
        </p:txBody>
      </p:sp>
      <p:sp>
        <p:nvSpPr>
          <p:cNvPr id="3" name="Text Placeholder 2"/>
          <p:cNvSpPr>
            <a:spLocks noGrp="1"/>
          </p:cNvSpPr>
          <p:nvPr>
            <p:ph type="body" sz="half" idx="1"/>
          </p:nvPr>
        </p:nvSpPr>
        <p:spPr>
          <a:xfrm>
            <a:off x="814388" y="1093788"/>
            <a:ext cx="3754437"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D7C2D5D2-FFA8-4B97-9D6C-DF120847B519}"/>
              </a:ext>
            </a:extLst>
          </p:cNvPr>
          <p:cNvSpPr>
            <a:spLocks noGrp="1" noChangeArrowheads="1"/>
          </p:cNvSpPr>
          <p:nvPr>
            <p:ph type="sldNum" sz="quarter" idx="10"/>
          </p:nvPr>
        </p:nvSpPr>
        <p:spPr>
          <a:ln/>
        </p:spPr>
        <p:txBody>
          <a:bodyPr/>
          <a:lstStyle>
            <a:lvl1pPr>
              <a:defRPr/>
            </a:lvl1pPr>
          </a:lstStyle>
          <a:p>
            <a:fld id="{B11C6810-CB31-4E30-9B86-57880A05BB4E}" type="slidenum">
              <a:rPr lang="en-US" altLang="en-US" smtClean="0"/>
              <a:pPr/>
              <a:t>‹#›</a:t>
            </a:fld>
            <a:endParaRPr lang="en-US" altLang="en-US"/>
          </a:p>
        </p:txBody>
      </p:sp>
    </p:spTree>
    <p:extLst>
      <p:ext uri="{BB962C8B-B14F-4D97-AF65-F5344CB8AC3E}">
        <p14:creationId xmlns:p14="http://schemas.microsoft.com/office/powerpoint/2010/main" val="3409656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6E2D77BB-A1E3-4E40-9A08-249BCF8B8523}"/>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613378"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a:t>Click to edit Master title style</a:t>
            </a:r>
            <a:endParaRPr lang="en-US" dirty="0"/>
          </a:p>
        </p:txBody>
      </p:sp>
      <p:sp>
        <p:nvSpPr>
          <p:cNvPr id="8" name="Rectangle 5">
            <a:extLst>
              <a:ext uri="{FF2B5EF4-FFF2-40B4-BE49-F238E27FC236}">
                <a16:creationId xmlns:a16="http://schemas.microsoft.com/office/drawing/2014/main" id="{D2D242F4-2B18-4F93-AF83-C0B3D393143B}"/>
              </a:ext>
            </a:extLst>
          </p:cNvPr>
          <p:cNvSpPr>
            <a:spLocks noGrp="1" noChangeArrowheads="1"/>
          </p:cNvSpPr>
          <p:nvPr>
            <p:ph type="sldNum" sz="quarter" idx="11"/>
          </p:nvPr>
        </p:nvSpPr>
        <p:spPr>
          <a:xfrm>
            <a:off x="6596063" y="6218238"/>
            <a:ext cx="1905000" cy="457200"/>
          </a:xfrm>
        </p:spPr>
        <p:txBody>
          <a:bodyPr/>
          <a:lstStyle>
            <a:lvl1pPr>
              <a:defRPr smtClean="0">
                <a:solidFill>
                  <a:srgbClr val="578963"/>
                </a:solidFill>
              </a:defRPr>
            </a:lvl1pPr>
          </a:lstStyle>
          <a:p>
            <a:fld id="{B11C6810-CB31-4E30-9B86-57880A05BB4E}" type="slidenum">
              <a:rPr lang="en-US" altLang="en-US" smtClean="0"/>
              <a:pPr/>
              <a:t>‹#›</a:t>
            </a:fld>
            <a:endParaRPr lang="en-US" altLang="en-US"/>
          </a:p>
        </p:txBody>
      </p:sp>
      <p:pic>
        <p:nvPicPr>
          <p:cNvPr id="9" name="Picture 8" descr="Cover-6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 y="0"/>
            <a:ext cx="1331912"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0745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0B05D94-0FBF-40E0-A0E2-9EC3FEAB3CBA}"/>
              </a:ext>
            </a:extLst>
          </p:cNvPr>
          <p:cNvSpPr>
            <a:spLocks noGrp="1" noChangeArrowheads="1"/>
          </p:cNvSpPr>
          <p:nvPr>
            <p:ph type="body" idx="1"/>
          </p:nvPr>
        </p:nvSpPr>
        <p:spPr bwMode="auto">
          <a:xfrm>
            <a:off x="814388" y="1093788"/>
            <a:ext cx="7661275"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86403" name="Rectangle 3">
            <a:extLst>
              <a:ext uri="{FF2B5EF4-FFF2-40B4-BE49-F238E27FC236}">
                <a16:creationId xmlns:a16="http://schemas.microsoft.com/office/drawing/2014/main" id="{A6119F77-21C9-4FBD-95D1-4884EA2BEF6F}"/>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smtClean="0">
                <a:solidFill>
                  <a:schemeClr val="bg2"/>
                </a:solidFill>
                <a:latin typeface="Times New Roman" panose="02020603050405020304" pitchFamily="18" charset="0"/>
              </a:defRPr>
            </a:lvl1pPr>
          </a:lstStyle>
          <a:p>
            <a:fld id="{B11C6810-CB31-4E30-9B86-57880A05BB4E}" type="slidenum">
              <a:rPr lang="en-US" altLang="en-US" smtClean="0"/>
              <a:pPr/>
              <a:t>‹#›</a:t>
            </a:fld>
            <a:endParaRPr lang="en-US" altLang="en-US"/>
          </a:p>
        </p:txBody>
      </p:sp>
      <p:sp>
        <p:nvSpPr>
          <p:cNvPr id="1028" name="Text Box 4">
            <a:extLst>
              <a:ext uri="{FF2B5EF4-FFF2-40B4-BE49-F238E27FC236}">
                <a16:creationId xmlns:a16="http://schemas.microsoft.com/office/drawing/2014/main" id="{DB0C920A-6775-4600-AD1D-310553D67F86}"/>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486405" name="Text Box 5">
            <a:extLst>
              <a:ext uri="{FF2B5EF4-FFF2-40B4-BE49-F238E27FC236}">
                <a16:creationId xmlns:a16="http://schemas.microsoft.com/office/drawing/2014/main" id="{7FED4366-B3D8-4635-90AF-59F6E59B903B}"/>
              </a:ext>
            </a:extLst>
          </p:cNvPr>
          <p:cNvSpPr txBox="1">
            <a:spLocks noChangeArrowheads="1"/>
          </p:cNvSpPr>
          <p:nvPr/>
        </p:nvSpPr>
        <p:spPr bwMode="auto">
          <a:xfrm>
            <a:off x="4444717" y="6613525"/>
            <a:ext cx="518092"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17.</a:t>
            </a:r>
            <a:fld id="{370CC2A8-7410-4F9E-B2CB-FCF9B3031B7B}"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486406" name="Rectangle 6">
            <a:extLst>
              <a:ext uri="{FF2B5EF4-FFF2-40B4-BE49-F238E27FC236}">
                <a16:creationId xmlns:a16="http://schemas.microsoft.com/office/drawing/2014/main" id="{0CE0643F-4358-4AEC-B259-E86C95F0ED4B}"/>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00361987-037F-4498-968A-B3CB9D3A9E08}"/>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MS PGothic" charset="0"/>
                <a:cs typeface="MS PGothic" charset="0"/>
              </a:defRPr>
            </a:lvl1pPr>
            <a:lvl2pPr marL="742950" indent="-285750">
              <a:defRPr sz="1600">
                <a:solidFill>
                  <a:schemeClr val="tx1"/>
                </a:solidFill>
                <a:latin typeface="Helvetica" charset="0"/>
                <a:ea typeface="MS PGothic" charset="0"/>
                <a:cs typeface="MS PGothic" charset="0"/>
              </a:defRPr>
            </a:lvl2pPr>
            <a:lvl3pPr marL="1143000" indent="-228600">
              <a:defRPr sz="1600">
                <a:solidFill>
                  <a:schemeClr val="tx1"/>
                </a:solidFill>
                <a:latin typeface="Helvetica" charset="0"/>
                <a:ea typeface="MS PGothic" charset="0"/>
                <a:cs typeface="MS PGothic" charset="0"/>
              </a:defRPr>
            </a:lvl3pPr>
            <a:lvl4pPr marL="1600200" indent="-228600">
              <a:defRPr sz="1600">
                <a:solidFill>
                  <a:schemeClr val="tx1"/>
                </a:solidFill>
                <a:latin typeface="Helvetica" charset="0"/>
                <a:ea typeface="MS PGothic" charset="0"/>
                <a:cs typeface="MS PGothic" charset="0"/>
              </a:defRPr>
            </a:lvl4pPr>
            <a:lvl5pPr marL="2057400" indent="-228600">
              <a:defRPr sz="1600">
                <a:solidFill>
                  <a:schemeClr val="tx1"/>
                </a:solidFill>
                <a:latin typeface="Helvetica" charset="0"/>
                <a:ea typeface="MS PGothic" charset="0"/>
                <a:cs typeface="MS PGothic" charset="0"/>
              </a:defRPr>
            </a:lvl5pPr>
            <a:lvl6pPr marL="2514600" indent="-228600" eaLnBrk="0" fontAlgn="base" hangingPunct="0">
              <a:spcBef>
                <a:spcPct val="0"/>
              </a:spcBef>
              <a:spcAft>
                <a:spcPct val="0"/>
              </a:spcAft>
              <a:defRPr sz="1600">
                <a:solidFill>
                  <a:schemeClr val="tx1"/>
                </a:solidFill>
                <a:latin typeface="Helvetica" charset="0"/>
                <a:ea typeface="MS PGothic" charset="0"/>
                <a:cs typeface="MS PGothic" charset="0"/>
              </a:defRPr>
            </a:lvl6pPr>
            <a:lvl7pPr marL="2971800" indent="-228600" eaLnBrk="0" fontAlgn="base" hangingPunct="0">
              <a:spcBef>
                <a:spcPct val="0"/>
              </a:spcBef>
              <a:spcAft>
                <a:spcPct val="0"/>
              </a:spcAft>
              <a:defRPr sz="1600">
                <a:solidFill>
                  <a:schemeClr val="tx1"/>
                </a:solidFill>
                <a:latin typeface="Helvetica" charset="0"/>
                <a:ea typeface="MS PGothic" charset="0"/>
                <a:cs typeface="MS PGothic" charset="0"/>
              </a:defRPr>
            </a:lvl7pPr>
            <a:lvl8pPr marL="3429000" indent="-228600" eaLnBrk="0" fontAlgn="base" hangingPunct="0">
              <a:spcBef>
                <a:spcPct val="0"/>
              </a:spcBef>
              <a:spcAft>
                <a:spcPct val="0"/>
              </a:spcAft>
              <a:defRPr sz="1600">
                <a:solidFill>
                  <a:schemeClr val="tx1"/>
                </a:solidFill>
                <a:latin typeface="Helvetica" charset="0"/>
                <a:ea typeface="MS PGothic" charset="0"/>
                <a:cs typeface="MS PGothic" charset="0"/>
              </a:defRPr>
            </a:lvl8pPr>
            <a:lvl9pPr marL="3886200" indent="-228600" eaLnBrk="0" fontAlgn="base" hangingPunct="0">
              <a:spcBef>
                <a:spcPct val="0"/>
              </a:spcBef>
              <a:spcAft>
                <a:spcPct val="0"/>
              </a:spcAft>
              <a:defRPr sz="1600">
                <a:solidFill>
                  <a:schemeClr val="tx1"/>
                </a:solidFill>
                <a:latin typeface="Helvetica" charset="0"/>
                <a:ea typeface="MS PGothic" charset="0"/>
                <a:cs typeface="MS PGothic"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669EEB5-E1E1-4615-B40A-87AE23727066}"/>
              </a:ext>
            </a:extLst>
          </p:cNvPr>
          <p:cNvSpPr>
            <a:spLocks/>
          </p:cNvSpPr>
          <p:nvPr/>
        </p:nvSpPr>
        <p:spPr bwMode="auto">
          <a:xfrm>
            <a:off x="8916988" y="5445125"/>
            <a:ext cx="227012" cy="47625"/>
          </a:xfrm>
          <a:custGeom>
            <a:avLst/>
            <a:gdLst>
              <a:gd name="T0" fmla="*/ 0 w 285"/>
              <a:gd name="T1" fmla="*/ 35963902 h 61"/>
              <a:gd name="T2" fmla="*/ 1268878 w 285"/>
              <a:gd name="T3" fmla="*/ 29258145 h 61"/>
              <a:gd name="T4" fmla="*/ 5710347 w 285"/>
              <a:gd name="T5" fmla="*/ 20724682 h 61"/>
              <a:gd name="T6" fmla="*/ 10785858 w 285"/>
              <a:gd name="T7" fmla="*/ 15238439 h 61"/>
              <a:gd name="T8" fmla="*/ 19033961 w 285"/>
              <a:gd name="T9" fmla="*/ 10362732 h 61"/>
              <a:gd name="T10" fmla="*/ 28550941 w 285"/>
              <a:gd name="T11" fmla="*/ 6095219 h 61"/>
              <a:gd name="T12" fmla="*/ 36164206 w 285"/>
              <a:gd name="T13" fmla="*/ 3656975 h 61"/>
              <a:gd name="T14" fmla="*/ 44412309 w 285"/>
              <a:gd name="T15" fmla="*/ 1218732 h 61"/>
              <a:gd name="T16" fmla="*/ 53929289 w 285"/>
              <a:gd name="T17" fmla="*/ 0 h 61"/>
              <a:gd name="T18" fmla="*/ 63446270 w 285"/>
              <a:gd name="T19" fmla="*/ 0 h 61"/>
              <a:gd name="T20" fmla="*/ 74866965 w 285"/>
              <a:gd name="T21" fmla="*/ 0 h 61"/>
              <a:gd name="T22" fmla="*/ 86921700 w 285"/>
              <a:gd name="T23" fmla="*/ 0 h 61"/>
              <a:gd name="T24" fmla="*/ 97707558 w 285"/>
              <a:gd name="T25" fmla="*/ 1218732 h 61"/>
              <a:gd name="T26" fmla="*/ 109762293 w 285"/>
              <a:gd name="T27" fmla="*/ 3656975 h 61"/>
              <a:gd name="T28" fmla="*/ 121817029 w 285"/>
              <a:gd name="T29" fmla="*/ 4876488 h 61"/>
              <a:gd name="T30" fmla="*/ 132602887 w 285"/>
              <a:gd name="T31" fmla="*/ 7314732 h 61"/>
              <a:gd name="T32" fmla="*/ 142119867 w 285"/>
              <a:gd name="T33" fmla="*/ 9143219 h 61"/>
              <a:gd name="T34" fmla="*/ 151636847 w 285"/>
              <a:gd name="T35" fmla="*/ 11581463 h 61"/>
              <a:gd name="T36" fmla="*/ 161153827 w 285"/>
              <a:gd name="T37" fmla="*/ 14019707 h 61"/>
              <a:gd name="T38" fmla="*/ 168767890 w 285"/>
              <a:gd name="T39" fmla="*/ 15238439 h 61"/>
              <a:gd name="T40" fmla="*/ 173209359 w 285"/>
              <a:gd name="T41" fmla="*/ 16457951 h 61"/>
              <a:gd name="T42" fmla="*/ 179553747 w 285"/>
              <a:gd name="T43" fmla="*/ 18896195 h 61"/>
              <a:gd name="T44" fmla="*/ 177015992 w 285"/>
              <a:gd name="T45" fmla="*/ 26819902 h 61"/>
              <a:gd name="T46" fmla="*/ 173209359 w 285"/>
              <a:gd name="T47" fmla="*/ 25601170 h 61"/>
              <a:gd name="T48" fmla="*/ 164961257 w 285"/>
              <a:gd name="T49" fmla="*/ 24382439 h 61"/>
              <a:gd name="T50" fmla="*/ 152906521 w 285"/>
              <a:gd name="T51" fmla="*/ 21944195 h 61"/>
              <a:gd name="T52" fmla="*/ 145927296 w 285"/>
              <a:gd name="T53" fmla="*/ 20724682 h 61"/>
              <a:gd name="T54" fmla="*/ 138313234 w 285"/>
              <a:gd name="T55" fmla="*/ 19505951 h 61"/>
              <a:gd name="T56" fmla="*/ 131334009 w 285"/>
              <a:gd name="T57" fmla="*/ 18896195 h 61"/>
              <a:gd name="T58" fmla="*/ 124355581 w 285"/>
              <a:gd name="T59" fmla="*/ 17676682 h 61"/>
              <a:gd name="T60" fmla="*/ 115472641 w 285"/>
              <a:gd name="T61" fmla="*/ 16457951 h 61"/>
              <a:gd name="T62" fmla="*/ 109762293 w 285"/>
              <a:gd name="T63" fmla="*/ 15238439 h 61"/>
              <a:gd name="T64" fmla="*/ 103417905 w 285"/>
              <a:gd name="T65" fmla="*/ 14019707 h 61"/>
              <a:gd name="T66" fmla="*/ 97707558 w 285"/>
              <a:gd name="T67" fmla="*/ 12800195 h 61"/>
              <a:gd name="T68" fmla="*/ 90094292 w 285"/>
              <a:gd name="T69" fmla="*/ 11581463 h 61"/>
              <a:gd name="T70" fmla="*/ 69791454 w 285"/>
              <a:gd name="T71" fmla="*/ 9143219 h 61"/>
              <a:gd name="T72" fmla="*/ 52660412 w 285"/>
              <a:gd name="T73" fmla="*/ 12800195 h 61"/>
              <a:gd name="T74" fmla="*/ 37433084 w 285"/>
              <a:gd name="T75" fmla="*/ 17676682 h 61"/>
              <a:gd name="T76" fmla="*/ 33626451 w 285"/>
              <a:gd name="T77" fmla="*/ 18896195 h 61"/>
              <a:gd name="T78" fmla="*/ 27282063 w 285"/>
              <a:gd name="T79" fmla="*/ 20724682 h 61"/>
              <a:gd name="T80" fmla="*/ 20302838 w 285"/>
              <a:gd name="T81" fmla="*/ 23162926 h 61"/>
              <a:gd name="T82" fmla="*/ 14592491 w 285"/>
              <a:gd name="T83" fmla="*/ 26819902 h 61"/>
              <a:gd name="T84" fmla="*/ 4441470 w 285"/>
              <a:gd name="T85" fmla="*/ 33525658 h 61"/>
              <a:gd name="T86" fmla="*/ 1268878 w 285"/>
              <a:gd name="T87" fmla="*/ 37182633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1" name="Picture 10" descr="Cover-6Ed">
            <a:extLst>
              <a:ext uri="{FF2B5EF4-FFF2-40B4-BE49-F238E27FC236}">
                <a16:creationId xmlns:a16="http://schemas.microsoft.com/office/drawing/2014/main" id="{8415B884-A6BF-4E61-8F45-53870045B34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over-6Ed">
            <a:extLst>
              <a:ext uri="{FF2B5EF4-FFF2-40B4-BE49-F238E27FC236}">
                <a16:creationId xmlns:a16="http://schemas.microsoft.com/office/drawing/2014/main" id="{A69B54C0-8EB7-4834-9342-A9C86C117E2A}"/>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1113" y="0"/>
            <a:ext cx="639762"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2473312"/>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Lst>
  <p:txStyles>
    <p:titleStyle>
      <a:lvl1pPr algn="ctr" rtl="0" eaLnBrk="1" fontAlgn="base" hangingPunct="1">
        <a:spcBef>
          <a:spcPct val="0"/>
        </a:spcBef>
        <a:spcAft>
          <a:spcPct val="0"/>
        </a:spcAft>
        <a:defRPr kumimoji="1" sz="2800" b="1">
          <a:solidFill>
            <a:srgbClr val="002060"/>
          </a:solidFill>
          <a:effectLst>
            <a:outerShdw blurRad="38100" dist="38100" dir="2700000" algn="tl">
              <a:srgbClr val="DDDDDD"/>
            </a:outerShdw>
          </a:effectLst>
          <a:latin typeface="+mj-lt"/>
          <a:ea typeface="MS PGothic" charset="0"/>
          <a:cs typeface="MS PGothic" charset="0"/>
        </a:defRPr>
      </a:lvl1pPr>
      <a:lvl2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2pPr>
      <a:lvl3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3pPr>
      <a:lvl4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4pPr>
      <a:lvl5pPr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charset="0"/>
          <a:cs typeface="MS PGothic" charset="0"/>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1" fontAlgn="base" hangingPunct="1">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charset="0"/>
          <a:cs typeface="MS PGothic" charset="0"/>
        </a:defRPr>
      </a:lvl1pPr>
      <a:lvl2pPr marL="742950" indent="-285750" algn="l" rtl="0" eaLnBrk="1" fontAlgn="base" hangingPunct="1">
        <a:spcBef>
          <a:spcPct val="35000"/>
        </a:spcBef>
        <a:spcAft>
          <a:spcPct val="0"/>
        </a:spcAft>
        <a:buClr>
          <a:srgbClr val="FF9933"/>
        </a:buClr>
        <a:buSzPct val="90000"/>
        <a:buFont typeface="Monotype Sorts" pitchFamily="-65" charset="2"/>
        <a:buChar char="l"/>
        <a:defRPr kumimoji="1" sz="1700">
          <a:solidFill>
            <a:schemeClr val="tx1"/>
          </a:solidFill>
          <a:latin typeface="+mn-lt"/>
          <a:ea typeface="MS PGothic" charset="0"/>
          <a:cs typeface="MS PGothic" charset="0"/>
        </a:defRPr>
      </a:lvl2pPr>
      <a:lvl3pPr marL="1085850" indent="-228600" algn="l" rtl="0" eaLnBrk="1" fontAlgn="base" hangingPunct="1">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charset="0"/>
          <a:cs typeface="MS PGothic" charset="0"/>
        </a:defRPr>
      </a:lvl3pPr>
      <a:lvl4pPr marL="1428750" indent="-228600" algn="l" rtl="0" eaLnBrk="1" fontAlgn="base" hangingPunct="1">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charset="0"/>
          <a:cs typeface="MS PGothic" charset="0"/>
        </a:defRPr>
      </a:lvl4pPr>
      <a:lvl5pPr marL="1771650" indent="-228600" algn="l" rtl="0" eaLnBrk="1" fontAlgn="base" hangingPunct="1">
        <a:spcBef>
          <a:spcPct val="35000"/>
        </a:spcBef>
        <a:spcAft>
          <a:spcPct val="0"/>
        </a:spcAft>
        <a:buClr>
          <a:schemeClr val="tx2"/>
        </a:buClr>
        <a:buSzPct val="75000"/>
        <a:buChar char="»"/>
        <a:defRPr kumimoji="1" sz="1700">
          <a:solidFill>
            <a:schemeClr val="tx1"/>
          </a:solidFill>
          <a:latin typeface="+mn-lt"/>
          <a:ea typeface="MS PGothic" charset="0"/>
          <a:cs typeface="MS PGothic" charset="0"/>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2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ctrTitle"/>
          </p:nvPr>
        </p:nvSpPr>
        <p:spPr/>
        <p:txBody>
          <a:bodyPr/>
          <a:lstStyle/>
          <a:p>
            <a:pPr>
              <a:defRPr/>
            </a:pPr>
            <a:r>
              <a:rPr lang="en-US" dirty="0">
                <a:effectLst>
                  <a:outerShdw blurRad="38100" dist="38100" dir="2700000" algn="tl">
                    <a:srgbClr val="C0C0C0"/>
                  </a:outerShdw>
                </a:effectLst>
              </a:rPr>
              <a:t>Module 17: Transactions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Outline</a:t>
            </a:r>
          </a:p>
        </p:txBody>
      </p:sp>
      <p:sp>
        <p:nvSpPr>
          <p:cNvPr id="5123" name="Rectangle 3"/>
          <p:cNvSpPr>
            <a:spLocks noGrp="1" noChangeArrowheads="1"/>
          </p:cNvSpPr>
          <p:nvPr>
            <p:ph idx="1"/>
          </p:nvPr>
        </p:nvSpPr>
        <p:spPr>
          <a:xfrm>
            <a:off x="656948" y="1102497"/>
            <a:ext cx="7732450" cy="5367972"/>
          </a:xfrm>
        </p:spPr>
        <p:txBody>
          <a:bodyPr/>
          <a:lstStyle/>
          <a:p>
            <a:r>
              <a:rPr lang="en-US" altLang="en-US" dirty="0"/>
              <a:t>Transaction Concept</a:t>
            </a:r>
          </a:p>
          <a:p>
            <a:r>
              <a:rPr lang="en-US" altLang="en-US" dirty="0"/>
              <a:t>Transaction State</a:t>
            </a:r>
          </a:p>
          <a:p>
            <a:r>
              <a:rPr lang="en-US" altLang="en-US" dirty="0"/>
              <a:t>Concurrent Executions</a:t>
            </a:r>
          </a:p>
          <a:p>
            <a:r>
              <a:rPr lang="en-US" altLang="en-US" dirty="0"/>
              <a:t>Serializability</a:t>
            </a:r>
          </a:p>
          <a:p>
            <a:r>
              <a:rPr lang="en-US" altLang="en-US" dirty="0"/>
              <a:t>Recoverability</a:t>
            </a:r>
          </a:p>
          <a:p>
            <a:r>
              <a:rPr lang="en-US" altLang="en-US" dirty="0"/>
              <a:t>Implementation of Isolation</a:t>
            </a:r>
          </a:p>
          <a:p>
            <a:r>
              <a:rPr lang="en-US" altLang="en-US" dirty="0"/>
              <a:t>Transaction Definition in SQL</a:t>
            </a:r>
          </a:p>
          <a:p>
            <a:r>
              <a:rPr lang="en-US" altLang="en-US" dirty="0"/>
              <a:t>Testing for Serializability.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Concept</a:t>
            </a:r>
          </a:p>
        </p:txBody>
      </p:sp>
      <p:sp>
        <p:nvSpPr>
          <p:cNvPr id="6147" name="Rectangle 3"/>
          <p:cNvSpPr>
            <a:spLocks noGrp="1" noChangeArrowheads="1"/>
          </p:cNvSpPr>
          <p:nvPr>
            <p:ph idx="1"/>
          </p:nvPr>
        </p:nvSpPr>
        <p:spPr>
          <a:xfrm>
            <a:off x="701336" y="1102497"/>
            <a:ext cx="7794594" cy="5367972"/>
          </a:xfrm>
        </p:spPr>
        <p:txBody>
          <a:bodyPr/>
          <a:lstStyle/>
          <a:p>
            <a:r>
              <a:rPr lang="en-US" altLang="en-US" dirty="0"/>
              <a:t>A </a:t>
            </a:r>
            <a:r>
              <a:rPr lang="en-US" altLang="en-US" b="1" dirty="0">
                <a:solidFill>
                  <a:srgbClr val="000099"/>
                </a:solidFill>
              </a:rPr>
              <a:t>transaction</a:t>
            </a:r>
            <a:r>
              <a:rPr lang="en-US" altLang="en-US" i="1" dirty="0"/>
              <a:t> </a:t>
            </a:r>
            <a:r>
              <a:rPr lang="en-US" altLang="en-US" dirty="0"/>
              <a:t>is a </a:t>
            </a:r>
            <a:r>
              <a:rPr lang="en-US" altLang="en-US" i="1" dirty="0"/>
              <a:t>unit </a:t>
            </a:r>
            <a:r>
              <a:rPr lang="en-US" altLang="en-US" dirty="0"/>
              <a:t>of program execution that accesses and  possibly updates various data items.</a:t>
            </a:r>
          </a:p>
          <a:p>
            <a:r>
              <a:rPr lang="en-US" altLang="en-US" dirty="0"/>
              <a:t>E.g</a:t>
            </a:r>
            <a:r>
              <a:rPr lang="en-US" altLang="en-US" dirty="0" smtClean="0"/>
              <a:t>., </a:t>
            </a:r>
            <a:r>
              <a:rPr lang="en-US" altLang="en-US" dirty="0"/>
              <a:t>transaction to transfer $50 from account A to account B:</a:t>
            </a:r>
          </a:p>
          <a:p>
            <a:pPr lvl="1">
              <a:buFont typeface="Monotype Sorts" charset="2"/>
              <a:buNone/>
            </a:pPr>
            <a:r>
              <a:rPr lang="en-US" altLang="en-US" sz="1600" dirty="0"/>
              <a:t>1.	</a:t>
            </a:r>
            <a:r>
              <a:rPr lang="en-US" altLang="en-US" sz="1600" b="1" dirty="0"/>
              <a:t>read</a:t>
            </a:r>
            <a:r>
              <a:rPr lang="en-US" altLang="en-US" sz="1600" dirty="0"/>
              <a:t>(</a:t>
            </a:r>
            <a:r>
              <a:rPr lang="en-US" altLang="en-US" sz="1600" i="1" dirty="0"/>
              <a:t>A</a:t>
            </a:r>
            <a:r>
              <a:rPr lang="en-US" altLang="en-US" sz="1600" dirty="0"/>
              <a:t>)</a:t>
            </a:r>
          </a:p>
          <a:p>
            <a:pPr lvl="1">
              <a:buFont typeface="Monotype Sorts" charset="2"/>
              <a:buNone/>
            </a:pPr>
            <a:r>
              <a:rPr lang="en-US" altLang="en-US" sz="1600" dirty="0"/>
              <a:t>2.	</a:t>
            </a:r>
            <a:r>
              <a:rPr lang="en-US" altLang="en-US" sz="1600" i="1" dirty="0"/>
              <a:t>A</a:t>
            </a:r>
            <a:r>
              <a:rPr lang="en-US" altLang="en-US" sz="1600" dirty="0"/>
              <a:t> := </a:t>
            </a:r>
            <a:r>
              <a:rPr lang="en-US" altLang="en-US" sz="1600" i="1" dirty="0"/>
              <a:t>A – </a:t>
            </a:r>
            <a:r>
              <a:rPr lang="en-US" altLang="en-US" sz="1600" dirty="0"/>
              <a:t>50</a:t>
            </a:r>
          </a:p>
          <a:p>
            <a:pPr lvl="1">
              <a:buFont typeface="Monotype Sorts" charset="2"/>
              <a:buNone/>
            </a:pPr>
            <a:r>
              <a:rPr lang="en-US" altLang="en-US" sz="1600" dirty="0"/>
              <a:t>3.	</a:t>
            </a:r>
            <a:r>
              <a:rPr lang="en-US" altLang="en-US" sz="1600" b="1" dirty="0"/>
              <a:t>write</a:t>
            </a:r>
            <a:r>
              <a:rPr lang="en-US" altLang="en-US" sz="1600" dirty="0"/>
              <a:t>(</a:t>
            </a:r>
            <a:r>
              <a:rPr lang="en-US" altLang="en-US" sz="1600" i="1" dirty="0"/>
              <a:t>A</a:t>
            </a:r>
            <a:r>
              <a:rPr lang="en-US" altLang="en-US" sz="1600" dirty="0"/>
              <a:t>)</a:t>
            </a:r>
          </a:p>
          <a:p>
            <a:pPr lvl="1">
              <a:buFont typeface="Monotype Sorts" charset="2"/>
              <a:buNone/>
            </a:pPr>
            <a:r>
              <a:rPr lang="en-US" altLang="en-US" sz="1600" dirty="0"/>
              <a:t>4.	</a:t>
            </a:r>
            <a:r>
              <a:rPr lang="en-US" altLang="en-US" sz="1600" b="1" dirty="0"/>
              <a:t>read</a:t>
            </a:r>
            <a:r>
              <a:rPr lang="en-US" altLang="en-US" sz="1600" dirty="0"/>
              <a:t>(</a:t>
            </a:r>
            <a:r>
              <a:rPr lang="en-US" altLang="en-US" sz="1600" i="1" dirty="0"/>
              <a:t>B</a:t>
            </a:r>
            <a:r>
              <a:rPr lang="en-US" altLang="en-US" sz="1600" dirty="0"/>
              <a:t>)</a:t>
            </a:r>
          </a:p>
          <a:p>
            <a:pPr lvl="1">
              <a:buFont typeface="Monotype Sorts" charset="2"/>
              <a:buNone/>
            </a:pPr>
            <a:r>
              <a:rPr lang="en-US" altLang="en-US" sz="1600" dirty="0"/>
              <a:t>5.	</a:t>
            </a:r>
            <a:r>
              <a:rPr lang="en-US" altLang="en-US" sz="1600" i="1" dirty="0"/>
              <a:t>B</a:t>
            </a:r>
            <a:r>
              <a:rPr lang="en-US" altLang="en-US" sz="1600" dirty="0"/>
              <a:t> := </a:t>
            </a:r>
            <a:r>
              <a:rPr lang="en-US" altLang="en-US" sz="1600" i="1" dirty="0"/>
              <a:t>B + </a:t>
            </a:r>
            <a:r>
              <a:rPr lang="en-US" altLang="en-US" sz="1600" dirty="0"/>
              <a:t>50</a:t>
            </a:r>
          </a:p>
          <a:p>
            <a:pPr lvl="1">
              <a:buFont typeface="Monotype Sorts" charset="2"/>
              <a:buNone/>
            </a:pPr>
            <a:r>
              <a:rPr lang="en-US" altLang="en-US" sz="1600" dirty="0"/>
              <a:t>6.	</a:t>
            </a:r>
            <a:r>
              <a:rPr lang="en-US" altLang="en-US" sz="1600" b="1" dirty="0"/>
              <a:t>write</a:t>
            </a:r>
            <a:r>
              <a:rPr lang="en-US" altLang="en-US" sz="1600" dirty="0"/>
              <a:t>(</a:t>
            </a:r>
            <a:r>
              <a:rPr lang="en-US" altLang="en-US" sz="1600" i="1" dirty="0"/>
              <a:t>B)</a:t>
            </a:r>
            <a:endParaRPr lang="en-US" altLang="en-US" dirty="0"/>
          </a:p>
          <a:p>
            <a:r>
              <a:rPr lang="en-US" altLang="en-US" dirty="0"/>
              <a:t>Two main issues to deal with:</a:t>
            </a:r>
          </a:p>
          <a:p>
            <a:pPr lvl="1"/>
            <a:r>
              <a:rPr lang="en-US" altLang="en-US" dirty="0"/>
              <a:t>Failures of various kinds, such as hardware failures and system crashes</a:t>
            </a:r>
          </a:p>
          <a:p>
            <a:pPr lvl="1"/>
            <a:r>
              <a:rPr lang="en-US" altLang="en-US" dirty="0"/>
              <a:t>Concurrent execution of multiple transactions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a:t>
            </a:r>
          </a:p>
        </p:txBody>
      </p:sp>
      <p:sp>
        <p:nvSpPr>
          <p:cNvPr id="7171" name="Rectangle 3"/>
          <p:cNvSpPr>
            <a:spLocks noGrp="1" noChangeArrowheads="1"/>
          </p:cNvSpPr>
          <p:nvPr>
            <p:ph idx="1"/>
          </p:nvPr>
        </p:nvSpPr>
        <p:spPr>
          <a:xfrm>
            <a:off x="639192" y="1102497"/>
            <a:ext cx="7838983" cy="5367972"/>
          </a:xfrm>
        </p:spPr>
        <p:txBody>
          <a:bodyPr/>
          <a:lstStyle/>
          <a:p>
            <a:r>
              <a:rPr lang="en-US" altLang="en-US" sz="1600" dirty="0"/>
              <a:t>Transaction to transfer $50 from account A to account B:</a:t>
            </a:r>
          </a:p>
          <a:p>
            <a:pPr lvl="1">
              <a:buFont typeface="Monotype Sorts" charset="2"/>
              <a:buNone/>
            </a:pPr>
            <a:r>
              <a:rPr lang="en-US" altLang="en-US" sz="1400" dirty="0"/>
              <a:t>1.	</a:t>
            </a:r>
            <a:r>
              <a:rPr lang="en-US" altLang="en-US" sz="1400" b="1" dirty="0"/>
              <a:t>read</a:t>
            </a:r>
            <a:r>
              <a:rPr lang="en-US" altLang="en-US" sz="1400" dirty="0"/>
              <a:t>(</a:t>
            </a:r>
            <a:r>
              <a:rPr lang="en-US" altLang="en-US" sz="1400" i="1" dirty="0"/>
              <a:t>A</a:t>
            </a:r>
            <a:r>
              <a:rPr lang="en-US" altLang="en-US" sz="1400" dirty="0"/>
              <a:t>)</a:t>
            </a:r>
          </a:p>
          <a:p>
            <a:pPr lvl="1">
              <a:buFont typeface="Monotype Sorts" charset="2"/>
              <a:buNone/>
            </a:pPr>
            <a:r>
              <a:rPr lang="en-US" altLang="en-US" sz="1400" dirty="0"/>
              <a:t>2.	</a:t>
            </a:r>
            <a:r>
              <a:rPr lang="en-US" altLang="en-US" sz="1400" i="1" dirty="0"/>
              <a:t>A</a:t>
            </a:r>
            <a:r>
              <a:rPr lang="en-US" altLang="en-US" sz="1400" dirty="0"/>
              <a:t> := </a:t>
            </a:r>
            <a:r>
              <a:rPr lang="en-US" altLang="en-US" sz="1400" i="1" dirty="0"/>
              <a:t>A – </a:t>
            </a:r>
            <a:r>
              <a:rPr lang="en-US" altLang="en-US" sz="1400" dirty="0"/>
              <a:t>50</a:t>
            </a:r>
          </a:p>
          <a:p>
            <a:pPr lvl="1">
              <a:buFont typeface="Monotype Sorts" charset="2"/>
              <a:buNone/>
            </a:pPr>
            <a:r>
              <a:rPr lang="en-US" altLang="en-US" sz="1400" dirty="0"/>
              <a:t>3.	</a:t>
            </a:r>
            <a:r>
              <a:rPr lang="en-US" altLang="en-US" sz="1400" b="1" dirty="0"/>
              <a:t>write</a:t>
            </a:r>
            <a:r>
              <a:rPr lang="en-US" altLang="en-US" sz="1400" dirty="0"/>
              <a:t>(</a:t>
            </a:r>
            <a:r>
              <a:rPr lang="en-US" altLang="en-US" sz="1400" i="1" dirty="0"/>
              <a:t>A</a:t>
            </a:r>
            <a:r>
              <a:rPr lang="en-US" altLang="en-US" sz="1400" dirty="0"/>
              <a:t>)</a:t>
            </a:r>
          </a:p>
          <a:p>
            <a:pPr lvl="1">
              <a:buFont typeface="Monotype Sorts" charset="2"/>
              <a:buNone/>
            </a:pPr>
            <a:r>
              <a:rPr lang="en-US" altLang="en-US" sz="1400" dirty="0"/>
              <a:t>4.	</a:t>
            </a:r>
            <a:r>
              <a:rPr lang="en-US" altLang="en-US" sz="1400" b="1" dirty="0"/>
              <a:t>read</a:t>
            </a:r>
            <a:r>
              <a:rPr lang="en-US" altLang="en-US" sz="1400" dirty="0"/>
              <a:t>(</a:t>
            </a:r>
            <a:r>
              <a:rPr lang="en-US" altLang="en-US" sz="1400" i="1" dirty="0"/>
              <a:t>B</a:t>
            </a:r>
            <a:r>
              <a:rPr lang="en-US" altLang="en-US" sz="1400" dirty="0"/>
              <a:t>)</a:t>
            </a:r>
          </a:p>
          <a:p>
            <a:pPr lvl="1">
              <a:buFont typeface="Monotype Sorts" charset="2"/>
              <a:buNone/>
            </a:pPr>
            <a:r>
              <a:rPr lang="en-US" altLang="en-US" sz="1400" dirty="0"/>
              <a:t>5.	</a:t>
            </a:r>
            <a:r>
              <a:rPr lang="en-US" altLang="en-US" sz="1400" i="1" dirty="0"/>
              <a:t>B</a:t>
            </a:r>
            <a:r>
              <a:rPr lang="en-US" altLang="en-US" sz="1400" dirty="0"/>
              <a:t> := </a:t>
            </a:r>
            <a:r>
              <a:rPr lang="en-US" altLang="en-US" sz="1400" i="1" dirty="0"/>
              <a:t>B + </a:t>
            </a:r>
            <a:r>
              <a:rPr lang="en-US" altLang="en-US" sz="1400" dirty="0"/>
              <a:t>50</a:t>
            </a:r>
          </a:p>
          <a:p>
            <a:pPr lvl="1">
              <a:buFont typeface="Monotype Sorts" charset="2"/>
              <a:buNone/>
            </a:pPr>
            <a:r>
              <a:rPr lang="en-US" altLang="en-US" sz="1400" dirty="0"/>
              <a:t>6.	</a:t>
            </a:r>
            <a:r>
              <a:rPr lang="en-US" altLang="en-US" sz="1400" b="1" dirty="0"/>
              <a:t>write</a:t>
            </a:r>
            <a:r>
              <a:rPr lang="en-US" altLang="en-US" sz="1400" dirty="0"/>
              <a:t>(</a:t>
            </a:r>
            <a:r>
              <a:rPr lang="en-US" altLang="en-US" sz="1400" i="1" dirty="0"/>
              <a:t>B)</a:t>
            </a:r>
          </a:p>
          <a:p>
            <a:r>
              <a:rPr lang="en-US" altLang="en-US" sz="1600" b="1" dirty="0">
                <a:solidFill>
                  <a:srgbClr val="000099"/>
                </a:solidFill>
              </a:rPr>
              <a:t>Atomicity requirement</a:t>
            </a:r>
            <a:r>
              <a:rPr lang="en-US" altLang="en-US" sz="1600" dirty="0"/>
              <a:t> </a:t>
            </a:r>
          </a:p>
          <a:p>
            <a:pPr lvl="1"/>
            <a:r>
              <a:rPr lang="en-US" altLang="en-US" sz="1600" dirty="0"/>
              <a:t>If the transaction fails after step 3 and before step 6, money will be </a:t>
            </a:r>
            <a:r>
              <a:rPr lang="ja-JP" altLang="en-US" sz="1600" dirty="0"/>
              <a:t>“</a:t>
            </a:r>
            <a:r>
              <a:rPr lang="en-US" altLang="ja-JP" sz="1600" dirty="0"/>
              <a:t>lost</a:t>
            </a:r>
            <a:r>
              <a:rPr lang="ja-JP" altLang="en-US" sz="1600" dirty="0"/>
              <a:t>”</a:t>
            </a:r>
            <a:r>
              <a:rPr lang="en-US" altLang="ja-JP" sz="1600" dirty="0"/>
              <a:t> leading to an inconsistent database state</a:t>
            </a:r>
          </a:p>
          <a:p>
            <a:pPr lvl="2"/>
            <a:r>
              <a:rPr lang="en-US" altLang="en-US" sz="1600" dirty="0"/>
              <a:t>Failure could be due to software or hardware</a:t>
            </a:r>
          </a:p>
          <a:p>
            <a:pPr lvl="1"/>
            <a:r>
              <a:rPr lang="en-US" altLang="en-US" sz="1600" dirty="0"/>
              <a:t>The system should ensure that updates of a partially executed transaction are not reflected in the database</a:t>
            </a:r>
          </a:p>
          <a:p>
            <a:r>
              <a:rPr lang="en-US" altLang="en-US" sz="1600" b="1" dirty="0">
                <a:solidFill>
                  <a:srgbClr val="000099"/>
                </a:solidFill>
              </a:rPr>
              <a:t>Durability requirement</a:t>
            </a:r>
            <a:r>
              <a:rPr lang="en-US" altLang="en-US" sz="1600" dirty="0"/>
              <a:t> — once the user has been notified that the transaction has completed (i.e., the transfer of the $50 has taken place), the updates to the database by the transaction must persist even if there are software or hardware failures.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a:t>
            </a:r>
          </a:p>
        </p:txBody>
      </p:sp>
      <p:sp>
        <p:nvSpPr>
          <p:cNvPr id="7171" name="Rectangle 3"/>
          <p:cNvSpPr>
            <a:spLocks noGrp="1" noChangeArrowheads="1"/>
          </p:cNvSpPr>
          <p:nvPr>
            <p:ph idx="1"/>
          </p:nvPr>
        </p:nvSpPr>
        <p:spPr>
          <a:xfrm>
            <a:off x="639192" y="1102497"/>
            <a:ext cx="7838983" cy="5367972"/>
          </a:xfrm>
        </p:spPr>
        <p:txBody>
          <a:bodyPr/>
          <a:lstStyle/>
          <a:p>
            <a:r>
              <a:rPr lang="en-US" b="1" dirty="0"/>
              <a:t>Atomicity:</a:t>
            </a:r>
          </a:p>
          <a:p>
            <a:r>
              <a:rPr lang="en-US" dirty="0"/>
              <a:t>By this, we mean that either the entire transaction takes place at once or doesn’t happen at all. There is no midway i.e. transactions do not occur partially. Each transaction is considered as one unit and either runs to completion or is not executed at all. It involves the following two operations.</a:t>
            </a:r>
            <a:br>
              <a:rPr lang="en-US" dirty="0"/>
            </a:br>
            <a:r>
              <a:rPr lang="en-US" dirty="0"/>
              <a:t>— </a:t>
            </a:r>
            <a:r>
              <a:rPr lang="en-US" b="1" dirty="0"/>
              <a:t>Abort </a:t>
            </a:r>
            <a:r>
              <a:rPr lang="en-US" dirty="0"/>
              <a:t>: If a transaction aborts, changes made to the database are not visible.</a:t>
            </a:r>
            <a:br>
              <a:rPr lang="en-US" dirty="0"/>
            </a:br>
            <a:r>
              <a:rPr lang="en-US" dirty="0"/>
              <a:t>— </a:t>
            </a:r>
            <a:r>
              <a:rPr lang="en-US" b="1" dirty="0"/>
              <a:t>Commit </a:t>
            </a:r>
            <a:r>
              <a:rPr lang="en-US" dirty="0"/>
              <a:t>: If a transaction commits, changes made are visible.</a:t>
            </a:r>
            <a:br>
              <a:rPr lang="en-US" dirty="0"/>
            </a:br>
            <a:r>
              <a:rPr lang="en-US" dirty="0"/>
              <a:t>Atomicity is also known as the ‘All or nothing rule’.</a:t>
            </a:r>
          </a:p>
          <a:p>
            <a:r>
              <a:rPr lang="en-US" dirty="0"/>
              <a:t>Consider the following transaction </a:t>
            </a:r>
            <a:r>
              <a:rPr lang="en-US" b="1" dirty="0"/>
              <a:t>T </a:t>
            </a:r>
            <a:r>
              <a:rPr lang="en-US" dirty="0"/>
              <a:t>consisting of </a:t>
            </a:r>
            <a:r>
              <a:rPr lang="en-US" b="1" dirty="0"/>
              <a:t>T1 </a:t>
            </a:r>
            <a:r>
              <a:rPr lang="en-US" dirty="0"/>
              <a:t>and </a:t>
            </a:r>
            <a:r>
              <a:rPr lang="en-US" b="1" dirty="0"/>
              <a:t>T2 </a:t>
            </a:r>
            <a:r>
              <a:rPr lang="en-US" dirty="0"/>
              <a:t>: Transfer of 100 from account </a:t>
            </a:r>
            <a:r>
              <a:rPr lang="en-US" b="1" dirty="0"/>
              <a:t>X </a:t>
            </a:r>
            <a:r>
              <a:rPr lang="en-US" dirty="0"/>
              <a:t>to account </a:t>
            </a:r>
            <a:r>
              <a:rPr lang="en-US" b="1" dirty="0"/>
              <a:t>Y </a:t>
            </a:r>
            <a:r>
              <a:rPr lang="en-US" dirty="0"/>
              <a:t>.</a:t>
            </a:r>
          </a:p>
          <a:p>
            <a:endParaRPr lang="en-US" altLang="en-US" sz="1600" dirty="0"/>
          </a:p>
        </p:txBody>
      </p:sp>
      <p:pic>
        <p:nvPicPr>
          <p:cNvPr id="4" name="Picture 3"/>
          <p:cNvPicPr>
            <a:picLocks noChangeAspect="1"/>
          </p:cNvPicPr>
          <p:nvPr/>
        </p:nvPicPr>
        <p:blipFill>
          <a:blip r:embed="rId3"/>
          <a:stretch>
            <a:fillRect/>
          </a:stretch>
        </p:blipFill>
        <p:spPr>
          <a:xfrm>
            <a:off x="2574202" y="4344328"/>
            <a:ext cx="3968961" cy="1541567"/>
          </a:xfrm>
          <a:prstGeom prst="rect">
            <a:avLst/>
          </a:prstGeom>
        </p:spPr>
      </p:pic>
    </p:spTree>
    <p:extLst>
      <p:ext uri="{BB962C8B-B14F-4D97-AF65-F5344CB8AC3E}">
        <p14:creationId xmlns:p14="http://schemas.microsoft.com/office/powerpoint/2010/main" val="619319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a:t>
            </a:r>
          </a:p>
        </p:txBody>
      </p:sp>
      <p:sp>
        <p:nvSpPr>
          <p:cNvPr id="7171" name="Rectangle 3"/>
          <p:cNvSpPr>
            <a:spLocks noGrp="1" noChangeArrowheads="1"/>
          </p:cNvSpPr>
          <p:nvPr>
            <p:ph idx="1"/>
          </p:nvPr>
        </p:nvSpPr>
        <p:spPr>
          <a:xfrm>
            <a:off x="639192" y="1102497"/>
            <a:ext cx="7838983" cy="5367972"/>
          </a:xfrm>
        </p:spPr>
        <p:txBody>
          <a:bodyPr/>
          <a:lstStyle/>
          <a:p>
            <a:r>
              <a:rPr lang="en-US" dirty="0"/>
              <a:t>If the transaction fails after completion of </a:t>
            </a:r>
            <a:r>
              <a:rPr lang="en-US" b="1" dirty="0"/>
              <a:t>T1 </a:t>
            </a:r>
            <a:r>
              <a:rPr lang="en-US" dirty="0"/>
              <a:t>but before completion of </a:t>
            </a:r>
            <a:r>
              <a:rPr lang="en-US" b="1" dirty="0"/>
              <a:t>T2 </a:t>
            </a:r>
            <a:r>
              <a:rPr lang="en-US" dirty="0"/>
              <a:t>.( say, after </a:t>
            </a:r>
            <a:r>
              <a:rPr lang="en-US" b="1" dirty="0"/>
              <a:t>write(X) </a:t>
            </a:r>
            <a:r>
              <a:rPr lang="en-US" dirty="0"/>
              <a:t>but before </a:t>
            </a:r>
            <a:r>
              <a:rPr lang="en-US" b="1" dirty="0"/>
              <a:t>write(Y) </a:t>
            </a:r>
            <a:r>
              <a:rPr lang="en-US" dirty="0"/>
              <a:t>), then the amount has been deducted from </a:t>
            </a:r>
            <a:r>
              <a:rPr lang="en-US" b="1" dirty="0"/>
              <a:t>X </a:t>
            </a:r>
            <a:r>
              <a:rPr lang="en-US" dirty="0"/>
              <a:t>but not added to </a:t>
            </a:r>
            <a:r>
              <a:rPr lang="en-US" b="1" dirty="0"/>
              <a:t>Y </a:t>
            </a:r>
            <a:r>
              <a:rPr lang="en-US" dirty="0"/>
              <a:t>. This results in an inconsistent database state. Therefore, the transaction must be executed in its entirety in order to ensure the correctness of the database state.</a:t>
            </a:r>
            <a:endParaRPr lang="en-US" altLang="en-US" sz="1600" dirty="0"/>
          </a:p>
        </p:txBody>
      </p:sp>
      <p:pic>
        <p:nvPicPr>
          <p:cNvPr id="4" name="Picture 3"/>
          <p:cNvPicPr>
            <a:picLocks noChangeAspect="1"/>
          </p:cNvPicPr>
          <p:nvPr/>
        </p:nvPicPr>
        <p:blipFill>
          <a:blip r:embed="rId3"/>
          <a:stretch>
            <a:fillRect/>
          </a:stretch>
        </p:blipFill>
        <p:spPr>
          <a:xfrm>
            <a:off x="2574202" y="3279007"/>
            <a:ext cx="3968961" cy="1541567"/>
          </a:xfrm>
          <a:prstGeom prst="rect">
            <a:avLst/>
          </a:prstGeom>
        </p:spPr>
      </p:pic>
    </p:spTree>
    <p:extLst>
      <p:ext uri="{BB962C8B-B14F-4D97-AF65-F5344CB8AC3E}">
        <p14:creationId xmlns:p14="http://schemas.microsoft.com/office/powerpoint/2010/main" val="3803029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a:t>
            </a:r>
          </a:p>
        </p:txBody>
      </p:sp>
      <p:sp>
        <p:nvSpPr>
          <p:cNvPr id="7171" name="Rectangle 3"/>
          <p:cNvSpPr>
            <a:spLocks noGrp="1" noChangeArrowheads="1"/>
          </p:cNvSpPr>
          <p:nvPr>
            <p:ph idx="1"/>
          </p:nvPr>
        </p:nvSpPr>
        <p:spPr>
          <a:xfrm>
            <a:off x="639192" y="1102497"/>
            <a:ext cx="7838983" cy="5367972"/>
          </a:xfrm>
        </p:spPr>
        <p:txBody>
          <a:bodyPr/>
          <a:lstStyle/>
          <a:p>
            <a:r>
              <a:rPr lang="en-US" b="1" dirty="0" smtClean="0"/>
              <a:t>Durability</a:t>
            </a:r>
          </a:p>
          <a:p>
            <a:r>
              <a:rPr lang="en-US" dirty="0" smtClean="0"/>
              <a:t>This </a:t>
            </a:r>
            <a:r>
              <a:rPr lang="en-US" dirty="0"/>
              <a:t>property ensures that once the transaction has completed execution, the updates and modifications to the database are stored in and written to disk and they persist even if a system failure occurs. These updates now become permanent and are stored in non-volatile memory. The effects of the transaction, thus, are never lost.</a:t>
            </a:r>
            <a:endParaRPr lang="en-US" altLang="en-US" sz="1600" dirty="0"/>
          </a:p>
        </p:txBody>
      </p:sp>
    </p:spTree>
    <p:extLst>
      <p:ext uri="{BB962C8B-B14F-4D97-AF65-F5344CB8AC3E}">
        <p14:creationId xmlns:p14="http://schemas.microsoft.com/office/powerpoint/2010/main" val="2969186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 (Cont.)</a:t>
            </a:r>
          </a:p>
        </p:txBody>
      </p:sp>
      <p:sp>
        <p:nvSpPr>
          <p:cNvPr id="528387" name="Rectangle 3"/>
          <p:cNvSpPr>
            <a:spLocks noGrp="1" noChangeArrowheads="1"/>
          </p:cNvSpPr>
          <p:nvPr>
            <p:ph idx="1"/>
          </p:nvPr>
        </p:nvSpPr>
        <p:spPr>
          <a:xfrm>
            <a:off x="701336" y="1102497"/>
            <a:ext cx="7679184" cy="5367972"/>
          </a:xfrm>
        </p:spPr>
        <p:txBody>
          <a:bodyPr/>
          <a:lstStyle/>
          <a:p>
            <a:r>
              <a:rPr lang="en-US" altLang="en-US" sz="1600" b="1" dirty="0">
                <a:solidFill>
                  <a:srgbClr val="000099"/>
                </a:solidFill>
              </a:rPr>
              <a:t>Consistency requirement</a:t>
            </a:r>
            <a:r>
              <a:rPr lang="en-US" altLang="en-US" sz="1600" dirty="0"/>
              <a:t> in above example:</a:t>
            </a:r>
          </a:p>
          <a:p>
            <a:pPr lvl="1"/>
            <a:r>
              <a:rPr lang="en-US" altLang="en-US" sz="1600" dirty="0"/>
              <a:t> The sum of A and B is unchanged by the execution of the transaction</a:t>
            </a:r>
          </a:p>
          <a:p>
            <a:r>
              <a:rPr lang="en-US" altLang="en-US" sz="1600" dirty="0"/>
              <a:t>In general, consistency requirements include </a:t>
            </a:r>
          </a:p>
          <a:p>
            <a:pPr lvl="1"/>
            <a:r>
              <a:rPr lang="en-US" altLang="en-US" sz="1600" dirty="0"/>
              <a:t>Explicitly specified integrity constraints such as primary keys and foreign keys</a:t>
            </a:r>
          </a:p>
          <a:p>
            <a:pPr lvl="1"/>
            <a:r>
              <a:rPr lang="en-US" altLang="en-US" sz="1600" dirty="0"/>
              <a:t>Implicit integrity constraints</a:t>
            </a:r>
          </a:p>
          <a:p>
            <a:pPr lvl="2"/>
            <a:r>
              <a:rPr lang="en-US" altLang="en-US" sz="1600" dirty="0"/>
              <a:t>e.g., sum of balances of all accounts, minus sum of loan amounts must equal value of cash-in-hand</a:t>
            </a:r>
          </a:p>
          <a:p>
            <a:pPr lvl="1"/>
            <a:r>
              <a:rPr lang="en-US" altLang="en-US" sz="1600" dirty="0"/>
              <a:t>A transaction must see a consistent database.</a:t>
            </a:r>
          </a:p>
          <a:p>
            <a:pPr lvl="1"/>
            <a:r>
              <a:rPr lang="en-US" altLang="en-US" sz="1600" dirty="0"/>
              <a:t>During transaction execution the database may be temporarily inconsistent.</a:t>
            </a:r>
          </a:p>
          <a:p>
            <a:pPr lvl="1"/>
            <a:r>
              <a:rPr lang="en-US" altLang="en-US" sz="1600" dirty="0"/>
              <a:t>When the transaction completes successfully the database must be consistent</a:t>
            </a:r>
          </a:p>
          <a:p>
            <a:pPr lvl="2"/>
            <a:r>
              <a:rPr lang="en-US" altLang="en-US" sz="1600" dirty="0"/>
              <a:t>Erroneous transaction logic can lead to inconsistency</a:t>
            </a:r>
          </a:p>
          <a:p>
            <a:pPr>
              <a:lnSpc>
                <a:spcPct val="80000"/>
              </a:lnSpc>
              <a:buFont typeface="Monotype Sorts" charset="2"/>
              <a:buNone/>
            </a:pPr>
            <a:endParaRPr lang="en-US"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838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838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838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8387">
                                            <p:txEl>
                                              <p:pRg st="5" end="5"/>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2838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838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838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2838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 (Cont.)</a:t>
            </a:r>
          </a:p>
        </p:txBody>
      </p:sp>
      <p:sp>
        <p:nvSpPr>
          <p:cNvPr id="528387" name="Rectangle 3"/>
          <p:cNvSpPr>
            <a:spLocks noGrp="1" noChangeArrowheads="1"/>
          </p:cNvSpPr>
          <p:nvPr>
            <p:ph idx="1"/>
          </p:nvPr>
        </p:nvSpPr>
        <p:spPr>
          <a:xfrm>
            <a:off x="701336" y="1102497"/>
            <a:ext cx="7679184" cy="5367972"/>
          </a:xfrm>
        </p:spPr>
        <p:txBody>
          <a:bodyPr/>
          <a:lstStyle/>
          <a:p>
            <a:r>
              <a:rPr lang="en-US" b="1" dirty="0"/>
              <a:t>Consistency:</a:t>
            </a:r>
          </a:p>
          <a:p>
            <a:r>
              <a:rPr lang="en-US" dirty="0"/>
              <a:t>This means that integrity constraints must be maintained so that the database is consistent before and after the transaction. It refers to the correctness of a database. Referring to the example above,</a:t>
            </a:r>
            <a:br>
              <a:rPr lang="en-US" dirty="0"/>
            </a:br>
            <a:r>
              <a:rPr lang="en-US" dirty="0"/>
              <a:t>The total amount before and after the transaction must be maintained.</a:t>
            </a:r>
            <a:br>
              <a:rPr lang="en-US" dirty="0"/>
            </a:br>
            <a:r>
              <a:rPr lang="en-US" dirty="0"/>
              <a:t>Total </a:t>
            </a:r>
            <a:r>
              <a:rPr lang="en-US" b="1" dirty="0"/>
              <a:t>before T </a:t>
            </a:r>
            <a:r>
              <a:rPr lang="en-US" dirty="0"/>
              <a:t>occurs = </a:t>
            </a:r>
            <a:r>
              <a:rPr lang="en-US" b="1" dirty="0"/>
              <a:t>500 + 200 = 700 </a:t>
            </a:r>
            <a:r>
              <a:rPr lang="en-US" dirty="0"/>
              <a:t>.</a:t>
            </a:r>
            <a:br>
              <a:rPr lang="en-US" dirty="0"/>
            </a:br>
            <a:r>
              <a:rPr lang="en-US" dirty="0"/>
              <a:t>Total </a:t>
            </a:r>
            <a:r>
              <a:rPr lang="en-US" b="1" dirty="0"/>
              <a:t>after T occurs </a:t>
            </a:r>
            <a:r>
              <a:rPr lang="en-US" dirty="0"/>
              <a:t>= </a:t>
            </a:r>
            <a:r>
              <a:rPr lang="en-US" b="1" dirty="0"/>
              <a:t>400 + 300 = 700 </a:t>
            </a:r>
            <a:r>
              <a:rPr lang="en-US" dirty="0"/>
              <a:t>.</a:t>
            </a:r>
            <a:br>
              <a:rPr lang="en-US" dirty="0"/>
            </a:br>
            <a:r>
              <a:rPr lang="en-US" dirty="0"/>
              <a:t>Therefore, the database is </a:t>
            </a:r>
            <a:r>
              <a:rPr lang="en-US" b="1" dirty="0"/>
              <a:t>consistent </a:t>
            </a:r>
            <a:r>
              <a:rPr lang="en-US" dirty="0"/>
              <a:t>. Inconsistency occurs in case </a:t>
            </a:r>
            <a:r>
              <a:rPr lang="en-US" b="1" dirty="0"/>
              <a:t>T1 </a:t>
            </a:r>
            <a:r>
              <a:rPr lang="en-US" dirty="0"/>
              <a:t>completes but </a:t>
            </a:r>
            <a:r>
              <a:rPr lang="en-US" b="1" dirty="0"/>
              <a:t>T2 </a:t>
            </a:r>
            <a:r>
              <a:rPr lang="en-US" dirty="0"/>
              <a:t>fails. As a result, T is incomplete.</a:t>
            </a:r>
          </a:p>
          <a:p>
            <a:pPr>
              <a:lnSpc>
                <a:spcPct val="80000"/>
              </a:lnSpc>
              <a:buFont typeface="Monotype Sorts" charset="2"/>
              <a:buNone/>
            </a:pPr>
            <a:endParaRPr lang="en-US" altLang="en-US" sz="1600" dirty="0"/>
          </a:p>
        </p:txBody>
      </p:sp>
    </p:spTree>
    <p:extLst>
      <p:ext uri="{BB962C8B-B14F-4D97-AF65-F5344CB8AC3E}">
        <p14:creationId xmlns:p14="http://schemas.microsoft.com/office/powerpoint/2010/main" val="14334837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 (Cont.)</a:t>
            </a:r>
          </a:p>
        </p:txBody>
      </p:sp>
      <p:sp>
        <p:nvSpPr>
          <p:cNvPr id="9219" name="Rectangle 3"/>
          <p:cNvSpPr>
            <a:spLocks noGrp="1" noChangeArrowheads="1"/>
          </p:cNvSpPr>
          <p:nvPr>
            <p:ph idx="1"/>
          </p:nvPr>
        </p:nvSpPr>
        <p:spPr>
          <a:xfrm>
            <a:off x="692458" y="1102497"/>
            <a:ext cx="7812350" cy="5367972"/>
          </a:xfrm>
        </p:spPr>
        <p:txBody>
          <a:bodyPr/>
          <a:lstStyle/>
          <a:p>
            <a:r>
              <a:rPr lang="en-US" b="1" dirty="0"/>
              <a:t>Isolation:</a:t>
            </a:r>
          </a:p>
          <a:p>
            <a:r>
              <a:rPr lang="en-US" dirty="0"/>
              <a:t>This property ensures that multiple transactions can occur concurrently without leading to the inconsistency of the database state. Transactions occur independently without interference. Changes occurring in a particular transaction will not be visible to any other transaction until that particular change in that transaction is written to memory or has been committed. This property ensures that the execution of transactions concurrently will result in a state that is equivalent to a state achieved these were executed serially in some order.</a:t>
            </a:r>
            <a:br>
              <a:rPr lang="en-US" dirty="0"/>
            </a:br>
            <a:r>
              <a:rPr lang="en-US" dirty="0"/>
              <a:t>Let </a:t>
            </a:r>
            <a:r>
              <a:rPr lang="en-US" b="1" dirty="0"/>
              <a:t>X </a:t>
            </a:r>
            <a:r>
              <a:rPr lang="en-US" dirty="0"/>
              <a:t>= 500, </a:t>
            </a:r>
            <a:r>
              <a:rPr lang="en-US" b="1" dirty="0"/>
              <a:t>Y </a:t>
            </a:r>
            <a:r>
              <a:rPr lang="en-US" dirty="0"/>
              <a:t>= 500.</a:t>
            </a:r>
            <a:br>
              <a:rPr lang="en-US" dirty="0"/>
            </a:br>
            <a:r>
              <a:rPr lang="en-US" dirty="0"/>
              <a:t>Consider two transactions </a:t>
            </a:r>
            <a:r>
              <a:rPr lang="en-US" b="1" dirty="0"/>
              <a:t>T </a:t>
            </a:r>
            <a:r>
              <a:rPr lang="en-US" dirty="0"/>
              <a:t>and </a:t>
            </a:r>
            <a:r>
              <a:rPr lang="en-US" b="1" dirty="0"/>
              <a:t>T”.</a:t>
            </a:r>
            <a:endParaRPr lang="en-US" dirty="0"/>
          </a:p>
          <a:p>
            <a:endParaRPr lang="en-US" altLang="en-US" dirty="0"/>
          </a:p>
        </p:txBody>
      </p:sp>
      <p:pic>
        <p:nvPicPr>
          <p:cNvPr id="2" name="Picture 1"/>
          <p:cNvPicPr>
            <a:picLocks noChangeAspect="1"/>
          </p:cNvPicPr>
          <p:nvPr/>
        </p:nvPicPr>
        <p:blipFill>
          <a:blip r:embed="rId3"/>
          <a:stretch>
            <a:fillRect/>
          </a:stretch>
        </p:blipFill>
        <p:spPr>
          <a:xfrm>
            <a:off x="2803530" y="4377670"/>
            <a:ext cx="3582015" cy="155261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 (Cont.)</a:t>
            </a:r>
          </a:p>
        </p:txBody>
      </p:sp>
      <p:sp>
        <p:nvSpPr>
          <p:cNvPr id="9219" name="Rectangle 3"/>
          <p:cNvSpPr>
            <a:spLocks noGrp="1" noChangeArrowheads="1"/>
          </p:cNvSpPr>
          <p:nvPr>
            <p:ph idx="1"/>
          </p:nvPr>
        </p:nvSpPr>
        <p:spPr>
          <a:xfrm>
            <a:off x="692458" y="1102497"/>
            <a:ext cx="7812350" cy="5367972"/>
          </a:xfrm>
        </p:spPr>
        <p:txBody>
          <a:bodyPr/>
          <a:lstStyle/>
          <a:p>
            <a:r>
              <a:rPr lang="en-US" dirty="0"/>
              <a:t>Suppose </a:t>
            </a:r>
            <a:r>
              <a:rPr lang="en-US" b="1" dirty="0"/>
              <a:t>T </a:t>
            </a:r>
            <a:r>
              <a:rPr lang="en-US" dirty="0"/>
              <a:t>has been executed till </a:t>
            </a:r>
            <a:r>
              <a:rPr lang="en-US" b="1" dirty="0"/>
              <a:t>Read (Y) </a:t>
            </a:r>
            <a:r>
              <a:rPr lang="en-US" dirty="0"/>
              <a:t>and then </a:t>
            </a:r>
            <a:r>
              <a:rPr lang="en-US" b="1" dirty="0"/>
              <a:t>T’’ </a:t>
            </a:r>
            <a:r>
              <a:rPr lang="en-US" dirty="0"/>
              <a:t>starts. As a result, interleaving of operations takes place due to which </a:t>
            </a:r>
            <a:r>
              <a:rPr lang="en-US" b="1" dirty="0"/>
              <a:t>T’’ </a:t>
            </a:r>
            <a:r>
              <a:rPr lang="en-US" dirty="0"/>
              <a:t>reads the correct value of </a:t>
            </a:r>
            <a:r>
              <a:rPr lang="en-US" b="1" dirty="0"/>
              <a:t>X </a:t>
            </a:r>
            <a:r>
              <a:rPr lang="en-US" dirty="0"/>
              <a:t>but the incorrect value of </a:t>
            </a:r>
            <a:r>
              <a:rPr lang="en-US" b="1" dirty="0"/>
              <a:t>Y </a:t>
            </a:r>
            <a:r>
              <a:rPr lang="en-US" dirty="0"/>
              <a:t>and sum computed by</a:t>
            </a:r>
            <a:br>
              <a:rPr lang="en-US" dirty="0"/>
            </a:br>
            <a:r>
              <a:rPr lang="en-US" b="1" dirty="0"/>
              <a:t>T’’: (X+Y = 50, 000+500=50, 500)</a:t>
            </a:r>
            <a:r>
              <a:rPr lang="en-US" dirty="0"/>
              <a:t/>
            </a:r>
            <a:br>
              <a:rPr lang="en-US" dirty="0"/>
            </a:br>
            <a:r>
              <a:rPr lang="en-US" dirty="0"/>
              <a:t>is thus not consistent with the sum at end of the transaction:</a:t>
            </a:r>
            <a:br>
              <a:rPr lang="en-US" dirty="0"/>
            </a:br>
            <a:r>
              <a:rPr lang="en-US" b="1" dirty="0"/>
              <a:t>T: (X+Y = 50, 000 + 450 = 50, 450) </a:t>
            </a:r>
            <a:r>
              <a:rPr lang="en-US" dirty="0"/>
              <a:t>.</a:t>
            </a:r>
            <a:br>
              <a:rPr lang="en-US" dirty="0"/>
            </a:br>
            <a:r>
              <a:rPr lang="en-US" dirty="0"/>
              <a:t>This results in database inconsistency, due to a loss of 50 units. Hence, transactions must take place in isolation and changes should be visible only after they have been made to the main memory.</a:t>
            </a:r>
            <a:endParaRPr lang="en-US" altLang="en-US" dirty="0"/>
          </a:p>
        </p:txBody>
      </p:sp>
      <p:pic>
        <p:nvPicPr>
          <p:cNvPr id="2" name="Picture 1"/>
          <p:cNvPicPr>
            <a:picLocks noChangeAspect="1"/>
          </p:cNvPicPr>
          <p:nvPr/>
        </p:nvPicPr>
        <p:blipFill>
          <a:blip r:embed="rId3"/>
          <a:stretch>
            <a:fillRect/>
          </a:stretch>
        </p:blipFill>
        <p:spPr>
          <a:xfrm>
            <a:off x="2803530" y="4377670"/>
            <a:ext cx="3582015" cy="1552614"/>
          </a:xfrm>
          <a:prstGeom prst="rect">
            <a:avLst/>
          </a:prstGeom>
        </p:spPr>
      </p:pic>
    </p:spTree>
    <p:extLst>
      <p:ext uri="{BB962C8B-B14F-4D97-AF65-F5344CB8AC3E}">
        <p14:creationId xmlns:p14="http://schemas.microsoft.com/office/powerpoint/2010/main" val="1747525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Example of Fund Transfer (Cont.)</a:t>
            </a:r>
          </a:p>
        </p:txBody>
      </p:sp>
      <p:sp>
        <p:nvSpPr>
          <p:cNvPr id="9219" name="Rectangle 3"/>
          <p:cNvSpPr>
            <a:spLocks noGrp="1" noChangeArrowheads="1"/>
          </p:cNvSpPr>
          <p:nvPr>
            <p:ph idx="1"/>
          </p:nvPr>
        </p:nvSpPr>
        <p:spPr>
          <a:xfrm>
            <a:off x="692458" y="1102497"/>
            <a:ext cx="7812350" cy="5367972"/>
          </a:xfrm>
        </p:spPr>
        <p:txBody>
          <a:bodyPr/>
          <a:lstStyle/>
          <a:p>
            <a:r>
              <a:rPr lang="en-US" altLang="en-US" b="1" dirty="0">
                <a:solidFill>
                  <a:srgbClr val="000099"/>
                </a:solidFill>
              </a:rPr>
              <a:t>Isolation requirement</a:t>
            </a:r>
            <a:r>
              <a:rPr lang="en-US" altLang="en-US" dirty="0"/>
              <a:t> — if between steps 3 and 6, another transaction T2 is allowed to access the partially updated database, it will see an inconsistent database (the sum  </a:t>
            </a:r>
            <a:r>
              <a:rPr lang="en-US" altLang="en-US" i="1" dirty="0"/>
              <a:t>A + B</a:t>
            </a:r>
            <a:r>
              <a:rPr lang="en-US" altLang="en-US" dirty="0"/>
              <a:t> will be less than it should be</a:t>
            </a:r>
            <a:r>
              <a:rPr lang="en-US" altLang="en-US" dirty="0" smtClean="0"/>
              <a:t>).</a:t>
            </a:r>
          </a:p>
          <a:p>
            <a:pPr marL="0" indent="0">
              <a:buNone/>
            </a:pPr>
            <a:r>
              <a:rPr lang="en-US" altLang="en-US" dirty="0"/>
              <a:t/>
            </a:r>
            <a:br>
              <a:rPr lang="en-US" altLang="en-US" dirty="0"/>
            </a:br>
            <a:r>
              <a:rPr lang="en-US" altLang="en-US" dirty="0"/>
              <a:t>        </a:t>
            </a:r>
            <a:r>
              <a:rPr lang="en-US" altLang="en-US" dirty="0" smtClean="0"/>
              <a:t>      </a:t>
            </a:r>
            <a:r>
              <a:rPr lang="en-US" altLang="en-US" b="1" dirty="0"/>
              <a:t>T1                                        T2</a:t>
            </a:r>
          </a:p>
          <a:p>
            <a:pPr lvl="1">
              <a:lnSpc>
                <a:spcPct val="90000"/>
              </a:lnSpc>
              <a:buFont typeface="Monotype Sorts" charset="2"/>
              <a:buNone/>
            </a:pPr>
            <a:r>
              <a:rPr lang="en-US" altLang="en-US" sz="1600" dirty="0"/>
              <a:t>1.	</a:t>
            </a:r>
            <a:r>
              <a:rPr lang="en-US" altLang="en-US" sz="1600" b="1" dirty="0"/>
              <a:t>read</a:t>
            </a:r>
            <a:r>
              <a:rPr lang="en-US" altLang="en-US" sz="1600" dirty="0"/>
              <a:t>(</a:t>
            </a:r>
            <a:r>
              <a:rPr lang="en-US" altLang="en-US" sz="1600" i="1" dirty="0"/>
              <a:t>A</a:t>
            </a:r>
            <a:r>
              <a:rPr lang="en-US" altLang="en-US" sz="1600" dirty="0"/>
              <a:t>)</a:t>
            </a:r>
          </a:p>
          <a:p>
            <a:pPr lvl="1">
              <a:lnSpc>
                <a:spcPct val="90000"/>
              </a:lnSpc>
              <a:buFont typeface="Monotype Sorts" charset="2"/>
              <a:buNone/>
            </a:pPr>
            <a:r>
              <a:rPr lang="en-US" altLang="en-US" sz="1600" dirty="0"/>
              <a:t>2.	</a:t>
            </a:r>
            <a:r>
              <a:rPr lang="en-US" altLang="en-US" sz="1600" i="1" dirty="0"/>
              <a:t>A</a:t>
            </a:r>
            <a:r>
              <a:rPr lang="en-US" altLang="en-US" sz="1600" dirty="0"/>
              <a:t> := </a:t>
            </a:r>
            <a:r>
              <a:rPr lang="en-US" altLang="en-US" sz="1600" i="1" dirty="0"/>
              <a:t>A – </a:t>
            </a:r>
            <a:r>
              <a:rPr lang="en-US" altLang="en-US" sz="1600" dirty="0"/>
              <a:t>50</a:t>
            </a:r>
          </a:p>
          <a:p>
            <a:pPr lvl="1">
              <a:lnSpc>
                <a:spcPct val="90000"/>
              </a:lnSpc>
              <a:buFont typeface="Monotype Sorts" charset="2"/>
              <a:buNone/>
            </a:pPr>
            <a:r>
              <a:rPr lang="en-US" altLang="en-US" sz="1600" dirty="0"/>
              <a:t>3.	</a:t>
            </a:r>
            <a:r>
              <a:rPr lang="en-US" altLang="en-US" sz="1600" b="1" dirty="0"/>
              <a:t>write</a:t>
            </a:r>
            <a:r>
              <a:rPr lang="en-US" altLang="en-US" sz="1600" dirty="0"/>
              <a:t>(</a:t>
            </a:r>
            <a:r>
              <a:rPr lang="en-US" altLang="en-US" sz="1600" i="1" dirty="0"/>
              <a:t>A</a:t>
            </a:r>
            <a:r>
              <a:rPr lang="en-US" altLang="en-US" sz="1600" dirty="0"/>
              <a:t>)</a:t>
            </a:r>
            <a:br>
              <a:rPr lang="en-US" altLang="en-US" sz="1600" dirty="0"/>
            </a:br>
            <a:r>
              <a:rPr lang="en-US" altLang="en-US" sz="1600" dirty="0"/>
              <a:t>                                      read(A), read(B), print(A+B)</a:t>
            </a:r>
          </a:p>
          <a:p>
            <a:pPr lvl="1">
              <a:lnSpc>
                <a:spcPct val="90000"/>
              </a:lnSpc>
              <a:buFont typeface="Monotype Sorts" charset="2"/>
              <a:buNone/>
            </a:pPr>
            <a:r>
              <a:rPr lang="en-US" altLang="en-US" sz="1600" dirty="0"/>
              <a:t>4.	</a:t>
            </a:r>
            <a:r>
              <a:rPr lang="en-US" altLang="en-US" sz="1600" b="1" dirty="0"/>
              <a:t>read</a:t>
            </a:r>
            <a:r>
              <a:rPr lang="en-US" altLang="en-US" sz="1600" dirty="0"/>
              <a:t>(</a:t>
            </a:r>
            <a:r>
              <a:rPr lang="en-US" altLang="en-US" sz="1600" i="1" dirty="0"/>
              <a:t>B</a:t>
            </a:r>
            <a:r>
              <a:rPr lang="en-US" altLang="en-US" sz="1600" dirty="0"/>
              <a:t>)</a:t>
            </a:r>
          </a:p>
          <a:p>
            <a:pPr lvl="1">
              <a:lnSpc>
                <a:spcPct val="90000"/>
              </a:lnSpc>
              <a:buFont typeface="Monotype Sorts" charset="2"/>
              <a:buNone/>
            </a:pPr>
            <a:r>
              <a:rPr lang="en-US" altLang="en-US" sz="1600" dirty="0"/>
              <a:t>5.	</a:t>
            </a:r>
            <a:r>
              <a:rPr lang="en-US" altLang="en-US" sz="1600" i="1" dirty="0"/>
              <a:t>B</a:t>
            </a:r>
            <a:r>
              <a:rPr lang="en-US" altLang="en-US" sz="1600" dirty="0"/>
              <a:t> := </a:t>
            </a:r>
            <a:r>
              <a:rPr lang="en-US" altLang="en-US" sz="1600" i="1" dirty="0"/>
              <a:t>B + </a:t>
            </a:r>
            <a:r>
              <a:rPr lang="en-US" altLang="en-US" sz="1600" dirty="0"/>
              <a:t>50</a:t>
            </a:r>
          </a:p>
          <a:p>
            <a:pPr lvl="1">
              <a:lnSpc>
                <a:spcPct val="90000"/>
              </a:lnSpc>
              <a:buFont typeface="Monotype Sorts" charset="2"/>
              <a:buNone/>
            </a:pPr>
            <a:r>
              <a:rPr lang="en-US" altLang="en-US" sz="1600" dirty="0"/>
              <a:t>6.	</a:t>
            </a:r>
            <a:r>
              <a:rPr lang="en-US" altLang="en-US" sz="1600" b="1" dirty="0"/>
              <a:t>write</a:t>
            </a:r>
            <a:r>
              <a:rPr lang="en-US" altLang="en-US" sz="1600" dirty="0"/>
              <a:t>(</a:t>
            </a:r>
            <a:r>
              <a:rPr lang="en-US" altLang="en-US" sz="1600" i="1" dirty="0"/>
              <a:t>B</a:t>
            </a:r>
            <a:endParaRPr lang="en-US" altLang="en-US" dirty="0"/>
          </a:p>
          <a:p>
            <a:pPr>
              <a:lnSpc>
                <a:spcPct val="90000"/>
              </a:lnSpc>
            </a:pPr>
            <a:r>
              <a:rPr lang="en-US" altLang="en-US" dirty="0"/>
              <a:t>Isolation can be ensured trivially by running transactions </a:t>
            </a:r>
            <a:r>
              <a:rPr lang="en-US" altLang="en-US" b="1" dirty="0">
                <a:solidFill>
                  <a:srgbClr val="000099"/>
                </a:solidFill>
              </a:rPr>
              <a:t>serially</a:t>
            </a:r>
          </a:p>
          <a:p>
            <a:pPr lvl="1">
              <a:lnSpc>
                <a:spcPct val="90000"/>
              </a:lnSpc>
            </a:pPr>
            <a:r>
              <a:rPr lang="en-US" altLang="en-US" dirty="0"/>
              <a:t> That is, one after the other.   </a:t>
            </a:r>
          </a:p>
          <a:p>
            <a:r>
              <a:rPr lang="en-US" altLang="en-US" dirty="0"/>
              <a:t>However, executing multiple transactions concurrently has significant benefits, as we will see later</a:t>
            </a:r>
            <a:r>
              <a:rPr lang="en-US" altLang="en-US" dirty="0" smtClean="0"/>
              <a:t>. </a:t>
            </a:r>
            <a:endParaRPr lang="en-US" altLang="en-US" dirty="0"/>
          </a:p>
        </p:txBody>
      </p:sp>
    </p:spTree>
    <p:extLst>
      <p:ext uri="{BB962C8B-B14F-4D97-AF65-F5344CB8AC3E}">
        <p14:creationId xmlns:p14="http://schemas.microsoft.com/office/powerpoint/2010/main" val="1628387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ACID Properties</a:t>
            </a:r>
          </a:p>
        </p:txBody>
      </p:sp>
      <p:sp>
        <p:nvSpPr>
          <p:cNvPr id="10243" name="Rectangle 3"/>
          <p:cNvSpPr>
            <a:spLocks noGrp="1" noChangeArrowheads="1"/>
          </p:cNvSpPr>
          <p:nvPr>
            <p:ph idx="1"/>
          </p:nvPr>
        </p:nvSpPr>
        <p:spPr>
          <a:xfrm>
            <a:off x="701336" y="1901295"/>
            <a:ext cx="7856738" cy="4569174"/>
          </a:xfrm>
        </p:spPr>
        <p:txBody>
          <a:bodyPr/>
          <a:lstStyle/>
          <a:p>
            <a:r>
              <a:rPr lang="en-US" altLang="en-US" b="1" dirty="0">
                <a:solidFill>
                  <a:srgbClr val="000099"/>
                </a:solidFill>
              </a:rPr>
              <a:t>Atomicity</a:t>
            </a:r>
            <a:r>
              <a:rPr lang="en-US" altLang="en-US" b="1" dirty="0"/>
              <a:t>. </a:t>
            </a:r>
            <a:r>
              <a:rPr lang="en-US" altLang="en-US" dirty="0"/>
              <a:t> Either all operations of the transaction are properly reflected in the database or none are.</a:t>
            </a:r>
          </a:p>
          <a:p>
            <a:r>
              <a:rPr lang="en-US" altLang="en-US" b="1" dirty="0">
                <a:solidFill>
                  <a:srgbClr val="000099"/>
                </a:solidFill>
              </a:rPr>
              <a:t>Consistency</a:t>
            </a:r>
            <a:r>
              <a:rPr lang="en-US" altLang="en-US" b="1" dirty="0"/>
              <a:t>.</a:t>
            </a:r>
            <a:r>
              <a:rPr lang="en-US" altLang="en-US" dirty="0"/>
              <a:t>  Execution of a transaction in isolation preserves the consistency of the database.</a:t>
            </a:r>
          </a:p>
          <a:p>
            <a:r>
              <a:rPr lang="en-US" altLang="en-US" b="1" dirty="0">
                <a:solidFill>
                  <a:srgbClr val="000099"/>
                </a:solidFill>
              </a:rPr>
              <a:t>Isolation</a:t>
            </a:r>
            <a:r>
              <a:rPr lang="en-US" altLang="en-US" b="1" dirty="0"/>
              <a:t>.</a:t>
            </a:r>
            <a:r>
              <a:rPr lang="en-US" altLang="en-US" dirty="0"/>
              <a:t>  Although multiple transactions may execute concurrently, each transaction must be unaware of other concurrently executing transactions.  Intermediate transaction results must be hidden from other concurrently executed transactions.  </a:t>
            </a:r>
          </a:p>
          <a:p>
            <a:pPr lvl="1"/>
            <a:r>
              <a:rPr lang="en-US" altLang="en-US" dirty="0"/>
              <a:t>That is, for every pair of transactions </a:t>
            </a:r>
            <a:r>
              <a:rPr lang="en-US" altLang="en-US" i="1" dirty="0"/>
              <a:t>T</a:t>
            </a:r>
            <a:r>
              <a:rPr lang="en-US" altLang="en-US" i="1" baseline="-25000" dirty="0"/>
              <a:t>i</a:t>
            </a:r>
            <a:r>
              <a:rPr lang="en-US" altLang="en-US" i="1" dirty="0"/>
              <a:t> </a:t>
            </a:r>
            <a:r>
              <a:rPr lang="en-US" altLang="en-US" dirty="0"/>
              <a:t>and </a:t>
            </a:r>
            <a:r>
              <a:rPr lang="en-US" altLang="en-US" i="1" dirty="0"/>
              <a:t>T</a:t>
            </a:r>
            <a:r>
              <a:rPr lang="en-US" altLang="en-US" i="1" baseline="-25000" dirty="0"/>
              <a:t>j</a:t>
            </a:r>
            <a:r>
              <a:rPr lang="en-US" altLang="en-US" i="1" dirty="0"/>
              <a:t>, </a:t>
            </a:r>
            <a:r>
              <a:rPr lang="en-US" altLang="en-US" dirty="0"/>
              <a:t>it appears to </a:t>
            </a:r>
            <a:r>
              <a:rPr lang="en-US" altLang="en-US" i="1" dirty="0"/>
              <a:t>T</a:t>
            </a:r>
            <a:r>
              <a:rPr lang="en-US" altLang="en-US" i="1" baseline="-25000" dirty="0"/>
              <a:t>i</a:t>
            </a:r>
            <a:r>
              <a:rPr lang="en-US" altLang="en-US" i="1" dirty="0"/>
              <a:t> </a:t>
            </a:r>
            <a:r>
              <a:rPr lang="en-US" altLang="en-US" dirty="0"/>
              <a:t>that either </a:t>
            </a:r>
            <a:r>
              <a:rPr lang="en-US" altLang="en-US" i="1" dirty="0"/>
              <a:t>T</a:t>
            </a:r>
            <a:r>
              <a:rPr lang="en-US" altLang="en-US" i="1" baseline="-25000" dirty="0"/>
              <a:t>j</a:t>
            </a:r>
            <a:r>
              <a:rPr lang="en-US" altLang="en-US" i="1" dirty="0"/>
              <a:t>, </a:t>
            </a:r>
            <a:r>
              <a:rPr lang="en-US" altLang="en-US" dirty="0"/>
              <a:t>finished execution before </a:t>
            </a:r>
            <a:r>
              <a:rPr lang="en-US" altLang="en-US" i="1" dirty="0"/>
              <a:t>T</a:t>
            </a:r>
            <a:r>
              <a:rPr lang="en-US" altLang="en-US" i="1" baseline="-25000" dirty="0"/>
              <a:t>i</a:t>
            </a:r>
            <a:r>
              <a:rPr lang="en-US" altLang="en-US" dirty="0"/>
              <a:t> started, or </a:t>
            </a:r>
            <a:r>
              <a:rPr lang="en-US" altLang="en-US" i="1" dirty="0"/>
              <a:t>T</a:t>
            </a:r>
            <a:r>
              <a:rPr lang="en-US" altLang="en-US" i="1" baseline="-25000" dirty="0"/>
              <a:t>j</a:t>
            </a:r>
            <a:r>
              <a:rPr lang="en-US" altLang="en-US" dirty="0"/>
              <a:t> started execution after </a:t>
            </a:r>
            <a:r>
              <a:rPr lang="en-US" altLang="en-US" i="1" dirty="0"/>
              <a:t>T</a:t>
            </a:r>
            <a:r>
              <a:rPr lang="en-US" altLang="en-US" i="1" baseline="-25000" dirty="0"/>
              <a:t>i</a:t>
            </a:r>
            <a:r>
              <a:rPr lang="en-US" altLang="en-US" dirty="0"/>
              <a:t> finished.</a:t>
            </a:r>
          </a:p>
          <a:p>
            <a:r>
              <a:rPr lang="en-US" altLang="en-US" b="1" dirty="0">
                <a:solidFill>
                  <a:srgbClr val="000099"/>
                </a:solidFill>
              </a:rPr>
              <a:t>Durability</a:t>
            </a:r>
            <a:r>
              <a:rPr lang="en-US" altLang="en-US" b="1" dirty="0"/>
              <a:t>.  </a:t>
            </a:r>
            <a:r>
              <a:rPr lang="en-US" altLang="en-US" dirty="0"/>
              <a:t>After a transaction completes successfully, the changes it has made to the database persist, even if there are system failures. </a:t>
            </a:r>
            <a:endParaRPr lang="en-US" altLang="en-US" i="1" dirty="0"/>
          </a:p>
        </p:txBody>
      </p:sp>
      <p:sp>
        <p:nvSpPr>
          <p:cNvPr id="10244" name="Text Box 4"/>
          <p:cNvSpPr txBox="1">
            <a:spLocks noChangeArrowheads="1"/>
          </p:cNvSpPr>
          <p:nvPr/>
        </p:nvSpPr>
        <p:spPr bwMode="auto">
          <a:xfrm>
            <a:off x="701336" y="1024131"/>
            <a:ext cx="7670307" cy="87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700" dirty="0"/>
              <a:t>A  </a:t>
            </a:r>
            <a:r>
              <a:rPr kumimoji="1" lang="en-US" altLang="en-US" sz="1700" b="1" dirty="0">
                <a:solidFill>
                  <a:srgbClr val="000099"/>
                </a:solidFill>
              </a:rPr>
              <a:t>transaction</a:t>
            </a:r>
            <a:r>
              <a:rPr lang="en-US" altLang="en-US" sz="1700" dirty="0"/>
              <a:t>  is a unit of program execution that accesses and possibly updates various data </a:t>
            </a:r>
            <a:r>
              <a:rPr lang="en-US" altLang="en-US" sz="1700" dirty="0" smtClean="0"/>
              <a:t>items. To </a:t>
            </a:r>
            <a:r>
              <a:rPr lang="en-US" altLang="en-US" sz="1700" dirty="0"/>
              <a:t>preserve the integrity of data the database system must ensure: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State</a:t>
            </a:r>
          </a:p>
        </p:txBody>
      </p:sp>
      <p:sp>
        <p:nvSpPr>
          <p:cNvPr id="11267" name="Rectangle 3"/>
          <p:cNvSpPr>
            <a:spLocks noGrp="1" noChangeArrowheads="1"/>
          </p:cNvSpPr>
          <p:nvPr>
            <p:ph idx="1"/>
          </p:nvPr>
        </p:nvSpPr>
        <p:spPr>
          <a:xfrm>
            <a:off x="674703" y="1102497"/>
            <a:ext cx="7723574" cy="5367972"/>
          </a:xfrm>
        </p:spPr>
        <p:txBody>
          <a:bodyPr/>
          <a:lstStyle/>
          <a:p>
            <a:r>
              <a:rPr lang="en-US" altLang="en-US" b="1" dirty="0">
                <a:solidFill>
                  <a:srgbClr val="000099"/>
                </a:solidFill>
              </a:rPr>
              <a:t>Active</a:t>
            </a:r>
            <a:r>
              <a:rPr lang="en-US" altLang="en-US" b="1" dirty="0">
                <a:solidFill>
                  <a:schemeClr val="tx2"/>
                </a:solidFill>
              </a:rPr>
              <a:t> </a:t>
            </a:r>
            <a:r>
              <a:rPr lang="en-US" altLang="en-US" dirty="0"/>
              <a:t>–</a:t>
            </a:r>
            <a:r>
              <a:rPr lang="en-US" altLang="en-US" b="1" dirty="0">
                <a:solidFill>
                  <a:schemeClr val="tx2"/>
                </a:solidFill>
              </a:rPr>
              <a:t> </a:t>
            </a:r>
            <a:r>
              <a:rPr lang="en-US" altLang="en-US" dirty="0"/>
              <a:t>the initial state; the transaction stays in this state while it is executing</a:t>
            </a:r>
          </a:p>
          <a:p>
            <a:r>
              <a:rPr lang="en-US" altLang="en-US" b="1" dirty="0">
                <a:solidFill>
                  <a:srgbClr val="000099"/>
                </a:solidFill>
              </a:rPr>
              <a:t>Partially committed</a:t>
            </a:r>
            <a:r>
              <a:rPr lang="en-US" altLang="en-US" b="1" dirty="0">
                <a:solidFill>
                  <a:schemeClr val="tx2"/>
                </a:solidFill>
              </a:rPr>
              <a:t> </a:t>
            </a:r>
            <a:r>
              <a:rPr lang="en-US" altLang="en-US" dirty="0"/>
              <a:t>–</a:t>
            </a:r>
            <a:r>
              <a:rPr lang="en-US" altLang="en-US" b="1" dirty="0">
                <a:solidFill>
                  <a:schemeClr val="tx2"/>
                </a:solidFill>
              </a:rPr>
              <a:t> </a:t>
            </a:r>
            <a:r>
              <a:rPr lang="en-US" altLang="en-US" dirty="0"/>
              <a:t>after the final statement has been executed.</a:t>
            </a:r>
          </a:p>
          <a:p>
            <a:r>
              <a:rPr lang="en-US" altLang="en-US" b="1" dirty="0">
                <a:solidFill>
                  <a:srgbClr val="000099"/>
                </a:solidFill>
              </a:rPr>
              <a:t>Failed</a:t>
            </a:r>
            <a:r>
              <a:rPr lang="en-US" altLang="en-US" b="1" dirty="0">
                <a:solidFill>
                  <a:schemeClr val="tx2"/>
                </a:solidFill>
              </a:rPr>
              <a:t> </a:t>
            </a:r>
            <a:r>
              <a:rPr lang="en-US" altLang="en-US" sz="1600" b="1" dirty="0"/>
              <a:t>-- </a:t>
            </a:r>
            <a:r>
              <a:rPr lang="en-US" altLang="en-US" dirty="0"/>
              <a:t>after the discovery that normal execution can no longer proceed.</a:t>
            </a:r>
          </a:p>
          <a:p>
            <a:r>
              <a:rPr lang="en-US" altLang="en-US" b="1" dirty="0">
                <a:solidFill>
                  <a:srgbClr val="000099"/>
                </a:solidFill>
              </a:rPr>
              <a:t>Aborted</a:t>
            </a:r>
            <a:r>
              <a:rPr lang="en-US" altLang="en-US" b="1" dirty="0">
                <a:solidFill>
                  <a:schemeClr val="tx2"/>
                </a:solidFill>
              </a:rPr>
              <a:t> </a:t>
            </a:r>
            <a:r>
              <a:rPr lang="en-US" altLang="en-US" dirty="0"/>
              <a:t>– after the transaction has been rolled back and the database restored to its state prior to the start of the transaction.  Two options after it has been aborted:</a:t>
            </a:r>
          </a:p>
          <a:p>
            <a:pPr lvl="1"/>
            <a:r>
              <a:rPr lang="en-US" altLang="en-US" dirty="0"/>
              <a:t>R</a:t>
            </a:r>
            <a:r>
              <a:rPr lang="en-US" altLang="en-US" dirty="0" smtClean="0"/>
              <a:t>estart </a:t>
            </a:r>
            <a:r>
              <a:rPr lang="en-US" altLang="en-US" dirty="0"/>
              <a:t>the transaction</a:t>
            </a:r>
          </a:p>
          <a:p>
            <a:pPr lvl="2"/>
            <a:r>
              <a:rPr lang="en-US" altLang="en-US" dirty="0"/>
              <a:t> </a:t>
            </a:r>
            <a:r>
              <a:rPr lang="en-US" altLang="en-US" dirty="0" smtClean="0"/>
              <a:t>Can </a:t>
            </a:r>
            <a:r>
              <a:rPr lang="en-US" altLang="en-US" dirty="0"/>
              <a:t>be done only if no internal logical error</a:t>
            </a:r>
          </a:p>
          <a:p>
            <a:pPr lvl="1"/>
            <a:r>
              <a:rPr lang="en-US" altLang="en-US" dirty="0"/>
              <a:t>K</a:t>
            </a:r>
            <a:r>
              <a:rPr lang="en-US" altLang="en-US" dirty="0" smtClean="0"/>
              <a:t>ill </a:t>
            </a:r>
            <a:r>
              <a:rPr lang="en-US" altLang="en-US" dirty="0"/>
              <a:t>the transaction</a:t>
            </a:r>
          </a:p>
          <a:p>
            <a:r>
              <a:rPr lang="en-US" altLang="en-US" b="1" dirty="0">
                <a:solidFill>
                  <a:srgbClr val="000099"/>
                </a:solidFill>
              </a:rPr>
              <a:t>Committed</a:t>
            </a:r>
            <a:r>
              <a:rPr lang="en-US" altLang="en-US" b="1" dirty="0">
                <a:solidFill>
                  <a:schemeClr val="tx2"/>
                </a:solidFill>
              </a:rPr>
              <a:t> </a:t>
            </a:r>
            <a:r>
              <a:rPr lang="en-US" altLang="en-US" dirty="0"/>
              <a:t>– after successful completion.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State (Cont.)</a:t>
            </a:r>
          </a:p>
        </p:txBody>
      </p:sp>
      <p:pic>
        <p:nvPicPr>
          <p:cNvPr id="1229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4900" y="1503363"/>
            <a:ext cx="4619625" cy="317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Concurrent Executions</a:t>
            </a:r>
          </a:p>
        </p:txBody>
      </p:sp>
      <p:sp>
        <p:nvSpPr>
          <p:cNvPr id="13315" name="Rectangle 3"/>
          <p:cNvSpPr>
            <a:spLocks noGrp="1" noChangeArrowheads="1"/>
          </p:cNvSpPr>
          <p:nvPr>
            <p:ph idx="1"/>
          </p:nvPr>
        </p:nvSpPr>
        <p:spPr>
          <a:xfrm>
            <a:off x="674703" y="1102497"/>
            <a:ext cx="7714696" cy="5367972"/>
          </a:xfrm>
        </p:spPr>
        <p:txBody>
          <a:bodyPr/>
          <a:lstStyle/>
          <a:p>
            <a:r>
              <a:rPr lang="en-US" altLang="en-US" dirty="0"/>
              <a:t>Multiple transactions are allowed to run concurrently in the system.  Advantages are:</a:t>
            </a:r>
          </a:p>
          <a:p>
            <a:pPr lvl="1"/>
            <a:r>
              <a:rPr lang="en-US" altLang="en-US" b="1" dirty="0"/>
              <a:t>Increased processor and disk utilization</a:t>
            </a:r>
            <a:r>
              <a:rPr lang="en-US" altLang="en-US" dirty="0"/>
              <a:t>, leading to better transaction </a:t>
            </a:r>
            <a:r>
              <a:rPr lang="en-US" altLang="en-US" i="1" dirty="0"/>
              <a:t>throughput</a:t>
            </a:r>
          </a:p>
          <a:p>
            <a:pPr lvl="2"/>
            <a:r>
              <a:rPr lang="en-US" altLang="en-US" dirty="0"/>
              <a:t>E</a:t>
            </a:r>
            <a:r>
              <a:rPr lang="en-US" altLang="en-US" dirty="0" smtClean="0"/>
              <a:t>.g</a:t>
            </a:r>
            <a:r>
              <a:rPr lang="en-US" altLang="en-US" dirty="0"/>
              <a:t>., one transaction can be using the CPU while another is reading from or writing to the disk</a:t>
            </a:r>
          </a:p>
          <a:p>
            <a:pPr lvl="1"/>
            <a:r>
              <a:rPr lang="en-US" altLang="en-US" b="1" dirty="0"/>
              <a:t>Reduced average response time</a:t>
            </a:r>
            <a:r>
              <a:rPr lang="en-US" altLang="en-US" dirty="0"/>
              <a:t> for transactions: short transactions need not wait behind long ones.</a:t>
            </a:r>
          </a:p>
          <a:p>
            <a:r>
              <a:rPr lang="en-US" altLang="en-US" b="1" dirty="0">
                <a:solidFill>
                  <a:srgbClr val="000099"/>
                </a:solidFill>
              </a:rPr>
              <a:t>Concurrency control schemes</a:t>
            </a:r>
            <a:r>
              <a:rPr lang="en-US" altLang="en-US" i="1" dirty="0"/>
              <a:t> </a:t>
            </a:r>
            <a:r>
              <a:rPr lang="en-US" altLang="en-US" dirty="0"/>
              <a:t>– mechanisms  to achieve isolation</a:t>
            </a:r>
          </a:p>
          <a:p>
            <a:pPr lvl="1"/>
            <a:r>
              <a:rPr lang="en-US" altLang="en-US" dirty="0"/>
              <a:t>That is, to control the interaction among the concurrent transactions in order to prevent them from destroying the consistency of the database</a:t>
            </a:r>
          </a:p>
          <a:p>
            <a:pPr lvl="2"/>
            <a:r>
              <a:rPr lang="en-US" altLang="en-US" dirty="0"/>
              <a:t>Will study in Chapter 15, after studying notion of correctness of concurrent executions.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Schedules</a:t>
            </a:r>
          </a:p>
        </p:txBody>
      </p:sp>
      <p:sp>
        <p:nvSpPr>
          <p:cNvPr id="14339" name="Rectangle 3"/>
          <p:cNvSpPr>
            <a:spLocks noGrp="1" noChangeArrowheads="1"/>
          </p:cNvSpPr>
          <p:nvPr>
            <p:ph idx="1"/>
          </p:nvPr>
        </p:nvSpPr>
        <p:spPr>
          <a:xfrm>
            <a:off x="665824" y="1102497"/>
            <a:ext cx="7803473" cy="5367972"/>
          </a:xfrm>
        </p:spPr>
        <p:txBody>
          <a:bodyPr/>
          <a:lstStyle/>
          <a:p>
            <a:r>
              <a:rPr lang="en-US" altLang="en-US" b="1" dirty="0">
                <a:solidFill>
                  <a:srgbClr val="000099"/>
                </a:solidFill>
              </a:rPr>
              <a:t>Schedule</a:t>
            </a:r>
            <a:r>
              <a:rPr lang="en-US" altLang="en-US" b="1" dirty="0">
                <a:solidFill>
                  <a:schemeClr val="tx2"/>
                </a:solidFill>
              </a:rPr>
              <a:t> </a:t>
            </a:r>
            <a:r>
              <a:rPr lang="en-US" altLang="en-US" dirty="0"/>
              <a:t>– a sequences of instructions that specify the chronological order in which instructions of concurrent transactions are executed</a:t>
            </a:r>
          </a:p>
          <a:p>
            <a:pPr lvl="1"/>
            <a:r>
              <a:rPr lang="en-US" altLang="en-US" dirty="0"/>
              <a:t>A schedule for a set of transactions must consist of all instructions of those transactions</a:t>
            </a:r>
          </a:p>
          <a:p>
            <a:pPr lvl="1"/>
            <a:r>
              <a:rPr lang="en-US" altLang="en-US" dirty="0"/>
              <a:t>Must preserve the order in which the instructions appear in each individual transaction.</a:t>
            </a:r>
          </a:p>
          <a:p>
            <a:r>
              <a:rPr lang="en-US" altLang="en-US" dirty="0"/>
              <a:t>A transaction that successfully completes its execution will have a commit instructions as the last statement </a:t>
            </a:r>
          </a:p>
          <a:p>
            <a:pPr lvl="1"/>
            <a:r>
              <a:rPr lang="en-US" altLang="en-US" dirty="0"/>
              <a:t>By default transaction assumed to execute commit instruction as its last step</a:t>
            </a:r>
          </a:p>
          <a:p>
            <a:r>
              <a:rPr lang="en-US" altLang="en-US" dirty="0"/>
              <a:t>A transaction that fails to successfully complete its execution will have an abort instruction as the last statement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 1</a:t>
            </a:r>
          </a:p>
        </p:txBody>
      </p:sp>
      <p:sp>
        <p:nvSpPr>
          <p:cNvPr id="15363" name="Rectangle 3"/>
          <p:cNvSpPr>
            <a:spLocks noGrp="1" noChangeArrowheads="1"/>
          </p:cNvSpPr>
          <p:nvPr>
            <p:ph idx="1"/>
          </p:nvPr>
        </p:nvSpPr>
        <p:spPr>
          <a:xfrm>
            <a:off x="648070" y="1102497"/>
            <a:ext cx="7563775" cy="5367972"/>
          </a:xfrm>
        </p:spPr>
        <p:txBody>
          <a:bodyPr/>
          <a:lstStyle/>
          <a:p>
            <a:pPr>
              <a:tabLst>
                <a:tab pos="1947863" algn="l"/>
                <a:tab pos="2684463" algn="l"/>
                <a:tab pos="3594100" algn="l"/>
                <a:tab pos="4286250" algn="l"/>
              </a:tabLst>
            </a:pPr>
            <a:r>
              <a:rPr lang="en-US" altLang="en-US" dirty="0"/>
              <a:t>Let </a:t>
            </a:r>
            <a:r>
              <a:rPr lang="en-US" altLang="en-US" i="1" dirty="0"/>
              <a:t>T</a:t>
            </a:r>
            <a:r>
              <a:rPr lang="en-US" altLang="en-US" baseline="-25000" dirty="0"/>
              <a:t>1</a:t>
            </a:r>
            <a:r>
              <a:rPr lang="en-US" altLang="en-US" dirty="0"/>
              <a:t> transfer $50 from </a:t>
            </a:r>
            <a:r>
              <a:rPr lang="en-US" altLang="en-US" i="1" dirty="0"/>
              <a:t>A </a:t>
            </a:r>
            <a:r>
              <a:rPr lang="en-US" altLang="en-US" dirty="0"/>
              <a:t>to </a:t>
            </a:r>
            <a:r>
              <a:rPr lang="en-US" altLang="en-US" i="1" dirty="0"/>
              <a:t>B</a:t>
            </a:r>
            <a:r>
              <a:rPr lang="en-US" altLang="en-US" dirty="0"/>
              <a:t>, and </a:t>
            </a:r>
            <a:r>
              <a:rPr lang="en-US" altLang="en-US" i="1" dirty="0"/>
              <a:t>T</a:t>
            </a:r>
            <a:r>
              <a:rPr lang="en-US" altLang="en-US" baseline="-25000" dirty="0"/>
              <a:t>2</a:t>
            </a:r>
            <a:r>
              <a:rPr lang="en-US" altLang="en-US" dirty="0"/>
              <a:t> transfer 10% of the balance from </a:t>
            </a:r>
            <a:r>
              <a:rPr lang="en-US" altLang="en-US" i="1" dirty="0"/>
              <a:t>A </a:t>
            </a:r>
            <a:r>
              <a:rPr lang="en-US" altLang="en-US" dirty="0"/>
              <a:t>to </a:t>
            </a:r>
            <a:r>
              <a:rPr lang="en-US" altLang="en-US" i="1" dirty="0"/>
              <a:t>B.</a:t>
            </a:r>
            <a:r>
              <a:rPr lang="en-US" altLang="en-US" dirty="0"/>
              <a:t>  </a:t>
            </a:r>
          </a:p>
          <a:p>
            <a:pPr>
              <a:lnSpc>
                <a:spcPct val="80000"/>
              </a:lnSpc>
              <a:tabLst>
                <a:tab pos="1947863" algn="l"/>
                <a:tab pos="2684463" algn="l"/>
                <a:tab pos="3594100" algn="l"/>
                <a:tab pos="4286250" algn="l"/>
              </a:tabLst>
            </a:pPr>
            <a:r>
              <a:rPr lang="en-US" altLang="en-US" dirty="0"/>
              <a:t>A </a:t>
            </a:r>
            <a:r>
              <a:rPr lang="en-US" altLang="en-US" dirty="0">
                <a:solidFill>
                  <a:srgbClr val="000099"/>
                </a:solidFill>
              </a:rPr>
              <a:t>serial </a:t>
            </a:r>
            <a:r>
              <a:rPr lang="en-US" altLang="en-US" dirty="0"/>
              <a:t>schedule in which </a:t>
            </a:r>
            <a:r>
              <a:rPr lang="en-US" altLang="en-US" i="1" dirty="0"/>
              <a:t>T</a:t>
            </a:r>
            <a:r>
              <a:rPr lang="en-US" altLang="en-US" baseline="-25000" dirty="0"/>
              <a:t>1</a:t>
            </a:r>
            <a:r>
              <a:rPr lang="en-US" altLang="en-US" dirty="0"/>
              <a:t> is followed by </a:t>
            </a:r>
            <a:r>
              <a:rPr lang="en-US" altLang="en-US" i="1" dirty="0"/>
              <a:t>T</a:t>
            </a:r>
            <a:r>
              <a:rPr lang="en-US" altLang="en-US" baseline="-25000" dirty="0"/>
              <a:t>2</a:t>
            </a:r>
            <a:r>
              <a:rPr lang="en-US" altLang="en-US" dirty="0"/>
              <a:t> :</a:t>
            </a:r>
          </a:p>
          <a:p>
            <a:pPr>
              <a:lnSpc>
                <a:spcPct val="80000"/>
              </a:lnSpc>
              <a:buFont typeface="Monotype Sorts" charset="2"/>
              <a:buNone/>
              <a:tabLst>
                <a:tab pos="1947863" algn="l"/>
                <a:tab pos="2684463" algn="l"/>
                <a:tab pos="3594100" algn="l"/>
                <a:tab pos="4286250" algn="l"/>
              </a:tabLst>
            </a:pPr>
            <a:r>
              <a:rPr lang="en-US" altLang="en-US" sz="1400" dirty="0"/>
              <a:t>		</a:t>
            </a:r>
          </a:p>
        </p:txBody>
      </p:sp>
      <p:pic>
        <p:nvPicPr>
          <p:cNvPr id="15364"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5078" y="2324500"/>
            <a:ext cx="3016250" cy="377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Schedule 2</a:t>
            </a:r>
          </a:p>
        </p:txBody>
      </p:sp>
      <p:sp>
        <p:nvSpPr>
          <p:cNvPr id="16387" name="Rectangle 4"/>
          <p:cNvSpPr>
            <a:spLocks noGrp="1" noChangeArrowheads="1"/>
          </p:cNvSpPr>
          <p:nvPr>
            <p:ph idx="1"/>
          </p:nvPr>
        </p:nvSpPr>
        <p:spPr>
          <a:xfrm>
            <a:off x="692458" y="1102497"/>
            <a:ext cx="8153092" cy="5367972"/>
          </a:xfrm>
          <a:noFill/>
        </p:spPr>
        <p:txBody>
          <a:bodyPr/>
          <a:lstStyle/>
          <a:p>
            <a:pPr>
              <a:lnSpc>
                <a:spcPct val="90000"/>
              </a:lnSpc>
              <a:tabLst>
                <a:tab pos="1947863" algn="l"/>
                <a:tab pos="2684463" algn="l"/>
                <a:tab pos="3594100" algn="l"/>
                <a:tab pos="4286250" algn="l"/>
              </a:tabLst>
            </a:pPr>
            <a:r>
              <a:rPr lang="en-US" altLang="en-US" dirty="0"/>
              <a:t>A serial schedule where </a:t>
            </a:r>
            <a:r>
              <a:rPr lang="en-US" altLang="en-US" i="1" dirty="0"/>
              <a:t>T</a:t>
            </a:r>
            <a:r>
              <a:rPr lang="en-US" altLang="en-US" i="1" baseline="-25000" dirty="0"/>
              <a:t>2</a:t>
            </a:r>
            <a:r>
              <a:rPr lang="en-US" altLang="en-US" dirty="0"/>
              <a:t> is followed by </a:t>
            </a:r>
            <a:r>
              <a:rPr lang="en-US" altLang="en-US" i="1" dirty="0"/>
              <a:t>T</a:t>
            </a:r>
            <a:r>
              <a:rPr lang="en-US" altLang="en-US" baseline="-25000" dirty="0"/>
              <a:t>1</a:t>
            </a:r>
          </a:p>
          <a:p>
            <a:pPr>
              <a:lnSpc>
                <a:spcPct val="90000"/>
              </a:lnSpc>
              <a:tabLst>
                <a:tab pos="1947863" algn="l"/>
                <a:tab pos="2684463" algn="l"/>
                <a:tab pos="3594100" algn="l"/>
                <a:tab pos="4286250" algn="l"/>
              </a:tabLst>
            </a:pPr>
            <a:endParaRPr lang="en-US" altLang="en-US" dirty="0"/>
          </a:p>
          <a:p>
            <a:pPr>
              <a:lnSpc>
                <a:spcPct val="90000"/>
              </a:lnSpc>
              <a:buFont typeface="Monotype Sorts" charset="2"/>
              <a:buNone/>
              <a:tabLst>
                <a:tab pos="1947863" algn="l"/>
                <a:tab pos="2684463" algn="l"/>
                <a:tab pos="3594100" algn="l"/>
                <a:tab pos="4286250" algn="l"/>
              </a:tabLst>
            </a:pPr>
            <a:r>
              <a:rPr lang="en-US" altLang="en-US" dirty="0"/>
              <a:t>		</a:t>
            </a:r>
            <a:endParaRPr lang="en-US" altLang="en-US" i="1" dirty="0"/>
          </a:p>
        </p:txBody>
      </p:sp>
      <p:pic>
        <p:nvPicPr>
          <p:cNvPr id="16388"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3500" y="1738313"/>
            <a:ext cx="2898775"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 3</a:t>
            </a:r>
          </a:p>
        </p:txBody>
      </p:sp>
      <p:sp>
        <p:nvSpPr>
          <p:cNvPr id="17411" name="Rectangle 4"/>
          <p:cNvSpPr>
            <a:spLocks noGrp="1" noChangeArrowheads="1"/>
          </p:cNvSpPr>
          <p:nvPr>
            <p:ph idx="1"/>
          </p:nvPr>
        </p:nvSpPr>
        <p:spPr>
          <a:xfrm>
            <a:off x="701336" y="1102497"/>
            <a:ext cx="7847860" cy="5367972"/>
          </a:xfrm>
          <a:noFill/>
        </p:spPr>
        <p:txBody>
          <a:bodyPr/>
          <a:lstStyle/>
          <a:p>
            <a:pPr>
              <a:tabLst>
                <a:tab pos="1947863" algn="l"/>
                <a:tab pos="2684463" algn="l"/>
                <a:tab pos="3594100" algn="l"/>
                <a:tab pos="4286250" algn="l"/>
              </a:tabLst>
            </a:pPr>
            <a:r>
              <a:rPr lang="en-US" altLang="en-US" dirty="0"/>
              <a:t>Let </a:t>
            </a:r>
            <a:r>
              <a:rPr lang="en-US" altLang="en-US" i="1" dirty="0"/>
              <a:t>T</a:t>
            </a:r>
            <a:r>
              <a:rPr lang="en-US" altLang="en-US" baseline="-25000" dirty="0"/>
              <a:t>1</a:t>
            </a:r>
            <a:r>
              <a:rPr lang="en-US" altLang="en-US" dirty="0"/>
              <a:t> and </a:t>
            </a:r>
            <a:r>
              <a:rPr lang="en-US" altLang="en-US" i="1" dirty="0"/>
              <a:t>T</a:t>
            </a:r>
            <a:r>
              <a:rPr lang="en-US" altLang="en-US" baseline="-25000" dirty="0"/>
              <a:t>2</a:t>
            </a:r>
            <a:r>
              <a:rPr lang="en-US" altLang="en-US" dirty="0"/>
              <a:t> be the transactions defined previously</a:t>
            </a:r>
            <a:r>
              <a:rPr lang="en-US" altLang="en-US" i="1" dirty="0"/>
              <a:t>.</a:t>
            </a:r>
            <a:r>
              <a:rPr lang="en-US" altLang="en-US" dirty="0"/>
              <a:t>  The following schedule is not a serial schedule, but it is </a:t>
            </a:r>
            <a:r>
              <a:rPr lang="en-US" altLang="en-US" i="1" dirty="0">
                <a:solidFill>
                  <a:srgbClr val="000099"/>
                </a:solidFill>
              </a:rPr>
              <a:t>equivalent</a:t>
            </a:r>
            <a:r>
              <a:rPr lang="en-US" altLang="en-US" dirty="0">
                <a:solidFill>
                  <a:srgbClr val="000099"/>
                </a:solidFill>
              </a:rPr>
              <a:t> </a:t>
            </a:r>
            <a:r>
              <a:rPr lang="en-US" altLang="en-US" dirty="0"/>
              <a:t>to Schedule </a:t>
            </a:r>
            <a:r>
              <a:rPr lang="en-US" altLang="en-US" dirty="0" smtClean="0"/>
              <a:t>1</a:t>
            </a:r>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r>
              <a:rPr lang="en-US" altLang="en-US" sz="1600" dirty="0" smtClean="0">
                <a:latin typeface="Arial" panose="020B0604020202020204" pitchFamily="34" charset="0"/>
              </a:rPr>
              <a:t>In </a:t>
            </a:r>
            <a:r>
              <a:rPr lang="en-US" altLang="en-US" sz="1600" dirty="0">
                <a:latin typeface="Arial" panose="020B0604020202020204" pitchFamily="34" charset="0"/>
              </a:rPr>
              <a:t>Schedules 1, 2 and 3, the sum A + B is preserved</a:t>
            </a:r>
            <a:r>
              <a:rPr lang="en-US" altLang="en-US" dirty="0" smtClean="0"/>
              <a:t>.</a:t>
            </a:r>
            <a:endParaRPr lang="en-US" altLang="en-US" dirty="0"/>
          </a:p>
          <a:p>
            <a:pPr>
              <a:lnSpc>
                <a:spcPct val="90000"/>
              </a:lnSpc>
              <a:buFont typeface="Monotype Sorts" charset="2"/>
              <a:buNone/>
              <a:tabLst>
                <a:tab pos="1947863" algn="l"/>
                <a:tab pos="2684463" algn="l"/>
                <a:tab pos="3594100" algn="l"/>
                <a:tab pos="4286250" algn="l"/>
              </a:tabLst>
            </a:pPr>
            <a:r>
              <a:rPr lang="en-US" altLang="en-US" dirty="0"/>
              <a:t>		</a:t>
            </a:r>
            <a:endParaRPr lang="en-US" altLang="en-US" i="1" dirty="0"/>
          </a:p>
        </p:txBody>
      </p:sp>
      <p:pic>
        <p:nvPicPr>
          <p:cNvPr id="17413"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1613" y="1905000"/>
            <a:ext cx="2779712" cy="347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Schedule 4</a:t>
            </a:r>
          </a:p>
        </p:txBody>
      </p:sp>
      <p:sp>
        <p:nvSpPr>
          <p:cNvPr id="18435" name="Rectangle 4"/>
          <p:cNvSpPr>
            <a:spLocks noGrp="1" noChangeArrowheads="1"/>
          </p:cNvSpPr>
          <p:nvPr>
            <p:ph idx="1"/>
          </p:nvPr>
        </p:nvSpPr>
        <p:spPr>
          <a:xfrm>
            <a:off x="683580" y="1102497"/>
            <a:ext cx="8161969" cy="5367972"/>
          </a:xfrm>
          <a:noFill/>
        </p:spPr>
        <p:txBody>
          <a:bodyPr/>
          <a:lstStyle/>
          <a:p>
            <a:pPr>
              <a:tabLst>
                <a:tab pos="1947863" algn="l"/>
                <a:tab pos="2684463" algn="l"/>
                <a:tab pos="3594100" algn="l"/>
                <a:tab pos="4286250" algn="l"/>
              </a:tabLst>
            </a:pPr>
            <a:r>
              <a:rPr lang="en-US" altLang="en-US" dirty="0"/>
              <a:t>The following concurrent schedule does not preserve the value of (</a:t>
            </a:r>
            <a:r>
              <a:rPr lang="en-US" altLang="en-US" i="1" dirty="0"/>
              <a:t>A </a:t>
            </a:r>
            <a:r>
              <a:rPr lang="en-US" altLang="en-US" dirty="0"/>
              <a:t>+ </a:t>
            </a:r>
            <a:r>
              <a:rPr lang="en-US" altLang="en-US" i="1" dirty="0"/>
              <a:t>B</a:t>
            </a:r>
            <a:r>
              <a:rPr lang="en-US" altLang="en-US" dirty="0"/>
              <a:t> </a:t>
            </a:r>
            <a:r>
              <a:rPr lang="en-US" altLang="en-US" i="1" dirty="0"/>
              <a:t>)</a:t>
            </a:r>
            <a:r>
              <a:rPr lang="en-US" altLang="en-US" dirty="0"/>
              <a:t>.			</a:t>
            </a:r>
            <a:endParaRPr lang="en-US" altLang="en-US" i="1" dirty="0"/>
          </a:p>
        </p:txBody>
      </p:sp>
      <p:pic>
        <p:nvPicPr>
          <p:cNvPr id="18436"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7100" y="1630359"/>
            <a:ext cx="2713038" cy="338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Serializability</a:t>
            </a:r>
          </a:p>
        </p:txBody>
      </p:sp>
      <p:sp>
        <p:nvSpPr>
          <p:cNvPr id="19459" name="Rectangle 3"/>
          <p:cNvSpPr>
            <a:spLocks noGrp="1" noChangeArrowheads="1"/>
          </p:cNvSpPr>
          <p:nvPr>
            <p:ph idx="1"/>
          </p:nvPr>
        </p:nvSpPr>
        <p:spPr>
          <a:xfrm>
            <a:off x="683580" y="1102497"/>
            <a:ext cx="8046083" cy="5367972"/>
          </a:xfrm>
        </p:spPr>
        <p:txBody>
          <a:bodyPr/>
          <a:lstStyle/>
          <a:p>
            <a:r>
              <a:rPr lang="en-US" altLang="en-US" b="1" dirty="0"/>
              <a:t>Basic Assumption</a:t>
            </a:r>
            <a:r>
              <a:rPr lang="en-US" altLang="en-US" dirty="0"/>
              <a:t> – Each transaction preserves database consistency.</a:t>
            </a:r>
          </a:p>
          <a:p>
            <a:r>
              <a:rPr lang="en-US" altLang="en-US" dirty="0"/>
              <a:t>Thus, serial execution of a set of transactions preserves database consistency.</a:t>
            </a:r>
          </a:p>
          <a:p>
            <a:r>
              <a:rPr lang="en-US" altLang="en-US" dirty="0"/>
              <a:t>A (possibly concurrent) schedule is serializable if it is equivalent to a serial schedule.  Different forms of schedule equivalence give rise to the notions of:</a:t>
            </a:r>
          </a:p>
          <a:p>
            <a:pPr lvl="1">
              <a:buFont typeface="Monotype Sorts" charset="2"/>
              <a:buNone/>
            </a:pPr>
            <a:r>
              <a:rPr lang="en-US" altLang="en-US" dirty="0"/>
              <a:t>1.	</a:t>
            </a:r>
            <a:r>
              <a:rPr lang="en-US" altLang="en-US" b="1" dirty="0">
                <a:solidFill>
                  <a:srgbClr val="000099"/>
                </a:solidFill>
              </a:rPr>
              <a:t>C</a:t>
            </a:r>
            <a:r>
              <a:rPr lang="en-US" altLang="en-US" b="1" dirty="0" smtClean="0">
                <a:solidFill>
                  <a:srgbClr val="000099"/>
                </a:solidFill>
              </a:rPr>
              <a:t>onflict </a:t>
            </a:r>
            <a:r>
              <a:rPr lang="en-US" altLang="en-US" b="1" dirty="0">
                <a:solidFill>
                  <a:srgbClr val="000099"/>
                </a:solidFill>
              </a:rPr>
              <a:t>serializability</a:t>
            </a:r>
          </a:p>
          <a:p>
            <a:pPr lvl="1">
              <a:buFont typeface="Monotype Sorts" charset="2"/>
              <a:buNone/>
            </a:pPr>
            <a:r>
              <a:rPr lang="en-US" altLang="en-US" dirty="0"/>
              <a:t>2.	</a:t>
            </a:r>
            <a:r>
              <a:rPr lang="en-US" altLang="en-US" b="1" dirty="0">
                <a:solidFill>
                  <a:srgbClr val="000099"/>
                </a:solidFill>
              </a:rPr>
              <a:t>V</a:t>
            </a:r>
            <a:r>
              <a:rPr lang="en-US" altLang="en-US" b="1" dirty="0" smtClean="0">
                <a:solidFill>
                  <a:srgbClr val="000099"/>
                </a:solidFill>
              </a:rPr>
              <a:t>iew </a:t>
            </a:r>
            <a:r>
              <a:rPr lang="en-US" altLang="en-US" b="1" dirty="0">
                <a:solidFill>
                  <a:srgbClr val="000099"/>
                </a:solidFill>
              </a:rPr>
              <a:t>serializability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p:txBody>
          <a:bodyPr/>
          <a:lstStyle/>
          <a:p>
            <a:pPr>
              <a:defRPr/>
            </a:pPr>
            <a:r>
              <a:rPr lang="en-US" i="1">
                <a:effectLst>
                  <a:outerShdw blurRad="38100" dist="38100" dir="2700000" algn="tl">
                    <a:srgbClr val="C0C0C0"/>
                  </a:outerShdw>
                </a:effectLst>
              </a:rPr>
              <a:t>Simplified view of transactions</a:t>
            </a:r>
          </a:p>
        </p:txBody>
      </p:sp>
      <p:sp>
        <p:nvSpPr>
          <p:cNvPr id="20483" name="Rectangle 3"/>
          <p:cNvSpPr>
            <a:spLocks noGrp="1" noChangeArrowheads="1"/>
          </p:cNvSpPr>
          <p:nvPr>
            <p:ph idx="1"/>
          </p:nvPr>
        </p:nvSpPr>
        <p:spPr>
          <a:xfrm>
            <a:off x="674703" y="1102497"/>
            <a:ext cx="7874494" cy="5367972"/>
          </a:xfrm>
        </p:spPr>
        <p:txBody>
          <a:bodyPr/>
          <a:lstStyle/>
          <a:p>
            <a:r>
              <a:rPr lang="en-US" altLang="en-US" dirty="0"/>
              <a:t>We ignore operations other than </a:t>
            </a:r>
            <a:r>
              <a:rPr lang="en-US" altLang="en-US" b="1" dirty="0"/>
              <a:t>read</a:t>
            </a:r>
            <a:r>
              <a:rPr lang="en-US" altLang="en-US" dirty="0"/>
              <a:t> and </a:t>
            </a:r>
            <a:r>
              <a:rPr lang="en-US" altLang="en-US" b="1" dirty="0"/>
              <a:t>write</a:t>
            </a:r>
            <a:r>
              <a:rPr lang="en-US" altLang="en-US" dirty="0"/>
              <a:t> instructions</a:t>
            </a:r>
          </a:p>
          <a:p>
            <a:r>
              <a:rPr lang="en-US" altLang="en-US" dirty="0"/>
              <a:t>We assume that transactions may perform arbitrary computations on data in local buffers in between reads and writes.  </a:t>
            </a:r>
          </a:p>
          <a:p>
            <a:r>
              <a:rPr lang="en-US" altLang="en-US" dirty="0"/>
              <a:t>Our simplified schedules consist of only </a:t>
            </a:r>
            <a:r>
              <a:rPr lang="en-US" altLang="en-US" b="1" dirty="0"/>
              <a:t>read</a:t>
            </a:r>
            <a:r>
              <a:rPr lang="en-US" altLang="en-US" dirty="0"/>
              <a:t> and </a:t>
            </a:r>
            <a:r>
              <a:rPr lang="en-US" altLang="en-US" b="1" dirty="0"/>
              <a:t>write </a:t>
            </a:r>
            <a:r>
              <a:rPr lang="en-US" altLang="en-US" dirty="0"/>
              <a:t>instructions.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Conflicting Instructions </a:t>
            </a:r>
          </a:p>
        </p:txBody>
      </p:sp>
      <p:sp>
        <p:nvSpPr>
          <p:cNvPr id="21507" name="Rectangle 3"/>
          <p:cNvSpPr>
            <a:spLocks noGrp="1" noChangeArrowheads="1"/>
          </p:cNvSpPr>
          <p:nvPr>
            <p:ph idx="1"/>
          </p:nvPr>
        </p:nvSpPr>
        <p:spPr>
          <a:xfrm>
            <a:off x="692458" y="1102497"/>
            <a:ext cx="7750206" cy="5367972"/>
          </a:xfrm>
        </p:spPr>
        <p:txBody>
          <a:bodyPr/>
          <a:lstStyle/>
          <a:p>
            <a:r>
              <a:rPr lang="en-US" altLang="en-US" dirty="0"/>
              <a:t>Instructions </a:t>
            </a:r>
            <a:r>
              <a:rPr lang="en-US" altLang="en-US" i="1" dirty="0"/>
              <a:t>l</a:t>
            </a:r>
            <a:r>
              <a:rPr lang="en-US" altLang="en-US" i="1" baseline="-25000" dirty="0"/>
              <a:t>i</a:t>
            </a:r>
            <a:r>
              <a:rPr lang="en-US" altLang="en-US" dirty="0"/>
              <a:t> and </a:t>
            </a:r>
            <a:r>
              <a:rPr lang="en-US" altLang="en-US" i="1" dirty="0" err="1"/>
              <a:t>l</a:t>
            </a:r>
            <a:r>
              <a:rPr lang="en-US" altLang="en-US" i="1" baseline="-25000" dirty="0" err="1"/>
              <a:t>j</a:t>
            </a:r>
            <a:r>
              <a:rPr lang="en-US" altLang="en-US" dirty="0"/>
              <a:t> of transactions </a:t>
            </a:r>
            <a:r>
              <a:rPr lang="en-US" altLang="en-US" i="1" dirty="0"/>
              <a:t>T</a:t>
            </a:r>
            <a:r>
              <a:rPr lang="en-US" altLang="en-US" i="1" baseline="-25000" dirty="0"/>
              <a:t>i</a:t>
            </a:r>
            <a:r>
              <a:rPr lang="en-US" altLang="en-US" dirty="0"/>
              <a:t> and </a:t>
            </a:r>
            <a:r>
              <a:rPr lang="en-US" altLang="en-US" i="1" dirty="0"/>
              <a:t>T</a:t>
            </a:r>
            <a:r>
              <a:rPr lang="en-US" altLang="en-US" i="1" baseline="-25000" dirty="0"/>
              <a:t>j</a:t>
            </a:r>
            <a:r>
              <a:rPr lang="en-US" altLang="en-US" dirty="0"/>
              <a:t> respectively, </a:t>
            </a:r>
            <a:r>
              <a:rPr lang="en-US" altLang="en-US" b="1" dirty="0">
                <a:solidFill>
                  <a:srgbClr val="000099"/>
                </a:solidFill>
              </a:rPr>
              <a:t>conflict</a:t>
            </a:r>
            <a:r>
              <a:rPr lang="en-US" altLang="en-US" dirty="0"/>
              <a:t> if and only if there exists some item </a:t>
            </a:r>
            <a:r>
              <a:rPr lang="en-US" altLang="en-US" i="1" dirty="0"/>
              <a:t>Q</a:t>
            </a:r>
            <a:r>
              <a:rPr lang="en-US" altLang="en-US" dirty="0"/>
              <a:t> accessed by both </a:t>
            </a:r>
            <a:r>
              <a:rPr lang="en-US" altLang="en-US" i="1" dirty="0"/>
              <a:t>l</a:t>
            </a:r>
            <a:r>
              <a:rPr lang="en-US" altLang="en-US" i="1" baseline="-25000" dirty="0"/>
              <a:t>i</a:t>
            </a:r>
            <a:r>
              <a:rPr lang="en-US" altLang="en-US" dirty="0"/>
              <a:t> and </a:t>
            </a:r>
            <a:r>
              <a:rPr lang="en-US" altLang="en-US" i="1" dirty="0" err="1"/>
              <a:t>l</a:t>
            </a:r>
            <a:r>
              <a:rPr lang="en-US" altLang="en-US" i="1" baseline="-25000" dirty="0" err="1"/>
              <a:t>j</a:t>
            </a:r>
            <a:r>
              <a:rPr lang="en-US" altLang="en-US" dirty="0"/>
              <a:t>, and at least one of these instructions wrote </a:t>
            </a:r>
            <a:r>
              <a:rPr lang="en-US" altLang="en-US" i="1" dirty="0"/>
              <a:t>Q.</a:t>
            </a:r>
            <a:endParaRPr lang="en-US" altLang="en-US" dirty="0"/>
          </a:p>
          <a:p>
            <a:pPr>
              <a:buFont typeface="Monotype Sorts" charset="2"/>
              <a:buNone/>
            </a:pPr>
            <a:r>
              <a:rPr lang="en-US" altLang="en-US" dirty="0"/>
              <a:t>	   1.   </a:t>
            </a:r>
            <a:r>
              <a:rPr lang="en-US" altLang="en-US" i="1" dirty="0"/>
              <a:t>l</a:t>
            </a:r>
            <a:r>
              <a:rPr lang="en-US" altLang="en-US" i="1" baseline="-25000" dirty="0"/>
              <a:t>i</a:t>
            </a:r>
            <a:r>
              <a:rPr lang="en-US" altLang="en-US" dirty="0"/>
              <a:t> = </a:t>
            </a:r>
            <a:r>
              <a:rPr lang="en-US" altLang="en-US" b="1" dirty="0"/>
              <a:t>read</a:t>
            </a:r>
            <a:r>
              <a:rPr lang="en-US" altLang="en-US" dirty="0"/>
              <a:t>(</a:t>
            </a:r>
            <a:r>
              <a:rPr lang="en-US" altLang="en-US" i="1" dirty="0"/>
              <a:t>Q), </a:t>
            </a:r>
            <a:r>
              <a:rPr lang="en-US" altLang="en-US" i="1" dirty="0" err="1"/>
              <a:t>l</a:t>
            </a:r>
            <a:r>
              <a:rPr lang="en-US" altLang="en-US" i="1" baseline="-25000" dirty="0" err="1"/>
              <a:t>j</a:t>
            </a:r>
            <a:r>
              <a:rPr lang="en-US" altLang="en-US" i="1" dirty="0"/>
              <a:t> = </a:t>
            </a:r>
            <a:r>
              <a:rPr lang="en-US" altLang="en-US" b="1" dirty="0"/>
              <a:t>read</a:t>
            </a:r>
            <a:r>
              <a:rPr lang="en-US" altLang="en-US" dirty="0"/>
              <a:t>(</a:t>
            </a:r>
            <a:r>
              <a:rPr lang="en-US" altLang="en-US" i="1" dirty="0"/>
              <a:t>Q</a:t>
            </a:r>
            <a:r>
              <a:rPr lang="en-US" altLang="en-US" dirty="0"/>
              <a:t>).   </a:t>
            </a:r>
            <a:r>
              <a:rPr lang="en-US" altLang="en-US" i="1" dirty="0"/>
              <a:t>l</a:t>
            </a:r>
            <a:r>
              <a:rPr lang="en-US" altLang="en-US" i="1" baseline="-25000" dirty="0"/>
              <a:t>i</a:t>
            </a:r>
            <a:r>
              <a:rPr lang="en-US" altLang="en-US" dirty="0"/>
              <a:t> and </a:t>
            </a:r>
            <a:r>
              <a:rPr lang="en-US" altLang="en-US" i="1" dirty="0" err="1"/>
              <a:t>l</a:t>
            </a:r>
            <a:r>
              <a:rPr lang="en-US" altLang="en-US" i="1" baseline="-25000" dirty="0" err="1"/>
              <a:t>j</a:t>
            </a:r>
            <a:r>
              <a:rPr lang="en-US" altLang="en-US" i="1" dirty="0"/>
              <a:t> </a:t>
            </a:r>
            <a:r>
              <a:rPr lang="en-US" altLang="en-US" dirty="0"/>
              <a:t>don</a:t>
            </a:r>
            <a:r>
              <a:rPr lang="ja-JP" altLang="en-US" dirty="0"/>
              <a:t>’</a:t>
            </a:r>
            <a:r>
              <a:rPr lang="en-US" altLang="ja-JP" dirty="0"/>
              <a:t>t conflict.</a:t>
            </a:r>
            <a:br>
              <a:rPr lang="en-US" altLang="ja-JP" dirty="0"/>
            </a:br>
            <a:r>
              <a:rPr lang="en-US" altLang="ja-JP" dirty="0"/>
              <a:t>   2.   </a:t>
            </a:r>
            <a:r>
              <a:rPr lang="en-US" altLang="ja-JP" i="1" dirty="0"/>
              <a:t>l</a:t>
            </a:r>
            <a:r>
              <a:rPr lang="en-US" altLang="ja-JP" i="1" baseline="-25000" dirty="0"/>
              <a:t>i</a:t>
            </a:r>
            <a:r>
              <a:rPr lang="en-US" altLang="ja-JP" dirty="0"/>
              <a:t> = </a:t>
            </a:r>
            <a:r>
              <a:rPr lang="en-US" altLang="ja-JP" b="1" dirty="0"/>
              <a:t>read</a:t>
            </a:r>
            <a:r>
              <a:rPr lang="en-US" altLang="ja-JP" dirty="0"/>
              <a:t>(</a:t>
            </a:r>
            <a:r>
              <a:rPr lang="en-US" altLang="ja-JP" i="1" dirty="0"/>
              <a:t>Q),  </a:t>
            </a:r>
            <a:r>
              <a:rPr lang="en-US" altLang="ja-JP" i="1" dirty="0" err="1"/>
              <a:t>l</a:t>
            </a:r>
            <a:r>
              <a:rPr lang="en-US" altLang="ja-JP" i="1" baseline="-25000" dirty="0" err="1"/>
              <a:t>j</a:t>
            </a:r>
            <a:r>
              <a:rPr lang="en-US" altLang="ja-JP" i="1" dirty="0"/>
              <a:t> = </a:t>
            </a:r>
            <a:r>
              <a:rPr lang="en-US" altLang="ja-JP" b="1" dirty="0"/>
              <a:t>write</a:t>
            </a:r>
            <a:r>
              <a:rPr lang="en-US" altLang="ja-JP" dirty="0"/>
              <a:t>(</a:t>
            </a:r>
            <a:r>
              <a:rPr lang="en-US" altLang="ja-JP" i="1" dirty="0"/>
              <a:t>Q</a:t>
            </a:r>
            <a:r>
              <a:rPr lang="en-US" altLang="ja-JP" dirty="0"/>
              <a:t>).  They conflict.</a:t>
            </a:r>
            <a:br>
              <a:rPr lang="en-US" altLang="ja-JP" dirty="0"/>
            </a:br>
            <a:r>
              <a:rPr lang="en-US" altLang="ja-JP" dirty="0"/>
              <a:t>   3.   </a:t>
            </a:r>
            <a:r>
              <a:rPr lang="en-US" altLang="ja-JP" i="1" dirty="0"/>
              <a:t>l</a:t>
            </a:r>
            <a:r>
              <a:rPr lang="en-US" altLang="ja-JP" i="1" baseline="-25000" dirty="0"/>
              <a:t>i</a:t>
            </a:r>
            <a:r>
              <a:rPr lang="en-US" altLang="ja-JP" dirty="0"/>
              <a:t> = </a:t>
            </a:r>
            <a:r>
              <a:rPr lang="en-US" altLang="ja-JP" b="1" dirty="0"/>
              <a:t>write</a:t>
            </a:r>
            <a:r>
              <a:rPr lang="en-US" altLang="ja-JP" dirty="0"/>
              <a:t>(</a:t>
            </a:r>
            <a:r>
              <a:rPr lang="en-US" altLang="ja-JP" i="1" dirty="0"/>
              <a:t>Q), </a:t>
            </a:r>
            <a:r>
              <a:rPr lang="en-US" altLang="ja-JP" i="1" dirty="0" err="1"/>
              <a:t>l</a:t>
            </a:r>
            <a:r>
              <a:rPr lang="en-US" altLang="ja-JP" i="1" baseline="-25000" dirty="0" err="1"/>
              <a:t>j</a:t>
            </a:r>
            <a:r>
              <a:rPr lang="en-US" altLang="ja-JP" i="1" dirty="0"/>
              <a:t> = </a:t>
            </a:r>
            <a:r>
              <a:rPr lang="en-US" altLang="ja-JP" b="1" dirty="0"/>
              <a:t>read</a:t>
            </a:r>
            <a:r>
              <a:rPr lang="en-US" altLang="ja-JP" dirty="0"/>
              <a:t>(</a:t>
            </a:r>
            <a:r>
              <a:rPr lang="en-US" altLang="ja-JP" i="1" dirty="0"/>
              <a:t>Q</a:t>
            </a:r>
            <a:r>
              <a:rPr lang="en-US" altLang="ja-JP" dirty="0"/>
              <a:t>).   They conflict</a:t>
            </a:r>
            <a:br>
              <a:rPr lang="en-US" altLang="ja-JP" dirty="0"/>
            </a:br>
            <a:r>
              <a:rPr lang="en-US" altLang="ja-JP" dirty="0"/>
              <a:t>   4.   </a:t>
            </a:r>
            <a:r>
              <a:rPr lang="en-US" altLang="ja-JP" i="1" dirty="0"/>
              <a:t>l</a:t>
            </a:r>
            <a:r>
              <a:rPr lang="en-US" altLang="ja-JP" i="1" baseline="-25000" dirty="0"/>
              <a:t>i</a:t>
            </a:r>
            <a:r>
              <a:rPr lang="en-US" altLang="ja-JP" dirty="0"/>
              <a:t> = </a:t>
            </a:r>
            <a:r>
              <a:rPr lang="en-US" altLang="ja-JP" b="1" dirty="0"/>
              <a:t>write</a:t>
            </a:r>
            <a:r>
              <a:rPr lang="en-US" altLang="ja-JP" dirty="0"/>
              <a:t>(</a:t>
            </a:r>
            <a:r>
              <a:rPr lang="en-US" altLang="ja-JP" i="1" dirty="0"/>
              <a:t>Q), </a:t>
            </a:r>
            <a:r>
              <a:rPr lang="en-US" altLang="ja-JP" i="1" dirty="0" err="1"/>
              <a:t>l</a:t>
            </a:r>
            <a:r>
              <a:rPr lang="en-US" altLang="ja-JP" i="1" baseline="-25000" dirty="0" err="1"/>
              <a:t>j</a:t>
            </a:r>
            <a:r>
              <a:rPr lang="en-US" altLang="ja-JP" i="1" dirty="0"/>
              <a:t> = </a:t>
            </a:r>
            <a:r>
              <a:rPr lang="en-US" altLang="ja-JP" b="1" dirty="0"/>
              <a:t>write</a:t>
            </a:r>
            <a:r>
              <a:rPr lang="en-US" altLang="ja-JP" dirty="0"/>
              <a:t>(</a:t>
            </a:r>
            <a:r>
              <a:rPr lang="en-US" altLang="ja-JP" i="1" dirty="0"/>
              <a:t>Q</a:t>
            </a:r>
            <a:r>
              <a:rPr lang="en-US" altLang="ja-JP" dirty="0"/>
              <a:t>).  They conflict</a:t>
            </a:r>
          </a:p>
          <a:p>
            <a:r>
              <a:rPr lang="en-US" altLang="en-US" dirty="0"/>
              <a:t>Intuitively, a conflict between </a:t>
            </a:r>
            <a:r>
              <a:rPr lang="en-US" altLang="en-US" i="1" dirty="0"/>
              <a:t>l</a:t>
            </a:r>
            <a:r>
              <a:rPr lang="en-US" altLang="en-US" i="1" baseline="-25000" dirty="0"/>
              <a:t>i</a:t>
            </a:r>
            <a:r>
              <a:rPr lang="en-US" altLang="en-US" i="1" dirty="0"/>
              <a:t> </a:t>
            </a:r>
            <a:r>
              <a:rPr lang="en-US" altLang="en-US" dirty="0"/>
              <a:t>and </a:t>
            </a:r>
            <a:r>
              <a:rPr lang="en-US" altLang="en-US" i="1" dirty="0" err="1"/>
              <a:t>l</a:t>
            </a:r>
            <a:r>
              <a:rPr lang="en-US" altLang="en-US" i="1" baseline="-25000" dirty="0" err="1"/>
              <a:t>j</a:t>
            </a:r>
            <a:r>
              <a:rPr lang="en-US" altLang="en-US" dirty="0"/>
              <a:t> forces a (logical) temporal order between them.  </a:t>
            </a:r>
          </a:p>
          <a:p>
            <a:r>
              <a:rPr lang="en-US" altLang="en-US" dirty="0" smtClean="0"/>
              <a:t>If </a:t>
            </a:r>
            <a:r>
              <a:rPr lang="en-US" altLang="en-US" i="1" dirty="0"/>
              <a:t>l</a:t>
            </a:r>
            <a:r>
              <a:rPr lang="en-US" altLang="en-US" i="1" baseline="-25000" dirty="0"/>
              <a:t>i</a:t>
            </a:r>
            <a:r>
              <a:rPr lang="en-US" altLang="en-US" dirty="0"/>
              <a:t> and </a:t>
            </a:r>
            <a:r>
              <a:rPr lang="en-US" altLang="en-US" i="1" dirty="0" err="1"/>
              <a:t>l</a:t>
            </a:r>
            <a:r>
              <a:rPr lang="en-US" altLang="en-US" i="1" baseline="-25000" dirty="0" err="1"/>
              <a:t>j</a:t>
            </a:r>
            <a:r>
              <a:rPr lang="en-US" altLang="en-US" dirty="0"/>
              <a:t> are consecutive in a schedule and they do not conflict, their results would remain the same even if they had been interchanged in the schedule.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a:t>
            </a:r>
          </a:p>
        </p:txBody>
      </p:sp>
      <p:sp>
        <p:nvSpPr>
          <p:cNvPr id="22531" name="Rectangle 3"/>
          <p:cNvSpPr>
            <a:spLocks noGrp="1" noChangeArrowheads="1"/>
          </p:cNvSpPr>
          <p:nvPr>
            <p:ph idx="1"/>
          </p:nvPr>
        </p:nvSpPr>
        <p:spPr>
          <a:xfrm>
            <a:off x="683581" y="1102497"/>
            <a:ext cx="7750206" cy="5367972"/>
          </a:xfrm>
        </p:spPr>
        <p:txBody>
          <a:bodyPr/>
          <a:lstStyle/>
          <a:p>
            <a:pPr>
              <a:tabLst>
                <a:tab pos="2222500" algn="l"/>
                <a:tab pos="2568575" algn="l"/>
                <a:tab pos="3319463" algn="l"/>
                <a:tab pos="3594100" algn="l"/>
              </a:tabLst>
            </a:pPr>
            <a:r>
              <a:rPr lang="en-US" altLang="en-US" dirty="0"/>
              <a:t>If a schedule </a:t>
            </a:r>
            <a:r>
              <a:rPr lang="en-US" altLang="en-US" i="1" dirty="0"/>
              <a:t>S</a:t>
            </a:r>
            <a:r>
              <a:rPr lang="en-US" altLang="en-US" dirty="0"/>
              <a:t> can be transformed into a schedule </a:t>
            </a:r>
            <a:r>
              <a:rPr lang="en-US" altLang="en-US" i="1" dirty="0"/>
              <a:t>S’ </a:t>
            </a:r>
            <a:r>
              <a:rPr lang="en-US" altLang="en-US" dirty="0"/>
              <a:t>by a series of swaps of non-conflicting instructions, we say that </a:t>
            </a:r>
            <a:r>
              <a:rPr lang="en-US" altLang="en-US" i="1" dirty="0"/>
              <a:t>S</a:t>
            </a:r>
            <a:r>
              <a:rPr lang="en-US" altLang="en-US" dirty="0"/>
              <a:t> and </a:t>
            </a:r>
            <a:r>
              <a:rPr lang="en-US" altLang="en-US" i="1" dirty="0"/>
              <a:t>S’ </a:t>
            </a:r>
            <a:r>
              <a:rPr lang="en-US" altLang="en-US" dirty="0"/>
              <a:t>are </a:t>
            </a:r>
            <a:r>
              <a:rPr lang="en-US" altLang="en-US" b="1" dirty="0">
                <a:solidFill>
                  <a:srgbClr val="000099"/>
                </a:solidFill>
              </a:rPr>
              <a:t>conflict equivalent</a:t>
            </a:r>
            <a:r>
              <a:rPr lang="en-US" altLang="en-US" i="1" dirty="0"/>
              <a:t>.</a:t>
            </a:r>
            <a:endParaRPr lang="en-US" altLang="en-US" dirty="0"/>
          </a:p>
          <a:p>
            <a:pPr>
              <a:tabLst>
                <a:tab pos="2222500" algn="l"/>
                <a:tab pos="2568575" algn="l"/>
                <a:tab pos="3319463" algn="l"/>
                <a:tab pos="3594100" algn="l"/>
              </a:tabLst>
            </a:pPr>
            <a:r>
              <a:rPr lang="en-US" altLang="en-US" dirty="0"/>
              <a:t>We say that a schedule </a:t>
            </a:r>
            <a:r>
              <a:rPr lang="en-US" altLang="en-US" i="1" dirty="0"/>
              <a:t>S</a:t>
            </a:r>
            <a:r>
              <a:rPr lang="en-US" altLang="en-US" dirty="0"/>
              <a:t> is </a:t>
            </a:r>
            <a:r>
              <a:rPr lang="en-US" altLang="en-US" b="1" dirty="0">
                <a:solidFill>
                  <a:srgbClr val="000099"/>
                </a:solidFill>
              </a:rPr>
              <a:t>conflict serializable</a:t>
            </a:r>
            <a:r>
              <a:rPr lang="en-US" altLang="en-US" dirty="0"/>
              <a:t> if it is conflict equivalent to a serial schedule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 (Cont.)</a:t>
            </a:r>
          </a:p>
        </p:txBody>
      </p:sp>
      <p:sp>
        <p:nvSpPr>
          <p:cNvPr id="23555" name="Rectangle 3"/>
          <p:cNvSpPr>
            <a:spLocks noGrp="1" noChangeArrowheads="1"/>
          </p:cNvSpPr>
          <p:nvPr>
            <p:ph idx="1"/>
          </p:nvPr>
        </p:nvSpPr>
        <p:spPr>
          <a:xfrm>
            <a:off x="683580" y="1102497"/>
            <a:ext cx="8161969" cy="5367972"/>
          </a:xfrm>
        </p:spPr>
        <p:txBody>
          <a:bodyPr/>
          <a:lstStyle/>
          <a:p>
            <a:pPr>
              <a:tabLst>
                <a:tab pos="2063750" algn="l"/>
                <a:tab pos="2511425" algn="l"/>
                <a:tab pos="3262313" algn="l"/>
                <a:tab pos="3881438" algn="l"/>
              </a:tabLst>
            </a:pPr>
            <a:r>
              <a:rPr lang="en-US" altLang="en-US" dirty="0"/>
              <a:t>Schedule 3 can be transformed into Schedule 6, a serial schedule where </a:t>
            </a:r>
            <a:r>
              <a:rPr lang="en-US" altLang="en-US" i="1" dirty="0"/>
              <a:t>T</a:t>
            </a:r>
            <a:r>
              <a:rPr lang="en-US" altLang="en-US" baseline="-25000" dirty="0"/>
              <a:t>2</a:t>
            </a:r>
            <a:r>
              <a:rPr lang="en-US" altLang="en-US" dirty="0"/>
              <a:t> follows </a:t>
            </a:r>
            <a:r>
              <a:rPr lang="en-US" altLang="en-US" i="1" dirty="0"/>
              <a:t>T</a:t>
            </a:r>
            <a:r>
              <a:rPr lang="en-US" altLang="en-US" baseline="-25000" dirty="0"/>
              <a:t>1</a:t>
            </a:r>
            <a:r>
              <a:rPr lang="en-US" altLang="en-US" dirty="0"/>
              <a:t>, by series of swaps of non-conflicting instructions.  Therefore Schedule 3 is conflict serializable.</a:t>
            </a:r>
          </a:p>
        </p:txBody>
      </p:sp>
      <p:sp>
        <p:nvSpPr>
          <p:cNvPr id="23556" name="Text Box 11"/>
          <p:cNvSpPr txBox="1">
            <a:spLocks noChangeArrowheads="1"/>
          </p:cNvSpPr>
          <p:nvPr/>
        </p:nvSpPr>
        <p:spPr bwMode="auto">
          <a:xfrm>
            <a:off x="2209808" y="4922827"/>
            <a:ext cx="127951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700" dirty="0"/>
              <a:t>Schedule 3</a:t>
            </a:r>
          </a:p>
        </p:txBody>
      </p:sp>
      <p:sp>
        <p:nvSpPr>
          <p:cNvPr id="23557" name="Text Box 12"/>
          <p:cNvSpPr txBox="1">
            <a:spLocks noChangeArrowheads="1"/>
          </p:cNvSpPr>
          <p:nvPr/>
        </p:nvSpPr>
        <p:spPr bwMode="auto">
          <a:xfrm>
            <a:off x="6105533" y="4926006"/>
            <a:ext cx="127951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700" dirty="0"/>
              <a:t>Schedule 6</a:t>
            </a:r>
          </a:p>
        </p:txBody>
      </p:sp>
      <p:pic>
        <p:nvPicPr>
          <p:cNvPr id="23558"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3200" y="2217729"/>
            <a:ext cx="3040063" cy="246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6200" y="2200272"/>
            <a:ext cx="3111500" cy="228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Conflict Serializability (Cont.)</a:t>
            </a:r>
          </a:p>
        </p:txBody>
      </p:sp>
      <p:sp>
        <p:nvSpPr>
          <p:cNvPr id="24579" name="Rectangle 3"/>
          <p:cNvSpPr>
            <a:spLocks noGrp="1" noChangeArrowheads="1"/>
          </p:cNvSpPr>
          <p:nvPr>
            <p:ph idx="1"/>
          </p:nvPr>
        </p:nvSpPr>
        <p:spPr>
          <a:xfrm>
            <a:off x="701336" y="1102497"/>
            <a:ext cx="7688062" cy="5367972"/>
          </a:xfrm>
        </p:spPr>
        <p:txBody>
          <a:bodyPr/>
          <a:lstStyle/>
          <a:p>
            <a:pPr>
              <a:tabLst>
                <a:tab pos="2222500" algn="l"/>
                <a:tab pos="2568575" algn="l"/>
                <a:tab pos="3319463" algn="l"/>
                <a:tab pos="3594100" algn="l"/>
              </a:tabLst>
            </a:pPr>
            <a:r>
              <a:rPr lang="en-US" altLang="en-US" dirty="0"/>
              <a:t>Example of a schedule that is not conflict serializable:</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pPr>
              <a:tabLst>
                <a:tab pos="2222500" algn="l"/>
                <a:tab pos="2568575" algn="l"/>
                <a:tab pos="3319463" algn="l"/>
                <a:tab pos="3594100" algn="l"/>
              </a:tabLst>
            </a:pPr>
            <a:r>
              <a:rPr lang="en-US" altLang="en-US" dirty="0"/>
              <a:t>We are unable to swap instructions in the above schedule to obtain either the serial schedule &lt; </a:t>
            </a:r>
            <a:r>
              <a:rPr lang="en-US" altLang="en-US" i="1" dirty="0"/>
              <a:t>T</a:t>
            </a:r>
            <a:r>
              <a:rPr lang="en-US" altLang="en-US" baseline="-25000" dirty="0"/>
              <a:t>3</a:t>
            </a:r>
            <a:r>
              <a:rPr lang="en-US" altLang="en-US" dirty="0"/>
              <a:t>, </a:t>
            </a:r>
            <a:r>
              <a:rPr lang="en-US" altLang="en-US" i="1" dirty="0"/>
              <a:t>T</a:t>
            </a:r>
            <a:r>
              <a:rPr lang="en-US" altLang="en-US" baseline="-25000" dirty="0"/>
              <a:t>4</a:t>
            </a:r>
            <a:r>
              <a:rPr lang="en-US" altLang="en-US" dirty="0"/>
              <a:t> &gt;, or the serial schedule &lt; </a:t>
            </a:r>
            <a:r>
              <a:rPr lang="en-US" altLang="en-US" i="1" dirty="0"/>
              <a:t>T</a:t>
            </a:r>
            <a:r>
              <a:rPr lang="en-US" altLang="en-US" baseline="-25000" dirty="0"/>
              <a:t>4</a:t>
            </a:r>
            <a:r>
              <a:rPr lang="en-US" altLang="en-US" dirty="0"/>
              <a:t>, </a:t>
            </a:r>
            <a:r>
              <a:rPr lang="en-US" altLang="en-US" i="1" dirty="0"/>
              <a:t>T</a:t>
            </a:r>
            <a:r>
              <a:rPr lang="en-US" altLang="en-US" baseline="-25000" dirty="0"/>
              <a:t>3</a:t>
            </a:r>
            <a:r>
              <a:rPr lang="en-US" altLang="en-US" dirty="0"/>
              <a:t> &gt;.</a:t>
            </a:r>
          </a:p>
        </p:txBody>
      </p:sp>
      <p:pic>
        <p:nvPicPr>
          <p:cNvPr id="2458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0380" y="1557335"/>
            <a:ext cx="2840037"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View Serializability</a:t>
            </a:r>
          </a:p>
        </p:txBody>
      </p:sp>
      <p:sp>
        <p:nvSpPr>
          <p:cNvPr id="25603" name="Rectangle 3"/>
          <p:cNvSpPr>
            <a:spLocks noGrp="1" noChangeArrowheads="1"/>
          </p:cNvSpPr>
          <p:nvPr>
            <p:ph idx="1"/>
          </p:nvPr>
        </p:nvSpPr>
        <p:spPr>
          <a:xfrm>
            <a:off x="692458" y="1102497"/>
            <a:ext cx="7937192" cy="5367972"/>
          </a:xfrm>
        </p:spPr>
        <p:txBody>
          <a:bodyPr/>
          <a:lstStyle/>
          <a:p>
            <a:pPr>
              <a:defRPr/>
            </a:pPr>
            <a:r>
              <a:rPr lang="en-US" dirty="0"/>
              <a:t>Let </a:t>
            </a:r>
            <a:r>
              <a:rPr lang="en-US" i="1" dirty="0"/>
              <a:t>S</a:t>
            </a:r>
            <a:r>
              <a:rPr lang="en-US" dirty="0"/>
              <a:t> and </a:t>
            </a:r>
            <a:r>
              <a:rPr lang="en-US" i="1" dirty="0"/>
              <a:t>S’</a:t>
            </a:r>
            <a:r>
              <a:rPr lang="en-IN" dirty="0"/>
              <a:t> </a:t>
            </a:r>
            <a:r>
              <a:rPr lang="en-US" dirty="0"/>
              <a:t>be two schedules with the same set of transactions.  </a:t>
            </a:r>
            <a:r>
              <a:rPr lang="en-US" i="1" dirty="0"/>
              <a:t>S</a:t>
            </a:r>
            <a:r>
              <a:rPr lang="en-US" dirty="0"/>
              <a:t> and </a:t>
            </a:r>
            <a:r>
              <a:rPr lang="en-US" i="1" dirty="0"/>
              <a:t>S’ </a:t>
            </a:r>
            <a:r>
              <a:rPr lang="en-US" dirty="0"/>
              <a:t>are </a:t>
            </a:r>
            <a:r>
              <a:rPr lang="en-US" b="1" dirty="0">
                <a:solidFill>
                  <a:srgbClr val="000099"/>
                </a:solidFill>
              </a:rPr>
              <a:t>view equivalent</a:t>
            </a:r>
            <a:r>
              <a:rPr lang="en-US" i="1" dirty="0"/>
              <a:t> </a:t>
            </a:r>
            <a:r>
              <a:rPr lang="en-US" dirty="0"/>
              <a:t>if the following three conditions are met, for each data item </a:t>
            </a:r>
            <a:r>
              <a:rPr lang="en-US" i="1" dirty="0"/>
              <a:t>Q,</a:t>
            </a:r>
            <a:r>
              <a:rPr lang="en-US" dirty="0"/>
              <a:t> </a:t>
            </a:r>
          </a:p>
          <a:p>
            <a:pPr marL="457200" lvl="1" indent="0">
              <a:spcBef>
                <a:spcPts val="0"/>
              </a:spcBef>
              <a:buNone/>
              <a:defRPr/>
            </a:pPr>
            <a:r>
              <a:rPr lang="en-US" dirty="0">
                <a:solidFill>
                  <a:srgbClr val="FF9900"/>
                </a:solidFill>
              </a:rPr>
              <a:t>1.   </a:t>
            </a:r>
            <a:r>
              <a:rPr lang="en-US" dirty="0"/>
              <a:t>If in schedule S, transaction </a:t>
            </a:r>
            <a:r>
              <a:rPr lang="en-US" i="1" dirty="0"/>
              <a:t>T</a:t>
            </a:r>
            <a:r>
              <a:rPr lang="en-US" i="1" baseline="-25000" dirty="0"/>
              <a:t>i</a:t>
            </a:r>
            <a:r>
              <a:rPr lang="en-US" i="1" dirty="0"/>
              <a:t> </a:t>
            </a:r>
            <a:r>
              <a:rPr lang="en-US" dirty="0"/>
              <a:t>reads the initial value of </a:t>
            </a:r>
            <a:r>
              <a:rPr lang="en-US" i="1" dirty="0"/>
              <a:t>Q</a:t>
            </a:r>
            <a:r>
              <a:rPr lang="en-US" dirty="0"/>
              <a:t>, then in </a:t>
            </a:r>
          </a:p>
          <a:p>
            <a:pPr marL="457200" lvl="1" indent="0">
              <a:spcBef>
                <a:spcPts val="0"/>
              </a:spcBef>
              <a:buNone/>
              <a:defRPr/>
            </a:pPr>
            <a:r>
              <a:rPr lang="en-US" dirty="0"/>
              <a:t>      schedule </a:t>
            </a:r>
            <a:r>
              <a:rPr lang="en-US" i="1" dirty="0"/>
              <a:t>S</a:t>
            </a:r>
            <a:r>
              <a:rPr lang="en-IN" i="1" dirty="0"/>
              <a:t>’</a:t>
            </a:r>
            <a:r>
              <a:rPr lang="en-US" altLang="ja-JP" dirty="0"/>
              <a:t> also transaction </a:t>
            </a:r>
            <a:r>
              <a:rPr lang="en-US" altLang="ja-JP" i="1" dirty="0"/>
              <a:t>T</a:t>
            </a:r>
            <a:r>
              <a:rPr lang="en-US" altLang="ja-JP" i="1" baseline="-25000" dirty="0"/>
              <a:t>i</a:t>
            </a:r>
            <a:r>
              <a:rPr lang="en-US" altLang="ja-JP" i="1" dirty="0"/>
              <a:t> </a:t>
            </a:r>
            <a:r>
              <a:rPr lang="en-US" altLang="ja-JP" dirty="0"/>
              <a:t> must read the initial value of </a:t>
            </a:r>
            <a:r>
              <a:rPr lang="en-US" altLang="ja-JP" i="1" dirty="0"/>
              <a:t>Q.</a:t>
            </a:r>
          </a:p>
          <a:p>
            <a:pPr marL="457200" lvl="1" indent="0">
              <a:spcBef>
                <a:spcPts val="0"/>
              </a:spcBef>
              <a:buNone/>
              <a:defRPr/>
            </a:pPr>
            <a:r>
              <a:rPr lang="en-US" dirty="0">
                <a:solidFill>
                  <a:srgbClr val="FF9900"/>
                </a:solidFill>
              </a:rPr>
              <a:t>2.</a:t>
            </a:r>
            <a:r>
              <a:rPr lang="en-US" dirty="0"/>
              <a:t>   If in schedule S transaction </a:t>
            </a:r>
            <a:r>
              <a:rPr lang="en-US" i="1" dirty="0"/>
              <a:t>T</a:t>
            </a:r>
            <a:r>
              <a:rPr lang="en-US" i="1" baseline="-25000" dirty="0"/>
              <a:t>i</a:t>
            </a:r>
            <a:r>
              <a:rPr lang="en-US" i="1" dirty="0"/>
              <a:t> </a:t>
            </a:r>
            <a:r>
              <a:rPr lang="en-US" dirty="0"/>
              <a:t>executes </a:t>
            </a:r>
            <a:r>
              <a:rPr lang="en-US" b="1" dirty="0"/>
              <a:t>read</a:t>
            </a:r>
            <a:r>
              <a:rPr lang="en-US" dirty="0"/>
              <a:t>(</a:t>
            </a:r>
            <a:r>
              <a:rPr lang="en-US" i="1" dirty="0"/>
              <a:t>Q)</a:t>
            </a:r>
            <a:r>
              <a:rPr lang="en-US" dirty="0"/>
              <a:t>, and that value was </a:t>
            </a:r>
          </a:p>
          <a:p>
            <a:pPr marL="457200" lvl="1" indent="0">
              <a:spcBef>
                <a:spcPts val="0"/>
              </a:spcBef>
              <a:buNone/>
              <a:defRPr/>
            </a:pPr>
            <a:r>
              <a:rPr lang="en-US" dirty="0"/>
              <a:t>      produced by transaction </a:t>
            </a:r>
            <a:r>
              <a:rPr lang="en-US" i="1" dirty="0"/>
              <a:t>T</a:t>
            </a:r>
            <a:r>
              <a:rPr lang="en-US" i="1" baseline="-25000" dirty="0"/>
              <a:t>j</a:t>
            </a:r>
            <a:r>
              <a:rPr lang="en-US" dirty="0"/>
              <a:t> </a:t>
            </a:r>
            <a:r>
              <a:rPr lang="en-US" i="1" dirty="0"/>
              <a:t> </a:t>
            </a:r>
            <a:r>
              <a:rPr lang="en-US" dirty="0"/>
              <a:t>(if any), then in schedule </a:t>
            </a:r>
            <a:r>
              <a:rPr lang="en-US" i="1" dirty="0"/>
              <a:t>S</a:t>
            </a:r>
            <a:r>
              <a:rPr lang="en-IN" i="1" dirty="0"/>
              <a:t>’</a:t>
            </a:r>
            <a:r>
              <a:rPr lang="en-US" altLang="ja-JP" dirty="0"/>
              <a:t> also </a:t>
            </a:r>
          </a:p>
          <a:p>
            <a:pPr marL="457200" lvl="1" indent="0">
              <a:spcBef>
                <a:spcPts val="0"/>
              </a:spcBef>
              <a:buNone/>
              <a:defRPr/>
            </a:pPr>
            <a:r>
              <a:rPr lang="en-US" altLang="ja-JP" dirty="0"/>
              <a:t>      transaction </a:t>
            </a:r>
            <a:r>
              <a:rPr lang="en-US" altLang="ja-JP" i="1" dirty="0"/>
              <a:t>T</a:t>
            </a:r>
            <a:r>
              <a:rPr lang="en-US" altLang="ja-JP" i="1" baseline="-25000" dirty="0"/>
              <a:t>i</a:t>
            </a:r>
            <a:r>
              <a:rPr lang="en-US" altLang="ja-JP" dirty="0"/>
              <a:t> must read the value of </a:t>
            </a:r>
            <a:r>
              <a:rPr lang="en-US" altLang="ja-JP" i="1" dirty="0"/>
              <a:t>Q</a:t>
            </a:r>
            <a:r>
              <a:rPr lang="en-US" altLang="ja-JP" dirty="0"/>
              <a:t> that was produced by the </a:t>
            </a:r>
          </a:p>
          <a:p>
            <a:pPr marL="457200" lvl="1" indent="0">
              <a:spcBef>
                <a:spcPts val="0"/>
              </a:spcBef>
              <a:buNone/>
              <a:defRPr/>
            </a:pPr>
            <a:r>
              <a:rPr lang="en-US" altLang="ja-JP" dirty="0"/>
              <a:t>      same </a:t>
            </a:r>
            <a:r>
              <a:rPr lang="en-US" altLang="ja-JP" b="1" dirty="0"/>
              <a:t>write</a:t>
            </a:r>
            <a:r>
              <a:rPr lang="en-US" altLang="ja-JP" dirty="0"/>
              <a:t>(Q) operation of transaction </a:t>
            </a:r>
            <a:r>
              <a:rPr lang="en-US" altLang="ja-JP" i="1" dirty="0"/>
              <a:t>T</a:t>
            </a:r>
            <a:r>
              <a:rPr lang="en-US" altLang="ja-JP" i="1" baseline="-25000" dirty="0"/>
              <a:t>j</a:t>
            </a:r>
            <a:r>
              <a:rPr lang="en-US" altLang="ja-JP" dirty="0"/>
              <a:t> .</a:t>
            </a:r>
          </a:p>
          <a:p>
            <a:pPr marL="457200" lvl="1" indent="0">
              <a:spcBef>
                <a:spcPts val="0"/>
              </a:spcBef>
              <a:buNone/>
              <a:defRPr/>
            </a:pPr>
            <a:r>
              <a:rPr lang="en-US" dirty="0">
                <a:solidFill>
                  <a:srgbClr val="FF9900"/>
                </a:solidFill>
              </a:rPr>
              <a:t>3.   </a:t>
            </a:r>
            <a:r>
              <a:rPr lang="en-US" dirty="0"/>
              <a:t>The transaction (if any) that performs the final </a:t>
            </a:r>
            <a:r>
              <a:rPr lang="en-US" b="1" dirty="0"/>
              <a:t>write</a:t>
            </a:r>
            <a:r>
              <a:rPr lang="en-US" dirty="0"/>
              <a:t>(</a:t>
            </a:r>
            <a:r>
              <a:rPr lang="en-US" i="1" dirty="0"/>
              <a:t>Q</a:t>
            </a:r>
            <a:r>
              <a:rPr lang="en-US" dirty="0"/>
              <a:t>) operation in </a:t>
            </a:r>
          </a:p>
          <a:p>
            <a:pPr marL="457200" lvl="1" indent="0">
              <a:spcBef>
                <a:spcPts val="0"/>
              </a:spcBef>
              <a:buNone/>
              <a:defRPr/>
            </a:pPr>
            <a:r>
              <a:rPr lang="en-US" dirty="0"/>
              <a:t>      schedule </a:t>
            </a:r>
            <a:r>
              <a:rPr lang="en-US" i="1" dirty="0"/>
              <a:t>S </a:t>
            </a:r>
            <a:r>
              <a:rPr lang="en-US" dirty="0"/>
              <a:t>must also perform the final</a:t>
            </a:r>
            <a:r>
              <a:rPr lang="en-US" i="1" dirty="0"/>
              <a:t> </a:t>
            </a:r>
            <a:r>
              <a:rPr lang="en-US" b="1" dirty="0"/>
              <a:t>write</a:t>
            </a:r>
            <a:r>
              <a:rPr lang="en-US" dirty="0"/>
              <a:t>(</a:t>
            </a:r>
            <a:r>
              <a:rPr lang="en-US" i="1" dirty="0"/>
              <a:t>Q</a:t>
            </a:r>
            <a:r>
              <a:rPr lang="en-US" dirty="0"/>
              <a:t>) operation in schedule </a:t>
            </a:r>
            <a:r>
              <a:rPr lang="en-US" i="1" dirty="0"/>
              <a:t>S</a:t>
            </a:r>
            <a:r>
              <a:rPr lang="en-IN" altLang="ja-JP" i="1" dirty="0"/>
              <a:t>’</a:t>
            </a:r>
            <a:r>
              <a:rPr lang="en-US" altLang="ja-JP" i="1" dirty="0"/>
              <a:t>.</a:t>
            </a:r>
          </a:p>
          <a:p>
            <a:pPr marL="400050">
              <a:defRPr/>
            </a:pPr>
            <a:r>
              <a:rPr lang="en-US" dirty="0"/>
              <a:t>As can be seen, view equivalence is also based purely on </a:t>
            </a:r>
            <a:r>
              <a:rPr lang="en-US" b="1" dirty="0"/>
              <a:t>reads </a:t>
            </a:r>
            <a:r>
              <a:rPr lang="en-US" dirty="0"/>
              <a:t>and </a:t>
            </a:r>
            <a:r>
              <a:rPr lang="en-US" b="1" dirty="0"/>
              <a:t>writes</a:t>
            </a:r>
            <a:r>
              <a:rPr lang="en-US" dirty="0"/>
              <a:t> alone.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View Serializability (Cont.)</a:t>
            </a:r>
          </a:p>
        </p:txBody>
      </p:sp>
      <p:sp>
        <p:nvSpPr>
          <p:cNvPr id="26627" name="Rectangle 3"/>
          <p:cNvSpPr>
            <a:spLocks noGrp="1" noChangeArrowheads="1"/>
          </p:cNvSpPr>
          <p:nvPr>
            <p:ph idx="1"/>
          </p:nvPr>
        </p:nvSpPr>
        <p:spPr>
          <a:xfrm>
            <a:off x="683580" y="1102497"/>
            <a:ext cx="7634797" cy="5367972"/>
          </a:xfrm>
        </p:spPr>
        <p:txBody>
          <a:bodyPr/>
          <a:lstStyle/>
          <a:p>
            <a:pPr>
              <a:tabLst>
                <a:tab pos="1890713" algn="l"/>
                <a:tab pos="2338388" algn="l"/>
                <a:tab pos="2914650" algn="l"/>
                <a:tab pos="3203575" algn="l"/>
                <a:tab pos="3881438" algn="l"/>
                <a:tab pos="4286250" algn="l"/>
              </a:tabLst>
            </a:pPr>
            <a:r>
              <a:rPr lang="en-US" altLang="en-US"/>
              <a:t>A schedule </a:t>
            </a:r>
            <a:r>
              <a:rPr lang="en-US" altLang="en-US" i="1"/>
              <a:t>S</a:t>
            </a:r>
            <a:r>
              <a:rPr lang="en-US" altLang="en-US"/>
              <a:t> is </a:t>
            </a:r>
            <a:r>
              <a:rPr lang="en-US" altLang="en-US" b="1">
                <a:solidFill>
                  <a:srgbClr val="000099"/>
                </a:solidFill>
              </a:rPr>
              <a:t>view serializable</a:t>
            </a:r>
            <a:r>
              <a:rPr lang="en-US" altLang="en-US" i="1"/>
              <a:t> </a:t>
            </a:r>
            <a:r>
              <a:rPr lang="en-US" altLang="en-US"/>
              <a:t>if it is view equivalent to a serial schedule.</a:t>
            </a:r>
          </a:p>
          <a:p>
            <a:pPr>
              <a:tabLst>
                <a:tab pos="1890713" algn="l"/>
                <a:tab pos="2338388" algn="l"/>
                <a:tab pos="2914650" algn="l"/>
                <a:tab pos="3203575" algn="l"/>
                <a:tab pos="3881438" algn="l"/>
                <a:tab pos="4286250" algn="l"/>
              </a:tabLst>
            </a:pPr>
            <a:r>
              <a:rPr lang="en-US" altLang="en-US"/>
              <a:t>Every conflict serializable schedule is also view serializable.</a:t>
            </a:r>
          </a:p>
          <a:p>
            <a:pPr>
              <a:tabLst>
                <a:tab pos="1890713" algn="l"/>
                <a:tab pos="2338388" algn="l"/>
                <a:tab pos="2914650" algn="l"/>
                <a:tab pos="3203575" algn="l"/>
                <a:tab pos="3881438" algn="l"/>
                <a:tab pos="4286250" algn="l"/>
              </a:tabLst>
            </a:pPr>
            <a:r>
              <a:rPr lang="en-US" altLang="en-US"/>
              <a:t>Below is a schedule which is view-serializable but </a:t>
            </a:r>
            <a:r>
              <a:rPr lang="en-US" altLang="en-US" i="1"/>
              <a:t>not </a:t>
            </a:r>
            <a:r>
              <a:rPr lang="en-US" altLang="en-US"/>
              <a:t>conflict serializable.</a:t>
            </a:r>
            <a:br>
              <a:rPr lang="en-US" altLang="en-US"/>
            </a:br>
            <a:endParaRPr lang="en-US" altLang="en-US"/>
          </a:p>
          <a:p>
            <a:pPr>
              <a:buFont typeface="Monotype Sorts" charset="2"/>
              <a:buNone/>
              <a:tabLst>
                <a:tab pos="1890713" algn="l"/>
                <a:tab pos="2338388" algn="l"/>
                <a:tab pos="2914650" algn="l"/>
                <a:tab pos="3203575" algn="l"/>
                <a:tab pos="3881438" algn="l"/>
                <a:tab pos="4286250" algn="l"/>
              </a:tabLst>
            </a:pPr>
            <a:r>
              <a:rPr lang="en-US" altLang="en-US"/>
              <a:t>		</a:t>
            </a:r>
          </a:p>
          <a:p>
            <a:pPr>
              <a:buFont typeface="Monotype Sorts" charset="2"/>
              <a:buNone/>
              <a:tabLst>
                <a:tab pos="1890713" algn="l"/>
                <a:tab pos="2338388" algn="l"/>
                <a:tab pos="2914650" algn="l"/>
                <a:tab pos="3203575" algn="l"/>
                <a:tab pos="3881438" algn="l"/>
                <a:tab pos="4286250" algn="l"/>
              </a:tabLst>
            </a:pPr>
            <a:endParaRPr lang="en-US" altLang="en-US"/>
          </a:p>
          <a:p>
            <a:pPr>
              <a:tabLst>
                <a:tab pos="1890713" algn="l"/>
                <a:tab pos="2338388" algn="l"/>
                <a:tab pos="2914650" algn="l"/>
                <a:tab pos="3203575" algn="l"/>
                <a:tab pos="3881438" algn="l"/>
                <a:tab pos="4286250" algn="l"/>
              </a:tabLst>
            </a:pPr>
            <a:endParaRPr lang="en-US" altLang="en-US"/>
          </a:p>
          <a:p>
            <a:pPr>
              <a:buFont typeface="Monotype Sorts" charset="2"/>
              <a:buNone/>
              <a:tabLst>
                <a:tab pos="1890713" algn="l"/>
                <a:tab pos="2338388" algn="l"/>
                <a:tab pos="2914650" algn="l"/>
                <a:tab pos="3203575" algn="l"/>
                <a:tab pos="3881438" algn="l"/>
                <a:tab pos="4286250" algn="l"/>
              </a:tabLst>
            </a:pPr>
            <a:endParaRPr lang="en-US" altLang="en-US"/>
          </a:p>
          <a:p>
            <a:pPr>
              <a:tabLst>
                <a:tab pos="1890713" algn="l"/>
                <a:tab pos="2338388" algn="l"/>
                <a:tab pos="2914650" algn="l"/>
                <a:tab pos="3203575" algn="l"/>
                <a:tab pos="3881438" algn="l"/>
                <a:tab pos="4286250" algn="l"/>
              </a:tabLst>
            </a:pPr>
            <a:r>
              <a:rPr lang="en-US" altLang="en-US"/>
              <a:t>What serial schedule is above equivalent to?</a:t>
            </a:r>
          </a:p>
          <a:p>
            <a:pPr>
              <a:tabLst>
                <a:tab pos="1890713" algn="l"/>
                <a:tab pos="2338388" algn="l"/>
                <a:tab pos="2914650" algn="l"/>
                <a:tab pos="3203575" algn="l"/>
                <a:tab pos="3881438" algn="l"/>
                <a:tab pos="4286250" algn="l"/>
              </a:tabLst>
            </a:pPr>
            <a:r>
              <a:rPr lang="en-US" altLang="en-US"/>
              <a:t>Every view serializable schedule that is not conflict serializable has </a:t>
            </a:r>
            <a:r>
              <a:rPr lang="en-US" altLang="en-US" b="1">
                <a:solidFill>
                  <a:srgbClr val="000099"/>
                </a:solidFill>
              </a:rPr>
              <a:t>blind writes</a:t>
            </a:r>
            <a:r>
              <a:rPr lang="en-US" altLang="en-US" b="1"/>
              <a:t>.</a:t>
            </a:r>
          </a:p>
        </p:txBody>
      </p:sp>
      <p:pic>
        <p:nvPicPr>
          <p:cNvPr id="26628" name="Picture 4" descr="New PDF from Images Output-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77613" y="2590707"/>
            <a:ext cx="2936875"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Other Notions of Serializability</a:t>
            </a:r>
          </a:p>
        </p:txBody>
      </p:sp>
      <p:sp>
        <p:nvSpPr>
          <p:cNvPr id="27651" name="Rectangle 3"/>
          <p:cNvSpPr>
            <a:spLocks noGrp="1" noChangeArrowheads="1"/>
          </p:cNvSpPr>
          <p:nvPr>
            <p:ph idx="1"/>
          </p:nvPr>
        </p:nvSpPr>
        <p:spPr>
          <a:xfrm>
            <a:off x="683581" y="1102497"/>
            <a:ext cx="7066626" cy="5367972"/>
          </a:xfrm>
        </p:spPr>
        <p:txBody>
          <a:bodyPr/>
          <a:lstStyle/>
          <a:p>
            <a:pPr>
              <a:tabLst>
                <a:tab pos="2120900" algn="l"/>
                <a:tab pos="2568575" algn="l"/>
                <a:tab pos="3600450" algn="l"/>
                <a:tab pos="3940175" algn="l"/>
              </a:tabLst>
            </a:pPr>
            <a:r>
              <a:rPr lang="en-US" altLang="en-US" dirty="0"/>
              <a:t>The schedule below produces same outcome as the serial schedule &lt; </a:t>
            </a:r>
            <a:r>
              <a:rPr lang="en-US" altLang="en-US" i="1" dirty="0"/>
              <a:t>T</a:t>
            </a:r>
            <a:r>
              <a:rPr lang="en-US" altLang="en-US" baseline="-25000" dirty="0"/>
              <a:t>1</a:t>
            </a:r>
            <a:r>
              <a:rPr lang="en-US" altLang="en-US" dirty="0"/>
              <a:t>,</a:t>
            </a:r>
            <a:r>
              <a:rPr lang="en-US" altLang="en-US" baseline="-25000" dirty="0"/>
              <a:t> </a:t>
            </a:r>
            <a:r>
              <a:rPr lang="en-US" altLang="en-US" i="1" dirty="0"/>
              <a:t>T</a:t>
            </a:r>
            <a:r>
              <a:rPr lang="en-US" altLang="en-US" baseline="-25000" dirty="0"/>
              <a:t>5</a:t>
            </a:r>
            <a:r>
              <a:rPr lang="en-US" altLang="en-US" dirty="0"/>
              <a:t> &gt;, yet is not conflict equivalent or view equivalent to it.</a:t>
            </a:r>
          </a:p>
          <a:p>
            <a:pPr>
              <a:buFont typeface="Monotype Sorts" charset="2"/>
              <a:buNone/>
              <a:tabLst>
                <a:tab pos="2120900" algn="l"/>
                <a:tab pos="2568575" algn="l"/>
                <a:tab pos="3600450" algn="l"/>
                <a:tab pos="3940175" algn="l"/>
              </a:tabLst>
            </a:pPr>
            <a:r>
              <a:rPr lang="en-US" altLang="en-US" dirty="0"/>
              <a:t>		</a:t>
            </a:r>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a:p>
            <a:pPr>
              <a:buFont typeface="Monotype Sorts" charset="2"/>
              <a:buNone/>
              <a:tabLst>
                <a:tab pos="2120900" algn="l"/>
                <a:tab pos="2568575" algn="l"/>
                <a:tab pos="3600450" algn="l"/>
                <a:tab pos="3940175" algn="l"/>
              </a:tabLst>
            </a:pPr>
            <a:r>
              <a:rPr lang="en-US" altLang="en-US" dirty="0"/>
              <a:t/>
            </a:r>
            <a:br>
              <a:rPr lang="en-US" altLang="en-US" dirty="0"/>
            </a:br>
            <a:r>
              <a:rPr lang="en-US" altLang="en-US" dirty="0"/>
              <a:t/>
            </a:r>
            <a:br>
              <a:rPr lang="en-US" altLang="en-US" dirty="0"/>
            </a:br>
            <a:endParaRPr lang="en-US" altLang="en-US" dirty="0"/>
          </a:p>
          <a:p>
            <a:pPr>
              <a:buFont typeface="Monotype Sorts" charset="2"/>
              <a:buNone/>
              <a:tabLst>
                <a:tab pos="2120900" algn="l"/>
                <a:tab pos="2568575" algn="l"/>
                <a:tab pos="3600450" algn="l"/>
                <a:tab pos="3940175" algn="l"/>
              </a:tabLst>
            </a:pPr>
            <a:endParaRPr lang="en-US" altLang="en-US" dirty="0"/>
          </a:p>
          <a:p>
            <a:pPr>
              <a:tabLst>
                <a:tab pos="2120900" algn="l"/>
                <a:tab pos="2568575" algn="l"/>
                <a:tab pos="3600450" algn="l"/>
                <a:tab pos="3940175" algn="l"/>
              </a:tabLst>
            </a:pPr>
            <a:r>
              <a:rPr lang="en-US" altLang="en-US" dirty="0"/>
              <a:t>Determining such equivalence requires analysis of operations other than read and write.</a:t>
            </a:r>
          </a:p>
          <a:p>
            <a:pPr>
              <a:tabLst>
                <a:tab pos="2120900" algn="l"/>
                <a:tab pos="2568575" algn="l"/>
                <a:tab pos="3600450" algn="l"/>
                <a:tab pos="3940175" algn="l"/>
              </a:tabLst>
            </a:pPr>
            <a:endParaRPr lang="en-US" altLang="en-US" dirty="0"/>
          </a:p>
          <a:p>
            <a:pPr>
              <a:tabLst>
                <a:tab pos="2120900" algn="l"/>
                <a:tab pos="2568575" algn="l"/>
                <a:tab pos="3600450" algn="l"/>
                <a:tab pos="3940175" algn="l"/>
              </a:tabLst>
            </a:pPr>
            <a:endParaRPr lang="en-US" altLang="en-US" dirty="0"/>
          </a:p>
        </p:txBody>
      </p:sp>
      <p:pic>
        <p:nvPicPr>
          <p:cNvPr id="27652"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4799" y="1966118"/>
            <a:ext cx="2844800" cy="292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pPr>
              <a:defRPr/>
            </a:pPr>
            <a:r>
              <a:rPr lang="en-US" dirty="0" smtClean="0">
                <a:effectLst>
                  <a:outerShdw blurRad="38100" dist="38100" dir="2700000" algn="tl">
                    <a:srgbClr val="C0C0C0"/>
                  </a:outerShdw>
                </a:effectLst>
              </a:rPr>
              <a:t>Testing for Serializability </a:t>
            </a:r>
            <a:endParaRPr lang="en-US" dirty="0">
              <a:effectLst>
                <a:outerShdw blurRad="38100" dist="38100" dir="2700000" algn="tl">
                  <a:srgbClr val="C0C0C0"/>
                </a:outerShdw>
              </a:effectLst>
            </a:endParaRPr>
          </a:p>
        </p:txBody>
      </p:sp>
      <p:sp>
        <p:nvSpPr>
          <p:cNvPr id="28675" name="Rectangle 3"/>
          <p:cNvSpPr>
            <a:spLocks noGrp="1" noChangeArrowheads="1"/>
          </p:cNvSpPr>
          <p:nvPr>
            <p:ph idx="1"/>
          </p:nvPr>
        </p:nvSpPr>
        <p:spPr>
          <a:xfrm>
            <a:off x="692458" y="1102497"/>
            <a:ext cx="7522855" cy="5367972"/>
          </a:xfrm>
        </p:spPr>
        <p:txBody>
          <a:bodyPr/>
          <a:lstStyle/>
          <a:p>
            <a:r>
              <a:rPr lang="en-US" altLang="en-US" dirty="0"/>
              <a:t>Consider some schedule of a set of transactions </a:t>
            </a:r>
            <a:r>
              <a:rPr lang="en-US" altLang="en-US" i="1" dirty="0"/>
              <a:t>T</a:t>
            </a:r>
            <a:r>
              <a:rPr lang="en-US" altLang="en-US" baseline="-25000" dirty="0"/>
              <a:t>1</a:t>
            </a:r>
            <a:r>
              <a:rPr lang="en-US" altLang="en-US" dirty="0"/>
              <a:t>, </a:t>
            </a:r>
            <a:r>
              <a:rPr lang="en-US" altLang="en-US" i="1" dirty="0"/>
              <a:t>T</a:t>
            </a:r>
            <a:r>
              <a:rPr lang="en-US" altLang="en-US" baseline="-25000" dirty="0"/>
              <a:t>2</a:t>
            </a:r>
            <a:r>
              <a:rPr lang="en-US" altLang="en-US" dirty="0"/>
              <a:t>, ..., </a:t>
            </a:r>
            <a:r>
              <a:rPr lang="en-US" altLang="en-US" i="1" dirty="0"/>
              <a:t>T</a:t>
            </a:r>
            <a:r>
              <a:rPr lang="en-US" altLang="en-US" i="1" baseline="-25000" dirty="0"/>
              <a:t>n</a:t>
            </a:r>
            <a:endParaRPr lang="en-US" altLang="en-US" dirty="0"/>
          </a:p>
          <a:p>
            <a:r>
              <a:rPr lang="en-US" altLang="en-US" b="1" dirty="0">
                <a:solidFill>
                  <a:srgbClr val="000099"/>
                </a:solidFill>
              </a:rPr>
              <a:t>Precedence graph</a:t>
            </a:r>
            <a:r>
              <a:rPr lang="en-US" altLang="en-US" i="1" dirty="0"/>
              <a:t> </a:t>
            </a:r>
            <a:r>
              <a:rPr lang="en-US" altLang="en-US" dirty="0"/>
              <a:t>— a direct graph where the vertices are the transactions (names).</a:t>
            </a:r>
          </a:p>
          <a:p>
            <a:r>
              <a:rPr lang="en-US" altLang="en-US" dirty="0"/>
              <a:t>We draw an arc from </a:t>
            </a:r>
            <a:r>
              <a:rPr lang="en-US" altLang="en-US" i="1" dirty="0"/>
              <a:t>T</a:t>
            </a:r>
            <a:r>
              <a:rPr lang="en-US" altLang="en-US" i="1" baseline="-25000" dirty="0"/>
              <a:t>i</a:t>
            </a:r>
            <a:r>
              <a:rPr lang="en-US" altLang="en-US" i="1" dirty="0"/>
              <a:t> </a:t>
            </a:r>
            <a:r>
              <a:rPr lang="en-US" altLang="en-US" dirty="0"/>
              <a:t>to </a:t>
            </a:r>
            <a:r>
              <a:rPr lang="en-US" altLang="en-US" i="1" dirty="0"/>
              <a:t>T</a:t>
            </a:r>
            <a:r>
              <a:rPr lang="en-US" altLang="en-US" i="1" baseline="-25000" dirty="0"/>
              <a:t>j</a:t>
            </a:r>
            <a:r>
              <a:rPr lang="en-US" altLang="en-US" i="1" dirty="0"/>
              <a:t> </a:t>
            </a:r>
            <a:r>
              <a:rPr lang="en-US" altLang="en-US" dirty="0"/>
              <a:t>if the two transaction conflict, and </a:t>
            </a:r>
            <a:r>
              <a:rPr lang="en-US" altLang="en-US" i="1" dirty="0"/>
              <a:t>T</a:t>
            </a:r>
            <a:r>
              <a:rPr lang="en-US" altLang="en-US" i="1" baseline="-25000" dirty="0"/>
              <a:t>i</a:t>
            </a:r>
            <a:r>
              <a:rPr lang="en-US" altLang="en-US" i="1" dirty="0"/>
              <a:t> </a:t>
            </a:r>
            <a:r>
              <a:rPr lang="en-US" altLang="en-US" dirty="0"/>
              <a:t>accessed the data item on which the conflict arose earlier.</a:t>
            </a:r>
          </a:p>
          <a:p>
            <a:r>
              <a:rPr lang="en-US" altLang="en-US" dirty="0"/>
              <a:t>We may label the arc by the item that was accessed.</a:t>
            </a:r>
          </a:p>
          <a:p>
            <a:r>
              <a:rPr lang="en-US" altLang="en-US" dirty="0"/>
              <a:t>Example</a:t>
            </a:r>
            <a:r>
              <a:rPr lang="en-US" altLang="en-US" b="1" dirty="0"/>
              <a:t> </a:t>
            </a:r>
            <a:r>
              <a:rPr lang="en-US" altLang="en-US" dirty="0" smtClean="0"/>
              <a:t>of a precedence graph</a:t>
            </a:r>
            <a:endParaRPr lang="en-US" altLang="en-US" dirty="0"/>
          </a:p>
        </p:txBody>
      </p:sp>
      <p:pic>
        <p:nvPicPr>
          <p:cNvPr id="28676"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6379" y="3471867"/>
            <a:ext cx="2174782"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 for Conflict Serializability</a:t>
            </a:r>
          </a:p>
        </p:txBody>
      </p:sp>
      <p:sp>
        <p:nvSpPr>
          <p:cNvPr id="29699" name="Rectangle 3"/>
          <p:cNvSpPr>
            <a:spLocks noGrp="1" noChangeArrowheads="1"/>
          </p:cNvSpPr>
          <p:nvPr>
            <p:ph idx="1"/>
          </p:nvPr>
        </p:nvSpPr>
        <p:spPr>
          <a:xfrm>
            <a:off x="665825" y="1102497"/>
            <a:ext cx="4919966" cy="5367972"/>
          </a:xfrm>
        </p:spPr>
        <p:txBody>
          <a:bodyPr/>
          <a:lstStyle/>
          <a:p>
            <a:r>
              <a:rPr lang="en-US" altLang="en-US" dirty="0"/>
              <a:t>A schedule is conflict serializable if and only if its precedence graph is acyclic.</a:t>
            </a:r>
          </a:p>
          <a:p>
            <a:r>
              <a:rPr lang="en-US" altLang="en-US" dirty="0"/>
              <a:t>Cycle-detection algorithms exist which take order </a:t>
            </a:r>
            <a:r>
              <a:rPr lang="en-US" altLang="en-US" i="1" dirty="0"/>
              <a:t>n</a:t>
            </a:r>
            <a:r>
              <a:rPr lang="en-US" altLang="en-US" baseline="30000" dirty="0"/>
              <a:t>2</a:t>
            </a:r>
            <a:r>
              <a:rPr lang="en-US" altLang="en-US" dirty="0"/>
              <a:t> time, where </a:t>
            </a:r>
            <a:r>
              <a:rPr lang="en-US" altLang="en-US" i="1" dirty="0"/>
              <a:t>n </a:t>
            </a:r>
            <a:r>
              <a:rPr lang="en-US" altLang="en-US" dirty="0"/>
              <a:t>is the number of vertices in the graph.  </a:t>
            </a:r>
          </a:p>
          <a:p>
            <a:pPr lvl="1"/>
            <a:r>
              <a:rPr lang="en-US" altLang="en-US" dirty="0"/>
              <a:t>(Better algorithms take order </a:t>
            </a:r>
            <a:r>
              <a:rPr lang="en-US" altLang="en-US" i="1" dirty="0"/>
              <a:t>n</a:t>
            </a:r>
            <a:r>
              <a:rPr lang="en-US" altLang="en-US" dirty="0"/>
              <a:t> + </a:t>
            </a:r>
            <a:r>
              <a:rPr lang="en-US" altLang="en-US" i="1" dirty="0"/>
              <a:t>e</a:t>
            </a:r>
            <a:r>
              <a:rPr lang="en-US" altLang="en-US" dirty="0"/>
              <a:t> where </a:t>
            </a:r>
            <a:r>
              <a:rPr lang="en-US" altLang="en-US" i="1" dirty="0"/>
              <a:t>e</a:t>
            </a:r>
            <a:r>
              <a:rPr lang="en-US" altLang="en-US" dirty="0"/>
              <a:t> is the number of edges.)</a:t>
            </a:r>
          </a:p>
          <a:p>
            <a:r>
              <a:rPr lang="en-US" altLang="en-US" dirty="0"/>
              <a:t>If precedence graph is acyclic, the serializability order can be obtained by a </a:t>
            </a:r>
            <a:r>
              <a:rPr lang="en-US" altLang="en-US" i="1" dirty="0">
                <a:solidFill>
                  <a:srgbClr val="000099"/>
                </a:solidFill>
              </a:rPr>
              <a:t>topological sorting</a:t>
            </a:r>
            <a:r>
              <a:rPr lang="en-US" altLang="en-US" dirty="0"/>
              <a:t> of the graph. </a:t>
            </a:r>
          </a:p>
          <a:p>
            <a:pPr lvl="1"/>
            <a:r>
              <a:rPr lang="en-US" altLang="en-US" dirty="0"/>
              <a:t> This is a linear order consistent with the partial order of the graph.</a:t>
            </a:r>
          </a:p>
          <a:p>
            <a:pPr lvl="1"/>
            <a:r>
              <a:rPr lang="en-US" altLang="en-US" dirty="0"/>
              <a:t>For example, a serializability order for Schedule A would be</a:t>
            </a:r>
            <a:br>
              <a:rPr lang="en-US" altLang="en-US" dirty="0"/>
            </a:br>
            <a:r>
              <a:rPr lang="en-US" altLang="en-US" i="1" dirty="0"/>
              <a:t>T</a:t>
            </a:r>
            <a:r>
              <a:rPr lang="en-US" altLang="en-US" baseline="-25000" dirty="0"/>
              <a:t>5</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1</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3</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2</a:t>
            </a:r>
            <a:r>
              <a:rPr lang="en-US" altLang="en-US" dirty="0"/>
              <a:t> </a:t>
            </a:r>
            <a:r>
              <a:rPr lang="en-US" altLang="en-US" dirty="0">
                <a:sym typeface="Symbol" panose="05050102010706020507" pitchFamily="18" charset="2"/>
              </a:rPr>
              <a:t></a:t>
            </a:r>
            <a:r>
              <a:rPr lang="en-US" altLang="en-US" dirty="0">
                <a:sym typeface="Monotype Sorts" charset="2"/>
              </a:rPr>
              <a:t> </a:t>
            </a:r>
            <a:r>
              <a:rPr lang="en-US" altLang="en-US" i="1" dirty="0"/>
              <a:t>T</a:t>
            </a:r>
            <a:r>
              <a:rPr lang="en-US" altLang="en-US" baseline="-25000" dirty="0"/>
              <a:t>4</a:t>
            </a:r>
            <a:endParaRPr lang="en-US" altLang="en-US" dirty="0"/>
          </a:p>
          <a:p>
            <a:pPr lvl="2"/>
            <a:r>
              <a:rPr lang="en-US" altLang="en-US" dirty="0">
                <a:sym typeface="Monotype Sorts" charset="2"/>
              </a:rPr>
              <a:t>Are there others?</a:t>
            </a:r>
          </a:p>
        </p:txBody>
      </p:sp>
      <p:pic>
        <p:nvPicPr>
          <p:cNvPr id="2970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9613" y="1055688"/>
            <a:ext cx="2954337" cy="534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Test for View Serializability</a:t>
            </a:r>
          </a:p>
        </p:txBody>
      </p:sp>
      <p:sp>
        <p:nvSpPr>
          <p:cNvPr id="30723" name="Rectangle 3"/>
          <p:cNvSpPr>
            <a:spLocks noGrp="1" noChangeArrowheads="1"/>
          </p:cNvSpPr>
          <p:nvPr>
            <p:ph idx="1"/>
          </p:nvPr>
        </p:nvSpPr>
        <p:spPr>
          <a:xfrm>
            <a:off x="701336" y="1102497"/>
            <a:ext cx="7581530" cy="5367972"/>
          </a:xfrm>
        </p:spPr>
        <p:txBody>
          <a:bodyPr/>
          <a:lstStyle/>
          <a:p>
            <a:r>
              <a:rPr lang="en-US" altLang="en-US" dirty="0"/>
              <a:t>The precedence graph test for conflict serializability cannot be used directly to test for view serializability.</a:t>
            </a:r>
          </a:p>
          <a:p>
            <a:pPr lvl="1"/>
            <a:r>
              <a:rPr lang="en-US" altLang="en-US" dirty="0"/>
              <a:t>Extension to test for view serializability has cost exponential in the size of the precedence graph.</a:t>
            </a:r>
          </a:p>
          <a:p>
            <a:r>
              <a:rPr lang="en-US" altLang="en-US" dirty="0"/>
              <a:t>The problem of checking if a schedule is view serializable falls in the class of </a:t>
            </a:r>
            <a:r>
              <a:rPr lang="en-US" altLang="en-US" i="1" dirty="0"/>
              <a:t>NP</a:t>
            </a:r>
            <a:r>
              <a:rPr lang="en-US" altLang="en-US" dirty="0"/>
              <a:t>-complete problems. </a:t>
            </a:r>
          </a:p>
          <a:p>
            <a:pPr lvl="1"/>
            <a:r>
              <a:rPr lang="en-US" altLang="en-US" dirty="0" smtClean="0"/>
              <a:t>Thus, </a:t>
            </a:r>
            <a:r>
              <a:rPr lang="en-US" altLang="en-US" dirty="0"/>
              <a:t>existence of an efficient algorithm is </a:t>
            </a:r>
            <a:r>
              <a:rPr lang="en-US" altLang="en-US" i="1" dirty="0"/>
              <a:t>extremely</a:t>
            </a:r>
            <a:r>
              <a:rPr lang="en-US" altLang="en-US" dirty="0"/>
              <a:t> unlikely.</a:t>
            </a:r>
          </a:p>
          <a:p>
            <a:r>
              <a:rPr lang="en-US" altLang="en-US" dirty="0"/>
              <a:t>However practical algorithms that just check some </a:t>
            </a:r>
            <a:r>
              <a:rPr lang="en-US" altLang="en-US" b="1" dirty="0"/>
              <a:t>sufficient</a:t>
            </a:r>
            <a:r>
              <a:rPr lang="en-US" altLang="en-US" i="1" dirty="0"/>
              <a:t> </a:t>
            </a:r>
            <a:r>
              <a:rPr lang="en-US" altLang="en-US" b="1" dirty="0"/>
              <a:t>conditions</a:t>
            </a:r>
            <a:r>
              <a:rPr lang="en-US" altLang="en-US" dirty="0"/>
              <a:t> for view serializability can still be used.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Recoverable Schedules</a:t>
            </a:r>
          </a:p>
        </p:txBody>
      </p:sp>
      <p:sp>
        <p:nvSpPr>
          <p:cNvPr id="31747" name="Rectangle 3"/>
          <p:cNvSpPr>
            <a:spLocks noGrp="1" noChangeArrowheads="1"/>
          </p:cNvSpPr>
          <p:nvPr>
            <p:ph idx="1"/>
          </p:nvPr>
        </p:nvSpPr>
        <p:spPr>
          <a:xfrm>
            <a:off x="701336" y="1686901"/>
            <a:ext cx="7776839" cy="4783568"/>
          </a:xfrm>
        </p:spPr>
        <p:txBody>
          <a:bodyPr/>
          <a:lstStyle/>
          <a:p>
            <a:pPr>
              <a:tabLst>
                <a:tab pos="2395538" algn="l"/>
                <a:tab pos="2857500" algn="l"/>
                <a:tab pos="3549650" algn="l"/>
                <a:tab pos="3997325" algn="l"/>
              </a:tabLst>
            </a:pPr>
            <a:r>
              <a:rPr lang="en-US" altLang="en-US" b="1" dirty="0">
                <a:solidFill>
                  <a:srgbClr val="000099"/>
                </a:solidFill>
              </a:rPr>
              <a:t>Recoverable</a:t>
            </a:r>
            <a:r>
              <a:rPr lang="en-US" altLang="en-US" b="1" i="1" dirty="0">
                <a:solidFill>
                  <a:srgbClr val="000099"/>
                </a:solidFill>
              </a:rPr>
              <a:t> </a:t>
            </a:r>
            <a:r>
              <a:rPr lang="en-US" altLang="en-US" b="1" dirty="0">
                <a:solidFill>
                  <a:srgbClr val="000099"/>
                </a:solidFill>
              </a:rPr>
              <a:t>schedule</a:t>
            </a:r>
            <a:r>
              <a:rPr lang="en-US" altLang="en-US" dirty="0"/>
              <a:t> — if a transaction </a:t>
            </a:r>
            <a:r>
              <a:rPr lang="en-US" altLang="en-US" i="1" dirty="0"/>
              <a:t>T</a:t>
            </a:r>
            <a:r>
              <a:rPr lang="en-US" altLang="en-US" i="1" baseline="-25000" dirty="0"/>
              <a:t>j</a:t>
            </a:r>
            <a:r>
              <a:rPr lang="en-US" altLang="en-US" dirty="0"/>
              <a:t> reads a data item previously written by a transaction </a:t>
            </a:r>
            <a:r>
              <a:rPr lang="en-US" altLang="en-US" i="1" dirty="0"/>
              <a:t>T</a:t>
            </a:r>
            <a:r>
              <a:rPr lang="en-US" altLang="en-US" i="1" baseline="-25000" dirty="0"/>
              <a:t>i </a:t>
            </a:r>
            <a:r>
              <a:rPr lang="en-US" altLang="en-US" dirty="0"/>
              <a:t>, then the commit operation of </a:t>
            </a:r>
            <a:r>
              <a:rPr lang="en-US" altLang="en-US" i="1" dirty="0"/>
              <a:t>T</a:t>
            </a:r>
            <a:r>
              <a:rPr lang="en-US" altLang="en-US" i="1" baseline="-25000" dirty="0"/>
              <a:t>i</a:t>
            </a:r>
            <a:r>
              <a:rPr lang="en-US" altLang="en-US" i="1" dirty="0"/>
              <a:t> </a:t>
            </a:r>
            <a:r>
              <a:rPr lang="en-US" altLang="en-US" dirty="0"/>
              <a:t> appears before the commit operation of </a:t>
            </a:r>
            <a:r>
              <a:rPr lang="en-US" altLang="en-US" i="1" dirty="0"/>
              <a:t>T</a:t>
            </a:r>
            <a:r>
              <a:rPr lang="en-US" altLang="en-US" i="1" baseline="-25000" dirty="0"/>
              <a:t>j</a:t>
            </a:r>
            <a:r>
              <a:rPr lang="en-US" altLang="en-US" i="1" dirty="0"/>
              <a:t>.</a:t>
            </a:r>
            <a:endParaRPr lang="en-US" altLang="en-US" dirty="0"/>
          </a:p>
          <a:p>
            <a:pPr>
              <a:tabLst>
                <a:tab pos="2395538" algn="l"/>
                <a:tab pos="2857500" algn="l"/>
                <a:tab pos="3549650" algn="l"/>
                <a:tab pos="3997325" algn="l"/>
              </a:tabLst>
            </a:pPr>
            <a:r>
              <a:rPr lang="en-US" altLang="en-US" dirty="0"/>
              <a:t>The following schedule (Schedule 11) is not recoverable</a:t>
            </a:r>
            <a:br>
              <a:rPr lang="en-US" altLang="en-US" dirty="0"/>
            </a:br>
            <a:r>
              <a:rPr lang="en-US" altLang="en-US" dirty="0"/>
              <a:t>		</a:t>
            </a:r>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r>
              <a:rPr lang="en-US" altLang="en-US" dirty="0"/>
              <a:t>If </a:t>
            </a:r>
            <a:r>
              <a:rPr lang="en-US" altLang="en-US" i="1" dirty="0"/>
              <a:t>T</a:t>
            </a:r>
            <a:r>
              <a:rPr lang="en-US" altLang="en-US" baseline="-25000" dirty="0"/>
              <a:t>8</a:t>
            </a:r>
            <a:r>
              <a:rPr lang="en-US" altLang="en-US" sz="1600" dirty="0"/>
              <a:t> </a:t>
            </a:r>
            <a:r>
              <a:rPr lang="en-US" altLang="en-US" dirty="0"/>
              <a:t>should abort, </a:t>
            </a:r>
            <a:r>
              <a:rPr lang="en-US" altLang="en-US" i="1" dirty="0"/>
              <a:t>T</a:t>
            </a:r>
            <a:r>
              <a:rPr lang="en-US" altLang="en-US" baseline="-25000" dirty="0"/>
              <a:t>9</a:t>
            </a:r>
            <a:r>
              <a:rPr lang="en-US" altLang="en-US" dirty="0"/>
              <a:t> would have read (and possibly shown to the user) an inconsistent database state.  Hence, database must ensure that schedules are recoverable.</a:t>
            </a:r>
          </a:p>
        </p:txBody>
      </p:sp>
      <p:sp>
        <p:nvSpPr>
          <p:cNvPr id="31748" name="Text Box 6"/>
          <p:cNvSpPr txBox="1">
            <a:spLocks noChangeArrowheads="1"/>
          </p:cNvSpPr>
          <p:nvPr/>
        </p:nvSpPr>
        <p:spPr bwMode="auto">
          <a:xfrm>
            <a:off x="701336" y="1071347"/>
            <a:ext cx="768806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50000"/>
              </a:spcBef>
            </a:pPr>
            <a:r>
              <a:rPr lang="en-US" altLang="en-US" sz="1700" dirty="0"/>
              <a:t>Need to address the effect of transaction failures on concurrently </a:t>
            </a:r>
            <a:br>
              <a:rPr lang="en-US" altLang="en-US" sz="1700" dirty="0"/>
            </a:br>
            <a:r>
              <a:rPr lang="en-US" altLang="en-US" sz="1700" dirty="0"/>
              <a:t>running transactions.</a:t>
            </a:r>
          </a:p>
        </p:txBody>
      </p:sp>
      <p:pic>
        <p:nvPicPr>
          <p:cNvPr id="3174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7814" y="2971608"/>
            <a:ext cx="2913063"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Cascading Rollbacks</a:t>
            </a:r>
          </a:p>
        </p:txBody>
      </p:sp>
      <p:sp>
        <p:nvSpPr>
          <p:cNvPr id="32771" name="Rectangle 3"/>
          <p:cNvSpPr>
            <a:spLocks noGrp="1" noChangeArrowheads="1"/>
          </p:cNvSpPr>
          <p:nvPr>
            <p:ph idx="1"/>
          </p:nvPr>
        </p:nvSpPr>
        <p:spPr>
          <a:xfrm>
            <a:off x="674703" y="1102497"/>
            <a:ext cx="7776840" cy="5367972"/>
          </a:xfrm>
        </p:spPr>
        <p:txBody>
          <a:bodyPr/>
          <a:lstStyle/>
          <a:p>
            <a:pPr>
              <a:tabLst>
                <a:tab pos="1658938" algn="l"/>
                <a:tab pos="2120900" algn="l"/>
                <a:tab pos="2684463" algn="l"/>
                <a:tab pos="3030538" algn="l"/>
                <a:tab pos="3767138" algn="l"/>
                <a:tab pos="4056063" algn="l"/>
              </a:tabLst>
            </a:pPr>
            <a:r>
              <a:rPr lang="en-US" altLang="en-US" b="1" dirty="0">
                <a:solidFill>
                  <a:srgbClr val="000099"/>
                </a:solidFill>
              </a:rPr>
              <a:t>Cascading rollback</a:t>
            </a:r>
            <a:r>
              <a:rPr lang="en-US" altLang="en-US" dirty="0"/>
              <a:t> – a single transaction failure leads to a series of transaction rollbacks.  Consider the following schedule where none of the transactions has yet committed (so the schedule is recoverable)</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If </a:t>
            </a:r>
            <a:r>
              <a:rPr lang="en-US" altLang="en-US" i="1" dirty="0"/>
              <a:t>T</a:t>
            </a:r>
            <a:r>
              <a:rPr lang="en-US" altLang="en-US" baseline="-25000" dirty="0"/>
              <a:t>10</a:t>
            </a:r>
            <a:r>
              <a:rPr lang="en-US" altLang="en-US" dirty="0"/>
              <a:t> fails, </a:t>
            </a:r>
            <a:r>
              <a:rPr lang="en-US" altLang="en-US" i="1" dirty="0"/>
              <a:t>T</a:t>
            </a:r>
            <a:r>
              <a:rPr lang="en-US" altLang="en-US" baseline="-25000" dirty="0"/>
              <a:t>11</a:t>
            </a:r>
            <a:r>
              <a:rPr lang="en-US" altLang="en-US" dirty="0"/>
              <a:t> and </a:t>
            </a:r>
            <a:r>
              <a:rPr lang="en-US" altLang="en-US" i="1" dirty="0"/>
              <a:t>T</a:t>
            </a:r>
            <a:r>
              <a:rPr lang="en-US" altLang="en-US" baseline="-25000" dirty="0"/>
              <a:t>12</a:t>
            </a:r>
            <a:r>
              <a:rPr lang="en-US" altLang="en-US" dirty="0"/>
              <a:t> must also be rolled back.</a:t>
            </a:r>
          </a:p>
          <a:p>
            <a:pPr>
              <a:tabLst>
                <a:tab pos="1658938" algn="l"/>
                <a:tab pos="2120900" algn="l"/>
                <a:tab pos="2684463" algn="l"/>
                <a:tab pos="3030538" algn="l"/>
                <a:tab pos="3767138" algn="l"/>
                <a:tab pos="4056063" algn="l"/>
              </a:tabLst>
            </a:pPr>
            <a:r>
              <a:rPr lang="en-US" altLang="en-US" dirty="0"/>
              <a:t>Can lead to the undoing of a significant amount of work</a:t>
            </a:r>
          </a:p>
        </p:txBody>
      </p:sp>
      <p:pic>
        <p:nvPicPr>
          <p:cNvPr id="3277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5647" y="2122396"/>
            <a:ext cx="3429000" cy="192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Cascadeless Schedules</a:t>
            </a:r>
          </a:p>
        </p:txBody>
      </p:sp>
      <p:sp>
        <p:nvSpPr>
          <p:cNvPr id="33795" name="Rectangle 3"/>
          <p:cNvSpPr>
            <a:spLocks noGrp="1" noChangeArrowheads="1"/>
          </p:cNvSpPr>
          <p:nvPr>
            <p:ph idx="1"/>
          </p:nvPr>
        </p:nvSpPr>
        <p:spPr>
          <a:xfrm>
            <a:off x="692458" y="1102497"/>
            <a:ext cx="7776839" cy="5367972"/>
          </a:xfrm>
        </p:spPr>
        <p:txBody>
          <a:bodyPr/>
          <a:lstStyle/>
          <a:p>
            <a:r>
              <a:rPr lang="en-US" altLang="en-US" b="1" dirty="0">
                <a:solidFill>
                  <a:srgbClr val="000099"/>
                </a:solidFill>
              </a:rPr>
              <a:t>Cascadeless</a:t>
            </a:r>
            <a:r>
              <a:rPr lang="en-US" altLang="en-US" b="1" i="1" dirty="0">
                <a:solidFill>
                  <a:srgbClr val="000099"/>
                </a:solidFill>
              </a:rPr>
              <a:t> </a:t>
            </a:r>
            <a:r>
              <a:rPr lang="en-US" altLang="en-US" b="1" dirty="0">
                <a:solidFill>
                  <a:srgbClr val="000099"/>
                </a:solidFill>
              </a:rPr>
              <a:t>schedules</a:t>
            </a:r>
            <a:r>
              <a:rPr lang="en-US" altLang="en-US" dirty="0"/>
              <a:t> — cascading rollbacks cannot occur;</a:t>
            </a:r>
          </a:p>
          <a:p>
            <a:pPr lvl="1"/>
            <a:r>
              <a:rPr lang="en-US" altLang="en-US" dirty="0"/>
              <a:t>For each pair of transactions </a:t>
            </a:r>
            <a:r>
              <a:rPr lang="en-US" altLang="en-US" i="1" dirty="0"/>
              <a:t>T</a:t>
            </a:r>
            <a:r>
              <a:rPr lang="en-US" altLang="en-US" i="1" baseline="-25000" dirty="0"/>
              <a:t>i</a:t>
            </a:r>
            <a:r>
              <a:rPr lang="en-US" altLang="en-US" i="1" dirty="0"/>
              <a:t> </a:t>
            </a:r>
            <a:r>
              <a:rPr lang="en-US" altLang="en-US" dirty="0"/>
              <a:t>and </a:t>
            </a:r>
            <a:r>
              <a:rPr lang="en-US" altLang="en-US" i="1" dirty="0"/>
              <a:t>T</a:t>
            </a:r>
            <a:r>
              <a:rPr lang="en-US" altLang="en-US" i="1" baseline="-25000" dirty="0"/>
              <a:t>j</a:t>
            </a:r>
            <a:r>
              <a:rPr lang="en-US" altLang="en-US" dirty="0"/>
              <a:t> such that </a:t>
            </a:r>
            <a:r>
              <a:rPr lang="en-US" altLang="en-US" i="1" dirty="0"/>
              <a:t>T</a:t>
            </a:r>
            <a:r>
              <a:rPr lang="en-US" altLang="en-US" i="1" baseline="-25000" dirty="0"/>
              <a:t>j</a:t>
            </a:r>
            <a:r>
              <a:rPr lang="en-US" altLang="en-US" dirty="0"/>
              <a:t>  reads a data item previously written by </a:t>
            </a:r>
            <a:r>
              <a:rPr lang="en-US" altLang="en-US" i="1" dirty="0"/>
              <a:t>T</a:t>
            </a:r>
            <a:r>
              <a:rPr lang="en-US" altLang="en-US" i="1" baseline="-25000" dirty="0"/>
              <a:t>i</a:t>
            </a:r>
            <a:r>
              <a:rPr lang="en-US" altLang="en-US" dirty="0"/>
              <a:t>, the commit operation of </a:t>
            </a:r>
            <a:r>
              <a:rPr lang="en-US" altLang="en-US" i="1" dirty="0"/>
              <a:t>T</a:t>
            </a:r>
            <a:r>
              <a:rPr lang="en-US" altLang="en-US" i="1" baseline="-25000" dirty="0"/>
              <a:t>i</a:t>
            </a:r>
            <a:r>
              <a:rPr lang="en-US" altLang="en-US" i="1" dirty="0"/>
              <a:t> </a:t>
            </a:r>
            <a:r>
              <a:rPr lang="en-US" altLang="en-US" dirty="0"/>
              <a:t> appears before the read operation of </a:t>
            </a:r>
            <a:r>
              <a:rPr lang="en-US" altLang="en-US" i="1" dirty="0"/>
              <a:t>T</a:t>
            </a:r>
            <a:r>
              <a:rPr lang="en-US" altLang="en-US" i="1" baseline="-25000" dirty="0"/>
              <a:t>j</a:t>
            </a:r>
            <a:r>
              <a:rPr lang="en-US" altLang="en-US" dirty="0"/>
              <a:t>.</a:t>
            </a:r>
          </a:p>
          <a:p>
            <a:r>
              <a:rPr lang="en-US" altLang="en-US" dirty="0"/>
              <a:t>Every </a:t>
            </a:r>
            <a:r>
              <a:rPr lang="en-US" altLang="en-US" dirty="0" smtClean="0"/>
              <a:t>Cascadeless </a:t>
            </a:r>
            <a:r>
              <a:rPr lang="en-US" altLang="en-US" dirty="0"/>
              <a:t>schedule is also recoverable</a:t>
            </a:r>
          </a:p>
          <a:p>
            <a:r>
              <a:rPr lang="en-US" altLang="en-US" dirty="0"/>
              <a:t>It is desirable to restrict the schedules to those that are cascadeless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Concurrency Control</a:t>
            </a:r>
          </a:p>
        </p:txBody>
      </p:sp>
      <p:sp>
        <p:nvSpPr>
          <p:cNvPr id="34819" name="Rectangle 3"/>
          <p:cNvSpPr>
            <a:spLocks noGrp="1" noChangeArrowheads="1"/>
          </p:cNvSpPr>
          <p:nvPr>
            <p:ph idx="1"/>
          </p:nvPr>
        </p:nvSpPr>
        <p:spPr>
          <a:xfrm>
            <a:off x="656948" y="1102497"/>
            <a:ext cx="7812349" cy="5367972"/>
          </a:xfrm>
        </p:spPr>
        <p:txBody>
          <a:bodyPr/>
          <a:lstStyle/>
          <a:p>
            <a:r>
              <a:rPr lang="en-US" altLang="en-US" dirty="0"/>
              <a:t>A database must provide a mechanism that will ensure that all possible schedules are </a:t>
            </a:r>
          </a:p>
          <a:p>
            <a:pPr lvl="1"/>
            <a:r>
              <a:rPr lang="en-US" altLang="en-US" dirty="0"/>
              <a:t>either conflict or view serializable, and </a:t>
            </a:r>
          </a:p>
          <a:p>
            <a:pPr lvl="1"/>
            <a:r>
              <a:rPr lang="en-US" altLang="en-US" dirty="0"/>
              <a:t>are recoverable and preferably cascadeless</a:t>
            </a:r>
          </a:p>
          <a:p>
            <a:r>
              <a:rPr lang="en-US" altLang="en-US" dirty="0"/>
              <a:t>A policy in which only one transaction can execute at a time generates serial schedules, but provides a poor degree of concurrency</a:t>
            </a:r>
          </a:p>
          <a:p>
            <a:pPr lvl="1"/>
            <a:r>
              <a:rPr lang="en-US" altLang="en-US" dirty="0"/>
              <a:t>Are serial schedules recoverable/</a:t>
            </a:r>
            <a:r>
              <a:rPr lang="en-US" altLang="en-US" dirty="0" err="1"/>
              <a:t>cascadeless</a:t>
            </a:r>
            <a:r>
              <a:rPr lang="en-US" altLang="en-US" dirty="0"/>
              <a:t>?</a:t>
            </a:r>
          </a:p>
          <a:p>
            <a:r>
              <a:rPr lang="en-US" altLang="en-US" dirty="0"/>
              <a:t>Testing a schedule for serializability </a:t>
            </a:r>
            <a:r>
              <a:rPr lang="en-US" altLang="en-US" i="1" dirty="0"/>
              <a:t>after</a:t>
            </a:r>
            <a:r>
              <a:rPr lang="en-US" altLang="en-US" dirty="0"/>
              <a:t> it has executed is a little too late!</a:t>
            </a:r>
          </a:p>
          <a:p>
            <a:r>
              <a:rPr lang="en-US" altLang="en-US" b="1" dirty="0">
                <a:solidFill>
                  <a:srgbClr val="000099"/>
                </a:solidFill>
              </a:rPr>
              <a:t>Goal</a:t>
            </a:r>
            <a:r>
              <a:rPr lang="en-US" altLang="en-US" dirty="0"/>
              <a:t> – to develop concurrency control protocols that will assure serializability.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Concurrency Control (Cont.)</a:t>
            </a:r>
          </a:p>
        </p:txBody>
      </p:sp>
      <p:sp>
        <p:nvSpPr>
          <p:cNvPr id="35843" name="Rectangle 3"/>
          <p:cNvSpPr>
            <a:spLocks noGrp="1" noChangeArrowheads="1"/>
          </p:cNvSpPr>
          <p:nvPr>
            <p:ph idx="1"/>
          </p:nvPr>
        </p:nvSpPr>
        <p:spPr>
          <a:xfrm>
            <a:off x="656948" y="1102497"/>
            <a:ext cx="7803471" cy="5367972"/>
          </a:xfrm>
        </p:spPr>
        <p:txBody>
          <a:bodyPr/>
          <a:lstStyle/>
          <a:p>
            <a:r>
              <a:rPr lang="en-US" altLang="en-US" dirty="0"/>
              <a:t>Schedules must be conflict or view serializable, and recoverable, for the sake of database consistency, and preferably cascadeless.</a:t>
            </a:r>
          </a:p>
          <a:p>
            <a:r>
              <a:rPr lang="en-US" altLang="en-US" dirty="0"/>
              <a:t>A policy in which only one transaction can execute at a time generates serial schedules, but provides a poor degree of concurrency.</a:t>
            </a:r>
          </a:p>
          <a:p>
            <a:r>
              <a:rPr lang="en-US" altLang="en-US" dirty="0"/>
              <a:t>Concurrency-control schemes tradeoff between the amount of concurrency they allow and the amount of overhead that they incur.</a:t>
            </a:r>
          </a:p>
          <a:p>
            <a:r>
              <a:rPr lang="en-US" altLang="en-US" dirty="0"/>
              <a:t>Some schemes allow only conflict-serializable schedules to be generated, while others allow  view-serializable schedules that are not conflict-serializable.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a:lstStyle/>
          <a:p>
            <a:pPr>
              <a:defRPr/>
            </a:pPr>
            <a:r>
              <a:rPr lang="en-US" sz="2800" dirty="0">
                <a:effectLst>
                  <a:outerShdw blurRad="38100" dist="38100" dir="2700000" algn="tl">
                    <a:srgbClr val="C0C0C0"/>
                  </a:outerShdw>
                </a:effectLst>
              </a:rPr>
              <a:t>Concurrency Control vs. Serializability Tests</a:t>
            </a:r>
          </a:p>
        </p:txBody>
      </p:sp>
      <p:sp>
        <p:nvSpPr>
          <p:cNvPr id="36867" name="Rectangle 3"/>
          <p:cNvSpPr>
            <a:spLocks noGrp="1" noChangeArrowheads="1"/>
          </p:cNvSpPr>
          <p:nvPr>
            <p:ph idx="1"/>
          </p:nvPr>
        </p:nvSpPr>
        <p:spPr>
          <a:xfrm>
            <a:off x="674702" y="1102497"/>
            <a:ext cx="7794595" cy="5367972"/>
          </a:xfrm>
        </p:spPr>
        <p:txBody>
          <a:bodyPr/>
          <a:lstStyle/>
          <a:p>
            <a:r>
              <a:rPr lang="en-US" altLang="en-US" dirty="0"/>
              <a:t>Concurrency-control protocols allow concurrent schedules, but ensure that the schedules are conflict/view serializable, and are recoverable and cascadeless .</a:t>
            </a:r>
          </a:p>
          <a:p>
            <a:r>
              <a:rPr lang="en-US" altLang="en-US" dirty="0"/>
              <a:t>Concurrency control protocols (generally) do not examine the precedence graph as it is being created</a:t>
            </a:r>
          </a:p>
          <a:p>
            <a:pPr lvl="1"/>
            <a:r>
              <a:rPr lang="en-US" altLang="en-US" dirty="0"/>
              <a:t>Instead a protocol imposes a discipline that avoids non-serializable schedules.</a:t>
            </a:r>
          </a:p>
          <a:p>
            <a:pPr lvl="1"/>
            <a:r>
              <a:rPr lang="en-US" altLang="en-US" dirty="0"/>
              <a:t>We study such protocols in Chapter 16.</a:t>
            </a:r>
          </a:p>
          <a:p>
            <a:r>
              <a:rPr lang="en-US" altLang="en-US" dirty="0"/>
              <a:t>Different concurrency control protocols provide different tradeoffs between the amount of concurrency they allow and the amount of overhead that they incur.</a:t>
            </a:r>
          </a:p>
          <a:p>
            <a:r>
              <a:rPr lang="en-US" altLang="en-US" dirty="0"/>
              <a:t>Tests for serializability help us understand why a concurrency control protocol is correct.   </a:t>
            </a:r>
          </a:p>
          <a:p>
            <a:endParaRPr lang="en-US"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Weak Levels of Consistency</a:t>
            </a:r>
          </a:p>
        </p:txBody>
      </p:sp>
      <p:sp>
        <p:nvSpPr>
          <p:cNvPr id="37891" name="Rectangle 3"/>
          <p:cNvSpPr>
            <a:spLocks noGrp="1" noChangeArrowheads="1"/>
          </p:cNvSpPr>
          <p:nvPr>
            <p:ph idx="1"/>
          </p:nvPr>
        </p:nvSpPr>
        <p:spPr>
          <a:xfrm>
            <a:off x="674702" y="1102497"/>
            <a:ext cx="7750207" cy="5367972"/>
          </a:xfrm>
        </p:spPr>
        <p:txBody>
          <a:bodyPr/>
          <a:lstStyle/>
          <a:p>
            <a:r>
              <a:rPr lang="en-US" altLang="en-US" dirty="0"/>
              <a:t>Some applications are willing to live with weak levels of consistency, allowing schedules that are not serializable</a:t>
            </a:r>
          </a:p>
          <a:p>
            <a:pPr lvl="1"/>
            <a:r>
              <a:rPr lang="en-US" altLang="en-US" dirty="0"/>
              <a:t>E.g., a read-only transaction that wants to get an approximate total balance of all accounts </a:t>
            </a:r>
          </a:p>
          <a:p>
            <a:pPr lvl="1"/>
            <a:r>
              <a:rPr lang="en-US" altLang="en-US" dirty="0"/>
              <a:t>E.g., database statistics computed for query optimization can be approximate (why?)</a:t>
            </a:r>
          </a:p>
          <a:p>
            <a:pPr lvl="1"/>
            <a:r>
              <a:rPr lang="en-US" altLang="en-US" dirty="0"/>
              <a:t>Such transactions need not be serializable with respect to other transactions</a:t>
            </a:r>
          </a:p>
          <a:p>
            <a:r>
              <a:rPr lang="en-US" altLang="en-US" dirty="0"/>
              <a:t>Tradeoff accuracy for performance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Levels of Consistency in SQL-92</a:t>
            </a:r>
          </a:p>
        </p:txBody>
      </p:sp>
      <p:sp>
        <p:nvSpPr>
          <p:cNvPr id="38915" name="Rectangle 3"/>
          <p:cNvSpPr>
            <a:spLocks noGrp="1" noChangeArrowheads="1"/>
          </p:cNvSpPr>
          <p:nvPr>
            <p:ph idx="1"/>
          </p:nvPr>
        </p:nvSpPr>
        <p:spPr>
          <a:xfrm>
            <a:off x="665824" y="1102497"/>
            <a:ext cx="7705819" cy="5367972"/>
          </a:xfrm>
        </p:spPr>
        <p:txBody>
          <a:bodyPr/>
          <a:lstStyle/>
          <a:p>
            <a:r>
              <a:rPr lang="en-US" altLang="en-US" b="1" dirty="0">
                <a:solidFill>
                  <a:srgbClr val="000099"/>
                </a:solidFill>
              </a:rPr>
              <a:t>Serializable</a:t>
            </a:r>
            <a:r>
              <a:rPr lang="en-US" altLang="en-US" b="1" dirty="0"/>
              <a:t> </a:t>
            </a:r>
            <a:r>
              <a:rPr lang="en-US" altLang="en-US" dirty="0"/>
              <a:t>— default</a:t>
            </a:r>
          </a:p>
          <a:p>
            <a:r>
              <a:rPr lang="en-US" altLang="en-US" b="1" dirty="0">
                <a:solidFill>
                  <a:srgbClr val="000099"/>
                </a:solidFill>
              </a:rPr>
              <a:t>Repeatable read</a:t>
            </a:r>
            <a:r>
              <a:rPr lang="en-US" altLang="en-US" b="1" dirty="0"/>
              <a:t> </a:t>
            </a:r>
            <a:r>
              <a:rPr lang="en-US" altLang="en-US" dirty="0"/>
              <a:t>—</a:t>
            </a:r>
            <a:r>
              <a:rPr lang="en-US" altLang="en-US" b="1" dirty="0"/>
              <a:t> </a:t>
            </a:r>
            <a:r>
              <a:rPr lang="en-US" altLang="en-US" dirty="0"/>
              <a:t>only committed records to be read. </a:t>
            </a:r>
          </a:p>
          <a:p>
            <a:pPr lvl="1"/>
            <a:r>
              <a:rPr lang="en-US" altLang="en-US" dirty="0"/>
              <a:t>Repeated reads of same record must return same value.</a:t>
            </a:r>
          </a:p>
          <a:p>
            <a:pPr lvl="1"/>
            <a:r>
              <a:rPr lang="en-US" altLang="en-US" dirty="0"/>
              <a:t>However, a transaction may not be serializable – it may find some records inserted by a transaction but not find others.</a:t>
            </a:r>
          </a:p>
          <a:p>
            <a:r>
              <a:rPr lang="en-US" altLang="en-US" b="1" dirty="0">
                <a:solidFill>
                  <a:srgbClr val="000099"/>
                </a:solidFill>
              </a:rPr>
              <a:t>Read committed</a:t>
            </a:r>
            <a:r>
              <a:rPr lang="en-US" altLang="en-US" b="1" dirty="0"/>
              <a:t> </a:t>
            </a:r>
            <a:r>
              <a:rPr lang="en-US" altLang="en-US" dirty="0"/>
              <a:t>—</a:t>
            </a:r>
            <a:r>
              <a:rPr lang="en-US" altLang="en-US" b="1" dirty="0"/>
              <a:t> </a:t>
            </a:r>
            <a:r>
              <a:rPr lang="en-US" altLang="en-US" dirty="0"/>
              <a:t>only committed records can be read.</a:t>
            </a:r>
          </a:p>
          <a:p>
            <a:pPr lvl="1"/>
            <a:r>
              <a:rPr lang="en-US" altLang="en-US" dirty="0"/>
              <a:t>Successive reads of record may return different (but committed) values.</a:t>
            </a:r>
          </a:p>
          <a:p>
            <a:r>
              <a:rPr lang="en-US" altLang="en-US" b="1" dirty="0">
                <a:solidFill>
                  <a:srgbClr val="000099"/>
                </a:solidFill>
              </a:rPr>
              <a:t>Read uncommitted</a:t>
            </a:r>
            <a:r>
              <a:rPr lang="en-US" altLang="en-US" dirty="0"/>
              <a:t> —</a:t>
            </a:r>
            <a:r>
              <a:rPr lang="en-US" altLang="en-US" b="1" dirty="0"/>
              <a:t> </a:t>
            </a:r>
            <a:r>
              <a:rPr lang="en-US" altLang="en-US" dirty="0"/>
              <a:t>even uncommitted records may be read. </a:t>
            </a:r>
            <a:endParaRPr lang="en-US" altLang="en-US" b="1" dirty="0"/>
          </a:p>
        </p:txBody>
      </p:sp>
      <p:sp>
        <p:nvSpPr>
          <p:cNvPr id="38916" name="Rectangle 5"/>
          <p:cNvSpPr>
            <a:spLocks noChangeArrowheads="1"/>
          </p:cNvSpPr>
          <p:nvPr/>
        </p:nvSpPr>
        <p:spPr bwMode="auto">
          <a:xfrm>
            <a:off x="538163" y="4135438"/>
            <a:ext cx="752792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35000"/>
              </a:spcBef>
              <a:buClr>
                <a:schemeClr val="tx2"/>
              </a:buClr>
              <a:buSzPct val="90000"/>
              <a:buFont typeface="Monotype Sorts" charset="2"/>
              <a:buChar char="n"/>
            </a:pPr>
            <a:endParaRPr lang="en-US" altLang="en-US" sz="1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a:defRPr/>
            </a:pPr>
            <a:r>
              <a:rPr lang="en-US" dirty="0">
                <a:effectLst>
                  <a:outerShdw blurRad="38100" dist="38100" dir="2700000" algn="tl">
                    <a:srgbClr val="C0C0C0"/>
                  </a:outerShdw>
                </a:effectLst>
              </a:rPr>
              <a:t>Levels of Consistency</a:t>
            </a:r>
          </a:p>
        </p:txBody>
      </p:sp>
      <p:sp>
        <p:nvSpPr>
          <p:cNvPr id="2" name="Content Placeholder 1">
            <a:extLst>
              <a:ext uri="{FF2B5EF4-FFF2-40B4-BE49-F238E27FC236}">
                <a16:creationId xmlns:a16="http://schemas.microsoft.com/office/drawing/2014/main" id="{E247170A-C2C0-4F36-8AA4-43A13105431D}"/>
              </a:ext>
            </a:extLst>
          </p:cNvPr>
          <p:cNvSpPr>
            <a:spLocks noGrp="1"/>
          </p:cNvSpPr>
          <p:nvPr>
            <p:ph idx="1"/>
          </p:nvPr>
        </p:nvSpPr>
        <p:spPr>
          <a:xfrm>
            <a:off x="692458" y="1102497"/>
            <a:ext cx="7750206" cy="5367972"/>
          </a:xfrm>
        </p:spPr>
        <p:txBody>
          <a:bodyPr/>
          <a:lstStyle/>
          <a:p>
            <a:r>
              <a:rPr lang="en-US" dirty="0"/>
              <a:t>Lower degrees of consistency useful for gathering approximate</a:t>
            </a:r>
            <a:br>
              <a:rPr lang="en-US" dirty="0"/>
            </a:br>
            <a:r>
              <a:rPr lang="en-US" dirty="0"/>
              <a:t>information about the database </a:t>
            </a:r>
          </a:p>
          <a:p>
            <a:r>
              <a:rPr lang="en-US" dirty="0"/>
              <a:t>Warning: some database systems do not ensure serializable schedules by default</a:t>
            </a:r>
          </a:p>
          <a:p>
            <a:r>
              <a:rPr lang="en-US" dirty="0"/>
              <a:t>E.g., Oracle (and PostgreSQL prior to version 9) by default support a level of consistency called snapshot isolation (not part of the SQL standard)</a:t>
            </a:r>
          </a:p>
          <a:p>
            <a:endParaRPr lang="en-IN" dirty="0"/>
          </a:p>
        </p:txBody>
      </p:sp>
      <p:sp>
        <p:nvSpPr>
          <p:cNvPr id="39939" name="Rectangle 5"/>
          <p:cNvSpPr>
            <a:spLocks noChangeArrowheads="1"/>
          </p:cNvSpPr>
          <p:nvPr/>
        </p:nvSpPr>
        <p:spPr bwMode="auto">
          <a:xfrm>
            <a:off x="1147763" y="1163638"/>
            <a:ext cx="7005637" cy="292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spcBef>
                <a:spcPct val="35000"/>
              </a:spcBef>
              <a:buClr>
                <a:schemeClr val="tx2"/>
              </a:buClr>
              <a:buSzPct val="90000"/>
              <a:buFont typeface="Monotype Sorts" charset="2"/>
              <a:buChar char="n"/>
            </a:pPr>
            <a:endParaRPr lang="en-US" alt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pPr>
              <a:defRPr/>
            </a:pPr>
            <a:r>
              <a:rPr lang="en-US">
                <a:effectLst>
                  <a:outerShdw blurRad="38100" dist="38100" dir="2700000" algn="tl">
                    <a:srgbClr val="C0C0C0"/>
                  </a:outerShdw>
                </a:effectLst>
              </a:rPr>
              <a:t>Transaction Definition in SQL</a:t>
            </a:r>
          </a:p>
        </p:txBody>
      </p:sp>
      <p:sp>
        <p:nvSpPr>
          <p:cNvPr id="40963" name="Rectangle 3"/>
          <p:cNvSpPr>
            <a:spLocks noGrp="1" noChangeArrowheads="1"/>
          </p:cNvSpPr>
          <p:nvPr>
            <p:ph idx="1"/>
          </p:nvPr>
        </p:nvSpPr>
        <p:spPr>
          <a:xfrm>
            <a:off x="639192" y="1102497"/>
            <a:ext cx="7927759" cy="5367972"/>
          </a:xfrm>
        </p:spPr>
        <p:txBody>
          <a:bodyPr/>
          <a:lstStyle/>
          <a:p>
            <a:r>
              <a:rPr lang="en-US" altLang="en-US" dirty="0"/>
              <a:t>In SQL, a transaction begins implicitly.</a:t>
            </a:r>
          </a:p>
          <a:p>
            <a:r>
              <a:rPr lang="en-US" altLang="en-US" dirty="0"/>
              <a:t>A transaction in SQL ends by:</a:t>
            </a:r>
          </a:p>
          <a:p>
            <a:pPr lvl="1"/>
            <a:r>
              <a:rPr lang="en-US" altLang="en-US" b="1" dirty="0"/>
              <a:t>Commit work</a:t>
            </a:r>
            <a:r>
              <a:rPr lang="en-US" altLang="en-US" dirty="0"/>
              <a:t> commits current transaction and begins a new one.</a:t>
            </a:r>
          </a:p>
          <a:p>
            <a:pPr lvl="1"/>
            <a:r>
              <a:rPr lang="en-US" altLang="en-US" b="1" dirty="0"/>
              <a:t>Rollback work</a:t>
            </a:r>
            <a:r>
              <a:rPr lang="en-US" altLang="en-US" dirty="0"/>
              <a:t> causes current transaction to abort.</a:t>
            </a:r>
          </a:p>
          <a:p>
            <a:r>
              <a:rPr lang="en-US" altLang="en-US" dirty="0"/>
              <a:t>In almost all database systems, by default, every SQL statement also commits implicitly if it executes successfully</a:t>
            </a:r>
          </a:p>
          <a:p>
            <a:pPr lvl="1"/>
            <a:r>
              <a:rPr lang="en-US" altLang="en-US" dirty="0"/>
              <a:t>Implicit commit can be turned off by a database directive</a:t>
            </a:r>
          </a:p>
          <a:p>
            <a:pPr lvl="2"/>
            <a:r>
              <a:rPr lang="en-US" altLang="en-US" dirty="0"/>
              <a:t>E.g., in JDBC -- </a:t>
            </a:r>
            <a:r>
              <a:rPr lang="en-US" altLang="en-US" dirty="0" err="1"/>
              <a:t>connection.setAutoCommit</a:t>
            </a:r>
            <a:r>
              <a:rPr lang="en-US" altLang="en-US" dirty="0"/>
              <a:t>(false);</a:t>
            </a:r>
          </a:p>
          <a:p>
            <a:r>
              <a:rPr lang="en-US" altLang="en-US" dirty="0"/>
              <a:t>Isolation level can be set at database level</a:t>
            </a:r>
          </a:p>
          <a:p>
            <a:r>
              <a:rPr lang="en-US" altLang="en-US" dirty="0"/>
              <a:t>Isolation level can be changed at start of transaction</a:t>
            </a:r>
          </a:p>
          <a:p>
            <a:pPr lvl="2"/>
            <a:r>
              <a:rPr lang="en-US" altLang="en-US" dirty="0"/>
              <a:t>E.g.  In SQL </a:t>
            </a:r>
            <a:r>
              <a:rPr lang="en-US" altLang="en-US" b="1" dirty="0"/>
              <a:t>set transaction isolation level serializable</a:t>
            </a:r>
          </a:p>
          <a:p>
            <a:pPr lvl="2"/>
            <a:r>
              <a:rPr lang="en-US" altLang="en-US" dirty="0"/>
              <a:t>E.g. in JDBC --  </a:t>
            </a:r>
            <a:r>
              <a:rPr lang="en-US" altLang="en-US" dirty="0" err="1"/>
              <a:t>connection.setTransactionIsolation</a:t>
            </a:r>
            <a:r>
              <a:rPr lang="en-US" altLang="en-US" dirty="0"/>
              <a:t>(      </a:t>
            </a:r>
            <a:br>
              <a:rPr lang="en-US" altLang="en-US" dirty="0"/>
            </a:br>
            <a:r>
              <a:rPr lang="en-US" altLang="en-US" dirty="0"/>
              <a:t>                                     </a:t>
            </a:r>
            <a:r>
              <a:rPr lang="en-US" altLang="en-US" dirty="0" err="1"/>
              <a:t>Connection.TRANSACTION_SERIALIZABLE</a:t>
            </a:r>
            <a:r>
              <a:rPr lang="en-US" altLang="en-US" dirty="0"/>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1ACAF-F04B-44BB-A5C2-EAE4A5FBD7DE}"/>
              </a:ext>
            </a:extLst>
          </p:cNvPr>
          <p:cNvSpPr>
            <a:spLocks noGrp="1"/>
          </p:cNvSpPr>
          <p:nvPr>
            <p:ph type="title"/>
          </p:nvPr>
        </p:nvSpPr>
        <p:spPr/>
        <p:txBody>
          <a:bodyPr/>
          <a:lstStyle/>
          <a:p>
            <a:r>
              <a:rPr lang="en-IN" dirty="0"/>
              <a:t>Implementation of Isolation Levels</a:t>
            </a:r>
          </a:p>
        </p:txBody>
      </p:sp>
      <p:sp>
        <p:nvSpPr>
          <p:cNvPr id="3" name="Content Placeholder 2">
            <a:extLst>
              <a:ext uri="{FF2B5EF4-FFF2-40B4-BE49-F238E27FC236}">
                <a16:creationId xmlns:a16="http://schemas.microsoft.com/office/drawing/2014/main" id="{96E06DFC-E228-4A51-A4C2-91BB66D41B27}"/>
              </a:ext>
            </a:extLst>
          </p:cNvPr>
          <p:cNvSpPr>
            <a:spLocks noGrp="1"/>
          </p:cNvSpPr>
          <p:nvPr>
            <p:ph idx="1"/>
          </p:nvPr>
        </p:nvSpPr>
        <p:spPr>
          <a:xfrm>
            <a:off x="674702" y="1102497"/>
            <a:ext cx="7741329" cy="5367972"/>
          </a:xfrm>
        </p:spPr>
        <p:txBody>
          <a:bodyPr/>
          <a:lstStyle/>
          <a:p>
            <a:r>
              <a:rPr lang="en-IN" dirty="0" smtClean="0"/>
              <a:t>Locking</a:t>
            </a:r>
            <a:endParaRPr lang="en-IN" dirty="0"/>
          </a:p>
          <a:p>
            <a:pPr lvl="1"/>
            <a:r>
              <a:rPr lang="en-IN" dirty="0"/>
              <a:t>Lock on whole database vs lock on items</a:t>
            </a:r>
          </a:p>
          <a:p>
            <a:pPr lvl="1"/>
            <a:r>
              <a:rPr lang="en-IN" dirty="0"/>
              <a:t>How long to hold lock?</a:t>
            </a:r>
          </a:p>
          <a:p>
            <a:pPr lvl="1"/>
            <a:r>
              <a:rPr lang="en-IN" dirty="0"/>
              <a:t>Shared vs exclusive locks</a:t>
            </a:r>
          </a:p>
          <a:p>
            <a:r>
              <a:rPr lang="en-IN" dirty="0"/>
              <a:t>Timestamps</a:t>
            </a:r>
          </a:p>
          <a:p>
            <a:pPr lvl="1"/>
            <a:r>
              <a:rPr lang="en-IN" dirty="0"/>
              <a:t>Transaction timestamp assigned e.g. when a transaction begins</a:t>
            </a:r>
          </a:p>
          <a:p>
            <a:pPr lvl="1"/>
            <a:r>
              <a:rPr lang="en-IN" dirty="0"/>
              <a:t>Data items store two timestamps</a:t>
            </a:r>
          </a:p>
          <a:p>
            <a:pPr lvl="2"/>
            <a:r>
              <a:rPr lang="en-IN" dirty="0"/>
              <a:t>Read timestamp</a:t>
            </a:r>
          </a:p>
          <a:p>
            <a:pPr lvl="2"/>
            <a:r>
              <a:rPr lang="en-IN" dirty="0"/>
              <a:t>Write timestamp</a:t>
            </a:r>
          </a:p>
          <a:p>
            <a:pPr lvl="1"/>
            <a:r>
              <a:rPr lang="en-IN" dirty="0"/>
              <a:t>Timestamps are used to detect out of order accesses</a:t>
            </a:r>
          </a:p>
          <a:p>
            <a:r>
              <a:rPr lang="en-IN" dirty="0"/>
              <a:t>Multiple versions of each data item</a:t>
            </a:r>
          </a:p>
          <a:p>
            <a:pPr lvl="1"/>
            <a:r>
              <a:rPr lang="en-IN" dirty="0"/>
              <a:t>Allow transactions to read from a “snapshot” of the database</a:t>
            </a:r>
          </a:p>
        </p:txBody>
      </p:sp>
    </p:spTree>
    <p:extLst>
      <p:ext uri="{BB962C8B-B14F-4D97-AF65-F5344CB8AC3E}">
        <p14:creationId xmlns:p14="http://schemas.microsoft.com/office/powerpoint/2010/main" val="33450825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36548-0516-4E04-B705-F7A54C9E8ABE}"/>
              </a:ext>
            </a:extLst>
          </p:cNvPr>
          <p:cNvSpPr>
            <a:spLocks noGrp="1"/>
          </p:cNvSpPr>
          <p:nvPr>
            <p:ph type="title"/>
          </p:nvPr>
        </p:nvSpPr>
        <p:spPr/>
        <p:txBody>
          <a:bodyPr/>
          <a:lstStyle/>
          <a:p>
            <a:r>
              <a:rPr lang="en-IN" dirty="0"/>
              <a:t>Transactions as SQL Statements</a:t>
            </a:r>
          </a:p>
        </p:txBody>
      </p:sp>
      <p:sp>
        <p:nvSpPr>
          <p:cNvPr id="3" name="Content Placeholder 2">
            <a:extLst>
              <a:ext uri="{FF2B5EF4-FFF2-40B4-BE49-F238E27FC236}">
                <a16:creationId xmlns:a16="http://schemas.microsoft.com/office/drawing/2014/main" id="{F275E497-18AF-475A-B6A4-049AF234E8D0}"/>
              </a:ext>
            </a:extLst>
          </p:cNvPr>
          <p:cNvSpPr>
            <a:spLocks noGrp="1"/>
          </p:cNvSpPr>
          <p:nvPr>
            <p:ph idx="1"/>
          </p:nvPr>
        </p:nvSpPr>
        <p:spPr>
          <a:xfrm>
            <a:off x="630314" y="1003107"/>
            <a:ext cx="8215235" cy="5367972"/>
          </a:xfrm>
        </p:spPr>
        <p:txBody>
          <a:bodyPr/>
          <a:lstStyle/>
          <a:p>
            <a:r>
              <a:rPr lang="en-IN" dirty="0"/>
              <a:t>E.g</a:t>
            </a:r>
            <a:r>
              <a:rPr lang="en-IN" dirty="0" smtClean="0"/>
              <a:t>., </a:t>
            </a:r>
            <a:r>
              <a:rPr lang="en-IN" dirty="0"/>
              <a:t>Transaction 1:</a:t>
            </a:r>
            <a:br>
              <a:rPr lang="en-IN" dirty="0"/>
            </a:br>
            <a:r>
              <a:rPr lang="en-IN" sz="1800" dirty="0"/>
              <a:t>   </a:t>
            </a:r>
            <a:r>
              <a:rPr lang="en-IN" b="1" dirty="0"/>
              <a:t>select</a:t>
            </a:r>
            <a:r>
              <a:rPr lang="en-IN" dirty="0"/>
              <a:t> </a:t>
            </a:r>
            <a:r>
              <a:rPr lang="en-IN" i="1" dirty="0"/>
              <a:t>ID, name  </a:t>
            </a:r>
            <a:r>
              <a:rPr lang="en-IN" dirty="0"/>
              <a:t> </a:t>
            </a:r>
            <a:r>
              <a:rPr lang="en-IN" b="1" dirty="0"/>
              <a:t>from  </a:t>
            </a:r>
            <a:r>
              <a:rPr lang="en-IN" i="1" dirty="0"/>
              <a:t>instructor   </a:t>
            </a:r>
            <a:r>
              <a:rPr lang="en-IN" b="1" dirty="0"/>
              <a:t>where</a:t>
            </a:r>
            <a:r>
              <a:rPr lang="en-IN" dirty="0"/>
              <a:t> </a:t>
            </a:r>
            <a:r>
              <a:rPr lang="en-IN" i="1" dirty="0"/>
              <a:t>salary</a:t>
            </a:r>
            <a:r>
              <a:rPr lang="en-IN" dirty="0"/>
              <a:t> &gt; 90000</a:t>
            </a:r>
            <a:endParaRPr lang="en-IN" sz="1800" dirty="0"/>
          </a:p>
          <a:p>
            <a:r>
              <a:rPr lang="en-IN" dirty="0" smtClean="0"/>
              <a:t>E.g., Transaction </a:t>
            </a:r>
            <a:r>
              <a:rPr lang="en-IN" dirty="0"/>
              <a:t>2:</a:t>
            </a:r>
            <a:br>
              <a:rPr lang="en-IN" dirty="0"/>
            </a:br>
            <a:r>
              <a:rPr lang="en-IN" dirty="0"/>
              <a:t>   </a:t>
            </a:r>
            <a:r>
              <a:rPr lang="en-IN" b="1" dirty="0"/>
              <a:t>insert into</a:t>
            </a:r>
            <a:r>
              <a:rPr lang="en-IN" dirty="0"/>
              <a:t> </a:t>
            </a:r>
            <a:r>
              <a:rPr lang="en-IN" i="1" dirty="0"/>
              <a:t>instructor</a:t>
            </a:r>
            <a:r>
              <a:rPr lang="en-IN" dirty="0"/>
              <a:t> </a:t>
            </a:r>
            <a:r>
              <a:rPr lang="en-IN" b="1" dirty="0"/>
              <a:t>values</a:t>
            </a:r>
            <a:r>
              <a:rPr lang="en-IN" dirty="0"/>
              <a:t> ('11111', 'James', 'Marketing', 100000)</a:t>
            </a:r>
          </a:p>
          <a:p>
            <a:r>
              <a:rPr lang="en-IN" dirty="0"/>
              <a:t>Suppose </a:t>
            </a:r>
          </a:p>
          <a:p>
            <a:pPr lvl="1"/>
            <a:r>
              <a:rPr lang="en-IN" dirty="0"/>
              <a:t>T1 starts, finds tuples salary &gt; 90000 using index and locks them</a:t>
            </a:r>
          </a:p>
          <a:p>
            <a:pPr lvl="1"/>
            <a:r>
              <a:rPr lang="en-IN" dirty="0"/>
              <a:t>And then T2 executes.  </a:t>
            </a:r>
          </a:p>
          <a:p>
            <a:pPr lvl="1"/>
            <a:r>
              <a:rPr lang="en-IN" dirty="0"/>
              <a:t>Do T1 and T2 conflict?  Does tuple level locking detect the conflict?</a:t>
            </a:r>
          </a:p>
          <a:p>
            <a:pPr lvl="1"/>
            <a:r>
              <a:rPr lang="en-IN" dirty="0"/>
              <a:t>Instance of the </a:t>
            </a:r>
            <a:r>
              <a:rPr lang="en-IN" b="1" dirty="0">
                <a:solidFill>
                  <a:srgbClr val="002060"/>
                </a:solidFill>
              </a:rPr>
              <a:t>phantom phenomenon</a:t>
            </a:r>
          </a:p>
          <a:p>
            <a:r>
              <a:rPr lang="en-IN" dirty="0"/>
              <a:t>Also consider T3 below, with Wu’s salary = 90000 </a:t>
            </a:r>
            <a:br>
              <a:rPr lang="en-IN" dirty="0"/>
            </a:br>
            <a:r>
              <a:rPr lang="en-IN" sz="1800" dirty="0"/>
              <a:t>    </a:t>
            </a:r>
            <a:r>
              <a:rPr lang="en-IN" sz="1800" b="1" dirty="0"/>
              <a:t>update</a:t>
            </a:r>
            <a:r>
              <a:rPr lang="en-IN" sz="1800" dirty="0"/>
              <a:t> </a:t>
            </a:r>
            <a:r>
              <a:rPr lang="en-IN" sz="1800" i="1" dirty="0"/>
              <a:t>instructor</a:t>
            </a:r>
            <a:r>
              <a:rPr lang="en-IN" sz="1800" dirty="0"/>
              <a:t/>
            </a:r>
            <a:br>
              <a:rPr lang="en-IN" sz="1800" dirty="0"/>
            </a:br>
            <a:r>
              <a:rPr lang="en-IN" sz="1800" dirty="0"/>
              <a:t>    </a:t>
            </a:r>
            <a:r>
              <a:rPr lang="en-IN" sz="1800" b="1" dirty="0"/>
              <a:t>set</a:t>
            </a:r>
            <a:r>
              <a:rPr lang="en-IN" sz="1800" dirty="0"/>
              <a:t> </a:t>
            </a:r>
            <a:r>
              <a:rPr lang="en-IN" sz="1800" i="1" dirty="0"/>
              <a:t>salary</a:t>
            </a:r>
            <a:r>
              <a:rPr lang="en-IN" sz="1800" dirty="0"/>
              <a:t> = </a:t>
            </a:r>
            <a:r>
              <a:rPr lang="en-IN" sz="1800" i="1" dirty="0"/>
              <a:t>salary</a:t>
            </a:r>
            <a:r>
              <a:rPr lang="en-IN" sz="1800" dirty="0"/>
              <a:t> * 1.1</a:t>
            </a:r>
            <a:br>
              <a:rPr lang="en-IN" sz="1800" dirty="0"/>
            </a:br>
            <a:r>
              <a:rPr lang="en-IN" sz="1800" dirty="0"/>
              <a:t>    </a:t>
            </a:r>
            <a:r>
              <a:rPr lang="en-IN" sz="1800" b="1" dirty="0"/>
              <a:t>where</a:t>
            </a:r>
            <a:r>
              <a:rPr lang="en-IN" sz="1800" dirty="0"/>
              <a:t> </a:t>
            </a:r>
            <a:r>
              <a:rPr lang="en-IN" sz="1800" i="1" dirty="0"/>
              <a:t>name</a:t>
            </a:r>
            <a:r>
              <a:rPr lang="en-IN" sz="1800" dirty="0"/>
              <a:t> = 'Wu’ </a:t>
            </a:r>
          </a:p>
          <a:p>
            <a:r>
              <a:rPr lang="en-IN" dirty="0"/>
              <a:t>Key idea:  Detect “</a:t>
            </a:r>
            <a:r>
              <a:rPr lang="en-IN" b="1" dirty="0">
                <a:solidFill>
                  <a:srgbClr val="002060"/>
                </a:solidFill>
              </a:rPr>
              <a:t>predicate</a:t>
            </a:r>
            <a:r>
              <a:rPr lang="en-IN" dirty="0"/>
              <a:t>” conflicts, and use some form of  “</a:t>
            </a:r>
            <a:r>
              <a:rPr lang="en-IN" b="1" dirty="0">
                <a:solidFill>
                  <a:srgbClr val="002060"/>
                </a:solidFill>
              </a:rPr>
              <a:t>predicate locking</a:t>
            </a:r>
            <a:r>
              <a:rPr lang="en-IN" dirty="0"/>
              <a:t>”</a:t>
            </a:r>
          </a:p>
        </p:txBody>
      </p:sp>
    </p:spTree>
    <p:extLst>
      <p:ext uri="{BB962C8B-B14F-4D97-AF65-F5344CB8AC3E}">
        <p14:creationId xmlns:p14="http://schemas.microsoft.com/office/powerpoint/2010/main" val="26274818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C369F0-E989-4F4E-9740-0E12922F33DE}"/>
              </a:ext>
            </a:extLst>
          </p:cNvPr>
          <p:cNvSpPr>
            <a:spLocks noGrp="1"/>
          </p:cNvSpPr>
          <p:nvPr>
            <p:ph idx="1"/>
          </p:nvPr>
        </p:nvSpPr>
        <p:spPr>
          <a:xfrm>
            <a:off x="2643947" y="2796646"/>
            <a:ext cx="5168964" cy="815505"/>
          </a:xfrm>
        </p:spPr>
        <p:txBody>
          <a:bodyPr/>
          <a:lstStyle/>
          <a:p>
            <a:pPr marL="0" indent="0">
              <a:buNone/>
            </a:pPr>
            <a:r>
              <a:rPr lang="en-IN" sz="3200" b="1" dirty="0" smtClean="0">
                <a:solidFill>
                  <a:srgbClr val="002060"/>
                </a:solidFill>
                <a:effectLst>
                  <a:outerShdw blurRad="38100" dist="38100" dir="2700000" algn="tl">
                    <a:srgbClr val="DDDDDD"/>
                  </a:outerShdw>
                </a:effectLst>
                <a:latin typeface="+mj-lt"/>
              </a:rPr>
              <a:t>End of Chapter 17</a:t>
            </a:r>
            <a:endParaRPr lang="en-IN" sz="3200" b="1" dirty="0">
              <a:solidFill>
                <a:srgbClr val="002060"/>
              </a:solidFill>
              <a:effectLst>
                <a:outerShdw blurRad="38100" dist="38100" dir="2700000" algn="tl">
                  <a:srgbClr val="DDDDDD"/>
                </a:outerShdw>
              </a:effectLst>
              <a:latin typeface="+mj-lt"/>
            </a:endParaRPr>
          </a:p>
        </p:txBody>
      </p:sp>
    </p:spTree>
    <p:extLst>
      <p:ext uri="{BB962C8B-B14F-4D97-AF65-F5344CB8AC3E}">
        <p14:creationId xmlns:p14="http://schemas.microsoft.com/office/powerpoint/2010/main" val="2223778985"/>
      </p:ext>
    </p:extLst>
  </p:cSld>
  <p:clrMapOvr>
    <a:masterClrMapping/>
  </p:clrMapOvr>
</p:sld>
</file>

<file path=ppt/theme/theme1.xml><?xml version="1.0" encoding="utf-8"?>
<a:theme xmlns:a="http://schemas.openxmlformats.org/drawingml/2006/main" name="db">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1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1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1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b" id="{854B61EF-CFBF-4F4D-90C6-BAB015E35D01}" vid="{BC3EFCCA-7EC7-446B-8189-3ECEF79E326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Template>
  <TotalTime>54041</TotalTime>
  <Words>2648</Words>
  <Application>Microsoft Office PowerPoint</Application>
  <PresentationFormat>On-screen Show (4:3)</PresentationFormat>
  <Paragraphs>343</Paragraphs>
  <Slides>46</Slides>
  <Notes>43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ＭＳ Ｐゴシック</vt:lpstr>
      <vt:lpstr>ＭＳ Ｐゴシック</vt:lpstr>
      <vt:lpstr>Arial</vt:lpstr>
      <vt:lpstr>Helvetica</vt:lpstr>
      <vt:lpstr>Monotype Sorts</vt:lpstr>
      <vt:lpstr>Symbol</vt:lpstr>
      <vt:lpstr>Times New Roman</vt:lpstr>
      <vt:lpstr>Webdings</vt:lpstr>
      <vt:lpstr>Wingdings</vt:lpstr>
      <vt:lpstr>db</vt:lpstr>
      <vt:lpstr>Module 17: Transactions </vt:lpstr>
      <vt:lpstr>Outline</vt:lpstr>
      <vt:lpstr>Transaction Concept</vt:lpstr>
      <vt:lpstr>Example of Fund Transfer</vt:lpstr>
      <vt:lpstr>Example of Fund Transfer</vt:lpstr>
      <vt:lpstr>Example of Fund Transfer</vt:lpstr>
      <vt:lpstr>Example of Fund Transfer</vt:lpstr>
      <vt:lpstr>Example of Fund Transfer (Cont.)</vt:lpstr>
      <vt:lpstr>Example of Fund Transfer (Cont.)</vt:lpstr>
      <vt:lpstr>Example of Fund Transfer (Cont.)</vt:lpstr>
      <vt:lpstr>Example of Fund Transfer (Cont.)</vt:lpstr>
      <vt:lpstr>Example of Fund Transfer (Cont.)</vt:lpstr>
      <vt:lpstr>ACID Properties</vt:lpstr>
      <vt:lpstr>Transaction State</vt:lpstr>
      <vt:lpstr>Transaction State (Cont.)</vt:lpstr>
      <vt:lpstr>Concurrent Executions</vt:lpstr>
      <vt:lpstr>Schedules</vt:lpstr>
      <vt:lpstr>Schedule 1</vt:lpstr>
      <vt:lpstr>Schedule 2</vt:lpstr>
      <vt:lpstr>Schedule 3</vt:lpstr>
      <vt:lpstr>Schedule 4</vt:lpstr>
      <vt:lpstr>Serializability</vt:lpstr>
      <vt:lpstr>Simplified view of transactions</vt:lpstr>
      <vt:lpstr>Conflicting Instructions </vt:lpstr>
      <vt:lpstr>Conflict Serializability</vt:lpstr>
      <vt:lpstr>Conflict Serializability (Cont.)</vt:lpstr>
      <vt:lpstr>Conflict Serializability (Cont.)</vt:lpstr>
      <vt:lpstr>View Serializability</vt:lpstr>
      <vt:lpstr>View Serializability (Cont.)</vt:lpstr>
      <vt:lpstr>Other Notions of Serializability</vt:lpstr>
      <vt:lpstr>Testing for Serializability </vt:lpstr>
      <vt:lpstr>Test for Conflict Serializability</vt:lpstr>
      <vt:lpstr>Test for View Serializability</vt:lpstr>
      <vt:lpstr>Recoverable Schedules</vt:lpstr>
      <vt:lpstr>Cascading Rollbacks</vt:lpstr>
      <vt:lpstr>Cascadeless Schedules</vt:lpstr>
      <vt:lpstr>Concurrency Control</vt:lpstr>
      <vt:lpstr>Concurrency Control (Cont.)</vt:lpstr>
      <vt:lpstr>Concurrency Control vs. Serializability Tests</vt:lpstr>
      <vt:lpstr>Weak Levels of Consistency</vt:lpstr>
      <vt:lpstr>Levels of Consistency in SQL-92</vt:lpstr>
      <vt:lpstr>Levels of Consistency</vt:lpstr>
      <vt:lpstr>Transaction Definition in SQL</vt:lpstr>
      <vt:lpstr>Implementation of Isolation Levels</vt:lpstr>
      <vt:lpstr>Transactions as SQL Statements</vt:lpstr>
      <vt:lpstr>PowerPoint Presentation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Transactions</dc:title>
  <dc:creator>Silberschatz;Korth and Sudarshan</dc:creator>
  <cp:lastModifiedBy>Anas</cp:lastModifiedBy>
  <cp:revision>613</cp:revision>
  <cp:lastPrinted>1999-06-28T19:27:31Z</cp:lastPrinted>
  <dcterms:created xsi:type="dcterms:W3CDTF">2009-12-21T15:40:23Z</dcterms:created>
  <dcterms:modified xsi:type="dcterms:W3CDTF">2024-12-25T12:17:44Z</dcterms:modified>
</cp:coreProperties>
</file>