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31"/>
  </p:notesMasterIdLst>
  <p:sldIdLst>
    <p:sldId id="256" r:id="rId5"/>
    <p:sldId id="276" r:id="rId6"/>
    <p:sldId id="277" r:id="rId7"/>
    <p:sldId id="278" r:id="rId8"/>
    <p:sldId id="279" r:id="rId9"/>
    <p:sldId id="280" r:id="rId10"/>
    <p:sldId id="281" r:id="rId11"/>
    <p:sldId id="282" r:id="rId12"/>
    <p:sldId id="283" r:id="rId13"/>
    <p:sldId id="284" r:id="rId14"/>
    <p:sldId id="285" r:id="rId15"/>
    <p:sldId id="286" r:id="rId16"/>
    <p:sldId id="301" r:id="rId17"/>
    <p:sldId id="287" r:id="rId18"/>
    <p:sldId id="288" r:id="rId19"/>
    <p:sldId id="289" r:id="rId20"/>
    <p:sldId id="290" r:id="rId21"/>
    <p:sldId id="291" r:id="rId22"/>
    <p:sldId id="292" r:id="rId23"/>
    <p:sldId id="302" r:id="rId24"/>
    <p:sldId id="303" r:id="rId25"/>
    <p:sldId id="297" r:id="rId26"/>
    <p:sldId id="298" r:id="rId27"/>
    <p:sldId id="299" r:id="rId28"/>
    <p:sldId id="300" r:id="rId29"/>
    <p:sldId id="27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52" autoAdjust="0"/>
  </p:normalViewPr>
  <p:slideViewPr>
    <p:cSldViewPr>
      <p:cViewPr varScale="1">
        <p:scale>
          <a:sx n="102" d="100"/>
          <a:sy n="102" d="100"/>
        </p:scale>
        <p:origin x="188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C9FECC-ECFC-42A2-B893-AB2A73E058D8}" type="datetimeFigureOut">
              <a:rPr lang="en-US" smtClean="0"/>
              <a:pPr/>
              <a:t>9/21/2024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8944A8-0F90-4700-B443-CC9323F80183}" type="slidenum">
              <a:rPr lang="en-US" smtClean="0"/>
              <a:pPr/>
              <a:t>‹#›</a:t>
            </a:fld>
            <a:endParaRPr lang="en-US"/>
          </a:p>
        </p:txBody>
      </p:sp>
    </p:spTree>
    <p:extLst>
      <p:ext uri="{BB962C8B-B14F-4D97-AF65-F5344CB8AC3E}">
        <p14:creationId xmlns:p14="http://schemas.microsoft.com/office/powerpoint/2010/main" val="367345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68944A8-0F90-4700-B443-CC9323F80183}" type="slidenum">
              <a:rPr lang="en-US" smtClean="0"/>
              <a:pPr/>
              <a:t>1</a:t>
            </a:fld>
            <a:endParaRPr lang="en-US"/>
          </a:p>
        </p:txBody>
      </p:sp>
    </p:spTree>
    <p:extLst>
      <p:ext uri="{BB962C8B-B14F-4D97-AF65-F5344CB8AC3E}">
        <p14:creationId xmlns:p14="http://schemas.microsoft.com/office/powerpoint/2010/main" val="1807676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conceptual level supports each external view, in that any data available to a user must be contained in, or derivable from, the conceptual level. However, this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level must not contain any storage-dependent details. For instance, the description of an entity should contain only data types of attributes (for example,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inte</a:t>
            </a:r>
            <a:r>
              <a:rPr lang="en-US" sz="1200" b="0" i="0" kern="1200" dirty="0">
                <a:solidFill>
                  <a:schemeClr val="tx1"/>
                </a:solidFill>
                <a:effectLst/>
                <a:latin typeface="+mn-lt"/>
                <a:ea typeface="+mn-ea"/>
                <a:cs typeface="+mn-cs"/>
              </a:rPr>
              <a:t> ger, real, character) and their length (such as the maximum number of digits or characters), but not any storage considerations, such as the number of bytes occupied.</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fld id="{D68944A8-0F90-4700-B443-CC9323F80183}" type="slidenum">
              <a:rPr lang="en-US" smtClean="0"/>
              <a:pPr/>
              <a:t>7</a:t>
            </a:fld>
            <a:endParaRPr lang="en-US"/>
          </a:p>
        </p:txBody>
      </p:sp>
    </p:spTree>
    <p:extLst>
      <p:ext uri="{BB962C8B-B14F-4D97-AF65-F5344CB8AC3E}">
        <p14:creationId xmlns:p14="http://schemas.microsoft.com/office/powerpoint/2010/main" val="327000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762000"/>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52697" y="762000"/>
            <a:ext cx="2193989"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02386" y="1298448"/>
            <a:ext cx="54864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1816F5-45A4-4365-984B-5DA37CD021CB}" type="datetime1">
              <a:rPr lang="en-US" smtClean="0"/>
              <a:pPr/>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318863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9B086A-443F-488D-BD9B-3E632118E777}" type="datetime1">
              <a:rPr lang="en-US" smtClean="0"/>
              <a:pPr/>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85800" y="1219200"/>
            <a:ext cx="1148195" cy="365125"/>
          </a:xfrm>
          <a:effectLst>
            <a:outerShdw blurRad="50800" dist="38100" dir="5400000" algn="t" rotWithShape="0">
              <a:prstClr val="black">
                <a:alpha val="40000"/>
              </a:prstClr>
            </a:outerShdw>
          </a:effectLst>
        </p:spPr>
        <p:txBody>
          <a:bodyPr>
            <a:prstTxWarp prst="textArchDown">
              <a:avLst/>
            </a:prstTxWarp>
          </a:bodyPr>
          <a:lstStyle>
            <a:lvl1pPr algn="ctr">
              <a:defRPr sz="4400" b="0" u="sng"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defRPr>
            </a:lvl1pPr>
          </a:lstStyle>
          <a:p>
            <a:fld id="{4FCBA6A4-4AC1-4AE5-BF17-AC49EE4BA738}" type="slidenum">
              <a:rPr lang="en-US" smtClean="0"/>
              <a:pPr/>
              <a:t>‹#›</a:t>
            </a:fld>
            <a:endParaRPr lang="en-US" dirty="0"/>
          </a:p>
        </p:txBody>
      </p:sp>
    </p:spTree>
    <p:extLst>
      <p:ext uri="{BB962C8B-B14F-4D97-AF65-F5344CB8AC3E}">
        <p14:creationId xmlns:p14="http://schemas.microsoft.com/office/powerpoint/2010/main" val="63237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00934" y="1298448"/>
            <a:ext cx="54864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14650" y="4672584"/>
            <a:ext cx="54864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5EC3A-21A1-4FA1-A4F0-28BA43E7E144}" type="datetime1">
              <a:rPr lang="en-US" smtClean="0"/>
              <a:pPr/>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489204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0934" y="868680"/>
            <a:ext cx="260604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63590" y="868680"/>
            <a:ext cx="260604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409940A-7AE9-40A6-876B-BC4D1CDD3465}" type="datetime1">
              <a:rPr lang="en-US" smtClean="0"/>
              <a:pPr/>
              <a:t>9/21/2024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304551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900934" y="1930936"/>
            <a:ext cx="260604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63847" y="1930936"/>
            <a:ext cx="260604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B25941F8-F478-417C-94C6-25D6965157ED}" type="datetime1">
              <a:rPr lang="en-US" smtClean="0"/>
              <a:pPr/>
              <a:t>9/21/2024</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128590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0C26BE44-8CF2-43F2-9244-9443974A56E1}" type="datetime1">
              <a:rPr lang="en-US" smtClean="0"/>
              <a:pPr/>
              <a:t>9/21/2024</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60055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F14C6EE-5D49-4EE2-91EF-1CEFF1AAC6BC}" type="datetime1">
              <a:rPr lang="en-US" smtClean="0"/>
              <a:pPr/>
              <a:t>9/21/2024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352058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2900934" y="868680"/>
            <a:ext cx="54864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2024" y="3494176"/>
            <a:ext cx="212598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94DE6A4-F4A4-4295-87A2-FF7ADB5DB34D}" type="datetime1">
              <a:rPr lang="en-US" smtClean="0"/>
              <a:pPr/>
              <a:t>9/21/2024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695566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92024" y="3493008"/>
            <a:ext cx="212598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378D75D-C504-4647-AC93-0EAD4132D4A7}" type="datetime1">
              <a:rPr lang="en-US" smtClean="0"/>
              <a:pPr/>
              <a:t>9/21/2024</a:t>
            </a:fld>
            <a:endParaRPr lang="en-US"/>
          </a:p>
        </p:txBody>
      </p:sp>
      <p:sp>
        <p:nvSpPr>
          <p:cNvPr id="9" name="Footer Placeholder 8"/>
          <p:cNvSpPr>
            <a:spLocks noGrp="1"/>
          </p:cNvSpPr>
          <p:nvPr>
            <p:ph type="ftr" sz="quarter" idx="11"/>
          </p:nvPr>
        </p:nvSpPr>
        <p:spPr>
          <a:xfrm>
            <a:off x="2624326" y="6356351"/>
            <a:ext cx="4433638" cy="365125"/>
          </a:xfrm>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402833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781C2F-8BCC-4BFD-82D3-4F6FB2067DDD}" type="datetime1">
              <a:rPr lang="en-US" smtClean="0"/>
              <a:pPr/>
              <a:t>9/21/2024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106623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62198C-479E-467F-BFB8-011CB7805D03}" type="datetime1">
              <a:rPr lang="en-US" smtClean="0"/>
              <a:pPr/>
              <a:t>9/21/2024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2255343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0BEE9C0-DDE8-43DB-8A80-050788B577BD}" type="datetime1">
              <a:rPr lang="en-US" smtClean="0"/>
              <a:pPr/>
              <a:t>9/21/2024</a:t>
            </a:fld>
            <a:endParaRPr lang="en-US"/>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1200" b="1">
                <a:solidFill>
                  <a:schemeClr val="accent1"/>
                </a:solidFill>
              </a:defRPr>
            </a:lvl1pPr>
          </a:lstStyle>
          <a:p>
            <a:fld id="{4FCBA6A4-4AC1-4AE5-BF17-AC49EE4BA738}" type="slidenum">
              <a:rPr lang="en-US" smtClean="0"/>
              <a:pPr/>
              <a:t>‹#›</a:t>
            </a:fld>
            <a:endParaRPr lang="en-US"/>
          </a:p>
        </p:txBody>
      </p:sp>
    </p:spTree>
    <p:extLst>
      <p:ext uri="{BB962C8B-B14F-4D97-AF65-F5344CB8AC3E}">
        <p14:creationId xmlns:p14="http://schemas.microsoft.com/office/powerpoint/2010/main" val="197335631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0800" y="1600200"/>
            <a:ext cx="4191000" cy="990600"/>
          </a:xfrm>
        </p:spPr>
        <p:txBody>
          <a:bodyPr>
            <a:noAutofit/>
          </a:bodyPr>
          <a:lstStyle/>
          <a:p>
            <a:r>
              <a:rPr lang="en-US" sz="4000" b="1" dirty="0">
                <a:effectLst>
                  <a:outerShdw blurRad="38100" dist="38100" dir="2700000" algn="tl">
                    <a:srgbClr val="000000">
                      <a:alpha val="43137"/>
                    </a:srgbClr>
                  </a:outerShdw>
                </a:effectLst>
              </a:rPr>
              <a:t>Introduction to Database Systems</a:t>
            </a:r>
          </a:p>
        </p:txBody>
      </p:sp>
      <p:sp>
        <p:nvSpPr>
          <p:cNvPr id="3" name="Subtitle 2"/>
          <p:cNvSpPr>
            <a:spLocks noGrp="1"/>
          </p:cNvSpPr>
          <p:nvPr>
            <p:ph type="subTitle" idx="1"/>
          </p:nvPr>
        </p:nvSpPr>
        <p:spPr>
          <a:xfrm>
            <a:off x="533400" y="2895600"/>
            <a:ext cx="5410200" cy="914400"/>
          </a:xfrm>
        </p:spPr>
        <p:txBody>
          <a:bodyPr>
            <a:normAutofit fontScale="47500" lnSpcReduction="20000"/>
          </a:bodyPr>
          <a:lstStyle/>
          <a:p>
            <a:r>
              <a:rPr lang="en-US" sz="14400" dirty="0"/>
              <a:t> </a:t>
            </a:r>
            <a:endParaRPr lang="en-US" sz="9600" dirty="0">
              <a:solidFill>
                <a:schemeClr val="bg1"/>
              </a:solidFill>
            </a:endParaRPr>
          </a:p>
        </p:txBody>
      </p:sp>
      <p:pic>
        <p:nvPicPr>
          <p:cNvPr id="1031" name="Picture 7" descr="C:\Users\SALMAN\Desktop\database-symbol-hi.png"/>
          <p:cNvPicPr>
            <a:picLocks noChangeAspect="1" noChangeArrowheads="1"/>
          </p:cNvPicPr>
          <p:nvPr/>
        </p:nvPicPr>
        <p:blipFill>
          <a:blip r:embed="rId3"/>
          <a:srcRect/>
          <a:stretch>
            <a:fillRect/>
          </a:stretch>
        </p:blipFill>
        <p:spPr bwMode="auto">
          <a:xfrm>
            <a:off x="541337" y="990600"/>
            <a:ext cx="1897063" cy="2093913"/>
          </a:xfrm>
          <a:prstGeom prst="rect">
            <a:avLst/>
          </a:prstGeom>
          <a:noFill/>
        </p:spPr>
      </p:pic>
      <p:sp>
        <p:nvSpPr>
          <p:cNvPr id="13" name="TextBox 12"/>
          <p:cNvSpPr txBox="1"/>
          <p:nvPr/>
        </p:nvSpPr>
        <p:spPr>
          <a:xfrm>
            <a:off x="7162800" y="5486400"/>
            <a:ext cx="1818126" cy="523220"/>
          </a:xfrm>
          <a:prstGeom prst="rect">
            <a:avLst/>
          </a:prstGeom>
          <a:noFill/>
        </p:spPr>
        <p:txBody>
          <a:bodyPr wrap="none" rtlCol="0">
            <a:spAutoFit/>
          </a:bodyPr>
          <a:lstStyle/>
          <a:p>
            <a:r>
              <a:rPr lang="en-US" sz="2800" dirty="0">
                <a:solidFill>
                  <a:schemeClr val="bg1">
                    <a:lumMod val="50000"/>
                  </a:schemeClr>
                </a:solidFill>
              </a:rPr>
              <a:t>Lecture – 2</a:t>
            </a:r>
          </a:p>
        </p:txBody>
      </p:sp>
      <p:pic>
        <p:nvPicPr>
          <p:cNvPr id="1034" name="Picture 10" descr="C:\Users\SALMAN\Desktop\PDF.png"/>
          <p:cNvPicPr>
            <a:picLocks noChangeAspect="1" noChangeArrowheads="1"/>
          </p:cNvPicPr>
          <p:nvPr/>
        </p:nvPicPr>
        <p:blipFill>
          <a:blip r:embed="rId4"/>
          <a:srcRect/>
          <a:stretch>
            <a:fillRect/>
          </a:stretch>
        </p:blipFill>
        <p:spPr bwMode="auto">
          <a:xfrm>
            <a:off x="7010400" y="3581400"/>
            <a:ext cx="1981200" cy="1981200"/>
          </a:xfrm>
          <a:prstGeom prst="rect">
            <a:avLst/>
          </a:prstGeom>
          <a:noFill/>
        </p:spPr>
      </p:pic>
      <p:sp>
        <p:nvSpPr>
          <p:cNvPr id="17" name="Slide Number Placeholder 16"/>
          <p:cNvSpPr>
            <a:spLocks noGrp="1"/>
          </p:cNvSpPr>
          <p:nvPr>
            <p:ph type="sldNum" sz="quarter" idx="12"/>
          </p:nvPr>
        </p:nvSpPr>
        <p:spPr/>
        <p:txBody>
          <a:bodyPr/>
          <a:lstStyle/>
          <a:p>
            <a:fld id="{4FCBA6A4-4AC1-4AE5-BF17-AC49EE4BA73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Database Architecture</a:t>
            </a:r>
          </a:p>
        </p:txBody>
      </p:sp>
      <p:sp>
        <p:nvSpPr>
          <p:cNvPr id="6" name="Subtitle 5"/>
          <p:cNvSpPr>
            <a:spLocks noGrp="1"/>
          </p:cNvSpPr>
          <p:nvPr>
            <p:ph type="subTitle" idx="1"/>
          </p:nvPr>
        </p:nvSpPr>
        <p:spPr/>
        <p:txBody>
          <a:bodyPr/>
          <a:lstStyle/>
          <a:p>
            <a:r>
              <a:rPr lang="en-US" dirty="0"/>
              <a:t>Reading Assignment: </a:t>
            </a:r>
          </a:p>
          <a:p>
            <a:r>
              <a:rPr lang="en-US" dirty="0"/>
              <a:t>Chapter 2: </a:t>
            </a:r>
            <a:r>
              <a:rPr lang="en-US" b="1" dirty="0"/>
              <a:t>Database Environment</a:t>
            </a: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br>
              <a:rPr lang="en-US" dirty="0"/>
            </a:br>
            <a:br>
              <a:rPr lang="en-US" dirty="0"/>
            </a:br>
            <a:r>
              <a:rPr lang="en-US" sz="3200" dirty="0"/>
              <a:t>Three-Level ANSI-SPARC Architecture</a:t>
            </a:r>
            <a:br>
              <a:rPr lang="en-US" sz="3200" dirty="0"/>
            </a:br>
            <a:r>
              <a:rPr lang="en-US" sz="3200" dirty="0"/>
              <a:t> </a:t>
            </a:r>
            <a:r>
              <a:rPr lang="en-US" sz="1600" dirty="0"/>
              <a:t>American National Standards Institute (ANSI) </a:t>
            </a:r>
            <a:br>
              <a:rPr lang="en-US" sz="1600" dirty="0"/>
            </a:br>
            <a:br>
              <a:rPr lang="en-US" sz="1600" dirty="0"/>
            </a:br>
            <a:r>
              <a:rPr lang="en-US" sz="1600" dirty="0"/>
              <a:t>Standards</a:t>
            </a:r>
            <a:br>
              <a:rPr lang="en-US" sz="1600" dirty="0"/>
            </a:br>
            <a:r>
              <a:rPr lang="en-US" sz="1600" dirty="0"/>
              <a:t>Planning and Requirements Committee (SPARC)</a:t>
            </a: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3</a:t>
            </a:fld>
            <a:endParaRPr lang="en-US" dirty="0"/>
          </a:p>
        </p:txBody>
      </p:sp>
      <p:pic>
        <p:nvPicPr>
          <p:cNvPr id="1026" name="Picture 2"/>
          <p:cNvPicPr>
            <a:picLocks noChangeAspect="1" noChangeArrowheads="1"/>
          </p:cNvPicPr>
          <p:nvPr/>
        </p:nvPicPr>
        <p:blipFill>
          <a:blip r:embed="rId2"/>
          <a:srcRect/>
          <a:stretch>
            <a:fillRect/>
          </a:stretch>
        </p:blipFill>
        <p:spPr bwMode="auto">
          <a:xfrm>
            <a:off x="2743200" y="381000"/>
            <a:ext cx="5871124" cy="4853089"/>
          </a:xfrm>
          <a:prstGeom prst="rect">
            <a:avLst/>
          </a:prstGeom>
          <a:noFill/>
          <a:ln w="9525">
            <a:noFill/>
            <a:miter lim="800000"/>
            <a:headEnd/>
            <a:tailEnd/>
          </a:ln>
          <a:effectLst/>
        </p:spPr>
      </p:pic>
      <p:sp>
        <p:nvSpPr>
          <p:cNvPr id="6" name="TextBox 5"/>
          <p:cNvSpPr txBox="1"/>
          <p:nvPr/>
        </p:nvSpPr>
        <p:spPr>
          <a:xfrm>
            <a:off x="2961776" y="5027372"/>
            <a:ext cx="4816062" cy="1449628"/>
          </a:xfrm>
          <a:prstGeom prst="rect">
            <a:avLst/>
          </a:prstGeom>
          <a:noFill/>
        </p:spPr>
        <p:txBody>
          <a:bodyPr wrap="none" rtlCol="0">
            <a:spAutoFit/>
          </a:bodyPr>
          <a:lstStyle/>
          <a:p>
            <a:pPr>
              <a:lnSpc>
                <a:spcPct val="130000"/>
              </a:lnSpc>
              <a:buClr>
                <a:schemeClr val="tx1"/>
              </a:buClr>
              <a:buFont typeface="Wingdings" pitchFamily="2" charset="2"/>
              <a:buChar char="Ø"/>
            </a:pPr>
            <a:r>
              <a:rPr lang="en-US" dirty="0"/>
              <a:t>Architecture : Refers to permanent structure</a:t>
            </a:r>
          </a:p>
          <a:p>
            <a:pPr>
              <a:lnSpc>
                <a:spcPct val="130000"/>
              </a:lnSpc>
              <a:buClr>
                <a:schemeClr val="tx1"/>
              </a:buClr>
            </a:pPr>
            <a:r>
              <a:rPr lang="en-US" dirty="0"/>
              <a:t>    or </a:t>
            </a:r>
            <a:r>
              <a:rPr lang="en-US" b="1" i="1" dirty="0"/>
              <a:t>intention of database </a:t>
            </a:r>
            <a:endParaRPr lang="en-US" b="1" dirty="0"/>
          </a:p>
          <a:p>
            <a:pPr>
              <a:lnSpc>
                <a:spcPct val="130000"/>
              </a:lnSpc>
              <a:buClr>
                <a:schemeClr val="tx1"/>
              </a:buClr>
              <a:buFont typeface="Wingdings" pitchFamily="2" charset="2"/>
              <a:buChar char="Ø"/>
            </a:pPr>
            <a:r>
              <a:rPr lang="en-US" dirty="0"/>
              <a:t>Represented by three </a:t>
            </a:r>
            <a:r>
              <a:rPr lang="en-US" i="1" u="sng" dirty="0"/>
              <a:t>schemas </a:t>
            </a:r>
            <a:r>
              <a:rPr lang="en-US" dirty="0"/>
              <a:t>or three models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123838"/>
            <a:ext cx="2514600" cy="4601183"/>
          </a:xfrm>
        </p:spPr>
        <p:txBody>
          <a:bodyPr/>
          <a:lstStyle/>
          <a:p>
            <a:pPr algn="ctr"/>
            <a:r>
              <a:rPr lang="en-US" dirty="0"/>
              <a:t>Three-level Architecture</a:t>
            </a:r>
          </a:p>
        </p:txBody>
      </p:sp>
      <p:sp>
        <p:nvSpPr>
          <p:cNvPr id="3" name="Content Placeholder 2"/>
          <p:cNvSpPr>
            <a:spLocks noGrp="1"/>
          </p:cNvSpPr>
          <p:nvPr>
            <p:ph idx="1"/>
          </p:nvPr>
        </p:nvSpPr>
        <p:spPr>
          <a:xfrm>
            <a:off x="2667000" y="864108"/>
            <a:ext cx="6172200" cy="5120640"/>
          </a:xfrm>
        </p:spPr>
        <p:txBody>
          <a:bodyPr>
            <a:normAutofit/>
          </a:bodyPr>
          <a:lstStyle/>
          <a:p>
            <a:pPr marL="344488" indent="-344488">
              <a:buFont typeface="Wingdings" pitchFamily="2" charset="2"/>
              <a:buChar char="§"/>
            </a:pPr>
            <a:r>
              <a:rPr lang="en-US" sz="2800" dirty="0"/>
              <a:t>The way users perceive the data is called the </a:t>
            </a:r>
            <a:r>
              <a:rPr lang="en-US" sz="2800" b="1" dirty="0"/>
              <a:t>external level</a:t>
            </a:r>
            <a:r>
              <a:rPr lang="en-US" sz="2800" dirty="0"/>
              <a:t>. </a:t>
            </a:r>
          </a:p>
          <a:p>
            <a:pPr marL="344488" indent="-344488">
              <a:buFont typeface="Wingdings" pitchFamily="2" charset="2"/>
              <a:buChar char="§"/>
            </a:pPr>
            <a:r>
              <a:rPr lang="en-US" sz="2800" dirty="0"/>
              <a:t>The way the DBMS and the operating system perceive the data is </a:t>
            </a:r>
            <a:r>
              <a:rPr lang="en-US" sz="2800" b="1" dirty="0"/>
              <a:t>the internal level</a:t>
            </a:r>
            <a:r>
              <a:rPr lang="en-US" sz="2800" dirty="0"/>
              <a:t>, where the data is actually stored using the data structures and file organizations. </a:t>
            </a:r>
          </a:p>
          <a:p>
            <a:pPr marL="344488" indent="-344488">
              <a:buFont typeface="Wingdings" pitchFamily="2" charset="2"/>
              <a:buChar char="§"/>
            </a:pPr>
            <a:r>
              <a:rPr lang="en-US" sz="2800" dirty="0"/>
              <a:t>The </a:t>
            </a:r>
            <a:r>
              <a:rPr lang="en-US" sz="2800" b="1" dirty="0"/>
              <a:t>conceptual level </a:t>
            </a:r>
            <a:r>
              <a:rPr lang="en-US" sz="2800" dirty="0"/>
              <a:t>provides both the mapping and the desired independence between the external and internal levels.</a:t>
            </a:r>
          </a:p>
        </p:txBody>
      </p:sp>
      <p:sp>
        <p:nvSpPr>
          <p:cNvPr id="4" name="Slide Number Placeholder 3"/>
          <p:cNvSpPr>
            <a:spLocks noGrp="1"/>
          </p:cNvSpPr>
          <p:nvPr>
            <p:ph type="sldNum" sz="quarter" idx="12"/>
          </p:nvPr>
        </p:nvSpPr>
        <p:spPr/>
        <p:txBody>
          <a:bodyPr/>
          <a:lstStyle/>
          <a:p>
            <a:fld id="{4FCBA6A4-4AC1-4AE5-BF17-AC49EE4BA738}"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sp>
        <p:nvSpPr>
          <p:cNvPr id="3" name="Content Placeholder 2"/>
          <p:cNvSpPr>
            <a:spLocks noGrp="1"/>
          </p:cNvSpPr>
          <p:nvPr>
            <p:ph idx="1"/>
          </p:nvPr>
        </p:nvSpPr>
        <p:spPr>
          <a:xfrm>
            <a:off x="2667000" y="762000"/>
            <a:ext cx="6095999" cy="5257800"/>
          </a:xfrm>
        </p:spPr>
        <p:txBody>
          <a:bodyPr>
            <a:normAutofit fontScale="92500"/>
          </a:bodyPr>
          <a:lstStyle/>
          <a:p>
            <a:pPr marL="404813" indent="-404813" algn="just">
              <a:buFont typeface="Wingdings" pitchFamily="2" charset="2"/>
              <a:buChar char="§"/>
            </a:pPr>
            <a:r>
              <a:rPr lang="en-US" dirty="0"/>
              <a:t>The objective of the three-level architecture is to separate each user’s view of the database from the way the database is physically represented:	</a:t>
            </a:r>
          </a:p>
          <a:p>
            <a:pPr marL="907733" lvl="1" indent="-404813" algn="just">
              <a:buFont typeface="Wingdings" pitchFamily="2" charset="2"/>
              <a:buChar char="§"/>
            </a:pPr>
            <a:r>
              <a:rPr lang="en-US" dirty="0"/>
              <a:t>Each user should be able to access the same data, but have a different customized view of the data. Each user should be able to change the way he or she views the data, and this change should not affect other users.</a:t>
            </a:r>
          </a:p>
          <a:p>
            <a:pPr marL="907733" lvl="1" indent="-404813" algn="just">
              <a:buFont typeface="Wingdings" pitchFamily="2" charset="2"/>
              <a:buChar char="§"/>
            </a:pPr>
            <a:r>
              <a:rPr lang="en-US" dirty="0"/>
              <a:t>Users should not have to deal directly with physical database storage details, such as indexing or hashing. In other words, a user’s interaction with the database should be independent of storage considerations.</a:t>
            </a:r>
          </a:p>
          <a:p>
            <a:pPr marL="907733" lvl="1" indent="-404813" algn="just">
              <a:buFont typeface="Wingdings" pitchFamily="2" charset="2"/>
              <a:buChar char="§"/>
            </a:pPr>
            <a:r>
              <a:rPr lang="en-US" dirty="0"/>
              <a:t>The Database Administrator (DBA) should be able to change the database storage structures without affecting the users’ views.</a:t>
            </a:r>
          </a:p>
          <a:p>
            <a:pPr marL="907733" lvl="1" indent="-404813" algn="just">
              <a:buFont typeface="Wingdings" pitchFamily="2" charset="2"/>
              <a:buChar char="§"/>
            </a:pPr>
            <a:r>
              <a:rPr lang="en-US" dirty="0"/>
              <a:t>The internal structure of the database should be unaffected by changes to the physical aspects of storage, such as the changeover to a new storage device.</a:t>
            </a:r>
          </a:p>
          <a:p>
            <a:pPr marL="907733" lvl="1" indent="-404813" algn="just">
              <a:buFont typeface="Wingdings" pitchFamily="2" charset="2"/>
              <a:buChar char="§"/>
            </a:pPr>
            <a:r>
              <a:rPr lang="en-US" dirty="0"/>
              <a:t>The DBA should be able to change the conceptual structure of the database without affecting all users.</a:t>
            </a:r>
          </a:p>
        </p:txBody>
      </p:sp>
      <p:sp>
        <p:nvSpPr>
          <p:cNvPr id="4" name="Slide Number Placeholder 3"/>
          <p:cNvSpPr>
            <a:spLocks noGrp="1"/>
          </p:cNvSpPr>
          <p:nvPr>
            <p:ph type="sldNum" sz="quarter" idx="12"/>
          </p:nvPr>
        </p:nvSpPr>
        <p:spPr/>
        <p:txBody>
          <a:bodyPr/>
          <a:lstStyle/>
          <a:p>
            <a:fld id="{4FCBA6A4-4AC1-4AE5-BF17-AC49EE4BA738}"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External View</a:t>
            </a:r>
          </a:p>
        </p:txBody>
      </p:sp>
      <p:sp>
        <p:nvSpPr>
          <p:cNvPr id="3" name="Content Placeholder 2"/>
          <p:cNvSpPr>
            <a:spLocks noGrp="1"/>
          </p:cNvSpPr>
          <p:nvPr>
            <p:ph idx="1"/>
          </p:nvPr>
        </p:nvSpPr>
        <p:spPr>
          <a:xfrm>
            <a:off x="2667000" y="864108"/>
            <a:ext cx="6096000" cy="5120640"/>
          </a:xfrm>
        </p:spPr>
        <p:txBody>
          <a:bodyPr>
            <a:normAutofit/>
          </a:bodyPr>
          <a:lstStyle/>
          <a:p>
            <a:pPr marL="404813" indent="-404813" algn="just">
              <a:buFont typeface="Wingdings" pitchFamily="2" charset="2"/>
              <a:buChar char="§"/>
            </a:pPr>
            <a:r>
              <a:rPr lang="en-US" sz="2400" dirty="0"/>
              <a:t>The </a:t>
            </a:r>
            <a:r>
              <a:rPr lang="en-US" sz="2400" b="1" dirty="0"/>
              <a:t>users’ view </a:t>
            </a:r>
            <a:r>
              <a:rPr lang="en-US" sz="2400" dirty="0"/>
              <a:t>of the database. This level describes that part of the database that is relevant to each user.</a:t>
            </a:r>
          </a:p>
          <a:p>
            <a:pPr marL="404813" indent="-404813" algn="just">
              <a:buFont typeface="Wingdings" pitchFamily="2" charset="2"/>
              <a:buChar char="§"/>
            </a:pPr>
            <a:endParaRPr lang="en-US" sz="2400" dirty="0"/>
          </a:p>
          <a:p>
            <a:pPr marL="404813" indent="-404813" algn="just">
              <a:buFont typeface="Wingdings" pitchFamily="2" charset="2"/>
              <a:buChar char="§"/>
            </a:pPr>
            <a:r>
              <a:rPr lang="en-US" sz="2400" dirty="0"/>
              <a:t>Different views may have different representations of the same data. For example, one user may view dates in the form (day, month, year), while another may view dates as (year, month, day).</a:t>
            </a:r>
          </a:p>
          <a:p>
            <a:pPr marL="404813" indent="-404813" algn="just">
              <a:buFont typeface="Wingdings" pitchFamily="2" charset="2"/>
              <a:buChar char="§"/>
            </a:pPr>
            <a:endParaRPr lang="en-US" sz="2400" dirty="0"/>
          </a:p>
          <a:p>
            <a:pPr marL="404813" indent="-404813" algn="just">
              <a:buFont typeface="Wingdings" pitchFamily="2" charset="2"/>
              <a:buChar char="§"/>
            </a:pPr>
            <a:r>
              <a:rPr lang="en-US" sz="2400" dirty="0"/>
              <a:t>External schema evolves as user needs are modified over time.</a:t>
            </a:r>
          </a:p>
        </p:txBody>
      </p:sp>
      <p:sp>
        <p:nvSpPr>
          <p:cNvPr id="4" name="Slide Number Placeholder 3"/>
          <p:cNvSpPr>
            <a:spLocks noGrp="1"/>
          </p:cNvSpPr>
          <p:nvPr>
            <p:ph type="sldNum" sz="quarter" idx="12"/>
          </p:nvPr>
        </p:nvSpPr>
        <p:spPr/>
        <p:txBody>
          <a:bodyPr/>
          <a:lstStyle/>
          <a:p>
            <a:fld id="{4FCBA6A4-4AC1-4AE5-BF17-AC49EE4BA738}"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123838"/>
            <a:ext cx="2324911" cy="4601183"/>
          </a:xfrm>
        </p:spPr>
        <p:txBody>
          <a:bodyPr/>
          <a:lstStyle/>
          <a:p>
            <a:r>
              <a:rPr lang="en-US" dirty="0"/>
              <a:t>Conceptual Level</a:t>
            </a:r>
          </a:p>
        </p:txBody>
      </p:sp>
      <p:sp>
        <p:nvSpPr>
          <p:cNvPr id="3" name="Content Placeholder 2"/>
          <p:cNvSpPr>
            <a:spLocks noGrp="1"/>
          </p:cNvSpPr>
          <p:nvPr>
            <p:ph idx="1"/>
          </p:nvPr>
        </p:nvSpPr>
        <p:spPr>
          <a:xfrm>
            <a:off x="2667000" y="762000"/>
            <a:ext cx="6019799" cy="5257800"/>
          </a:xfrm>
        </p:spPr>
        <p:txBody>
          <a:bodyPr>
            <a:normAutofit lnSpcReduction="10000"/>
          </a:bodyPr>
          <a:lstStyle/>
          <a:p>
            <a:pPr marL="404813" indent="-404813" algn="just">
              <a:buFont typeface="Wingdings" pitchFamily="2" charset="2"/>
              <a:buChar char="§"/>
            </a:pPr>
            <a:r>
              <a:rPr lang="en-US" sz="2400" dirty="0"/>
              <a:t>The </a:t>
            </a:r>
            <a:r>
              <a:rPr lang="en-US" sz="2400" b="1" dirty="0"/>
              <a:t>community view </a:t>
            </a:r>
            <a:r>
              <a:rPr lang="en-US" sz="2400" dirty="0"/>
              <a:t>of the database. This level describes what data is stored in the database and the relationships among the data.</a:t>
            </a:r>
          </a:p>
          <a:p>
            <a:pPr marL="404813" indent="-404813" algn="just">
              <a:buFont typeface="Wingdings" pitchFamily="2" charset="2"/>
              <a:buChar char="§"/>
            </a:pPr>
            <a:r>
              <a:rPr lang="en-US" sz="2400" dirty="0"/>
              <a:t>This level contains the logical structure of the entire database as seen by the DBA.</a:t>
            </a:r>
          </a:p>
          <a:p>
            <a:pPr marL="404813" indent="-404813" algn="just">
              <a:buFont typeface="Wingdings" pitchFamily="2" charset="2"/>
              <a:buChar char="§"/>
            </a:pPr>
            <a:endParaRPr lang="en-US" sz="2400" dirty="0"/>
          </a:p>
          <a:p>
            <a:pPr marL="907733" lvl="1" indent="-404813" algn="just">
              <a:buFont typeface="Wingdings" pitchFamily="2" charset="2"/>
              <a:buChar char="§"/>
            </a:pPr>
            <a:r>
              <a:rPr lang="en-US" sz="2000" dirty="0"/>
              <a:t>All entities, their attributes, and their relationships </a:t>
            </a:r>
          </a:p>
          <a:p>
            <a:pPr marL="907733" lvl="1" indent="-404813" algn="just">
              <a:buFont typeface="Wingdings" pitchFamily="2" charset="2"/>
              <a:buChar char="§"/>
            </a:pPr>
            <a:r>
              <a:rPr lang="en-US" sz="2000" dirty="0"/>
              <a:t>Constraints on the data;</a:t>
            </a:r>
          </a:p>
          <a:p>
            <a:pPr marL="907733" lvl="1" indent="-404813" algn="just">
              <a:buFont typeface="Wingdings" pitchFamily="2" charset="2"/>
              <a:buChar char="§"/>
            </a:pPr>
            <a:r>
              <a:rPr lang="en-US" sz="2000" dirty="0"/>
              <a:t>Semantic information about the data;</a:t>
            </a:r>
          </a:p>
          <a:p>
            <a:pPr marL="907733" lvl="1" indent="-404813" algn="just">
              <a:buFont typeface="Wingdings" pitchFamily="2" charset="2"/>
              <a:buChar char="§"/>
            </a:pPr>
            <a:r>
              <a:rPr lang="en-US" sz="2000" dirty="0"/>
              <a:t>Security and integrity information.</a:t>
            </a:r>
          </a:p>
          <a:p>
            <a:pPr marL="907733" lvl="1" indent="-404813" algn="just">
              <a:buFont typeface="Wingdings" pitchFamily="2" charset="2"/>
              <a:buChar char="§"/>
            </a:pPr>
            <a:endParaRPr lang="en-US" sz="2000" dirty="0"/>
          </a:p>
          <a:p>
            <a:pPr marL="404813" indent="-404813" algn="just">
              <a:buFont typeface="Wingdings" pitchFamily="2" charset="2"/>
              <a:buChar char="§"/>
            </a:pPr>
            <a:r>
              <a:rPr lang="en-US" sz="2400" b="1" dirty="0"/>
              <a:t>No storage considerations, such as the number of bytes occupied.</a:t>
            </a:r>
            <a:endParaRPr lang="en-US" b="1"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Internal Level </a:t>
            </a:r>
            <a:br>
              <a:rPr lang="en-US" dirty="0"/>
            </a:br>
            <a:br>
              <a:rPr lang="en-US" dirty="0"/>
            </a:br>
            <a:r>
              <a:rPr lang="en-US" sz="2800" dirty="0"/>
              <a:t>OR</a:t>
            </a:r>
            <a:br>
              <a:rPr lang="en-US" dirty="0"/>
            </a:br>
            <a:br>
              <a:rPr lang="en-US" dirty="0"/>
            </a:br>
            <a:r>
              <a:rPr lang="en-US" dirty="0"/>
              <a:t>Physical Level </a:t>
            </a:r>
          </a:p>
        </p:txBody>
      </p:sp>
      <p:sp>
        <p:nvSpPr>
          <p:cNvPr id="3" name="Content Placeholder 2"/>
          <p:cNvSpPr>
            <a:spLocks noGrp="1"/>
          </p:cNvSpPr>
          <p:nvPr>
            <p:ph idx="1"/>
          </p:nvPr>
        </p:nvSpPr>
        <p:spPr>
          <a:xfrm>
            <a:off x="2667000" y="864108"/>
            <a:ext cx="6096000" cy="5120640"/>
          </a:xfrm>
        </p:spPr>
        <p:txBody>
          <a:bodyPr>
            <a:noAutofit/>
          </a:bodyPr>
          <a:lstStyle/>
          <a:p>
            <a:pPr marL="404813" indent="-404813" algn="just">
              <a:buFont typeface="Wingdings" pitchFamily="2" charset="2"/>
              <a:buChar char="§"/>
            </a:pPr>
            <a:r>
              <a:rPr lang="en-US" sz="2400" dirty="0"/>
              <a:t>The </a:t>
            </a:r>
            <a:r>
              <a:rPr lang="en-US" sz="2400" b="1" dirty="0"/>
              <a:t>physical representation </a:t>
            </a:r>
            <a:r>
              <a:rPr lang="en-US" sz="2400" dirty="0"/>
              <a:t>of the database on the computer. This level describes how the data is stored in the database.</a:t>
            </a:r>
          </a:p>
          <a:p>
            <a:pPr marL="404813" indent="-404813" algn="just">
              <a:buFont typeface="Wingdings" pitchFamily="2" charset="2"/>
              <a:buChar char="§"/>
            </a:pPr>
            <a:endParaRPr lang="en-US" sz="2400" dirty="0"/>
          </a:p>
          <a:p>
            <a:pPr marL="907733" lvl="1" indent="-404813" algn="just">
              <a:buFont typeface="Wingdings" pitchFamily="2" charset="2"/>
              <a:buChar char="§"/>
            </a:pPr>
            <a:r>
              <a:rPr lang="en-US" sz="2000" dirty="0"/>
              <a:t>storage space allocation for data and indexes;</a:t>
            </a:r>
          </a:p>
          <a:p>
            <a:pPr marL="907733" lvl="1" indent="-404813" algn="just">
              <a:buFont typeface="Wingdings" pitchFamily="2" charset="2"/>
              <a:buChar char="§"/>
            </a:pPr>
            <a:r>
              <a:rPr lang="en-US" sz="2000" dirty="0"/>
              <a:t>record descriptions for storage (with stored sizes for data items);</a:t>
            </a:r>
          </a:p>
          <a:p>
            <a:pPr marL="907733" lvl="1" indent="-404813" algn="just">
              <a:buFont typeface="Wingdings" pitchFamily="2" charset="2"/>
              <a:buChar char="§"/>
            </a:pPr>
            <a:r>
              <a:rPr lang="en-US" sz="2000" dirty="0"/>
              <a:t>data compression and data encryption techniques.</a:t>
            </a:r>
          </a:p>
          <a:p>
            <a:pPr marL="907733" lvl="1" indent="-404813" algn="just">
              <a:buFont typeface="Wingdings" pitchFamily="2" charset="2"/>
              <a:buChar char="§"/>
            </a:pPr>
            <a:endParaRPr lang="en-US" sz="2000" dirty="0"/>
          </a:p>
          <a:p>
            <a:pPr marL="404813" indent="-404813" algn="just">
              <a:buFont typeface="Wingdings" pitchFamily="2" charset="2"/>
              <a:buChar char="§"/>
            </a:pPr>
            <a:r>
              <a:rPr lang="en-US" sz="2400" dirty="0"/>
              <a:t>Below the internal level there is a physical level that may be managed by the operating system under the direction of the DBMS.</a:t>
            </a:r>
          </a:p>
        </p:txBody>
      </p:sp>
      <p:sp>
        <p:nvSpPr>
          <p:cNvPr id="4" name="Slide Number Placeholder 3"/>
          <p:cNvSpPr>
            <a:spLocks noGrp="1"/>
          </p:cNvSpPr>
          <p:nvPr>
            <p:ph type="sldNum" sz="quarter" idx="12"/>
          </p:nvPr>
        </p:nvSpPr>
        <p:spPr/>
        <p:txBody>
          <a:bodyPr/>
          <a:lstStyle/>
          <a:p>
            <a:fld id="{4FCBA6A4-4AC1-4AE5-BF17-AC49EE4BA738}"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14599" cy="4601183"/>
          </a:xfrm>
        </p:spPr>
        <p:txBody>
          <a:bodyPr/>
          <a:lstStyle/>
          <a:p>
            <a:r>
              <a:rPr lang="en-US" dirty="0"/>
              <a:t>Three-level Architecture</a:t>
            </a:r>
          </a:p>
        </p:txBody>
      </p:sp>
      <p:graphicFrame>
        <p:nvGraphicFramePr>
          <p:cNvPr id="5" name="Content Placeholder 4"/>
          <p:cNvGraphicFramePr>
            <a:graphicFrameLocks noGrp="1"/>
          </p:cNvGraphicFramePr>
          <p:nvPr>
            <p:ph idx="1"/>
          </p:nvPr>
        </p:nvGraphicFramePr>
        <p:xfrm>
          <a:off x="2667000" y="863600"/>
          <a:ext cx="1981200" cy="118872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tblGrid>
              <a:tr h="939800">
                <a:tc>
                  <a:txBody>
                    <a:bodyPr/>
                    <a:lstStyle/>
                    <a:p>
                      <a:r>
                        <a:rPr lang="en-US" sz="1800" b="0" dirty="0"/>
                        <a:t>First Name: </a:t>
                      </a:r>
                      <a:r>
                        <a:rPr lang="en-US" sz="1800" b="0" dirty="0" err="1"/>
                        <a:t>Rana</a:t>
                      </a:r>
                      <a:endParaRPr lang="en-US" sz="1800" b="0" dirty="0"/>
                    </a:p>
                    <a:p>
                      <a:r>
                        <a:rPr lang="en-US" sz="1800" b="0" dirty="0"/>
                        <a:t>Last Name: </a:t>
                      </a:r>
                      <a:r>
                        <a:rPr lang="en-US" sz="1800" b="0" dirty="0" err="1"/>
                        <a:t>Aslam</a:t>
                      </a:r>
                      <a:endParaRPr lang="en-US" sz="1800" b="0" dirty="0"/>
                    </a:p>
                    <a:p>
                      <a:r>
                        <a:rPr lang="en-US" sz="1800" b="0" dirty="0"/>
                        <a:t>Date of Birth:</a:t>
                      </a:r>
                    </a:p>
                    <a:p>
                      <a:r>
                        <a:rPr lang="en-US" sz="1800" b="0" dirty="0"/>
                        <a:t> 12 Sep, 1970</a:t>
                      </a:r>
                      <a:endParaRPr lang="en-US" dirty="0"/>
                    </a:p>
                  </a:txBody>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p:txBody>
          <a:bodyPr/>
          <a:lstStyle/>
          <a:p>
            <a:fld id="{4FCBA6A4-4AC1-4AE5-BF17-AC49EE4BA738}" type="slidenum">
              <a:rPr lang="en-US" smtClean="0"/>
              <a:pPr/>
              <a:t>9</a:t>
            </a:fld>
            <a:endParaRPr lang="en-US" dirty="0"/>
          </a:p>
        </p:txBody>
      </p:sp>
      <p:graphicFrame>
        <p:nvGraphicFramePr>
          <p:cNvPr id="6" name="Content Placeholder 4"/>
          <p:cNvGraphicFramePr>
            <a:graphicFrameLocks/>
          </p:cNvGraphicFramePr>
          <p:nvPr/>
        </p:nvGraphicFramePr>
        <p:xfrm>
          <a:off x="6781800" y="838200"/>
          <a:ext cx="1981200" cy="118872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tblGrid>
              <a:tr h="939800">
                <a:tc>
                  <a:txBody>
                    <a:bodyPr/>
                    <a:lstStyle/>
                    <a:p>
                      <a:r>
                        <a:rPr lang="en-US" sz="1800" b="0" dirty="0"/>
                        <a:t>Name:</a:t>
                      </a:r>
                    </a:p>
                    <a:p>
                      <a:r>
                        <a:rPr lang="en-US" sz="1800" b="0" dirty="0"/>
                        <a:t> R. </a:t>
                      </a:r>
                      <a:r>
                        <a:rPr lang="en-US" sz="1800" b="0" dirty="0" err="1"/>
                        <a:t>Aslam</a:t>
                      </a:r>
                      <a:endParaRPr lang="en-US" sz="1800" b="0" dirty="0"/>
                    </a:p>
                    <a:p>
                      <a:r>
                        <a:rPr lang="en-US" sz="1800" b="0" dirty="0"/>
                        <a:t>Age: 24y, 10d</a:t>
                      </a:r>
                    </a:p>
                    <a:p>
                      <a:r>
                        <a:rPr lang="en-US" sz="1800" b="0" dirty="0"/>
                        <a:t>Dept: Sales</a:t>
                      </a:r>
                    </a:p>
                  </a:txBody>
                  <a:tcPr/>
                </a:tc>
                <a:extLst>
                  <a:ext uri="{0D108BD9-81ED-4DB2-BD59-A6C34878D82A}">
                    <a16:rowId xmlns:a16="http://schemas.microsoft.com/office/drawing/2014/main" val="10000"/>
                  </a:ext>
                </a:extLst>
              </a:tr>
            </a:tbl>
          </a:graphicData>
        </a:graphic>
      </p:graphicFrame>
      <p:pic>
        <p:nvPicPr>
          <p:cNvPr id="1026" name="Picture 2" descr="C:\Program Files\Microsoft Office\MEDIA\CAGCAT10\j0292020.wmf"/>
          <p:cNvPicPr>
            <a:picLocks noChangeAspect="1" noChangeArrowheads="1"/>
          </p:cNvPicPr>
          <p:nvPr/>
        </p:nvPicPr>
        <p:blipFill>
          <a:blip r:embed="rId2"/>
          <a:srcRect/>
          <a:stretch>
            <a:fillRect/>
          </a:stretch>
        </p:blipFill>
        <p:spPr bwMode="auto">
          <a:xfrm>
            <a:off x="5943600" y="914400"/>
            <a:ext cx="802850" cy="762000"/>
          </a:xfrm>
          <a:prstGeom prst="rect">
            <a:avLst/>
          </a:prstGeom>
          <a:noFill/>
        </p:spPr>
      </p:pic>
      <p:pic>
        <p:nvPicPr>
          <p:cNvPr id="8" name="Picture 2" descr="C:\Program Files\Microsoft Office\MEDIA\CAGCAT10\j0292020.wmf"/>
          <p:cNvPicPr>
            <a:picLocks noChangeAspect="1" noChangeArrowheads="1"/>
          </p:cNvPicPr>
          <p:nvPr/>
        </p:nvPicPr>
        <p:blipFill>
          <a:blip r:embed="rId2"/>
          <a:srcRect/>
          <a:stretch>
            <a:fillRect/>
          </a:stretch>
        </p:blipFill>
        <p:spPr bwMode="auto">
          <a:xfrm flipH="1">
            <a:off x="4683550" y="914400"/>
            <a:ext cx="802850" cy="762000"/>
          </a:xfrm>
          <a:prstGeom prst="rect">
            <a:avLst/>
          </a:prstGeom>
          <a:noFill/>
        </p:spPr>
      </p:pic>
      <p:graphicFrame>
        <p:nvGraphicFramePr>
          <p:cNvPr id="9" name="Group 64"/>
          <p:cNvGraphicFramePr>
            <a:graphicFrameLocks noGrp="1"/>
          </p:cNvGraphicFramePr>
          <p:nvPr/>
        </p:nvGraphicFramePr>
        <p:xfrm>
          <a:off x="2743200" y="2619843"/>
          <a:ext cx="6019800" cy="1113957"/>
        </p:xfrm>
        <a:graphic>
          <a:graphicData uri="http://schemas.openxmlformats.org/drawingml/2006/table">
            <a:tbl>
              <a:tblPr/>
              <a:tblGrid>
                <a:gridCol w="2124635">
                  <a:extLst>
                    <a:ext uri="{9D8B030D-6E8A-4147-A177-3AD203B41FA5}">
                      <a16:colId xmlns:a16="http://schemas.microsoft.com/office/drawing/2014/main" val="20000"/>
                    </a:ext>
                  </a:extLst>
                </a:gridCol>
                <a:gridCol w="1467011">
                  <a:extLst>
                    <a:ext uri="{9D8B030D-6E8A-4147-A177-3AD203B41FA5}">
                      <a16:colId xmlns:a16="http://schemas.microsoft.com/office/drawing/2014/main" val="20001"/>
                    </a:ext>
                  </a:extLst>
                </a:gridCol>
                <a:gridCol w="910558">
                  <a:extLst>
                    <a:ext uri="{9D8B030D-6E8A-4147-A177-3AD203B41FA5}">
                      <a16:colId xmlns:a16="http://schemas.microsoft.com/office/drawing/2014/main" val="20002"/>
                    </a:ext>
                  </a:extLst>
                </a:gridCol>
                <a:gridCol w="1517596">
                  <a:extLst>
                    <a:ext uri="{9D8B030D-6E8A-4147-A177-3AD203B41FA5}">
                      <a16:colId xmlns:a16="http://schemas.microsoft.com/office/drawing/2014/main" val="20003"/>
                    </a:ext>
                  </a:extLst>
                </a:gridCol>
              </a:tblGrid>
              <a:tr h="3421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sng" strike="noStrike" cap="none" normalizeH="0" baseline="0" dirty="0">
                          <a:ln>
                            <a:noFill/>
                          </a:ln>
                          <a:solidFill>
                            <a:schemeClr val="tx1"/>
                          </a:solidFill>
                          <a:effectLst/>
                          <a:latin typeface="Arial" charset="0"/>
                        </a:rPr>
                        <a:t>Name</a:t>
                      </a: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sng" strike="noStrike" cap="none" normalizeH="0" baseline="0">
                          <a:ln>
                            <a:noFill/>
                          </a:ln>
                          <a:solidFill>
                            <a:schemeClr val="tx1"/>
                          </a:solidFill>
                          <a:effectLst/>
                          <a:latin typeface="Arial" charset="0"/>
                        </a:rPr>
                        <a:t>DoB</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sng" strike="noStrike" cap="none" normalizeH="0" baseline="0" dirty="0" err="1">
                          <a:ln>
                            <a:noFill/>
                          </a:ln>
                          <a:solidFill>
                            <a:schemeClr val="tx1"/>
                          </a:solidFill>
                          <a:effectLst/>
                          <a:latin typeface="Arial" charset="0"/>
                        </a:rPr>
                        <a:t>Deps</a:t>
                      </a:r>
                      <a:endParaRPr kumimoji="0" lang="en-US" sz="1800" b="0" i="0" u="sng"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sng" strike="noStrike" cap="none" normalizeH="0" baseline="0">
                          <a:ln>
                            <a:noFill/>
                          </a:ln>
                          <a:solidFill>
                            <a:schemeClr val="tx1"/>
                          </a:solidFill>
                          <a:effectLst/>
                          <a:latin typeface="Arial" charset="0"/>
                        </a:rPr>
                        <a:t>DepId</a:t>
                      </a: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3824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Rana</a:t>
                      </a:r>
                      <a:r>
                        <a:rPr kumimoji="0" lang="en-US" sz="1800" b="0" i="0" u="none" strike="noStrike" cap="none" normalizeH="0" baseline="0" dirty="0">
                          <a:ln>
                            <a:noFill/>
                          </a:ln>
                          <a:solidFill>
                            <a:schemeClr val="tx1"/>
                          </a:solidFill>
                          <a:effectLst/>
                          <a:latin typeface="Arial" charset="0"/>
                        </a:rPr>
                        <a:t> </a:t>
                      </a:r>
                      <a:r>
                        <a:rPr kumimoji="0" lang="en-US" sz="1800" b="0" i="0" u="none" strike="noStrike" cap="none" normalizeH="0" baseline="0" dirty="0" err="1">
                          <a:ln>
                            <a:noFill/>
                          </a:ln>
                          <a:solidFill>
                            <a:schemeClr val="tx1"/>
                          </a:solidFill>
                          <a:effectLst/>
                          <a:latin typeface="Arial" charset="0"/>
                        </a:rPr>
                        <a:t>Aslam</a:t>
                      </a: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12/09/70</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5</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D001</a:t>
                      </a: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342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Marya Wasti</a:t>
                      </a: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29/02/80</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0</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D005</a:t>
                      </a: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0" name="Group 49"/>
          <p:cNvGrpSpPr>
            <a:grpSpLocks/>
          </p:cNvGrpSpPr>
          <p:nvPr/>
        </p:nvGrpSpPr>
        <p:grpSpPr bwMode="auto">
          <a:xfrm>
            <a:off x="2895600" y="4038600"/>
            <a:ext cx="5791200" cy="557213"/>
            <a:chOff x="139" y="3408"/>
            <a:chExt cx="4058" cy="351"/>
          </a:xfrm>
        </p:grpSpPr>
        <p:sp>
          <p:nvSpPr>
            <p:cNvPr id="11" name="Text Box 50"/>
            <p:cNvSpPr txBox="1">
              <a:spLocks noChangeArrowheads="1"/>
            </p:cNvSpPr>
            <p:nvPr/>
          </p:nvSpPr>
          <p:spPr bwMode="auto">
            <a:xfrm>
              <a:off x="139" y="3408"/>
              <a:ext cx="3902" cy="252"/>
            </a:xfrm>
            <a:prstGeom prst="rect">
              <a:avLst/>
            </a:prstGeom>
            <a:noFill/>
            <a:ln w="12700" cap="sq">
              <a:solidFill>
                <a:schemeClr val="tx1"/>
              </a:solidFill>
              <a:miter lim="800000"/>
              <a:headEnd type="none" w="sm" len="sm"/>
              <a:tailEnd type="none" w="sm" len="sm"/>
            </a:ln>
          </p:spPr>
          <p:txBody>
            <a:bodyPr wrap="square">
              <a:spAutoFit/>
            </a:bodyPr>
            <a:lstStyle/>
            <a:p>
              <a:r>
                <a:rPr lang="en-US" sz="2000" b="0" dirty="0"/>
                <a:t>BH RH </a:t>
              </a:r>
              <a:r>
                <a:rPr lang="en-US" sz="2000" b="0" dirty="0" err="1"/>
                <a:t>Rana</a:t>
              </a:r>
              <a:r>
                <a:rPr lang="en-US" sz="2000" b="0" dirty="0"/>
                <a:t> </a:t>
              </a:r>
              <a:r>
                <a:rPr lang="en-US" sz="2000" b="0" dirty="0" err="1"/>
                <a:t>Aslam</a:t>
              </a:r>
              <a:r>
                <a:rPr lang="en-US" sz="2000" b="0" dirty="0"/>
                <a:t> 120970 5 D001 RH </a:t>
              </a:r>
              <a:r>
                <a:rPr lang="en-US" sz="2000" b="0" dirty="0" err="1"/>
                <a:t>Marya</a:t>
              </a:r>
              <a:r>
                <a:rPr lang="en-US" sz="2000" b="0" dirty="0"/>
                <a:t> </a:t>
              </a:r>
              <a:r>
                <a:rPr lang="en-US" sz="2000" b="0" dirty="0" err="1"/>
                <a:t>Wasti</a:t>
              </a:r>
              <a:endParaRPr lang="en-US" sz="2000" b="0" dirty="0"/>
            </a:p>
          </p:txBody>
        </p:sp>
        <p:sp>
          <p:nvSpPr>
            <p:cNvPr id="12" name="Line 51"/>
            <p:cNvSpPr>
              <a:spLocks noChangeShapeType="1"/>
            </p:cNvSpPr>
            <p:nvPr/>
          </p:nvSpPr>
          <p:spPr bwMode="auto">
            <a:xfrm>
              <a:off x="546" y="3417"/>
              <a:ext cx="0" cy="336"/>
            </a:xfrm>
            <a:prstGeom prst="line">
              <a:avLst/>
            </a:prstGeom>
            <a:noFill/>
            <a:ln w="12700" cap="sq">
              <a:solidFill>
                <a:srgbClr val="FFFF00"/>
              </a:solidFill>
              <a:miter lim="800000"/>
              <a:headEnd type="none" w="sm" len="sm"/>
              <a:tailEnd type="none" w="sm" len="sm"/>
            </a:ln>
          </p:spPr>
          <p:txBody>
            <a:bodyPr wrap="none"/>
            <a:lstStyle/>
            <a:p>
              <a:endParaRPr lang="en-US"/>
            </a:p>
          </p:txBody>
        </p:sp>
        <p:sp>
          <p:nvSpPr>
            <p:cNvPr id="13" name="Line 52"/>
            <p:cNvSpPr>
              <a:spLocks noChangeShapeType="1"/>
            </p:cNvSpPr>
            <p:nvPr/>
          </p:nvSpPr>
          <p:spPr bwMode="auto">
            <a:xfrm>
              <a:off x="928" y="3423"/>
              <a:ext cx="0" cy="336"/>
            </a:xfrm>
            <a:prstGeom prst="line">
              <a:avLst/>
            </a:prstGeom>
            <a:noFill/>
            <a:ln w="12700" cap="sq">
              <a:solidFill>
                <a:srgbClr val="FFFF00"/>
              </a:solidFill>
              <a:miter lim="800000"/>
              <a:headEnd type="none" w="sm" len="sm"/>
              <a:tailEnd type="none" w="sm" len="sm"/>
            </a:ln>
          </p:spPr>
          <p:txBody>
            <a:bodyPr wrap="none"/>
            <a:lstStyle/>
            <a:p>
              <a:endParaRPr lang="en-US"/>
            </a:p>
          </p:txBody>
        </p:sp>
        <p:sp>
          <p:nvSpPr>
            <p:cNvPr id="14" name="Line 53"/>
            <p:cNvSpPr>
              <a:spLocks noChangeShapeType="1"/>
            </p:cNvSpPr>
            <p:nvPr/>
          </p:nvSpPr>
          <p:spPr bwMode="auto">
            <a:xfrm>
              <a:off x="3798" y="3415"/>
              <a:ext cx="0" cy="336"/>
            </a:xfrm>
            <a:prstGeom prst="line">
              <a:avLst/>
            </a:prstGeom>
            <a:noFill/>
            <a:ln w="12700" cap="sq">
              <a:solidFill>
                <a:srgbClr val="FFFF00"/>
              </a:solidFill>
              <a:miter lim="800000"/>
              <a:headEnd type="none" w="sm" len="sm"/>
              <a:tailEnd type="none" w="sm" len="sm"/>
            </a:ln>
          </p:spPr>
          <p:txBody>
            <a:bodyPr wrap="none"/>
            <a:lstStyle/>
            <a:p>
              <a:endParaRPr lang="en-US"/>
            </a:p>
          </p:txBody>
        </p:sp>
        <p:sp>
          <p:nvSpPr>
            <p:cNvPr id="15" name="Line 54"/>
            <p:cNvSpPr>
              <a:spLocks noChangeShapeType="1"/>
            </p:cNvSpPr>
            <p:nvPr/>
          </p:nvSpPr>
          <p:spPr bwMode="auto">
            <a:xfrm>
              <a:off x="4197" y="3417"/>
              <a:ext cx="0" cy="336"/>
            </a:xfrm>
            <a:prstGeom prst="line">
              <a:avLst/>
            </a:prstGeom>
            <a:noFill/>
            <a:ln w="12700" cap="sq">
              <a:solidFill>
                <a:srgbClr val="FFFF00"/>
              </a:solidFill>
              <a:miter lim="800000"/>
              <a:headEnd type="none" w="sm" len="sm"/>
              <a:tailEnd type="none" w="sm" len="sm"/>
            </a:ln>
          </p:spPr>
          <p:txBody>
            <a:bodyPr wrap="none"/>
            <a:lstStyle/>
            <a:p>
              <a:endParaRPr lang="en-US"/>
            </a:p>
          </p:txBody>
        </p:sp>
      </p:grpSp>
      <p:sp>
        <p:nvSpPr>
          <p:cNvPr id="16" name="Text Box 48"/>
          <p:cNvSpPr txBox="1">
            <a:spLocks noChangeArrowheads="1"/>
          </p:cNvSpPr>
          <p:nvPr/>
        </p:nvSpPr>
        <p:spPr bwMode="auto">
          <a:xfrm>
            <a:off x="2819400" y="4953000"/>
            <a:ext cx="5791200" cy="523220"/>
          </a:xfrm>
          <a:prstGeom prst="rect">
            <a:avLst/>
          </a:prstGeom>
          <a:noFill/>
          <a:ln w="12700" cap="sq">
            <a:solidFill>
              <a:schemeClr val="tx1"/>
            </a:solidFill>
            <a:miter lim="800000"/>
            <a:headEnd type="none" w="sm" len="sm"/>
            <a:tailEnd type="none" w="sm" len="sm"/>
          </a:ln>
        </p:spPr>
        <p:txBody>
          <a:bodyPr wrap="square">
            <a:spAutoFit/>
          </a:bodyPr>
          <a:lstStyle/>
          <a:p>
            <a:r>
              <a:rPr lang="en-US" sz="2800" b="0" dirty="0"/>
              <a:t>01110011010011100101001010100101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Difference between Three-levels</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10</a:t>
            </a:fld>
            <a:endParaRPr lang="en-US" dirty="0"/>
          </a:p>
        </p:txBody>
      </p:sp>
      <p:pic>
        <p:nvPicPr>
          <p:cNvPr id="2050" name="Picture 2"/>
          <p:cNvPicPr>
            <a:picLocks noChangeAspect="1" noChangeArrowheads="1"/>
          </p:cNvPicPr>
          <p:nvPr/>
        </p:nvPicPr>
        <p:blipFill>
          <a:blip r:embed="rId2"/>
          <a:srcRect/>
          <a:stretch>
            <a:fillRect/>
          </a:stretch>
        </p:blipFill>
        <p:spPr bwMode="auto">
          <a:xfrm>
            <a:off x="2590800" y="1447800"/>
            <a:ext cx="6248400" cy="3886199"/>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14599" cy="4601183"/>
          </a:xfrm>
        </p:spPr>
        <p:txBody>
          <a:bodyPr/>
          <a:lstStyle/>
          <a:p>
            <a:r>
              <a:rPr lang="en-US" dirty="0"/>
              <a:t>Data Independent</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11</a:t>
            </a:fld>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2599738" y="1219200"/>
            <a:ext cx="6239462" cy="44958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14599" cy="4601183"/>
          </a:xfrm>
        </p:spPr>
        <p:txBody>
          <a:bodyPr>
            <a:normAutofit/>
          </a:bodyPr>
          <a:lstStyle/>
          <a:p>
            <a:r>
              <a:rPr lang="en-US" dirty="0"/>
              <a:t>Data Independent</a:t>
            </a:r>
          </a:p>
        </p:txBody>
      </p:sp>
      <p:sp>
        <p:nvSpPr>
          <p:cNvPr id="3" name="Content Placeholder 2"/>
          <p:cNvSpPr>
            <a:spLocks noGrp="1"/>
          </p:cNvSpPr>
          <p:nvPr>
            <p:ph idx="1"/>
          </p:nvPr>
        </p:nvSpPr>
        <p:spPr>
          <a:xfrm>
            <a:off x="2667000" y="864108"/>
            <a:ext cx="6019799" cy="5120640"/>
          </a:xfrm>
        </p:spPr>
        <p:txBody>
          <a:bodyPr>
            <a:normAutofit/>
          </a:bodyPr>
          <a:lstStyle/>
          <a:p>
            <a:pPr marL="404813" indent="-404813" algn="just">
              <a:buFont typeface="Wingdings" pitchFamily="2" charset="2"/>
              <a:buChar char="§"/>
            </a:pPr>
            <a:r>
              <a:rPr lang="en-US" sz="2400" b="1" dirty="0"/>
              <a:t>Logical data independence:</a:t>
            </a:r>
            <a:r>
              <a:rPr lang="en-US" sz="2400" dirty="0"/>
              <a:t> Logical data independence refers to the immunity of the external schemas to changes in the conceptual schema.</a:t>
            </a:r>
          </a:p>
          <a:p>
            <a:pPr marL="404813" indent="-404813" algn="just">
              <a:buFont typeface="Wingdings" pitchFamily="2" charset="2"/>
              <a:buChar char="§"/>
            </a:pPr>
            <a:endParaRPr lang="en-US" sz="2400" dirty="0"/>
          </a:p>
          <a:p>
            <a:pPr marL="404813" indent="-404813" algn="just">
              <a:buFont typeface="Wingdings" pitchFamily="2" charset="2"/>
              <a:buChar char="§"/>
            </a:pPr>
            <a:r>
              <a:rPr lang="en-US" sz="2400" b="1" dirty="0"/>
              <a:t>Physical data independence:  </a:t>
            </a:r>
            <a:r>
              <a:rPr lang="en-US" sz="2400" dirty="0"/>
              <a:t>Physical data independence refers to the immunity of the conceptual schema to changes in the internal schema.</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a:t>
            </a:r>
          </a:p>
        </p:txBody>
      </p:sp>
      <p:sp>
        <p:nvSpPr>
          <p:cNvPr id="3" name="Content Placeholder 2"/>
          <p:cNvSpPr>
            <a:spLocks noGrp="1"/>
          </p:cNvSpPr>
          <p:nvPr>
            <p:ph idx="1"/>
          </p:nvPr>
        </p:nvSpPr>
        <p:spPr>
          <a:xfrm>
            <a:off x="2590800" y="864108"/>
            <a:ext cx="6248400" cy="5120640"/>
          </a:xfrm>
        </p:spPr>
        <p:txBody>
          <a:bodyPr>
            <a:noAutofit/>
          </a:bodyPr>
          <a:lstStyle/>
          <a:p>
            <a:pPr marL="468313" indent="-347663" algn="just">
              <a:buFont typeface="Wingdings" pitchFamily="2" charset="2"/>
              <a:buChar char="§"/>
            </a:pPr>
            <a:r>
              <a:rPr lang="en-US" sz="2100" dirty="0"/>
              <a:t>A model is a representation of ‘real world’ objects and events, and their associations.</a:t>
            </a:r>
          </a:p>
          <a:p>
            <a:pPr marL="468313" indent="-347663" algn="just">
              <a:buFont typeface="Wingdings" pitchFamily="2" charset="2"/>
              <a:buChar char="§"/>
            </a:pPr>
            <a:r>
              <a:rPr lang="en-US" sz="2100" b="1" dirty="0"/>
              <a:t>Data model</a:t>
            </a:r>
            <a:r>
              <a:rPr lang="en-US" sz="2100" dirty="0"/>
              <a:t> is integrated collection of concepts for describing and manipulating data, model relationships between data, and constraints on the data in an organization.</a:t>
            </a:r>
          </a:p>
          <a:p>
            <a:pPr marL="468313" indent="-347663" algn="just">
              <a:buFont typeface="Wingdings" pitchFamily="2" charset="2"/>
              <a:buChar char="§"/>
            </a:pPr>
            <a:endParaRPr lang="en-US" sz="2100" dirty="0"/>
          </a:p>
          <a:p>
            <a:pPr marL="971233" lvl="1" indent="-347663" algn="just">
              <a:buFont typeface="Wingdings" pitchFamily="2" charset="2"/>
              <a:buChar char="§"/>
            </a:pPr>
            <a:r>
              <a:rPr lang="en-US" sz="2100" dirty="0"/>
              <a:t>A </a:t>
            </a:r>
            <a:r>
              <a:rPr lang="en-US" sz="2100" b="1" dirty="0"/>
              <a:t>structural part</a:t>
            </a:r>
            <a:r>
              <a:rPr lang="en-US" sz="2100" dirty="0"/>
              <a:t>, consisting of a set of rules according to which databases can be constructed</a:t>
            </a:r>
          </a:p>
          <a:p>
            <a:pPr marL="971233" lvl="1" indent="-347663" algn="just">
              <a:buFont typeface="Wingdings" pitchFamily="2" charset="2"/>
              <a:buChar char="§"/>
            </a:pPr>
            <a:r>
              <a:rPr lang="en-US" sz="2100" dirty="0"/>
              <a:t>A </a:t>
            </a:r>
            <a:r>
              <a:rPr lang="en-US" sz="2100" b="1" dirty="0"/>
              <a:t>manipulative part</a:t>
            </a:r>
            <a:r>
              <a:rPr lang="en-US" sz="2100" dirty="0"/>
              <a:t>, defining the types of operation that are allowed on the data (this includes the operations that are used for updating or retrieving data from the database and for changing the structure of the database)</a:t>
            </a:r>
          </a:p>
          <a:p>
            <a:pPr marL="971233" lvl="1" indent="-347663" algn="just">
              <a:buFont typeface="Wingdings" pitchFamily="2" charset="2"/>
              <a:buChar char="§"/>
            </a:pPr>
            <a:r>
              <a:rPr lang="en-US" sz="2100" dirty="0"/>
              <a:t>Possibly a </a:t>
            </a:r>
            <a:r>
              <a:rPr lang="en-US" sz="2100" b="1" dirty="0"/>
              <a:t>set of integrity constraints</a:t>
            </a:r>
            <a:r>
              <a:rPr lang="en-US" sz="2100" dirty="0"/>
              <a:t>, which ensures that the data is accurate</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a:t>
            </a:r>
          </a:p>
        </p:txBody>
      </p:sp>
      <p:sp>
        <p:nvSpPr>
          <p:cNvPr id="3" name="Content Placeholder 2"/>
          <p:cNvSpPr>
            <a:spLocks noGrp="1"/>
          </p:cNvSpPr>
          <p:nvPr>
            <p:ph idx="1"/>
          </p:nvPr>
        </p:nvSpPr>
        <p:spPr>
          <a:xfrm>
            <a:off x="2590800" y="864108"/>
            <a:ext cx="6248400" cy="5120640"/>
          </a:xfrm>
        </p:spPr>
        <p:txBody>
          <a:bodyPr>
            <a:noAutofit/>
          </a:bodyPr>
          <a:lstStyle/>
          <a:p>
            <a:pPr marL="468313" indent="-347663" algn="just">
              <a:buFont typeface="Wingdings" pitchFamily="2" charset="2"/>
              <a:buChar char="§"/>
            </a:pPr>
            <a:r>
              <a:rPr lang="en-US" sz="2800" dirty="0"/>
              <a:t>There have been many data models proposed in the literature. They fall into three broad categories: </a:t>
            </a:r>
          </a:p>
          <a:p>
            <a:pPr marL="468313" indent="-347663" algn="just">
              <a:buFont typeface="Wingdings" pitchFamily="2" charset="2"/>
              <a:buChar char="§"/>
            </a:pPr>
            <a:endParaRPr lang="en-US" sz="2800" dirty="0"/>
          </a:p>
          <a:p>
            <a:pPr marL="971233" lvl="1" indent="-347663" algn="just">
              <a:buFont typeface="Wingdings" pitchFamily="2" charset="2"/>
              <a:buChar char="§"/>
            </a:pPr>
            <a:r>
              <a:rPr lang="en-US" sz="2400" dirty="0"/>
              <a:t>object-based</a:t>
            </a:r>
          </a:p>
          <a:p>
            <a:pPr marL="971233" lvl="1" indent="-347663" algn="just">
              <a:buFont typeface="Wingdings" pitchFamily="2" charset="2"/>
              <a:buChar char="§"/>
            </a:pPr>
            <a:r>
              <a:rPr lang="en-US" sz="2400" dirty="0"/>
              <a:t>record-based,</a:t>
            </a:r>
          </a:p>
          <a:p>
            <a:pPr marL="971233" lvl="1" indent="-347663" algn="just">
              <a:buFont typeface="Wingdings" pitchFamily="2" charset="2"/>
              <a:buChar char="§"/>
            </a:pPr>
            <a:r>
              <a:rPr lang="en-US" sz="2400" dirty="0"/>
              <a:t>and physical data models. </a:t>
            </a:r>
          </a:p>
          <a:p>
            <a:pPr marL="468313" indent="-347663" algn="just">
              <a:buFont typeface="Wingdings" pitchFamily="2" charset="2"/>
              <a:buChar char="§"/>
            </a:pPr>
            <a:r>
              <a:rPr lang="en-US" sz="2800" dirty="0"/>
              <a:t>The first two are used to describe data at the conceptual and external levels, the latter is used to describe data at the internal level.</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Object Based </a:t>
            </a:r>
            <a:r>
              <a:rPr lang="en-US" dirty="0"/>
              <a:t>Data Models</a:t>
            </a:r>
          </a:p>
        </p:txBody>
      </p:sp>
      <p:sp>
        <p:nvSpPr>
          <p:cNvPr id="3" name="Content Placeholder 2"/>
          <p:cNvSpPr>
            <a:spLocks noGrp="1"/>
          </p:cNvSpPr>
          <p:nvPr>
            <p:ph idx="1"/>
          </p:nvPr>
        </p:nvSpPr>
        <p:spPr>
          <a:xfrm>
            <a:off x="2901950" y="864108"/>
            <a:ext cx="5784849" cy="5079492"/>
          </a:xfrm>
        </p:spPr>
        <p:txBody>
          <a:bodyPr>
            <a:noAutofit/>
          </a:bodyPr>
          <a:lstStyle/>
          <a:p>
            <a:pPr marL="468313" indent="-347663" algn="just">
              <a:buFont typeface="Wingdings" pitchFamily="2" charset="2"/>
              <a:buChar char="§"/>
            </a:pPr>
            <a:r>
              <a:rPr lang="en-US" sz="2400" dirty="0"/>
              <a:t>Object-based data models use concepts such as entities, attributes, and relationships. </a:t>
            </a:r>
          </a:p>
          <a:p>
            <a:pPr marL="468313" indent="-347663" algn="just">
              <a:buFont typeface="Wingdings" pitchFamily="2" charset="2"/>
              <a:buChar char="§"/>
            </a:pPr>
            <a:r>
              <a:rPr lang="en-US" sz="2400" dirty="0"/>
              <a:t>An entity is a distinct object (a person, place, thing, concept, event) in the organization that is to be represented in the database. </a:t>
            </a:r>
          </a:p>
          <a:p>
            <a:pPr marL="468313" indent="-347663" algn="just">
              <a:buFont typeface="Wingdings" pitchFamily="2" charset="2"/>
              <a:buChar char="§"/>
            </a:pPr>
            <a:r>
              <a:rPr lang="en-US" sz="2400" dirty="0"/>
              <a:t>An attribute is a property that describes some aspect of the object that we wish to record, </a:t>
            </a:r>
          </a:p>
          <a:p>
            <a:pPr marL="468313" indent="-347663" algn="just">
              <a:buFont typeface="Wingdings" pitchFamily="2" charset="2"/>
              <a:buChar char="§"/>
            </a:pPr>
            <a:r>
              <a:rPr lang="en-US" sz="2400" dirty="0"/>
              <a:t>and a relationship is an association between entities.</a:t>
            </a:r>
          </a:p>
          <a:p>
            <a:pPr marL="468313" indent="-347663" algn="just">
              <a:buFont typeface="Wingdings" pitchFamily="2" charset="2"/>
              <a:buChar char="§"/>
            </a:pPr>
            <a:r>
              <a:rPr lang="en-US" sz="2400" dirty="0"/>
              <a:t>Entity–Relationship</a:t>
            </a:r>
          </a:p>
          <a:p>
            <a:pPr marL="468313" indent="-347663" algn="just">
              <a:buFont typeface="Wingdings" pitchFamily="2" charset="2"/>
              <a:buChar char="§"/>
            </a:pPr>
            <a:r>
              <a:rPr lang="en-US" sz="2400" dirty="0"/>
              <a:t>Object-Oriented.</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Record Based </a:t>
            </a:r>
            <a:r>
              <a:rPr lang="en-US" dirty="0"/>
              <a:t>Data Models</a:t>
            </a:r>
          </a:p>
        </p:txBody>
      </p:sp>
      <p:sp>
        <p:nvSpPr>
          <p:cNvPr id="3" name="Content Placeholder 2"/>
          <p:cNvSpPr>
            <a:spLocks noGrp="1"/>
          </p:cNvSpPr>
          <p:nvPr>
            <p:ph idx="1"/>
          </p:nvPr>
        </p:nvSpPr>
        <p:spPr>
          <a:xfrm>
            <a:off x="2590801" y="864108"/>
            <a:ext cx="6172200" cy="5120640"/>
          </a:xfrm>
        </p:spPr>
        <p:txBody>
          <a:bodyPr>
            <a:noAutofit/>
          </a:bodyPr>
          <a:lstStyle/>
          <a:p>
            <a:pPr marL="468313" indent="-347663" algn="just">
              <a:buFont typeface="Wingdings" pitchFamily="2" charset="2"/>
              <a:buChar char="§"/>
            </a:pPr>
            <a:r>
              <a:rPr lang="en-US" sz="2800" dirty="0"/>
              <a:t>In a </a:t>
            </a:r>
            <a:r>
              <a:rPr lang="en-US" sz="2800" b="1" dirty="0"/>
              <a:t>record-based model</a:t>
            </a:r>
            <a:r>
              <a:rPr lang="en-US" sz="2800" dirty="0"/>
              <a:t>, the database consists of a number of fixed-format records possibly of differing types.</a:t>
            </a:r>
          </a:p>
          <a:p>
            <a:pPr marL="468313" indent="-347663" algn="just">
              <a:buFont typeface="Wingdings" pitchFamily="2" charset="2"/>
              <a:buChar char="§"/>
            </a:pPr>
            <a:r>
              <a:rPr lang="en-US" sz="2800" dirty="0"/>
              <a:t>Each record type defines a fixed number of fields, each typically of a fixed length. </a:t>
            </a:r>
          </a:p>
          <a:p>
            <a:pPr marL="468313" indent="-347663" algn="just">
              <a:buFont typeface="Wingdings" pitchFamily="2" charset="2"/>
              <a:buChar char="§"/>
            </a:pPr>
            <a:r>
              <a:rPr lang="en-US" sz="2800" dirty="0"/>
              <a:t>There are three principal types of record-based logical data model</a:t>
            </a:r>
          </a:p>
          <a:p>
            <a:pPr marL="468313" indent="-347663" algn="just">
              <a:buFont typeface="Wingdings" pitchFamily="2" charset="2"/>
              <a:buChar char="§"/>
            </a:pPr>
            <a:r>
              <a:rPr lang="en-US" sz="2800" b="1" dirty="0"/>
              <a:t>Relational data model</a:t>
            </a:r>
            <a:endParaRPr lang="en-US" sz="2800" dirty="0"/>
          </a:p>
          <a:p>
            <a:pPr marL="468313" indent="-347663" algn="just">
              <a:buFont typeface="Wingdings" pitchFamily="2" charset="2"/>
              <a:buChar char="§"/>
            </a:pPr>
            <a:r>
              <a:rPr lang="en-US" sz="2800" b="1" dirty="0"/>
              <a:t>Network data model</a:t>
            </a:r>
            <a:endParaRPr lang="en-US" sz="2800" dirty="0"/>
          </a:p>
          <a:p>
            <a:pPr marL="468313" indent="-347663" algn="just">
              <a:buFont typeface="Wingdings" pitchFamily="2" charset="2"/>
              <a:buChar char="§"/>
            </a:pPr>
            <a:r>
              <a:rPr lang="en-US" sz="2800" dirty="0"/>
              <a:t>and the </a:t>
            </a:r>
            <a:r>
              <a:rPr lang="en-US" sz="2800" b="1" dirty="0"/>
              <a:t>hierarchical data model</a:t>
            </a:r>
            <a:r>
              <a:rPr lang="en-US" sz="2800" dirty="0"/>
              <a:t>.</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data model</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17</a:t>
            </a:fld>
            <a:endParaRPr lang="en-US" dirty="0"/>
          </a:p>
        </p:txBody>
      </p:sp>
      <p:pic>
        <p:nvPicPr>
          <p:cNvPr id="1026" name="Picture 2"/>
          <p:cNvPicPr>
            <a:picLocks noChangeAspect="1" noChangeArrowheads="1"/>
          </p:cNvPicPr>
          <p:nvPr/>
        </p:nvPicPr>
        <p:blipFill>
          <a:blip r:embed="rId2"/>
          <a:srcRect/>
          <a:stretch>
            <a:fillRect/>
          </a:stretch>
        </p:blipFill>
        <p:spPr bwMode="auto">
          <a:xfrm>
            <a:off x="2819400" y="1219200"/>
            <a:ext cx="5791200" cy="4696933"/>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data model</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18</a:t>
            </a:fld>
            <a:endParaRPr lang="en-US" dirty="0"/>
          </a:p>
        </p:txBody>
      </p:sp>
      <p:pic>
        <p:nvPicPr>
          <p:cNvPr id="2050" name="Picture 2"/>
          <p:cNvPicPr>
            <a:picLocks noChangeAspect="1" noChangeArrowheads="1"/>
          </p:cNvPicPr>
          <p:nvPr/>
        </p:nvPicPr>
        <p:blipFill>
          <a:blip r:embed="rId2"/>
          <a:srcRect/>
          <a:stretch>
            <a:fillRect/>
          </a:stretch>
        </p:blipFill>
        <p:spPr bwMode="auto">
          <a:xfrm>
            <a:off x="2590800" y="914400"/>
            <a:ext cx="6248400" cy="46482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Hierarchal </a:t>
            </a:r>
            <a:r>
              <a:rPr lang="en-US" dirty="0"/>
              <a:t>Data model </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19</a:t>
            </a:fld>
            <a:endParaRPr lang="en-US" dirty="0"/>
          </a:p>
        </p:txBody>
      </p:sp>
      <p:pic>
        <p:nvPicPr>
          <p:cNvPr id="3074" name="Picture 2"/>
          <p:cNvPicPr>
            <a:picLocks noChangeAspect="1" noChangeArrowheads="1"/>
          </p:cNvPicPr>
          <p:nvPr/>
        </p:nvPicPr>
        <p:blipFill>
          <a:blip r:embed="rId2"/>
          <a:srcRect/>
          <a:stretch>
            <a:fillRect/>
          </a:stretch>
        </p:blipFill>
        <p:spPr bwMode="auto">
          <a:xfrm>
            <a:off x="2590800" y="1295400"/>
            <a:ext cx="6248400" cy="41148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90800" cy="4601183"/>
          </a:xfrm>
        </p:spPr>
        <p:txBody>
          <a:bodyPr>
            <a:normAutofit/>
          </a:bodyPr>
          <a:lstStyle/>
          <a:p>
            <a:r>
              <a:rPr lang="en-US" sz="3200" dirty="0"/>
              <a:t>Multi-User DBMS Architectures</a:t>
            </a:r>
          </a:p>
        </p:txBody>
      </p:sp>
      <p:sp>
        <p:nvSpPr>
          <p:cNvPr id="3" name="Content Placeholder 2"/>
          <p:cNvSpPr>
            <a:spLocks noGrp="1"/>
          </p:cNvSpPr>
          <p:nvPr>
            <p:ph idx="1"/>
          </p:nvPr>
        </p:nvSpPr>
        <p:spPr/>
        <p:txBody>
          <a:bodyPr>
            <a:normAutofit/>
          </a:bodyPr>
          <a:lstStyle/>
          <a:p>
            <a:pPr marL="120650" indent="0" algn="just">
              <a:buNone/>
            </a:pPr>
            <a:r>
              <a:rPr lang="en-US" b="1" dirty="0"/>
              <a:t>Reading Assignment:</a:t>
            </a:r>
          </a:p>
          <a:p>
            <a:r>
              <a:rPr lang="en-US" b="1" dirty="0"/>
              <a:t>Chapter 3: Database Architectures</a:t>
            </a:r>
          </a:p>
          <a:p>
            <a:r>
              <a:rPr lang="en-US" b="1" dirty="0"/>
              <a:t>and the Web</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20</a:t>
            </a:fld>
            <a:endParaRPr lang="en-US" dirty="0"/>
          </a:p>
        </p:txBody>
      </p:sp>
    </p:spTree>
    <p:extLst>
      <p:ext uri="{BB962C8B-B14F-4D97-AF65-F5344CB8AC3E}">
        <p14:creationId xmlns:p14="http://schemas.microsoft.com/office/powerpoint/2010/main" val="368565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90800" cy="4601183"/>
          </a:xfrm>
        </p:spPr>
        <p:txBody>
          <a:bodyPr>
            <a:normAutofit/>
          </a:bodyPr>
          <a:lstStyle/>
          <a:p>
            <a:r>
              <a:rPr lang="en-US" sz="3200" dirty="0"/>
              <a:t>Multi-User DBMS Architectures</a:t>
            </a:r>
          </a:p>
        </p:txBody>
      </p:sp>
      <p:sp>
        <p:nvSpPr>
          <p:cNvPr id="3" name="Content Placeholder 2"/>
          <p:cNvSpPr>
            <a:spLocks noGrp="1"/>
          </p:cNvSpPr>
          <p:nvPr>
            <p:ph idx="1"/>
          </p:nvPr>
        </p:nvSpPr>
        <p:spPr/>
        <p:txBody>
          <a:bodyPr>
            <a:normAutofit/>
          </a:bodyPr>
          <a:lstStyle/>
          <a:p>
            <a:pPr marL="468313" indent="-347663" algn="just">
              <a:buFont typeface="Wingdings" pitchFamily="2" charset="2"/>
              <a:buChar char="§"/>
            </a:pPr>
            <a:r>
              <a:rPr lang="en-US" b="1" dirty="0"/>
              <a:t>Teleprocessing</a:t>
            </a:r>
          </a:p>
          <a:p>
            <a:pPr marL="468313" indent="-347663" algn="just">
              <a:buFont typeface="Wingdings" pitchFamily="2" charset="2"/>
              <a:buChar char="§"/>
            </a:pPr>
            <a:endParaRPr lang="en-US" b="1" dirty="0"/>
          </a:p>
          <a:p>
            <a:pPr marL="468313" indent="-347663" algn="just">
              <a:buFont typeface="Wingdings" pitchFamily="2" charset="2"/>
              <a:buChar char="§"/>
            </a:pPr>
            <a:r>
              <a:rPr lang="en-US" b="1" dirty="0"/>
              <a:t>File-server </a:t>
            </a:r>
          </a:p>
          <a:p>
            <a:pPr marL="468313" indent="-347663" algn="just">
              <a:buFont typeface="Wingdings" pitchFamily="2" charset="2"/>
              <a:buChar char="§"/>
            </a:pPr>
            <a:endParaRPr lang="en-US" b="1" dirty="0"/>
          </a:p>
          <a:p>
            <a:pPr marL="468313" indent="-347663" algn="just">
              <a:buFont typeface="Wingdings" pitchFamily="2" charset="2"/>
              <a:buChar char="§"/>
            </a:pPr>
            <a:r>
              <a:rPr lang="en-US" b="1" dirty="0"/>
              <a:t>Client–server</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21</a:t>
            </a:fld>
            <a:endParaRPr lang="en-US" dirty="0"/>
          </a:p>
        </p:txBody>
      </p:sp>
    </p:spTree>
    <p:extLst>
      <p:ext uri="{BB962C8B-B14F-4D97-AF65-F5344CB8AC3E}">
        <p14:creationId xmlns:p14="http://schemas.microsoft.com/office/powerpoint/2010/main" val="2408094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90799" cy="4601183"/>
          </a:xfrm>
        </p:spPr>
        <p:txBody>
          <a:bodyPr>
            <a:normAutofit/>
          </a:bodyPr>
          <a:lstStyle/>
          <a:p>
            <a:r>
              <a:rPr lang="en-US" sz="3200" dirty="0"/>
              <a:t>Teleprocessing</a:t>
            </a:r>
          </a:p>
        </p:txBody>
      </p:sp>
      <p:sp>
        <p:nvSpPr>
          <p:cNvPr id="3" name="Content Placeholder 2"/>
          <p:cNvSpPr>
            <a:spLocks noGrp="1"/>
          </p:cNvSpPr>
          <p:nvPr>
            <p:ph idx="1"/>
          </p:nvPr>
        </p:nvSpPr>
        <p:spPr/>
        <p:txBody>
          <a:bodyPr/>
          <a:lstStyle/>
          <a:p>
            <a:pPr algn="just">
              <a:buNone/>
            </a:pPr>
            <a:r>
              <a:rPr lang="en-US" dirty="0"/>
              <a:t>	There is one computer with a single central processing unit (CPU) and a number of terminals.</a:t>
            </a:r>
          </a:p>
          <a:p>
            <a:pPr algn="just">
              <a:buNone/>
            </a:pPr>
            <a:endParaRPr lang="en-US" dirty="0"/>
          </a:p>
          <a:p>
            <a:pPr algn="just">
              <a:buNone/>
            </a:pPr>
            <a:endParaRPr lang="en-US" dirty="0"/>
          </a:p>
          <a:p>
            <a:pPr algn="just">
              <a:buNone/>
            </a:pPr>
            <a:endParaRPr lang="en-US" dirty="0"/>
          </a:p>
          <a:p>
            <a:pPr algn="just">
              <a:buNone/>
            </a:pPr>
            <a:endParaRPr lang="en-US" dirty="0"/>
          </a:p>
          <a:p>
            <a:pPr algn="just">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22</a:t>
            </a:fld>
            <a:endParaRPr lang="en-US" dirty="0"/>
          </a:p>
        </p:txBody>
      </p:sp>
      <p:pic>
        <p:nvPicPr>
          <p:cNvPr id="2050" name="Picture 2"/>
          <p:cNvPicPr>
            <a:picLocks noChangeAspect="1" noChangeArrowheads="1"/>
          </p:cNvPicPr>
          <p:nvPr/>
        </p:nvPicPr>
        <p:blipFill>
          <a:blip r:embed="rId2"/>
          <a:srcRect/>
          <a:stretch>
            <a:fillRect/>
          </a:stretch>
        </p:blipFill>
        <p:spPr bwMode="auto">
          <a:xfrm>
            <a:off x="3124200" y="1600200"/>
            <a:ext cx="5219700" cy="4165722"/>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90799" cy="4601183"/>
          </a:xfrm>
        </p:spPr>
        <p:txBody>
          <a:bodyPr/>
          <a:lstStyle/>
          <a:p>
            <a:r>
              <a:rPr lang="en-US" dirty="0"/>
              <a:t>File-Server Architecture</a:t>
            </a:r>
          </a:p>
        </p:txBody>
      </p:sp>
      <p:sp>
        <p:nvSpPr>
          <p:cNvPr id="3" name="Content Placeholder 2"/>
          <p:cNvSpPr>
            <a:spLocks noGrp="1"/>
          </p:cNvSpPr>
          <p:nvPr>
            <p:ph idx="1"/>
          </p:nvPr>
        </p:nvSpPr>
        <p:spPr>
          <a:xfrm>
            <a:off x="2667000" y="864108"/>
            <a:ext cx="6172200" cy="5120640"/>
          </a:xfrm>
        </p:spPr>
        <p:txBody>
          <a:bodyPr/>
          <a:lstStyle/>
          <a:p>
            <a:pPr marL="468313" indent="-347663" algn="just">
              <a:buFont typeface="Wingdings" pitchFamily="2" charset="2"/>
              <a:buChar char="§"/>
            </a:pPr>
            <a:r>
              <a:rPr lang="en-US" dirty="0"/>
              <a:t> </a:t>
            </a:r>
            <a:r>
              <a:rPr lang="en-US" sz="1800" dirty="0"/>
              <a:t>There is a large amount of network traffic.</a:t>
            </a:r>
          </a:p>
          <a:p>
            <a:pPr marL="468313" indent="-347663" algn="just">
              <a:buFont typeface="Wingdings" pitchFamily="2" charset="2"/>
              <a:buChar char="§"/>
            </a:pPr>
            <a:r>
              <a:rPr lang="en-US" sz="1800" dirty="0"/>
              <a:t> A full copy of the DBMS is required on each workstation.</a:t>
            </a:r>
          </a:p>
          <a:p>
            <a:pPr marL="468313" indent="-347663" algn="just">
              <a:buFont typeface="Wingdings" pitchFamily="2" charset="2"/>
              <a:buChar char="§"/>
            </a:pPr>
            <a:r>
              <a:rPr lang="en-US" sz="1800" dirty="0"/>
              <a:t>Concurrency, recovery, and integrity control are more complex because there can be multiple DBMSs accessing the same files.</a:t>
            </a:r>
          </a:p>
          <a:p>
            <a:pPr marL="468313" indent="-347663" algn="just">
              <a:buFont typeface="Wingdings" pitchFamily="2" charset="2"/>
              <a:buChar char="§"/>
            </a:pPr>
            <a:endParaRPr lang="en-US" sz="1800" dirty="0"/>
          </a:p>
          <a:p>
            <a:pPr marL="468313" indent="-347663" algn="just">
              <a:buFont typeface="Wingdings" pitchFamily="2" charset="2"/>
              <a:buChar char="§"/>
            </a:pPr>
            <a:endParaRPr lang="en-US" dirty="0"/>
          </a:p>
          <a:p>
            <a:pPr marL="468313" indent="-347663" algn="just">
              <a:buFont typeface="Wingdings" pitchFamily="2" charset="2"/>
              <a:buChar char="§"/>
            </a:pPr>
            <a:endParaRPr lang="en-US" dirty="0"/>
          </a:p>
          <a:p>
            <a:pPr marL="468313" indent="-347663" algn="just">
              <a:buFont typeface="Wingdings" pitchFamily="2" charset="2"/>
              <a:buChar char="§"/>
            </a:pPr>
            <a:endParaRPr lang="en-US" dirty="0"/>
          </a:p>
          <a:p>
            <a:pPr marL="468313" indent="-347663" algn="just">
              <a:buFont typeface="Wingdings" pitchFamily="2" charset="2"/>
              <a:buChar char="§"/>
            </a:pPr>
            <a:endParaRPr lang="en-US" dirty="0"/>
          </a:p>
          <a:p>
            <a:pPr marL="468313" indent="-347663" algn="just">
              <a:buFont typeface="Wingdings" pitchFamily="2" charset="2"/>
              <a:buChar char="§"/>
            </a:pPr>
            <a:endParaRPr lang="en-US" dirty="0"/>
          </a:p>
          <a:p>
            <a:pPr marL="468313" indent="-347663" algn="just">
              <a:buFont typeface="Wingdings" pitchFamily="2" charset="2"/>
              <a:buChar char="§"/>
            </a:pPr>
            <a:endParaRPr lang="en-US" dirty="0"/>
          </a:p>
          <a:p>
            <a:pPr marL="468313" indent="-347663" algn="just">
              <a:buFont typeface="Wingdings" pitchFamily="2" charset="2"/>
              <a:buChar char="§"/>
            </a:pPr>
            <a:endParaRPr lang="en-US" dirty="0"/>
          </a:p>
          <a:p>
            <a:pPr marL="468313" indent="-347663" algn="just">
              <a:buFont typeface="Wingdings" pitchFamily="2" charset="2"/>
              <a:buChar char="§"/>
            </a:pP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23</a:t>
            </a:fld>
            <a:endParaRPr lang="en-US" dirty="0"/>
          </a:p>
        </p:txBody>
      </p:sp>
      <p:pic>
        <p:nvPicPr>
          <p:cNvPr id="3074" name="Picture 2"/>
          <p:cNvPicPr>
            <a:picLocks noChangeAspect="1" noChangeArrowheads="1"/>
          </p:cNvPicPr>
          <p:nvPr/>
        </p:nvPicPr>
        <p:blipFill>
          <a:blip r:embed="rId2"/>
          <a:srcRect/>
          <a:stretch>
            <a:fillRect/>
          </a:stretch>
        </p:blipFill>
        <p:spPr bwMode="auto">
          <a:xfrm>
            <a:off x="3124200" y="2286000"/>
            <a:ext cx="5105400" cy="38862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14599" cy="4601183"/>
          </a:xfrm>
        </p:spPr>
        <p:txBody>
          <a:bodyPr/>
          <a:lstStyle/>
          <a:p>
            <a:r>
              <a:rPr lang="en-US" sz="3200" dirty="0"/>
              <a:t>Two – Tier </a:t>
            </a:r>
            <a:r>
              <a:rPr lang="en-US" dirty="0"/>
              <a:t>Client Server Architecture</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24</a:t>
            </a:fld>
            <a:endParaRPr lang="en-US" dirty="0"/>
          </a:p>
        </p:txBody>
      </p:sp>
      <p:pic>
        <p:nvPicPr>
          <p:cNvPr id="5122" name="Picture 2"/>
          <p:cNvPicPr>
            <a:picLocks noChangeAspect="1" noChangeArrowheads="1"/>
          </p:cNvPicPr>
          <p:nvPr/>
        </p:nvPicPr>
        <p:blipFill>
          <a:blip r:embed="rId2"/>
          <a:srcRect/>
          <a:stretch>
            <a:fillRect/>
          </a:stretch>
        </p:blipFill>
        <p:spPr bwMode="auto">
          <a:xfrm>
            <a:off x="2590800" y="1600200"/>
            <a:ext cx="6172201" cy="39624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14599" cy="4601183"/>
          </a:xfrm>
        </p:spPr>
        <p:txBody>
          <a:bodyPr/>
          <a:lstStyle/>
          <a:p>
            <a:r>
              <a:rPr lang="en-US" sz="3200" dirty="0"/>
              <a:t>Three – Tier </a:t>
            </a:r>
            <a:r>
              <a:rPr lang="en-US" dirty="0"/>
              <a:t>Client Server Architecture</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25</a:t>
            </a:fld>
            <a:endParaRPr lang="en-US" dirty="0"/>
          </a:p>
        </p:txBody>
      </p:sp>
      <p:pic>
        <p:nvPicPr>
          <p:cNvPr id="4098" name="Picture 2"/>
          <p:cNvPicPr>
            <a:picLocks noChangeAspect="1" noChangeArrowheads="1"/>
          </p:cNvPicPr>
          <p:nvPr/>
        </p:nvPicPr>
        <p:blipFill>
          <a:blip r:embed="rId2"/>
          <a:srcRect/>
          <a:stretch>
            <a:fillRect/>
          </a:stretch>
        </p:blipFill>
        <p:spPr bwMode="auto">
          <a:xfrm>
            <a:off x="2836277" y="1066800"/>
            <a:ext cx="5850523" cy="45720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Thank You</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26</a:t>
            </a:fld>
            <a:endParaRPr lang="en-US" dirty="0"/>
          </a:p>
        </p:txBody>
      </p:sp>
    </p:spTree>
  </p:cSld>
  <p:clrMapOvr>
    <a:masterClrMapping/>
  </p:clrMapOvr>
</p:sld>
</file>

<file path=ppt/theme/theme1.xml><?xml version="1.0" encoding="utf-8"?>
<a:theme xmlns:a="http://schemas.openxmlformats.org/drawingml/2006/main" name="Theme1">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Process04_16x9.potx" id="{948F7032-B2AB-41B3-AE97-712995A7FE85}" vid="{A1454562-8AB1-4F49-B342-1C5B3989EC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C25F5A5569D94094B77E3017ADC69C" ma:contentTypeVersion="2" ma:contentTypeDescription="Create a new document." ma:contentTypeScope="" ma:versionID="9e0159d7b1dab93614b4bd2ebff07d13">
  <xsd:schema xmlns:xsd="http://www.w3.org/2001/XMLSchema" xmlns:xs="http://www.w3.org/2001/XMLSchema" xmlns:p="http://schemas.microsoft.com/office/2006/metadata/properties" xmlns:ns2="eac09ab3-58ef-4187-9d71-bf4a22f125d9" targetNamespace="http://schemas.microsoft.com/office/2006/metadata/properties" ma:root="true" ma:fieldsID="1e5ef3ec9496191f2f675a59baae81eb" ns2:_="">
    <xsd:import namespace="eac09ab3-58ef-4187-9d71-bf4a22f125d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c09ab3-58ef-4187-9d71-bf4a22f125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EBA661-84E5-4425-9968-F859A8342B0C}">
  <ds:schemaRefs>
    <ds:schemaRef ds:uri="http://schemas.microsoft.com/sharepoint/v3/contenttype/forms"/>
  </ds:schemaRefs>
</ds:datastoreItem>
</file>

<file path=customXml/itemProps2.xml><?xml version="1.0" encoding="utf-8"?>
<ds:datastoreItem xmlns:ds="http://schemas.openxmlformats.org/officeDocument/2006/customXml" ds:itemID="{4FC0EBB9-6A23-4BC1-9F52-E7EACB99CAB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34B6773-B32F-49C1-BE6E-EA5C150399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c09ab3-58ef-4187-9d71-bf4a22f125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Theme1</Template>
  <TotalTime>5490</TotalTime>
  <Words>1202</Words>
  <Application>Microsoft Office PowerPoint</Application>
  <PresentationFormat>On-screen Show (4:3)</PresentationFormat>
  <Paragraphs>169</Paragraphs>
  <Slides>26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Corbel</vt:lpstr>
      <vt:lpstr>Times New Roman</vt:lpstr>
      <vt:lpstr>Wingdings</vt:lpstr>
      <vt:lpstr>Wingdings 2</vt:lpstr>
      <vt:lpstr>Theme1</vt:lpstr>
      <vt:lpstr>Introduction to Database Systems</vt:lpstr>
      <vt:lpstr>Database Architecture</vt:lpstr>
      <vt:lpstr>   Three-Level ANSI-SPARC Architecture  American National Standards Institute (ANSI)   Standards Planning and Requirements Committee (SPARC)</vt:lpstr>
      <vt:lpstr>Three-level Architecture</vt:lpstr>
      <vt:lpstr>Why????</vt:lpstr>
      <vt:lpstr>External View</vt:lpstr>
      <vt:lpstr>Conceptual Level</vt:lpstr>
      <vt:lpstr> Internal Level   OR  Physical Level </vt:lpstr>
      <vt:lpstr>Three-level Architecture</vt:lpstr>
      <vt:lpstr>Difference between Three-levels</vt:lpstr>
      <vt:lpstr>Data Independent</vt:lpstr>
      <vt:lpstr>Data Independent</vt:lpstr>
      <vt:lpstr>Data Model</vt:lpstr>
      <vt:lpstr>Data Model</vt:lpstr>
      <vt:lpstr>Object Based Data Models</vt:lpstr>
      <vt:lpstr>Record Based Data Models</vt:lpstr>
      <vt:lpstr>Relational data model</vt:lpstr>
      <vt:lpstr>Network data model</vt:lpstr>
      <vt:lpstr>Hierarchal Data model </vt:lpstr>
      <vt:lpstr>Multi-User DBMS Architectures</vt:lpstr>
      <vt:lpstr>Multi-User DBMS Architectures</vt:lpstr>
      <vt:lpstr>Teleprocessing</vt:lpstr>
      <vt:lpstr>File-Server Architecture</vt:lpstr>
      <vt:lpstr>Two – Tier Client Server Architecture</vt:lpstr>
      <vt:lpstr>Three – Tier Client Server Architecture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SALMAN</dc:creator>
  <cp:lastModifiedBy>Anas Bilal</cp:lastModifiedBy>
  <cp:revision>256</cp:revision>
  <dcterms:created xsi:type="dcterms:W3CDTF">2014-02-17T16:56:43Z</dcterms:created>
  <dcterms:modified xsi:type="dcterms:W3CDTF">2024-09-21T17:39:47Z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0x010100EAC25F5A5569D94094B77E3017ADC69C</vt:lpwstr>
  </property>
</Properties>
</file>