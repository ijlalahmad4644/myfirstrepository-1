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5"/>
  </p:notesMasterIdLst>
  <p:handoutMasterIdLst>
    <p:handoutMasterId r:id="rId46"/>
  </p:handoutMasterIdLst>
  <p:sldIdLst>
    <p:sldId id="346" r:id="rId2"/>
    <p:sldId id="257" r:id="rId3"/>
    <p:sldId id="260" r:id="rId4"/>
    <p:sldId id="261" r:id="rId5"/>
    <p:sldId id="262" r:id="rId6"/>
    <p:sldId id="263" r:id="rId7"/>
    <p:sldId id="264" r:id="rId8"/>
    <p:sldId id="305" r:id="rId9"/>
    <p:sldId id="267" r:id="rId10"/>
    <p:sldId id="268" r:id="rId11"/>
    <p:sldId id="271" r:id="rId12"/>
    <p:sldId id="300" r:id="rId13"/>
    <p:sldId id="329" r:id="rId14"/>
    <p:sldId id="265" r:id="rId15"/>
    <p:sldId id="266" r:id="rId16"/>
    <p:sldId id="288" r:id="rId17"/>
    <p:sldId id="289" r:id="rId18"/>
    <p:sldId id="348" r:id="rId19"/>
    <p:sldId id="275" r:id="rId20"/>
    <p:sldId id="347" r:id="rId21"/>
    <p:sldId id="294" r:id="rId22"/>
    <p:sldId id="277" r:id="rId23"/>
    <p:sldId id="290" r:id="rId24"/>
    <p:sldId id="296" r:id="rId25"/>
    <p:sldId id="307" r:id="rId26"/>
    <p:sldId id="272" r:id="rId27"/>
    <p:sldId id="273" r:id="rId28"/>
    <p:sldId id="330" r:id="rId29"/>
    <p:sldId id="337" r:id="rId30"/>
    <p:sldId id="335" r:id="rId31"/>
    <p:sldId id="331" r:id="rId32"/>
    <p:sldId id="332" r:id="rId33"/>
    <p:sldId id="338" r:id="rId34"/>
    <p:sldId id="340" r:id="rId35"/>
    <p:sldId id="334" r:id="rId36"/>
    <p:sldId id="342" r:id="rId37"/>
    <p:sldId id="336" r:id="rId38"/>
    <p:sldId id="333" r:id="rId39"/>
    <p:sldId id="309" r:id="rId40"/>
    <p:sldId id="310" r:id="rId41"/>
    <p:sldId id="319" r:id="rId42"/>
    <p:sldId id="320" r:id="rId43"/>
    <p:sldId id="321" r:id="rId44"/>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3E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p:restoredTop sz="99178" autoAdjust="0"/>
  </p:normalViewPr>
  <p:slideViewPr>
    <p:cSldViewPr>
      <p:cViewPr>
        <p:scale>
          <a:sx n="66" d="100"/>
          <a:sy n="66" d="100"/>
        </p:scale>
        <p:origin x="-1020" y="-18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979CD52D-41BE-4CA0-B9BD-0D0019016972}" type="datetimeFigureOut">
              <a:rPr lang="en-GB" smtClean="0"/>
              <a:t>02/04/2012</a:t>
            </a:fld>
            <a:endParaRPr lang="en-GB"/>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CB2BDA66-EC9F-464E-A4D8-A8C1771C1039}" type="slidenum">
              <a:rPr lang="en-GB" smtClean="0"/>
              <a:t>‹#›</a:t>
            </a:fld>
            <a:endParaRPr lang="en-GB"/>
          </a:p>
        </p:txBody>
      </p:sp>
    </p:spTree>
    <p:extLst>
      <p:ext uri="{BB962C8B-B14F-4D97-AF65-F5344CB8AC3E}">
        <p14:creationId xmlns:p14="http://schemas.microsoft.com/office/powerpoint/2010/main" val="24954478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CA8450D5-CF8D-4F3A-BA11-6A8D5C878899}" type="datetimeFigureOut">
              <a:rPr lang="en-US" smtClean="0"/>
              <a:pPr/>
              <a:t>4/2/2012</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8066C73-771A-4AD9-8809-1F4DFAED6A0F}" type="slidenum">
              <a:rPr lang="en-US" smtClean="0"/>
              <a:pPr/>
              <a:t>‹#›</a:t>
            </a:fld>
            <a:endParaRPr lang="en-US"/>
          </a:p>
        </p:txBody>
      </p:sp>
    </p:spTree>
    <p:extLst>
      <p:ext uri="{BB962C8B-B14F-4D97-AF65-F5344CB8AC3E}">
        <p14:creationId xmlns:p14="http://schemas.microsoft.com/office/powerpoint/2010/main" val="3242963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32943" indent="-232943">
              <a:buAutoNum type="arabicPeriod"/>
            </a:pPr>
            <a:r>
              <a:rPr lang="en-US" dirty="0" smtClean="0"/>
              <a:t>An employee is assigned one parking place; each parking place is</a:t>
            </a:r>
            <a:r>
              <a:rPr lang="en-US" baseline="0" dirty="0" smtClean="0"/>
              <a:t> assigned to one employee. (Every employee gets a parking place.)</a:t>
            </a:r>
          </a:p>
          <a:p>
            <a:pPr marL="232943" indent="-232943">
              <a:buAutoNum type="arabicPeriod"/>
            </a:pPr>
            <a:r>
              <a:rPr lang="en-US" baseline="0" dirty="0" smtClean="0"/>
              <a:t>An employee may be assigned one parking place; each parking place is assigned to one employee. (More employees than parking spots—not everybody gets a parking place.)</a:t>
            </a:r>
          </a:p>
          <a:p>
            <a:pPr marL="232943" indent="-232943">
              <a:buAutoNum type="arabicPeriod"/>
            </a:pPr>
            <a:r>
              <a:rPr lang="en-US" baseline="0" dirty="0" smtClean="0"/>
              <a:t>An employee may be assigned one parking place; each parking place may be assigned to one employee. (An employee doesn’t have to take an available parking place. The employee may not drive to work and doesn’t want to pay for the spot.)</a:t>
            </a:r>
          </a:p>
          <a:p>
            <a:pPr marL="232943" indent="-232943">
              <a:buAutoNum type="arabicPeriod"/>
            </a:pPr>
            <a:r>
              <a:rPr lang="en-US" baseline="0" dirty="0" smtClean="0"/>
              <a:t>A department may have many employees assigned to it; each employee is assigned to one department. (We can add a new department to the database before assigning employees to it.)</a:t>
            </a:r>
          </a:p>
          <a:p>
            <a:pPr marL="232943" indent="-232943">
              <a:buAutoNum type="arabicPeriod"/>
            </a:pPr>
            <a:r>
              <a:rPr lang="en-US" baseline="0" dirty="0" smtClean="0"/>
              <a:t>A project may have many employees assigned to it; an employee may be assigned to multiple projects. (We can track employees and projects independently of each other. That is, we can add a new project to the database before assigning employees to it. Always break M:M relationships into two 1:M relationships.)</a:t>
            </a:r>
          </a:p>
          <a:p>
            <a:pPr marL="232943" indent="-232943" defTabSz="931774">
              <a:buFontTx/>
              <a:buAutoNum type="arabicPeriod"/>
              <a:defRPr/>
            </a:pPr>
            <a:r>
              <a:rPr lang="en-US" baseline="0" dirty="0" smtClean="0"/>
              <a:t>A project has many employees assigned to it; an employee is assigned to multiple projects. (An employee is working on multiple projects at the same time. Each employee must be assigned to at least one project; a project must have at least one employee assigned to it. Always break M:M relationships into two 1:M relationships.)</a:t>
            </a:r>
          </a:p>
        </p:txBody>
      </p:sp>
      <p:sp>
        <p:nvSpPr>
          <p:cNvPr id="4" name="Slide Number Placeholder 3"/>
          <p:cNvSpPr>
            <a:spLocks noGrp="1"/>
          </p:cNvSpPr>
          <p:nvPr>
            <p:ph type="sldNum" sz="quarter" idx="10"/>
          </p:nvPr>
        </p:nvSpPr>
        <p:spPr/>
        <p:txBody>
          <a:bodyPr/>
          <a:lstStyle/>
          <a:p>
            <a:fld id="{58066C73-771A-4AD9-8809-1F4DFAED6A0F}" type="slidenum">
              <a:rPr lang="en-US" smtClean="0"/>
              <a:pPr/>
              <a:t>23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5EF6AF95-E36D-49E6-B4C2-A590A4BBEB0F}" type="datetimeFigureOut">
              <a:rPr lang="en-US" smtClean="0"/>
              <a:pPr/>
              <a:t>4/2/2012</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7AEA2732-1ABB-4871-9C1C-84339D11CC1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066800"/>
          </a:xfrm>
        </p:spPr>
        <p:txBody>
          <a:bodyPr anchor="t" anchorCtr="0"/>
          <a:lstStyle/>
          <a:p>
            <a:r>
              <a:rPr kumimoji="0" lang="en-US" smtClean="0"/>
              <a:t>Click to edit Master title style</a:t>
            </a:r>
            <a:endParaRPr kumimoji="0" lang="en-US"/>
          </a:p>
        </p:txBody>
      </p:sp>
      <p:sp>
        <p:nvSpPr>
          <p:cNvPr id="3" name="Content Placeholder 2"/>
          <p:cNvSpPr>
            <a:spLocks noGrp="1"/>
          </p:cNvSpPr>
          <p:nvPr>
            <p:ph idx="1"/>
          </p:nvPr>
        </p:nvSpPr>
        <p:spPr>
          <a:xfrm>
            <a:off x="457200" y="1752600"/>
            <a:ext cx="8229600" cy="4821936"/>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Slide Number Placeholder 5"/>
          <p:cNvSpPr>
            <a:spLocks noGrp="1"/>
          </p:cNvSpPr>
          <p:nvPr>
            <p:ph type="sldNum" sz="quarter" idx="12"/>
          </p:nvPr>
        </p:nvSpPr>
        <p:spPr/>
        <p:txBody>
          <a:bodyPr/>
          <a:lstStyle/>
          <a:p>
            <a:fld id="{7AEA2732-1ABB-4871-9C1C-84339D11CC1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EF6AF95-E36D-49E6-B4C2-A590A4BBEB0F}" type="datetimeFigureOut">
              <a:rPr lang="en-US" smtClean="0"/>
              <a:pPr/>
              <a:t>4/2/2012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EA2732-1ABB-4871-9C1C-84339D11CC1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EF6AF95-E36D-49E6-B4C2-A590A4BBEB0F}" type="datetimeFigureOut">
              <a:rPr lang="en-US" smtClean="0"/>
              <a:pPr/>
              <a:t>4/2/2012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EA2732-1ABB-4871-9C1C-84339D11CC1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5EF6AF95-E36D-49E6-B4C2-A590A4BBEB0F}" type="datetimeFigureOut">
              <a:rPr lang="en-US" smtClean="0"/>
              <a:pPr/>
              <a:t>4/2/2012</a:t>
            </a:fld>
            <a:endParaRPr lang="en-US"/>
          </a:p>
        </p:txBody>
      </p:sp>
      <p:sp>
        <p:nvSpPr>
          <p:cNvPr id="27" name="Slide Number Placeholder 26"/>
          <p:cNvSpPr>
            <a:spLocks noGrp="1"/>
          </p:cNvSpPr>
          <p:nvPr>
            <p:ph type="sldNum" sz="quarter" idx="11"/>
          </p:nvPr>
        </p:nvSpPr>
        <p:spPr/>
        <p:txBody>
          <a:bodyPr rtlCol="0"/>
          <a:lstStyle/>
          <a:p>
            <a:fld id="{7AEA2732-1ABB-4871-9C1C-84339D11CC1C}" type="slidenum">
              <a:rPr lang="en-US" smtClean="0"/>
              <a:pPr/>
              <a:t>‹#›</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5EF6AF95-E36D-49E6-B4C2-A590A4BBEB0F}" type="datetimeFigureOut">
              <a:rPr lang="en-US" smtClean="0"/>
              <a:pPr/>
              <a:t>4/2/2012</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7AEA2732-1ABB-4871-9C1C-84339D11CC1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6AF95-E36D-49E6-B4C2-A590A4BBEB0F}" type="datetimeFigureOut">
              <a:rPr lang="en-US" smtClean="0"/>
              <a:pPr/>
              <a:t>4/2/2012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EA2732-1ABB-4871-9C1C-84339D11CC1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EF6AF95-E36D-49E6-B4C2-A590A4BBEB0F}" type="datetimeFigureOut">
              <a:rPr lang="en-US" smtClean="0"/>
              <a:pPr/>
              <a:t>4/2/2012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EA2732-1ABB-4871-9C1C-84339D11CC1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EF6AF95-E36D-49E6-B4C2-A590A4BBEB0F}" type="datetimeFigureOut">
              <a:rPr lang="en-US" smtClean="0"/>
              <a:pPr/>
              <a:t>4/2/2012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EA2732-1ABB-4871-9C1C-84339D11CC1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EF6AF95-E36D-49E6-B4C2-A590A4BBEB0F}" type="datetimeFigureOut">
              <a:rPr lang="en-US" smtClean="0"/>
              <a:pPr/>
              <a:t>4/2/2012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EA2732-1ABB-4871-9C1C-84339D11CC1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EF6AF95-E36D-49E6-B4C2-A590A4BBEB0F}" type="datetimeFigureOut">
              <a:rPr lang="en-US" smtClean="0"/>
              <a:pPr/>
              <a:t>4/2/2012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EA2732-1ABB-4871-9C1C-84339D11CC1C}"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181100" y="609600"/>
            <a:ext cx="7715250" cy="1143000"/>
          </a:xfrm>
        </p:spPr>
        <p:txBody>
          <a:bodyPr/>
          <a:lstStyle/>
          <a:p>
            <a:r>
              <a:rPr lang="en-US" smtClean="0"/>
              <a:t>Click to edit Master title style</a:t>
            </a:r>
            <a:endParaRPr lang="en-US"/>
          </a:p>
        </p:txBody>
      </p:sp>
      <p:sp>
        <p:nvSpPr>
          <p:cNvPr id="3" name="SmartArt Placeholder 2"/>
          <p:cNvSpPr>
            <a:spLocks noGrp="1"/>
          </p:cNvSpPr>
          <p:nvPr>
            <p:ph type="dgm" idx="1"/>
          </p:nvPr>
        </p:nvSpPr>
        <p:spPr>
          <a:xfrm>
            <a:off x="1143000" y="2057400"/>
            <a:ext cx="7791450" cy="4114800"/>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5EF6AF95-E36D-49E6-B4C2-A590A4BBEB0F}" type="datetimeFigureOut">
              <a:rPr lang="en-US" smtClean="0"/>
              <a:pPr/>
              <a:t>4/2/2012</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7AEA2732-1ABB-4871-9C1C-84339D11CC1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Agenda &amp; Objectives</a:t>
            </a:r>
            <a:endParaRPr lang="en-US" dirty="0"/>
          </a:p>
        </p:txBody>
      </p:sp>
      <p:sp>
        <p:nvSpPr>
          <p:cNvPr id="5" name="Content Placeholder 4"/>
          <p:cNvSpPr>
            <a:spLocks noGrp="1"/>
          </p:cNvSpPr>
          <p:nvPr>
            <p:ph sz="quarter" idx="1"/>
          </p:nvPr>
        </p:nvSpPr>
        <p:spPr/>
        <p:txBody>
          <a:bodyPr>
            <a:normAutofit fontScale="85000" lnSpcReduction="10000"/>
          </a:bodyPr>
          <a:lstStyle/>
          <a:p>
            <a:r>
              <a:rPr lang="en-US" dirty="0" smtClean="0"/>
              <a:t>Agenda</a:t>
            </a:r>
          </a:p>
          <a:p>
            <a:pPr lvl="1"/>
            <a:r>
              <a:rPr lang="en-US" dirty="0" smtClean="0"/>
              <a:t>Overview where data modeling fits within SDLC</a:t>
            </a:r>
          </a:p>
          <a:p>
            <a:pPr lvl="1"/>
            <a:r>
              <a:rPr lang="en-US" dirty="0" smtClean="0"/>
              <a:t>Define data modeling components</a:t>
            </a:r>
          </a:p>
          <a:p>
            <a:pPr lvl="1"/>
            <a:r>
              <a:rPr lang="en-US" dirty="0" smtClean="0"/>
              <a:t>Write business rules</a:t>
            </a:r>
          </a:p>
          <a:p>
            <a:pPr lvl="1"/>
            <a:r>
              <a:rPr lang="en-US" dirty="0" smtClean="0"/>
              <a:t>Practice modeling various relationships</a:t>
            </a:r>
          </a:p>
          <a:p>
            <a:pPr lvl="1"/>
            <a:endParaRPr lang="en-US" dirty="0" smtClean="0"/>
          </a:p>
          <a:p>
            <a:r>
              <a:rPr lang="en-US" dirty="0" smtClean="0"/>
              <a:t>Objective</a:t>
            </a:r>
          </a:p>
          <a:p>
            <a:pPr lvl="1"/>
            <a:r>
              <a:rPr lang="en-US" dirty="0" smtClean="0"/>
              <a:t>Given an existing entity relationship diagram (ERD), you will  be able to create the corresponding business rules.</a:t>
            </a:r>
          </a:p>
          <a:p>
            <a:pPr lvl="1"/>
            <a:r>
              <a:rPr lang="en-US" dirty="0" smtClean="0"/>
              <a:t>Given an existing entity relationship diagram, you will be able to describe the business process.</a:t>
            </a:r>
            <a:br>
              <a:rPr lang="en-US" dirty="0" smtClean="0"/>
            </a:br>
            <a:endParaRPr lang="en-US" dirty="0" smtClean="0"/>
          </a:p>
          <a:p>
            <a:r>
              <a:rPr lang="en-US" dirty="0" smtClean="0"/>
              <a:t>Resource</a:t>
            </a:r>
          </a:p>
          <a:p>
            <a:pPr lvl="1"/>
            <a:r>
              <a:rPr lang="en-US" smtClean="0"/>
              <a:t>BusRules_InterpretingERD.pptx</a:t>
            </a:r>
            <a:endParaRPr 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mtClean="0"/>
              <a:t>STRUCTURING SYSTEM REQUIREMENTS: </a:t>
            </a:r>
            <a:br>
              <a:rPr lang="en-US" smtClean="0"/>
            </a:br>
            <a:r>
              <a:rPr lang="en-US" smtClean="0"/>
              <a:t>CONCEPTUAL DATA MODELING</a:t>
            </a:r>
            <a:endParaRPr lang="en-US" dirty="0"/>
          </a:p>
        </p:txBody>
      </p:sp>
      <p:sp>
        <p:nvSpPr>
          <p:cNvPr id="3" name="Subtitle 2"/>
          <p:cNvSpPr>
            <a:spLocks noGrp="1"/>
          </p:cNvSpPr>
          <p:nvPr>
            <p:ph type="subTitle" idx="1"/>
          </p:nvPr>
        </p:nvSpPr>
        <p:spPr/>
        <p:txBody>
          <a:bodyPr/>
          <a:lstStyle/>
          <a:p>
            <a:r>
              <a:rPr lang="en-US" smtClean="0"/>
              <a:t>IS 310</a:t>
            </a:r>
          </a:p>
          <a:p>
            <a:r>
              <a:rPr lang="en-US" smtClean="0"/>
              <a:t>Dr. Jean A. Pratt</a:t>
            </a:r>
            <a:endParaRPr lang="en-US" dirty="0"/>
          </a:p>
        </p:txBody>
      </p:sp>
      <p:sp>
        <p:nvSpPr>
          <p:cNvPr id="4" name="TextBox 3"/>
          <p:cNvSpPr txBox="1"/>
          <p:nvPr/>
        </p:nvSpPr>
        <p:spPr>
          <a:xfrm>
            <a:off x="1143000" y="6477000"/>
            <a:ext cx="7848600" cy="246221"/>
          </a:xfrm>
          <a:prstGeom prst="rect">
            <a:avLst/>
          </a:prstGeom>
          <a:noFill/>
        </p:spPr>
        <p:txBody>
          <a:bodyPr wrap="square" rtlCol="0">
            <a:spAutoFit/>
          </a:bodyPr>
          <a:lstStyle/>
          <a:p>
            <a:pPr algn="r"/>
            <a:r>
              <a:rPr lang="en-US" sz="1000" dirty="0" smtClean="0">
                <a:solidFill>
                  <a:schemeClr val="bg1">
                    <a:lumMod val="75000"/>
                  </a:schemeClr>
                </a:solidFill>
                <a:latin typeface="Arial Narrow" pitchFamily="34" charset="0"/>
              </a:rPr>
              <a:t>Text/visual support from </a:t>
            </a:r>
            <a:r>
              <a:rPr lang="en-US" sz="1000" dirty="0" err="1" smtClean="0">
                <a:solidFill>
                  <a:schemeClr val="bg1">
                    <a:lumMod val="75000"/>
                  </a:schemeClr>
                </a:solidFill>
                <a:latin typeface="Arial Narrow" pitchFamily="34" charset="0"/>
              </a:rPr>
              <a:t>Valacich</a:t>
            </a:r>
            <a:r>
              <a:rPr lang="en-US" sz="1000" dirty="0" smtClean="0">
                <a:solidFill>
                  <a:schemeClr val="bg1">
                    <a:lumMod val="75000"/>
                  </a:schemeClr>
                </a:solidFill>
                <a:latin typeface="Arial Narrow" pitchFamily="34" charset="0"/>
              </a:rPr>
              <a:t>, George, </a:t>
            </a:r>
            <a:r>
              <a:rPr lang="en-US" sz="1000" dirty="0" err="1" smtClean="0">
                <a:solidFill>
                  <a:schemeClr val="bg1">
                    <a:lumMod val="75000"/>
                  </a:schemeClr>
                </a:solidFill>
                <a:latin typeface="Arial Narrow" pitchFamily="34" charset="0"/>
              </a:rPr>
              <a:t>Hoffer</a:t>
            </a:r>
            <a:r>
              <a:rPr lang="en-US" sz="1000" dirty="0" smtClean="0">
                <a:solidFill>
                  <a:schemeClr val="bg1">
                    <a:lumMod val="75000"/>
                  </a:schemeClr>
                </a:solidFill>
                <a:latin typeface="Arial Narrow" pitchFamily="34" charset="0"/>
              </a:rPr>
              <a:t> (© 2006 Prentice-Hall, Inc. ); Dennis, Wixom, Roth (© 2006 John Wiley &amp; Sons, Inc.); Dr. Bruce Lo</a:t>
            </a:r>
            <a:endParaRPr lang="en-US" sz="1000" dirty="0">
              <a:solidFill>
                <a:schemeClr val="bg1">
                  <a:lumMod val="75000"/>
                </a:schemeClr>
              </a:solidFill>
              <a:latin typeface="Arial Narrow"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Creating Business Rules;</a:t>
            </a:r>
            <a:br>
              <a:rPr lang="en-US" dirty="0" smtClean="0"/>
            </a:br>
            <a:r>
              <a:rPr lang="en-US" dirty="0" smtClean="0"/>
              <a:t>Interpreting ERDs</a:t>
            </a:r>
            <a:endParaRPr lang="en-GB" dirty="0"/>
          </a:p>
        </p:txBody>
      </p:sp>
      <p:sp>
        <p:nvSpPr>
          <p:cNvPr id="4101" name="Rectangle 5"/>
          <p:cNvSpPr>
            <a:spLocks noGrp="1" noChangeArrowheads="1"/>
          </p:cNvSpPr>
          <p:nvPr>
            <p:ph type="body" idx="1"/>
          </p:nvPr>
        </p:nvSpPr>
        <p:spPr/>
        <p:txBody>
          <a:bodyPr/>
          <a:lstStyle/>
          <a:p>
            <a:r>
              <a:rPr lang="en-US" dirty="0" smtClean="0"/>
              <a:t>Data Modeling</a:t>
            </a:r>
            <a:endParaRPr lang="en-US" dirty="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t>Outline</a:t>
            </a:r>
          </a:p>
        </p:txBody>
      </p:sp>
      <p:sp>
        <p:nvSpPr>
          <p:cNvPr id="14339" name="Rectangle 3"/>
          <p:cNvSpPr>
            <a:spLocks noGrp="1" noChangeArrowheads="1"/>
          </p:cNvSpPr>
          <p:nvPr>
            <p:ph idx="1"/>
          </p:nvPr>
        </p:nvSpPr>
        <p:spPr/>
        <p:txBody>
          <a:bodyPr>
            <a:normAutofit/>
          </a:bodyPr>
          <a:lstStyle/>
          <a:p>
            <a:pPr marL="624078" indent="-514350">
              <a:buFont typeface="+mj-lt"/>
              <a:buAutoNum type="arabicPeriod"/>
            </a:pPr>
            <a:r>
              <a:rPr lang="en-US" dirty="0" smtClean="0"/>
              <a:t>Overview of data modeling</a:t>
            </a:r>
          </a:p>
          <a:p>
            <a:pPr marL="916686" lvl="1" indent="-514350">
              <a:buFont typeface="+mj-lt"/>
              <a:buAutoNum type="arabicPeriod"/>
            </a:pPr>
            <a:r>
              <a:rPr lang="en-US" dirty="0" smtClean="0"/>
              <a:t>Deliverables of data modeling</a:t>
            </a:r>
          </a:p>
          <a:p>
            <a:pPr marL="916686" lvl="1" indent="-514350">
              <a:buFont typeface="+mj-lt"/>
              <a:buAutoNum type="arabicPeriod"/>
            </a:pPr>
            <a:r>
              <a:rPr lang="en-US" dirty="0" smtClean="0"/>
              <a:t>Questions to ask when gathering information</a:t>
            </a:r>
          </a:p>
          <a:p>
            <a:pPr marL="916686" lvl="1" indent="-514350">
              <a:buFont typeface="+mj-lt"/>
              <a:buAutoNum type="arabicPeriod"/>
            </a:pPr>
            <a:r>
              <a:rPr lang="en-US" dirty="0" smtClean="0"/>
              <a:t>Where data modeling maps to process modeling</a:t>
            </a:r>
          </a:p>
          <a:p>
            <a:pPr marL="402336" lvl="1" indent="0">
              <a:buNone/>
            </a:pPr>
            <a:endParaRPr lang="en-US" dirty="0" smtClean="0"/>
          </a:p>
          <a:p>
            <a:pPr marL="624078" indent="-514350">
              <a:buFont typeface="+mj-lt"/>
              <a:buAutoNum type="arabicPeriod"/>
            </a:pPr>
            <a:r>
              <a:rPr lang="en-US" dirty="0" smtClean="0">
                <a:solidFill>
                  <a:schemeClr val="bg2">
                    <a:lumMod val="50000"/>
                  </a:schemeClr>
                </a:solidFill>
              </a:rPr>
              <a:t>Elements </a:t>
            </a:r>
            <a:r>
              <a:rPr lang="en-US" dirty="0">
                <a:solidFill>
                  <a:schemeClr val="bg2">
                    <a:lumMod val="50000"/>
                  </a:schemeClr>
                </a:solidFill>
              </a:rPr>
              <a:t>of </a:t>
            </a:r>
            <a:r>
              <a:rPr lang="en-US" dirty="0" smtClean="0">
                <a:solidFill>
                  <a:schemeClr val="bg2">
                    <a:lumMod val="50000"/>
                  </a:schemeClr>
                </a:solidFill>
              </a:rPr>
              <a:t>ERD</a:t>
            </a:r>
          </a:p>
          <a:p>
            <a:pPr marL="624078" indent="-514350">
              <a:buFont typeface="+mj-lt"/>
              <a:buAutoNum type="arabicPeriod"/>
            </a:pPr>
            <a:r>
              <a:rPr lang="en-US" dirty="0" smtClean="0">
                <a:solidFill>
                  <a:schemeClr val="bg2">
                    <a:lumMod val="50000"/>
                  </a:schemeClr>
                </a:solidFill>
              </a:rPr>
              <a:t>Cardinality, participation</a:t>
            </a:r>
          </a:p>
          <a:p>
            <a:pPr marL="624078" indent="-514350">
              <a:buFont typeface="+mj-lt"/>
              <a:buAutoNum type="arabicPeriod"/>
            </a:pPr>
            <a:r>
              <a:rPr lang="en-US" dirty="0" smtClean="0">
                <a:solidFill>
                  <a:schemeClr val="bg2">
                    <a:lumMod val="50000"/>
                  </a:schemeClr>
                </a:solidFill>
              </a:rPr>
              <a:t>Degree of relationships</a:t>
            </a:r>
          </a:p>
          <a:p>
            <a:pPr marL="624078" indent="-514350">
              <a:buFont typeface="+mj-lt"/>
              <a:buAutoNum type="arabicPeriod"/>
            </a:pPr>
            <a:r>
              <a:rPr lang="en-US" dirty="0">
                <a:solidFill>
                  <a:schemeClr val="bg2">
                    <a:lumMod val="50000"/>
                  </a:schemeClr>
                </a:solidFill>
              </a:rPr>
              <a:t>Identifying or non-identifying PK?</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ormAutofit/>
          </a:bodyPr>
          <a:lstStyle/>
          <a:p>
            <a:r>
              <a:rPr lang="en-US" dirty="0" smtClean="0"/>
              <a:t>Overview of Data Modeling</a:t>
            </a:r>
            <a:endParaRPr lang="en-US" dirty="0"/>
          </a:p>
        </p:txBody>
      </p:sp>
      <p:sp>
        <p:nvSpPr>
          <p:cNvPr id="23555" name="Rectangle 3"/>
          <p:cNvSpPr>
            <a:spLocks noGrp="1" noChangeArrowheads="1"/>
          </p:cNvSpPr>
          <p:nvPr>
            <p:ph idx="1"/>
          </p:nvPr>
        </p:nvSpPr>
        <p:spPr/>
        <p:txBody>
          <a:bodyPr/>
          <a:lstStyle/>
          <a:p>
            <a:r>
              <a:rPr lang="en-US" dirty="0"/>
              <a:t>A model that captures the overall structure of organizational data, independent of DBMS and without implementation </a:t>
            </a:r>
            <a:r>
              <a:rPr lang="en-US" dirty="0" smtClean="0"/>
              <a:t>details</a:t>
            </a:r>
            <a:br>
              <a:rPr lang="en-US" dirty="0" smtClean="0"/>
            </a:br>
            <a:endParaRPr lang="en-US" dirty="0"/>
          </a:p>
          <a:p>
            <a:r>
              <a:rPr lang="en-US" dirty="0" smtClean="0"/>
              <a:t>Deliverable</a:t>
            </a:r>
          </a:p>
          <a:p>
            <a:pPr lvl="1"/>
            <a:r>
              <a:rPr lang="en-US" dirty="0" smtClean="0"/>
              <a:t>Entity </a:t>
            </a:r>
            <a:r>
              <a:rPr lang="en-US" dirty="0"/>
              <a:t>Relationship </a:t>
            </a:r>
            <a:r>
              <a:rPr lang="en-US" dirty="0" smtClean="0"/>
              <a:t>Diagram</a:t>
            </a:r>
            <a:endParaRPr lang="en-US" dirty="0"/>
          </a:p>
          <a:p>
            <a:pPr lvl="1"/>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050"/>
          <p:cNvSpPr>
            <a:spLocks noGrp="1" noChangeArrowheads="1"/>
          </p:cNvSpPr>
          <p:nvPr>
            <p:ph type="title"/>
          </p:nvPr>
        </p:nvSpPr>
        <p:spPr>
          <a:noFill/>
          <a:ln/>
        </p:spPr>
        <p:txBody>
          <a:bodyPr>
            <a:normAutofit fontScale="90000"/>
          </a:bodyPr>
          <a:lstStyle/>
          <a:p>
            <a:r>
              <a:rPr lang="en-US"/>
              <a:t>Gathering Information</a:t>
            </a:r>
            <a:br>
              <a:rPr lang="en-US"/>
            </a:br>
            <a:r>
              <a:rPr lang="en-US" sz="3600"/>
              <a:t>Questions for Data Modeling</a:t>
            </a:r>
            <a:endParaRPr lang="en-US"/>
          </a:p>
        </p:txBody>
      </p:sp>
      <p:sp>
        <p:nvSpPr>
          <p:cNvPr id="39939" name="Rectangle 2051"/>
          <p:cNvSpPr>
            <a:spLocks noGrp="1" noChangeArrowheads="1"/>
          </p:cNvSpPr>
          <p:nvPr>
            <p:ph idx="1"/>
          </p:nvPr>
        </p:nvSpPr>
        <p:spPr>
          <a:noFill/>
          <a:ln/>
        </p:spPr>
        <p:txBody>
          <a:bodyPr>
            <a:normAutofit fontScale="92500" lnSpcReduction="10000"/>
          </a:bodyPr>
          <a:lstStyle/>
          <a:p>
            <a:pPr marL="623888" indent="-514350">
              <a:buNone/>
              <a:tabLst>
                <a:tab pos="630238" algn="l"/>
                <a:tab pos="1033463" algn="l"/>
              </a:tabLst>
            </a:pPr>
            <a:r>
              <a:rPr lang="en-US" dirty="0" smtClean="0"/>
              <a:t>1.	What </a:t>
            </a:r>
            <a:r>
              <a:rPr lang="en-US" dirty="0"/>
              <a:t>are subjects/objects of the business? </a:t>
            </a:r>
            <a:endParaRPr lang="en-US" dirty="0" smtClean="0"/>
          </a:p>
          <a:p>
            <a:pPr marL="623888" lvl="1" indent="-514350">
              <a:buNone/>
              <a:tabLst>
                <a:tab pos="630238" algn="l"/>
                <a:tab pos="1033463" algn="l"/>
              </a:tabLst>
            </a:pPr>
            <a:r>
              <a:rPr lang="en-US" dirty="0" smtClean="0"/>
              <a:t>	*	Entities</a:t>
            </a:r>
            <a:br>
              <a:rPr lang="en-US" dirty="0" smtClean="0"/>
            </a:br>
            <a:endParaRPr lang="en-US" dirty="0" smtClean="0"/>
          </a:p>
          <a:p>
            <a:pPr marL="623888" indent="-514350">
              <a:buNone/>
              <a:tabLst>
                <a:tab pos="630238" algn="l"/>
                <a:tab pos="1033463" algn="l"/>
              </a:tabLst>
            </a:pPr>
            <a:r>
              <a:rPr lang="en-US" dirty="0" smtClean="0"/>
              <a:t>2.	What </a:t>
            </a:r>
            <a:r>
              <a:rPr lang="en-US" dirty="0"/>
              <a:t>unique characteristic distinguishes each object from other objects of the same type</a:t>
            </a:r>
            <a:r>
              <a:rPr lang="en-US" dirty="0" smtClean="0"/>
              <a:t>?</a:t>
            </a:r>
          </a:p>
          <a:p>
            <a:pPr marL="623888" lvl="1" indent="-514350">
              <a:buNone/>
              <a:tabLst>
                <a:tab pos="630238" algn="l"/>
                <a:tab pos="1033463" algn="l"/>
              </a:tabLst>
            </a:pPr>
            <a:r>
              <a:rPr lang="en-US" dirty="0" smtClean="0"/>
              <a:t>	*	Primary key</a:t>
            </a:r>
            <a:br>
              <a:rPr lang="en-US" dirty="0" smtClean="0"/>
            </a:br>
            <a:endParaRPr lang="en-US" dirty="0" smtClean="0"/>
          </a:p>
          <a:p>
            <a:pPr marL="623888" indent="-514350">
              <a:buNone/>
              <a:tabLst>
                <a:tab pos="630238" algn="l"/>
                <a:tab pos="1033463" algn="l"/>
              </a:tabLst>
            </a:pPr>
            <a:r>
              <a:rPr lang="en-US" dirty="0" smtClean="0"/>
              <a:t>3.	What </a:t>
            </a:r>
            <a:r>
              <a:rPr lang="en-US" dirty="0"/>
              <a:t>characteristics describe each object</a:t>
            </a:r>
            <a:r>
              <a:rPr lang="en-US" dirty="0" smtClean="0"/>
              <a:t>?</a:t>
            </a:r>
          </a:p>
          <a:p>
            <a:pPr marL="623888" lvl="1" indent="-514350">
              <a:buNone/>
              <a:tabLst>
                <a:tab pos="630238" algn="l"/>
                <a:tab pos="1033463" algn="l"/>
              </a:tabLst>
            </a:pPr>
            <a:r>
              <a:rPr lang="en-US" dirty="0" smtClean="0"/>
              <a:t>	*	Attributes</a:t>
            </a:r>
            <a:br>
              <a:rPr lang="en-US" dirty="0" smtClean="0"/>
            </a:br>
            <a:endParaRPr lang="en-US" dirty="0" smtClean="0"/>
          </a:p>
          <a:p>
            <a:pPr marL="623888" indent="-514350">
              <a:buNone/>
              <a:tabLst>
                <a:tab pos="630238" algn="l"/>
                <a:tab pos="1033463" algn="l"/>
              </a:tabLst>
            </a:pPr>
            <a:r>
              <a:rPr lang="en-US" dirty="0" smtClean="0"/>
              <a:t>4.	How </a:t>
            </a:r>
            <a:r>
              <a:rPr lang="en-US" dirty="0"/>
              <a:t>do you use this </a:t>
            </a:r>
            <a:r>
              <a:rPr lang="en-US" dirty="0" smtClean="0"/>
              <a:t>data?</a:t>
            </a:r>
          </a:p>
          <a:p>
            <a:pPr marL="623888" lvl="1" indent="-514350">
              <a:buNone/>
              <a:tabLst>
                <a:tab pos="630238" algn="l"/>
                <a:tab pos="1033463" algn="l"/>
              </a:tabLst>
            </a:pPr>
            <a:r>
              <a:rPr lang="en-US" dirty="0" smtClean="0"/>
              <a:t>	 *   Reports (via queries) </a:t>
            </a:r>
            <a:br>
              <a:rPr lang="en-US" dirty="0" smtClean="0"/>
            </a:br>
            <a:r>
              <a:rPr lang="en-US" dirty="0" smtClean="0"/>
              <a:t> *	 Security controls (e.g., login requirements)</a:t>
            </a:r>
          </a:p>
          <a:p>
            <a:pPr>
              <a:buFont typeface="Monotype Sorts" pitchFamily="2" charset="2"/>
              <a:buNone/>
            </a:pPr>
            <a:endParaRPr lang="en-US" dirty="0"/>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noFill/>
          <a:ln/>
        </p:spPr>
        <p:txBody>
          <a:bodyPr/>
          <a:lstStyle/>
          <a:p>
            <a:r>
              <a:rPr lang="en-US"/>
              <a:t>Questions </a:t>
            </a:r>
            <a:r>
              <a:rPr lang="en-US" sz="2800"/>
              <a:t>(cont’d…)</a:t>
            </a:r>
            <a:endParaRPr lang="en-US"/>
          </a:p>
        </p:txBody>
      </p:sp>
      <p:sp>
        <p:nvSpPr>
          <p:cNvPr id="40963" name="Rectangle 3"/>
          <p:cNvSpPr>
            <a:spLocks noGrp="1" noChangeArrowheads="1"/>
          </p:cNvSpPr>
          <p:nvPr>
            <p:ph idx="1"/>
          </p:nvPr>
        </p:nvSpPr>
        <p:spPr>
          <a:noFill/>
          <a:ln/>
        </p:spPr>
        <p:txBody>
          <a:bodyPr>
            <a:normAutofit fontScale="92500"/>
          </a:bodyPr>
          <a:lstStyle/>
          <a:p>
            <a:pPr marL="624078" indent="-514350">
              <a:lnSpc>
                <a:spcPct val="90000"/>
              </a:lnSpc>
              <a:buNone/>
              <a:tabLst>
                <a:tab pos="630238" algn="l"/>
                <a:tab pos="1033463" algn="l"/>
              </a:tabLst>
            </a:pPr>
            <a:r>
              <a:rPr lang="en-US" sz="2600" dirty="0" smtClean="0"/>
              <a:t>5.	How many instances of one entity participate with another entity?</a:t>
            </a:r>
          </a:p>
          <a:p>
            <a:pPr marL="624078" indent="-514350">
              <a:lnSpc>
                <a:spcPct val="90000"/>
              </a:lnSpc>
              <a:buNone/>
              <a:tabLst>
                <a:tab pos="630238" algn="l"/>
                <a:tab pos="1033463" algn="l"/>
              </a:tabLst>
            </a:pPr>
            <a:r>
              <a:rPr lang="en-US" sz="2400" dirty="0" smtClean="0">
                <a:solidFill>
                  <a:srgbClr val="FF99FF"/>
                </a:solidFill>
              </a:rPr>
              <a:t>	</a:t>
            </a:r>
            <a:r>
              <a:rPr lang="en-US" sz="2400" dirty="0" smtClean="0">
                <a:solidFill>
                  <a:schemeClr val="accent2"/>
                </a:solidFill>
              </a:rPr>
              <a:t>*	Cardinality </a:t>
            </a:r>
            <a:br>
              <a:rPr lang="en-US" sz="2400" dirty="0" smtClean="0">
                <a:solidFill>
                  <a:schemeClr val="accent2"/>
                </a:solidFill>
              </a:rPr>
            </a:br>
            <a:endParaRPr lang="en-US" sz="2400" dirty="0">
              <a:solidFill>
                <a:schemeClr val="accent2"/>
              </a:solidFill>
            </a:endParaRPr>
          </a:p>
          <a:p>
            <a:pPr marL="624078" indent="-514350">
              <a:lnSpc>
                <a:spcPct val="90000"/>
              </a:lnSpc>
              <a:buNone/>
              <a:tabLst>
                <a:tab pos="630238" algn="l"/>
                <a:tab pos="1033463" algn="l"/>
              </a:tabLst>
            </a:pPr>
            <a:r>
              <a:rPr lang="en-US" sz="2600" dirty="0" smtClean="0"/>
              <a:t>6.	Is participation between entities required or optional?</a:t>
            </a:r>
          </a:p>
          <a:p>
            <a:pPr marL="624078" indent="-514350">
              <a:lnSpc>
                <a:spcPct val="90000"/>
              </a:lnSpc>
              <a:buNone/>
              <a:tabLst>
                <a:tab pos="630238" algn="l"/>
                <a:tab pos="1033463" algn="l"/>
              </a:tabLst>
            </a:pPr>
            <a:r>
              <a:rPr lang="en-US" sz="2400" dirty="0" smtClean="0"/>
              <a:t>	</a:t>
            </a:r>
            <a:r>
              <a:rPr lang="en-US" sz="2400" dirty="0" smtClean="0">
                <a:solidFill>
                  <a:schemeClr val="accent2">
                    <a:lumMod val="75000"/>
                  </a:schemeClr>
                </a:solidFill>
              </a:rPr>
              <a:t>* 	Participation</a:t>
            </a:r>
          </a:p>
          <a:p>
            <a:pPr marL="624078" indent="-514350">
              <a:lnSpc>
                <a:spcPct val="90000"/>
              </a:lnSpc>
              <a:buNone/>
              <a:tabLst>
                <a:tab pos="630238" algn="l"/>
                <a:tab pos="1033463" algn="l"/>
              </a:tabLst>
            </a:pPr>
            <a:endParaRPr lang="en-US" sz="2600" dirty="0" smtClean="0"/>
          </a:p>
          <a:p>
            <a:pPr marL="624078" indent="-514350">
              <a:lnSpc>
                <a:spcPct val="90000"/>
              </a:lnSpc>
              <a:buNone/>
              <a:tabLst>
                <a:tab pos="630238" algn="l"/>
                <a:tab pos="1033463" algn="l"/>
              </a:tabLst>
            </a:pPr>
            <a:r>
              <a:rPr lang="en-US" sz="2600" dirty="0" smtClean="0"/>
              <a:t>7.	What </a:t>
            </a:r>
            <a:r>
              <a:rPr lang="en-US" sz="2600" dirty="0"/>
              <a:t>events occur that imply associations between various objects? </a:t>
            </a:r>
            <a:endParaRPr lang="en-US" sz="2600" dirty="0" smtClean="0"/>
          </a:p>
          <a:p>
            <a:pPr marL="624078" indent="-514350">
              <a:lnSpc>
                <a:spcPct val="90000"/>
              </a:lnSpc>
              <a:buNone/>
              <a:tabLst>
                <a:tab pos="630238" algn="l"/>
                <a:tab pos="1033463" algn="l"/>
              </a:tabLst>
            </a:pPr>
            <a:r>
              <a:rPr lang="en-US" sz="2000" dirty="0" smtClean="0">
                <a:solidFill>
                  <a:schemeClr val="accent2"/>
                </a:solidFill>
              </a:rPr>
              <a:t>	</a:t>
            </a:r>
            <a:r>
              <a:rPr lang="en-US" sz="2400" dirty="0" smtClean="0">
                <a:solidFill>
                  <a:schemeClr val="accent2"/>
                </a:solidFill>
              </a:rPr>
              <a:t>*	Relationships</a:t>
            </a:r>
            <a:r>
              <a:rPr lang="en-US" sz="2000" dirty="0" smtClean="0">
                <a:solidFill>
                  <a:schemeClr val="accent2"/>
                </a:solidFill>
              </a:rPr>
              <a:t/>
            </a:r>
            <a:br>
              <a:rPr lang="en-US" sz="2000" dirty="0" smtClean="0">
                <a:solidFill>
                  <a:schemeClr val="accent2"/>
                </a:solidFill>
              </a:rPr>
            </a:br>
            <a:endParaRPr lang="en-US" sz="2000" dirty="0">
              <a:solidFill>
                <a:schemeClr val="accent2"/>
              </a:solidFill>
            </a:endParaRPr>
          </a:p>
          <a:p>
            <a:pPr marL="624078" indent="-514350">
              <a:lnSpc>
                <a:spcPct val="90000"/>
              </a:lnSpc>
              <a:buNone/>
              <a:tabLst>
                <a:tab pos="630238" algn="l"/>
                <a:tab pos="1033463" algn="l"/>
              </a:tabLst>
            </a:pPr>
            <a:r>
              <a:rPr lang="en-US" sz="2600" dirty="0" smtClean="0"/>
              <a:t>8.	Is </a:t>
            </a:r>
            <a:r>
              <a:rPr lang="en-US" sz="2600" dirty="0"/>
              <a:t>each activity or event always handled the same way or are there special circumstances?</a:t>
            </a:r>
            <a:r>
              <a:rPr lang="en-US" sz="2600" dirty="0">
                <a:solidFill>
                  <a:srgbClr val="FF99FF"/>
                </a:solidFill>
              </a:rPr>
              <a:t> </a:t>
            </a:r>
            <a:endParaRPr lang="en-US" sz="2600" dirty="0" smtClean="0">
              <a:solidFill>
                <a:srgbClr val="FF99FF"/>
              </a:solidFill>
            </a:endParaRPr>
          </a:p>
          <a:p>
            <a:pPr marL="624078" indent="-514350">
              <a:lnSpc>
                <a:spcPct val="90000"/>
              </a:lnSpc>
              <a:buNone/>
              <a:tabLst>
                <a:tab pos="630238" algn="l"/>
                <a:tab pos="1033463" algn="l"/>
              </a:tabLst>
            </a:pPr>
            <a:r>
              <a:rPr lang="en-US" sz="2400" dirty="0" smtClean="0">
                <a:solidFill>
                  <a:schemeClr val="accent2"/>
                </a:solidFill>
              </a:rPr>
              <a:t>		*	Integrity rules and triggers</a:t>
            </a:r>
            <a:endParaRPr lang="en-US" sz="2400" dirty="0">
              <a:solidFill>
                <a:schemeClr val="accent2"/>
              </a:solidFill>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t>Outline</a:t>
            </a:r>
          </a:p>
        </p:txBody>
      </p:sp>
      <p:sp>
        <p:nvSpPr>
          <p:cNvPr id="14339" name="Rectangle 3"/>
          <p:cNvSpPr>
            <a:spLocks noGrp="1" noChangeArrowheads="1"/>
          </p:cNvSpPr>
          <p:nvPr>
            <p:ph idx="1"/>
          </p:nvPr>
        </p:nvSpPr>
        <p:spPr/>
        <p:txBody>
          <a:bodyPr>
            <a:normAutofit fontScale="92500" lnSpcReduction="10000"/>
          </a:bodyPr>
          <a:lstStyle/>
          <a:p>
            <a:pPr marL="624078" indent="-514350">
              <a:buFont typeface="+mj-lt"/>
              <a:buAutoNum type="arabicPeriod"/>
            </a:pPr>
            <a:r>
              <a:rPr lang="en-US" dirty="0" smtClean="0">
                <a:solidFill>
                  <a:schemeClr val="accent1">
                    <a:lumMod val="60000"/>
                    <a:lumOff val="40000"/>
                  </a:schemeClr>
                </a:solidFill>
              </a:rPr>
              <a:t>Overview of data modeling</a:t>
            </a:r>
          </a:p>
          <a:p>
            <a:pPr marL="624078" indent="-514350">
              <a:buFont typeface="+mj-lt"/>
              <a:buAutoNum type="arabicPeriod"/>
            </a:pPr>
            <a:endParaRPr lang="en-US" dirty="0" smtClean="0">
              <a:solidFill>
                <a:schemeClr val="tx2">
                  <a:lumMod val="60000"/>
                  <a:lumOff val="40000"/>
                </a:schemeClr>
              </a:solidFill>
            </a:endParaRPr>
          </a:p>
          <a:p>
            <a:pPr marL="624078" indent="-514350">
              <a:buFont typeface="+mj-lt"/>
              <a:buAutoNum type="arabicPeriod"/>
            </a:pPr>
            <a:r>
              <a:rPr lang="en-US" dirty="0" smtClean="0"/>
              <a:t>Elements </a:t>
            </a:r>
            <a:r>
              <a:rPr lang="en-US" dirty="0"/>
              <a:t>of </a:t>
            </a:r>
            <a:r>
              <a:rPr lang="en-US" dirty="0" smtClean="0"/>
              <a:t>ERD</a:t>
            </a:r>
          </a:p>
          <a:p>
            <a:pPr marL="916686" lvl="1" indent="-514350">
              <a:buFont typeface="+mj-lt"/>
              <a:buAutoNum type="arabicPeriod"/>
            </a:pPr>
            <a:r>
              <a:rPr lang="en-US" dirty="0" smtClean="0"/>
              <a:t>Entity</a:t>
            </a:r>
          </a:p>
          <a:p>
            <a:pPr marL="916686" lvl="1" indent="-514350">
              <a:buFont typeface="+mj-lt"/>
              <a:buAutoNum type="arabicPeriod"/>
            </a:pPr>
            <a:r>
              <a:rPr lang="en-US" dirty="0" smtClean="0"/>
              <a:t>Attribute</a:t>
            </a:r>
          </a:p>
          <a:p>
            <a:pPr marL="916686" lvl="1" indent="-514350">
              <a:buFont typeface="+mj-lt"/>
              <a:buAutoNum type="arabicPeriod"/>
            </a:pPr>
            <a:r>
              <a:rPr lang="en-US" dirty="0" smtClean="0"/>
              <a:t>Identifier/Primary Key</a:t>
            </a:r>
          </a:p>
          <a:p>
            <a:pPr marL="916686" lvl="1" indent="-514350">
              <a:buFont typeface="+mj-lt"/>
              <a:buAutoNum type="arabicPeriod"/>
            </a:pPr>
            <a:r>
              <a:rPr lang="en-US" dirty="0" smtClean="0"/>
              <a:t>Relationships and Business Rules</a:t>
            </a:r>
          </a:p>
          <a:p>
            <a:pPr marL="916686" lvl="1" indent="-514350">
              <a:buFont typeface="+mj-lt"/>
              <a:buAutoNum type="arabicPeriod"/>
            </a:pPr>
            <a:r>
              <a:rPr lang="en-US" dirty="0" smtClean="0"/>
              <a:t>ERD Notations: Chen and Crow’s Foot</a:t>
            </a:r>
          </a:p>
          <a:p>
            <a:pPr marL="916686" lvl="1" indent="-514350">
              <a:buFont typeface="+mj-lt"/>
              <a:buAutoNum type="arabicPeriod"/>
            </a:pPr>
            <a:endParaRPr lang="en-US" dirty="0" smtClean="0"/>
          </a:p>
          <a:p>
            <a:pPr marL="624078" indent="-514350">
              <a:buFont typeface="+mj-lt"/>
              <a:buAutoNum type="arabicPeriod"/>
            </a:pPr>
            <a:r>
              <a:rPr lang="en-US" dirty="0" smtClean="0">
                <a:solidFill>
                  <a:schemeClr val="bg2">
                    <a:lumMod val="50000"/>
                  </a:schemeClr>
                </a:solidFill>
              </a:rPr>
              <a:t>Cardinality, participation</a:t>
            </a:r>
          </a:p>
          <a:p>
            <a:pPr marL="624078" indent="-514350">
              <a:buFont typeface="+mj-lt"/>
              <a:buAutoNum type="arabicPeriod"/>
            </a:pPr>
            <a:r>
              <a:rPr lang="en-US" dirty="0" smtClean="0">
                <a:solidFill>
                  <a:schemeClr val="bg2">
                    <a:lumMod val="50000"/>
                  </a:schemeClr>
                </a:solidFill>
              </a:rPr>
              <a:t>Degree of relationships</a:t>
            </a:r>
          </a:p>
          <a:p>
            <a:pPr marL="624078" indent="-514350">
              <a:buFont typeface="+mj-lt"/>
              <a:buAutoNum type="arabicPeriod"/>
            </a:pPr>
            <a:r>
              <a:rPr lang="en-US" dirty="0">
                <a:solidFill>
                  <a:schemeClr val="bg2">
                    <a:lumMod val="50000"/>
                  </a:schemeClr>
                </a:solidFill>
              </a:rPr>
              <a:t>Identifying or non-identifying PK?</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4"/>
          <p:cNvSpPr>
            <a:spLocks noGrp="1" noChangeArrowheads="1"/>
          </p:cNvSpPr>
          <p:nvPr>
            <p:ph type="title"/>
          </p:nvPr>
        </p:nvSpPr>
        <p:spPr/>
        <p:txBody>
          <a:bodyPr/>
          <a:lstStyle/>
          <a:p>
            <a:r>
              <a:rPr lang="en-US" dirty="0" smtClean="0"/>
              <a:t>Entity</a:t>
            </a:r>
            <a:r>
              <a:rPr lang="en-US" dirty="0"/>
              <a:t>	</a:t>
            </a:r>
          </a:p>
        </p:txBody>
      </p:sp>
      <p:sp>
        <p:nvSpPr>
          <p:cNvPr id="16389" name="Rectangle 5"/>
          <p:cNvSpPr>
            <a:spLocks noGrp="1" noChangeArrowheads="1"/>
          </p:cNvSpPr>
          <p:nvPr>
            <p:ph idx="1"/>
          </p:nvPr>
        </p:nvSpPr>
        <p:spPr/>
        <p:txBody>
          <a:bodyPr/>
          <a:lstStyle/>
          <a:p>
            <a:pPr>
              <a:lnSpc>
                <a:spcPct val="90000"/>
              </a:lnSpc>
            </a:pPr>
            <a:r>
              <a:rPr lang="en-US" dirty="0" smtClean="0"/>
              <a:t>A </a:t>
            </a:r>
            <a:r>
              <a:rPr lang="en-US" dirty="0"/>
              <a:t>person, place, object, event or concept in user environment about which the organization wishes to maintain data</a:t>
            </a:r>
          </a:p>
          <a:p>
            <a:pPr lvl="2">
              <a:lnSpc>
                <a:spcPct val="90000"/>
              </a:lnSpc>
            </a:pPr>
            <a:r>
              <a:rPr lang="en-US" dirty="0"/>
              <a:t>E.g</a:t>
            </a:r>
            <a:r>
              <a:rPr lang="en-US" dirty="0" smtClean="0"/>
              <a:t>., </a:t>
            </a:r>
            <a:r>
              <a:rPr lang="en-US" dirty="0"/>
              <a:t>employee, student, warehouse, car, </a:t>
            </a:r>
            <a:r>
              <a:rPr lang="en-US" dirty="0" smtClean="0"/>
              <a:t>sale, </a:t>
            </a:r>
            <a:r>
              <a:rPr lang="en-US" dirty="0"/>
              <a:t>booking, account, </a:t>
            </a:r>
            <a:r>
              <a:rPr lang="en-US" dirty="0" smtClean="0"/>
              <a:t>course</a:t>
            </a:r>
            <a:br>
              <a:rPr lang="en-US" dirty="0" smtClean="0"/>
            </a:br>
            <a:endParaRPr lang="en-US" dirty="0"/>
          </a:p>
          <a:p>
            <a:pPr>
              <a:lnSpc>
                <a:spcPct val="90000"/>
              </a:lnSpc>
            </a:pPr>
            <a:r>
              <a:rPr lang="en-US" dirty="0"/>
              <a:t>Note the difference</a:t>
            </a:r>
          </a:p>
          <a:p>
            <a:pPr lvl="1">
              <a:lnSpc>
                <a:spcPct val="90000"/>
              </a:lnSpc>
            </a:pPr>
            <a:r>
              <a:rPr lang="en-US" dirty="0" smtClean="0"/>
              <a:t>Entity</a:t>
            </a:r>
            <a:endParaRPr lang="en-US" dirty="0"/>
          </a:p>
          <a:p>
            <a:pPr lvl="1">
              <a:lnSpc>
                <a:spcPct val="90000"/>
              </a:lnSpc>
            </a:pPr>
            <a:r>
              <a:rPr lang="en-US" dirty="0"/>
              <a:t>Entity instance</a:t>
            </a:r>
          </a:p>
          <a:p>
            <a:pPr lvl="1">
              <a:lnSpc>
                <a:spcPct val="90000"/>
              </a:lnSpc>
            </a:pP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26"/>
          <p:cNvSpPr>
            <a:spLocks noGrp="1" noChangeArrowheads="1"/>
          </p:cNvSpPr>
          <p:nvPr>
            <p:ph type="title"/>
          </p:nvPr>
        </p:nvSpPr>
        <p:spPr/>
        <p:txBody>
          <a:bodyPr/>
          <a:lstStyle/>
          <a:p>
            <a:r>
              <a:rPr lang="en-US" dirty="0" smtClean="0"/>
              <a:t>Attribute </a:t>
            </a:r>
            <a:endParaRPr lang="en-US" dirty="0"/>
          </a:p>
        </p:txBody>
      </p:sp>
      <p:sp>
        <p:nvSpPr>
          <p:cNvPr id="17411" name="Rectangle 1027"/>
          <p:cNvSpPr>
            <a:spLocks noGrp="1" noChangeArrowheads="1"/>
          </p:cNvSpPr>
          <p:nvPr>
            <p:ph idx="1"/>
          </p:nvPr>
        </p:nvSpPr>
        <p:spPr>
          <a:xfrm>
            <a:off x="228600" y="1752600"/>
            <a:ext cx="8763000" cy="4821936"/>
          </a:xfrm>
        </p:spPr>
        <p:txBody>
          <a:bodyPr>
            <a:normAutofit/>
          </a:bodyPr>
          <a:lstStyle/>
          <a:p>
            <a:pPr>
              <a:lnSpc>
                <a:spcPct val="90000"/>
              </a:lnSpc>
            </a:pPr>
            <a:r>
              <a:rPr lang="en-US" dirty="0" smtClean="0"/>
              <a:t>A </a:t>
            </a:r>
            <a:r>
              <a:rPr lang="en-US" dirty="0"/>
              <a:t>property or </a:t>
            </a:r>
            <a:r>
              <a:rPr lang="en-US" dirty="0" smtClean="0"/>
              <a:t>characteristic </a:t>
            </a:r>
            <a:r>
              <a:rPr lang="en-US" dirty="0"/>
              <a:t>of an entity of interest to the organization</a:t>
            </a:r>
          </a:p>
          <a:p>
            <a:pPr lvl="1">
              <a:lnSpc>
                <a:spcPct val="90000"/>
              </a:lnSpc>
            </a:pPr>
            <a:r>
              <a:rPr lang="en-US" sz="2200" dirty="0">
                <a:solidFill>
                  <a:schemeClr val="tx2"/>
                </a:solidFill>
              </a:rPr>
              <a:t>Many CASE tools do not include attributes on </a:t>
            </a:r>
            <a:r>
              <a:rPr lang="en-US" sz="2200" dirty="0" smtClean="0">
                <a:solidFill>
                  <a:schemeClr val="tx2"/>
                </a:solidFill>
              </a:rPr>
              <a:t>the ERD </a:t>
            </a:r>
            <a:r>
              <a:rPr lang="en-US" sz="2200" dirty="0">
                <a:solidFill>
                  <a:schemeClr val="tx2"/>
                </a:solidFill>
              </a:rPr>
              <a:t>to avoid cluttering the diagram, but define </a:t>
            </a:r>
            <a:r>
              <a:rPr lang="en-US" sz="2200" dirty="0" smtClean="0">
                <a:solidFill>
                  <a:schemeClr val="tx2"/>
                </a:solidFill>
              </a:rPr>
              <a:t>them in the </a:t>
            </a:r>
            <a:r>
              <a:rPr lang="en-US" sz="2200" dirty="0">
                <a:solidFill>
                  <a:schemeClr val="tx2"/>
                </a:solidFill>
              </a:rPr>
              <a:t>repository</a:t>
            </a:r>
          </a:p>
          <a:p>
            <a:pPr lvl="1">
              <a:lnSpc>
                <a:spcPct val="90000"/>
              </a:lnSpc>
            </a:pPr>
            <a:r>
              <a:rPr lang="en-US" sz="2200" dirty="0"/>
              <a:t>E.g</a:t>
            </a:r>
            <a:r>
              <a:rPr lang="en-US" sz="2200" dirty="0" smtClean="0"/>
              <a:t>., </a:t>
            </a:r>
            <a:r>
              <a:rPr lang="en-US" sz="2200" dirty="0"/>
              <a:t>STUDENT (</a:t>
            </a:r>
            <a:r>
              <a:rPr lang="en-US" sz="2200" u="sng" dirty="0" err="1"/>
              <a:t>Stud_Id</a:t>
            </a:r>
            <a:r>
              <a:rPr lang="en-US" sz="2200" dirty="0"/>
              <a:t>, </a:t>
            </a:r>
            <a:r>
              <a:rPr lang="en-US" sz="2200" dirty="0" err="1"/>
              <a:t>Stud_name</a:t>
            </a:r>
            <a:r>
              <a:rPr lang="en-US" sz="2200" dirty="0"/>
              <a:t>, Address, Phone)</a:t>
            </a:r>
          </a:p>
          <a:p>
            <a:pPr lvl="1">
              <a:lnSpc>
                <a:spcPct val="90000"/>
              </a:lnSpc>
            </a:pPr>
            <a:r>
              <a:rPr lang="en-US" sz="2200" dirty="0"/>
              <a:t>E.g</a:t>
            </a:r>
            <a:r>
              <a:rPr lang="en-US" sz="2200" dirty="0" smtClean="0"/>
              <a:t>., </a:t>
            </a:r>
            <a:r>
              <a:rPr lang="en-US" sz="2200" dirty="0"/>
              <a:t>AUTOMOBILE (</a:t>
            </a:r>
            <a:r>
              <a:rPr lang="en-US" sz="2200" u="sng" dirty="0" err="1"/>
              <a:t>Vehicle_Id</a:t>
            </a:r>
            <a:r>
              <a:rPr lang="en-US" sz="2200" dirty="0"/>
              <a:t>, Color, Horsepower, Year</a:t>
            </a:r>
            <a:r>
              <a:rPr lang="en-US" sz="2200" dirty="0" smtClean="0"/>
              <a:t>)</a:t>
            </a:r>
            <a:br>
              <a:rPr lang="en-US" sz="2200" dirty="0" smtClean="0"/>
            </a:br>
            <a:endParaRPr lang="en-US" sz="2200" dirty="0"/>
          </a:p>
          <a:p>
            <a:pPr>
              <a:lnSpc>
                <a:spcPct val="80000"/>
              </a:lnSpc>
            </a:pPr>
            <a:r>
              <a:rPr lang="en-US" sz="2800" dirty="0"/>
              <a:t>Candidate Key</a:t>
            </a:r>
          </a:p>
          <a:p>
            <a:pPr lvl="1">
              <a:lnSpc>
                <a:spcPct val="80000"/>
              </a:lnSpc>
            </a:pPr>
            <a:r>
              <a:rPr lang="en-US" sz="2400" dirty="0" smtClean="0"/>
              <a:t>An attribute (or combination of attributes) </a:t>
            </a:r>
            <a:r>
              <a:rPr lang="en-US" sz="2400" dirty="0"/>
              <a:t>that uniquely identifies each entity </a:t>
            </a:r>
            <a:r>
              <a:rPr lang="en-US" sz="2400" dirty="0" smtClean="0"/>
              <a:t>instance</a:t>
            </a:r>
            <a:br>
              <a:rPr lang="en-US" sz="2400" dirty="0" smtClean="0"/>
            </a:br>
            <a:endParaRPr lang="en-US" sz="2400" dirty="0"/>
          </a:p>
          <a:p>
            <a:pPr>
              <a:lnSpc>
                <a:spcPct val="80000"/>
              </a:lnSpc>
            </a:pPr>
            <a:r>
              <a:rPr lang="en-US" sz="2800" dirty="0" smtClean="0"/>
              <a:t>Identifier/Primary Key</a:t>
            </a:r>
            <a:endParaRPr lang="en-US" sz="2800" dirty="0"/>
          </a:p>
          <a:p>
            <a:pPr lvl="1">
              <a:lnSpc>
                <a:spcPct val="80000"/>
              </a:lnSpc>
            </a:pPr>
            <a:r>
              <a:rPr lang="en-US" sz="2400" dirty="0"/>
              <a:t>A candidate key that has been selected to index the </a:t>
            </a:r>
            <a:r>
              <a:rPr lang="en-US" sz="2400" dirty="0" smtClean="0"/>
              <a:t>entity</a:t>
            </a:r>
            <a:endParaRPr lang="en-US" sz="2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a:lstStyle/>
          <a:p>
            <a:r>
              <a:rPr lang="en-US" dirty="0" smtClean="0"/>
              <a:t>Relationship</a:t>
            </a:r>
            <a:endParaRPr lang="en-US" dirty="0"/>
          </a:p>
        </p:txBody>
      </p:sp>
      <p:sp>
        <p:nvSpPr>
          <p:cNvPr id="7171" name="Rectangle 3"/>
          <p:cNvSpPr>
            <a:spLocks noGrp="1" noChangeArrowheads="1"/>
          </p:cNvSpPr>
          <p:nvPr>
            <p:ph idx="1"/>
          </p:nvPr>
        </p:nvSpPr>
        <p:spPr>
          <a:noFill/>
          <a:ln/>
        </p:spPr>
        <p:txBody>
          <a:bodyPr/>
          <a:lstStyle/>
          <a:p>
            <a:r>
              <a:rPr lang="en-US" dirty="0"/>
              <a:t>An association between </a:t>
            </a:r>
            <a:r>
              <a:rPr lang="en-US" dirty="0" smtClean="0"/>
              <a:t>entity instances in one </a:t>
            </a:r>
            <a:r>
              <a:rPr lang="en-US" dirty="0"/>
              <a:t>or more </a:t>
            </a:r>
            <a:r>
              <a:rPr lang="en-US" dirty="0" smtClean="0"/>
              <a:t>entities</a:t>
            </a:r>
          </a:p>
          <a:p>
            <a:r>
              <a:rPr lang="en-US" dirty="0" smtClean="0"/>
              <a:t>Defined by business rules</a:t>
            </a:r>
            <a:endParaRPr lang="en-US" dirty="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Business Rules</a:t>
            </a:r>
            <a:endParaRPr lang="en-US" dirty="0"/>
          </a:p>
        </p:txBody>
      </p:sp>
      <p:sp>
        <p:nvSpPr>
          <p:cNvPr id="3" name="Content Placeholder 2"/>
          <p:cNvSpPr>
            <a:spLocks noGrp="1"/>
          </p:cNvSpPr>
          <p:nvPr>
            <p:ph idx="1"/>
          </p:nvPr>
        </p:nvSpPr>
        <p:spPr/>
        <p:txBody>
          <a:bodyPr/>
          <a:lstStyle/>
          <a:p>
            <a:r>
              <a:rPr lang="en-US" sz="4400" dirty="0" smtClean="0">
                <a:solidFill>
                  <a:schemeClr val="accent6">
                    <a:lumMod val="50000"/>
                  </a:schemeClr>
                </a:solidFill>
              </a:rPr>
              <a:t>Business Rules </a:t>
            </a:r>
            <a:r>
              <a:rPr lang="en-US" sz="4400" i="1" u="sng" dirty="0" smtClean="0">
                <a:solidFill>
                  <a:srgbClr val="7030A0"/>
                </a:solidFill>
              </a:rPr>
              <a:t>rule</a:t>
            </a:r>
          </a:p>
          <a:p>
            <a:endParaRPr lang="en-US" sz="4400" dirty="0" smtClean="0">
              <a:solidFill>
                <a:schemeClr val="accent6">
                  <a:lumMod val="50000"/>
                </a:schemeClr>
              </a:solidFill>
            </a:endParaRPr>
          </a:p>
          <a:p>
            <a:r>
              <a:rPr lang="en-US" dirty="0" smtClean="0"/>
              <a:t>How things work here </a:t>
            </a:r>
          </a:p>
          <a:p>
            <a:r>
              <a:rPr lang="en-US" dirty="0" smtClean="0"/>
              <a:t>Start with a single instance of each entity</a:t>
            </a:r>
          </a:p>
          <a:p>
            <a:r>
              <a:rPr lang="en-US" dirty="0" smtClean="0"/>
              <a:t>Always stated in pairs—define relationship from perspective of each related entity</a:t>
            </a:r>
          </a:p>
          <a:p>
            <a:r>
              <a:rPr lang="en-US" dirty="0" smtClean="0"/>
              <a:t>Become the verbs in the relationships</a:t>
            </a:r>
          </a:p>
          <a:p>
            <a:r>
              <a:rPr lang="en-US" dirty="0" smtClean="0"/>
              <a:t>Determine cardinality and participation</a:t>
            </a:r>
          </a:p>
          <a:p>
            <a:r>
              <a:rPr lang="en-US" dirty="0" smtClean="0"/>
              <a:t>The basis for stored procedures and triggers</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 Business Rules</a:t>
            </a:r>
            <a:endParaRPr lang="en-US" dirty="0"/>
          </a:p>
        </p:txBody>
      </p:sp>
      <p:sp>
        <p:nvSpPr>
          <p:cNvPr id="3" name="Content Placeholder 2"/>
          <p:cNvSpPr>
            <a:spLocks noGrp="1"/>
          </p:cNvSpPr>
          <p:nvPr>
            <p:ph idx="1"/>
          </p:nvPr>
        </p:nvSpPr>
        <p:spPr/>
        <p:txBody>
          <a:bodyPr>
            <a:normAutofit/>
          </a:bodyPr>
          <a:lstStyle/>
          <a:p>
            <a:r>
              <a:rPr lang="en-US" sz="2400" dirty="0" smtClean="0"/>
              <a:t>Each customer can place many orders.</a:t>
            </a:r>
          </a:p>
          <a:p>
            <a:r>
              <a:rPr lang="en-US" sz="2400" dirty="0" smtClean="0"/>
              <a:t>Each order is placed by one and only one customer. </a:t>
            </a:r>
            <a:br>
              <a:rPr lang="en-US" sz="2400" dirty="0" smtClean="0"/>
            </a:br>
            <a:endParaRPr lang="en-US" sz="2400" dirty="0" smtClean="0"/>
          </a:p>
          <a:p>
            <a:r>
              <a:rPr lang="en-US" sz="2400" dirty="0" smtClean="0"/>
              <a:t>A department employs one or more employees.</a:t>
            </a:r>
          </a:p>
          <a:p>
            <a:r>
              <a:rPr lang="en-US" sz="2400" dirty="0" smtClean="0"/>
              <a:t>An employee is assigned to one department.</a:t>
            </a:r>
            <a:br>
              <a:rPr lang="en-US" sz="2400" dirty="0" smtClean="0"/>
            </a:br>
            <a:endParaRPr lang="en-US" sz="2400" dirty="0" smtClean="0"/>
          </a:p>
          <a:p>
            <a:r>
              <a:rPr lang="en-US" sz="2400" dirty="0" smtClean="0"/>
              <a:t>A customer may purchase multiple products.</a:t>
            </a:r>
          </a:p>
          <a:p>
            <a:r>
              <a:rPr lang="en-US" sz="2400" dirty="0" smtClean="0"/>
              <a:t>A product may be purchased by multiple customers.</a:t>
            </a:r>
          </a:p>
          <a:p>
            <a:endParaRPr lang="en-US" sz="2400" dirty="0" smtClean="0"/>
          </a:p>
          <a:p>
            <a:r>
              <a:rPr lang="en-US" sz="2400" dirty="0" smtClean="0"/>
              <a:t>A student may enroll for many classes.</a:t>
            </a:r>
          </a:p>
          <a:p>
            <a:r>
              <a:rPr lang="en-US" sz="2400" dirty="0" smtClean="0"/>
              <a:t>A class may have many students enrolled in it.</a:t>
            </a:r>
            <a:endParaRPr lang="en-US" sz="2400" dirty="0"/>
          </a:p>
        </p:txBody>
      </p:sp>
      <p:sp>
        <p:nvSpPr>
          <p:cNvPr id="4" name="TextBox 3"/>
          <p:cNvSpPr txBox="1"/>
          <p:nvPr/>
        </p:nvSpPr>
        <p:spPr>
          <a:xfrm>
            <a:off x="0" y="6488668"/>
            <a:ext cx="9144000" cy="369332"/>
          </a:xfrm>
          <a:prstGeom prst="rect">
            <a:avLst/>
          </a:prstGeom>
          <a:solidFill>
            <a:schemeClr val="accent2"/>
          </a:solidFill>
        </p:spPr>
        <p:txBody>
          <a:bodyPr wrap="square" rtlCol="0">
            <a:spAutoFit/>
          </a:bodyPr>
          <a:lstStyle/>
          <a:p>
            <a:pPr algn="ctr"/>
            <a:r>
              <a:rPr lang="en-US" i="1" dirty="0" smtClean="0">
                <a:solidFill>
                  <a:srgbClr val="FFFF00"/>
                </a:solidFill>
                <a:latin typeface="Calibri" pitchFamily="34" charset="0"/>
              </a:rPr>
              <a:t>Identify the entities, cardinality and participation indicated in the above business rules.</a:t>
            </a:r>
            <a:endParaRPr lang="en-US" i="1" dirty="0">
              <a:solidFill>
                <a:srgbClr val="FFFF00"/>
              </a:solidFill>
              <a:latin typeface="Calibri"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noFill/>
          <a:ln/>
        </p:spPr>
        <p:txBody>
          <a:bodyPr>
            <a:normAutofit/>
          </a:bodyPr>
          <a:lstStyle/>
          <a:p>
            <a:r>
              <a:rPr lang="en-US" dirty="0" smtClean="0"/>
              <a:t>ERD Notations</a:t>
            </a:r>
            <a:endParaRPr lang="en-US" dirty="0"/>
          </a:p>
        </p:txBody>
      </p:sp>
      <p:sp>
        <p:nvSpPr>
          <p:cNvPr id="5123" name="Rectangle 3"/>
          <p:cNvSpPr>
            <a:spLocks noGrp="1" noChangeArrowheads="1"/>
          </p:cNvSpPr>
          <p:nvPr>
            <p:ph idx="1"/>
          </p:nvPr>
        </p:nvSpPr>
        <p:spPr>
          <a:noFill/>
          <a:ln/>
        </p:spPr>
        <p:txBody>
          <a:bodyPr>
            <a:normAutofit/>
          </a:bodyPr>
          <a:lstStyle/>
          <a:p>
            <a:r>
              <a:rPr lang="en-US" dirty="0"/>
              <a:t>Entity-relationship data model</a:t>
            </a:r>
          </a:p>
          <a:p>
            <a:pPr lvl="1"/>
            <a:r>
              <a:rPr lang="en-US" dirty="0" smtClean="0"/>
              <a:t>Expressed </a:t>
            </a:r>
            <a:r>
              <a:rPr lang="en-US" dirty="0"/>
              <a:t>as entity-relationship diagrams </a:t>
            </a:r>
            <a:r>
              <a:rPr lang="en-US" dirty="0" smtClean="0"/>
              <a:t>(ERD)</a:t>
            </a:r>
            <a:br>
              <a:rPr lang="en-US" dirty="0" smtClean="0"/>
            </a:br>
            <a:endParaRPr lang="en-US" dirty="0"/>
          </a:p>
          <a:p>
            <a:r>
              <a:rPr lang="en-US" dirty="0"/>
              <a:t>Different notations</a:t>
            </a:r>
            <a:endParaRPr lang="en-US" sz="2800" dirty="0"/>
          </a:p>
          <a:p>
            <a:pPr lvl="1"/>
            <a:r>
              <a:rPr lang="en-US" sz="2400" dirty="0"/>
              <a:t>Chen P, 1976, The entity-relationship model-toward a unified view of data, </a:t>
            </a:r>
            <a:r>
              <a:rPr lang="en-US" sz="2400" i="1" dirty="0">
                <a:effectLst/>
              </a:rPr>
              <a:t>ACM Transactions on Database Systems</a:t>
            </a:r>
            <a:r>
              <a:rPr lang="en-US" sz="2400" dirty="0"/>
              <a:t>, </a:t>
            </a:r>
            <a:r>
              <a:rPr lang="en-US" sz="2400" dirty="0" err="1"/>
              <a:t>Vol</a:t>
            </a:r>
            <a:r>
              <a:rPr lang="en-US" sz="2400" dirty="0"/>
              <a:t> 1 (March) pp. 9-36</a:t>
            </a:r>
          </a:p>
          <a:p>
            <a:pPr lvl="1"/>
            <a:r>
              <a:rPr lang="en-US" sz="2400" dirty="0" err="1"/>
              <a:t>Teorey</a:t>
            </a:r>
            <a:r>
              <a:rPr lang="en-US" sz="2400" dirty="0"/>
              <a:t>, Yang &amp; Fry, 1986, </a:t>
            </a:r>
            <a:r>
              <a:rPr lang="en-US" sz="2400" i="1" dirty="0">
                <a:effectLst/>
              </a:rPr>
              <a:t>Computing Survey</a:t>
            </a:r>
            <a:r>
              <a:rPr lang="en-US" sz="2400" dirty="0"/>
              <a:t>, 18 (2)</a:t>
            </a:r>
          </a:p>
          <a:p>
            <a:pPr lvl="1"/>
            <a:r>
              <a:rPr lang="en-US" sz="2400" dirty="0"/>
              <a:t>Storey, 1991, </a:t>
            </a:r>
            <a:r>
              <a:rPr lang="en-US" sz="2400" i="1" dirty="0">
                <a:effectLst/>
              </a:rPr>
              <a:t>Data and Knowledge Engineering</a:t>
            </a:r>
            <a:r>
              <a:rPr lang="en-US" sz="2400" dirty="0"/>
              <a:t>, 7 </a:t>
            </a:r>
            <a:r>
              <a:rPr lang="en-US" sz="2400" dirty="0" smtClean="0"/>
              <a:t>p47</a:t>
            </a:r>
            <a:br>
              <a:rPr lang="en-US" sz="2400" dirty="0" smtClean="0"/>
            </a:br>
            <a:endParaRPr lang="en-US" sz="2400" dirty="0"/>
          </a:p>
          <a:p>
            <a:r>
              <a:rPr lang="en-US" dirty="0"/>
              <a:t>We use the “Crow’s foot” notation</a:t>
            </a:r>
          </a:p>
        </p:txBody>
      </p:sp>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noFill/>
          <a:ln/>
        </p:spPr>
        <p:txBody>
          <a:bodyPr/>
          <a:lstStyle/>
          <a:p>
            <a:r>
              <a:rPr lang="en-US" dirty="0" smtClean="0"/>
              <a:t>ERD Notation: Chen </a:t>
            </a:r>
            <a:endParaRPr lang="en-US" dirty="0"/>
          </a:p>
        </p:txBody>
      </p:sp>
      <p:sp>
        <p:nvSpPr>
          <p:cNvPr id="41987" name="Rectangle 3"/>
          <p:cNvSpPr>
            <a:spLocks noGrp="1" noChangeArrowheads="1"/>
          </p:cNvSpPr>
          <p:nvPr>
            <p:ph idx="1"/>
          </p:nvPr>
        </p:nvSpPr>
        <p:spPr>
          <a:noFill/>
          <a:ln/>
        </p:spPr>
        <p:txBody>
          <a:bodyPr>
            <a:normAutofit fontScale="77500" lnSpcReduction="20000"/>
          </a:bodyPr>
          <a:lstStyle/>
          <a:p>
            <a:pPr defTabSz="904875">
              <a:spcBef>
                <a:spcPts val="2400"/>
              </a:spcBef>
            </a:pPr>
            <a:r>
              <a:rPr lang="en-US" dirty="0"/>
              <a:t>Entity</a:t>
            </a:r>
          </a:p>
          <a:p>
            <a:pPr defTabSz="904875">
              <a:spcBef>
                <a:spcPts val="2400"/>
              </a:spcBef>
            </a:pPr>
            <a:r>
              <a:rPr lang="en-US" dirty="0"/>
              <a:t>Relationships</a:t>
            </a:r>
          </a:p>
          <a:p>
            <a:pPr defTabSz="904875">
              <a:spcBef>
                <a:spcPts val="2400"/>
              </a:spcBef>
            </a:pPr>
            <a:r>
              <a:rPr lang="en-US" dirty="0" smtClean="0"/>
              <a:t>Attribute</a:t>
            </a:r>
          </a:p>
          <a:p>
            <a:pPr defTabSz="904875">
              <a:spcBef>
                <a:spcPts val="2400"/>
              </a:spcBef>
            </a:pPr>
            <a:r>
              <a:rPr lang="en-US" dirty="0" smtClean="0"/>
              <a:t>Identifier/PK</a:t>
            </a:r>
            <a:endParaRPr lang="en-US" dirty="0"/>
          </a:p>
          <a:p>
            <a:pPr defTabSz="904875">
              <a:spcBef>
                <a:spcPts val="2400"/>
              </a:spcBef>
            </a:pPr>
            <a:r>
              <a:rPr lang="en-US" dirty="0" err="1" smtClean="0"/>
              <a:t>Multivalued</a:t>
            </a:r>
            <a:r>
              <a:rPr lang="en-US" dirty="0" smtClean="0"/>
              <a:t> </a:t>
            </a:r>
            <a:r>
              <a:rPr lang="en-US" dirty="0"/>
              <a:t>attribute</a:t>
            </a:r>
          </a:p>
          <a:p>
            <a:pPr defTabSz="904875">
              <a:spcBef>
                <a:spcPts val="2400"/>
              </a:spcBef>
            </a:pPr>
            <a:r>
              <a:rPr lang="en-US" dirty="0"/>
              <a:t>Associative </a:t>
            </a:r>
            <a:r>
              <a:rPr lang="en-US" dirty="0" smtClean="0"/>
              <a:t>entity</a:t>
            </a:r>
          </a:p>
          <a:p>
            <a:pPr defTabSz="904875">
              <a:spcBef>
                <a:spcPts val="2400"/>
              </a:spcBef>
            </a:pPr>
            <a:r>
              <a:rPr lang="en-US" dirty="0" smtClean="0"/>
              <a:t>Cardinality and Participation:</a:t>
            </a:r>
          </a:p>
          <a:p>
            <a:pPr lvl="1"/>
            <a:r>
              <a:rPr lang="en-US" sz="2800" dirty="0" smtClean="0"/>
              <a:t>0..1</a:t>
            </a:r>
          </a:p>
          <a:p>
            <a:pPr lvl="1"/>
            <a:r>
              <a:rPr lang="en-US" sz="2800" dirty="0" smtClean="0"/>
              <a:t>0..n   </a:t>
            </a:r>
            <a:r>
              <a:rPr lang="en-US" sz="2800" i="1" dirty="0" smtClean="0"/>
              <a:t>or</a:t>
            </a:r>
            <a:r>
              <a:rPr lang="en-US" sz="2800" dirty="0" smtClean="0"/>
              <a:t>   0..*</a:t>
            </a:r>
          </a:p>
          <a:p>
            <a:pPr lvl="1"/>
            <a:r>
              <a:rPr lang="en-US" sz="2800" dirty="0" smtClean="0"/>
              <a:t>1..n   </a:t>
            </a:r>
            <a:r>
              <a:rPr lang="en-US" sz="2800" i="1" dirty="0" smtClean="0"/>
              <a:t>or</a:t>
            </a:r>
            <a:r>
              <a:rPr lang="en-US" sz="2800" dirty="0" smtClean="0"/>
              <a:t>   1..*</a:t>
            </a:r>
            <a:r>
              <a:rPr lang="en-US" dirty="0" smtClean="0"/>
              <a:t> </a:t>
            </a:r>
            <a:endParaRPr lang="en-US" dirty="0"/>
          </a:p>
        </p:txBody>
      </p:sp>
      <p:sp>
        <p:nvSpPr>
          <p:cNvPr id="41988" name="Rectangle 4"/>
          <p:cNvSpPr>
            <a:spLocks noChangeArrowheads="1"/>
          </p:cNvSpPr>
          <p:nvPr/>
        </p:nvSpPr>
        <p:spPr bwMode="auto">
          <a:xfrm>
            <a:off x="1981200" y="1524000"/>
            <a:ext cx="838200" cy="5334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41989" name="AutoShape 5"/>
          <p:cNvSpPr>
            <a:spLocks noChangeArrowheads="1"/>
          </p:cNvSpPr>
          <p:nvPr/>
        </p:nvSpPr>
        <p:spPr bwMode="auto">
          <a:xfrm>
            <a:off x="2819400" y="2209800"/>
            <a:ext cx="914400" cy="609600"/>
          </a:xfrm>
          <a:prstGeom prst="diamond">
            <a:avLst/>
          </a:prstGeom>
          <a:solidFill>
            <a:schemeClr val="accent1"/>
          </a:solidFill>
          <a:ln w="12700">
            <a:solidFill>
              <a:schemeClr val="tx1"/>
            </a:solidFill>
            <a:miter lim="800000"/>
            <a:headEnd/>
            <a:tailEnd/>
          </a:ln>
          <a:effectLst/>
        </p:spPr>
        <p:txBody>
          <a:bodyPr wrap="none" anchor="ctr"/>
          <a:lstStyle/>
          <a:p>
            <a:endParaRPr lang="en-US"/>
          </a:p>
        </p:txBody>
      </p:sp>
      <p:sp>
        <p:nvSpPr>
          <p:cNvPr id="41991" name="Oval 7"/>
          <p:cNvSpPr>
            <a:spLocks noChangeArrowheads="1"/>
          </p:cNvSpPr>
          <p:nvPr/>
        </p:nvSpPr>
        <p:spPr bwMode="auto">
          <a:xfrm>
            <a:off x="2209800" y="2819400"/>
            <a:ext cx="838200" cy="457200"/>
          </a:xfrm>
          <a:prstGeom prst="ellipse">
            <a:avLst/>
          </a:prstGeom>
          <a:solidFill>
            <a:schemeClr val="accent1"/>
          </a:solidFill>
          <a:ln w="12700">
            <a:solidFill>
              <a:schemeClr val="tx1"/>
            </a:solidFill>
            <a:round/>
            <a:headEnd/>
            <a:tailEnd/>
          </a:ln>
          <a:effectLst/>
        </p:spPr>
        <p:txBody>
          <a:bodyPr wrap="none" anchor="ctr"/>
          <a:lstStyle/>
          <a:p>
            <a:endParaRPr lang="en-US"/>
          </a:p>
        </p:txBody>
      </p:sp>
      <p:grpSp>
        <p:nvGrpSpPr>
          <p:cNvPr id="13" name="Group 12"/>
          <p:cNvGrpSpPr/>
          <p:nvPr/>
        </p:nvGrpSpPr>
        <p:grpSpPr>
          <a:xfrm>
            <a:off x="2743200" y="3352800"/>
            <a:ext cx="838200" cy="457200"/>
            <a:chOff x="2667000" y="2743200"/>
            <a:chExt cx="838200" cy="457200"/>
          </a:xfrm>
        </p:grpSpPr>
        <p:sp>
          <p:nvSpPr>
            <p:cNvPr id="41990" name="Oval 6"/>
            <p:cNvSpPr>
              <a:spLocks noChangeArrowheads="1"/>
            </p:cNvSpPr>
            <p:nvPr/>
          </p:nvSpPr>
          <p:spPr bwMode="auto">
            <a:xfrm>
              <a:off x="2667000" y="2743200"/>
              <a:ext cx="838200" cy="457200"/>
            </a:xfrm>
            <a:prstGeom prst="ellipse">
              <a:avLst/>
            </a:prstGeom>
            <a:solidFill>
              <a:schemeClr val="accent1"/>
            </a:solidFill>
            <a:ln w="12700">
              <a:solidFill>
                <a:schemeClr val="tx1"/>
              </a:solidFill>
              <a:round/>
              <a:headEnd/>
              <a:tailEnd/>
            </a:ln>
            <a:effectLst/>
          </p:spPr>
          <p:txBody>
            <a:bodyPr wrap="none" anchor="ctr"/>
            <a:lstStyle/>
            <a:p>
              <a:endParaRPr lang="en-US"/>
            </a:p>
          </p:txBody>
        </p:sp>
        <p:sp>
          <p:nvSpPr>
            <p:cNvPr id="41992" name="Line 8"/>
            <p:cNvSpPr>
              <a:spLocks noChangeShapeType="1"/>
            </p:cNvSpPr>
            <p:nvPr/>
          </p:nvSpPr>
          <p:spPr bwMode="auto">
            <a:xfrm>
              <a:off x="2819400" y="3048000"/>
              <a:ext cx="533400" cy="0"/>
            </a:xfrm>
            <a:prstGeom prst="line">
              <a:avLst/>
            </a:prstGeom>
            <a:noFill/>
            <a:ln w="12700">
              <a:solidFill>
                <a:schemeClr val="tx1"/>
              </a:solidFill>
              <a:round/>
              <a:headEnd/>
              <a:tailEnd/>
            </a:ln>
            <a:effectLst/>
          </p:spPr>
          <p:txBody>
            <a:bodyPr wrap="none" anchor="ctr"/>
            <a:lstStyle/>
            <a:p>
              <a:endParaRPr lang="en-US"/>
            </a:p>
          </p:txBody>
        </p:sp>
      </p:grpSp>
      <p:grpSp>
        <p:nvGrpSpPr>
          <p:cNvPr id="15" name="Group 14"/>
          <p:cNvGrpSpPr/>
          <p:nvPr/>
        </p:nvGrpSpPr>
        <p:grpSpPr>
          <a:xfrm>
            <a:off x="3924300" y="3886200"/>
            <a:ext cx="800100" cy="533400"/>
            <a:chOff x="5715000" y="4419600"/>
            <a:chExt cx="1143000" cy="762000"/>
          </a:xfrm>
        </p:grpSpPr>
        <p:sp>
          <p:nvSpPr>
            <p:cNvPr id="41993" name="Oval 9"/>
            <p:cNvSpPr>
              <a:spLocks noChangeArrowheads="1"/>
            </p:cNvSpPr>
            <p:nvPr/>
          </p:nvSpPr>
          <p:spPr bwMode="auto">
            <a:xfrm>
              <a:off x="5715000" y="4419600"/>
              <a:ext cx="1143000" cy="762000"/>
            </a:xfrm>
            <a:prstGeom prst="ellipse">
              <a:avLst/>
            </a:prstGeom>
            <a:solidFill>
              <a:schemeClr val="accent1"/>
            </a:solidFill>
            <a:ln w="12700">
              <a:solidFill>
                <a:schemeClr val="tx1"/>
              </a:solidFill>
              <a:round/>
              <a:headEnd/>
              <a:tailEnd/>
            </a:ln>
            <a:effectLst/>
          </p:spPr>
          <p:txBody>
            <a:bodyPr wrap="none" anchor="ctr"/>
            <a:lstStyle/>
            <a:p>
              <a:endParaRPr lang="en-US"/>
            </a:p>
          </p:txBody>
        </p:sp>
        <p:sp>
          <p:nvSpPr>
            <p:cNvPr id="41994" name="Oval 10"/>
            <p:cNvSpPr>
              <a:spLocks noChangeArrowheads="1"/>
            </p:cNvSpPr>
            <p:nvPr/>
          </p:nvSpPr>
          <p:spPr bwMode="auto">
            <a:xfrm>
              <a:off x="5791200" y="4495800"/>
              <a:ext cx="990600" cy="609600"/>
            </a:xfrm>
            <a:prstGeom prst="ellipse">
              <a:avLst/>
            </a:prstGeom>
            <a:solidFill>
              <a:schemeClr val="accent1"/>
            </a:solidFill>
            <a:ln w="12700">
              <a:solidFill>
                <a:schemeClr val="tx1"/>
              </a:solidFill>
              <a:round/>
              <a:headEnd/>
              <a:tailEnd/>
            </a:ln>
            <a:effectLst/>
          </p:spPr>
          <p:txBody>
            <a:bodyPr wrap="none" anchor="ctr"/>
            <a:lstStyle/>
            <a:p>
              <a:endParaRPr lang="en-US"/>
            </a:p>
          </p:txBody>
        </p:sp>
      </p:grpSp>
      <p:grpSp>
        <p:nvGrpSpPr>
          <p:cNvPr id="14" name="Group 13"/>
          <p:cNvGrpSpPr/>
          <p:nvPr/>
        </p:nvGrpSpPr>
        <p:grpSpPr>
          <a:xfrm>
            <a:off x="3238500" y="4572000"/>
            <a:ext cx="800100" cy="533400"/>
            <a:chOff x="3962400" y="5410200"/>
            <a:chExt cx="914400" cy="609600"/>
          </a:xfrm>
        </p:grpSpPr>
        <p:sp>
          <p:nvSpPr>
            <p:cNvPr id="41995" name="Rectangle 11"/>
            <p:cNvSpPr>
              <a:spLocks noChangeArrowheads="1"/>
            </p:cNvSpPr>
            <p:nvPr/>
          </p:nvSpPr>
          <p:spPr bwMode="auto">
            <a:xfrm>
              <a:off x="3962400" y="5410200"/>
              <a:ext cx="914400" cy="6096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41996" name="AutoShape 12"/>
            <p:cNvSpPr>
              <a:spLocks noChangeArrowheads="1"/>
            </p:cNvSpPr>
            <p:nvPr/>
          </p:nvSpPr>
          <p:spPr bwMode="auto">
            <a:xfrm>
              <a:off x="3962400" y="5410200"/>
              <a:ext cx="914400" cy="609600"/>
            </a:xfrm>
            <a:prstGeom prst="diamond">
              <a:avLst/>
            </a:prstGeom>
            <a:solidFill>
              <a:schemeClr val="accent1"/>
            </a:solidFill>
            <a:ln w="12700">
              <a:solidFill>
                <a:schemeClr val="tx1"/>
              </a:solidFill>
              <a:miter lim="800000"/>
              <a:headEnd/>
              <a:tailEnd/>
            </a:ln>
            <a:effectLst/>
          </p:spPr>
          <p:txBody>
            <a:bodyPr wrap="none" anchor="ctr"/>
            <a:lstStyle/>
            <a:p>
              <a:endParaRPr lang="en-US"/>
            </a:p>
          </p:txBody>
        </p:sp>
      </p:gr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0" y="304800"/>
            <a:ext cx="8896350" cy="1143000"/>
          </a:xfrm>
          <a:noFill/>
          <a:ln/>
          <a:effectLst/>
        </p:spPr>
        <p:txBody>
          <a:bodyPr>
            <a:normAutofit fontScale="90000"/>
          </a:bodyPr>
          <a:lstStyle/>
          <a:p>
            <a:r>
              <a:rPr lang="en-US" dirty="0" smtClean="0"/>
              <a:t>Final </a:t>
            </a:r>
            <a:r>
              <a:rPr lang="en-US" dirty="0"/>
              <a:t>E-R Diagram for Hoosier Burger’s Inventory Control </a:t>
            </a:r>
            <a:r>
              <a:rPr lang="en-US" dirty="0" smtClean="0"/>
              <a:t>System: Chen</a:t>
            </a:r>
            <a:endParaRPr lang="en-US" dirty="0"/>
          </a:p>
        </p:txBody>
      </p:sp>
      <p:pic>
        <p:nvPicPr>
          <p:cNvPr id="56323" name="Picture 3"/>
          <p:cNvPicPr>
            <a:picLocks noChangeArrowheads="1"/>
          </p:cNvPicPr>
          <p:nvPr/>
        </p:nvPicPr>
        <p:blipFill>
          <a:blip r:embed="rId2" cstate="print"/>
          <a:srcRect/>
          <a:stretch>
            <a:fillRect/>
          </a:stretch>
        </p:blipFill>
        <p:spPr bwMode="auto">
          <a:xfrm>
            <a:off x="228600" y="1676400"/>
            <a:ext cx="8534400" cy="5181600"/>
          </a:xfrm>
          <a:prstGeom prst="rect">
            <a:avLst/>
          </a:prstGeom>
          <a:noFill/>
          <a:ln w="12700">
            <a:noFill/>
            <a:miter lim="800000"/>
            <a:headEnd/>
            <a:tailEnd/>
          </a:ln>
          <a:effectLst/>
        </p:spPr>
      </p:pic>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ERD Notation: Crow’s Foot</a:t>
            </a:r>
            <a:endParaRPr lang="en-US" dirty="0"/>
          </a:p>
        </p:txBody>
      </p:sp>
      <p:pic>
        <p:nvPicPr>
          <p:cNvPr id="3084" name="Picture 12"/>
          <p:cNvPicPr>
            <a:picLocks noChangeAspect="1" noChangeArrowheads="1"/>
          </p:cNvPicPr>
          <p:nvPr/>
        </p:nvPicPr>
        <p:blipFill>
          <a:blip r:embed="rId2" cstate="print"/>
          <a:srcRect/>
          <a:stretch>
            <a:fillRect/>
          </a:stretch>
        </p:blipFill>
        <p:spPr bwMode="auto">
          <a:xfrm>
            <a:off x="381000" y="2743200"/>
            <a:ext cx="8250795" cy="1905000"/>
          </a:xfrm>
          <a:prstGeom prst="rect">
            <a:avLst/>
          </a:prstGeom>
          <a:noFill/>
          <a:ln w="9525">
            <a:noFill/>
            <a:miter lim="800000"/>
            <a:headEnd/>
            <a:tailEnd/>
          </a:ln>
          <a:effectLst/>
        </p:spPr>
      </p:pic>
      <p:sp>
        <p:nvSpPr>
          <p:cNvPr id="19" name="TextBox 18"/>
          <p:cNvSpPr txBox="1"/>
          <p:nvPr/>
        </p:nvSpPr>
        <p:spPr>
          <a:xfrm>
            <a:off x="3810000" y="1981200"/>
            <a:ext cx="904415" cy="369332"/>
          </a:xfrm>
          <a:prstGeom prst="rect">
            <a:avLst/>
          </a:prstGeom>
          <a:noFill/>
        </p:spPr>
        <p:txBody>
          <a:bodyPr wrap="none" rtlCol="0">
            <a:spAutoFit/>
          </a:bodyPr>
          <a:lstStyle/>
          <a:p>
            <a:r>
              <a:rPr lang="en-US" b="1" dirty="0" smtClean="0">
                <a:solidFill>
                  <a:schemeClr val="accent6">
                    <a:lumMod val="50000"/>
                  </a:schemeClr>
                </a:solidFill>
              </a:rPr>
              <a:t>Entity</a:t>
            </a:r>
            <a:endParaRPr lang="en-US" b="1" dirty="0">
              <a:solidFill>
                <a:schemeClr val="accent6">
                  <a:lumMod val="50000"/>
                </a:schemeClr>
              </a:solidFill>
            </a:endParaRPr>
          </a:p>
        </p:txBody>
      </p:sp>
      <p:cxnSp>
        <p:nvCxnSpPr>
          <p:cNvPr id="21" name="Straight Arrow Connector 20"/>
          <p:cNvCxnSpPr>
            <a:stCxn id="19" idx="1"/>
          </p:cNvCxnSpPr>
          <p:nvPr/>
        </p:nvCxnSpPr>
        <p:spPr>
          <a:xfrm rot="10800000" flipV="1">
            <a:off x="1981200" y="2165866"/>
            <a:ext cx="1828800" cy="653534"/>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9" idx="3"/>
          </p:cNvCxnSpPr>
          <p:nvPr/>
        </p:nvCxnSpPr>
        <p:spPr>
          <a:xfrm>
            <a:off x="4714415" y="2165866"/>
            <a:ext cx="2753185" cy="577334"/>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276600" y="2590800"/>
            <a:ext cx="2255746" cy="369332"/>
          </a:xfrm>
          <a:prstGeom prst="rect">
            <a:avLst/>
          </a:prstGeom>
          <a:noFill/>
        </p:spPr>
        <p:txBody>
          <a:bodyPr wrap="none" rtlCol="0">
            <a:spAutoFit/>
          </a:bodyPr>
          <a:lstStyle/>
          <a:p>
            <a:r>
              <a:rPr lang="en-US" b="1" dirty="0" smtClean="0">
                <a:solidFill>
                  <a:schemeClr val="accent6">
                    <a:lumMod val="50000"/>
                  </a:schemeClr>
                </a:solidFill>
              </a:rPr>
              <a:t>Unique Identifier</a:t>
            </a:r>
            <a:endParaRPr lang="en-US" b="1" dirty="0">
              <a:solidFill>
                <a:schemeClr val="accent6">
                  <a:lumMod val="50000"/>
                </a:schemeClr>
              </a:solidFill>
            </a:endParaRPr>
          </a:p>
        </p:txBody>
      </p:sp>
      <p:cxnSp>
        <p:nvCxnSpPr>
          <p:cNvPr id="32" name="Straight Arrow Connector 31"/>
          <p:cNvCxnSpPr>
            <a:stCxn id="30" idx="1"/>
          </p:cNvCxnSpPr>
          <p:nvPr/>
        </p:nvCxnSpPr>
        <p:spPr>
          <a:xfrm rot="10800000" flipV="1">
            <a:off x="2667000" y="2775466"/>
            <a:ext cx="609600" cy="501134"/>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30" idx="3"/>
          </p:cNvCxnSpPr>
          <p:nvPr/>
        </p:nvCxnSpPr>
        <p:spPr>
          <a:xfrm>
            <a:off x="5532346" y="2775466"/>
            <a:ext cx="563654" cy="424934"/>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3733800" y="5715000"/>
            <a:ext cx="1271502" cy="369332"/>
          </a:xfrm>
          <a:prstGeom prst="rect">
            <a:avLst/>
          </a:prstGeom>
          <a:noFill/>
        </p:spPr>
        <p:txBody>
          <a:bodyPr wrap="none" rtlCol="0">
            <a:spAutoFit/>
          </a:bodyPr>
          <a:lstStyle/>
          <a:p>
            <a:r>
              <a:rPr lang="en-US" b="1" dirty="0" smtClean="0">
                <a:solidFill>
                  <a:schemeClr val="accent6">
                    <a:lumMod val="50000"/>
                  </a:schemeClr>
                </a:solidFill>
              </a:rPr>
              <a:t>Attribute</a:t>
            </a:r>
            <a:endParaRPr lang="en-US" b="1" dirty="0">
              <a:solidFill>
                <a:schemeClr val="accent6">
                  <a:lumMod val="50000"/>
                </a:schemeClr>
              </a:solidFill>
            </a:endParaRPr>
          </a:p>
        </p:txBody>
      </p:sp>
      <p:sp>
        <p:nvSpPr>
          <p:cNvPr id="36" name="Left Brace 35"/>
          <p:cNvSpPr/>
          <p:nvPr/>
        </p:nvSpPr>
        <p:spPr>
          <a:xfrm>
            <a:off x="5867400" y="3581400"/>
            <a:ext cx="152400" cy="685800"/>
          </a:xfrm>
          <a:prstGeom prst="lef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Right Brace 36"/>
          <p:cNvSpPr/>
          <p:nvPr/>
        </p:nvSpPr>
        <p:spPr>
          <a:xfrm>
            <a:off x="2895600" y="3657600"/>
            <a:ext cx="152400" cy="609600"/>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9" name="Straight Arrow Connector 38"/>
          <p:cNvCxnSpPr>
            <a:stCxn id="35" idx="0"/>
            <a:endCxn id="37" idx="1"/>
          </p:cNvCxnSpPr>
          <p:nvPr/>
        </p:nvCxnSpPr>
        <p:spPr>
          <a:xfrm rot="16200000" flipV="1">
            <a:off x="2832476" y="4177924"/>
            <a:ext cx="1752600" cy="1321551"/>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35" idx="0"/>
            <a:endCxn id="36" idx="1"/>
          </p:cNvCxnSpPr>
          <p:nvPr/>
        </p:nvCxnSpPr>
        <p:spPr>
          <a:xfrm rot="5400000" flipH="1" flipV="1">
            <a:off x="4223125" y="4070726"/>
            <a:ext cx="1790700" cy="1497849"/>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3581400" y="4267200"/>
            <a:ext cx="1707519" cy="369332"/>
          </a:xfrm>
          <a:prstGeom prst="rect">
            <a:avLst/>
          </a:prstGeom>
          <a:noFill/>
        </p:spPr>
        <p:txBody>
          <a:bodyPr wrap="none" rtlCol="0">
            <a:spAutoFit/>
          </a:bodyPr>
          <a:lstStyle/>
          <a:p>
            <a:r>
              <a:rPr lang="en-US" b="1" dirty="0" smtClean="0">
                <a:solidFill>
                  <a:schemeClr val="accent6">
                    <a:lumMod val="50000"/>
                  </a:schemeClr>
                </a:solidFill>
              </a:rPr>
              <a:t>Relationship</a:t>
            </a:r>
            <a:endParaRPr lang="en-US" b="1" dirty="0">
              <a:solidFill>
                <a:schemeClr val="accent6">
                  <a:lumMod val="50000"/>
                </a:schemeClr>
              </a:solidFill>
            </a:endParaRPr>
          </a:p>
        </p:txBody>
      </p:sp>
      <p:sp>
        <p:nvSpPr>
          <p:cNvPr id="45" name="Right Brace 44"/>
          <p:cNvSpPr/>
          <p:nvPr/>
        </p:nvSpPr>
        <p:spPr>
          <a:xfrm rot="5400000">
            <a:off x="4305300" y="2552700"/>
            <a:ext cx="228600" cy="2590800"/>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7" name="Straight Arrow Connector 46"/>
          <p:cNvCxnSpPr>
            <a:stCxn id="44" idx="0"/>
            <a:endCxn id="45" idx="1"/>
          </p:cNvCxnSpPr>
          <p:nvPr/>
        </p:nvCxnSpPr>
        <p:spPr>
          <a:xfrm rot="16200000" flipV="1">
            <a:off x="4274980" y="4107020"/>
            <a:ext cx="304800" cy="1556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44" idx="3"/>
          </p:cNvCxnSpPr>
          <p:nvPr/>
        </p:nvCxnSpPr>
        <p:spPr>
          <a:xfrm>
            <a:off x="5288919" y="4451866"/>
            <a:ext cx="807081" cy="43934"/>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5486400" y="1524000"/>
            <a:ext cx="3392275" cy="369332"/>
          </a:xfrm>
          <a:prstGeom prst="rect">
            <a:avLst/>
          </a:prstGeom>
          <a:noFill/>
        </p:spPr>
        <p:txBody>
          <a:bodyPr wrap="none" rtlCol="0">
            <a:spAutoFit/>
          </a:bodyPr>
          <a:lstStyle/>
          <a:p>
            <a:r>
              <a:rPr lang="en-US" b="1" dirty="0" smtClean="0">
                <a:solidFill>
                  <a:schemeClr val="accent6">
                    <a:lumMod val="50000"/>
                  </a:schemeClr>
                </a:solidFill>
              </a:rPr>
              <a:t>Cardinality &amp; Participation</a:t>
            </a:r>
            <a:endParaRPr lang="en-US" b="1" dirty="0">
              <a:solidFill>
                <a:schemeClr val="accent6">
                  <a:lumMod val="50000"/>
                </a:schemeClr>
              </a:solidFill>
            </a:endParaRPr>
          </a:p>
        </p:txBody>
      </p:sp>
      <p:sp>
        <p:nvSpPr>
          <p:cNvPr id="56" name="TextBox 55"/>
          <p:cNvSpPr txBox="1"/>
          <p:nvPr/>
        </p:nvSpPr>
        <p:spPr>
          <a:xfrm>
            <a:off x="152400" y="1447800"/>
            <a:ext cx="3392275" cy="369332"/>
          </a:xfrm>
          <a:prstGeom prst="rect">
            <a:avLst/>
          </a:prstGeom>
          <a:noFill/>
        </p:spPr>
        <p:txBody>
          <a:bodyPr wrap="none" rtlCol="0">
            <a:spAutoFit/>
          </a:bodyPr>
          <a:lstStyle/>
          <a:p>
            <a:r>
              <a:rPr lang="en-US" b="1" dirty="0" smtClean="0">
                <a:solidFill>
                  <a:schemeClr val="accent6">
                    <a:lumMod val="50000"/>
                  </a:schemeClr>
                </a:solidFill>
              </a:rPr>
              <a:t>Cardinality &amp; Participation</a:t>
            </a:r>
            <a:endParaRPr lang="en-US" b="1" dirty="0">
              <a:solidFill>
                <a:schemeClr val="accent6">
                  <a:lumMod val="50000"/>
                </a:schemeClr>
              </a:solidFill>
            </a:endParaRPr>
          </a:p>
        </p:txBody>
      </p:sp>
      <p:cxnSp>
        <p:nvCxnSpPr>
          <p:cNvPr id="58" name="Straight Arrow Connector 57"/>
          <p:cNvCxnSpPr/>
          <p:nvPr/>
        </p:nvCxnSpPr>
        <p:spPr>
          <a:xfrm rot="5400000">
            <a:off x="2514600" y="2362200"/>
            <a:ext cx="1600200" cy="5334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stCxn id="53" idx="1"/>
          </p:cNvCxnSpPr>
          <p:nvPr/>
        </p:nvCxnSpPr>
        <p:spPr>
          <a:xfrm rot="10800000" flipH="1" flipV="1">
            <a:off x="5486400" y="1708666"/>
            <a:ext cx="457200" cy="1720334"/>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7"/>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0" grpId="0"/>
      <p:bldP spid="35" grpId="0"/>
      <p:bldP spid="36" grpId="0" animBg="1"/>
      <p:bldP spid="37" grpId="0" animBg="1"/>
      <p:bldP spid="44" grpId="0"/>
      <p:bldP spid="45" grpId="0" animBg="1"/>
      <p:bldP spid="53" grpId="0"/>
      <p:bldP spid="5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t>Outline</a:t>
            </a:r>
          </a:p>
        </p:txBody>
      </p:sp>
      <p:sp>
        <p:nvSpPr>
          <p:cNvPr id="14339" name="Rectangle 3"/>
          <p:cNvSpPr>
            <a:spLocks noGrp="1" noChangeArrowheads="1"/>
          </p:cNvSpPr>
          <p:nvPr>
            <p:ph idx="1"/>
          </p:nvPr>
        </p:nvSpPr>
        <p:spPr/>
        <p:txBody>
          <a:bodyPr>
            <a:normAutofit/>
          </a:bodyPr>
          <a:lstStyle/>
          <a:p>
            <a:pPr marL="624078" indent="-514350">
              <a:buFont typeface="+mj-lt"/>
              <a:buAutoNum type="arabicPeriod"/>
            </a:pPr>
            <a:r>
              <a:rPr lang="en-US" dirty="0" smtClean="0">
                <a:solidFill>
                  <a:schemeClr val="accent2">
                    <a:lumMod val="60000"/>
                    <a:lumOff val="40000"/>
                  </a:schemeClr>
                </a:solidFill>
              </a:rPr>
              <a:t>Overview of data modeling</a:t>
            </a:r>
          </a:p>
          <a:p>
            <a:pPr marL="624078" indent="-514350">
              <a:buFont typeface="+mj-lt"/>
              <a:buAutoNum type="arabicPeriod"/>
            </a:pPr>
            <a:r>
              <a:rPr lang="en-US" dirty="0" smtClean="0">
                <a:solidFill>
                  <a:schemeClr val="accent2">
                    <a:lumMod val="60000"/>
                    <a:lumOff val="40000"/>
                  </a:schemeClr>
                </a:solidFill>
              </a:rPr>
              <a:t>Elements </a:t>
            </a:r>
            <a:r>
              <a:rPr lang="en-US" dirty="0">
                <a:solidFill>
                  <a:schemeClr val="accent2">
                    <a:lumMod val="60000"/>
                    <a:lumOff val="40000"/>
                  </a:schemeClr>
                </a:solidFill>
              </a:rPr>
              <a:t>of </a:t>
            </a:r>
            <a:r>
              <a:rPr lang="en-US" dirty="0" smtClean="0">
                <a:solidFill>
                  <a:schemeClr val="accent2">
                    <a:lumMod val="60000"/>
                    <a:lumOff val="40000"/>
                  </a:schemeClr>
                </a:solidFill>
              </a:rPr>
              <a:t>ERD</a:t>
            </a:r>
          </a:p>
          <a:p>
            <a:pPr marL="916686" lvl="1" indent="-514350">
              <a:buFont typeface="+mj-lt"/>
              <a:buAutoNum type="arabicPeriod"/>
            </a:pPr>
            <a:endParaRPr lang="en-US" dirty="0" smtClean="0"/>
          </a:p>
          <a:p>
            <a:pPr marL="624078" indent="-514350">
              <a:buFont typeface="+mj-lt"/>
              <a:buAutoNum type="arabicPeriod"/>
            </a:pPr>
            <a:r>
              <a:rPr lang="en-US" dirty="0" smtClean="0"/>
              <a:t>Cardinality, participation</a:t>
            </a:r>
          </a:p>
          <a:p>
            <a:pPr marL="624078" indent="-514350">
              <a:buFont typeface="+mj-lt"/>
              <a:buAutoNum type="arabicPeriod"/>
            </a:pPr>
            <a:endParaRPr lang="en-US" dirty="0" smtClean="0"/>
          </a:p>
          <a:p>
            <a:pPr marL="624078" indent="-514350">
              <a:buFont typeface="+mj-lt"/>
              <a:buAutoNum type="arabicPeriod"/>
            </a:pPr>
            <a:r>
              <a:rPr lang="en-US" dirty="0" smtClean="0">
                <a:solidFill>
                  <a:schemeClr val="bg2">
                    <a:lumMod val="50000"/>
                  </a:schemeClr>
                </a:solidFill>
              </a:rPr>
              <a:t>Degree of relationships</a:t>
            </a:r>
          </a:p>
          <a:p>
            <a:pPr marL="624078" indent="-514350">
              <a:buFont typeface="+mj-lt"/>
              <a:buAutoNum type="arabicPeriod"/>
            </a:pPr>
            <a:r>
              <a:rPr lang="en-US" dirty="0" smtClean="0">
                <a:solidFill>
                  <a:schemeClr val="bg2">
                    <a:lumMod val="50000"/>
                  </a:schemeClr>
                </a:solidFill>
              </a:rPr>
              <a:t>Identifying </a:t>
            </a:r>
            <a:r>
              <a:rPr lang="en-US" dirty="0">
                <a:solidFill>
                  <a:schemeClr val="bg2">
                    <a:lumMod val="50000"/>
                  </a:schemeClr>
                </a:solidFill>
              </a:rPr>
              <a:t>or non-identifying PK?</a:t>
            </a:r>
          </a:p>
        </p:txBody>
      </p:sp>
    </p:spTree>
    <p:extLst>
      <p:ext uri="{BB962C8B-B14F-4D97-AF65-F5344CB8AC3E}">
        <p14:creationId xmlns:p14="http://schemas.microsoft.com/office/powerpoint/2010/main" val="36889651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noFill/>
          <a:ln/>
        </p:spPr>
        <p:txBody>
          <a:bodyPr/>
          <a:lstStyle/>
          <a:p>
            <a:r>
              <a:rPr lang="en-US" dirty="0" smtClean="0"/>
              <a:t>Cardinalities </a:t>
            </a:r>
            <a:r>
              <a:rPr lang="en-US" dirty="0"/>
              <a:t>in Relationships</a:t>
            </a:r>
          </a:p>
        </p:txBody>
      </p:sp>
      <p:sp>
        <p:nvSpPr>
          <p:cNvPr id="45059" name="Rectangle 3"/>
          <p:cNvSpPr>
            <a:spLocks noGrp="1" noChangeArrowheads="1"/>
          </p:cNvSpPr>
          <p:nvPr>
            <p:ph idx="1"/>
          </p:nvPr>
        </p:nvSpPr>
        <p:spPr>
          <a:noFill/>
          <a:ln/>
        </p:spPr>
        <p:txBody>
          <a:bodyPr>
            <a:normAutofit/>
          </a:bodyPr>
          <a:lstStyle/>
          <a:p>
            <a:pPr marL="115888" indent="-6350">
              <a:buFont typeface="Monotype Sorts" pitchFamily="2" charset="2"/>
              <a:buNone/>
            </a:pPr>
            <a:r>
              <a:rPr lang="en-US" sz="2000" b="1" dirty="0" smtClean="0"/>
              <a:t>	Cardinality</a:t>
            </a:r>
            <a:r>
              <a:rPr lang="en-US" sz="2000" dirty="0" smtClean="0"/>
              <a:t> </a:t>
            </a:r>
            <a:r>
              <a:rPr lang="en-US" sz="2000" dirty="0"/>
              <a:t>= the number of instances of entity B that can (or must) be associated with each instance of entity A</a:t>
            </a:r>
            <a:r>
              <a:rPr lang="en-US" sz="2000" dirty="0" smtClean="0"/>
              <a:t>.</a:t>
            </a:r>
          </a:p>
          <a:p>
            <a:pPr marL="115888" lvl="1" indent="-6350">
              <a:buClr>
                <a:schemeClr val="accent3"/>
              </a:buClr>
              <a:buNone/>
            </a:pPr>
            <a:r>
              <a:rPr lang="en-US" dirty="0"/>
              <a:t>Cardinality: one or many  	|  or </a:t>
            </a:r>
          </a:p>
          <a:p>
            <a:pPr marL="115888" indent="-6350">
              <a:buFont typeface="Monotype Sorts" pitchFamily="2" charset="2"/>
              <a:buNone/>
            </a:pPr>
            <a:endParaRPr lang="en-US" sz="2000" dirty="0"/>
          </a:p>
        </p:txBody>
      </p:sp>
      <p:sp>
        <p:nvSpPr>
          <p:cNvPr id="45068" name="Rectangle 12"/>
          <p:cNvSpPr>
            <a:spLocks noChangeArrowheads="1"/>
          </p:cNvSpPr>
          <p:nvPr/>
        </p:nvSpPr>
        <p:spPr bwMode="auto">
          <a:xfrm>
            <a:off x="1981200" y="6251377"/>
            <a:ext cx="6096000" cy="582211"/>
          </a:xfrm>
          <a:prstGeom prst="rect">
            <a:avLst/>
          </a:prstGeom>
          <a:solidFill>
            <a:schemeClr val="accent1">
              <a:lumMod val="20000"/>
              <a:lumOff val="80000"/>
            </a:schemeClr>
          </a:solidFill>
          <a:ln w="12700">
            <a:solidFill>
              <a:schemeClr val="tx2"/>
            </a:solidFill>
            <a:miter lim="800000"/>
            <a:headEnd/>
            <a:tailEnd/>
          </a:ln>
          <a:effectLst/>
        </p:spPr>
        <p:txBody>
          <a:bodyPr wrap="square" lIns="90488" tIns="44450" rIns="90488" bIns="44450">
            <a:spAutoFit/>
          </a:bodyPr>
          <a:lstStyle/>
          <a:p>
            <a:r>
              <a:rPr lang="en-US" sz="1600" dirty="0" smtClean="0">
                <a:latin typeface="Calibri" pitchFamily="34" charset="0"/>
              </a:rPr>
              <a:t>Cardinality </a:t>
            </a:r>
            <a:r>
              <a:rPr lang="en-US" sz="1600" dirty="0">
                <a:latin typeface="Calibri" pitchFamily="34" charset="0"/>
              </a:rPr>
              <a:t>is the maximum </a:t>
            </a:r>
            <a:r>
              <a:rPr lang="en-US" sz="1600" dirty="0" smtClean="0">
                <a:latin typeface="Calibri" pitchFamily="34" charset="0"/>
              </a:rPr>
              <a:t>number (0, 1 or Many) </a:t>
            </a:r>
            <a:r>
              <a:rPr lang="en-US" sz="1600" dirty="0">
                <a:latin typeface="Calibri" pitchFamily="34" charset="0"/>
              </a:rPr>
              <a:t>of records in one file </a:t>
            </a:r>
            <a:r>
              <a:rPr lang="en-US" sz="1600" dirty="0" smtClean="0">
                <a:latin typeface="Calibri" pitchFamily="34" charset="0"/>
              </a:rPr>
              <a:t>that </a:t>
            </a:r>
            <a:r>
              <a:rPr lang="en-US" sz="1600" dirty="0">
                <a:latin typeface="Calibri" pitchFamily="34" charset="0"/>
              </a:rPr>
              <a:t>are linked to a single record in another file and vice </a:t>
            </a:r>
            <a:r>
              <a:rPr lang="en-US" sz="1600" dirty="0" smtClean="0">
                <a:latin typeface="Calibri" pitchFamily="34" charset="0"/>
              </a:rPr>
              <a:t>versa.</a:t>
            </a:r>
            <a:endParaRPr lang="en-US" sz="1600" dirty="0">
              <a:latin typeface="Calibri" pitchFamily="34" charset="0"/>
            </a:endParaRPr>
          </a:p>
        </p:txBody>
      </p:sp>
      <p:pic>
        <p:nvPicPr>
          <p:cNvPr id="15361" name="Picture 1"/>
          <p:cNvPicPr>
            <a:picLocks noChangeAspect="1" noChangeArrowheads="1"/>
          </p:cNvPicPr>
          <p:nvPr/>
        </p:nvPicPr>
        <p:blipFill>
          <a:blip r:embed="rId2" cstate="print"/>
          <a:srcRect/>
          <a:stretch>
            <a:fillRect/>
          </a:stretch>
        </p:blipFill>
        <p:spPr bwMode="auto">
          <a:xfrm>
            <a:off x="1066800" y="2971800"/>
            <a:ext cx="7010400" cy="2146041"/>
          </a:xfrm>
          <a:prstGeom prst="rect">
            <a:avLst/>
          </a:prstGeom>
          <a:noFill/>
          <a:ln w="9525">
            <a:noFill/>
            <a:miter lim="800000"/>
            <a:headEnd/>
            <a:tailEnd/>
          </a:ln>
          <a:effectLst/>
        </p:spPr>
      </p:pic>
      <p:sp>
        <p:nvSpPr>
          <p:cNvPr id="6" name="Rounded Rectangle 5"/>
          <p:cNvSpPr/>
          <p:nvPr/>
        </p:nvSpPr>
        <p:spPr>
          <a:xfrm>
            <a:off x="3048000" y="3886200"/>
            <a:ext cx="114300" cy="438150"/>
          </a:xfrm>
          <a:prstGeom prst="roundRect">
            <a:avLst/>
          </a:prstGeom>
          <a:no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5486400" y="3886200"/>
            <a:ext cx="228600" cy="457200"/>
          </a:xfrm>
          <a:prstGeom prst="roundRect">
            <a:avLst/>
          </a:prstGeom>
          <a:noFill/>
          <a:ln w="381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00349" y="5004137"/>
            <a:ext cx="5514651" cy="1015663"/>
          </a:xfrm>
          <a:prstGeom prst="rect">
            <a:avLst/>
          </a:prstGeom>
          <a:noFill/>
        </p:spPr>
        <p:txBody>
          <a:bodyPr wrap="none" rtlCol="0">
            <a:spAutoFit/>
          </a:bodyPr>
          <a:lstStyle/>
          <a:p>
            <a:r>
              <a:rPr lang="en-US" sz="2000" b="1" dirty="0" err="1" smtClean="0"/>
              <a:t>Department:Employee</a:t>
            </a:r>
            <a:endParaRPr lang="en-US" sz="2000" b="1" dirty="0" smtClean="0"/>
          </a:p>
          <a:p>
            <a:pPr marL="342900" indent="-342900">
              <a:buFont typeface="Arial" pitchFamily="34" charset="0"/>
              <a:buChar char="•"/>
            </a:pPr>
            <a:r>
              <a:rPr lang="en-US" sz="2000" dirty="0" smtClean="0"/>
              <a:t>A department has one or more employees.</a:t>
            </a:r>
          </a:p>
          <a:p>
            <a:pPr marL="342900" indent="-342900">
              <a:buFont typeface="Arial" pitchFamily="34" charset="0"/>
              <a:buChar char="•"/>
            </a:pPr>
            <a:r>
              <a:rPr lang="en-US" sz="2000" dirty="0" smtClean="0"/>
              <a:t>An employee is assigned to one department.</a:t>
            </a:r>
            <a:endParaRPr lang="en-US" sz="2000" dirty="0"/>
          </a:p>
        </p:txBody>
      </p:sp>
      <p:grpSp>
        <p:nvGrpSpPr>
          <p:cNvPr id="9" name="Group 8"/>
          <p:cNvGrpSpPr/>
          <p:nvPr/>
        </p:nvGrpSpPr>
        <p:grpSpPr>
          <a:xfrm>
            <a:off x="6082803" y="2556328"/>
            <a:ext cx="314326" cy="276226"/>
            <a:chOff x="7010400" y="3733800"/>
            <a:chExt cx="314326" cy="276226"/>
          </a:xfrm>
        </p:grpSpPr>
        <p:cxnSp>
          <p:nvCxnSpPr>
            <p:cNvPr id="10" name="Straight Connector 9"/>
            <p:cNvCxnSpPr/>
            <p:nvPr/>
          </p:nvCxnSpPr>
          <p:spPr>
            <a:xfrm rot="10800000" flipV="1">
              <a:off x="7010400" y="3733800"/>
              <a:ext cx="304800" cy="15240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7010401" y="3886201"/>
              <a:ext cx="314325" cy="12382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7010400" y="3884612"/>
              <a:ext cx="304800" cy="1588"/>
            </a:xfrm>
            <a:prstGeom prst="line">
              <a:avLst/>
            </a:prstGeom>
            <a:ln w="19050"/>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Cardinality Implemented: 1:M</a:t>
            </a:r>
            <a:endParaRPr lang="en-US" dirty="0"/>
          </a:p>
        </p:txBody>
      </p:sp>
      <p:graphicFrame>
        <p:nvGraphicFramePr>
          <p:cNvPr id="10" name="Table 9"/>
          <p:cNvGraphicFramePr>
            <a:graphicFrameLocks noGrp="1"/>
          </p:cNvGraphicFramePr>
          <p:nvPr/>
        </p:nvGraphicFramePr>
        <p:xfrm>
          <a:off x="685800" y="2895600"/>
          <a:ext cx="3616514" cy="1328056"/>
        </p:xfrm>
        <a:graphic>
          <a:graphicData uri="http://schemas.openxmlformats.org/drawingml/2006/table">
            <a:tbl>
              <a:tblPr/>
              <a:tblGrid>
                <a:gridCol w="775919"/>
                <a:gridCol w="1736766"/>
                <a:gridCol w="1103829"/>
              </a:tblGrid>
              <a:tr h="217714">
                <a:tc gridSpan="3">
                  <a:txBody>
                    <a:bodyPr/>
                    <a:lstStyle/>
                    <a:p>
                      <a:pPr marL="0" marR="0">
                        <a:spcBef>
                          <a:spcPts val="0"/>
                        </a:spcBef>
                        <a:spcAft>
                          <a:spcPts val="0"/>
                        </a:spcAft>
                      </a:pPr>
                      <a:r>
                        <a:rPr lang="en-US" sz="1400" b="1" dirty="0">
                          <a:latin typeface="Calibri"/>
                          <a:ea typeface="Calibri"/>
                          <a:cs typeface="Times New Roman"/>
                        </a:rPr>
                        <a:t>DEPARTMENT</a:t>
                      </a:r>
                      <a:endParaRPr lang="en-US" sz="1400" dirty="0">
                        <a:latin typeface="Calibri"/>
                        <a:ea typeface="Calibri"/>
                        <a:cs typeface="Times New Roman"/>
                      </a:endParaRPr>
                    </a:p>
                  </a:txBody>
                  <a:tcPr marL="89065" marR="890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hMerge="1">
                  <a:txBody>
                    <a:bodyPr/>
                    <a:lstStyle/>
                    <a:p>
                      <a:endParaRPr lang="en-US"/>
                    </a:p>
                  </a:txBody>
                  <a:tcPr/>
                </a:tc>
              </a:tr>
              <a:tr h="239486">
                <a:tc>
                  <a:txBody>
                    <a:bodyPr/>
                    <a:lstStyle/>
                    <a:p>
                      <a:pPr marL="0" marR="0">
                        <a:spcBef>
                          <a:spcPts val="0"/>
                        </a:spcBef>
                        <a:spcAft>
                          <a:spcPts val="0"/>
                        </a:spcAft>
                      </a:pPr>
                      <a:r>
                        <a:rPr lang="en-US" sz="1400" b="1" dirty="0">
                          <a:latin typeface="Calibri"/>
                          <a:ea typeface="Calibri"/>
                          <a:cs typeface="Times New Roman"/>
                        </a:rPr>
                        <a:t>Dept ID</a:t>
                      </a:r>
                      <a:endParaRPr lang="en-US" sz="1400" dirty="0">
                        <a:latin typeface="Calibri"/>
                        <a:ea typeface="Calibri"/>
                        <a:cs typeface="Times New Roman"/>
                      </a:endParaRPr>
                    </a:p>
                  </a:txBody>
                  <a:tcPr marL="89065" marR="890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3E3FF"/>
                    </a:solidFill>
                  </a:tcPr>
                </a:tc>
                <a:tc>
                  <a:txBody>
                    <a:bodyPr/>
                    <a:lstStyle/>
                    <a:p>
                      <a:pPr marL="0" marR="0">
                        <a:spcBef>
                          <a:spcPts val="0"/>
                        </a:spcBef>
                        <a:spcAft>
                          <a:spcPts val="0"/>
                        </a:spcAft>
                      </a:pPr>
                      <a:r>
                        <a:rPr lang="en-US" sz="1400" b="1" dirty="0">
                          <a:latin typeface="Calibri"/>
                          <a:ea typeface="Calibri"/>
                          <a:cs typeface="Times New Roman"/>
                        </a:rPr>
                        <a:t>Dept Name</a:t>
                      </a:r>
                      <a:endParaRPr lang="en-US" sz="1400" dirty="0">
                        <a:latin typeface="Calibri"/>
                        <a:ea typeface="Calibri"/>
                        <a:cs typeface="Times New Roman"/>
                      </a:endParaRPr>
                    </a:p>
                  </a:txBody>
                  <a:tcPr marL="89065" marR="890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b="1" dirty="0">
                          <a:latin typeface="Calibri"/>
                          <a:ea typeface="Calibri"/>
                          <a:cs typeface="Times New Roman"/>
                        </a:rPr>
                        <a:t>Dept Phone</a:t>
                      </a:r>
                      <a:endParaRPr lang="en-US" sz="1400" dirty="0">
                        <a:latin typeface="Calibri"/>
                        <a:ea typeface="Calibri"/>
                        <a:cs typeface="Times New Roman"/>
                      </a:endParaRPr>
                    </a:p>
                  </a:txBody>
                  <a:tcPr marL="89065" marR="890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7714">
                <a:tc>
                  <a:txBody>
                    <a:bodyPr/>
                    <a:lstStyle/>
                    <a:p>
                      <a:pPr marL="0" marR="0">
                        <a:spcBef>
                          <a:spcPts val="0"/>
                        </a:spcBef>
                        <a:spcAft>
                          <a:spcPts val="0"/>
                        </a:spcAft>
                      </a:pPr>
                      <a:r>
                        <a:rPr lang="en-US" sz="1400">
                          <a:latin typeface="Calibri"/>
                          <a:ea typeface="Calibri"/>
                          <a:cs typeface="Times New Roman"/>
                        </a:rPr>
                        <a:t>1000</a:t>
                      </a:r>
                    </a:p>
                  </a:txBody>
                  <a:tcPr marL="89065" marR="890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latin typeface="Calibri"/>
                          <a:ea typeface="Calibri"/>
                          <a:cs typeface="Times New Roman"/>
                        </a:rPr>
                        <a:t>Information Systems</a:t>
                      </a:r>
                    </a:p>
                  </a:txBody>
                  <a:tcPr marL="89065" marR="890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a:latin typeface="Calibri"/>
                          <a:ea typeface="Calibri"/>
                          <a:cs typeface="Times New Roman"/>
                        </a:rPr>
                        <a:t>836-1234</a:t>
                      </a:r>
                    </a:p>
                  </a:txBody>
                  <a:tcPr marL="89065" marR="890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7714">
                <a:tc>
                  <a:txBody>
                    <a:bodyPr/>
                    <a:lstStyle/>
                    <a:p>
                      <a:pPr marL="0" marR="0">
                        <a:spcBef>
                          <a:spcPts val="0"/>
                        </a:spcBef>
                        <a:spcAft>
                          <a:spcPts val="0"/>
                        </a:spcAft>
                      </a:pPr>
                      <a:r>
                        <a:rPr lang="en-US" sz="1400">
                          <a:latin typeface="Calibri"/>
                          <a:ea typeface="Calibri"/>
                          <a:cs typeface="Times New Roman"/>
                        </a:rPr>
                        <a:t>1001</a:t>
                      </a:r>
                    </a:p>
                  </a:txBody>
                  <a:tcPr marL="89065" marR="890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a:latin typeface="Calibri"/>
                          <a:ea typeface="Calibri"/>
                          <a:cs typeface="Times New Roman"/>
                        </a:rPr>
                        <a:t>Accounting</a:t>
                      </a:r>
                    </a:p>
                  </a:txBody>
                  <a:tcPr marL="89065" marR="890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a:latin typeface="Calibri"/>
                          <a:ea typeface="Calibri"/>
                          <a:cs typeface="Times New Roman"/>
                        </a:rPr>
                        <a:t>836-2234</a:t>
                      </a:r>
                    </a:p>
                  </a:txBody>
                  <a:tcPr marL="89065" marR="890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7714">
                <a:tc>
                  <a:txBody>
                    <a:bodyPr/>
                    <a:lstStyle/>
                    <a:p>
                      <a:pPr marL="0" marR="0">
                        <a:spcBef>
                          <a:spcPts val="0"/>
                        </a:spcBef>
                        <a:spcAft>
                          <a:spcPts val="0"/>
                        </a:spcAft>
                      </a:pPr>
                      <a:r>
                        <a:rPr lang="en-US" sz="1400">
                          <a:latin typeface="Calibri"/>
                          <a:ea typeface="Calibri"/>
                          <a:cs typeface="Times New Roman"/>
                        </a:rPr>
                        <a:t>1002</a:t>
                      </a:r>
                    </a:p>
                  </a:txBody>
                  <a:tcPr marL="89065" marR="890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a:latin typeface="Calibri"/>
                          <a:ea typeface="Calibri"/>
                          <a:cs typeface="Times New Roman"/>
                        </a:rPr>
                        <a:t>Finance</a:t>
                      </a:r>
                    </a:p>
                  </a:txBody>
                  <a:tcPr marL="89065" marR="890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latin typeface="Calibri"/>
                          <a:ea typeface="Calibri"/>
                          <a:cs typeface="Times New Roman"/>
                        </a:rPr>
                        <a:t>836-3234</a:t>
                      </a:r>
                    </a:p>
                  </a:txBody>
                  <a:tcPr marL="89065" marR="890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7714">
                <a:tc>
                  <a:txBody>
                    <a:bodyPr/>
                    <a:lstStyle/>
                    <a:p>
                      <a:pPr marL="0" marR="0">
                        <a:spcBef>
                          <a:spcPts val="0"/>
                        </a:spcBef>
                        <a:spcAft>
                          <a:spcPts val="0"/>
                        </a:spcAft>
                      </a:pPr>
                      <a:r>
                        <a:rPr lang="en-US" sz="1400">
                          <a:latin typeface="Calibri"/>
                          <a:ea typeface="Calibri"/>
                          <a:cs typeface="Times New Roman"/>
                        </a:rPr>
                        <a:t>1003</a:t>
                      </a:r>
                    </a:p>
                  </a:txBody>
                  <a:tcPr marL="89065" marR="890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a:latin typeface="Calibri"/>
                          <a:ea typeface="Calibri"/>
                          <a:cs typeface="Times New Roman"/>
                        </a:rPr>
                        <a:t>Marketing</a:t>
                      </a:r>
                    </a:p>
                  </a:txBody>
                  <a:tcPr marL="89065" marR="890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latin typeface="Calibri"/>
                          <a:ea typeface="Calibri"/>
                          <a:cs typeface="Times New Roman"/>
                        </a:rPr>
                        <a:t>836-4234</a:t>
                      </a:r>
                    </a:p>
                  </a:txBody>
                  <a:tcPr marL="89065" marR="8906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1" name="Table 10"/>
          <p:cNvGraphicFramePr>
            <a:graphicFrameLocks noGrp="1"/>
          </p:cNvGraphicFramePr>
          <p:nvPr/>
        </p:nvGraphicFramePr>
        <p:xfrm>
          <a:off x="4153381" y="4480560"/>
          <a:ext cx="4520085" cy="2057400"/>
        </p:xfrm>
        <a:graphic>
          <a:graphicData uri="http://schemas.openxmlformats.org/drawingml/2006/table">
            <a:tbl>
              <a:tblPr/>
              <a:tblGrid>
                <a:gridCol w="787297"/>
                <a:gridCol w="1470596"/>
                <a:gridCol w="1442663"/>
                <a:gridCol w="819529"/>
              </a:tblGrid>
              <a:tr h="226907">
                <a:tc gridSpan="4">
                  <a:txBody>
                    <a:bodyPr/>
                    <a:lstStyle/>
                    <a:p>
                      <a:pPr marL="0" marR="0">
                        <a:spcBef>
                          <a:spcPts val="0"/>
                        </a:spcBef>
                        <a:spcAft>
                          <a:spcPts val="0"/>
                        </a:spcAft>
                      </a:pPr>
                      <a:r>
                        <a:rPr lang="en-US" sz="1500" b="1" dirty="0">
                          <a:latin typeface="Calibri"/>
                          <a:ea typeface="Calibri"/>
                          <a:cs typeface="Times New Roman"/>
                        </a:rPr>
                        <a:t>EMPLOYEE</a:t>
                      </a:r>
                      <a:endParaRPr lang="en-US" sz="1500" dirty="0">
                        <a:latin typeface="Calibri"/>
                        <a:ea typeface="Calibri"/>
                        <a:cs typeface="Times New Roman"/>
                      </a:endParaRP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226907">
                <a:tc>
                  <a:txBody>
                    <a:bodyPr/>
                    <a:lstStyle/>
                    <a:p>
                      <a:pPr marL="0" marR="0">
                        <a:spcBef>
                          <a:spcPts val="0"/>
                        </a:spcBef>
                        <a:spcAft>
                          <a:spcPts val="0"/>
                        </a:spcAft>
                      </a:pPr>
                      <a:r>
                        <a:rPr lang="en-US" sz="1500" b="1" dirty="0" err="1">
                          <a:latin typeface="Calibri"/>
                          <a:ea typeface="Calibri"/>
                          <a:cs typeface="Times New Roman"/>
                        </a:rPr>
                        <a:t>Emp</a:t>
                      </a:r>
                      <a:r>
                        <a:rPr lang="en-US" sz="1500" b="1" dirty="0">
                          <a:latin typeface="Calibri"/>
                          <a:ea typeface="Calibri"/>
                          <a:cs typeface="Times New Roman"/>
                        </a:rPr>
                        <a:t> ID</a:t>
                      </a:r>
                      <a:endParaRPr lang="en-US" sz="1500" dirty="0">
                        <a:latin typeface="Calibri"/>
                        <a:ea typeface="Calibri"/>
                        <a:cs typeface="Times New Roman"/>
                      </a:endParaRP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3E3FF"/>
                    </a:solidFill>
                  </a:tcPr>
                </a:tc>
                <a:tc>
                  <a:txBody>
                    <a:bodyPr/>
                    <a:lstStyle/>
                    <a:p>
                      <a:pPr marL="0" marR="0">
                        <a:spcBef>
                          <a:spcPts val="0"/>
                        </a:spcBef>
                        <a:spcAft>
                          <a:spcPts val="0"/>
                        </a:spcAft>
                      </a:pPr>
                      <a:r>
                        <a:rPr lang="en-US" sz="1500" b="1">
                          <a:latin typeface="Calibri"/>
                          <a:ea typeface="Calibri"/>
                          <a:cs typeface="Times New Roman"/>
                        </a:rPr>
                        <a:t>Emp First Name</a:t>
                      </a:r>
                      <a:endParaRPr lang="en-US" sz="1500">
                        <a:latin typeface="Calibri"/>
                        <a:ea typeface="Calibri"/>
                        <a:cs typeface="Times New Roman"/>
                      </a:endParaRP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b="1">
                          <a:latin typeface="Calibri"/>
                          <a:ea typeface="Calibri"/>
                          <a:cs typeface="Times New Roman"/>
                        </a:rPr>
                        <a:t>Emp Last Name</a:t>
                      </a:r>
                      <a:endParaRPr lang="en-US" sz="1500">
                        <a:latin typeface="Calibri"/>
                        <a:ea typeface="Calibri"/>
                        <a:cs typeface="Times New Roman"/>
                      </a:endParaRP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b="1" dirty="0">
                          <a:latin typeface="Calibri"/>
                          <a:ea typeface="Calibri"/>
                          <a:cs typeface="Times New Roman"/>
                        </a:rPr>
                        <a:t>Dept ID</a:t>
                      </a:r>
                      <a:endParaRPr lang="en-US" sz="1500" dirty="0">
                        <a:latin typeface="Calibri"/>
                        <a:ea typeface="Calibri"/>
                        <a:cs typeface="Times New Roman"/>
                      </a:endParaRP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r>
              <a:tr h="226907">
                <a:tc>
                  <a:txBody>
                    <a:bodyPr/>
                    <a:lstStyle/>
                    <a:p>
                      <a:pPr marL="0" marR="0">
                        <a:spcBef>
                          <a:spcPts val="0"/>
                        </a:spcBef>
                        <a:spcAft>
                          <a:spcPts val="0"/>
                        </a:spcAft>
                      </a:pPr>
                      <a:r>
                        <a:rPr lang="en-US" sz="1500">
                          <a:latin typeface="Calibri"/>
                          <a:ea typeface="Calibri"/>
                          <a:cs typeface="Times New Roman"/>
                        </a:rPr>
                        <a:t>10</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Joe</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Brown</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1001</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6907">
                <a:tc>
                  <a:txBody>
                    <a:bodyPr/>
                    <a:lstStyle/>
                    <a:p>
                      <a:pPr marL="0" marR="0">
                        <a:spcBef>
                          <a:spcPts val="0"/>
                        </a:spcBef>
                        <a:spcAft>
                          <a:spcPts val="0"/>
                        </a:spcAft>
                      </a:pPr>
                      <a:r>
                        <a:rPr lang="en-US" sz="1500">
                          <a:latin typeface="Calibri"/>
                          <a:ea typeface="Calibri"/>
                          <a:cs typeface="Times New Roman"/>
                        </a:rPr>
                        <a:t>11</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Jill</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Smith</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1001</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6907">
                <a:tc>
                  <a:txBody>
                    <a:bodyPr/>
                    <a:lstStyle/>
                    <a:p>
                      <a:pPr marL="0" marR="0">
                        <a:spcBef>
                          <a:spcPts val="0"/>
                        </a:spcBef>
                        <a:spcAft>
                          <a:spcPts val="0"/>
                        </a:spcAft>
                      </a:pPr>
                      <a:r>
                        <a:rPr lang="en-US" sz="1500">
                          <a:latin typeface="Calibri"/>
                          <a:ea typeface="Calibri"/>
                          <a:cs typeface="Times New Roman"/>
                        </a:rPr>
                        <a:t>12</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Bob </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Johnson</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1000</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6907">
                <a:tc>
                  <a:txBody>
                    <a:bodyPr/>
                    <a:lstStyle/>
                    <a:p>
                      <a:pPr marL="0" marR="0">
                        <a:spcBef>
                          <a:spcPts val="0"/>
                        </a:spcBef>
                        <a:spcAft>
                          <a:spcPts val="0"/>
                        </a:spcAft>
                      </a:pPr>
                      <a:r>
                        <a:rPr lang="en-US" sz="1500">
                          <a:latin typeface="Calibri"/>
                          <a:ea typeface="Calibri"/>
                          <a:cs typeface="Times New Roman"/>
                        </a:rPr>
                        <a:t>13</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Mary </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Johansen</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1003</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6907">
                <a:tc>
                  <a:txBody>
                    <a:bodyPr/>
                    <a:lstStyle/>
                    <a:p>
                      <a:pPr marL="0" marR="0">
                        <a:spcBef>
                          <a:spcPts val="0"/>
                        </a:spcBef>
                        <a:spcAft>
                          <a:spcPts val="0"/>
                        </a:spcAft>
                      </a:pPr>
                      <a:r>
                        <a:rPr lang="en-US" sz="1500">
                          <a:latin typeface="Calibri"/>
                          <a:ea typeface="Calibri"/>
                          <a:cs typeface="Times New Roman"/>
                        </a:rPr>
                        <a:t>14</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Maxine</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Brown</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1000</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6907">
                <a:tc>
                  <a:txBody>
                    <a:bodyPr/>
                    <a:lstStyle/>
                    <a:p>
                      <a:pPr marL="0" marR="0">
                        <a:spcBef>
                          <a:spcPts val="0"/>
                        </a:spcBef>
                        <a:spcAft>
                          <a:spcPts val="0"/>
                        </a:spcAft>
                      </a:pPr>
                      <a:r>
                        <a:rPr lang="en-US" sz="1500">
                          <a:latin typeface="Calibri"/>
                          <a:ea typeface="Calibri"/>
                          <a:cs typeface="Times New Roman"/>
                        </a:rPr>
                        <a:t>15</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Guy</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Schmidt</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1002</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6907">
                <a:tc>
                  <a:txBody>
                    <a:bodyPr/>
                    <a:lstStyle/>
                    <a:p>
                      <a:pPr marL="0" marR="0">
                        <a:spcBef>
                          <a:spcPts val="0"/>
                        </a:spcBef>
                        <a:spcAft>
                          <a:spcPts val="0"/>
                        </a:spcAft>
                      </a:pPr>
                      <a:r>
                        <a:rPr lang="en-US" sz="1500">
                          <a:latin typeface="Calibri"/>
                          <a:ea typeface="Calibri"/>
                          <a:cs typeface="Times New Roman"/>
                        </a:rPr>
                        <a:t>16</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Bob</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Black</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dirty="0">
                          <a:latin typeface="Calibri"/>
                          <a:ea typeface="Calibri"/>
                          <a:cs typeface="Times New Roman"/>
                        </a:rPr>
                        <a:t>1000</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2050" name="Picture 2"/>
          <p:cNvPicPr>
            <a:picLocks noChangeAspect="1" noChangeArrowheads="1"/>
          </p:cNvPicPr>
          <p:nvPr/>
        </p:nvPicPr>
        <p:blipFill>
          <a:blip r:embed="rId2" cstate="print"/>
          <a:srcRect/>
          <a:stretch>
            <a:fillRect/>
          </a:stretch>
        </p:blipFill>
        <p:spPr bwMode="auto">
          <a:xfrm>
            <a:off x="3276601" y="1371600"/>
            <a:ext cx="4876800" cy="147947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Cardinality Implemented: 1:1</a:t>
            </a:r>
            <a:endParaRPr lang="en-US" dirty="0"/>
          </a:p>
        </p:txBody>
      </p:sp>
      <p:graphicFrame>
        <p:nvGraphicFramePr>
          <p:cNvPr id="11" name="Table 10"/>
          <p:cNvGraphicFramePr>
            <a:graphicFrameLocks noGrp="1"/>
          </p:cNvGraphicFramePr>
          <p:nvPr/>
        </p:nvGraphicFramePr>
        <p:xfrm>
          <a:off x="457200" y="3124200"/>
          <a:ext cx="4520085" cy="2057400"/>
        </p:xfrm>
        <a:graphic>
          <a:graphicData uri="http://schemas.openxmlformats.org/drawingml/2006/table">
            <a:tbl>
              <a:tblPr/>
              <a:tblGrid>
                <a:gridCol w="787297"/>
                <a:gridCol w="1470596"/>
                <a:gridCol w="1442663"/>
                <a:gridCol w="819529"/>
              </a:tblGrid>
              <a:tr h="226907">
                <a:tc gridSpan="4">
                  <a:txBody>
                    <a:bodyPr/>
                    <a:lstStyle/>
                    <a:p>
                      <a:pPr marL="0" marR="0">
                        <a:spcBef>
                          <a:spcPts val="0"/>
                        </a:spcBef>
                        <a:spcAft>
                          <a:spcPts val="0"/>
                        </a:spcAft>
                      </a:pPr>
                      <a:r>
                        <a:rPr lang="en-US" sz="1500" b="1" dirty="0">
                          <a:latin typeface="Calibri"/>
                          <a:ea typeface="Calibri"/>
                          <a:cs typeface="Times New Roman"/>
                        </a:rPr>
                        <a:t>EMPLOYEE</a:t>
                      </a:r>
                      <a:endParaRPr lang="en-US" sz="1500" dirty="0">
                        <a:latin typeface="Calibri"/>
                        <a:ea typeface="Calibri"/>
                        <a:cs typeface="Times New Roman"/>
                      </a:endParaRP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r>
              <a:tr h="226907">
                <a:tc>
                  <a:txBody>
                    <a:bodyPr/>
                    <a:lstStyle/>
                    <a:p>
                      <a:pPr marL="0" marR="0">
                        <a:spcBef>
                          <a:spcPts val="0"/>
                        </a:spcBef>
                        <a:spcAft>
                          <a:spcPts val="0"/>
                        </a:spcAft>
                      </a:pPr>
                      <a:r>
                        <a:rPr lang="en-US" sz="1500" b="1" dirty="0" err="1">
                          <a:latin typeface="Calibri"/>
                          <a:ea typeface="Calibri"/>
                          <a:cs typeface="Times New Roman"/>
                        </a:rPr>
                        <a:t>Emp</a:t>
                      </a:r>
                      <a:r>
                        <a:rPr lang="en-US" sz="1500" b="1" dirty="0">
                          <a:latin typeface="Calibri"/>
                          <a:ea typeface="Calibri"/>
                          <a:cs typeface="Times New Roman"/>
                        </a:rPr>
                        <a:t> ID</a:t>
                      </a:r>
                      <a:endParaRPr lang="en-US" sz="1500" dirty="0">
                        <a:latin typeface="Calibri"/>
                        <a:ea typeface="Calibri"/>
                        <a:cs typeface="Times New Roman"/>
                      </a:endParaRP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3E3FF"/>
                    </a:solidFill>
                  </a:tcPr>
                </a:tc>
                <a:tc>
                  <a:txBody>
                    <a:bodyPr/>
                    <a:lstStyle/>
                    <a:p>
                      <a:pPr marL="0" marR="0">
                        <a:spcBef>
                          <a:spcPts val="0"/>
                        </a:spcBef>
                        <a:spcAft>
                          <a:spcPts val="0"/>
                        </a:spcAft>
                      </a:pPr>
                      <a:r>
                        <a:rPr lang="en-US" sz="1500" b="1">
                          <a:latin typeface="Calibri"/>
                          <a:ea typeface="Calibri"/>
                          <a:cs typeface="Times New Roman"/>
                        </a:rPr>
                        <a:t>Emp First Name</a:t>
                      </a:r>
                      <a:endParaRPr lang="en-US" sz="1500">
                        <a:latin typeface="Calibri"/>
                        <a:ea typeface="Calibri"/>
                        <a:cs typeface="Times New Roman"/>
                      </a:endParaRP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b="1">
                          <a:latin typeface="Calibri"/>
                          <a:ea typeface="Calibri"/>
                          <a:cs typeface="Times New Roman"/>
                        </a:rPr>
                        <a:t>Emp Last Name</a:t>
                      </a:r>
                      <a:endParaRPr lang="en-US" sz="1500">
                        <a:latin typeface="Calibri"/>
                        <a:ea typeface="Calibri"/>
                        <a:cs typeface="Times New Roman"/>
                      </a:endParaRP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b="1" dirty="0">
                          <a:latin typeface="Calibri"/>
                          <a:ea typeface="Calibri"/>
                          <a:cs typeface="Times New Roman"/>
                        </a:rPr>
                        <a:t>Dept ID</a:t>
                      </a:r>
                      <a:endParaRPr lang="en-US" sz="1500" dirty="0">
                        <a:latin typeface="Calibri"/>
                        <a:ea typeface="Calibri"/>
                        <a:cs typeface="Times New Roman"/>
                      </a:endParaRP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r>
              <a:tr h="226907">
                <a:tc>
                  <a:txBody>
                    <a:bodyPr/>
                    <a:lstStyle/>
                    <a:p>
                      <a:pPr marL="0" marR="0">
                        <a:spcBef>
                          <a:spcPts val="0"/>
                        </a:spcBef>
                        <a:spcAft>
                          <a:spcPts val="0"/>
                        </a:spcAft>
                      </a:pPr>
                      <a:r>
                        <a:rPr lang="en-US" sz="1500">
                          <a:latin typeface="Calibri"/>
                          <a:ea typeface="Calibri"/>
                          <a:cs typeface="Times New Roman"/>
                        </a:rPr>
                        <a:t>10</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Joe</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Brown</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1001</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6907">
                <a:tc>
                  <a:txBody>
                    <a:bodyPr/>
                    <a:lstStyle/>
                    <a:p>
                      <a:pPr marL="0" marR="0">
                        <a:spcBef>
                          <a:spcPts val="0"/>
                        </a:spcBef>
                        <a:spcAft>
                          <a:spcPts val="0"/>
                        </a:spcAft>
                      </a:pPr>
                      <a:r>
                        <a:rPr lang="en-US" sz="1500">
                          <a:latin typeface="Calibri"/>
                          <a:ea typeface="Calibri"/>
                          <a:cs typeface="Times New Roman"/>
                        </a:rPr>
                        <a:t>11</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Jill</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Smith</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1001</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6907">
                <a:tc>
                  <a:txBody>
                    <a:bodyPr/>
                    <a:lstStyle/>
                    <a:p>
                      <a:pPr marL="0" marR="0">
                        <a:spcBef>
                          <a:spcPts val="0"/>
                        </a:spcBef>
                        <a:spcAft>
                          <a:spcPts val="0"/>
                        </a:spcAft>
                      </a:pPr>
                      <a:r>
                        <a:rPr lang="en-US" sz="1500">
                          <a:latin typeface="Calibri"/>
                          <a:ea typeface="Calibri"/>
                          <a:cs typeface="Times New Roman"/>
                        </a:rPr>
                        <a:t>12</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Bob </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Johnson</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1000</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6907">
                <a:tc>
                  <a:txBody>
                    <a:bodyPr/>
                    <a:lstStyle/>
                    <a:p>
                      <a:pPr marL="0" marR="0">
                        <a:spcBef>
                          <a:spcPts val="0"/>
                        </a:spcBef>
                        <a:spcAft>
                          <a:spcPts val="0"/>
                        </a:spcAft>
                      </a:pPr>
                      <a:r>
                        <a:rPr lang="en-US" sz="1500">
                          <a:latin typeface="Calibri"/>
                          <a:ea typeface="Calibri"/>
                          <a:cs typeface="Times New Roman"/>
                        </a:rPr>
                        <a:t>13</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Mary </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Johansen</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1003</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6907">
                <a:tc>
                  <a:txBody>
                    <a:bodyPr/>
                    <a:lstStyle/>
                    <a:p>
                      <a:pPr marL="0" marR="0">
                        <a:spcBef>
                          <a:spcPts val="0"/>
                        </a:spcBef>
                        <a:spcAft>
                          <a:spcPts val="0"/>
                        </a:spcAft>
                      </a:pPr>
                      <a:r>
                        <a:rPr lang="en-US" sz="1500">
                          <a:latin typeface="Calibri"/>
                          <a:ea typeface="Calibri"/>
                          <a:cs typeface="Times New Roman"/>
                        </a:rPr>
                        <a:t>14</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Maxine</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Brown</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1000</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6907">
                <a:tc>
                  <a:txBody>
                    <a:bodyPr/>
                    <a:lstStyle/>
                    <a:p>
                      <a:pPr marL="0" marR="0">
                        <a:spcBef>
                          <a:spcPts val="0"/>
                        </a:spcBef>
                        <a:spcAft>
                          <a:spcPts val="0"/>
                        </a:spcAft>
                      </a:pPr>
                      <a:r>
                        <a:rPr lang="en-US" sz="1500">
                          <a:latin typeface="Calibri"/>
                          <a:ea typeface="Calibri"/>
                          <a:cs typeface="Times New Roman"/>
                        </a:rPr>
                        <a:t>15</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Guy</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Schmidt</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1002</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6907">
                <a:tc>
                  <a:txBody>
                    <a:bodyPr/>
                    <a:lstStyle/>
                    <a:p>
                      <a:pPr marL="0" marR="0">
                        <a:spcBef>
                          <a:spcPts val="0"/>
                        </a:spcBef>
                        <a:spcAft>
                          <a:spcPts val="0"/>
                        </a:spcAft>
                      </a:pPr>
                      <a:r>
                        <a:rPr lang="en-US" sz="1500">
                          <a:latin typeface="Calibri"/>
                          <a:ea typeface="Calibri"/>
                          <a:cs typeface="Times New Roman"/>
                        </a:rPr>
                        <a:t>16</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dirty="0">
                          <a:latin typeface="Calibri"/>
                          <a:ea typeface="Calibri"/>
                          <a:cs typeface="Times New Roman"/>
                        </a:rPr>
                        <a:t>Bob</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Black</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dirty="0">
                          <a:latin typeface="Calibri"/>
                          <a:ea typeface="Calibri"/>
                          <a:cs typeface="Times New Roman"/>
                        </a:rPr>
                        <a:t>1000</a:t>
                      </a:r>
                    </a:p>
                  </a:txBody>
                  <a:tcPr marL="92825" marR="928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graphicFrame>
        <p:nvGraphicFramePr>
          <p:cNvPr id="14" name="Table 13"/>
          <p:cNvGraphicFramePr>
            <a:graphicFrameLocks noGrp="1"/>
          </p:cNvGraphicFramePr>
          <p:nvPr/>
        </p:nvGraphicFramePr>
        <p:xfrm>
          <a:off x="5486400" y="4191000"/>
          <a:ext cx="3134110" cy="2057400"/>
        </p:xfrm>
        <a:graphic>
          <a:graphicData uri="http://schemas.openxmlformats.org/drawingml/2006/table">
            <a:tbl>
              <a:tblPr/>
              <a:tblGrid>
                <a:gridCol w="795049"/>
                <a:gridCol w="966085"/>
                <a:gridCol w="1372976"/>
              </a:tblGrid>
              <a:tr h="228600">
                <a:tc gridSpan="3">
                  <a:txBody>
                    <a:bodyPr/>
                    <a:lstStyle/>
                    <a:p>
                      <a:pPr marL="0" marR="0">
                        <a:spcBef>
                          <a:spcPts val="0"/>
                        </a:spcBef>
                        <a:spcAft>
                          <a:spcPts val="0"/>
                        </a:spcAft>
                      </a:pPr>
                      <a:r>
                        <a:rPr lang="en-US" sz="1500" b="1" dirty="0" smtClean="0">
                          <a:latin typeface="Calibri"/>
                          <a:ea typeface="Calibri"/>
                          <a:cs typeface="Times New Roman"/>
                        </a:rPr>
                        <a:t>SECURITY</a:t>
                      </a:r>
                      <a:r>
                        <a:rPr lang="en-US" sz="1500" b="1" baseline="0" dirty="0" smtClean="0">
                          <a:latin typeface="Calibri"/>
                          <a:ea typeface="Calibri"/>
                          <a:cs typeface="Times New Roman"/>
                        </a:rPr>
                        <a:t> BADGE</a:t>
                      </a:r>
                      <a:endParaRPr lang="en-US" sz="1500" dirty="0">
                        <a:latin typeface="Calibri"/>
                        <a:ea typeface="Calibri"/>
                        <a:cs typeface="Times New Roman"/>
                      </a:endParaRP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hMerge="1">
                  <a:txBody>
                    <a:bodyPr/>
                    <a:lstStyle/>
                    <a:p>
                      <a:endParaRPr lang="en-US"/>
                    </a:p>
                  </a:txBody>
                  <a:tcPr/>
                </a:tc>
              </a:tr>
              <a:tr h="76200">
                <a:tc>
                  <a:txBody>
                    <a:bodyPr/>
                    <a:lstStyle/>
                    <a:p>
                      <a:pPr marL="0" marR="0">
                        <a:spcBef>
                          <a:spcPts val="0"/>
                        </a:spcBef>
                        <a:spcAft>
                          <a:spcPts val="0"/>
                        </a:spcAft>
                      </a:pPr>
                      <a:r>
                        <a:rPr lang="en-US" sz="1500" b="1" dirty="0" err="1">
                          <a:latin typeface="Calibri"/>
                          <a:ea typeface="Calibri"/>
                          <a:cs typeface="Times New Roman"/>
                        </a:rPr>
                        <a:t>Emp</a:t>
                      </a:r>
                      <a:r>
                        <a:rPr lang="en-US" sz="1500" b="1" dirty="0">
                          <a:latin typeface="Calibri"/>
                          <a:ea typeface="Calibri"/>
                          <a:cs typeface="Times New Roman"/>
                        </a:rPr>
                        <a:t> ID</a:t>
                      </a:r>
                      <a:endParaRPr lang="en-US" sz="1500" dirty="0">
                        <a:latin typeface="Calibri"/>
                        <a:ea typeface="Calibri"/>
                        <a:cs typeface="Times New Roman"/>
                      </a:endParaRP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3E3FF"/>
                    </a:solidFill>
                  </a:tcPr>
                </a:tc>
                <a:tc>
                  <a:txBody>
                    <a:bodyPr/>
                    <a:lstStyle/>
                    <a:p>
                      <a:pPr marL="0" marR="0">
                        <a:spcBef>
                          <a:spcPts val="0"/>
                        </a:spcBef>
                        <a:spcAft>
                          <a:spcPts val="0"/>
                        </a:spcAft>
                      </a:pPr>
                      <a:r>
                        <a:rPr lang="en-US" sz="1500" b="1" dirty="0" smtClean="0">
                          <a:latin typeface="Calibri"/>
                          <a:ea typeface="Calibri"/>
                          <a:cs typeface="Times New Roman"/>
                        </a:rPr>
                        <a:t>Badge #</a:t>
                      </a:r>
                      <a:endParaRPr lang="en-US" sz="1500" b="1" dirty="0">
                        <a:latin typeface="Calibri"/>
                        <a:ea typeface="Calibri"/>
                        <a:cs typeface="Times New Roman"/>
                      </a:endParaRP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b="1" dirty="0">
                          <a:latin typeface="Calibri"/>
                          <a:ea typeface="Calibri"/>
                          <a:cs typeface="Times New Roman"/>
                        </a:rPr>
                        <a:t>Date Assigned</a:t>
                      </a:r>
                      <a:endParaRPr lang="en-US" sz="1500" dirty="0">
                        <a:latin typeface="Calibri"/>
                        <a:ea typeface="Calibri"/>
                        <a:cs typeface="Times New Roman"/>
                      </a:endParaRP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spcBef>
                          <a:spcPts val="0"/>
                        </a:spcBef>
                        <a:spcAft>
                          <a:spcPts val="0"/>
                        </a:spcAft>
                      </a:pPr>
                      <a:r>
                        <a:rPr lang="en-US" sz="1500">
                          <a:latin typeface="Calibri"/>
                          <a:ea typeface="Calibri"/>
                          <a:cs typeface="Times New Roman"/>
                        </a:rPr>
                        <a:t>10</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dirty="0">
                          <a:latin typeface="Calibri"/>
                          <a:ea typeface="Calibri"/>
                          <a:cs typeface="Times New Roman"/>
                        </a:rPr>
                        <a:t>A5</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01/02/2004</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spcBef>
                          <a:spcPts val="0"/>
                        </a:spcBef>
                        <a:spcAft>
                          <a:spcPts val="0"/>
                        </a:spcAft>
                      </a:pPr>
                      <a:r>
                        <a:rPr lang="en-US" sz="1500">
                          <a:latin typeface="Calibri"/>
                          <a:ea typeface="Calibri"/>
                          <a:cs typeface="Times New Roman"/>
                        </a:rPr>
                        <a:t>11</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dirty="0">
                          <a:latin typeface="Calibri"/>
                          <a:ea typeface="Calibri"/>
                          <a:cs typeface="Times New Roman"/>
                        </a:rPr>
                        <a:t>A17</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01/02/2004</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spcBef>
                          <a:spcPts val="0"/>
                        </a:spcBef>
                        <a:spcAft>
                          <a:spcPts val="0"/>
                        </a:spcAft>
                      </a:pPr>
                      <a:r>
                        <a:rPr lang="en-US" sz="1500">
                          <a:latin typeface="Calibri"/>
                          <a:ea typeface="Calibri"/>
                          <a:cs typeface="Times New Roman"/>
                        </a:rPr>
                        <a:t>12</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dirty="0">
                          <a:latin typeface="Calibri"/>
                          <a:ea typeface="Calibri"/>
                          <a:cs typeface="Times New Roman"/>
                        </a:rPr>
                        <a:t>B3</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05/01/2005</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spcBef>
                          <a:spcPts val="0"/>
                        </a:spcBef>
                        <a:spcAft>
                          <a:spcPts val="0"/>
                        </a:spcAft>
                      </a:pPr>
                      <a:r>
                        <a:rPr lang="en-US" sz="1500">
                          <a:latin typeface="Calibri"/>
                          <a:ea typeface="Calibri"/>
                          <a:cs typeface="Times New Roman"/>
                        </a:rPr>
                        <a:t>13</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dirty="0">
                          <a:latin typeface="Calibri"/>
                          <a:ea typeface="Calibri"/>
                          <a:cs typeface="Times New Roman"/>
                        </a:rPr>
                        <a:t>C1</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08/01/2007</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spcBef>
                          <a:spcPts val="0"/>
                        </a:spcBef>
                        <a:spcAft>
                          <a:spcPts val="0"/>
                        </a:spcAft>
                      </a:pPr>
                      <a:r>
                        <a:rPr lang="en-US" sz="1500">
                          <a:latin typeface="Calibri"/>
                          <a:ea typeface="Calibri"/>
                          <a:cs typeface="Times New Roman"/>
                        </a:rPr>
                        <a:t>14</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dirty="0">
                          <a:latin typeface="Calibri"/>
                          <a:ea typeface="Calibri"/>
                          <a:cs typeface="Times New Roman"/>
                        </a:rPr>
                        <a:t>A7</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a:latin typeface="Calibri"/>
                          <a:ea typeface="Calibri"/>
                          <a:cs typeface="Times New Roman"/>
                        </a:rPr>
                        <a:t>06/01/2004</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spcBef>
                          <a:spcPts val="0"/>
                        </a:spcBef>
                        <a:spcAft>
                          <a:spcPts val="0"/>
                        </a:spcAft>
                      </a:pPr>
                      <a:r>
                        <a:rPr lang="en-US" sz="1500">
                          <a:latin typeface="Calibri"/>
                          <a:ea typeface="Calibri"/>
                          <a:cs typeface="Times New Roman"/>
                        </a:rPr>
                        <a:t>15</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dirty="0">
                          <a:latin typeface="Calibri"/>
                          <a:ea typeface="Calibri"/>
                          <a:cs typeface="Times New Roman"/>
                        </a:rPr>
                        <a:t>D23</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dirty="0">
                          <a:latin typeface="Calibri"/>
                          <a:ea typeface="Calibri"/>
                          <a:cs typeface="Times New Roman"/>
                        </a:rPr>
                        <a:t>12/15/2007</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00">
                <a:tc>
                  <a:txBody>
                    <a:bodyPr/>
                    <a:lstStyle/>
                    <a:p>
                      <a:pPr marL="0" marR="0">
                        <a:spcBef>
                          <a:spcPts val="0"/>
                        </a:spcBef>
                        <a:spcAft>
                          <a:spcPts val="0"/>
                        </a:spcAft>
                      </a:pPr>
                      <a:r>
                        <a:rPr lang="en-US" sz="1500" dirty="0" smtClean="0">
                          <a:latin typeface="Calibri"/>
                          <a:ea typeface="Calibri"/>
                          <a:cs typeface="Times New Roman"/>
                        </a:rPr>
                        <a:t>16</a:t>
                      </a:r>
                      <a:endParaRPr lang="en-US" sz="1500" dirty="0">
                        <a:latin typeface="Calibri"/>
                        <a:ea typeface="Calibri"/>
                        <a:cs typeface="Times New Roman"/>
                      </a:endParaRP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dirty="0">
                          <a:latin typeface="Calibri"/>
                          <a:ea typeface="Calibri"/>
                          <a:cs typeface="Times New Roman"/>
                        </a:rPr>
                        <a:t>B4</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500" dirty="0">
                          <a:latin typeface="Calibri"/>
                          <a:ea typeface="Calibri"/>
                          <a:cs typeface="Times New Roman"/>
                        </a:rPr>
                        <a:t>02/15/2008</a:t>
                      </a:r>
                    </a:p>
                  </a:txBody>
                  <a:tcPr marL="93518" marR="9351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6" name="TextBox 5"/>
          <p:cNvSpPr txBox="1"/>
          <p:nvPr/>
        </p:nvSpPr>
        <p:spPr>
          <a:xfrm>
            <a:off x="2438400" y="2667000"/>
            <a:ext cx="373820" cy="261610"/>
          </a:xfrm>
          <a:prstGeom prst="rect">
            <a:avLst/>
          </a:prstGeom>
          <a:noFill/>
        </p:spPr>
        <p:txBody>
          <a:bodyPr wrap="none" rtlCol="0">
            <a:spAutoFit/>
          </a:bodyPr>
          <a:lstStyle/>
          <a:p>
            <a:r>
              <a:rPr lang="en-US" sz="1050" b="1" dirty="0" smtClean="0">
                <a:latin typeface="Arial" pitchFamily="34" charset="0"/>
                <a:cs typeface="Arial" pitchFamily="34" charset="0"/>
              </a:rPr>
              <a:t>FK</a:t>
            </a:r>
            <a:endParaRPr lang="en-US" sz="1050" b="1" dirty="0">
              <a:latin typeface="Arial" pitchFamily="34" charset="0"/>
              <a:cs typeface="Arial" pitchFamily="34" charset="0"/>
            </a:endParaRPr>
          </a:p>
        </p:txBody>
      </p:sp>
      <p:pic>
        <p:nvPicPr>
          <p:cNvPr id="1026" name="Picture 2"/>
          <p:cNvPicPr>
            <a:picLocks noChangeAspect="1" noChangeArrowheads="1"/>
          </p:cNvPicPr>
          <p:nvPr/>
        </p:nvPicPr>
        <p:blipFill>
          <a:blip r:embed="rId2" cstate="print"/>
          <a:srcRect/>
          <a:stretch>
            <a:fillRect/>
          </a:stretch>
        </p:blipFill>
        <p:spPr bwMode="auto">
          <a:xfrm>
            <a:off x="2057400" y="1447800"/>
            <a:ext cx="6412089" cy="1524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normAutofit/>
          </a:bodyPr>
          <a:lstStyle/>
          <a:p>
            <a:r>
              <a:rPr lang="en-US" dirty="0" smtClean="0"/>
              <a:t>Participation in Relationships</a:t>
            </a:r>
            <a:endParaRPr lang="en-US" dirty="0"/>
          </a:p>
        </p:txBody>
      </p:sp>
      <p:sp>
        <p:nvSpPr>
          <p:cNvPr id="48131" name="Rectangle 3"/>
          <p:cNvSpPr>
            <a:spLocks noGrp="1" noChangeArrowheads="1"/>
          </p:cNvSpPr>
          <p:nvPr>
            <p:ph idx="1"/>
          </p:nvPr>
        </p:nvSpPr>
        <p:spPr/>
        <p:txBody>
          <a:bodyPr>
            <a:normAutofit fontScale="85000" lnSpcReduction="20000"/>
          </a:bodyPr>
          <a:lstStyle/>
          <a:p>
            <a:r>
              <a:rPr lang="en-US" sz="2800" dirty="0" smtClean="0"/>
              <a:t>Participation: whether or not every instance of one entity must participate in a relationship with another entity (i.e., whether every PK from Entity 1 is a FK in Entity 2); whether or not the FK is required or can be null.</a:t>
            </a:r>
          </a:p>
          <a:p>
            <a:pPr marL="365760" lvl="1" indent="-256032">
              <a:buClr>
                <a:schemeClr val="accent3"/>
              </a:buClr>
              <a:buFont typeface="Georgia"/>
              <a:buChar char="•"/>
            </a:pPr>
            <a:r>
              <a:rPr lang="en-US" dirty="0"/>
              <a:t>Participation: optional or required	O  or  |</a:t>
            </a:r>
          </a:p>
          <a:p>
            <a:endParaRPr lang="en-US" sz="2800" dirty="0" smtClean="0"/>
          </a:p>
          <a:p>
            <a:r>
              <a:rPr lang="en-US" sz="2800" dirty="0" smtClean="0"/>
              <a:t>Optional participation</a:t>
            </a:r>
          </a:p>
          <a:p>
            <a:pPr lvl="1"/>
            <a:r>
              <a:rPr lang="en-US" sz="2600" dirty="0" smtClean="0"/>
              <a:t>Minimum cardinality is zero</a:t>
            </a:r>
            <a:br>
              <a:rPr lang="en-US" sz="2600" dirty="0" smtClean="0"/>
            </a:br>
            <a:endParaRPr lang="en-US" sz="2600" dirty="0" smtClean="0"/>
          </a:p>
          <a:p>
            <a:r>
              <a:rPr lang="en-US" sz="2800" dirty="0" smtClean="0"/>
              <a:t>Required participation</a:t>
            </a:r>
          </a:p>
          <a:p>
            <a:pPr lvl="1"/>
            <a:r>
              <a:rPr lang="en-US" sz="2600" dirty="0" smtClean="0"/>
              <a:t>Minimum cardinality is one</a:t>
            </a:r>
            <a:br>
              <a:rPr lang="en-US" sz="2600" dirty="0" smtClean="0"/>
            </a:br>
            <a:endParaRPr lang="en-US" sz="2600" dirty="0" smtClean="0"/>
          </a:p>
          <a:p>
            <a:r>
              <a:rPr lang="en-US" dirty="0" smtClean="0"/>
              <a:t>Participation and Minimum/Maximum Cardinality</a:t>
            </a:r>
            <a:endParaRPr lang="en-US" sz="2800" dirty="0"/>
          </a:p>
          <a:p>
            <a:pPr lvl="1"/>
            <a:r>
              <a:rPr lang="en-US" sz="2000" dirty="0"/>
              <a:t>If the </a:t>
            </a:r>
            <a:r>
              <a:rPr lang="en-US" sz="2000" dirty="0" smtClean="0"/>
              <a:t>minimum cardinality </a:t>
            </a:r>
            <a:r>
              <a:rPr lang="en-US" sz="2000" dirty="0"/>
              <a:t>is zero, </a:t>
            </a:r>
            <a:r>
              <a:rPr lang="en-US" sz="2000" dirty="0" smtClean="0"/>
              <a:t>then participation is optional</a:t>
            </a:r>
            <a:endParaRPr lang="en-US" sz="2000" dirty="0"/>
          </a:p>
          <a:p>
            <a:pPr lvl="1"/>
            <a:r>
              <a:rPr lang="en-US" sz="2000" dirty="0"/>
              <a:t>If the minimum </a:t>
            </a:r>
            <a:r>
              <a:rPr lang="en-US" sz="2000" dirty="0" smtClean="0"/>
              <a:t>cardinality is </a:t>
            </a:r>
            <a:r>
              <a:rPr lang="en-US" sz="2000" dirty="0"/>
              <a:t>one, </a:t>
            </a:r>
            <a:r>
              <a:rPr lang="en-US" sz="2000" dirty="0" smtClean="0"/>
              <a:t>then participation is required</a:t>
            </a:r>
          </a:p>
          <a:p>
            <a:pPr lvl="1"/>
            <a:r>
              <a:rPr lang="en-US" sz="2000" dirty="0" smtClean="0"/>
              <a:t>Maximum cardinality has no effect on participation</a:t>
            </a:r>
            <a:endParaRPr lang="en-US" sz="20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4"/>
          <p:cNvSpPr>
            <a:spLocks noGrp="1" noChangeArrowheads="1"/>
          </p:cNvSpPr>
          <p:nvPr>
            <p:ph type="title"/>
          </p:nvPr>
        </p:nvSpPr>
        <p:spPr/>
        <p:txBody>
          <a:bodyPr/>
          <a:lstStyle/>
          <a:p>
            <a:r>
              <a:rPr lang="en-US" smtClean="0"/>
              <a:t>Relationship: Crow’s Foot</a:t>
            </a:r>
          </a:p>
        </p:txBody>
      </p:sp>
      <p:grpSp>
        <p:nvGrpSpPr>
          <p:cNvPr id="88" name="Group 87"/>
          <p:cNvGrpSpPr/>
          <p:nvPr/>
        </p:nvGrpSpPr>
        <p:grpSpPr>
          <a:xfrm>
            <a:off x="304800" y="1449688"/>
            <a:ext cx="7315200" cy="5376562"/>
            <a:chOff x="304800" y="609600"/>
            <a:chExt cx="8458200" cy="6216650"/>
          </a:xfrm>
        </p:grpSpPr>
        <p:sp>
          <p:nvSpPr>
            <p:cNvPr id="23554" name="Rectangle 86"/>
            <p:cNvSpPr>
              <a:spLocks noChangeArrowheads="1"/>
            </p:cNvSpPr>
            <p:nvPr/>
          </p:nvSpPr>
          <p:spPr bwMode="auto">
            <a:xfrm>
              <a:off x="304800" y="1371600"/>
              <a:ext cx="8458200" cy="228600"/>
            </a:xfrm>
            <a:prstGeom prst="rect">
              <a:avLst/>
            </a:prstGeom>
            <a:solidFill>
              <a:schemeClr val="bg1"/>
            </a:solidFill>
            <a:ln w="38100" algn="ctr">
              <a:noFill/>
              <a:round/>
              <a:headEnd/>
              <a:tailEnd/>
            </a:ln>
          </p:spPr>
          <p:txBody>
            <a:bodyPr wrap="none" anchor="ctr"/>
            <a:lstStyle/>
            <a:p>
              <a:endParaRPr lang="en-US"/>
            </a:p>
          </p:txBody>
        </p:sp>
        <p:sp>
          <p:nvSpPr>
            <p:cNvPr id="23556" name="Line 7"/>
            <p:cNvSpPr>
              <a:spLocks noChangeShapeType="1"/>
            </p:cNvSpPr>
            <p:nvPr/>
          </p:nvSpPr>
          <p:spPr bwMode="auto">
            <a:xfrm>
              <a:off x="2362200" y="1035050"/>
              <a:ext cx="3886200" cy="0"/>
            </a:xfrm>
            <a:prstGeom prst="line">
              <a:avLst/>
            </a:prstGeom>
            <a:noFill/>
            <a:ln w="38100">
              <a:solidFill>
                <a:schemeClr val="tx1"/>
              </a:solidFill>
              <a:round/>
              <a:headEnd/>
              <a:tailEnd/>
            </a:ln>
          </p:spPr>
          <p:txBody>
            <a:bodyPr wrap="none" anchor="ctr"/>
            <a:lstStyle/>
            <a:p>
              <a:endParaRPr lang="en-US"/>
            </a:p>
          </p:txBody>
        </p:sp>
        <p:sp>
          <p:nvSpPr>
            <p:cNvPr id="23557" name="Line 8"/>
            <p:cNvSpPr>
              <a:spLocks noChangeShapeType="1"/>
            </p:cNvSpPr>
            <p:nvPr/>
          </p:nvSpPr>
          <p:spPr bwMode="auto">
            <a:xfrm>
              <a:off x="5181600" y="1035050"/>
              <a:ext cx="1143000" cy="0"/>
            </a:xfrm>
            <a:prstGeom prst="line">
              <a:avLst/>
            </a:prstGeom>
            <a:noFill/>
            <a:ln w="38100">
              <a:solidFill>
                <a:schemeClr val="tx1"/>
              </a:solidFill>
              <a:round/>
              <a:headEnd/>
              <a:tailEnd/>
            </a:ln>
          </p:spPr>
          <p:txBody>
            <a:bodyPr wrap="none" anchor="ctr"/>
            <a:lstStyle/>
            <a:p>
              <a:endParaRPr lang="en-US"/>
            </a:p>
          </p:txBody>
        </p:sp>
        <p:sp>
          <p:nvSpPr>
            <p:cNvPr id="23558" name="Line 9"/>
            <p:cNvSpPr>
              <a:spLocks noChangeShapeType="1"/>
            </p:cNvSpPr>
            <p:nvPr/>
          </p:nvSpPr>
          <p:spPr bwMode="auto">
            <a:xfrm>
              <a:off x="2514600" y="844550"/>
              <a:ext cx="0" cy="381000"/>
            </a:xfrm>
            <a:prstGeom prst="line">
              <a:avLst/>
            </a:prstGeom>
            <a:noFill/>
            <a:ln w="38100">
              <a:solidFill>
                <a:schemeClr val="tx1"/>
              </a:solidFill>
              <a:round/>
              <a:headEnd/>
              <a:tailEnd/>
            </a:ln>
          </p:spPr>
          <p:txBody>
            <a:bodyPr wrap="none" anchor="ctr"/>
            <a:lstStyle/>
            <a:p>
              <a:endParaRPr lang="en-US"/>
            </a:p>
          </p:txBody>
        </p:sp>
        <p:sp>
          <p:nvSpPr>
            <p:cNvPr id="23559" name="Line 10"/>
            <p:cNvSpPr>
              <a:spLocks noChangeShapeType="1"/>
            </p:cNvSpPr>
            <p:nvPr/>
          </p:nvSpPr>
          <p:spPr bwMode="auto">
            <a:xfrm>
              <a:off x="6172200" y="844550"/>
              <a:ext cx="0" cy="381000"/>
            </a:xfrm>
            <a:prstGeom prst="line">
              <a:avLst/>
            </a:prstGeom>
            <a:noFill/>
            <a:ln w="38100">
              <a:solidFill>
                <a:schemeClr val="tx1"/>
              </a:solidFill>
              <a:round/>
              <a:headEnd/>
              <a:tailEnd/>
            </a:ln>
          </p:spPr>
          <p:txBody>
            <a:bodyPr wrap="none" anchor="ctr"/>
            <a:lstStyle/>
            <a:p>
              <a:endParaRPr lang="en-US"/>
            </a:p>
          </p:txBody>
        </p:sp>
        <p:sp>
          <p:nvSpPr>
            <p:cNvPr id="23560" name="Line 11"/>
            <p:cNvSpPr>
              <a:spLocks noChangeShapeType="1"/>
            </p:cNvSpPr>
            <p:nvPr/>
          </p:nvSpPr>
          <p:spPr bwMode="auto">
            <a:xfrm>
              <a:off x="2590800" y="844550"/>
              <a:ext cx="0" cy="381000"/>
            </a:xfrm>
            <a:prstGeom prst="line">
              <a:avLst/>
            </a:prstGeom>
            <a:noFill/>
            <a:ln w="38100">
              <a:solidFill>
                <a:schemeClr val="tx1"/>
              </a:solidFill>
              <a:round/>
              <a:headEnd/>
              <a:tailEnd/>
            </a:ln>
          </p:spPr>
          <p:txBody>
            <a:bodyPr wrap="none" anchor="ctr"/>
            <a:lstStyle/>
            <a:p>
              <a:endParaRPr lang="en-US"/>
            </a:p>
          </p:txBody>
        </p:sp>
        <p:sp>
          <p:nvSpPr>
            <p:cNvPr id="23561" name="Line 12"/>
            <p:cNvSpPr>
              <a:spLocks noChangeShapeType="1"/>
            </p:cNvSpPr>
            <p:nvPr/>
          </p:nvSpPr>
          <p:spPr bwMode="auto">
            <a:xfrm>
              <a:off x="6096000" y="844550"/>
              <a:ext cx="0" cy="381000"/>
            </a:xfrm>
            <a:prstGeom prst="line">
              <a:avLst/>
            </a:prstGeom>
            <a:noFill/>
            <a:ln w="38100">
              <a:solidFill>
                <a:schemeClr val="tx1"/>
              </a:solidFill>
              <a:round/>
              <a:headEnd/>
              <a:tailEnd/>
            </a:ln>
          </p:spPr>
          <p:txBody>
            <a:bodyPr wrap="none" anchor="ctr"/>
            <a:lstStyle/>
            <a:p>
              <a:endParaRPr lang="en-US"/>
            </a:p>
          </p:txBody>
        </p:sp>
        <p:grpSp>
          <p:nvGrpSpPr>
            <p:cNvPr id="2" name="Group 13"/>
            <p:cNvGrpSpPr>
              <a:grpSpLocks/>
            </p:cNvGrpSpPr>
            <p:nvPr/>
          </p:nvGrpSpPr>
          <p:grpSpPr bwMode="auto">
            <a:xfrm>
              <a:off x="533400" y="615950"/>
              <a:ext cx="1828800" cy="838200"/>
              <a:chOff x="288" y="1608"/>
              <a:chExt cx="1152" cy="528"/>
            </a:xfrm>
          </p:grpSpPr>
          <p:sp>
            <p:nvSpPr>
              <p:cNvPr id="23638" name="Rectangle 14"/>
              <p:cNvSpPr>
                <a:spLocks noChangeArrowheads="1"/>
              </p:cNvSpPr>
              <p:nvPr/>
            </p:nvSpPr>
            <p:spPr bwMode="auto">
              <a:xfrm>
                <a:off x="288" y="1608"/>
                <a:ext cx="1152" cy="528"/>
              </a:xfrm>
              <a:prstGeom prst="rect">
                <a:avLst/>
              </a:prstGeom>
              <a:noFill/>
              <a:ln w="38100" algn="ctr">
                <a:solidFill>
                  <a:schemeClr val="tx1"/>
                </a:solidFill>
                <a:miter lim="800000"/>
                <a:headEnd/>
                <a:tailEnd/>
              </a:ln>
            </p:spPr>
            <p:txBody>
              <a:bodyPr wrap="none" anchor="ctr"/>
              <a:lstStyle/>
              <a:p>
                <a:endParaRPr lang="en-US"/>
              </a:p>
            </p:txBody>
          </p:sp>
          <p:sp>
            <p:nvSpPr>
              <p:cNvPr id="23639" name="Text Box 15"/>
              <p:cNvSpPr txBox="1">
                <a:spLocks noChangeArrowheads="1"/>
              </p:cNvSpPr>
              <p:nvPr/>
            </p:nvSpPr>
            <p:spPr bwMode="auto">
              <a:xfrm>
                <a:off x="720" y="1728"/>
                <a:ext cx="265" cy="327"/>
              </a:xfrm>
              <a:prstGeom prst="rect">
                <a:avLst/>
              </a:prstGeom>
              <a:noFill/>
              <a:ln w="38100" algn="ctr">
                <a:noFill/>
                <a:miter lim="800000"/>
                <a:headEnd/>
                <a:tailEnd/>
              </a:ln>
            </p:spPr>
            <p:txBody>
              <a:bodyPr wrap="none">
                <a:spAutoFit/>
              </a:bodyPr>
              <a:lstStyle/>
              <a:p>
                <a:pPr algn="ctr"/>
                <a:r>
                  <a:rPr lang="en-US" sz="2800">
                    <a:latin typeface="Arial" charset="0"/>
                  </a:rPr>
                  <a:t>A</a:t>
                </a:r>
              </a:p>
            </p:txBody>
          </p:sp>
        </p:grpSp>
        <p:grpSp>
          <p:nvGrpSpPr>
            <p:cNvPr id="3" name="Group 16"/>
            <p:cNvGrpSpPr>
              <a:grpSpLocks/>
            </p:cNvGrpSpPr>
            <p:nvPr/>
          </p:nvGrpSpPr>
          <p:grpSpPr bwMode="auto">
            <a:xfrm>
              <a:off x="6324600" y="615950"/>
              <a:ext cx="1828800" cy="838200"/>
              <a:chOff x="3936" y="1608"/>
              <a:chExt cx="1152" cy="528"/>
            </a:xfrm>
          </p:grpSpPr>
          <p:sp>
            <p:nvSpPr>
              <p:cNvPr id="23636" name="Rectangle 17"/>
              <p:cNvSpPr>
                <a:spLocks noChangeArrowheads="1"/>
              </p:cNvSpPr>
              <p:nvPr/>
            </p:nvSpPr>
            <p:spPr bwMode="auto">
              <a:xfrm>
                <a:off x="3936" y="1608"/>
                <a:ext cx="1152" cy="528"/>
              </a:xfrm>
              <a:prstGeom prst="rect">
                <a:avLst/>
              </a:prstGeom>
              <a:noFill/>
              <a:ln w="38100" algn="ctr">
                <a:solidFill>
                  <a:schemeClr val="tx1"/>
                </a:solidFill>
                <a:miter lim="800000"/>
                <a:headEnd/>
                <a:tailEnd/>
              </a:ln>
            </p:spPr>
            <p:txBody>
              <a:bodyPr wrap="none" anchor="ctr"/>
              <a:lstStyle/>
              <a:p>
                <a:endParaRPr lang="en-US"/>
              </a:p>
            </p:txBody>
          </p:sp>
          <p:sp>
            <p:nvSpPr>
              <p:cNvPr id="23637" name="Text Box 18"/>
              <p:cNvSpPr txBox="1">
                <a:spLocks noChangeArrowheads="1"/>
              </p:cNvSpPr>
              <p:nvPr/>
            </p:nvSpPr>
            <p:spPr bwMode="auto">
              <a:xfrm>
                <a:off x="4368" y="1728"/>
                <a:ext cx="265" cy="327"/>
              </a:xfrm>
              <a:prstGeom prst="rect">
                <a:avLst/>
              </a:prstGeom>
              <a:noFill/>
              <a:ln w="38100" algn="ctr">
                <a:noFill/>
                <a:miter lim="800000"/>
                <a:headEnd/>
                <a:tailEnd/>
              </a:ln>
            </p:spPr>
            <p:txBody>
              <a:bodyPr wrap="none">
                <a:spAutoFit/>
              </a:bodyPr>
              <a:lstStyle/>
              <a:p>
                <a:pPr algn="ctr"/>
                <a:r>
                  <a:rPr lang="en-US" sz="2800">
                    <a:latin typeface="Arial" charset="0"/>
                  </a:rPr>
                  <a:t>B</a:t>
                </a:r>
              </a:p>
            </p:txBody>
          </p:sp>
        </p:grpSp>
        <p:sp>
          <p:nvSpPr>
            <p:cNvPr id="23564" name="Text Box 19"/>
            <p:cNvSpPr txBox="1">
              <a:spLocks noChangeArrowheads="1"/>
            </p:cNvSpPr>
            <p:nvPr/>
          </p:nvSpPr>
          <p:spPr bwMode="auto">
            <a:xfrm>
              <a:off x="3413125" y="609600"/>
              <a:ext cx="695325" cy="366713"/>
            </a:xfrm>
            <a:prstGeom prst="rect">
              <a:avLst/>
            </a:prstGeom>
            <a:noFill/>
            <a:ln w="38100" algn="ctr">
              <a:noFill/>
              <a:miter lim="800000"/>
              <a:headEnd/>
              <a:tailEnd/>
            </a:ln>
          </p:spPr>
          <p:txBody>
            <a:bodyPr wrap="none">
              <a:spAutoFit/>
            </a:bodyPr>
            <a:lstStyle/>
            <a:p>
              <a:r>
                <a:rPr lang="en-US"/>
                <a:t>verb</a:t>
              </a:r>
            </a:p>
          </p:txBody>
        </p:sp>
        <p:sp>
          <p:nvSpPr>
            <p:cNvPr id="23565" name="Text Box 20"/>
            <p:cNvSpPr txBox="1">
              <a:spLocks noChangeArrowheads="1"/>
            </p:cNvSpPr>
            <p:nvPr/>
          </p:nvSpPr>
          <p:spPr bwMode="auto">
            <a:xfrm>
              <a:off x="4343400" y="1111250"/>
              <a:ext cx="695325" cy="366713"/>
            </a:xfrm>
            <a:prstGeom prst="rect">
              <a:avLst/>
            </a:prstGeom>
            <a:noFill/>
            <a:ln w="38100" algn="ctr">
              <a:noFill/>
              <a:miter lim="800000"/>
              <a:headEnd/>
              <a:tailEnd/>
            </a:ln>
          </p:spPr>
          <p:txBody>
            <a:bodyPr wrap="none">
              <a:spAutoFit/>
            </a:bodyPr>
            <a:lstStyle/>
            <a:p>
              <a:r>
                <a:rPr lang="en-US"/>
                <a:t>verb</a:t>
              </a:r>
            </a:p>
          </p:txBody>
        </p:sp>
        <p:grpSp>
          <p:nvGrpSpPr>
            <p:cNvPr id="4" name="Group 25"/>
            <p:cNvGrpSpPr>
              <a:grpSpLocks/>
            </p:cNvGrpSpPr>
            <p:nvPr/>
          </p:nvGrpSpPr>
          <p:grpSpPr bwMode="auto">
            <a:xfrm flipH="1">
              <a:off x="6324600" y="1758950"/>
              <a:ext cx="1828800" cy="838200"/>
              <a:chOff x="288" y="1608"/>
              <a:chExt cx="1152" cy="528"/>
            </a:xfrm>
          </p:grpSpPr>
          <p:sp>
            <p:nvSpPr>
              <p:cNvPr id="23634" name="Rectangle 26"/>
              <p:cNvSpPr>
                <a:spLocks noChangeArrowheads="1"/>
              </p:cNvSpPr>
              <p:nvPr/>
            </p:nvSpPr>
            <p:spPr bwMode="auto">
              <a:xfrm>
                <a:off x="288" y="1608"/>
                <a:ext cx="1152" cy="528"/>
              </a:xfrm>
              <a:prstGeom prst="rect">
                <a:avLst/>
              </a:prstGeom>
              <a:noFill/>
              <a:ln w="38100" algn="ctr">
                <a:solidFill>
                  <a:schemeClr val="tx1"/>
                </a:solidFill>
                <a:miter lim="800000"/>
                <a:headEnd/>
                <a:tailEnd/>
              </a:ln>
            </p:spPr>
            <p:txBody>
              <a:bodyPr wrap="none" anchor="ctr"/>
              <a:lstStyle/>
              <a:p>
                <a:endParaRPr lang="en-US"/>
              </a:p>
            </p:txBody>
          </p:sp>
          <p:sp>
            <p:nvSpPr>
              <p:cNvPr id="23635" name="Text Box 27"/>
              <p:cNvSpPr txBox="1">
                <a:spLocks noChangeArrowheads="1"/>
              </p:cNvSpPr>
              <p:nvPr/>
            </p:nvSpPr>
            <p:spPr bwMode="auto">
              <a:xfrm>
                <a:off x="720" y="1728"/>
                <a:ext cx="265" cy="327"/>
              </a:xfrm>
              <a:prstGeom prst="rect">
                <a:avLst/>
              </a:prstGeom>
              <a:noFill/>
              <a:ln w="38100" algn="ctr">
                <a:noFill/>
                <a:miter lim="800000"/>
                <a:headEnd/>
                <a:tailEnd/>
              </a:ln>
            </p:spPr>
            <p:txBody>
              <a:bodyPr wrap="none">
                <a:spAutoFit/>
              </a:bodyPr>
              <a:lstStyle/>
              <a:p>
                <a:pPr algn="ctr"/>
                <a:r>
                  <a:rPr lang="en-US" sz="2800">
                    <a:latin typeface="Arial" charset="0"/>
                  </a:rPr>
                  <a:t>B</a:t>
                </a:r>
              </a:p>
            </p:txBody>
          </p:sp>
        </p:grpSp>
        <p:grpSp>
          <p:nvGrpSpPr>
            <p:cNvPr id="5" name="Group 28"/>
            <p:cNvGrpSpPr>
              <a:grpSpLocks/>
            </p:cNvGrpSpPr>
            <p:nvPr/>
          </p:nvGrpSpPr>
          <p:grpSpPr bwMode="auto">
            <a:xfrm flipH="1">
              <a:off x="533400" y="1758950"/>
              <a:ext cx="1828800" cy="838200"/>
              <a:chOff x="3936" y="1608"/>
              <a:chExt cx="1152" cy="528"/>
            </a:xfrm>
          </p:grpSpPr>
          <p:sp>
            <p:nvSpPr>
              <p:cNvPr id="23632" name="Rectangle 29"/>
              <p:cNvSpPr>
                <a:spLocks noChangeArrowheads="1"/>
              </p:cNvSpPr>
              <p:nvPr/>
            </p:nvSpPr>
            <p:spPr bwMode="auto">
              <a:xfrm>
                <a:off x="3936" y="1608"/>
                <a:ext cx="1152" cy="528"/>
              </a:xfrm>
              <a:prstGeom prst="rect">
                <a:avLst/>
              </a:prstGeom>
              <a:noFill/>
              <a:ln w="38100" algn="ctr">
                <a:solidFill>
                  <a:schemeClr val="tx1"/>
                </a:solidFill>
                <a:miter lim="800000"/>
                <a:headEnd/>
                <a:tailEnd/>
              </a:ln>
            </p:spPr>
            <p:txBody>
              <a:bodyPr wrap="none" anchor="ctr"/>
              <a:lstStyle/>
              <a:p>
                <a:endParaRPr lang="en-US"/>
              </a:p>
            </p:txBody>
          </p:sp>
          <p:sp>
            <p:nvSpPr>
              <p:cNvPr id="23633" name="Text Box 30"/>
              <p:cNvSpPr txBox="1">
                <a:spLocks noChangeArrowheads="1"/>
              </p:cNvSpPr>
              <p:nvPr/>
            </p:nvSpPr>
            <p:spPr bwMode="auto">
              <a:xfrm>
                <a:off x="4368" y="1728"/>
                <a:ext cx="265" cy="327"/>
              </a:xfrm>
              <a:prstGeom prst="rect">
                <a:avLst/>
              </a:prstGeom>
              <a:noFill/>
              <a:ln w="38100" algn="ctr">
                <a:noFill/>
                <a:miter lim="800000"/>
                <a:headEnd/>
                <a:tailEnd/>
              </a:ln>
            </p:spPr>
            <p:txBody>
              <a:bodyPr wrap="none">
                <a:spAutoFit/>
              </a:bodyPr>
              <a:lstStyle/>
              <a:p>
                <a:pPr algn="ctr"/>
                <a:r>
                  <a:rPr lang="en-US" sz="2800">
                    <a:latin typeface="Arial" charset="0"/>
                  </a:rPr>
                  <a:t>A</a:t>
                </a:r>
              </a:p>
            </p:txBody>
          </p:sp>
        </p:grpSp>
        <p:sp>
          <p:nvSpPr>
            <p:cNvPr id="23568" name="Line 31"/>
            <p:cNvSpPr>
              <a:spLocks noChangeShapeType="1"/>
            </p:cNvSpPr>
            <p:nvPr/>
          </p:nvSpPr>
          <p:spPr bwMode="auto">
            <a:xfrm flipH="1">
              <a:off x="6172200" y="1987550"/>
              <a:ext cx="0" cy="381000"/>
            </a:xfrm>
            <a:prstGeom prst="line">
              <a:avLst/>
            </a:prstGeom>
            <a:noFill/>
            <a:ln w="38100">
              <a:solidFill>
                <a:schemeClr val="tx1"/>
              </a:solidFill>
              <a:round/>
              <a:headEnd/>
              <a:tailEnd/>
            </a:ln>
          </p:spPr>
          <p:txBody>
            <a:bodyPr wrap="none" anchor="ctr"/>
            <a:lstStyle/>
            <a:p>
              <a:endParaRPr lang="en-US"/>
            </a:p>
          </p:txBody>
        </p:sp>
        <p:sp>
          <p:nvSpPr>
            <p:cNvPr id="23569" name="Oval 32"/>
            <p:cNvSpPr>
              <a:spLocks noChangeArrowheads="1"/>
            </p:cNvSpPr>
            <p:nvPr/>
          </p:nvSpPr>
          <p:spPr bwMode="auto">
            <a:xfrm flipH="1">
              <a:off x="5791200" y="2025650"/>
              <a:ext cx="304800" cy="304800"/>
            </a:xfrm>
            <a:prstGeom prst="ellipse">
              <a:avLst/>
            </a:prstGeom>
            <a:noFill/>
            <a:ln w="38100" algn="ctr">
              <a:solidFill>
                <a:schemeClr val="tx1"/>
              </a:solidFill>
              <a:round/>
              <a:headEnd/>
              <a:tailEnd/>
            </a:ln>
          </p:spPr>
          <p:txBody>
            <a:bodyPr wrap="none" anchor="ctr"/>
            <a:lstStyle/>
            <a:p>
              <a:endParaRPr lang="en-US"/>
            </a:p>
          </p:txBody>
        </p:sp>
        <p:sp>
          <p:nvSpPr>
            <p:cNvPr id="23570" name="Line 33"/>
            <p:cNvSpPr>
              <a:spLocks noChangeShapeType="1"/>
            </p:cNvSpPr>
            <p:nvPr/>
          </p:nvSpPr>
          <p:spPr bwMode="auto">
            <a:xfrm flipH="1">
              <a:off x="2590800" y="1987550"/>
              <a:ext cx="0" cy="381000"/>
            </a:xfrm>
            <a:prstGeom prst="line">
              <a:avLst/>
            </a:prstGeom>
            <a:noFill/>
            <a:ln w="38100">
              <a:solidFill>
                <a:schemeClr val="tx1"/>
              </a:solidFill>
              <a:round/>
              <a:headEnd/>
              <a:tailEnd/>
            </a:ln>
          </p:spPr>
          <p:txBody>
            <a:bodyPr wrap="none" anchor="ctr"/>
            <a:lstStyle/>
            <a:p>
              <a:endParaRPr lang="en-US"/>
            </a:p>
          </p:txBody>
        </p:sp>
        <p:sp>
          <p:nvSpPr>
            <p:cNvPr id="23571" name="Line 34"/>
            <p:cNvSpPr>
              <a:spLocks noChangeShapeType="1"/>
            </p:cNvSpPr>
            <p:nvPr/>
          </p:nvSpPr>
          <p:spPr bwMode="auto">
            <a:xfrm flipH="1">
              <a:off x="2514600" y="1987550"/>
              <a:ext cx="0" cy="381000"/>
            </a:xfrm>
            <a:prstGeom prst="line">
              <a:avLst/>
            </a:prstGeom>
            <a:noFill/>
            <a:ln w="38100">
              <a:solidFill>
                <a:schemeClr val="tx1"/>
              </a:solidFill>
              <a:round/>
              <a:headEnd/>
              <a:tailEnd/>
            </a:ln>
          </p:spPr>
          <p:txBody>
            <a:bodyPr wrap="none" anchor="ctr"/>
            <a:lstStyle/>
            <a:p>
              <a:endParaRPr lang="en-US"/>
            </a:p>
          </p:txBody>
        </p:sp>
        <p:sp>
          <p:nvSpPr>
            <p:cNvPr id="23572" name="Line 35"/>
            <p:cNvSpPr>
              <a:spLocks noChangeShapeType="1"/>
            </p:cNvSpPr>
            <p:nvPr/>
          </p:nvSpPr>
          <p:spPr bwMode="auto">
            <a:xfrm>
              <a:off x="2362200" y="2178050"/>
              <a:ext cx="3949700" cy="0"/>
            </a:xfrm>
            <a:prstGeom prst="line">
              <a:avLst/>
            </a:prstGeom>
            <a:noFill/>
            <a:ln w="38100">
              <a:solidFill>
                <a:schemeClr val="tx1"/>
              </a:solidFill>
              <a:round/>
              <a:headEnd/>
              <a:tailEnd/>
            </a:ln>
          </p:spPr>
          <p:txBody>
            <a:bodyPr wrap="none" anchor="ctr"/>
            <a:lstStyle/>
            <a:p>
              <a:endParaRPr lang="en-US"/>
            </a:p>
          </p:txBody>
        </p:sp>
        <p:sp>
          <p:nvSpPr>
            <p:cNvPr id="23573" name="Text Box 36"/>
            <p:cNvSpPr txBox="1">
              <a:spLocks noChangeArrowheads="1"/>
            </p:cNvSpPr>
            <p:nvPr/>
          </p:nvSpPr>
          <p:spPr bwMode="auto">
            <a:xfrm>
              <a:off x="3476625" y="1741488"/>
              <a:ext cx="695325" cy="366712"/>
            </a:xfrm>
            <a:prstGeom prst="rect">
              <a:avLst/>
            </a:prstGeom>
            <a:noFill/>
            <a:ln w="38100" algn="ctr">
              <a:noFill/>
              <a:miter lim="800000"/>
              <a:headEnd/>
              <a:tailEnd/>
            </a:ln>
          </p:spPr>
          <p:txBody>
            <a:bodyPr wrap="none">
              <a:spAutoFit/>
            </a:bodyPr>
            <a:lstStyle/>
            <a:p>
              <a:r>
                <a:rPr lang="en-US"/>
                <a:t>verb</a:t>
              </a:r>
            </a:p>
          </p:txBody>
        </p:sp>
        <p:sp>
          <p:nvSpPr>
            <p:cNvPr id="23574" name="Text Box 37"/>
            <p:cNvSpPr txBox="1">
              <a:spLocks noChangeArrowheads="1"/>
            </p:cNvSpPr>
            <p:nvPr/>
          </p:nvSpPr>
          <p:spPr bwMode="auto">
            <a:xfrm>
              <a:off x="4406900" y="2243138"/>
              <a:ext cx="695325" cy="366712"/>
            </a:xfrm>
            <a:prstGeom prst="rect">
              <a:avLst/>
            </a:prstGeom>
            <a:noFill/>
            <a:ln w="38100" algn="ctr">
              <a:noFill/>
              <a:miter lim="800000"/>
              <a:headEnd/>
              <a:tailEnd/>
            </a:ln>
          </p:spPr>
          <p:txBody>
            <a:bodyPr wrap="none">
              <a:spAutoFit/>
            </a:bodyPr>
            <a:lstStyle/>
            <a:p>
              <a:r>
                <a:rPr lang="en-US"/>
                <a:t>verb</a:t>
              </a:r>
            </a:p>
          </p:txBody>
        </p:sp>
        <p:grpSp>
          <p:nvGrpSpPr>
            <p:cNvPr id="6" name="Group 42"/>
            <p:cNvGrpSpPr>
              <a:grpSpLocks/>
            </p:cNvGrpSpPr>
            <p:nvPr/>
          </p:nvGrpSpPr>
          <p:grpSpPr bwMode="auto">
            <a:xfrm flipH="1">
              <a:off x="6324600" y="2825750"/>
              <a:ext cx="1828800" cy="838200"/>
              <a:chOff x="288" y="1608"/>
              <a:chExt cx="1152" cy="528"/>
            </a:xfrm>
          </p:grpSpPr>
          <p:sp>
            <p:nvSpPr>
              <p:cNvPr id="23630" name="Rectangle 43"/>
              <p:cNvSpPr>
                <a:spLocks noChangeArrowheads="1"/>
              </p:cNvSpPr>
              <p:nvPr/>
            </p:nvSpPr>
            <p:spPr bwMode="auto">
              <a:xfrm>
                <a:off x="288" y="1608"/>
                <a:ext cx="1152" cy="528"/>
              </a:xfrm>
              <a:prstGeom prst="rect">
                <a:avLst/>
              </a:prstGeom>
              <a:noFill/>
              <a:ln w="38100" algn="ctr">
                <a:solidFill>
                  <a:schemeClr val="tx1"/>
                </a:solidFill>
                <a:miter lim="800000"/>
                <a:headEnd/>
                <a:tailEnd/>
              </a:ln>
            </p:spPr>
            <p:txBody>
              <a:bodyPr wrap="none" anchor="ctr"/>
              <a:lstStyle/>
              <a:p>
                <a:endParaRPr lang="en-US"/>
              </a:p>
            </p:txBody>
          </p:sp>
          <p:sp>
            <p:nvSpPr>
              <p:cNvPr id="23631" name="Text Box 44"/>
              <p:cNvSpPr txBox="1">
                <a:spLocks noChangeArrowheads="1"/>
              </p:cNvSpPr>
              <p:nvPr/>
            </p:nvSpPr>
            <p:spPr bwMode="auto">
              <a:xfrm>
                <a:off x="720" y="1728"/>
                <a:ext cx="265" cy="327"/>
              </a:xfrm>
              <a:prstGeom prst="rect">
                <a:avLst/>
              </a:prstGeom>
              <a:noFill/>
              <a:ln w="38100" algn="ctr">
                <a:noFill/>
                <a:miter lim="800000"/>
                <a:headEnd/>
                <a:tailEnd/>
              </a:ln>
            </p:spPr>
            <p:txBody>
              <a:bodyPr wrap="none">
                <a:spAutoFit/>
              </a:bodyPr>
              <a:lstStyle/>
              <a:p>
                <a:pPr algn="ctr"/>
                <a:r>
                  <a:rPr lang="en-US" sz="2800">
                    <a:latin typeface="Arial" charset="0"/>
                  </a:rPr>
                  <a:t>B</a:t>
                </a:r>
              </a:p>
            </p:txBody>
          </p:sp>
        </p:grpSp>
        <p:grpSp>
          <p:nvGrpSpPr>
            <p:cNvPr id="7" name="Group 45"/>
            <p:cNvGrpSpPr>
              <a:grpSpLocks/>
            </p:cNvGrpSpPr>
            <p:nvPr/>
          </p:nvGrpSpPr>
          <p:grpSpPr bwMode="auto">
            <a:xfrm flipH="1">
              <a:off x="533400" y="2825750"/>
              <a:ext cx="1828800" cy="838200"/>
              <a:chOff x="3936" y="1608"/>
              <a:chExt cx="1152" cy="528"/>
            </a:xfrm>
          </p:grpSpPr>
          <p:sp>
            <p:nvSpPr>
              <p:cNvPr id="23628" name="Rectangle 46"/>
              <p:cNvSpPr>
                <a:spLocks noChangeArrowheads="1"/>
              </p:cNvSpPr>
              <p:nvPr/>
            </p:nvSpPr>
            <p:spPr bwMode="auto">
              <a:xfrm>
                <a:off x="3936" y="1608"/>
                <a:ext cx="1152" cy="528"/>
              </a:xfrm>
              <a:prstGeom prst="rect">
                <a:avLst/>
              </a:prstGeom>
              <a:noFill/>
              <a:ln w="38100" algn="ctr">
                <a:solidFill>
                  <a:schemeClr val="tx1"/>
                </a:solidFill>
                <a:miter lim="800000"/>
                <a:headEnd/>
                <a:tailEnd/>
              </a:ln>
            </p:spPr>
            <p:txBody>
              <a:bodyPr wrap="none" anchor="ctr"/>
              <a:lstStyle/>
              <a:p>
                <a:endParaRPr lang="en-US"/>
              </a:p>
            </p:txBody>
          </p:sp>
          <p:sp>
            <p:nvSpPr>
              <p:cNvPr id="23629" name="Text Box 47"/>
              <p:cNvSpPr txBox="1">
                <a:spLocks noChangeArrowheads="1"/>
              </p:cNvSpPr>
              <p:nvPr/>
            </p:nvSpPr>
            <p:spPr bwMode="auto">
              <a:xfrm>
                <a:off x="4368" y="1728"/>
                <a:ext cx="265" cy="327"/>
              </a:xfrm>
              <a:prstGeom prst="rect">
                <a:avLst/>
              </a:prstGeom>
              <a:noFill/>
              <a:ln w="38100" algn="ctr">
                <a:noFill/>
                <a:miter lim="800000"/>
                <a:headEnd/>
                <a:tailEnd/>
              </a:ln>
            </p:spPr>
            <p:txBody>
              <a:bodyPr wrap="none">
                <a:spAutoFit/>
              </a:bodyPr>
              <a:lstStyle/>
              <a:p>
                <a:pPr algn="ctr"/>
                <a:r>
                  <a:rPr lang="en-US" sz="2800">
                    <a:latin typeface="Arial" charset="0"/>
                  </a:rPr>
                  <a:t>A</a:t>
                </a:r>
              </a:p>
            </p:txBody>
          </p:sp>
        </p:grpSp>
        <p:sp>
          <p:nvSpPr>
            <p:cNvPr id="23577" name="Line 48"/>
            <p:cNvSpPr>
              <a:spLocks noChangeShapeType="1"/>
            </p:cNvSpPr>
            <p:nvPr/>
          </p:nvSpPr>
          <p:spPr bwMode="auto">
            <a:xfrm flipH="1">
              <a:off x="6172200" y="3054350"/>
              <a:ext cx="0" cy="381000"/>
            </a:xfrm>
            <a:prstGeom prst="line">
              <a:avLst/>
            </a:prstGeom>
            <a:noFill/>
            <a:ln w="38100">
              <a:solidFill>
                <a:schemeClr val="tx1"/>
              </a:solidFill>
              <a:round/>
              <a:headEnd/>
              <a:tailEnd/>
            </a:ln>
          </p:spPr>
          <p:txBody>
            <a:bodyPr wrap="none" anchor="ctr"/>
            <a:lstStyle/>
            <a:p>
              <a:endParaRPr lang="en-US"/>
            </a:p>
          </p:txBody>
        </p:sp>
        <p:sp>
          <p:nvSpPr>
            <p:cNvPr id="23578" name="Oval 49"/>
            <p:cNvSpPr>
              <a:spLocks noChangeArrowheads="1"/>
            </p:cNvSpPr>
            <p:nvPr/>
          </p:nvSpPr>
          <p:spPr bwMode="auto">
            <a:xfrm flipH="1">
              <a:off x="2590800" y="3092450"/>
              <a:ext cx="304800" cy="304800"/>
            </a:xfrm>
            <a:prstGeom prst="ellipse">
              <a:avLst/>
            </a:prstGeom>
            <a:noFill/>
            <a:ln w="38100" algn="ctr">
              <a:solidFill>
                <a:schemeClr val="tx1"/>
              </a:solidFill>
              <a:round/>
              <a:headEnd/>
              <a:tailEnd/>
            </a:ln>
          </p:spPr>
          <p:txBody>
            <a:bodyPr wrap="none" anchor="ctr"/>
            <a:lstStyle/>
            <a:p>
              <a:endParaRPr lang="en-US"/>
            </a:p>
          </p:txBody>
        </p:sp>
        <p:sp>
          <p:nvSpPr>
            <p:cNvPr id="23579" name="Line 50"/>
            <p:cNvSpPr>
              <a:spLocks noChangeShapeType="1"/>
            </p:cNvSpPr>
            <p:nvPr/>
          </p:nvSpPr>
          <p:spPr bwMode="auto">
            <a:xfrm flipH="1">
              <a:off x="2514600" y="3054350"/>
              <a:ext cx="0" cy="381000"/>
            </a:xfrm>
            <a:prstGeom prst="line">
              <a:avLst/>
            </a:prstGeom>
            <a:noFill/>
            <a:ln w="38100">
              <a:solidFill>
                <a:schemeClr val="tx1"/>
              </a:solidFill>
              <a:round/>
              <a:headEnd/>
              <a:tailEnd/>
            </a:ln>
          </p:spPr>
          <p:txBody>
            <a:bodyPr wrap="none" anchor="ctr"/>
            <a:lstStyle/>
            <a:p>
              <a:endParaRPr lang="en-US"/>
            </a:p>
          </p:txBody>
        </p:sp>
        <p:sp>
          <p:nvSpPr>
            <p:cNvPr id="23580" name="Oval 51"/>
            <p:cNvSpPr>
              <a:spLocks noChangeArrowheads="1"/>
            </p:cNvSpPr>
            <p:nvPr/>
          </p:nvSpPr>
          <p:spPr bwMode="auto">
            <a:xfrm flipH="1">
              <a:off x="5791200" y="3092450"/>
              <a:ext cx="304800" cy="304800"/>
            </a:xfrm>
            <a:prstGeom prst="ellipse">
              <a:avLst/>
            </a:prstGeom>
            <a:noFill/>
            <a:ln w="38100" algn="ctr">
              <a:solidFill>
                <a:schemeClr val="tx1"/>
              </a:solidFill>
              <a:round/>
              <a:headEnd/>
              <a:tailEnd/>
            </a:ln>
          </p:spPr>
          <p:txBody>
            <a:bodyPr wrap="none" anchor="ctr"/>
            <a:lstStyle/>
            <a:p>
              <a:endParaRPr lang="en-US"/>
            </a:p>
          </p:txBody>
        </p:sp>
        <p:sp>
          <p:nvSpPr>
            <p:cNvPr id="23581" name="Line 52"/>
            <p:cNvSpPr>
              <a:spLocks noChangeShapeType="1"/>
            </p:cNvSpPr>
            <p:nvPr/>
          </p:nvSpPr>
          <p:spPr bwMode="auto">
            <a:xfrm>
              <a:off x="2387600" y="3257550"/>
              <a:ext cx="3949700" cy="0"/>
            </a:xfrm>
            <a:prstGeom prst="line">
              <a:avLst/>
            </a:prstGeom>
            <a:noFill/>
            <a:ln w="38100">
              <a:solidFill>
                <a:schemeClr val="tx1"/>
              </a:solidFill>
              <a:round/>
              <a:headEnd/>
              <a:tailEnd/>
            </a:ln>
          </p:spPr>
          <p:txBody>
            <a:bodyPr wrap="none" anchor="ctr"/>
            <a:lstStyle/>
            <a:p>
              <a:endParaRPr lang="en-US"/>
            </a:p>
          </p:txBody>
        </p:sp>
        <p:sp>
          <p:nvSpPr>
            <p:cNvPr id="23582" name="Text Box 53"/>
            <p:cNvSpPr txBox="1">
              <a:spLocks noChangeArrowheads="1"/>
            </p:cNvSpPr>
            <p:nvPr/>
          </p:nvSpPr>
          <p:spPr bwMode="auto">
            <a:xfrm>
              <a:off x="3502025" y="2820988"/>
              <a:ext cx="695325" cy="366712"/>
            </a:xfrm>
            <a:prstGeom prst="rect">
              <a:avLst/>
            </a:prstGeom>
            <a:noFill/>
            <a:ln w="38100" algn="ctr">
              <a:noFill/>
              <a:miter lim="800000"/>
              <a:headEnd/>
              <a:tailEnd/>
            </a:ln>
          </p:spPr>
          <p:txBody>
            <a:bodyPr wrap="none">
              <a:spAutoFit/>
            </a:bodyPr>
            <a:lstStyle/>
            <a:p>
              <a:r>
                <a:rPr lang="en-US"/>
                <a:t>verb</a:t>
              </a:r>
            </a:p>
          </p:txBody>
        </p:sp>
        <p:sp>
          <p:nvSpPr>
            <p:cNvPr id="23583" name="Text Box 54"/>
            <p:cNvSpPr txBox="1">
              <a:spLocks noChangeArrowheads="1"/>
            </p:cNvSpPr>
            <p:nvPr/>
          </p:nvSpPr>
          <p:spPr bwMode="auto">
            <a:xfrm>
              <a:off x="4432300" y="3322638"/>
              <a:ext cx="695325" cy="366712"/>
            </a:xfrm>
            <a:prstGeom prst="rect">
              <a:avLst/>
            </a:prstGeom>
            <a:noFill/>
            <a:ln w="38100" algn="ctr">
              <a:noFill/>
              <a:miter lim="800000"/>
              <a:headEnd/>
              <a:tailEnd/>
            </a:ln>
          </p:spPr>
          <p:txBody>
            <a:bodyPr wrap="none">
              <a:spAutoFit/>
            </a:bodyPr>
            <a:lstStyle/>
            <a:p>
              <a:r>
                <a:rPr lang="en-US"/>
                <a:t>verb</a:t>
              </a:r>
            </a:p>
          </p:txBody>
        </p:sp>
        <p:sp>
          <p:nvSpPr>
            <p:cNvPr id="23584" name="Line 58"/>
            <p:cNvSpPr>
              <a:spLocks noChangeShapeType="1"/>
            </p:cNvSpPr>
            <p:nvPr/>
          </p:nvSpPr>
          <p:spPr bwMode="auto">
            <a:xfrm flipV="1">
              <a:off x="6019800" y="4083050"/>
              <a:ext cx="304800" cy="228600"/>
            </a:xfrm>
            <a:prstGeom prst="line">
              <a:avLst/>
            </a:prstGeom>
            <a:noFill/>
            <a:ln w="38100">
              <a:solidFill>
                <a:schemeClr val="tx1"/>
              </a:solidFill>
              <a:round/>
              <a:headEnd/>
              <a:tailEnd/>
            </a:ln>
          </p:spPr>
          <p:txBody>
            <a:bodyPr wrap="none" anchor="ctr"/>
            <a:lstStyle/>
            <a:p>
              <a:endParaRPr lang="en-US"/>
            </a:p>
          </p:txBody>
        </p:sp>
        <p:grpSp>
          <p:nvGrpSpPr>
            <p:cNvPr id="8" name="Group 62"/>
            <p:cNvGrpSpPr>
              <a:grpSpLocks/>
            </p:cNvGrpSpPr>
            <p:nvPr/>
          </p:nvGrpSpPr>
          <p:grpSpPr bwMode="auto">
            <a:xfrm>
              <a:off x="533400" y="3892550"/>
              <a:ext cx="1828800" cy="838200"/>
              <a:chOff x="288" y="1608"/>
              <a:chExt cx="1152" cy="528"/>
            </a:xfrm>
          </p:grpSpPr>
          <p:sp>
            <p:nvSpPr>
              <p:cNvPr id="23626" name="Rectangle 63"/>
              <p:cNvSpPr>
                <a:spLocks noChangeArrowheads="1"/>
              </p:cNvSpPr>
              <p:nvPr/>
            </p:nvSpPr>
            <p:spPr bwMode="auto">
              <a:xfrm>
                <a:off x="288" y="1608"/>
                <a:ext cx="1152" cy="528"/>
              </a:xfrm>
              <a:prstGeom prst="rect">
                <a:avLst/>
              </a:prstGeom>
              <a:noFill/>
              <a:ln w="38100" algn="ctr">
                <a:solidFill>
                  <a:schemeClr val="tx1"/>
                </a:solidFill>
                <a:miter lim="800000"/>
                <a:headEnd/>
                <a:tailEnd/>
              </a:ln>
            </p:spPr>
            <p:txBody>
              <a:bodyPr wrap="none" anchor="ctr"/>
              <a:lstStyle/>
              <a:p>
                <a:endParaRPr lang="en-US"/>
              </a:p>
            </p:txBody>
          </p:sp>
          <p:sp>
            <p:nvSpPr>
              <p:cNvPr id="23627" name="Text Box 64"/>
              <p:cNvSpPr txBox="1">
                <a:spLocks noChangeArrowheads="1"/>
              </p:cNvSpPr>
              <p:nvPr/>
            </p:nvSpPr>
            <p:spPr bwMode="auto">
              <a:xfrm>
                <a:off x="720" y="1728"/>
                <a:ext cx="265" cy="327"/>
              </a:xfrm>
              <a:prstGeom prst="rect">
                <a:avLst/>
              </a:prstGeom>
              <a:noFill/>
              <a:ln w="38100" algn="ctr">
                <a:noFill/>
                <a:miter lim="800000"/>
                <a:headEnd/>
                <a:tailEnd/>
              </a:ln>
            </p:spPr>
            <p:txBody>
              <a:bodyPr wrap="none">
                <a:spAutoFit/>
              </a:bodyPr>
              <a:lstStyle/>
              <a:p>
                <a:pPr algn="ctr"/>
                <a:r>
                  <a:rPr lang="en-US" sz="2800">
                    <a:latin typeface="Arial" charset="0"/>
                  </a:rPr>
                  <a:t>A</a:t>
                </a:r>
              </a:p>
            </p:txBody>
          </p:sp>
        </p:grpSp>
        <p:grpSp>
          <p:nvGrpSpPr>
            <p:cNvPr id="9" name="Group 65"/>
            <p:cNvGrpSpPr>
              <a:grpSpLocks/>
            </p:cNvGrpSpPr>
            <p:nvPr/>
          </p:nvGrpSpPr>
          <p:grpSpPr bwMode="auto">
            <a:xfrm>
              <a:off x="6324600" y="3892550"/>
              <a:ext cx="1828800" cy="838200"/>
              <a:chOff x="3936" y="1608"/>
              <a:chExt cx="1152" cy="528"/>
            </a:xfrm>
          </p:grpSpPr>
          <p:sp>
            <p:nvSpPr>
              <p:cNvPr id="23624" name="Rectangle 66"/>
              <p:cNvSpPr>
                <a:spLocks noChangeArrowheads="1"/>
              </p:cNvSpPr>
              <p:nvPr/>
            </p:nvSpPr>
            <p:spPr bwMode="auto">
              <a:xfrm>
                <a:off x="3936" y="1608"/>
                <a:ext cx="1152" cy="528"/>
              </a:xfrm>
              <a:prstGeom prst="rect">
                <a:avLst/>
              </a:prstGeom>
              <a:noFill/>
              <a:ln w="38100" algn="ctr">
                <a:solidFill>
                  <a:schemeClr val="tx1"/>
                </a:solidFill>
                <a:miter lim="800000"/>
                <a:headEnd/>
                <a:tailEnd/>
              </a:ln>
            </p:spPr>
            <p:txBody>
              <a:bodyPr wrap="none" anchor="ctr"/>
              <a:lstStyle/>
              <a:p>
                <a:endParaRPr lang="en-US"/>
              </a:p>
            </p:txBody>
          </p:sp>
          <p:sp>
            <p:nvSpPr>
              <p:cNvPr id="23625" name="Text Box 67"/>
              <p:cNvSpPr txBox="1">
                <a:spLocks noChangeArrowheads="1"/>
              </p:cNvSpPr>
              <p:nvPr/>
            </p:nvSpPr>
            <p:spPr bwMode="auto">
              <a:xfrm>
                <a:off x="4368" y="1728"/>
                <a:ext cx="265" cy="327"/>
              </a:xfrm>
              <a:prstGeom prst="rect">
                <a:avLst/>
              </a:prstGeom>
              <a:noFill/>
              <a:ln w="38100" algn="ctr">
                <a:noFill/>
                <a:miter lim="800000"/>
                <a:headEnd/>
                <a:tailEnd/>
              </a:ln>
            </p:spPr>
            <p:txBody>
              <a:bodyPr wrap="none">
                <a:spAutoFit/>
              </a:bodyPr>
              <a:lstStyle/>
              <a:p>
                <a:pPr algn="ctr"/>
                <a:r>
                  <a:rPr lang="en-US" sz="2800">
                    <a:latin typeface="Arial" charset="0"/>
                  </a:rPr>
                  <a:t>B</a:t>
                </a:r>
              </a:p>
            </p:txBody>
          </p:sp>
        </p:grpSp>
        <p:sp>
          <p:nvSpPr>
            <p:cNvPr id="23587" name="Line 68"/>
            <p:cNvSpPr>
              <a:spLocks noChangeShapeType="1"/>
            </p:cNvSpPr>
            <p:nvPr/>
          </p:nvSpPr>
          <p:spPr bwMode="auto">
            <a:xfrm>
              <a:off x="6019800" y="4311650"/>
              <a:ext cx="304800" cy="228600"/>
            </a:xfrm>
            <a:prstGeom prst="line">
              <a:avLst/>
            </a:prstGeom>
            <a:noFill/>
            <a:ln w="38100">
              <a:solidFill>
                <a:schemeClr val="tx1"/>
              </a:solidFill>
              <a:round/>
              <a:headEnd/>
              <a:tailEnd/>
            </a:ln>
          </p:spPr>
          <p:txBody>
            <a:bodyPr wrap="none" anchor="ctr"/>
            <a:lstStyle/>
            <a:p>
              <a:endParaRPr lang="en-US"/>
            </a:p>
          </p:txBody>
        </p:sp>
        <p:sp>
          <p:nvSpPr>
            <p:cNvPr id="23588" name="Line 69"/>
            <p:cNvSpPr>
              <a:spLocks noChangeShapeType="1"/>
            </p:cNvSpPr>
            <p:nvPr/>
          </p:nvSpPr>
          <p:spPr bwMode="auto">
            <a:xfrm>
              <a:off x="2590800" y="4083050"/>
              <a:ext cx="0" cy="457200"/>
            </a:xfrm>
            <a:prstGeom prst="line">
              <a:avLst/>
            </a:prstGeom>
            <a:noFill/>
            <a:ln w="38100">
              <a:solidFill>
                <a:schemeClr val="tx1"/>
              </a:solidFill>
              <a:round/>
              <a:headEnd/>
              <a:tailEnd/>
            </a:ln>
          </p:spPr>
          <p:txBody>
            <a:bodyPr wrap="none" anchor="ctr"/>
            <a:lstStyle/>
            <a:p>
              <a:endParaRPr lang="en-US"/>
            </a:p>
          </p:txBody>
        </p:sp>
        <p:sp>
          <p:nvSpPr>
            <p:cNvPr id="23589" name="Line 70"/>
            <p:cNvSpPr>
              <a:spLocks noChangeShapeType="1"/>
            </p:cNvSpPr>
            <p:nvPr/>
          </p:nvSpPr>
          <p:spPr bwMode="auto">
            <a:xfrm>
              <a:off x="2514600" y="4083050"/>
              <a:ext cx="0" cy="457200"/>
            </a:xfrm>
            <a:prstGeom prst="line">
              <a:avLst/>
            </a:prstGeom>
            <a:noFill/>
            <a:ln w="38100">
              <a:solidFill>
                <a:schemeClr val="tx1"/>
              </a:solidFill>
              <a:round/>
              <a:headEnd/>
              <a:tailEnd/>
            </a:ln>
          </p:spPr>
          <p:txBody>
            <a:bodyPr wrap="none" anchor="ctr"/>
            <a:lstStyle/>
            <a:p>
              <a:endParaRPr lang="en-US"/>
            </a:p>
          </p:txBody>
        </p:sp>
        <p:sp>
          <p:nvSpPr>
            <p:cNvPr id="23590" name="Oval 71"/>
            <p:cNvSpPr>
              <a:spLocks noChangeArrowheads="1"/>
            </p:cNvSpPr>
            <p:nvPr/>
          </p:nvSpPr>
          <p:spPr bwMode="auto">
            <a:xfrm>
              <a:off x="5638800" y="4159250"/>
              <a:ext cx="304800" cy="304800"/>
            </a:xfrm>
            <a:prstGeom prst="ellipse">
              <a:avLst/>
            </a:prstGeom>
            <a:noFill/>
            <a:ln w="38100" algn="ctr">
              <a:solidFill>
                <a:schemeClr val="tx1"/>
              </a:solidFill>
              <a:round/>
              <a:headEnd/>
              <a:tailEnd/>
            </a:ln>
          </p:spPr>
          <p:txBody>
            <a:bodyPr wrap="none" anchor="ctr"/>
            <a:lstStyle/>
            <a:p>
              <a:endParaRPr lang="en-US"/>
            </a:p>
          </p:txBody>
        </p:sp>
        <p:sp>
          <p:nvSpPr>
            <p:cNvPr id="23591" name="Line 72"/>
            <p:cNvSpPr>
              <a:spLocks noChangeShapeType="1"/>
            </p:cNvSpPr>
            <p:nvPr/>
          </p:nvSpPr>
          <p:spPr bwMode="auto">
            <a:xfrm>
              <a:off x="2362200" y="4337050"/>
              <a:ext cx="3949700" cy="0"/>
            </a:xfrm>
            <a:prstGeom prst="line">
              <a:avLst/>
            </a:prstGeom>
            <a:noFill/>
            <a:ln w="38100">
              <a:solidFill>
                <a:schemeClr val="tx1"/>
              </a:solidFill>
              <a:round/>
              <a:headEnd/>
              <a:tailEnd/>
            </a:ln>
          </p:spPr>
          <p:txBody>
            <a:bodyPr wrap="none" anchor="ctr"/>
            <a:lstStyle/>
            <a:p>
              <a:endParaRPr lang="en-US"/>
            </a:p>
          </p:txBody>
        </p:sp>
        <p:sp>
          <p:nvSpPr>
            <p:cNvPr id="23592" name="Text Box 73"/>
            <p:cNvSpPr txBox="1">
              <a:spLocks noChangeArrowheads="1"/>
            </p:cNvSpPr>
            <p:nvPr/>
          </p:nvSpPr>
          <p:spPr bwMode="auto">
            <a:xfrm>
              <a:off x="3476625" y="3900488"/>
              <a:ext cx="695325" cy="366712"/>
            </a:xfrm>
            <a:prstGeom prst="rect">
              <a:avLst/>
            </a:prstGeom>
            <a:noFill/>
            <a:ln w="38100" algn="ctr">
              <a:noFill/>
              <a:miter lim="800000"/>
              <a:headEnd/>
              <a:tailEnd/>
            </a:ln>
          </p:spPr>
          <p:txBody>
            <a:bodyPr wrap="none">
              <a:spAutoFit/>
            </a:bodyPr>
            <a:lstStyle/>
            <a:p>
              <a:r>
                <a:rPr lang="en-US"/>
                <a:t>verb</a:t>
              </a:r>
            </a:p>
          </p:txBody>
        </p:sp>
        <p:sp>
          <p:nvSpPr>
            <p:cNvPr id="23593" name="Text Box 74"/>
            <p:cNvSpPr txBox="1">
              <a:spLocks noChangeArrowheads="1"/>
            </p:cNvSpPr>
            <p:nvPr/>
          </p:nvSpPr>
          <p:spPr bwMode="auto">
            <a:xfrm>
              <a:off x="4406900" y="4402138"/>
              <a:ext cx="695325" cy="366712"/>
            </a:xfrm>
            <a:prstGeom prst="rect">
              <a:avLst/>
            </a:prstGeom>
            <a:noFill/>
            <a:ln w="38100" algn="ctr">
              <a:noFill/>
              <a:miter lim="800000"/>
              <a:headEnd/>
              <a:tailEnd/>
            </a:ln>
          </p:spPr>
          <p:txBody>
            <a:bodyPr wrap="none">
              <a:spAutoFit/>
            </a:bodyPr>
            <a:lstStyle/>
            <a:p>
              <a:r>
                <a:rPr lang="en-US"/>
                <a:t>verb</a:t>
              </a:r>
            </a:p>
          </p:txBody>
        </p:sp>
        <p:grpSp>
          <p:nvGrpSpPr>
            <p:cNvPr id="10" name="Group 79"/>
            <p:cNvGrpSpPr>
              <a:grpSpLocks/>
            </p:cNvGrpSpPr>
            <p:nvPr/>
          </p:nvGrpSpPr>
          <p:grpSpPr bwMode="auto">
            <a:xfrm>
              <a:off x="533400" y="4883150"/>
              <a:ext cx="1828800" cy="838200"/>
              <a:chOff x="288" y="1608"/>
              <a:chExt cx="1152" cy="528"/>
            </a:xfrm>
          </p:grpSpPr>
          <p:sp>
            <p:nvSpPr>
              <p:cNvPr id="23622" name="Rectangle 80"/>
              <p:cNvSpPr>
                <a:spLocks noChangeArrowheads="1"/>
              </p:cNvSpPr>
              <p:nvPr/>
            </p:nvSpPr>
            <p:spPr bwMode="auto">
              <a:xfrm>
                <a:off x="288" y="1608"/>
                <a:ext cx="1152" cy="528"/>
              </a:xfrm>
              <a:prstGeom prst="rect">
                <a:avLst/>
              </a:prstGeom>
              <a:noFill/>
              <a:ln w="38100" algn="ctr">
                <a:solidFill>
                  <a:schemeClr val="tx1"/>
                </a:solidFill>
                <a:miter lim="800000"/>
                <a:headEnd/>
                <a:tailEnd/>
              </a:ln>
            </p:spPr>
            <p:txBody>
              <a:bodyPr wrap="none" anchor="ctr"/>
              <a:lstStyle/>
              <a:p>
                <a:endParaRPr lang="en-US"/>
              </a:p>
            </p:txBody>
          </p:sp>
          <p:sp>
            <p:nvSpPr>
              <p:cNvPr id="23623" name="Text Box 81"/>
              <p:cNvSpPr txBox="1">
                <a:spLocks noChangeArrowheads="1"/>
              </p:cNvSpPr>
              <p:nvPr/>
            </p:nvSpPr>
            <p:spPr bwMode="auto">
              <a:xfrm>
                <a:off x="720" y="1728"/>
                <a:ext cx="265" cy="327"/>
              </a:xfrm>
              <a:prstGeom prst="rect">
                <a:avLst/>
              </a:prstGeom>
              <a:noFill/>
              <a:ln w="38100" algn="ctr">
                <a:noFill/>
                <a:miter lim="800000"/>
                <a:headEnd/>
                <a:tailEnd/>
              </a:ln>
            </p:spPr>
            <p:txBody>
              <a:bodyPr wrap="none">
                <a:spAutoFit/>
              </a:bodyPr>
              <a:lstStyle/>
              <a:p>
                <a:pPr algn="ctr"/>
                <a:r>
                  <a:rPr lang="en-US" sz="2800">
                    <a:latin typeface="Arial" charset="0"/>
                  </a:rPr>
                  <a:t>A</a:t>
                </a:r>
              </a:p>
            </p:txBody>
          </p:sp>
        </p:grpSp>
        <p:grpSp>
          <p:nvGrpSpPr>
            <p:cNvPr id="11" name="Group 82"/>
            <p:cNvGrpSpPr>
              <a:grpSpLocks/>
            </p:cNvGrpSpPr>
            <p:nvPr/>
          </p:nvGrpSpPr>
          <p:grpSpPr bwMode="auto">
            <a:xfrm>
              <a:off x="6324600" y="4883150"/>
              <a:ext cx="1828800" cy="838200"/>
              <a:chOff x="3936" y="1608"/>
              <a:chExt cx="1152" cy="528"/>
            </a:xfrm>
          </p:grpSpPr>
          <p:sp>
            <p:nvSpPr>
              <p:cNvPr id="23620" name="Rectangle 83"/>
              <p:cNvSpPr>
                <a:spLocks noChangeArrowheads="1"/>
              </p:cNvSpPr>
              <p:nvPr/>
            </p:nvSpPr>
            <p:spPr bwMode="auto">
              <a:xfrm>
                <a:off x="3936" y="1608"/>
                <a:ext cx="1152" cy="528"/>
              </a:xfrm>
              <a:prstGeom prst="rect">
                <a:avLst/>
              </a:prstGeom>
              <a:noFill/>
              <a:ln w="38100" algn="ctr">
                <a:solidFill>
                  <a:schemeClr val="tx1"/>
                </a:solidFill>
                <a:miter lim="800000"/>
                <a:headEnd/>
                <a:tailEnd/>
              </a:ln>
            </p:spPr>
            <p:txBody>
              <a:bodyPr wrap="none" anchor="ctr"/>
              <a:lstStyle/>
              <a:p>
                <a:endParaRPr lang="en-US"/>
              </a:p>
            </p:txBody>
          </p:sp>
          <p:sp>
            <p:nvSpPr>
              <p:cNvPr id="23621" name="Text Box 84"/>
              <p:cNvSpPr txBox="1">
                <a:spLocks noChangeArrowheads="1"/>
              </p:cNvSpPr>
              <p:nvPr/>
            </p:nvSpPr>
            <p:spPr bwMode="auto">
              <a:xfrm>
                <a:off x="4368" y="1728"/>
                <a:ext cx="265" cy="327"/>
              </a:xfrm>
              <a:prstGeom prst="rect">
                <a:avLst/>
              </a:prstGeom>
              <a:noFill/>
              <a:ln w="38100" algn="ctr">
                <a:noFill/>
                <a:miter lim="800000"/>
                <a:headEnd/>
                <a:tailEnd/>
              </a:ln>
            </p:spPr>
            <p:txBody>
              <a:bodyPr wrap="none">
                <a:spAutoFit/>
              </a:bodyPr>
              <a:lstStyle/>
              <a:p>
                <a:pPr algn="ctr"/>
                <a:r>
                  <a:rPr lang="en-US" sz="2800">
                    <a:latin typeface="Arial" charset="0"/>
                  </a:rPr>
                  <a:t>B</a:t>
                </a:r>
              </a:p>
            </p:txBody>
          </p:sp>
        </p:grpSp>
        <p:sp>
          <p:nvSpPr>
            <p:cNvPr id="23596" name="Line 85"/>
            <p:cNvSpPr>
              <a:spLocks noChangeShapeType="1"/>
            </p:cNvSpPr>
            <p:nvPr/>
          </p:nvSpPr>
          <p:spPr bwMode="auto">
            <a:xfrm flipV="1">
              <a:off x="6019800" y="5073650"/>
              <a:ext cx="304800" cy="228600"/>
            </a:xfrm>
            <a:prstGeom prst="line">
              <a:avLst/>
            </a:prstGeom>
            <a:noFill/>
            <a:ln w="38100">
              <a:solidFill>
                <a:schemeClr val="tx1"/>
              </a:solidFill>
              <a:round/>
              <a:headEnd/>
              <a:tailEnd/>
            </a:ln>
          </p:spPr>
          <p:txBody>
            <a:bodyPr wrap="none" anchor="ctr"/>
            <a:lstStyle/>
            <a:p>
              <a:endParaRPr lang="en-US"/>
            </a:p>
          </p:txBody>
        </p:sp>
        <p:sp>
          <p:nvSpPr>
            <p:cNvPr id="23597" name="Line 86"/>
            <p:cNvSpPr>
              <a:spLocks noChangeShapeType="1"/>
            </p:cNvSpPr>
            <p:nvPr/>
          </p:nvSpPr>
          <p:spPr bwMode="auto">
            <a:xfrm>
              <a:off x="6019800" y="5302250"/>
              <a:ext cx="304800" cy="228600"/>
            </a:xfrm>
            <a:prstGeom prst="line">
              <a:avLst/>
            </a:prstGeom>
            <a:noFill/>
            <a:ln w="38100">
              <a:solidFill>
                <a:schemeClr val="tx1"/>
              </a:solidFill>
              <a:round/>
              <a:headEnd/>
              <a:tailEnd/>
            </a:ln>
          </p:spPr>
          <p:txBody>
            <a:bodyPr wrap="none" anchor="ctr"/>
            <a:lstStyle/>
            <a:p>
              <a:endParaRPr lang="en-US"/>
            </a:p>
          </p:txBody>
        </p:sp>
        <p:sp>
          <p:nvSpPr>
            <p:cNvPr id="23598" name="Line 87"/>
            <p:cNvSpPr>
              <a:spLocks noChangeShapeType="1"/>
            </p:cNvSpPr>
            <p:nvPr/>
          </p:nvSpPr>
          <p:spPr bwMode="auto">
            <a:xfrm flipH="1" flipV="1">
              <a:off x="2362200" y="5073650"/>
              <a:ext cx="304800" cy="228600"/>
            </a:xfrm>
            <a:prstGeom prst="line">
              <a:avLst/>
            </a:prstGeom>
            <a:noFill/>
            <a:ln w="38100">
              <a:solidFill>
                <a:schemeClr val="tx1"/>
              </a:solidFill>
              <a:round/>
              <a:headEnd/>
              <a:tailEnd/>
            </a:ln>
          </p:spPr>
          <p:txBody>
            <a:bodyPr wrap="none" anchor="ctr"/>
            <a:lstStyle/>
            <a:p>
              <a:endParaRPr lang="en-US"/>
            </a:p>
          </p:txBody>
        </p:sp>
        <p:sp>
          <p:nvSpPr>
            <p:cNvPr id="23599" name="Line 88"/>
            <p:cNvSpPr>
              <a:spLocks noChangeShapeType="1"/>
            </p:cNvSpPr>
            <p:nvPr/>
          </p:nvSpPr>
          <p:spPr bwMode="auto">
            <a:xfrm flipH="1">
              <a:off x="2362200" y="5302250"/>
              <a:ext cx="304800" cy="228600"/>
            </a:xfrm>
            <a:prstGeom prst="line">
              <a:avLst/>
            </a:prstGeom>
            <a:noFill/>
            <a:ln w="38100">
              <a:solidFill>
                <a:schemeClr val="tx1"/>
              </a:solidFill>
              <a:round/>
              <a:headEnd/>
              <a:tailEnd/>
            </a:ln>
          </p:spPr>
          <p:txBody>
            <a:bodyPr wrap="none" anchor="ctr"/>
            <a:lstStyle/>
            <a:p>
              <a:endParaRPr lang="en-US"/>
            </a:p>
          </p:txBody>
        </p:sp>
        <p:sp>
          <p:nvSpPr>
            <p:cNvPr id="23600" name="Oval 89"/>
            <p:cNvSpPr>
              <a:spLocks noChangeArrowheads="1"/>
            </p:cNvSpPr>
            <p:nvPr/>
          </p:nvSpPr>
          <p:spPr bwMode="auto">
            <a:xfrm flipH="1">
              <a:off x="5638800" y="5149850"/>
              <a:ext cx="304800" cy="304800"/>
            </a:xfrm>
            <a:prstGeom prst="ellipse">
              <a:avLst/>
            </a:prstGeom>
            <a:noFill/>
            <a:ln w="38100" algn="ctr">
              <a:solidFill>
                <a:schemeClr val="tx1"/>
              </a:solidFill>
              <a:round/>
              <a:headEnd/>
              <a:tailEnd/>
            </a:ln>
          </p:spPr>
          <p:txBody>
            <a:bodyPr wrap="none" anchor="ctr"/>
            <a:lstStyle/>
            <a:p>
              <a:endParaRPr lang="en-US"/>
            </a:p>
          </p:txBody>
        </p:sp>
        <p:sp>
          <p:nvSpPr>
            <p:cNvPr id="23601" name="Oval 90"/>
            <p:cNvSpPr>
              <a:spLocks noChangeArrowheads="1"/>
            </p:cNvSpPr>
            <p:nvPr/>
          </p:nvSpPr>
          <p:spPr bwMode="auto">
            <a:xfrm flipH="1">
              <a:off x="2743200" y="5149850"/>
              <a:ext cx="304800" cy="304800"/>
            </a:xfrm>
            <a:prstGeom prst="ellipse">
              <a:avLst/>
            </a:prstGeom>
            <a:noFill/>
            <a:ln w="38100" algn="ctr">
              <a:solidFill>
                <a:schemeClr val="tx1"/>
              </a:solidFill>
              <a:round/>
              <a:headEnd/>
              <a:tailEnd/>
            </a:ln>
          </p:spPr>
          <p:txBody>
            <a:bodyPr wrap="none" anchor="ctr"/>
            <a:lstStyle/>
            <a:p>
              <a:endParaRPr lang="en-US"/>
            </a:p>
          </p:txBody>
        </p:sp>
        <p:sp>
          <p:nvSpPr>
            <p:cNvPr id="23602" name="Line 91"/>
            <p:cNvSpPr>
              <a:spLocks noChangeShapeType="1"/>
            </p:cNvSpPr>
            <p:nvPr/>
          </p:nvSpPr>
          <p:spPr bwMode="auto">
            <a:xfrm>
              <a:off x="2362200" y="5327650"/>
              <a:ext cx="3949700" cy="0"/>
            </a:xfrm>
            <a:prstGeom prst="line">
              <a:avLst/>
            </a:prstGeom>
            <a:noFill/>
            <a:ln w="38100">
              <a:solidFill>
                <a:schemeClr val="tx1"/>
              </a:solidFill>
              <a:round/>
              <a:headEnd/>
              <a:tailEnd/>
            </a:ln>
          </p:spPr>
          <p:txBody>
            <a:bodyPr wrap="none" anchor="ctr"/>
            <a:lstStyle/>
            <a:p>
              <a:endParaRPr lang="en-US"/>
            </a:p>
          </p:txBody>
        </p:sp>
        <p:sp>
          <p:nvSpPr>
            <p:cNvPr id="23603" name="Text Box 92"/>
            <p:cNvSpPr txBox="1">
              <a:spLocks noChangeArrowheads="1"/>
            </p:cNvSpPr>
            <p:nvPr/>
          </p:nvSpPr>
          <p:spPr bwMode="auto">
            <a:xfrm>
              <a:off x="3476625" y="4891088"/>
              <a:ext cx="695325" cy="366712"/>
            </a:xfrm>
            <a:prstGeom prst="rect">
              <a:avLst/>
            </a:prstGeom>
            <a:noFill/>
            <a:ln w="38100" algn="ctr">
              <a:noFill/>
              <a:miter lim="800000"/>
              <a:headEnd/>
              <a:tailEnd/>
            </a:ln>
          </p:spPr>
          <p:txBody>
            <a:bodyPr wrap="none">
              <a:spAutoFit/>
            </a:bodyPr>
            <a:lstStyle/>
            <a:p>
              <a:r>
                <a:rPr lang="en-US"/>
                <a:t>verb</a:t>
              </a:r>
            </a:p>
          </p:txBody>
        </p:sp>
        <p:sp>
          <p:nvSpPr>
            <p:cNvPr id="23604" name="Text Box 93"/>
            <p:cNvSpPr txBox="1">
              <a:spLocks noChangeArrowheads="1"/>
            </p:cNvSpPr>
            <p:nvPr/>
          </p:nvSpPr>
          <p:spPr bwMode="auto">
            <a:xfrm>
              <a:off x="4406900" y="5392738"/>
              <a:ext cx="695325" cy="366712"/>
            </a:xfrm>
            <a:prstGeom prst="rect">
              <a:avLst/>
            </a:prstGeom>
            <a:noFill/>
            <a:ln w="38100" algn="ctr">
              <a:noFill/>
              <a:miter lim="800000"/>
              <a:headEnd/>
              <a:tailEnd/>
            </a:ln>
          </p:spPr>
          <p:txBody>
            <a:bodyPr wrap="none">
              <a:spAutoFit/>
            </a:bodyPr>
            <a:lstStyle/>
            <a:p>
              <a:r>
                <a:rPr lang="en-US"/>
                <a:t>verb</a:t>
              </a:r>
            </a:p>
          </p:txBody>
        </p:sp>
        <p:grpSp>
          <p:nvGrpSpPr>
            <p:cNvPr id="12" name="Group 98"/>
            <p:cNvGrpSpPr>
              <a:grpSpLocks/>
            </p:cNvGrpSpPr>
            <p:nvPr/>
          </p:nvGrpSpPr>
          <p:grpSpPr bwMode="auto">
            <a:xfrm>
              <a:off x="533400" y="5949950"/>
              <a:ext cx="1828800" cy="838200"/>
              <a:chOff x="288" y="1608"/>
              <a:chExt cx="1152" cy="528"/>
            </a:xfrm>
          </p:grpSpPr>
          <p:sp>
            <p:nvSpPr>
              <p:cNvPr id="23618" name="Rectangle 99"/>
              <p:cNvSpPr>
                <a:spLocks noChangeArrowheads="1"/>
              </p:cNvSpPr>
              <p:nvPr/>
            </p:nvSpPr>
            <p:spPr bwMode="auto">
              <a:xfrm>
                <a:off x="288" y="1608"/>
                <a:ext cx="1152" cy="528"/>
              </a:xfrm>
              <a:prstGeom prst="rect">
                <a:avLst/>
              </a:prstGeom>
              <a:noFill/>
              <a:ln w="38100" algn="ctr">
                <a:solidFill>
                  <a:schemeClr val="tx1"/>
                </a:solidFill>
                <a:miter lim="800000"/>
                <a:headEnd/>
                <a:tailEnd/>
              </a:ln>
            </p:spPr>
            <p:txBody>
              <a:bodyPr wrap="none" anchor="ctr"/>
              <a:lstStyle/>
              <a:p>
                <a:endParaRPr lang="en-US"/>
              </a:p>
            </p:txBody>
          </p:sp>
          <p:sp>
            <p:nvSpPr>
              <p:cNvPr id="23619" name="Text Box 100"/>
              <p:cNvSpPr txBox="1">
                <a:spLocks noChangeArrowheads="1"/>
              </p:cNvSpPr>
              <p:nvPr/>
            </p:nvSpPr>
            <p:spPr bwMode="auto">
              <a:xfrm>
                <a:off x="720" y="1728"/>
                <a:ext cx="265" cy="327"/>
              </a:xfrm>
              <a:prstGeom prst="rect">
                <a:avLst/>
              </a:prstGeom>
              <a:noFill/>
              <a:ln w="38100" algn="ctr">
                <a:noFill/>
                <a:miter lim="800000"/>
                <a:headEnd/>
                <a:tailEnd/>
              </a:ln>
            </p:spPr>
            <p:txBody>
              <a:bodyPr wrap="none">
                <a:spAutoFit/>
              </a:bodyPr>
              <a:lstStyle/>
              <a:p>
                <a:pPr algn="ctr"/>
                <a:r>
                  <a:rPr lang="en-US" sz="2800">
                    <a:latin typeface="Arial" charset="0"/>
                  </a:rPr>
                  <a:t>A</a:t>
                </a:r>
              </a:p>
            </p:txBody>
          </p:sp>
        </p:grpSp>
        <p:grpSp>
          <p:nvGrpSpPr>
            <p:cNvPr id="13" name="Group 101"/>
            <p:cNvGrpSpPr>
              <a:grpSpLocks/>
            </p:cNvGrpSpPr>
            <p:nvPr/>
          </p:nvGrpSpPr>
          <p:grpSpPr bwMode="auto">
            <a:xfrm>
              <a:off x="6324600" y="5949950"/>
              <a:ext cx="1828800" cy="838200"/>
              <a:chOff x="3936" y="1608"/>
              <a:chExt cx="1152" cy="528"/>
            </a:xfrm>
          </p:grpSpPr>
          <p:sp>
            <p:nvSpPr>
              <p:cNvPr id="23616" name="Rectangle 102"/>
              <p:cNvSpPr>
                <a:spLocks noChangeArrowheads="1"/>
              </p:cNvSpPr>
              <p:nvPr/>
            </p:nvSpPr>
            <p:spPr bwMode="auto">
              <a:xfrm>
                <a:off x="3936" y="1608"/>
                <a:ext cx="1152" cy="528"/>
              </a:xfrm>
              <a:prstGeom prst="rect">
                <a:avLst/>
              </a:prstGeom>
              <a:noFill/>
              <a:ln w="38100" algn="ctr">
                <a:solidFill>
                  <a:schemeClr val="tx1"/>
                </a:solidFill>
                <a:miter lim="800000"/>
                <a:headEnd/>
                <a:tailEnd/>
              </a:ln>
            </p:spPr>
            <p:txBody>
              <a:bodyPr wrap="none" anchor="ctr"/>
              <a:lstStyle/>
              <a:p>
                <a:endParaRPr lang="en-US"/>
              </a:p>
            </p:txBody>
          </p:sp>
          <p:sp>
            <p:nvSpPr>
              <p:cNvPr id="23617" name="Text Box 103"/>
              <p:cNvSpPr txBox="1">
                <a:spLocks noChangeArrowheads="1"/>
              </p:cNvSpPr>
              <p:nvPr/>
            </p:nvSpPr>
            <p:spPr bwMode="auto">
              <a:xfrm>
                <a:off x="4368" y="1728"/>
                <a:ext cx="265" cy="327"/>
              </a:xfrm>
              <a:prstGeom prst="rect">
                <a:avLst/>
              </a:prstGeom>
              <a:noFill/>
              <a:ln w="38100" algn="ctr">
                <a:noFill/>
                <a:miter lim="800000"/>
                <a:headEnd/>
                <a:tailEnd/>
              </a:ln>
            </p:spPr>
            <p:txBody>
              <a:bodyPr wrap="none">
                <a:spAutoFit/>
              </a:bodyPr>
              <a:lstStyle/>
              <a:p>
                <a:pPr algn="ctr"/>
                <a:r>
                  <a:rPr lang="en-US" sz="2800">
                    <a:latin typeface="Arial" charset="0"/>
                  </a:rPr>
                  <a:t>B</a:t>
                </a:r>
              </a:p>
            </p:txBody>
          </p:sp>
        </p:grpSp>
        <p:sp>
          <p:nvSpPr>
            <p:cNvPr id="23607" name="Line 104"/>
            <p:cNvSpPr>
              <a:spLocks noChangeShapeType="1"/>
            </p:cNvSpPr>
            <p:nvPr/>
          </p:nvSpPr>
          <p:spPr bwMode="auto">
            <a:xfrm flipV="1">
              <a:off x="6019800" y="6140450"/>
              <a:ext cx="304800" cy="228600"/>
            </a:xfrm>
            <a:prstGeom prst="line">
              <a:avLst/>
            </a:prstGeom>
            <a:noFill/>
            <a:ln w="38100">
              <a:solidFill>
                <a:schemeClr val="tx1"/>
              </a:solidFill>
              <a:round/>
              <a:headEnd/>
              <a:tailEnd/>
            </a:ln>
          </p:spPr>
          <p:txBody>
            <a:bodyPr wrap="none" anchor="ctr"/>
            <a:lstStyle/>
            <a:p>
              <a:endParaRPr lang="en-US"/>
            </a:p>
          </p:txBody>
        </p:sp>
        <p:sp>
          <p:nvSpPr>
            <p:cNvPr id="23608" name="Line 105"/>
            <p:cNvSpPr>
              <a:spLocks noChangeShapeType="1"/>
            </p:cNvSpPr>
            <p:nvPr/>
          </p:nvSpPr>
          <p:spPr bwMode="auto">
            <a:xfrm>
              <a:off x="6019800" y="6369050"/>
              <a:ext cx="304800" cy="228600"/>
            </a:xfrm>
            <a:prstGeom prst="line">
              <a:avLst/>
            </a:prstGeom>
            <a:noFill/>
            <a:ln w="38100">
              <a:solidFill>
                <a:schemeClr val="tx1"/>
              </a:solidFill>
              <a:round/>
              <a:headEnd/>
              <a:tailEnd/>
            </a:ln>
          </p:spPr>
          <p:txBody>
            <a:bodyPr wrap="none" anchor="ctr"/>
            <a:lstStyle/>
            <a:p>
              <a:endParaRPr lang="en-US"/>
            </a:p>
          </p:txBody>
        </p:sp>
        <p:sp>
          <p:nvSpPr>
            <p:cNvPr id="23609" name="Line 106"/>
            <p:cNvSpPr>
              <a:spLocks noChangeShapeType="1"/>
            </p:cNvSpPr>
            <p:nvPr/>
          </p:nvSpPr>
          <p:spPr bwMode="auto">
            <a:xfrm flipH="1" flipV="1">
              <a:off x="2362200" y="6140450"/>
              <a:ext cx="304800" cy="228600"/>
            </a:xfrm>
            <a:prstGeom prst="line">
              <a:avLst/>
            </a:prstGeom>
            <a:noFill/>
            <a:ln w="38100">
              <a:solidFill>
                <a:schemeClr val="tx1"/>
              </a:solidFill>
              <a:round/>
              <a:headEnd/>
              <a:tailEnd/>
            </a:ln>
          </p:spPr>
          <p:txBody>
            <a:bodyPr wrap="none" anchor="ctr"/>
            <a:lstStyle/>
            <a:p>
              <a:endParaRPr lang="en-US"/>
            </a:p>
          </p:txBody>
        </p:sp>
        <p:sp>
          <p:nvSpPr>
            <p:cNvPr id="23610" name="Line 107"/>
            <p:cNvSpPr>
              <a:spLocks noChangeShapeType="1"/>
            </p:cNvSpPr>
            <p:nvPr/>
          </p:nvSpPr>
          <p:spPr bwMode="auto">
            <a:xfrm flipH="1">
              <a:off x="2362200" y="6369050"/>
              <a:ext cx="304800" cy="228600"/>
            </a:xfrm>
            <a:prstGeom prst="line">
              <a:avLst/>
            </a:prstGeom>
            <a:noFill/>
            <a:ln w="38100">
              <a:solidFill>
                <a:schemeClr val="tx1"/>
              </a:solidFill>
              <a:round/>
              <a:headEnd/>
              <a:tailEnd/>
            </a:ln>
          </p:spPr>
          <p:txBody>
            <a:bodyPr wrap="none" anchor="ctr"/>
            <a:lstStyle/>
            <a:p>
              <a:endParaRPr lang="en-US"/>
            </a:p>
          </p:txBody>
        </p:sp>
        <p:sp>
          <p:nvSpPr>
            <p:cNvPr id="23611" name="Line 108"/>
            <p:cNvSpPr>
              <a:spLocks noChangeShapeType="1"/>
            </p:cNvSpPr>
            <p:nvPr/>
          </p:nvSpPr>
          <p:spPr bwMode="auto">
            <a:xfrm>
              <a:off x="2743200" y="6140450"/>
              <a:ext cx="0" cy="457200"/>
            </a:xfrm>
            <a:prstGeom prst="line">
              <a:avLst/>
            </a:prstGeom>
            <a:noFill/>
            <a:ln w="38100">
              <a:solidFill>
                <a:schemeClr val="tx1"/>
              </a:solidFill>
              <a:round/>
              <a:headEnd/>
              <a:tailEnd/>
            </a:ln>
          </p:spPr>
          <p:txBody>
            <a:bodyPr wrap="none" anchor="ctr"/>
            <a:lstStyle/>
            <a:p>
              <a:endParaRPr lang="en-US"/>
            </a:p>
          </p:txBody>
        </p:sp>
        <p:sp>
          <p:nvSpPr>
            <p:cNvPr id="23612" name="Line 109"/>
            <p:cNvSpPr>
              <a:spLocks noChangeShapeType="1"/>
            </p:cNvSpPr>
            <p:nvPr/>
          </p:nvSpPr>
          <p:spPr bwMode="auto">
            <a:xfrm>
              <a:off x="5943600" y="6140450"/>
              <a:ext cx="0" cy="457200"/>
            </a:xfrm>
            <a:prstGeom prst="line">
              <a:avLst/>
            </a:prstGeom>
            <a:noFill/>
            <a:ln w="38100">
              <a:solidFill>
                <a:schemeClr val="tx1"/>
              </a:solidFill>
              <a:round/>
              <a:headEnd/>
              <a:tailEnd/>
            </a:ln>
          </p:spPr>
          <p:txBody>
            <a:bodyPr wrap="none" anchor="ctr"/>
            <a:lstStyle/>
            <a:p>
              <a:endParaRPr lang="en-US"/>
            </a:p>
          </p:txBody>
        </p:sp>
        <p:sp>
          <p:nvSpPr>
            <p:cNvPr id="23613" name="Line 110"/>
            <p:cNvSpPr>
              <a:spLocks noChangeShapeType="1"/>
            </p:cNvSpPr>
            <p:nvPr/>
          </p:nvSpPr>
          <p:spPr bwMode="auto">
            <a:xfrm>
              <a:off x="2362200" y="6394450"/>
              <a:ext cx="3949700" cy="0"/>
            </a:xfrm>
            <a:prstGeom prst="line">
              <a:avLst/>
            </a:prstGeom>
            <a:noFill/>
            <a:ln w="38100">
              <a:solidFill>
                <a:schemeClr val="tx1"/>
              </a:solidFill>
              <a:round/>
              <a:headEnd/>
              <a:tailEnd/>
            </a:ln>
          </p:spPr>
          <p:txBody>
            <a:bodyPr wrap="none" anchor="ctr"/>
            <a:lstStyle/>
            <a:p>
              <a:endParaRPr lang="en-US"/>
            </a:p>
          </p:txBody>
        </p:sp>
        <p:sp>
          <p:nvSpPr>
            <p:cNvPr id="23614" name="Text Box 111"/>
            <p:cNvSpPr txBox="1">
              <a:spLocks noChangeArrowheads="1"/>
            </p:cNvSpPr>
            <p:nvPr/>
          </p:nvSpPr>
          <p:spPr bwMode="auto">
            <a:xfrm>
              <a:off x="3476625" y="5957888"/>
              <a:ext cx="695325" cy="366712"/>
            </a:xfrm>
            <a:prstGeom prst="rect">
              <a:avLst/>
            </a:prstGeom>
            <a:noFill/>
            <a:ln w="38100" algn="ctr">
              <a:noFill/>
              <a:miter lim="800000"/>
              <a:headEnd/>
              <a:tailEnd/>
            </a:ln>
          </p:spPr>
          <p:txBody>
            <a:bodyPr wrap="none">
              <a:spAutoFit/>
            </a:bodyPr>
            <a:lstStyle/>
            <a:p>
              <a:r>
                <a:rPr lang="en-US"/>
                <a:t>verb</a:t>
              </a:r>
            </a:p>
          </p:txBody>
        </p:sp>
        <p:sp>
          <p:nvSpPr>
            <p:cNvPr id="23615" name="Text Box 112"/>
            <p:cNvSpPr txBox="1">
              <a:spLocks noChangeArrowheads="1"/>
            </p:cNvSpPr>
            <p:nvPr/>
          </p:nvSpPr>
          <p:spPr bwMode="auto">
            <a:xfrm>
              <a:off x="4406900" y="6459538"/>
              <a:ext cx="695325" cy="366712"/>
            </a:xfrm>
            <a:prstGeom prst="rect">
              <a:avLst/>
            </a:prstGeom>
            <a:noFill/>
            <a:ln w="38100" algn="ctr">
              <a:noFill/>
              <a:miter lim="800000"/>
              <a:headEnd/>
              <a:tailEnd/>
            </a:ln>
          </p:spPr>
          <p:txBody>
            <a:bodyPr wrap="none">
              <a:spAutoFit/>
            </a:bodyPr>
            <a:lstStyle/>
            <a:p>
              <a:r>
                <a:rPr lang="en-US"/>
                <a:t>verb</a:t>
              </a:r>
            </a:p>
          </p:txBody>
        </p:sp>
      </p:grpSp>
      <p:cxnSp>
        <p:nvCxnSpPr>
          <p:cNvPr id="90" name="Straight Connector 89"/>
          <p:cNvCxnSpPr/>
          <p:nvPr/>
        </p:nvCxnSpPr>
        <p:spPr>
          <a:xfrm>
            <a:off x="2286000" y="5105400"/>
            <a:ext cx="2743200" cy="160020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rot="10800000" flipV="1">
            <a:off x="2438400" y="5029200"/>
            <a:ext cx="2667000" cy="182880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are the business rules?</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1143000" y="4191000"/>
            <a:ext cx="7032978" cy="2133600"/>
          </a:xfrm>
          <a:prstGeom prst="rect">
            <a:avLst/>
          </a:prstGeom>
          <a:noFill/>
          <a:ln w="9525">
            <a:noFill/>
            <a:miter lim="800000"/>
            <a:headEnd/>
            <a:tailEnd/>
          </a:ln>
        </p:spPr>
      </p:pic>
      <p:pic>
        <p:nvPicPr>
          <p:cNvPr id="5" name="Picture 2"/>
          <p:cNvPicPr>
            <a:picLocks noChangeAspect="1" noChangeArrowheads="1"/>
          </p:cNvPicPr>
          <p:nvPr/>
        </p:nvPicPr>
        <p:blipFill>
          <a:blip r:embed="rId3" cstate="print"/>
          <a:srcRect/>
          <a:stretch>
            <a:fillRect/>
          </a:stretch>
        </p:blipFill>
        <p:spPr bwMode="auto">
          <a:xfrm>
            <a:off x="454378" y="1447800"/>
            <a:ext cx="8015111" cy="1905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t>Outline</a:t>
            </a:r>
          </a:p>
        </p:txBody>
      </p:sp>
      <p:sp>
        <p:nvSpPr>
          <p:cNvPr id="14339" name="Rectangle 3"/>
          <p:cNvSpPr>
            <a:spLocks noGrp="1" noChangeArrowheads="1"/>
          </p:cNvSpPr>
          <p:nvPr>
            <p:ph idx="1"/>
          </p:nvPr>
        </p:nvSpPr>
        <p:spPr/>
        <p:txBody>
          <a:bodyPr>
            <a:normAutofit/>
          </a:bodyPr>
          <a:lstStyle/>
          <a:p>
            <a:pPr marL="624078" indent="-514350">
              <a:buFont typeface="+mj-lt"/>
              <a:buAutoNum type="arabicPeriod"/>
            </a:pPr>
            <a:r>
              <a:rPr lang="en-US" dirty="0" smtClean="0">
                <a:solidFill>
                  <a:schemeClr val="accent2">
                    <a:lumMod val="60000"/>
                    <a:lumOff val="40000"/>
                  </a:schemeClr>
                </a:solidFill>
              </a:rPr>
              <a:t>Overview of data modeling</a:t>
            </a:r>
          </a:p>
          <a:p>
            <a:pPr marL="624078" indent="-514350">
              <a:buFont typeface="+mj-lt"/>
              <a:buAutoNum type="arabicPeriod"/>
            </a:pPr>
            <a:r>
              <a:rPr lang="en-US" dirty="0" smtClean="0">
                <a:solidFill>
                  <a:schemeClr val="accent2">
                    <a:lumMod val="60000"/>
                    <a:lumOff val="40000"/>
                  </a:schemeClr>
                </a:solidFill>
              </a:rPr>
              <a:t>Elements </a:t>
            </a:r>
            <a:r>
              <a:rPr lang="en-US" dirty="0">
                <a:solidFill>
                  <a:schemeClr val="accent2">
                    <a:lumMod val="60000"/>
                    <a:lumOff val="40000"/>
                  </a:schemeClr>
                </a:solidFill>
              </a:rPr>
              <a:t>of </a:t>
            </a:r>
            <a:r>
              <a:rPr lang="en-US" dirty="0" smtClean="0">
                <a:solidFill>
                  <a:schemeClr val="accent2">
                    <a:lumMod val="60000"/>
                    <a:lumOff val="40000"/>
                  </a:schemeClr>
                </a:solidFill>
              </a:rPr>
              <a:t>ERD</a:t>
            </a:r>
          </a:p>
          <a:p>
            <a:pPr marL="624078" indent="-514350">
              <a:buFont typeface="+mj-lt"/>
              <a:buAutoNum type="arabicPeriod"/>
            </a:pPr>
            <a:r>
              <a:rPr lang="en-US" dirty="0" smtClean="0">
                <a:solidFill>
                  <a:schemeClr val="accent2">
                    <a:lumMod val="60000"/>
                    <a:lumOff val="40000"/>
                  </a:schemeClr>
                </a:solidFill>
              </a:rPr>
              <a:t>Cardinality, participation</a:t>
            </a:r>
          </a:p>
          <a:p>
            <a:pPr marL="624078" indent="-514350">
              <a:buFont typeface="+mj-lt"/>
              <a:buAutoNum type="arabicPeriod"/>
            </a:pPr>
            <a:endParaRPr lang="en-US" dirty="0" smtClean="0"/>
          </a:p>
          <a:p>
            <a:pPr marL="624078" indent="-514350">
              <a:buFont typeface="+mj-lt"/>
              <a:buAutoNum type="arabicPeriod"/>
            </a:pPr>
            <a:r>
              <a:rPr lang="en-US" dirty="0" smtClean="0"/>
              <a:t>Degree of relationships</a:t>
            </a:r>
          </a:p>
          <a:p>
            <a:pPr marL="916686" lvl="1" indent="-514350">
              <a:buFont typeface="+mj-lt"/>
              <a:buAutoNum type="arabicPeriod"/>
            </a:pPr>
            <a:r>
              <a:rPr lang="en-US" dirty="0" smtClean="0"/>
              <a:t>Unary</a:t>
            </a:r>
          </a:p>
          <a:p>
            <a:pPr marL="916686" lvl="1" indent="-514350">
              <a:buFont typeface="+mj-lt"/>
              <a:buAutoNum type="arabicPeriod"/>
            </a:pPr>
            <a:r>
              <a:rPr lang="en-US" dirty="0" smtClean="0"/>
              <a:t>Binary</a:t>
            </a:r>
          </a:p>
          <a:p>
            <a:pPr marL="916686" lvl="1" indent="-514350">
              <a:buFont typeface="+mj-lt"/>
              <a:buAutoNum type="arabicPeriod"/>
            </a:pPr>
            <a:r>
              <a:rPr lang="en-US" dirty="0" smtClean="0"/>
              <a:t>Ternary</a:t>
            </a:r>
          </a:p>
          <a:p>
            <a:pPr marL="624078" indent="-514350">
              <a:buFont typeface="+mj-lt"/>
              <a:buAutoNum type="arabicPeriod"/>
            </a:pPr>
            <a:endParaRPr lang="en-US" dirty="0" smtClean="0"/>
          </a:p>
          <a:p>
            <a:pPr marL="624078" indent="-514350">
              <a:buFont typeface="+mj-lt"/>
              <a:buAutoNum type="arabicPeriod"/>
            </a:pPr>
            <a:r>
              <a:rPr lang="en-US" dirty="0">
                <a:solidFill>
                  <a:schemeClr val="bg2">
                    <a:lumMod val="50000"/>
                  </a:schemeClr>
                </a:solidFill>
              </a:rPr>
              <a:t>Identifying or non-identifying PK?</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a:lstStyle/>
          <a:p>
            <a:r>
              <a:rPr lang="en-US" dirty="0" smtClean="0"/>
              <a:t>Degree </a:t>
            </a:r>
            <a:r>
              <a:rPr lang="en-US" dirty="0"/>
              <a:t>of Relationships</a:t>
            </a:r>
          </a:p>
        </p:txBody>
      </p:sp>
      <p:sp>
        <p:nvSpPr>
          <p:cNvPr id="8195" name="Rectangle 3"/>
          <p:cNvSpPr>
            <a:spLocks noGrp="1" noChangeArrowheads="1"/>
          </p:cNvSpPr>
          <p:nvPr>
            <p:ph idx="1"/>
          </p:nvPr>
        </p:nvSpPr>
        <p:spPr>
          <a:xfrm>
            <a:off x="457200" y="1752600"/>
            <a:ext cx="8458200" cy="4821936"/>
          </a:xfrm>
          <a:noFill/>
          <a:ln/>
        </p:spPr>
        <p:txBody>
          <a:bodyPr>
            <a:normAutofit/>
          </a:bodyPr>
          <a:lstStyle/>
          <a:p>
            <a:pPr>
              <a:lnSpc>
                <a:spcPct val="90000"/>
              </a:lnSpc>
            </a:pPr>
            <a:r>
              <a:rPr lang="en-US" sz="2800" dirty="0"/>
              <a:t>Degree of a relationship</a:t>
            </a:r>
          </a:p>
          <a:p>
            <a:pPr lvl="1">
              <a:lnSpc>
                <a:spcPct val="90000"/>
              </a:lnSpc>
            </a:pPr>
            <a:r>
              <a:rPr lang="en-US" sz="2400" dirty="0"/>
              <a:t>The number of </a:t>
            </a:r>
            <a:r>
              <a:rPr lang="en-US" sz="2400" dirty="0" smtClean="0"/>
              <a:t>entities that </a:t>
            </a:r>
            <a:r>
              <a:rPr lang="en-US" sz="2400" dirty="0"/>
              <a:t>participate in a </a:t>
            </a:r>
            <a:r>
              <a:rPr lang="en-US" sz="2400" dirty="0" smtClean="0"/>
              <a:t>relationship</a:t>
            </a:r>
            <a:br>
              <a:rPr lang="en-US" sz="2400" dirty="0" smtClean="0"/>
            </a:br>
            <a:endParaRPr lang="en-US" sz="2400" dirty="0"/>
          </a:p>
          <a:p>
            <a:pPr>
              <a:lnSpc>
                <a:spcPct val="90000"/>
              </a:lnSpc>
            </a:pPr>
            <a:r>
              <a:rPr lang="en-US" sz="2800" dirty="0"/>
              <a:t>Three main types of degrees</a:t>
            </a:r>
          </a:p>
          <a:p>
            <a:pPr lvl="1">
              <a:lnSpc>
                <a:spcPct val="90000"/>
              </a:lnSpc>
            </a:pPr>
            <a:r>
              <a:rPr lang="en-US" sz="2400" dirty="0"/>
              <a:t>Unary </a:t>
            </a:r>
            <a:r>
              <a:rPr lang="en-US" sz="2400" dirty="0" smtClean="0"/>
              <a:t>relationship: involves only 1 entity</a:t>
            </a:r>
            <a:endParaRPr lang="en-US" sz="2400" dirty="0"/>
          </a:p>
          <a:p>
            <a:pPr lvl="1">
              <a:lnSpc>
                <a:spcPct val="90000"/>
              </a:lnSpc>
            </a:pPr>
            <a:r>
              <a:rPr lang="en-US" sz="2400" dirty="0"/>
              <a:t>Binary relationship (most common</a:t>
            </a:r>
            <a:r>
              <a:rPr lang="en-US" sz="2400" dirty="0" smtClean="0"/>
              <a:t>): involves 2 entities</a:t>
            </a:r>
            <a:endParaRPr lang="en-US" sz="2400" dirty="0"/>
          </a:p>
          <a:p>
            <a:pPr lvl="1">
              <a:lnSpc>
                <a:spcPct val="90000"/>
              </a:lnSpc>
            </a:pPr>
            <a:r>
              <a:rPr lang="en-US" sz="2400" dirty="0"/>
              <a:t>Ternary </a:t>
            </a:r>
            <a:r>
              <a:rPr lang="en-US" sz="2400" dirty="0" smtClean="0"/>
              <a:t>relationship: involves 3+ entities</a:t>
            </a:r>
            <a:endParaRPr lang="en-US" sz="2400" dirty="0"/>
          </a:p>
          <a:p>
            <a:pPr lvl="1">
              <a:lnSpc>
                <a:spcPct val="90000"/>
              </a:lnSpc>
            </a:pPr>
            <a:r>
              <a:rPr lang="en-US" sz="2400" dirty="0"/>
              <a:t>Higher is possible but </a:t>
            </a:r>
            <a:r>
              <a:rPr lang="en-US" sz="2400" dirty="0" smtClean="0"/>
              <a:t>rarely implemented</a:t>
            </a:r>
            <a:endParaRPr lang="en-US" sz="2400" dirty="0"/>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ln/>
          <a:effectLst/>
        </p:spPr>
        <p:txBody>
          <a:bodyPr>
            <a:normAutofit fontScale="90000"/>
          </a:bodyPr>
          <a:lstStyle/>
          <a:p>
            <a:r>
              <a:rPr lang="en-US" sz="4000" dirty="0"/>
              <a:t>Relationships of Different </a:t>
            </a:r>
            <a:r>
              <a:rPr lang="en-US" sz="4000" dirty="0" smtClean="0"/>
              <a:t>Degrees:</a:t>
            </a:r>
            <a:br>
              <a:rPr lang="en-US" sz="4000" dirty="0" smtClean="0"/>
            </a:br>
            <a:r>
              <a:rPr lang="en-US" sz="4000" dirty="0" smtClean="0"/>
              <a:t>Unary Relationships—1 Entity</a:t>
            </a:r>
            <a:endParaRPr lang="en-US" dirty="0"/>
          </a:p>
        </p:txBody>
      </p:sp>
      <p:sp>
        <p:nvSpPr>
          <p:cNvPr id="8" name="Content Placeholder 7"/>
          <p:cNvSpPr>
            <a:spLocks noGrp="1"/>
          </p:cNvSpPr>
          <p:nvPr>
            <p:ph idx="1"/>
          </p:nvPr>
        </p:nvSpPr>
        <p:spPr/>
        <p:txBody>
          <a:bodyPr>
            <a:normAutofit/>
          </a:bodyPr>
          <a:lstStyle/>
          <a:p>
            <a:r>
              <a:rPr lang="en-US" sz="2400" i="1" dirty="0" err="1" smtClean="0"/>
              <a:t>Employee:Manager</a:t>
            </a:r>
            <a:r>
              <a:rPr lang="en-US" sz="2400" i="1" dirty="0" smtClean="0"/>
              <a:t>—a 1:M Recursive Relationship</a:t>
            </a:r>
          </a:p>
          <a:p>
            <a:r>
              <a:rPr lang="en-US" sz="2400" dirty="0" smtClean="0"/>
              <a:t>Notice both effects of the optional participation</a:t>
            </a:r>
          </a:p>
        </p:txBody>
      </p:sp>
      <p:graphicFrame>
        <p:nvGraphicFramePr>
          <p:cNvPr id="7" name="Table 6"/>
          <p:cNvGraphicFramePr>
            <a:graphicFrameLocks noGrp="1"/>
          </p:cNvGraphicFramePr>
          <p:nvPr/>
        </p:nvGraphicFramePr>
        <p:xfrm>
          <a:off x="762000" y="5257800"/>
          <a:ext cx="6248400" cy="1066800"/>
        </p:xfrm>
        <a:graphic>
          <a:graphicData uri="http://schemas.openxmlformats.org/drawingml/2006/table">
            <a:tbl>
              <a:tblPr/>
              <a:tblGrid>
                <a:gridCol w="2082800"/>
                <a:gridCol w="2082800"/>
                <a:gridCol w="2082800"/>
              </a:tblGrid>
              <a:tr h="0">
                <a:tc>
                  <a:txBody>
                    <a:bodyPr/>
                    <a:lstStyle/>
                    <a:p>
                      <a:pPr marL="0" marR="0">
                        <a:spcBef>
                          <a:spcPts val="0"/>
                        </a:spcBef>
                        <a:spcAft>
                          <a:spcPts val="0"/>
                        </a:spcAft>
                      </a:pPr>
                      <a:r>
                        <a:rPr lang="en-US" sz="1400" b="1" dirty="0" err="1">
                          <a:latin typeface="Calibri"/>
                          <a:ea typeface="Calibri"/>
                          <a:cs typeface="Times New Roman"/>
                        </a:rPr>
                        <a:t>Employee_ID</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L="0" marR="0">
                        <a:spcBef>
                          <a:spcPts val="0"/>
                        </a:spcBef>
                        <a:spcAft>
                          <a:spcPts val="0"/>
                        </a:spcAft>
                      </a:pPr>
                      <a:r>
                        <a:rPr lang="en-US" sz="1400" b="1" dirty="0" smtClean="0">
                          <a:latin typeface="Calibri"/>
                          <a:ea typeface="Calibri"/>
                          <a:cs typeface="Times New Roman"/>
                        </a:rPr>
                        <a:t>First Name</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L="0" marR="0">
                        <a:spcBef>
                          <a:spcPts val="0"/>
                        </a:spcBef>
                        <a:spcAft>
                          <a:spcPts val="0"/>
                        </a:spcAft>
                      </a:pPr>
                      <a:r>
                        <a:rPr lang="en-US" sz="1400" b="1" dirty="0">
                          <a:latin typeface="Calibri"/>
                          <a:ea typeface="Calibri"/>
                          <a:cs typeface="Times New Roman"/>
                        </a:rPr>
                        <a:t>Manager</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0">
                <a:tc>
                  <a:txBody>
                    <a:bodyPr/>
                    <a:lstStyle/>
                    <a:p>
                      <a:pPr marL="0" marR="0">
                        <a:spcBef>
                          <a:spcPts val="0"/>
                        </a:spcBef>
                        <a:spcAft>
                          <a:spcPts val="0"/>
                        </a:spcAft>
                      </a:pPr>
                      <a:r>
                        <a:rPr lang="en-US" sz="14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a:latin typeface="Calibri"/>
                          <a:ea typeface="Calibri"/>
                          <a:cs typeface="Times New Roman"/>
                        </a:rPr>
                        <a:t>Heather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spcBef>
                          <a:spcPts val="0"/>
                        </a:spcBef>
                        <a:spcAft>
                          <a:spcPts val="0"/>
                        </a:spcAft>
                      </a:pPr>
                      <a:r>
                        <a:rPr lang="en-US" sz="1400">
                          <a:latin typeface="Calibri"/>
                          <a:ea typeface="Calibri"/>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a:latin typeface="Calibri"/>
                          <a:ea typeface="Calibri"/>
                          <a:cs typeface="Times New Roman"/>
                        </a:rPr>
                        <a:t>Lisa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smtClean="0">
                          <a:latin typeface="Calibri"/>
                          <a:ea typeface="Calibri"/>
                          <a:cs typeface="Times New Roman"/>
                        </a:rPr>
                        <a:t>1</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spcBef>
                          <a:spcPts val="0"/>
                        </a:spcBef>
                        <a:spcAft>
                          <a:spcPts val="0"/>
                        </a:spcAft>
                      </a:pPr>
                      <a:r>
                        <a:rPr lang="en-US" sz="1400">
                          <a:latin typeface="Calibri"/>
                          <a:ea typeface="Calibri"/>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a:latin typeface="Calibri"/>
                          <a:ea typeface="Calibri"/>
                          <a:cs typeface="Times New Roman"/>
                        </a:rPr>
                        <a:t>Maxine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smtClean="0">
                          <a:latin typeface="Calibri"/>
                          <a:ea typeface="Calibri"/>
                          <a:cs typeface="Times New Roman"/>
                        </a:rPr>
                        <a:t>1</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spcBef>
                          <a:spcPts val="0"/>
                        </a:spcBef>
                        <a:spcAft>
                          <a:spcPts val="0"/>
                        </a:spcAft>
                      </a:pPr>
                      <a:r>
                        <a:rPr lang="en-US" sz="1400">
                          <a:latin typeface="Calibri"/>
                          <a:ea typeface="Calibri"/>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a:latin typeface="Calibri"/>
                          <a:ea typeface="Calibri"/>
                          <a:cs typeface="Times New Roman"/>
                        </a:rPr>
                        <a:t>Gertrude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400" dirty="0" smtClean="0">
                          <a:latin typeface="Calibri"/>
                          <a:ea typeface="Calibri"/>
                          <a:cs typeface="Times New Roman"/>
                        </a:rPr>
                        <a:t>1</a:t>
                      </a:r>
                      <a:endParaRPr lang="en-US" sz="14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5266" y="2895600"/>
            <a:ext cx="6132334"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 Unary 1:1 Recursive Relationship</a:t>
            </a:r>
            <a:endParaRPr lang="en-US" dirty="0"/>
          </a:p>
        </p:txBody>
      </p:sp>
      <p:sp>
        <p:nvSpPr>
          <p:cNvPr id="3" name="Content Placeholder 2"/>
          <p:cNvSpPr>
            <a:spLocks noGrp="1"/>
          </p:cNvSpPr>
          <p:nvPr>
            <p:ph idx="1"/>
          </p:nvPr>
        </p:nvSpPr>
        <p:spPr/>
        <p:txBody>
          <a:bodyPr/>
          <a:lstStyle/>
          <a:p>
            <a:r>
              <a:rPr lang="en-US" dirty="0" smtClean="0"/>
              <a:t>What are the business rules?</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2862262"/>
            <a:ext cx="7699044" cy="1785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066800"/>
          </a:xfrm>
        </p:spPr>
        <p:txBody>
          <a:bodyPr>
            <a:normAutofit/>
          </a:bodyPr>
          <a:lstStyle/>
          <a:p>
            <a:r>
              <a:rPr lang="en-US" dirty="0" smtClean="0"/>
              <a:t>Unary 1:1 Recursive Relationship</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2825799512"/>
              </p:ext>
            </p:extLst>
          </p:nvPr>
        </p:nvGraphicFramePr>
        <p:xfrm>
          <a:off x="152400" y="3886200"/>
          <a:ext cx="8534400" cy="2666997"/>
        </p:xfrm>
        <a:graphic>
          <a:graphicData uri="http://schemas.openxmlformats.org/drawingml/2006/table">
            <a:tbl>
              <a:tblPr/>
              <a:tblGrid>
                <a:gridCol w="1295400"/>
                <a:gridCol w="2971800"/>
                <a:gridCol w="2133600"/>
                <a:gridCol w="2133600"/>
              </a:tblGrid>
              <a:tr h="296333">
                <a:tc>
                  <a:txBody>
                    <a:bodyPr/>
                    <a:lstStyle/>
                    <a:p>
                      <a:pPr marL="0" marR="0">
                        <a:spcBef>
                          <a:spcPts val="0"/>
                        </a:spcBef>
                        <a:spcAft>
                          <a:spcPts val="0"/>
                        </a:spcAft>
                      </a:pPr>
                      <a:r>
                        <a:rPr lang="en-US" sz="1800" b="1" dirty="0" err="1">
                          <a:latin typeface="Calibri"/>
                          <a:ea typeface="Calibri"/>
                          <a:cs typeface="Times New Roman"/>
                        </a:rPr>
                        <a:t>Module_ID</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L="0" marR="0">
                        <a:spcBef>
                          <a:spcPts val="0"/>
                        </a:spcBef>
                        <a:spcAft>
                          <a:spcPts val="0"/>
                        </a:spcAft>
                      </a:pPr>
                      <a:r>
                        <a:rPr lang="en-US" sz="1800" b="1" dirty="0">
                          <a:latin typeface="Calibri"/>
                          <a:ea typeface="Calibri"/>
                          <a:cs typeface="Times New Roman"/>
                        </a:rPr>
                        <a:t>Module Name</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L="0" marR="0">
                        <a:spcBef>
                          <a:spcPts val="0"/>
                        </a:spcBef>
                        <a:spcAft>
                          <a:spcPts val="0"/>
                        </a:spcAft>
                      </a:pPr>
                      <a:r>
                        <a:rPr lang="en-US" sz="1800" b="1" dirty="0">
                          <a:latin typeface="Calibri"/>
                          <a:ea typeface="Calibri"/>
                          <a:cs typeface="Times New Roman"/>
                        </a:rPr>
                        <a:t>Training Time</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L="0" marR="0">
                        <a:spcBef>
                          <a:spcPts val="0"/>
                        </a:spcBef>
                        <a:spcAft>
                          <a:spcPts val="0"/>
                        </a:spcAft>
                      </a:pPr>
                      <a:r>
                        <a:rPr lang="en-US" sz="1800" b="1" dirty="0">
                          <a:latin typeface="Calibri"/>
                          <a:ea typeface="Calibri"/>
                          <a:cs typeface="Times New Roman"/>
                        </a:rPr>
                        <a:t>Prerequisite Module</a:t>
                      </a: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296333">
                <a:tc>
                  <a:txBody>
                    <a:bodyPr/>
                    <a:lstStyle/>
                    <a:p>
                      <a:pPr marL="0" marR="0">
                        <a:spcBef>
                          <a:spcPts val="0"/>
                        </a:spcBef>
                        <a:spcAft>
                          <a:spcPts val="0"/>
                        </a:spcAft>
                      </a:pPr>
                      <a:r>
                        <a:rPr lang="en-US" sz="1800">
                          <a:latin typeface="Calibri"/>
                          <a:ea typeface="Calibri"/>
                          <a:cs typeface="Times New Roman"/>
                        </a:rPr>
                        <a:t>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latin typeface="Calibri"/>
                          <a:ea typeface="Calibri"/>
                          <a:cs typeface="Times New Roman"/>
                        </a:rPr>
                        <a:t>Beginning Database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333">
                <a:tc>
                  <a:txBody>
                    <a:bodyPr/>
                    <a:lstStyle/>
                    <a:p>
                      <a:pPr marL="0" marR="0">
                        <a:spcBef>
                          <a:spcPts val="0"/>
                        </a:spcBef>
                        <a:spcAft>
                          <a:spcPts val="0"/>
                        </a:spcAft>
                      </a:pPr>
                      <a:r>
                        <a:rPr lang="en-US" sz="1800" dirty="0">
                          <a:latin typeface="Calibri"/>
                          <a:ea typeface="Calibri"/>
                          <a:cs typeface="Times New Roman"/>
                        </a:rPr>
                        <a:t>B</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latin typeface="Calibri"/>
                          <a:ea typeface="Calibri"/>
                          <a:cs typeface="Times New Roman"/>
                        </a:rPr>
                        <a:t>Intermediate Database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latin typeface="Calibri"/>
                          <a:ea typeface="Calibri"/>
                          <a:cs typeface="Times New Roman"/>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latin typeface="Calibri"/>
                          <a:ea typeface="Calibri"/>
                          <a:cs typeface="Times New Roman"/>
                        </a:rPr>
                        <a:t>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333">
                <a:tc>
                  <a:txBody>
                    <a:bodyPr/>
                    <a:lstStyle/>
                    <a:p>
                      <a:pPr marL="0" marR="0">
                        <a:spcBef>
                          <a:spcPts val="0"/>
                        </a:spcBef>
                        <a:spcAft>
                          <a:spcPts val="0"/>
                        </a:spcAft>
                      </a:pPr>
                      <a:r>
                        <a:rPr lang="en-US" sz="1800">
                          <a:latin typeface="Calibri"/>
                          <a:ea typeface="Calibri"/>
                          <a:cs typeface="Times New Roman"/>
                        </a:rPr>
                        <a:t>C</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latin typeface="Calibri"/>
                          <a:ea typeface="Calibri"/>
                          <a:cs typeface="Times New Roman"/>
                        </a:rPr>
                        <a:t>Advanced Database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latin typeface="Calibri"/>
                          <a:ea typeface="Calibri"/>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latin typeface="Calibri"/>
                          <a:ea typeface="Calibri"/>
                          <a:cs typeface="Times New Roman"/>
                        </a:rPr>
                        <a:t>B</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333">
                <a:tc>
                  <a:txBody>
                    <a:bodyPr/>
                    <a:lstStyle/>
                    <a:p>
                      <a:pPr marL="0" marR="0">
                        <a:spcBef>
                          <a:spcPts val="0"/>
                        </a:spcBef>
                        <a:spcAft>
                          <a:spcPts val="0"/>
                        </a:spcAft>
                      </a:pPr>
                      <a:r>
                        <a:rPr lang="en-US" sz="1800">
                          <a:latin typeface="Calibri"/>
                          <a:ea typeface="Calibri"/>
                          <a:cs typeface="Times New Roman"/>
                        </a:rPr>
                        <a:t>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latin typeface="Calibri"/>
                          <a:ea typeface="Calibri"/>
                          <a:cs typeface="Times New Roman"/>
                        </a:rPr>
                        <a:t>Beginning Modeling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8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333">
                <a:tc>
                  <a:txBody>
                    <a:bodyPr/>
                    <a:lstStyle/>
                    <a:p>
                      <a:pPr marL="0" marR="0">
                        <a:spcBef>
                          <a:spcPts val="0"/>
                        </a:spcBef>
                        <a:spcAft>
                          <a:spcPts val="0"/>
                        </a:spcAft>
                      </a:pPr>
                      <a:r>
                        <a:rPr lang="en-US" sz="1800">
                          <a:latin typeface="Calibri"/>
                          <a:ea typeface="Calibri"/>
                          <a:cs typeface="Times New Roman"/>
                        </a:rPr>
                        <a:t>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latin typeface="Calibri"/>
                          <a:ea typeface="Calibri"/>
                          <a:cs typeface="Times New Roman"/>
                        </a:rPr>
                        <a:t>Intermediate Modeling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latin typeface="Calibri"/>
                          <a:ea typeface="Calibri"/>
                          <a:cs typeface="Times New Roman"/>
                        </a:rPr>
                        <a:t>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333">
                <a:tc>
                  <a:txBody>
                    <a:bodyPr/>
                    <a:lstStyle/>
                    <a:p>
                      <a:pPr marL="0" marR="0">
                        <a:spcBef>
                          <a:spcPts val="0"/>
                        </a:spcBef>
                        <a:spcAft>
                          <a:spcPts val="0"/>
                        </a:spcAft>
                      </a:pPr>
                      <a:r>
                        <a:rPr lang="en-US" sz="1800">
                          <a:latin typeface="Calibri"/>
                          <a:ea typeface="Calibri"/>
                          <a:cs typeface="Times New Roman"/>
                        </a:rPr>
                        <a:t>F</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latin typeface="Calibri"/>
                          <a:ea typeface="Calibri"/>
                          <a:cs typeface="Times New Roman"/>
                        </a:rPr>
                        <a:t>Advanced Modeling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latin typeface="Calibri"/>
                          <a:ea typeface="Calibri"/>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latin typeface="Calibri"/>
                          <a:ea typeface="Calibri"/>
                          <a:cs typeface="Times New Roman"/>
                        </a:rPr>
                        <a:t>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333">
                <a:tc>
                  <a:txBody>
                    <a:bodyPr/>
                    <a:lstStyle/>
                    <a:p>
                      <a:pPr marL="0" marR="0">
                        <a:spcBef>
                          <a:spcPts val="0"/>
                        </a:spcBef>
                        <a:spcAft>
                          <a:spcPts val="0"/>
                        </a:spcAft>
                      </a:pPr>
                      <a:r>
                        <a:rPr lang="en-US" sz="1800">
                          <a:latin typeface="Calibri"/>
                          <a:ea typeface="Calibri"/>
                          <a:cs typeface="Times New Roman"/>
                        </a:rPr>
                        <a:t>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latin typeface="Calibri"/>
                          <a:ea typeface="Calibri"/>
                          <a:cs typeface="Times New Roman"/>
                        </a:rPr>
                        <a:t>Beginning SQL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latin typeface="Calibri"/>
                          <a:ea typeface="Calibri"/>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8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96333">
                <a:tc>
                  <a:txBody>
                    <a:bodyPr/>
                    <a:lstStyle/>
                    <a:p>
                      <a:pPr marL="0" marR="0">
                        <a:spcBef>
                          <a:spcPts val="0"/>
                        </a:spcBef>
                        <a:spcAft>
                          <a:spcPts val="0"/>
                        </a:spcAft>
                      </a:pPr>
                      <a:r>
                        <a:rPr lang="en-US" sz="1800">
                          <a:latin typeface="Calibri"/>
                          <a:ea typeface="Calibri"/>
                          <a:cs typeface="Times New Roman"/>
                        </a:rPr>
                        <a: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latin typeface="Calibri"/>
                          <a:ea typeface="Calibri"/>
                          <a:cs typeface="Times New Roman"/>
                        </a:rPr>
                        <a:t>Intermediate SQL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a:latin typeface="Calibri"/>
                          <a:ea typeface="Calibri"/>
                          <a:cs typeface="Times New Roman"/>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800" dirty="0">
                          <a:latin typeface="Calibri"/>
                          <a:ea typeface="Calibri"/>
                          <a:cs typeface="Times New Roman"/>
                        </a:rPr>
                        <a:t>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399" y="1371600"/>
            <a:ext cx="8212311"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t>Relationships of Different Degrees:</a:t>
            </a:r>
            <a:br>
              <a:rPr lang="en-US" dirty="0" smtClean="0"/>
            </a:br>
            <a:r>
              <a:rPr lang="en-US" dirty="0" smtClean="0"/>
              <a:t>Binary Relationship—2 Entities</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143125"/>
            <a:ext cx="8006292"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Binary 1:M Relationship</a:t>
            </a:r>
            <a:endParaRPr lang="en-US" dirty="0"/>
          </a:p>
        </p:txBody>
      </p:sp>
      <p:sp>
        <p:nvSpPr>
          <p:cNvPr id="3" name="Content Placeholder 2"/>
          <p:cNvSpPr>
            <a:spLocks noGrp="1"/>
          </p:cNvSpPr>
          <p:nvPr>
            <p:ph idx="1"/>
          </p:nvPr>
        </p:nvSpPr>
        <p:spPr>
          <a:xfrm>
            <a:off x="457200" y="1752600"/>
            <a:ext cx="8229600" cy="1143000"/>
          </a:xfrm>
        </p:spPr>
        <p:txBody>
          <a:bodyPr/>
          <a:lstStyle/>
          <a:p>
            <a:r>
              <a:rPr lang="en-US" dirty="0" smtClean="0"/>
              <a:t>What are the business rules?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200400"/>
            <a:ext cx="7588526"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Binary 1:M Relationship</a:t>
            </a:r>
            <a:endParaRPr lang="en-US" dirty="0"/>
          </a:p>
        </p:txBody>
      </p:sp>
      <p:sp>
        <p:nvSpPr>
          <p:cNvPr id="3" name="Content Placeholder 2"/>
          <p:cNvSpPr>
            <a:spLocks noGrp="1"/>
          </p:cNvSpPr>
          <p:nvPr>
            <p:ph idx="1"/>
          </p:nvPr>
        </p:nvSpPr>
        <p:spPr>
          <a:xfrm>
            <a:off x="457200" y="1752600"/>
            <a:ext cx="8229600" cy="1447800"/>
          </a:xfrm>
        </p:spPr>
        <p:txBody>
          <a:bodyPr/>
          <a:lstStyle/>
          <a:p>
            <a:r>
              <a:rPr lang="en-US" dirty="0"/>
              <a:t>What are the business rules?</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429000"/>
            <a:ext cx="7869296"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Binary 1:M Relationship</a:t>
            </a:r>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876696456"/>
              </p:ext>
            </p:extLst>
          </p:nvPr>
        </p:nvGraphicFramePr>
        <p:xfrm>
          <a:off x="304800" y="4495800"/>
          <a:ext cx="8534400" cy="2194560"/>
        </p:xfrm>
        <a:graphic>
          <a:graphicData uri="http://schemas.openxmlformats.org/drawingml/2006/table">
            <a:tbl>
              <a:tblPr/>
              <a:tblGrid>
                <a:gridCol w="1143000"/>
                <a:gridCol w="2286000"/>
                <a:gridCol w="1848853"/>
                <a:gridCol w="1884947"/>
                <a:gridCol w="1371600"/>
              </a:tblGrid>
              <a:tr h="0">
                <a:tc>
                  <a:txBody>
                    <a:bodyPr/>
                    <a:lstStyle/>
                    <a:p>
                      <a:pPr marL="0" marR="0">
                        <a:spcBef>
                          <a:spcPts val="0"/>
                        </a:spcBef>
                        <a:spcAft>
                          <a:spcPts val="0"/>
                        </a:spcAft>
                      </a:pPr>
                      <a:r>
                        <a:rPr lang="en-US" sz="1600" b="1" dirty="0" err="1">
                          <a:latin typeface="Calibri"/>
                          <a:ea typeface="Calibri"/>
                          <a:cs typeface="Times New Roman"/>
                        </a:rPr>
                        <a:t>Module_ID</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b="1">
                          <a:latin typeface="Calibri"/>
                          <a:ea typeface="Calibri"/>
                          <a:cs typeface="Times New Roman"/>
                        </a:rPr>
                        <a:t>Module Name</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b="1">
                          <a:latin typeface="Calibri"/>
                          <a:ea typeface="Calibri"/>
                          <a:cs typeface="Times New Roman"/>
                        </a:rPr>
                        <a:t>Training Time</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b="1">
                          <a:latin typeface="Calibri"/>
                          <a:ea typeface="Calibri"/>
                          <a:cs typeface="Times New Roman"/>
                        </a:rPr>
                        <a:t>Prerequisite Module</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b="1">
                          <a:latin typeface="Calibri"/>
                          <a:ea typeface="Calibri"/>
                          <a:cs typeface="Times New Roman"/>
                        </a:rPr>
                        <a:t>Program ID</a:t>
                      </a: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spcBef>
                          <a:spcPts val="0"/>
                        </a:spcBef>
                        <a:spcAft>
                          <a:spcPts val="0"/>
                        </a:spcAft>
                      </a:pPr>
                      <a:r>
                        <a:rPr lang="en-US" sz="1600">
                          <a:latin typeface="Calibri"/>
                          <a:ea typeface="Calibri"/>
                          <a:cs typeface="Times New Roman"/>
                        </a:rPr>
                        <a:t>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Beginning Database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spcBef>
                          <a:spcPts val="0"/>
                        </a:spcBef>
                        <a:spcAft>
                          <a:spcPts val="0"/>
                        </a:spcAft>
                      </a:pPr>
                      <a:r>
                        <a:rPr lang="en-US" sz="1600">
                          <a:latin typeface="Calibri"/>
                          <a:ea typeface="Calibri"/>
                          <a:cs typeface="Times New Roman"/>
                        </a:rPr>
                        <a:t>B</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Intermediate Database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1.5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spcBef>
                          <a:spcPts val="0"/>
                        </a:spcBef>
                        <a:spcAft>
                          <a:spcPts val="0"/>
                        </a:spcAft>
                      </a:pPr>
                      <a:r>
                        <a:rPr lang="en-US" sz="1600">
                          <a:latin typeface="Calibri"/>
                          <a:ea typeface="Calibri"/>
                          <a:cs typeface="Times New Roman"/>
                        </a:rPr>
                        <a:t>C</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Advanced Database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B</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spcBef>
                          <a:spcPts val="0"/>
                        </a:spcBef>
                        <a:spcAft>
                          <a:spcPts val="0"/>
                        </a:spcAft>
                      </a:pPr>
                      <a:r>
                        <a:rPr lang="en-US" sz="1600">
                          <a:latin typeface="Calibri"/>
                          <a:ea typeface="Calibri"/>
                          <a:cs typeface="Times New Roman"/>
                        </a:rPr>
                        <a:t>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Beginning Modeling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spcBef>
                          <a:spcPts val="0"/>
                        </a:spcBef>
                        <a:spcAft>
                          <a:spcPts val="0"/>
                        </a:spcAft>
                      </a:pPr>
                      <a:r>
                        <a:rPr lang="en-US" sz="1600">
                          <a:latin typeface="Calibri"/>
                          <a:ea typeface="Calibri"/>
                          <a:cs typeface="Times New Roman"/>
                        </a:rPr>
                        <a:t>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Intermediate Modeling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spcBef>
                          <a:spcPts val="0"/>
                        </a:spcBef>
                        <a:spcAft>
                          <a:spcPts val="0"/>
                        </a:spcAft>
                      </a:pPr>
                      <a:r>
                        <a:rPr lang="en-US" sz="1600">
                          <a:latin typeface="Calibri"/>
                          <a:ea typeface="Calibri"/>
                          <a:cs typeface="Times New Roman"/>
                        </a:rPr>
                        <a:t>F</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Advanced Modeling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spcBef>
                          <a:spcPts val="0"/>
                        </a:spcBef>
                        <a:spcAft>
                          <a:spcPts val="0"/>
                        </a:spcAft>
                      </a:pPr>
                      <a:r>
                        <a:rPr lang="en-US" sz="1600">
                          <a:latin typeface="Calibri"/>
                          <a:ea typeface="Calibri"/>
                          <a:cs typeface="Times New Roman"/>
                        </a:rPr>
                        <a:t>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Beginning SQL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160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marL="0" marR="0">
                        <a:spcBef>
                          <a:spcPts val="0"/>
                        </a:spcBef>
                        <a:spcAft>
                          <a:spcPts val="0"/>
                        </a:spcAft>
                      </a:pPr>
                      <a:r>
                        <a:rPr lang="en-US" sz="1600">
                          <a:latin typeface="Calibri"/>
                          <a:ea typeface="Calibri"/>
                          <a:cs typeface="Times New Roman"/>
                        </a:rPr>
                        <a: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Intermediate SQL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dirty="0">
                          <a:latin typeface="Calibri"/>
                          <a:ea typeface="Calibri"/>
                          <a:cs typeface="Times New Roman"/>
                        </a:rPr>
                        <a:t>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904" y="1600200"/>
            <a:ext cx="7869296"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Binary </a:t>
            </a:r>
            <a:r>
              <a:rPr lang="en-US" dirty="0" smtClean="0"/>
              <a:t>M:M Relationship</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 y="1676400"/>
            <a:ext cx="8225051"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3429000" y="1905000"/>
            <a:ext cx="3108543" cy="369332"/>
          </a:xfrm>
          <a:prstGeom prst="rect">
            <a:avLst/>
          </a:prstGeom>
          <a:noFill/>
        </p:spPr>
        <p:txBody>
          <a:bodyPr wrap="none" rtlCol="0">
            <a:spAutoFit/>
          </a:bodyPr>
          <a:lstStyle/>
          <a:p>
            <a:r>
              <a:rPr lang="en-US" dirty="0" smtClean="0"/>
              <a:t>What are the business rules?</a:t>
            </a: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Demo: Binary M:M Relationship</a:t>
            </a:r>
            <a:endParaRPr lang="en-US" dirty="0"/>
          </a:p>
        </p:txBody>
      </p:sp>
      <p:sp>
        <p:nvSpPr>
          <p:cNvPr id="3" name="Content Placeholder 2"/>
          <p:cNvSpPr>
            <a:spLocks noGrp="1"/>
          </p:cNvSpPr>
          <p:nvPr>
            <p:ph idx="1"/>
          </p:nvPr>
        </p:nvSpPr>
        <p:spPr/>
        <p:txBody>
          <a:bodyPr/>
          <a:lstStyle/>
          <a:p>
            <a:pPr marL="109728" indent="0">
              <a:buNone/>
            </a:pPr>
            <a:r>
              <a:rPr lang="en-US" b="1" dirty="0" err="1" smtClean="0"/>
              <a:t>Product:Part</a:t>
            </a:r>
            <a:endParaRPr lang="en-US" b="1" dirty="0" smtClean="0"/>
          </a:p>
          <a:p>
            <a:r>
              <a:rPr lang="en-US" dirty="0" smtClean="0"/>
              <a:t>A part may be used in multiple products.</a:t>
            </a:r>
          </a:p>
          <a:p>
            <a:r>
              <a:rPr lang="en-US" dirty="0" smtClean="0"/>
              <a:t>A product uses multiple parts.</a:t>
            </a:r>
          </a:p>
          <a:p>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3429000"/>
            <a:ext cx="7994573"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Binary M:M Relationship</a:t>
            </a:r>
            <a:endParaRPr lang="en-US" dirty="0"/>
          </a:p>
        </p:txBody>
      </p:sp>
      <p:graphicFrame>
        <p:nvGraphicFramePr>
          <p:cNvPr id="6" name="Table 5"/>
          <p:cNvGraphicFramePr>
            <a:graphicFrameLocks noGrp="1"/>
          </p:cNvGraphicFramePr>
          <p:nvPr/>
        </p:nvGraphicFramePr>
        <p:xfrm>
          <a:off x="457200" y="4724400"/>
          <a:ext cx="8382000" cy="1950720"/>
        </p:xfrm>
        <a:graphic>
          <a:graphicData uri="http://schemas.openxmlformats.org/drawingml/2006/table">
            <a:tbl>
              <a:tblPr/>
              <a:tblGrid>
                <a:gridCol w="2794000"/>
                <a:gridCol w="2794000"/>
                <a:gridCol w="2794000"/>
              </a:tblGrid>
              <a:tr h="238125">
                <a:tc>
                  <a:txBody>
                    <a:bodyPr/>
                    <a:lstStyle/>
                    <a:p>
                      <a:pPr marL="0" marR="0">
                        <a:spcBef>
                          <a:spcPts val="0"/>
                        </a:spcBef>
                        <a:spcAft>
                          <a:spcPts val="0"/>
                        </a:spcAft>
                      </a:pPr>
                      <a:r>
                        <a:rPr lang="en-US" sz="1600" b="1" dirty="0" err="1">
                          <a:latin typeface="Calibri"/>
                          <a:ea typeface="Calibri"/>
                          <a:cs typeface="Times New Roman"/>
                        </a:rPr>
                        <a:t>Product_ID</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L="0" marR="0">
                        <a:spcBef>
                          <a:spcPts val="0"/>
                        </a:spcBef>
                        <a:spcAft>
                          <a:spcPts val="0"/>
                        </a:spcAft>
                      </a:pPr>
                      <a:r>
                        <a:rPr lang="en-US" sz="1600" b="1" dirty="0" err="1">
                          <a:latin typeface="Calibri"/>
                          <a:ea typeface="Calibri"/>
                          <a:cs typeface="Times New Roman"/>
                        </a:rPr>
                        <a:t>Part_ID</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c>
                  <a:txBody>
                    <a:bodyPr/>
                    <a:lstStyle/>
                    <a:p>
                      <a:pPr marL="0" marR="0">
                        <a:spcBef>
                          <a:spcPts val="0"/>
                        </a:spcBef>
                        <a:spcAft>
                          <a:spcPts val="0"/>
                        </a:spcAft>
                      </a:pPr>
                      <a:r>
                        <a:rPr lang="en-US" sz="1600" b="1" dirty="0">
                          <a:latin typeface="Calibri"/>
                          <a:ea typeface="Calibri"/>
                          <a:cs typeface="Times New Roman"/>
                        </a:rPr>
                        <a:t>Qty Used</a:t>
                      </a:r>
                      <a:endParaRPr lang="en-US" sz="1600" dirty="0">
                        <a:latin typeface="Calibri"/>
                        <a:ea typeface="Calibri"/>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2">
                        <a:lumMod val="40000"/>
                        <a:lumOff val="60000"/>
                      </a:schemeClr>
                    </a:solidFill>
                  </a:tcPr>
                </a:tc>
              </a:tr>
              <a:tr h="238125">
                <a:tc>
                  <a:txBody>
                    <a:bodyPr/>
                    <a:lstStyle/>
                    <a:p>
                      <a:pPr marL="0" marR="0">
                        <a:spcBef>
                          <a:spcPts val="0"/>
                        </a:spcBef>
                        <a:spcAft>
                          <a:spcPts val="0"/>
                        </a:spcAft>
                      </a:pPr>
                      <a:r>
                        <a:rPr lang="en-US" sz="1600">
                          <a:latin typeface="Calibri"/>
                          <a:ea typeface="Calibri"/>
                          <a:cs typeface="Times New Roman"/>
                        </a:rPr>
                        <a:t>1551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dirty="0">
                          <a:latin typeface="Calibri"/>
                          <a:ea typeface="Calibri"/>
                          <a:cs typeface="Times New Roman"/>
                        </a:rPr>
                        <a:t>234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dirty="0">
                          <a:latin typeface="Calibri"/>
                          <a:ea typeface="Calibri"/>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8125">
                <a:tc>
                  <a:txBody>
                    <a:bodyPr/>
                    <a:lstStyle/>
                    <a:p>
                      <a:pPr marL="0" marR="0">
                        <a:spcBef>
                          <a:spcPts val="0"/>
                        </a:spcBef>
                        <a:spcAft>
                          <a:spcPts val="0"/>
                        </a:spcAft>
                      </a:pPr>
                      <a:r>
                        <a:rPr lang="en-US" sz="1600">
                          <a:latin typeface="Calibri"/>
                          <a:ea typeface="Calibri"/>
                          <a:cs typeface="Times New Roman"/>
                        </a:rPr>
                        <a:t>1551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567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5</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8125">
                <a:tc>
                  <a:txBody>
                    <a:bodyPr/>
                    <a:lstStyle/>
                    <a:p>
                      <a:pPr marL="0" marR="0">
                        <a:spcBef>
                          <a:spcPts val="0"/>
                        </a:spcBef>
                        <a:spcAft>
                          <a:spcPts val="0"/>
                        </a:spcAft>
                      </a:pPr>
                      <a:r>
                        <a:rPr lang="en-US" sz="1600">
                          <a:latin typeface="Calibri"/>
                          <a:ea typeface="Calibri"/>
                          <a:cs typeface="Times New Roman"/>
                        </a:rPr>
                        <a:t>1551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369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8125">
                <a:tc>
                  <a:txBody>
                    <a:bodyPr/>
                    <a:lstStyle/>
                    <a:p>
                      <a:pPr marL="0" marR="0">
                        <a:spcBef>
                          <a:spcPts val="0"/>
                        </a:spcBef>
                        <a:spcAft>
                          <a:spcPts val="0"/>
                        </a:spcAft>
                      </a:pPr>
                      <a:r>
                        <a:rPr lang="en-US" sz="1600">
                          <a:latin typeface="Calibri"/>
                          <a:ea typeface="Calibri"/>
                          <a:cs typeface="Times New Roman"/>
                        </a:rPr>
                        <a:t>1552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234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8125">
                <a:tc>
                  <a:txBody>
                    <a:bodyPr/>
                    <a:lstStyle/>
                    <a:p>
                      <a:pPr marL="0" marR="0">
                        <a:spcBef>
                          <a:spcPts val="0"/>
                        </a:spcBef>
                        <a:spcAft>
                          <a:spcPts val="0"/>
                        </a:spcAft>
                      </a:pPr>
                      <a:r>
                        <a:rPr lang="en-US" sz="1600">
                          <a:latin typeface="Calibri"/>
                          <a:ea typeface="Calibri"/>
                          <a:cs typeface="Times New Roman"/>
                        </a:rPr>
                        <a:t>1552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900</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1</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8125">
                <a:tc>
                  <a:txBody>
                    <a:bodyPr/>
                    <a:lstStyle/>
                    <a:p>
                      <a:pPr marL="0" marR="0">
                        <a:spcBef>
                          <a:spcPts val="0"/>
                        </a:spcBef>
                        <a:spcAft>
                          <a:spcPts val="0"/>
                        </a:spcAft>
                      </a:pPr>
                      <a:r>
                        <a:rPr lang="en-US" sz="1600">
                          <a:latin typeface="Calibri"/>
                          <a:ea typeface="Calibri"/>
                          <a:cs typeface="Times New Roman"/>
                        </a:rPr>
                        <a:t>1553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567</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8125">
                <a:tc>
                  <a:txBody>
                    <a:bodyPr/>
                    <a:lstStyle/>
                    <a:p>
                      <a:pPr marL="0" marR="0">
                        <a:spcBef>
                          <a:spcPts val="0"/>
                        </a:spcBef>
                        <a:spcAft>
                          <a:spcPts val="0"/>
                        </a:spcAft>
                      </a:pPr>
                      <a:r>
                        <a:rPr lang="en-US" sz="1600">
                          <a:latin typeface="Calibri"/>
                          <a:ea typeface="Calibri"/>
                          <a:cs typeface="Times New Roman"/>
                        </a:rPr>
                        <a:t>1553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a:latin typeface="Calibri"/>
                          <a:ea typeface="Calibri"/>
                          <a:cs typeface="Times New Roman"/>
                        </a:rPr>
                        <a:t>678</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1600" dirty="0">
                          <a:latin typeface="Calibri"/>
                          <a:ea typeface="Calibri"/>
                          <a:cs typeface="Times New Roman"/>
                        </a:rPr>
                        <a:t>4</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676400"/>
            <a:ext cx="7467600" cy="298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Ternary Relationships</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1600200" y="1371600"/>
            <a:ext cx="5410200" cy="5222346"/>
          </a:xfrm>
          <a:prstGeom prst="rect">
            <a:avLst/>
          </a:prstGeom>
          <a:noFill/>
          <a:ln w="9525">
            <a:noFill/>
            <a:miter lim="800000"/>
            <a:headEnd/>
            <a:tailEnd/>
          </a:ln>
          <a:effectLst/>
        </p:spPr>
      </p:pic>
      <p:sp>
        <p:nvSpPr>
          <p:cNvPr id="3" name="Rectangle 2"/>
          <p:cNvSpPr/>
          <p:nvPr/>
        </p:nvSpPr>
        <p:spPr>
          <a:xfrm>
            <a:off x="2514600" y="1692310"/>
            <a:ext cx="4075155" cy="461665"/>
          </a:xfrm>
          <a:prstGeom prst="rect">
            <a:avLst/>
          </a:prstGeom>
        </p:spPr>
        <p:txBody>
          <a:bodyPr wrap="none">
            <a:spAutoFit/>
          </a:bodyPr>
          <a:lstStyle/>
          <a:p>
            <a:r>
              <a:rPr lang="en-US" sz="2400" dirty="0">
                <a:solidFill>
                  <a:schemeClr val="tx2"/>
                </a:solidFill>
              </a:rPr>
              <a:t>What are the business rules?</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819400"/>
            <a:ext cx="6477000" cy="35400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itle 1"/>
          <p:cNvSpPr>
            <a:spLocks noGrp="1"/>
          </p:cNvSpPr>
          <p:nvPr>
            <p:ph type="title"/>
          </p:nvPr>
        </p:nvSpPr>
        <p:spPr>
          <a:xfrm>
            <a:off x="457200" y="685800"/>
            <a:ext cx="8229600" cy="1066800"/>
          </a:xfrm>
        </p:spPr>
        <p:txBody>
          <a:bodyPr>
            <a:normAutofit/>
          </a:bodyPr>
          <a:lstStyle/>
          <a:p>
            <a:r>
              <a:rPr lang="en-US" dirty="0"/>
              <a:t>Ternary </a:t>
            </a:r>
            <a:r>
              <a:rPr lang="en-US" dirty="0" smtClean="0"/>
              <a:t>Relationships</a:t>
            </a:r>
            <a:endParaRPr lang="en-US" dirty="0"/>
          </a:p>
        </p:txBody>
      </p:sp>
      <p:sp>
        <p:nvSpPr>
          <p:cNvPr id="10" name="Rectangle 9"/>
          <p:cNvSpPr/>
          <p:nvPr/>
        </p:nvSpPr>
        <p:spPr>
          <a:xfrm>
            <a:off x="2514600" y="1600200"/>
            <a:ext cx="4075155" cy="738664"/>
          </a:xfrm>
          <a:prstGeom prst="rect">
            <a:avLst/>
          </a:prstGeom>
        </p:spPr>
        <p:txBody>
          <a:bodyPr wrap="none">
            <a:spAutoFit/>
          </a:bodyPr>
          <a:lstStyle/>
          <a:p>
            <a:pPr algn="ctr"/>
            <a:r>
              <a:rPr lang="en-US" b="1" dirty="0" smtClean="0">
                <a:latin typeface="Arial" pitchFamily="34" charset="0"/>
                <a:cs typeface="Arial" pitchFamily="34" charset="0"/>
              </a:rPr>
              <a:t>Ternary Relationships: 3 Entities</a:t>
            </a:r>
          </a:p>
          <a:p>
            <a:r>
              <a:rPr lang="en-US" sz="2400" dirty="0" smtClean="0">
                <a:solidFill>
                  <a:schemeClr val="tx2"/>
                </a:solidFill>
              </a:rPr>
              <a:t>What </a:t>
            </a:r>
            <a:r>
              <a:rPr lang="en-US" sz="2400" dirty="0">
                <a:solidFill>
                  <a:schemeClr val="tx2"/>
                </a:solidFill>
              </a:rPr>
              <a:t>are the business rules?</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t>Outline</a:t>
            </a:r>
          </a:p>
        </p:txBody>
      </p:sp>
      <p:sp>
        <p:nvSpPr>
          <p:cNvPr id="14339" name="Rectangle 3"/>
          <p:cNvSpPr>
            <a:spLocks noGrp="1" noChangeArrowheads="1"/>
          </p:cNvSpPr>
          <p:nvPr>
            <p:ph idx="1"/>
          </p:nvPr>
        </p:nvSpPr>
        <p:spPr/>
        <p:txBody>
          <a:bodyPr>
            <a:normAutofit/>
          </a:bodyPr>
          <a:lstStyle/>
          <a:p>
            <a:pPr marL="624078" indent="-514350">
              <a:buFont typeface="+mj-lt"/>
              <a:buAutoNum type="arabicPeriod"/>
            </a:pPr>
            <a:r>
              <a:rPr lang="en-US" dirty="0" smtClean="0">
                <a:solidFill>
                  <a:schemeClr val="accent2">
                    <a:lumMod val="60000"/>
                    <a:lumOff val="40000"/>
                  </a:schemeClr>
                </a:solidFill>
              </a:rPr>
              <a:t>Overview of data modeling</a:t>
            </a:r>
          </a:p>
          <a:p>
            <a:pPr marL="624078" indent="-514350">
              <a:buFont typeface="+mj-lt"/>
              <a:buAutoNum type="arabicPeriod"/>
            </a:pPr>
            <a:r>
              <a:rPr lang="en-US" dirty="0" smtClean="0">
                <a:solidFill>
                  <a:schemeClr val="accent2">
                    <a:lumMod val="60000"/>
                    <a:lumOff val="40000"/>
                  </a:schemeClr>
                </a:solidFill>
              </a:rPr>
              <a:t>Elements </a:t>
            </a:r>
            <a:r>
              <a:rPr lang="en-US" dirty="0">
                <a:solidFill>
                  <a:schemeClr val="accent2">
                    <a:lumMod val="60000"/>
                    <a:lumOff val="40000"/>
                  </a:schemeClr>
                </a:solidFill>
              </a:rPr>
              <a:t>of </a:t>
            </a:r>
            <a:r>
              <a:rPr lang="en-US" dirty="0" smtClean="0">
                <a:solidFill>
                  <a:schemeClr val="accent2">
                    <a:lumMod val="60000"/>
                    <a:lumOff val="40000"/>
                  </a:schemeClr>
                </a:solidFill>
              </a:rPr>
              <a:t>ERD</a:t>
            </a:r>
          </a:p>
          <a:p>
            <a:pPr marL="624078" indent="-514350">
              <a:buFont typeface="+mj-lt"/>
              <a:buAutoNum type="arabicPeriod"/>
            </a:pPr>
            <a:r>
              <a:rPr lang="en-US" dirty="0" smtClean="0">
                <a:solidFill>
                  <a:schemeClr val="accent2">
                    <a:lumMod val="60000"/>
                    <a:lumOff val="40000"/>
                  </a:schemeClr>
                </a:solidFill>
              </a:rPr>
              <a:t>Cardinality, participation</a:t>
            </a:r>
          </a:p>
          <a:p>
            <a:pPr marL="624078" indent="-514350">
              <a:buFont typeface="+mj-lt"/>
              <a:buAutoNum type="arabicPeriod"/>
            </a:pPr>
            <a:r>
              <a:rPr lang="en-US" dirty="0" smtClean="0">
                <a:solidFill>
                  <a:schemeClr val="accent2">
                    <a:lumMod val="60000"/>
                    <a:lumOff val="40000"/>
                  </a:schemeClr>
                </a:solidFill>
              </a:rPr>
              <a:t>Degree of relationships</a:t>
            </a:r>
          </a:p>
          <a:p>
            <a:pPr marL="624078" indent="-514350">
              <a:buFont typeface="+mj-lt"/>
              <a:buAutoNum type="arabicPeriod"/>
            </a:pPr>
            <a:endParaRPr lang="en-US" dirty="0" smtClean="0">
              <a:solidFill>
                <a:schemeClr val="tx2">
                  <a:lumMod val="60000"/>
                  <a:lumOff val="40000"/>
                </a:schemeClr>
              </a:solidFill>
            </a:endParaRPr>
          </a:p>
          <a:p>
            <a:pPr marL="624078" indent="-514350">
              <a:buFont typeface="+mj-lt"/>
              <a:buAutoNum type="arabicPeriod"/>
            </a:pPr>
            <a:r>
              <a:rPr lang="en-US" dirty="0" smtClean="0"/>
              <a:t>Identifying or non-identifying PK?</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Identifying/Non-identifying PK?</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Purpose of the Primary Key is to uniquely identify each row in the table.</a:t>
            </a:r>
          </a:p>
          <a:p>
            <a:r>
              <a:rPr lang="en-US" dirty="0" smtClean="0"/>
              <a:t>Rules for creating PK:</a:t>
            </a:r>
          </a:p>
          <a:p>
            <a:pPr lvl="1"/>
            <a:r>
              <a:rPr lang="en-US" dirty="0" smtClean="0"/>
              <a:t>Must uniquely identify each row</a:t>
            </a:r>
          </a:p>
          <a:p>
            <a:pPr lvl="1"/>
            <a:r>
              <a:rPr lang="en-US" dirty="0" smtClean="0"/>
              <a:t>Value will not change</a:t>
            </a:r>
          </a:p>
          <a:p>
            <a:pPr lvl="1"/>
            <a:r>
              <a:rPr lang="en-US" dirty="0" smtClean="0"/>
              <a:t>Will not have a NULL value</a:t>
            </a:r>
          </a:p>
          <a:p>
            <a:pPr lvl="1"/>
            <a:r>
              <a:rPr lang="en-US" dirty="0" smtClean="0"/>
              <a:t>Is the least amount of fields that will satisfy the above</a:t>
            </a:r>
          </a:p>
          <a:p>
            <a:pPr lvl="1"/>
            <a:endParaRPr lang="en-US" dirty="0" smtClean="0"/>
          </a:p>
          <a:p>
            <a:r>
              <a:rPr lang="en-US" dirty="0" smtClean="0"/>
              <a:t>Identifying relationship</a:t>
            </a:r>
          </a:p>
          <a:p>
            <a:pPr lvl="1"/>
            <a:r>
              <a:rPr lang="en-US" dirty="0" smtClean="0"/>
              <a:t>PK of one entity includes the PK of another entity</a:t>
            </a:r>
          </a:p>
          <a:p>
            <a:pPr lvl="1"/>
            <a:endParaRPr lang="en-US" dirty="0" smtClean="0"/>
          </a:p>
          <a:p>
            <a:r>
              <a:rPr lang="en-US" dirty="0" smtClean="0"/>
              <a:t>Non-identifying relationship</a:t>
            </a:r>
          </a:p>
          <a:p>
            <a:pPr lvl="1"/>
            <a:r>
              <a:rPr lang="en-US" dirty="0" smtClean="0"/>
              <a:t>PK of an entity is independent of other entities</a:t>
            </a: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Identifying/Non-identifying PK?</a:t>
            </a:r>
            <a:endParaRPr lang="en-US" dirty="0"/>
          </a:p>
        </p:txBody>
      </p:sp>
      <p:sp>
        <p:nvSpPr>
          <p:cNvPr id="3" name="Content Placeholder 2"/>
          <p:cNvSpPr>
            <a:spLocks noGrp="1"/>
          </p:cNvSpPr>
          <p:nvPr>
            <p:ph idx="1"/>
          </p:nvPr>
        </p:nvSpPr>
        <p:spPr/>
        <p:txBody>
          <a:bodyPr/>
          <a:lstStyle/>
          <a:p>
            <a:r>
              <a:rPr lang="en-US" dirty="0" smtClean="0"/>
              <a:t>Which entity is </a:t>
            </a:r>
            <a:r>
              <a:rPr lang="en-US" i="1" dirty="0" smtClean="0"/>
              <a:t>strong/independent/non-identifying?</a:t>
            </a:r>
          </a:p>
          <a:p>
            <a:endParaRPr lang="en-US" dirty="0" smtClean="0"/>
          </a:p>
          <a:p>
            <a:r>
              <a:rPr lang="en-US" dirty="0" smtClean="0"/>
              <a:t>Which entity is </a:t>
            </a:r>
            <a:r>
              <a:rPr lang="en-US" i="1" dirty="0" smtClean="0"/>
              <a:t>weak/dependent/identifying?</a:t>
            </a:r>
            <a:endParaRPr lang="en-US" dirty="0"/>
          </a:p>
        </p:txBody>
      </p:sp>
      <p:pic>
        <p:nvPicPr>
          <p:cNvPr id="65538" name="Picture 2"/>
          <p:cNvPicPr>
            <a:picLocks noChangeAspect="1" noChangeArrowheads="1"/>
          </p:cNvPicPr>
          <p:nvPr/>
        </p:nvPicPr>
        <p:blipFill>
          <a:blip r:embed="rId2" cstate="print"/>
          <a:srcRect/>
          <a:stretch>
            <a:fillRect/>
          </a:stretch>
        </p:blipFill>
        <p:spPr bwMode="auto">
          <a:xfrm>
            <a:off x="990600" y="4038600"/>
            <a:ext cx="7545721" cy="1828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Identifying/Non-identifying PK?</a:t>
            </a:r>
            <a:endParaRPr lang="en-US" dirty="0"/>
          </a:p>
        </p:txBody>
      </p:sp>
      <p:sp>
        <p:nvSpPr>
          <p:cNvPr id="3" name="Content Placeholder 2"/>
          <p:cNvSpPr>
            <a:spLocks noGrp="1"/>
          </p:cNvSpPr>
          <p:nvPr>
            <p:ph idx="1"/>
          </p:nvPr>
        </p:nvSpPr>
        <p:spPr/>
        <p:txBody>
          <a:bodyPr/>
          <a:lstStyle/>
          <a:p>
            <a:r>
              <a:rPr lang="en-US" dirty="0" smtClean="0"/>
              <a:t>Although technically correct, what is an inherent problem in </a:t>
            </a:r>
            <a:r>
              <a:rPr lang="en-US" i="1" dirty="0" smtClean="0"/>
              <a:t>identifying</a:t>
            </a:r>
            <a:r>
              <a:rPr lang="en-US" dirty="0" smtClean="0"/>
              <a:t> relationships?</a:t>
            </a:r>
          </a:p>
        </p:txBody>
      </p:sp>
      <p:pic>
        <p:nvPicPr>
          <p:cNvPr id="66563" name="Picture 3"/>
          <p:cNvPicPr>
            <a:picLocks noChangeAspect="1" noChangeArrowheads="1"/>
          </p:cNvPicPr>
          <p:nvPr/>
        </p:nvPicPr>
        <p:blipFill>
          <a:blip r:embed="rId2" cstate="print"/>
          <a:srcRect/>
          <a:stretch>
            <a:fillRect/>
          </a:stretch>
        </p:blipFill>
        <p:spPr bwMode="auto">
          <a:xfrm>
            <a:off x="1524000" y="2895600"/>
            <a:ext cx="7067550" cy="375235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What you Know</a:t>
            </a:r>
            <a:endParaRPr lang="en-US" dirty="0"/>
          </a:p>
        </p:txBody>
      </p:sp>
      <p:sp>
        <p:nvSpPr>
          <p:cNvPr id="3" name="Content Placeholder 2"/>
          <p:cNvSpPr>
            <a:spLocks noGrp="1"/>
          </p:cNvSpPr>
          <p:nvPr>
            <p:ph idx="1"/>
          </p:nvPr>
        </p:nvSpPr>
        <p:spPr/>
        <p:txBody>
          <a:bodyPr/>
          <a:lstStyle/>
          <a:p>
            <a:r>
              <a:rPr lang="en-US" dirty="0" smtClean="0"/>
              <a:t>How data modeling fits with process modeling</a:t>
            </a:r>
          </a:p>
          <a:p>
            <a:r>
              <a:rPr lang="en-US" dirty="0" smtClean="0"/>
              <a:t>How to define and identify each element in a data model</a:t>
            </a:r>
          </a:p>
          <a:p>
            <a:r>
              <a:rPr lang="en-US" dirty="0" smtClean="0"/>
              <a:t>How to interpret unary, binary and ternary relationships  in data models</a:t>
            </a:r>
            <a:endParaRPr lang="en-US" i="1" dirty="0" smtClean="0"/>
          </a:p>
          <a:p>
            <a:r>
              <a:rPr lang="en-US" dirty="0" smtClean="0"/>
              <a:t>How to avoid data modeling problems</a:t>
            </a:r>
          </a:p>
          <a:p>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Custom 6">
      <a:dk1>
        <a:sysClr val="windowText" lastClr="000000"/>
      </a:dk1>
      <a:lt1>
        <a:sysClr val="window" lastClr="FFFFFF"/>
      </a:lt1>
      <a:dk2>
        <a:srgbClr val="676A55"/>
      </a:dk2>
      <a:lt2>
        <a:srgbClr val="EAEBDE"/>
      </a:lt2>
      <a:accent1>
        <a:srgbClr val="72A376"/>
      </a:accent1>
      <a:accent2>
        <a:srgbClr val="76A676"/>
      </a:accent2>
      <a:accent3>
        <a:srgbClr val="A8CDD7"/>
      </a:accent3>
      <a:accent4>
        <a:srgbClr val="C0BEAF"/>
      </a:accent4>
      <a:accent5>
        <a:srgbClr val="CEC597"/>
      </a:accent5>
      <a:accent6>
        <a:srgbClr val="E8B7B7"/>
      </a:accent6>
      <a:hlink>
        <a:srgbClr val="DB5353"/>
      </a:hlink>
      <a:folHlink>
        <a:srgbClr val="903638"/>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1998</TotalTime>
  <Words>1476</Words>
  <Application>Microsoft Office PowerPoint</Application>
  <PresentationFormat>On-screen Show (4:3)</PresentationFormat>
  <Paragraphs>486</Paragraphs>
  <Slides>43</Slides>
  <Notes>1</Notes>
  <HiddenSlides>0</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Urban</vt:lpstr>
      <vt:lpstr>Agenda &amp; Objectives</vt:lpstr>
      <vt:lpstr>STRUCTURING SYSTEM REQUIREMENTS:  CONCEPTUAL DATA MODELING</vt:lpstr>
      <vt:lpstr>Creating Business Rules; Interpreting ERDs</vt:lpstr>
      <vt:lpstr>Outline</vt:lpstr>
      <vt:lpstr>Overview of Data Modeling</vt:lpstr>
      <vt:lpstr>Gathering Information Questions for Data Modeling</vt:lpstr>
      <vt:lpstr>Questions (cont’d…)</vt:lpstr>
      <vt:lpstr>Outline</vt:lpstr>
      <vt:lpstr>Entity </vt:lpstr>
      <vt:lpstr>Attribute </vt:lpstr>
      <vt:lpstr>Relationship</vt:lpstr>
      <vt:lpstr>Business Rules</vt:lpstr>
      <vt:lpstr>Examples: Business Rules</vt:lpstr>
      <vt:lpstr>ERD Notations</vt:lpstr>
      <vt:lpstr>ERD Notation: Chen </vt:lpstr>
      <vt:lpstr>Final E-R Diagram for Hoosier Burger’s Inventory Control System: Chen</vt:lpstr>
      <vt:lpstr>ERD Notation: Crow’s Foot</vt:lpstr>
      <vt:lpstr>Outline</vt:lpstr>
      <vt:lpstr>Cardinalities in Relationships</vt:lpstr>
      <vt:lpstr>Cardinality Implemented: 1:M</vt:lpstr>
      <vt:lpstr>Cardinality Implemented: 1:1</vt:lpstr>
      <vt:lpstr>Participation in Relationships</vt:lpstr>
      <vt:lpstr>Relationship: Crow’s Foot</vt:lpstr>
      <vt:lpstr>What are the business rules?</vt:lpstr>
      <vt:lpstr>Outline</vt:lpstr>
      <vt:lpstr>Degree of Relationships</vt:lpstr>
      <vt:lpstr>Relationships of Different Degrees: Unary Relationships—1 Entity</vt:lpstr>
      <vt:lpstr>A Unary 1:1 Recursive Relationship</vt:lpstr>
      <vt:lpstr>Unary 1:1 Recursive Relationship</vt:lpstr>
      <vt:lpstr>Relationships of Different Degrees: Binary Relationship—2 Entities</vt:lpstr>
      <vt:lpstr>Binary 1:M Relationship</vt:lpstr>
      <vt:lpstr>Binary 1:M Relationship</vt:lpstr>
      <vt:lpstr>Binary 1:M Relationship</vt:lpstr>
      <vt:lpstr>Binary M:M Relationship</vt:lpstr>
      <vt:lpstr>Demo: Binary M:M Relationship</vt:lpstr>
      <vt:lpstr>Binary M:M Relationship</vt:lpstr>
      <vt:lpstr>Ternary Relationships</vt:lpstr>
      <vt:lpstr>Ternary Relationships</vt:lpstr>
      <vt:lpstr>Outline</vt:lpstr>
      <vt:lpstr>Identifying/Non-identifying PK?</vt:lpstr>
      <vt:lpstr>Identifying/Non-identifying PK?</vt:lpstr>
      <vt:lpstr>Identifying/Non-identifying PK?</vt:lpstr>
      <vt:lpstr>Review: What you Know</vt:lpstr>
    </vt:vector>
  </TitlesOfParts>
  <Company>UWEC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Jean A Pratt</dc:creator>
  <cp:lastModifiedBy>Pratt, Jean A.</cp:lastModifiedBy>
  <cp:revision>262</cp:revision>
  <cp:lastPrinted>2011-11-04T15:37:48Z</cp:lastPrinted>
  <dcterms:created xsi:type="dcterms:W3CDTF">2008-03-21T18:11:01Z</dcterms:created>
  <dcterms:modified xsi:type="dcterms:W3CDTF">2012-04-02T23:35:31Z</dcterms:modified>
</cp:coreProperties>
</file>