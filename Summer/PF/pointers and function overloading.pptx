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22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9T01:15:59.090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 0,'0'0,"0"0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9BF60-498F-4D60-955F-0DD0E5FF376D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365E1-8ADD-47AE-93FC-319C8ABFCC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05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378" name="Rectangle 2">
            <a:extLst>
              <a:ext uri="{FF2B5EF4-FFF2-40B4-BE49-F238E27FC236}">
                <a16:creationId xmlns:a16="http://schemas.microsoft.com/office/drawing/2014/main" xmlns="" id="{7511A713-BC07-4D9F-87A6-51C043371F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6913"/>
            <a:ext cx="6184900" cy="3479800"/>
          </a:xfrm>
        </p:spPr>
      </p:sp>
      <p:sp>
        <p:nvSpPr>
          <p:cNvPr id="1509379" name="Rectangle 3">
            <a:extLst>
              <a:ext uri="{FF2B5EF4-FFF2-40B4-BE49-F238E27FC236}">
                <a16:creationId xmlns:a16="http://schemas.microsoft.com/office/drawing/2014/main" xmlns="" id="{1B8E28C8-58A2-430B-BD54-A1C61B9EA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08488"/>
            <a:ext cx="5588000" cy="417671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7614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426" name="Rectangle 2">
            <a:extLst>
              <a:ext uri="{FF2B5EF4-FFF2-40B4-BE49-F238E27FC236}">
                <a16:creationId xmlns:a16="http://schemas.microsoft.com/office/drawing/2014/main" xmlns="" id="{C5751DF3-9948-480C-BE52-5BE66CF228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</p:spPr>
      </p:sp>
      <p:sp>
        <p:nvSpPr>
          <p:cNvPr id="1511427" name="Rectangle 3">
            <a:extLst>
              <a:ext uri="{FF2B5EF4-FFF2-40B4-BE49-F238E27FC236}">
                <a16:creationId xmlns:a16="http://schemas.microsoft.com/office/drawing/2014/main" xmlns="" id="{AA15372A-9D9A-438B-87AF-BBE91EC832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08488"/>
            <a:ext cx="5588000" cy="417671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2062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22" name="Rectangle 2">
            <a:extLst>
              <a:ext uri="{FF2B5EF4-FFF2-40B4-BE49-F238E27FC236}">
                <a16:creationId xmlns:a16="http://schemas.microsoft.com/office/drawing/2014/main" xmlns="" id="{A34E166D-36DD-4307-B7D1-44A87D8357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</p:spPr>
      </p:sp>
      <p:sp>
        <p:nvSpPr>
          <p:cNvPr id="1515523" name="Rectangle 3">
            <a:extLst>
              <a:ext uri="{FF2B5EF4-FFF2-40B4-BE49-F238E27FC236}">
                <a16:creationId xmlns:a16="http://schemas.microsoft.com/office/drawing/2014/main" xmlns="" id="{6528F982-2B20-482E-98E9-DD81C01B1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08488"/>
            <a:ext cx="5588000" cy="417671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8881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570" name="Rectangle 2">
            <a:extLst>
              <a:ext uri="{FF2B5EF4-FFF2-40B4-BE49-F238E27FC236}">
                <a16:creationId xmlns:a16="http://schemas.microsoft.com/office/drawing/2014/main" xmlns="" id="{72F0D5FA-0185-46DC-B67C-97C1C5E500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</p:spPr>
      </p:sp>
      <p:sp>
        <p:nvSpPr>
          <p:cNvPr id="1517571" name="Rectangle 3">
            <a:extLst>
              <a:ext uri="{FF2B5EF4-FFF2-40B4-BE49-F238E27FC236}">
                <a16:creationId xmlns:a16="http://schemas.microsoft.com/office/drawing/2014/main" xmlns="" id="{0E771DA4-EF7C-4035-8978-FB74C153A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08488"/>
            <a:ext cx="5588000" cy="4176712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8257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418" name="Rectangle 2">
            <a:extLst>
              <a:ext uri="{FF2B5EF4-FFF2-40B4-BE49-F238E27FC236}">
                <a16:creationId xmlns:a16="http://schemas.microsoft.com/office/drawing/2014/main" xmlns="" id="{FB20077C-C59E-4032-94E3-F81E72038EC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419100" y="596900"/>
            <a:ext cx="6162675" cy="3467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0419" name="Rectangle 3">
            <a:extLst>
              <a:ext uri="{FF2B5EF4-FFF2-40B4-BE49-F238E27FC236}">
                <a16:creationId xmlns:a16="http://schemas.microsoft.com/office/drawing/2014/main" xmlns="" id="{3EF5D42F-0F48-4601-B2D3-521EA326E8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5463" y="4408488"/>
            <a:ext cx="6019800" cy="41767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949" tIns="46474" rIns="92949" bIns="4647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7013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48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880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61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10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90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26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637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30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76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86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3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0221-6F97-4ECE-83C9-242FFDD01949}" type="datetimeFigureOut">
              <a:rPr lang="en-GB" smtClean="0"/>
              <a:t>22/08/2024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45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647392-FB3A-4A0A-92FB-5A6C04B9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dirty="0"/>
              <a:t> Function Overloading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209FCE7-5C16-4072-B1BE-6E32B2206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Two or more functions having same name but different argument(s) are known as overloaded functions. </a:t>
            </a:r>
          </a:p>
          <a:p>
            <a:endParaRPr lang="en-GB" dirty="0"/>
          </a:p>
          <a:p>
            <a:r>
              <a:rPr lang="en-GB" dirty="0"/>
              <a:t>In C++ programming, two functions can have same name if number and/or type of arguments passed are different.</a:t>
            </a:r>
          </a:p>
          <a:p>
            <a:endParaRPr lang="en-GB" dirty="0"/>
          </a:p>
          <a:p>
            <a:r>
              <a:rPr lang="en-GB" dirty="0"/>
              <a:t>These functions having different number or type (or both) of parameters are known as overloaded functions. For example:</a:t>
            </a:r>
          </a:p>
          <a:p>
            <a:endParaRPr lang="en-GB" dirty="0"/>
          </a:p>
          <a:p>
            <a:r>
              <a:rPr lang="en-GB" dirty="0"/>
              <a:t>int test() { }</a:t>
            </a:r>
          </a:p>
          <a:p>
            <a:r>
              <a:rPr lang="en-GB" dirty="0"/>
              <a:t>int test(int a) { }</a:t>
            </a:r>
          </a:p>
          <a:p>
            <a:r>
              <a:rPr lang="en-GB" dirty="0"/>
              <a:t>float test(double a) { }</a:t>
            </a:r>
          </a:p>
          <a:p>
            <a:r>
              <a:rPr lang="en-GB" dirty="0"/>
              <a:t>int test(int a, double b) { }</a:t>
            </a:r>
          </a:p>
        </p:txBody>
      </p:sp>
    </p:spTree>
    <p:extLst>
      <p:ext uri="{BB962C8B-B14F-4D97-AF65-F5344CB8AC3E}">
        <p14:creationId xmlns:p14="http://schemas.microsoft.com/office/powerpoint/2010/main" val="46551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365394-38B4-4C3E-A325-BA345D83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C7F36C-300C-43DC-B79D-7D8745D40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number and type of arguments passed to these two functions are same even though the return type is different. Hence, the compiler will throw error.</a:t>
            </a:r>
          </a:p>
          <a:p>
            <a:endParaRPr lang="en-GB" dirty="0"/>
          </a:p>
          <a:p>
            <a:r>
              <a:rPr lang="en-GB" dirty="0"/>
              <a:t>int test(int a) { }</a:t>
            </a:r>
          </a:p>
          <a:p>
            <a:r>
              <a:rPr lang="en-GB" dirty="0"/>
              <a:t>double test(int b){ }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252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13314FA-7C10-4CD8-BB8B-66385A51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9" y="62240"/>
            <a:ext cx="6333688" cy="67335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926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354" name="Rectangle 2">
            <a:extLst>
              <a:ext uri="{FF2B5EF4-FFF2-40B4-BE49-F238E27FC236}">
                <a16:creationId xmlns:a16="http://schemas.microsoft.com/office/drawing/2014/main" xmlns="" id="{EFA689A7-FA73-4114-8CFB-F0EBB4E71D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458200" cy="914400"/>
          </a:xfrm>
        </p:spPr>
        <p:txBody>
          <a:bodyPr/>
          <a:lstStyle/>
          <a:p>
            <a:pPr algn="l"/>
            <a:r>
              <a:rPr lang="en-US" altLang="en-US" sz="3200" b="1"/>
              <a:t>Pointer Variable Declarations and Initialization</a:t>
            </a:r>
          </a:p>
        </p:txBody>
      </p:sp>
      <p:sp>
        <p:nvSpPr>
          <p:cNvPr id="1508355" name="Rectangle 3">
            <a:extLst>
              <a:ext uri="{FF2B5EF4-FFF2-40B4-BE49-F238E27FC236}">
                <a16:creationId xmlns:a16="http://schemas.microsoft.com/office/drawing/2014/main" xmlns="" id="{6124A9E4-8CF7-4E59-9CC9-B0A60C1A3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33500" y="1354723"/>
            <a:ext cx="8458200" cy="3276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Why we need Pointers: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Trebuchet MS" panose="020B0603020202020204" pitchFamily="34" charset="0"/>
              </a:rPr>
              <a:t>Pointes enable programs to create dynamic memory, which can grow at runtime using. 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latin typeface="Trebuchet MS" panose="020B0603020202020204" pitchFamily="34" charset="0"/>
              </a:rPr>
              <a:t>The main difference between normal variables and pointers is that, </a:t>
            </a:r>
            <a:r>
              <a:rPr lang="en-US" altLang="en-US" sz="20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variables contain a value</a:t>
            </a:r>
            <a:r>
              <a:rPr lang="en-US" altLang="en-US" sz="2000" dirty="0">
                <a:latin typeface="Trebuchet MS" panose="020B0603020202020204" pitchFamily="34" charset="0"/>
              </a:rPr>
              <a:t>, while </a:t>
            </a:r>
            <a:r>
              <a:rPr lang="en-US" altLang="en-US" sz="20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pointers contain a memory address</a:t>
            </a:r>
            <a:r>
              <a:rPr lang="en-US" altLang="en-US" sz="2000" dirty="0">
                <a:latin typeface="Trebuchet MS" panose="020B0603020202020204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Memory address:</a:t>
            </a:r>
            <a:r>
              <a:rPr lang="en-US" altLang="en-US" sz="2400" dirty="0">
                <a:latin typeface="Trebuchet MS" panose="020B0603020202020204" pitchFamily="34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Trebuchet MS" panose="020B0603020202020204" pitchFamily="34" charset="0"/>
              </a:rPr>
              <a:t>We know each memory address contain some value.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latin typeface="Trebuchet MS" panose="020B0603020202020204" pitchFamily="34" charset="0"/>
              </a:rPr>
              <a:t>Thus if pointers contain memory addresses, we can get its value (indirectly).</a:t>
            </a:r>
          </a:p>
        </p:txBody>
      </p:sp>
      <p:grpSp>
        <p:nvGrpSpPr>
          <p:cNvPr id="1508356" name="Group 4">
            <a:extLst>
              <a:ext uri="{FF2B5EF4-FFF2-40B4-BE49-F238E27FC236}">
                <a16:creationId xmlns:a16="http://schemas.microsoft.com/office/drawing/2014/main" xmlns="" id="{C34549E6-7110-46AB-A27E-C11C4706AF0C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4648200"/>
            <a:ext cx="6858000" cy="2164839"/>
            <a:chOff x="768" y="2256"/>
            <a:chExt cx="4320" cy="1625"/>
          </a:xfrm>
        </p:grpSpPr>
        <p:sp>
          <p:nvSpPr>
            <p:cNvPr id="1508357" name="Text Box 5">
              <a:extLst>
                <a:ext uri="{FF2B5EF4-FFF2-40B4-BE49-F238E27FC236}">
                  <a16:creationId xmlns:a16="http://schemas.microsoft.com/office/drawing/2014/main" xmlns="" id="{B850D467-50C9-4161-A5E9-6C7D47DDB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256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>
                  <a:latin typeface="Tahoma" panose="020B060403050404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508358" name="Rectangle 6">
              <a:extLst>
                <a:ext uri="{FF2B5EF4-FFF2-40B4-BE49-F238E27FC236}">
                  <a16:creationId xmlns:a16="http://schemas.microsoft.com/office/drawing/2014/main" xmlns="" id="{08F28A4A-DBF0-45E9-9223-90595DE7A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59" name="Rectangle 7">
              <a:extLst>
                <a:ext uri="{FF2B5EF4-FFF2-40B4-BE49-F238E27FC236}">
                  <a16:creationId xmlns:a16="http://schemas.microsoft.com/office/drawing/2014/main" xmlns="" id="{10AA555B-EC1C-4F54-9438-7C2FC6A31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508360" name="Rectangle 8">
              <a:extLst>
                <a:ext uri="{FF2B5EF4-FFF2-40B4-BE49-F238E27FC236}">
                  <a16:creationId xmlns:a16="http://schemas.microsoft.com/office/drawing/2014/main" xmlns="" id="{4174EE0B-99C4-460D-AD49-CACF15C72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1" name="Rectangle 9">
              <a:extLst>
                <a:ext uri="{FF2B5EF4-FFF2-40B4-BE49-F238E27FC236}">
                  <a16:creationId xmlns:a16="http://schemas.microsoft.com/office/drawing/2014/main" xmlns="" id="{CAD4A792-498D-413D-9F23-2684F68D0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2" name="Rectangle 10">
              <a:extLst>
                <a:ext uri="{FF2B5EF4-FFF2-40B4-BE49-F238E27FC236}">
                  <a16:creationId xmlns:a16="http://schemas.microsoft.com/office/drawing/2014/main" xmlns="" id="{83A82373-916B-4F6E-B739-F843BF2DA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3" name="Rectangle 11">
              <a:extLst>
                <a:ext uri="{FF2B5EF4-FFF2-40B4-BE49-F238E27FC236}">
                  <a16:creationId xmlns:a16="http://schemas.microsoft.com/office/drawing/2014/main" xmlns="" id="{412BFEE6-D8F5-4DC1-8F8D-204FFCCAB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4" name="Rectangle 12">
              <a:extLst>
                <a:ext uri="{FF2B5EF4-FFF2-40B4-BE49-F238E27FC236}">
                  <a16:creationId xmlns:a16="http://schemas.microsoft.com/office/drawing/2014/main" xmlns="" id="{6C0DE752-919C-4389-8269-46BE38C43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5" name="Text Box 13">
              <a:extLst>
                <a:ext uri="{FF2B5EF4-FFF2-40B4-BE49-F238E27FC236}">
                  <a16:creationId xmlns:a16="http://schemas.microsoft.com/office/drawing/2014/main" xmlns="" id="{63705809-A959-4BBD-BA39-CF4151712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497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508366" name="Text Box 14">
              <a:extLst>
                <a:ext uri="{FF2B5EF4-FFF2-40B4-BE49-F238E27FC236}">
                  <a16:creationId xmlns:a16="http://schemas.microsoft.com/office/drawing/2014/main" xmlns="" id="{7441618A-BD86-4DD8-929B-AA8736633F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497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508367" name="Rectangle 15">
              <a:extLst>
                <a:ext uri="{FF2B5EF4-FFF2-40B4-BE49-F238E27FC236}">
                  <a16:creationId xmlns:a16="http://schemas.microsoft.com/office/drawing/2014/main" xmlns="" id="{9EE243D9-0F6B-44F2-A980-11E952C07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8" name="Rectangle 16">
              <a:extLst>
                <a:ext uri="{FF2B5EF4-FFF2-40B4-BE49-F238E27FC236}">
                  <a16:creationId xmlns:a16="http://schemas.microsoft.com/office/drawing/2014/main" xmlns="" id="{23ED7016-2E3B-4D46-9B2B-A13A3C62B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69" name="Rectangle 17">
              <a:extLst>
                <a:ext uri="{FF2B5EF4-FFF2-40B4-BE49-F238E27FC236}">
                  <a16:creationId xmlns:a16="http://schemas.microsoft.com/office/drawing/2014/main" xmlns="" id="{39E7B040-9B69-45D6-B2B0-4944D265F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70" name="Rectangle 18">
              <a:extLst>
                <a:ext uri="{FF2B5EF4-FFF2-40B4-BE49-F238E27FC236}">
                  <a16:creationId xmlns:a16="http://schemas.microsoft.com/office/drawing/2014/main" xmlns="" id="{469F9977-9179-41FF-89FB-80C6AFDEC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71" name="Rectangle 19">
              <a:extLst>
                <a:ext uri="{FF2B5EF4-FFF2-40B4-BE49-F238E27FC236}">
                  <a16:creationId xmlns:a16="http://schemas.microsoft.com/office/drawing/2014/main" xmlns="" id="{BC1EB437-5563-4508-8571-7CF589AA0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496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72" name="Text Box 20">
              <a:extLst>
                <a:ext uri="{FF2B5EF4-FFF2-40B4-BE49-F238E27FC236}">
                  <a16:creationId xmlns:a16="http://schemas.microsoft.com/office/drawing/2014/main" xmlns="" id="{4CCA0676-3D9C-4C1A-85CA-77EC25818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497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508373" name="Text Box 21">
              <a:extLst>
                <a:ext uri="{FF2B5EF4-FFF2-40B4-BE49-F238E27FC236}">
                  <a16:creationId xmlns:a16="http://schemas.microsoft.com/office/drawing/2014/main" xmlns="" id="{A9CEE5F1-C1E1-4B62-80F7-27AB2ACD1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497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508374" name="Text Box 22">
              <a:extLst>
                <a:ext uri="{FF2B5EF4-FFF2-40B4-BE49-F238E27FC236}">
                  <a16:creationId xmlns:a16="http://schemas.microsoft.com/office/drawing/2014/main" xmlns="" id="{3E471346-3ABD-40FD-BD31-C7C4A076A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173</a:t>
              </a:r>
            </a:p>
          </p:txBody>
        </p:sp>
        <p:sp>
          <p:nvSpPr>
            <p:cNvPr id="1508375" name="Text Box 23">
              <a:extLst>
                <a:ext uri="{FF2B5EF4-FFF2-40B4-BE49-F238E27FC236}">
                  <a16:creationId xmlns:a16="http://schemas.microsoft.com/office/drawing/2014/main" xmlns="" id="{E017F8F3-AC26-4F91-8B7F-C377125D5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172</a:t>
              </a:r>
            </a:p>
          </p:txBody>
        </p:sp>
        <p:sp>
          <p:nvSpPr>
            <p:cNvPr id="1508376" name="Text Box 24">
              <a:extLst>
                <a:ext uri="{FF2B5EF4-FFF2-40B4-BE49-F238E27FC236}">
                  <a16:creationId xmlns:a16="http://schemas.microsoft.com/office/drawing/2014/main" xmlns="" id="{03C33D06-7BC7-4252-B28A-3088B1BFE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174</a:t>
              </a:r>
            </a:p>
          </p:txBody>
        </p:sp>
        <p:sp>
          <p:nvSpPr>
            <p:cNvPr id="1508377" name="Text Box 25">
              <a:extLst>
                <a:ext uri="{FF2B5EF4-FFF2-40B4-BE49-F238E27FC236}">
                  <a16:creationId xmlns:a16="http://schemas.microsoft.com/office/drawing/2014/main" xmlns="" id="{5E43F192-0239-4823-9101-4321B9DFA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175</a:t>
              </a:r>
            </a:p>
          </p:txBody>
        </p:sp>
        <p:sp>
          <p:nvSpPr>
            <p:cNvPr id="1508378" name="Text Box 26">
              <a:extLst>
                <a:ext uri="{FF2B5EF4-FFF2-40B4-BE49-F238E27FC236}">
                  <a16:creationId xmlns:a16="http://schemas.microsoft.com/office/drawing/2014/main" xmlns="" id="{486E01F8-9BE6-4E30-AA87-70EF3EE54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176</a:t>
              </a:r>
            </a:p>
          </p:txBody>
        </p:sp>
        <p:sp>
          <p:nvSpPr>
            <p:cNvPr id="1508379" name="Text Box 27">
              <a:extLst>
                <a:ext uri="{FF2B5EF4-FFF2-40B4-BE49-F238E27FC236}">
                  <a16:creationId xmlns:a16="http://schemas.microsoft.com/office/drawing/2014/main" xmlns="" id="{39622506-382D-4CF7-A782-3F99FBC2E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177</a:t>
              </a:r>
            </a:p>
          </p:txBody>
        </p:sp>
        <p:sp>
          <p:nvSpPr>
            <p:cNvPr id="1508380" name="Text Box 28">
              <a:extLst>
                <a:ext uri="{FF2B5EF4-FFF2-40B4-BE49-F238E27FC236}">
                  <a16:creationId xmlns:a16="http://schemas.microsoft.com/office/drawing/2014/main" xmlns="" id="{E967306B-BF87-4090-A708-EDB2106D6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178</a:t>
              </a:r>
            </a:p>
          </p:txBody>
        </p:sp>
        <p:sp>
          <p:nvSpPr>
            <p:cNvPr id="1508381" name="Text Box 29">
              <a:extLst>
                <a:ext uri="{FF2B5EF4-FFF2-40B4-BE49-F238E27FC236}">
                  <a16:creationId xmlns:a16="http://schemas.microsoft.com/office/drawing/2014/main" xmlns="" id="{F454E9A7-F2FB-4703-AF0B-A74BB65B7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179</a:t>
              </a:r>
            </a:p>
          </p:txBody>
        </p:sp>
        <p:sp>
          <p:nvSpPr>
            <p:cNvPr id="1508382" name="Text Box 30">
              <a:extLst>
                <a:ext uri="{FF2B5EF4-FFF2-40B4-BE49-F238E27FC236}">
                  <a16:creationId xmlns:a16="http://schemas.microsoft.com/office/drawing/2014/main" xmlns="" id="{ADCEE819-85C7-4C54-A6C9-46DFA84BE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180</a:t>
              </a:r>
            </a:p>
          </p:txBody>
        </p:sp>
        <p:sp>
          <p:nvSpPr>
            <p:cNvPr id="1508383" name="Text Box 31">
              <a:extLst>
                <a:ext uri="{FF2B5EF4-FFF2-40B4-BE49-F238E27FC236}">
                  <a16:creationId xmlns:a16="http://schemas.microsoft.com/office/drawing/2014/main" xmlns="" id="{0D64610A-62E3-47E9-85D4-7A58F7F0D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784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508384" name="Rectangle 32">
              <a:extLst>
                <a:ext uri="{FF2B5EF4-FFF2-40B4-BE49-F238E27FC236}">
                  <a16:creationId xmlns:a16="http://schemas.microsoft.com/office/drawing/2014/main" xmlns="" id="{2A853EE5-DDAE-490A-BDF0-8F8401A32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85" name="Rectangle 33">
              <a:extLst>
                <a:ext uri="{FF2B5EF4-FFF2-40B4-BE49-F238E27FC236}">
                  <a16:creationId xmlns:a16="http://schemas.microsoft.com/office/drawing/2014/main" xmlns="" id="{04226888-9127-4AB5-A316-F9DADD314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174</a:t>
              </a:r>
            </a:p>
          </p:txBody>
        </p:sp>
        <p:sp>
          <p:nvSpPr>
            <p:cNvPr id="1508386" name="Rectangle 34">
              <a:extLst>
                <a:ext uri="{FF2B5EF4-FFF2-40B4-BE49-F238E27FC236}">
                  <a16:creationId xmlns:a16="http://schemas.microsoft.com/office/drawing/2014/main" xmlns="" id="{9A43359B-7E65-4E1F-A17C-BF75AC449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87" name="Rectangle 35">
              <a:extLst>
                <a:ext uri="{FF2B5EF4-FFF2-40B4-BE49-F238E27FC236}">
                  <a16:creationId xmlns:a16="http://schemas.microsoft.com/office/drawing/2014/main" xmlns="" id="{158C4C70-74DA-48E8-9245-E9671E8D7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88" name="Rectangle 36">
              <a:extLst>
                <a:ext uri="{FF2B5EF4-FFF2-40B4-BE49-F238E27FC236}">
                  <a16:creationId xmlns:a16="http://schemas.microsoft.com/office/drawing/2014/main" xmlns="" id="{BA039A79-701B-4668-8000-4AE9EF2D6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89" name="Rectangle 37">
              <a:extLst>
                <a:ext uri="{FF2B5EF4-FFF2-40B4-BE49-F238E27FC236}">
                  <a16:creationId xmlns:a16="http://schemas.microsoft.com/office/drawing/2014/main" xmlns="" id="{01F431FB-067C-4035-8AE9-DBC6A683E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0" name="Rectangle 38">
              <a:extLst>
                <a:ext uri="{FF2B5EF4-FFF2-40B4-BE49-F238E27FC236}">
                  <a16:creationId xmlns:a16="http://schemas.microsoft.com/office/drawing/2014/main" xmlns="" id="{CCF94056-9122-4366-9E1D-A26B8DC63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1" name="Text Box 39">
              <a:extLst>
                <a:ext uri="{FF2B5EF4-FFF2-40B4-BE49-F238E27FC236}">
                  <a16:creationId xmlns:a16="http://schemas.microsoft.com/office/drawing/2014/main" xmlns="" id="{32FB92A6-359D-4EF7-A2D8-2B0E1F019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408"/>
              <a:ext cx="1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508392" name="Text Box 40">
              <a:extLst>
                <a:ext uri="{FF2B5EF4-FFF2-40B4-BE49-F238E27FC236}">
                  <a16:creationId xmlns:a16="http://schemas.microsoft.com/office/drawing/2014/main" xmlns="" id="{F33BECD9-FDB4-4104-ADE1-BA61E62BF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408"/>
              <a:ext cx="1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508393" name="Rectangle 41">
              <a:extLst>
                <a:ext uri="{FF2B5EF4-FFF2-40B4-BE49-F238E27FC236}">
                  <a16:creationId xmlns:a16="http://schemas.microsoft.com/office/drawing/2014/main" xmlns="" id="{CC8BDD87-FDFA-43B0-A683-3212D9789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4" name="Rectangle 42">
              <a:extLst>
                <a:ext uri="{FF2B5EF4-FFF2-40B4-BE49-F238E27FC236}">
                  <a16:creationId xmlns:a16="http://schemas.microsoft.com/office/drawing/2014/main" xmlns="" id="{B2405B1B-C1E3-4D32-9910-D7707BC6C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5" name="Rectangle 43">
              <a:extLst>
                <a:ext uri="{FF2B5EF4-FFF2-40B4-BE49-F238E27FC236}">
                  <a16:creationId xmlns:a16="http://schemas.microsoft.com/office/drawing/2014/main" xmlns="" id="{46EE38E9-CBA8-49AC-B7FE-C95AA1F0B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6" name="Rectangle 44">
              <a:extLst>
                <a:ext uri="{FF2B5EF4-FFF2-40B4-BE49-F238E27FC236}">
                  <a16:creationId xmlns:a16="http://schemas.microsoft.com/office/drawing/2014/main" xmlns="" id="{A41B74E6-B9C8-4337-9FB9-407D0D9A2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7" name="Rectangle 45">
              <a:extLst>
                <a:ext uri="{FF2B5EF4-FFF2-40B4-BE49-F238E27FC236}">
                  <a16:creationId xmlns:a16="http://schemas.microsoft.com/office/drawing/2014/main" xmlns="" id="{9BA10EFF-872E-4686-A3CA-2F5086476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408"/>
              <a:ext cx="288" cy="2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08398" name="Text Box 46">
              <a:extLst>
                <a:ext uri="{FF2B5EF4-FFF2-40B4-BE49-F238E27FC236}">
                  <a16:creationId xmlns:a16="http://schemas.microsoft.com/office/drawing/2014/main" xmlns="" id="{74A5F2A8-C153-4449-8488-3CD089D028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408"/>
              <a:ext cx="1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508399" name="Text Box 47">
              <a:extLst>
                <a:ext uri="{FF2B5EF4-FFF2-40B4-BE49-F238E27FC236}">
                  <a16:creationId xmlns:a16="http://schemas.microsoft.com/office/drawing/2014/main" xmlns="" id="{F7328E24-6F4E-4579-8260-4BB7BA3AC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408"/>
              <a:ext cx="1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latin typeface="Tahoma" panose="020B060403050404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508400" name="Text Box 48">
              <a:extLst>
                <a:ext uri="{FF2B5EF4-FFF2-40B4-BE49-F238E27FC236}">
                  <a16:creationId xmlns:a16="http://schemas.microsoft.com/office/drawing/2014/main" xmlns="" id="{B6C0375A-39B8-4CB1-8505-2F3C168E4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168"/>
              <a:ext cx="19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>
                  <a:latin typeface="Tahoma" panose="020B060403050404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1508401" name="Text Box 49">
              <a:extLst>
                <a:ext uri="{FF2B5EF4-FFF2-40B4-BE49-F238E27FC236}">
                  <a16:creationId xmlns:a16="http://schemas.microsoft.com/office/drawing/2014/main" xmlns="" id="{669E3B48-8A05-4DE5-B5A3-673C0E7B2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833</a:t>
              </a:r>
            </a:p>
          </p:txBody>
        </p:sp>
        <p:sp>
          <p:nvSpPr>
            <p:cNvPr id="1508402" name="Text Box 50">
              <a:extLst>
                <a:ext uri="{FF2B5EF4-FFF2-40B4-BE49-F238E27FC236}">
                  <a16:creationId xmlns:a16="http://schemas.microsoft.com/office/drawing/2014/main" xmlns="" id="{4D09F0B7-AA84-486E-8834-FCFA5C65E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832</a:t>
              </a:r>
            </a:p>
          </p:txBody>
        </p:sp>
        <p:sp>
          <p:nvSpPr>
            <p:cNvPr id="1508403" name="Text Box 51">
              <a:extLst>
                <a:ext uri="{FF2B5EF4-FFF2-40B4-BE49-F238E27FC236}">
                  <a16:creationId xmlns:a16="http://schemas.microsoft.com/office/drawing/2014/main" xmlns="" id="{6AE3DE1D-142C-492E-B457-61DF067D1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834</a:t>
              </a:r>
            </a:p>
          </p:txBody>
        </p:sp>
        <p:sp>
          <p:nvSpPr>
            <p:cNvPr id="1508404" name="Text Box 52">
              <a:extLst>
                <a:ext uri="{FF2B5EF4-FFF2-40B4-BE49-F238E27FC236}">
                  <a16:creationId xmlns:a16="http://schemas.microsoft.com/office/drawing/2014/main" xmlns="" id="{1E2594EB-DC7A-453A-8092-25557DEA8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835</a:t>
              </a:r>
            </a:p>
          </p:txBody>
        </p:sp>
        <p:sp>
          <p:nvSpPr>
            <p:cNvPr id="1508405" name="Text Box 53">
              <a:extLst>
                <a:ext uri="{FF2B5EF4-FFF2-40B4-BE49-F238E27FC236}">
                  <a16:creationId xmlns:a16="http://schemas.microsoft.com/office/drawing/2014/main" xmlns="" id="{300125DC-D2A0-4038-9792-E86FEAD6E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836</a:t>
              </a:r>
            </a:p>
          </p:txBody>
        </p:sp>
        <p:sp>
          <p:nvSpPr>
            <p:cNvPr id="1508406" name="Text Box 54">
              <a:extLst>
                <a:ext uri="{FF2B5EF4-FFF2-40B4-BE49-F238E27FC236}">
                  <a16:creationId xmlns:a16="http://schemas.microsoft.com/office/drawing/2014/main" xmlns="" id="{68FFB1E8-7AA3-4998-A3F6-467B4BEE4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837</a:t>
              </a:r>
            </a:p>
          </p:txBody>
        </p:sp>
        <p:sp>
          <p:nvSpPr>
            <p:cNvPr id="1508407" name="Text Box 55">
              <a:extLst>
                <a:ext uri="{FF2B5EF4-FFF2-40B4-BE49-F238E27FC236}">
                  <a16:creationId xmlns:a16="http://schemas.microsoft.com/office/drawing/2014/main" xmlns="" id="{3C797B89-780E-4AB9-A0D3-3E2C78451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838</a:t>
              </a:r>
            </a:p>
          </p:txBody>
        </p:sp>
        <p:sp>
          <p:nvSpPr>
            <p:cNvPr id="1508408" name="Text Box 56">
              <a:extLst>
                <a:ext uri="{FF2B5EF4-FFF2-40B4-BE49-F238E27FC236}">
                  <a16:creationId xmlns:a16="http://schemas.microsoft.com/office/drawing/2014/main" xmlns="" id="{AB090230-4DB2-4998-A893-07736AB6C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839</a:t>
              </a:r>
            </a:p>
          </p:txBody>
        </p:sp>
        <p:sp>
          <p:nvSpPr>
            <p:cNvPr id="1508409" name="Text Box 57">
              <a:extLst>
                <a:ext uri="{FF2B5EF4-FFF2-40B4-BE49-F238E27FC236}">
                  <a16:creationId xmlns:a16="http://schemas.microsoft.com/office/drawing/2014/main" xmlns="" id="{04E5A740-164C-4BA6-A5FB-0C14C8C0A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840</a:t>
              </a:r>
            </a:p>
          </p:txBody>
        </p:sp>
        <p:sp>
          <p:nvSpPr>
            <p:cNvPr id="1508410" name="Text Box 58">
              <a:extLst>
                <a:ext uri="{FF2B5EF4-FFF2-40B4-BE49-F238E27FC236}">
                  <a16:creationId xmlns:a16="http://schemas.microsoft.com/office/drawing/2014/main" xmlns="" id="{D353FB13-D290-4821-8D02-542E152BD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696"/>
              <a:ext cx="288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000">
                  <a:latin typeface="Tahoma" panose="020B0604030504040204" pitchFamily="34" charset="0"/>
                  <a:cs typeface="Arial" panose="020B0604020202020204" pitchFamily="34" charset="0"/>
                </a:rPr>
                <a:t>841</a:t>
              </a:r>
            </a:p>
          </p:txBody>
        </p:sp>
        <p:sp>
          <p:nvSpPr>
            <p:cNvPr id="1508411" name="Line 59">
              <a:extLst>
                <a:ext uri="{FF2B5EF4-FFF2-40B4-BE49-F238E27FC236}">
                  <a16:creationId xmlns:a16="http://schemas.microsoft.com/office/drawing/2014/main" xmlns="" id="{DC5E6E00-45B9-4F5A-899E-0239616CB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824" y="2736"/>
              <a:ext cx="768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08412" name="Line 60">
            <a:extLst>
              <a:ext uri="{FF2B5EF4-FFF2-40B4-BE49-F238E27FC236}">
                <a16:creationId xmlns:a16="http://schemas.microsoft.com/office/drawing/2014/main" xmlns="" id="{56E93C1F-BCFB-41E9-9C17-F0C4C8D0ED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800" y="4876800"/>
            <a:ext cx="2133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08413" name="Text Box 61">
            <a:extLst>
              <a:ext uri="{FF2B5EF4-FFF2-40B4-BE49-F238E27FC236}">
                <a16:creationId xmlns:a16="http://schemas.microsoft.com/office/drawing/2014/main" xmlns="" id="{886A23B5-1108-40C0-86D0-388105E9E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410201"/>
            <a:ext cx="1828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990000"/>
                </a:solidFill>
                <a:latin typeface="Trebuchet MS" panose="020B0603020202020204" pitchFamily="34" charset="0"/>
              </a:rPr>
              <a:t>C is a variable</a:t>
            </a:r>
          </a:p>
        </p:txBody>
      </p:sp>
      <p:sp>
        <p:nvSpPr>
          <p:cNvPr id="1508414" name="Line 62">
            <a:extLst>
              <a:ext uri="{FF2B5EF4-FFF2-40B4-BE49-F238E27FC236}">
                <a16:creationId xmlns:a16="http://schemas.microsoft.com/office/drawing/2014/main" xmlns="" id="{6CE2B015-3097-49B9-8161-8E8843FE6F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6019800"/>
            <a:ext cx="2895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08415" name="Text Box 63">
            <a:extLst>
              <a:ext uri="{FF2B5EF4-FFF2-40B4-BE49-F238E27FC236}">
                <a16:creationId xmlns:a16="http://schemas.microsoft.com/office/drawing/2014/main" xmlns="" id="{D26B138A-6E73-43AE-A7FC-082AFABB0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6110288"/>
            <a:ext cx="1828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990000"/>
                </a:solidFill>
                <a:latin typeface="Trebuchet MS" panose="020B0603020202020204" pitchFamily="34" charset="0"/>
              </a:rPr>
              <a:t>P is a Pointer ?</a:t>
            </a:r>
          </a:p>
        </p:txBody>
      </p:sp>
      <p:sp>
        <p:nvSpPr>
          <p:cNvPr id="1508416" name="Line 64">
            <a:extLst>
              <a:ext uri="{FF2B5EF4-FFF2-40B4-BE49-F238E27FC236}">
                <a16:creationId xmlns:a16="http://schemas.microsoft.com/office/drawing/2014/main" xmlns="" id="{B4526BA0-F290-4B92-9C5D-4A84A375D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53340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08417" name="Line 65">
            <a:extLst>
              <a:ext uri="{FF2B5EF4-FFF2-40B4-BE49-F238E27FC236}">
                <a16:creationId xmlns:a16="http://schemas.microsoft.com/office/drawing/2014/main" xmlns="" id="{4AEC6111-E915-4596-9965-ADE9947B7A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63000" y="5638800"/>
            <a:ext cx="381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08418" name="Text Box 66">
            <a:extLst>
              <a:ext uri="{FF2B5EF4-FFF2-40B4-BE49-F238E27FC236}">
                <a16:creationId xmlns:a16="http://schemas.microsoft.com/office/drawing/2014/main" xmlns="" id="{98414C96-304A-4DE7-8536-31992A51D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410201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990000"/>
                </a:solidFill>
                <a:latin typeface="Trebuchet MS" panose="020B0603020202020204" pitchFamily="34" charset="0"/>
              </a:rPr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61484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402" name="Rectangle 2">
            <a:extLst>
              <a:ext uri="{FF2B5EF4-FFF2-40B4-BE49-F238E27FC236}">
                <a16:creationId xmlns:a16="http://schemas.microsoft.com/office/drawing/2014/main" xmlns="" id="{3269C1EE-F6D4-484C-9525-A6740D43B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458200" cy="914400"/>
          </a:xfrm>
        </p:spPr>
        <p:txBody>
          <a:bodyPr/>
          <a:lstStyle/>
          <a:p>
            <a:pPr algn="l"/>
            <a:r>
              <a:rPr lang="en-US" altLang="en-US" b="1"/>
              <a:t>Pointers</a:t>
            </a:r>
          </a:p>
        </p:txBody>
      </p:sp>
      <p:sp>
        <p:nvSpPr>
          <p:cNvPr id="1510403" name="Rectangle 3">
            <a:extLst>
              <a:ext uri="{FF2B5EF4-FFF2-40B4-BE49-F238E27FC236}">
                <a16:creationId xmlns:a16="http://schemas.microsoft.com/office/drawing/2014/main" xmlns="" id="{006D0271-0D99-4CB7-9CF3-37D72564B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600200"/>
            <a:ext cx="8229600" cy="4800600"/>
          </a:xfr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A </a:t>
            </a:r>
            <a:r>
              <a:rPr lang="en-US" altLang="en-US" sz="240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pointer variable</a:t>
            </a:r>
            <a:r>
              <a:rPr lang="en-US" altLang="en-US" sz="2400"/>
              <a:t> must be declared before it can be used.</a:t>
            </a:r>
          </a:p>
          <a:p>
            <a:pPr>
              <a:lnSpc>
                <a:spcPct val="90000"/>
              </a:lnSpc>
            </a:pPr>
            <a:endParaRPr lang="en-US" altLang="en-US" sz="24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latin typeface="Trebuchet MS" panose="020B0603020202020204" pitchFamily="34" charset="0"/>
              </a:rPr>
              <a:t>Examples of pointer declarations:</a:t>
            </a:r>
          </a:p>
          <a:p>
            <a:pPr>
              <a:lnSpc>
                <a:spcPct val="90000"/>
              </a:lnSpc>
            </a:pPr>
            <a:endParaRPr lang="en-US" altLang="en-US" sz="8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rebuchet MS" panose="020B0603020202020204" pitchFamily="34" charset="0"/>
              </a:rPr>
              <a:t>		int</a:t>
            </a:r>
            <a:r>
              <a:rPr lang="en-US" altLang="en-US" sz="2400" b="1">
                <a:latin typeface="Trebuchet MS" panose="020B0603020202020204" pitchFamily="34" charset="0"/>
              </a:rPr>
              <a:t>  *a</a:t>
            </a:r>
            <a:r>
              <a:rPr lang="en-US" altLang="en-US" sz="240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rebuchet MS" panose="020B0603020202020204" pitchFamily="34" charset="0"/>
              </a:rPr>
              <a:t>		</a:t>
            </a:r>
            <a:r>
              <a:rPr lang="en-US" altLang="en-US" sz="2400">
                <a:latin typeface="Trebuchet MS" panose="020B0603020202020204" pitchFamily="34" charset="0"/>
              </a:rPr>
              <a:t>float</a:t>
            </a:r>
            <a:r>
              <a:rPr lang="en-US" altLang="en-US" sz="2400" b="1">
                <a:latin typeface="Trebuchet MS" panose="020B0603020202020204" pitchFamily="34" charset="0"/>
              </a:rPr>
              <a:t> *b</a:t>
            </a:r>
            <a:r>
              <a:rPr lang="en-US" altLang="en-US" sz="240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Trebuchet MS" panose="020B0603020202020204" pitchFamily="34" charset="0"/>
              </a:rPr>
              <a:t>		</a:t>
            </a:r>
            <a:r>
              <a:rPr lang="en-US" altLang="en-US" sz="2400">
                <a:latin typeface="Trebuchet MS" panose="020B0603020202020204" pitchFamily="34" charset="0"/>
              </a:rPr>
              <a:t>char</a:t>
            </a:r>
            <a:r>
              <a:rPr lang="en-US" altLang="en-US" sz="2400" b="1">
                <a:latin typeface="Trebuchet MS" panose="020B0603020202020204" pitchFamily="34" charset="0"/>
              </a:rPr>
              <a:t> *c</a:t>
            </a:r>
            <a:r>
              <a:rPr lang="en-US" altLang="en-US" sz="2400">
                <a:latin typeface="Trebuchet MS" panose="020B0603020202020204" pitchFamily="34" charset="0"/>
              </a:rPr>
              <a:t>;</a:t>
            </a:r>
          </a:p>
          <a:p>
            <a:pPr>
              <a:lnSpc>
                <a:spcPct val="90000"/>
              </a:lnSpc>
            </a:pPr>
            <a:endParaRPr lang="en-US" altLang="en-US" sz="800" b="1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latin typeface="Trebuchet MS" panose="020B0603020202020204" pitchFamily="34" charset="0"/>
              </a:rPr>
              <a:t>The </a:t>
            </a:r>
            <a:r>
              <a:rPr lang="en-US" altLang="en-US" sz="24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asterisk</a:t>
            </a:r>
            <a:r>
              <a:rPr lang="en-US" altLang="en-US" sz="2400">
                <a:latin typeface="Trebuchet MS" panose="020B0603020202020204" pitchFamily="34" charset="0"/>
              </a:rPr>
              <a:t>, when used as above in the declaration, tells the compiler that the variable is to be a pointer, and the type of data </a:t>
            </a:r>
            <a:r>
              <a:rPr lang="en-US" altLang="en-US" sz="24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(the value that we get indirectly)</a:t>
            </a:r>
            <a:r>
              <a:rPr lang="en-US" altLang="en-US" sz="2400">
                <a:latin typeface="Trebuchet MS" panose="020B0603020202020204" pitchFamily="34" charset="0"/>
              </a:rPr>
              <a:t> that the pointer points to.</a:t>
            </a:r>
          </a:p>
        </p:txBody>
      </p:sp>
    </p:spTree>
    <p:extLst>
      <p:ext uri="{BB962C8B-B14F-4D97-AF65-F5344CB8AC3E}">
        <p14:creationId xmlns:p14="http://schemas.microsoft.com/office/powerpoint/2010/main" val="27735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498" name="Rectangle 2">
            <a:extLst>
              <a:ext uri="{FF2B5EF4-FFF2-40B4-BE49-F238E27FC236}">
                <a16:creationId xmlns:a16="http://schemas.microsoft.com/office/drawing/2014/main" xmlns="" id="{ECEF2A1E-70DE-4877-BAF1-808352803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458200" cy="914400"/>
          </a:xfrm>
        </p:spPr>
        <p:txBody>
          <a:bodyPr/>
          <a:lstStyle/>
          <a:p>
            <a:pPr algn="l"/>
            <a:r>
              <a:rPr lang="en-US" altLang="en-US" b="1"/>
              <a:t>Referencing</a:t>
            </a:r>
          </a:p>
        </p:txBody>
      </p:sp>
      <p:sp>
        <p:nvSpPr>
          <p:cNvPr id="1514499" name="Rectangle 3">
            <a:extLst>
              <a:ext uri="{FF2B5EF4-FFF2-40B4-BE49-F238E27FC236}">
                <a16:creationId xmlns:a16="http://schemas.microsoft.com/office/drawing/2014/main" xmlns="" id="{CB9A990E-C374-4D5B-97CA-4D6EF2EE1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371601"/>
            <a:ext cx="8229600" cy="4906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447675" indent="-447675">
              <a:buNone/>
            </a:pPr>
            <a:r>
              <a:rPr lang="en-US" altLang="en-US" sz="2400" b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pPr marL="447675" indent="-447675">
              <a:buNone/>
            </a:pPr>
            <a:r>
              <a:rPr lang="en-US" altLang="en-US" sz="2400" b="1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 *P; </a:t>
            </a:r>
            <a:r>
              <a:rPr lang="en-US" alt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/* Declare P as a pointer to int */</a:t>
            </a:r>
          </a:p>
          <a:p>
            <a:pPr marL="447675" indent="-447675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C = 7;</a:t>
            </a:r>
          </a:p>
          <a:p>
            <a:pPr marL="447675" indent="-447675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P = &amp;C;</a:t>
            </a:r>
          </a:p>
        </p:txBody>
      </p:sp>
      <p:sp>
        <p:nvSpPr>
          <p:cNvPr id="1514500" name="Text Box 4">
            <a:extLst>
              <a:ext uri="{FF2B5EF4-FFF2-40B4-BE49-F238E27FC236}">
                <a16:creationId xmlns:a16="http://schemas.microsoft.com/office/drawing/2014/main" xmlns="" id="{A7F0ACEF-0EAC-4323-A6B5-3AA710D49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413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514501" name="Rectangle 5">
            <a:extLst>
              <a:ext uri="{FF2B5EF4-FFF2-40B4-BE49-F238E27FC236}">
                <a16:creationId xmlns:a16="http://schemas.microsoft.com/office/drawing/2014/main" xmlns="" id="{3B047328-D2EE-4AF0-AF85-8CD1D1C15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2" name="Rectangle 6">
            <a:extLst>
              <a:ext uri="{FF2B5EF4-FFF2-40B4-BE49-F238E27FC236}">
                <a16:creationId xmlns:a16="http://schemas.microsoft.com/office/drawing/2014/main" xmlns="" id="{0B5D5A4B-4D96-4E36-8F31-0F7F3B73C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514503" name="Rectangle 7">
            <a:extLst>
              <a:ext uri="{FF2B5EF4-FFF2-40B4-BE49-F238E27FC236}">
                <a16:creationId xmlns:a16="http://schemas.microsoft.com/office/drawing/2014/main" xmlns="" id="{25AA7777-4A96-4F76-82CE-748568C55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4" name="Rectangle 8">
            <a:extLst>
              <a:ext uri="{FF2B5EF4-FFF2-40B4-BE49-F238E27FC236}">
                <a16:creationId xmlns:a16="http://schemas.microsoft.com/office/drawing/2014/main" xmlns="" id="{48F0410F-4A01-483F-9C6B-A61650E7E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5" name="Rectangle 9">
            <a:extLst>
              <a:ext uri="{FF2B5EF4-FFF2-40B4-BE49-F238E27FC236}">
                <a16:creationId xmlns:a16="http://schemas.microsoft.com/office/drawing/2014/main" xmlns="" id="{317CE997-8CC5-47E3-BDA6-0F0F0D83D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6" name="Rectangle 10">
            <a:extLst>
              <a:ext uri="{FF2B5EF4-FFF2-40B4-BE49-F238E27FC236}">
                <a16:creationId xmlns:a16="http://schemas.microsoft.com/office/drawing/2014/main" xmlns="" id="{9872B427-4216-47DD-8A37-56C41B0F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7" name="Rectangle 11">
            <a:extLst>
              <a:ext uri="{FF2B5EF4-FFF2-40B4-BE49-F238E27FC236}">
                <a16:creationId xmlns:a16="http://schemas.microsoft.com/office/drawing/2014/main" xmlns="" id="{F65BAB14-1CFC-463F-AB9A-5A7707517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08" name="Text Box 12">
            <a:extLst>
              <a:ext uri="{FF2B5EF4-FFF2-40B4-BE49-F238E27FC236}">
                <a16:creationId xmlns:a16="http://schemas.microsoft.com/office/drawing/2014/main" xmlns="" id="{B3A5353A-EA02-47A1-8A55-8E1611AAA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794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14509" name="Text Box 13">
            <a:extLst>
              <a:ext uri="{FF2B5EF4-FFF2-40B4-BE49-F238E27FC236}">
                <a16:creationId xmlns:a16="http://schemas.microsoft.com/office/drawing/2014/main" xmlns="" id="{E28E70DD-6180-4D2C-9C78-5CAE6B636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794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514510" name="Rectangle 14">
            <a:extLst>
              <a:ext uri="{FF2B5EF4-FFF2-40B4-BE49-F238E27FC236}">
                <a16:creationId xmlns:a16="http://schemas.microsoft.com/office/drawing/2014/main" xmlns="" id="{6692D5BD-F8C8-41AA-B7DB-7A0165D7D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1" name="Rectangle 15">
            <a:extLst>
              <a:ext uri="{FF2B5EF4-FFF2-40B4-BE49-F238E27FC236}">
                <a16:creationId xmlns:a16="http://schemas.microsoft.com/office/drawing/2014/main" xmlns="" id="{DB3B481D-1973-4F5E-A984-1F394F6B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2" name="Rectangle 16">
            <a:extLst>
              <a:ext uri="{FF2B5EF4-FFF2-40B4-BE49-F238E27FC236}">
                <a16:creationId xmlns:a16="http://schemas.microsoft.com/office/drawing/2014/main" xmlns="" id="{BF82A56B-D2AE-4F53-B9F8-B21F6B8A1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3" name="Rectangle 17">
            <a:extLst>
              <a:ext uri="{FF2B5EF4-FFF2-40B4-BE49-F238E27FC236}">
                <a16:creationId xmlns:a16="http://schemas.microsoft.com/office/drawing/2014/main" xmlns="" id="{16D3B4F5-806F-4231-A524-25DB0BD21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4" name="Rectangle 18">
            <a:extLst>
              <a:ext uri="{FF2B5EF4-FFF2-40B4-BE49-F238E27FC236}">
                <a16:creationId xmlns:a16="http://schemas.microsoft.com/office/drawing/2014/main" xmlns="" id="{98650E17-1C3C-4B69-A92B-E4257F32E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7941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15" name="Text Box 19">
            <a:extLst>
              <a:ext uri="{FF2B5EF4-FFF2-40B4-BE49-F238E27FC236}">
                <a16:creationId xmlns:a16="http://schemas.microsoft.com/office/drawing/2014/main" xmlns="" id="{06F6B4D9-8494-4F0D-B787-68A5F8D8F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794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514516" name="Text Box 20">
            <a:extLst>
              <a:ext uri="{FF2B5EF4-FFF2-40B4-BE49-F238E27FC236}">
                <a16:creationId xmlns:a16="http://schemas.microsoft.com/office/drawing/2014/main" xmlns="" id="{C687669D-DD89-42AA-BD24-DF71D2527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37941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514517" name="Text Box 21">
            <a:extLst>
              <a:ext uri="{FF2B5EF4-FFF2-40B4-BE49-F238E27FC236}">
                <a16:creationId xmlns:a16="http://schemas.microsoft.com/office/drawing/2014/main" xmlns="" id="{43CA9906-A54E-4183-A204-8E7A74988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173</a:t>
            </a:r>
          </a:p>
        </p:txBody>
      </p:sp>
      <p:sp>
        <p:nvSpPr>
          <p:cNvPr id="1514518" name="Text Box 22">
            <a:extLst>
              <a:ext uri="{FF2B5EF4-FFF2-40B4-BE49-F238E27FC236}">
                <a16:creationId xmlns:a16="http://schemas.microsoft.com/office/drawing/2014/main" xmlns="" id="{F7A8AD81-D9B2-43FF-B555-CC8FEEDD6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172</a:t>
            </a:r>
          </a:p>
        </p:txBody>
      </p:sp>
      <p:sp>
        <p:nvSpPr>
          <p:cNvPr id="1514519" name="Text Box 23">
            <a:extLst>
              <a:ext uri="{FF2B5EF4-FFF2-40B4-BE49-F238E27FC236}">
                <a16:creationId xmlns:a16="http://schemas.microsoft.com/office/drawing/2014/main" xmlns="" id="{BE5E553C-FE61-417B-82A9-E402F0DFA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174</a:t>
            </a:r>
          </a:p>
        </p:txBody>
      </p:sp>
      <p:sp>
        <p:nvSpPr>
          <p:cNvPr id="1514520" name="Text Box 24">
            <a:extLst>
              <a:ext uri="{FF2B5EF4-FFF2-40B4-BE49-F238E27FC236}">
                <a16:creationId xmlns:a16="http://schemas.microsoft.com/office/drawing/2014/main" xmlns="" id="{4D3290EE-58A8-4C35-908C-431803BE1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175</a:t>
            </a:r>
          </a:p>
        </p:txBody>
      </p:sp>
      <p:sp>
        <p:nvSpPr>
          <p:cNvPr id="1514521" name="Text Box 25">
            <a:extLst>
              <a:ext uri="{FF2B5EF4-FFF2-40B4-BE49-F238E27FC236}">
                <a16:creationId xmlns:a16="http://schemas.microsoft.com/office/drawing/2014/main" xmlns="" id="{570B1485-1EA2-4A4C-88EE-08055C6B9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176</a:t>
            </a:r>
          </a:p>
        </p:txBody>
      </p:sp>
      <p:sp>
        <p:nvSpPr>
          <p:cNvPr id="1514522" name="Text Box 26">
            <a:extLst>
              <a:ext uri="{FF2B5EF4-FFF2-40B4-BE49-F238E27FC236}">
                <a16:creationId xmlns:a16="http://schemas.microsoft.com/office/drawing/2014/main" xmlns="" id="{E197EEB1-FC1D-41C2-A8F5-A09435E96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177</a:t>
            </a:r>
          </a:p>
        </p:txBody>
      </p:sp>
      <p:sp>
        <p:nvSpPr>
          <p:cNvPr id="1514523" name="Text Box 27">
            <a:extLst>
              <a:ext uri="{FF2B5EF4-FFF2-40B4-BE49-F238E27FC236}">
                <a16:creationId xmlns:a16="http://schemas.microsoft.com/office/drawing/2014/main" xmlns="" id="{F3B870D1-35DF-4092-ABDB-10F987DD4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178</a:t>
            </a:r>
          </a:p>
        </p:txBody>
      </p:sp>
      <p:sp>
        <p:nvSpPr>
          <p:cNvPr id="1514524" name="Text Box 28">
            <a:extLst>
              <a:ext uri="{FF2B5EF4-FFF2-40B4-BE49-F238E27FC236}">
                <a16:creationId xmlns:a16="http://schemas.microsoft.com/office/drawing/2014/main" xmlns="" id="{21D10E0A-CB65-4F8C-B0D0-0E01CBAFD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1514525" name="Text Box 29">
            <a:extLst>
              <a:ext uri="{FF2B5EF4-FFF2-40B4-BE49-F238E27FC236}">
                <a16:creationId xmlns:a16="http://schemas.microsoft.com/office/drawing/2014/main" xmlns="" id="{873D1DEC-5E4B-4CD8-A873-16BC1B6BB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514526" name="Text Box 30">
            <a:extLst>
              <a:ext uri="{FF2B5EF4-FFF2-40B4-BE49-F238E27FC236}">
                <a16:creationId xmlns:a16="http://schemas.microsoft.com/office/drawing/2014/main" xmlns="" id="{42E7C1C1-8133-44FE-BB31-CD2246E47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2513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181</a:t>
            </a:r>
          </a:p>
        </p:txBody>
      </p:sp>
      <p:sp>
        <p:nvSpPr>
          <p:cNvPr id="1514527" name="Rectangle 31">
            <a:extLst>
              <a:ext uri="{FF2B5EF4-FFF2-40B4-BE49-F238E27FC236}">
                <a16:creationId xmlns:a16="http://schemas.microsoft.com/office/drawing/2014/main" xmlns="" id="{08E7BF96-D155-44EA-B59B-0670728EC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28" name="Rectangle 32">
            <a:extLst>
              <a:ext uri="{FF2B5EF4-FFF2-40B4-BE49-F238E27FC236}">
                <a16:creationId xmlns:a16="http://schemas.microsoft.com/office/drawing/2014/main" xmlns="" id="{B5FB851A-9DB8-47BF-8216-16936BE4D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174</a:t>
            </a:r>
          </a:p>
        </p:txBody>
      </p:sp>
      <p:sp>
        <p:nvSpPr>
          <p:cNvPr id="1514529" name="Rectangle 33">
            <a:extLst>
              <a:ext uri="{FF2B5EF4-FFF2-40B4-BE49-F238E27FC236}">
                <a16:creationId xmlns:a16="http://schemas.microsoft.com/office/drawing/2014/main" xmlns="" id="{A4D3F387-8FD2-4D30-92FA-278CC57D8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0" name="Rectangle 34">
            <a:extLst>
              <a:ext uri="{FF2B5EF4-FFF2-40B4-BE49-F238E27FC236}">
                <a16:creationId xmlns:a16="http://schemas.microsoft.com/office/drawing/2014/main" xmlns="" id="{13B1E700-1C87-4189-AFD3-E0426603D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1" name="Rectangle 35">
            <a:extLst>
              <a:ext uri="{FF2B5EF4-FFF2-40B4-BE49-F238E27FC236}">
                <a16:creationId xmlns:a16="http://schemas.microsoft.com/office/drawing/2014/main" xmlns="" id="{95BC4F2B-5A24-4A23-BDB1-ED40CE307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2" name="Rectangle 36">
            <a:extLst>
              <a:ext uri="{FF2B5EF4-FFF2-40B4-BE49-F238E27FC236}">
                <a16:creationId xmlns:a16="http://schemas.microsoft.com/office/drawing/2014/main" xmlns="" id="{146B1F91-85CB-49D9-982C-0F7273DAA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3" name="Rectangle 37">
            <a:extLst>
              <a:ext uri="{FF2B5EF4-FFF2-40B4-BE49-F238E27FC236}">
                <a16:creationId xmlns:a16="http://schemas.microsoft.com/office/drawing/2014/main" xmlns="" id="{14F2AC3D-D9C7-407C-9FC4-D36C000F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4" name="Text Box 38">
            <a:extLst>
              <a:ext uri="{FF2B5EF4-FFF2-40B4-BE49-F238E27FC236}">
                <a16:creationId xmlns:a16="http://schemas.microsoft.com/office/drawing/2014/main" xmlns="" id="{8FD19021-4D20-44DF-AB7F-30937BF5B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5241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14535" name="Text Box 39">
            <a:extLst>
              <a:ext uri="{FF2B5EF4-FFF2-40B4-BE49-F238E27FC236}">
                <a16:creationId xmlns:a16="http://schemas.microsoft.com/office/drawing/2014/main" xmlns="" id="{697B6B34-8C3E-4686-BC61-49E35AE94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5241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514536" name="Rectangle 40">
            <a:extLst>
              <a:ext uri="{FF2B5EF4-FFF2-40B4-BE49-F238E27FC236}">
                <a16:creationId xmlns:a16="http://schemas.microsoft.com/office/drawing/2014/main" xmlns="" id="{1AD5A0A2-B613-4F57-BDE5-BB28F76AE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7" name="Rectangle 41">
            <a:extLst>
              <a:ext uri="{FF2B5EF4-FFF2-40B4-BE49-F238E27FC236}">
                <a16:creationId xmlns:a16="http://schemas.microsoft.com/office/drawing/2014/main" xmlns="" id="{B278F483-DCC7-4B3E-B04A-E3C743940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8" name="Rectangle 42">
            <a:extLst>
              <a:ext uri="{FF2B5EF4-FFF2-40B4-BE49-F238E27FC236}">
                <a16:creationId xmlns:a16="http://schemas.microsoft.com/office/drawing/2014/main" xmlns="" id="{86B78E2E-ED37-4AC7-B260-DB9CBFC78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39" name="Rectangle 43">
            <a:extLst>
              <a:ext uri="{FF2B5EF4-FFF2-40B4-BE49-F238E27FC236}">
                <a16:creationId xmlns:a16="http://schemas.microsoft.com/office/drawing/2014/main" xmlns="" id="{48838E95-832F-486D-926D-85AFA9522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40" name="Rectangle 44">
            <a:extLst>
              <a:ext uri="{FF2B5EF4-FFF2-40B4-BE49-F238E27FC236}">
                <a16:creationId xmlns:a16="http://schemas.microsoft.com/office/drawing/2014/main" xmlns="" id="{2A8BCF46-4A66-4C57-99AE-83742FD24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241925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14541" name="Text Box 45">
            <a:extLst>
              <a:ext uri="{FF2B5EF4-FFF2-40B4-BE49-F238E27FC236}">
                <a16:creationId xmlns:a16="http://schemas.microsoft.com/office/drawing/2014/main" xmlns="" id="{113640E1-6F77-4118-9CAD-41BE47538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241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514542" name="Text Box 46">
            <a:extLst>
              <a:ext uri="{FF2B5EF4-FFF2-40B4-BE49-F238E27FC236}">
                <a16:creationId xmlns:a16="http://schemas.microsoft.com/office/drawing/2014/main" xmlns="" id="{EE7930CA-223A-4577-B0B8-614E75C98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400" y="5241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514543" name="Text Box 47">
            <a:extLst>
              <a:ext uri="{FF2B5EF4-FFF2-40B4-BE49-F238E27FC236}">
                <a16:creationId xmlns:a16="http://schemas.microsoft.com/office/drawing/2014/main" xmlns="" id="{66610A20-0627-496E-ADB2-33A853412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860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  <a:cs typeface="Arial" panose="020B0604020202020204" pitchFamily="34" charset="0"/>
              </a:rPr>
              <a:t>P</a:t>
            </a:r>
          </a:p>
        </p:txBody>
      </p:sp>
      <p:sp>
        <p:nvSpPr>
          <p:cNvPr id="1514544" name="Text Box 48">
            <a:extLst>
              <a:ext uri="{FF2B5EF4-FFF2-40B4-BE49-F238E27FC236}">
                <a16:creationId xmlns:a16="http://schemas.microsoft.com/office/drawing/2014/main" xmlns="" id="{51B7F77B-DEBD-4CD6-AE2C-E9EDF6431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833</a:t>
            </a:r>
          </a:p>
        </p:txBody>
      </p:sp>
      <p:sp>
        <p:nvSpPr>
          <p:cNvPr id="1514545" name="Text Box 49">
            <a:extLst>
              <a:ext uri="{FF2B5EF4-FFF2-40B4-BE49-F238E27FC236}">
                <a16:creationId xmlns:a16="http://schemas.microsoft.com/office/drawing/2014/main" xmlns="" id="{E554C6CE-7EBF-481D-85FE-60A343355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832</a:t>
            </a:r>
          </a:p>
        </p:txBody>
      </p:sp>
      <p:sp>
        <p:nvSpPr>
          <p:cNvPr id="1514546" name="Text Box 50">
            <a:extLst>
              <a:ext uri="{FF2B5EF4-FFF2-40B4-BE49-F238E27FC236}">
                <a16:creationId xmlns:a16="http://schemas.microsoft.com/office/drawing/2014/main" xmlns="" id="{7A4280CF-211F-4763-8221-97753CBF1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834</a:t>
            </a:r>
          </a:p>
        </p:txBody>
      </p:sp>
      <p:sp>
        <p:nvSpPr>
          <p:cNvPr id="1514547" name="Text Box 51">
            <a:extLst>
              <a:ext uri="{FF2B5EF4-FFF2-40B4-BE49-F238E27FC236}">
                <a16:creationId xmlns:a16="http://schemas.microsoft.com/office/drawing/2014/main" xmlns="" id="{88424C8C-1D27-4B76-8BFA-14BC0933F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835</a:t>
            </a:r>
          </a:p>
        </p:txBody>
      </p:sp>
      <p:sp>
        <p:nvSpPr>
          <p:cNvPr id="1514548" name="Text Box 52">
            <a:extLst>
              <a:ext uri="{FF2B5EF4-FFF2-40B4-BE49-F238E27FC236}">
                <a16:creationId xmlns:a16="http://schemas.microsoft.com/office/drawing/2014/main" xmlns="" id="{0C03AF85-54A6-492A-B8EA-B2153CE16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836</a:t>
            </a:r>
          </a:p>
        </p:txBody>
      </p:sp>
      <p:sp>
        <p:nvSpPr>
          <p:cNvPr id="1514549" name="Text Box 53">
            <a:extLst>
              <a:ext uri="{FF2B5EF4-FFF2-40B4-BE49-F238E27FC236}">
                <a16:creationId xmlns:a16="http://schemas.microsoft.com/office/drawing/2014/main" xmlns="" id="{487AE6A9-7C04-403C-8234-09F3C6597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837</a:t>
            </a:r>
          </a:p>
        </p:txBody>
      </p:sp>
      <p:sp>
        <p:nvSpPr>
          <p:cNvPr id="1514550" name="Text Box 54">
            <a:extLst>
              <a:ext uri="{FF2B5EF4-FFF2-40B4-BE49-F238E27FC236}">
                <a16:creationId xmlns:a16="http://schemas.microsoft.com/office/drawing/2014/main" xmlns="" id="{A11AE969-BE2E-4AFC-9A92-BDAF6AAAD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838</a:t>
            </a:r>
          </a:p>
        </p:txBody>
      </p:sp>
      <p:sp>
        <p:nvSpPr>
          <p:cNvPr id="1514551" name="Text Box 55">
            <a:extLst>
              <a:ext uri="{FF2B5EF4-FFF2-40B4-BE49-F238E27FC236}">
                <a16:creationId xmlns:a16="http://schemas.microsoft.com/office/drawing/2014/main" xmlns="" id="{639FBBED-F41E-435D-886A-C573AC3A8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839</a:t>
            </a:r>
          </a:p>
        </p:txBody>
      </p:sp>
      <p:sp>
        <p:nvSpPr>
          <p:cNvPr id="1514552" name="Text Box 56">
            <a:extLst>
              <a:ext uri="{FF2B5EF4-FFF2-40B4-BE49-F238E27FC236}">
                <a16:creationId xmlns:a16="http://schemas.microsoft.com/office/drawing/2014/main" xmlns="" id="{D25F9193-F108-47B7-9A48-2E04280AF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840</a:t>
            </a:r>
          </a:p>
        </p:txBody>
      </p:sp>
      <p:sp>
        <p:nvSpPr>
          <p:cNvPr id="1514553" name="Text Box 57">
            <a:extLst>
              <a:ext uri="{FF2B5EF4-FFF2-40B4-BE49-F238E27FC236}">
                <a16:creationId xmlns:a16="http://schemas.microsoft.com/office/drawing/2014/main" xmlns="" id="{40D4C2DA-8058-450D-9BCE-6EEB415CD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699126"/>
            <a:ext cx="4572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>
                <a:latin typeface="Tahoma" panose="020B0604030504040204" pitchFamily="34" charset="0"/>
                <a:cs typeface="Arial" panose="020B0604020202020204" pitchFamily="34" charset="0"/>
              </a:rPr>
              <a:t>841</a:t>
            </a:r>
          </a:p>
        </p:txBody>
      </p:sp>
      <p:sp>
        <p:nvSpPr>
          <p:cNvPr id="1514554" name="Line 58">
            <a:extLst>
              <a:ext uri="{FF2B5EF4-FFF2-40B4-BE49-F238E27FC236}">
                <a16:creationId xmlns:a16="http://schemas.microsoft.com/office/drawing/2014/main" xmlns="" id="{51595F52-5984-480E-A200-3F59C02EDB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76800" y="4175125"/>
            <a:ext cx="12192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50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1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514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1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51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514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hlink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51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514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51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5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4500" grpId="0"/>
      <p:bldP spid="15145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546" name="Rectangle 2">
            <a:extLst>
              <a:ext uri="{FF2B5EF4-FFF2-40B4-BE49-F238E27FC236}">
                <a16:creationId xmlns:a16="http://schemas.microsoft.com/office/drawing/2014/main" xmlns="" id="{C4F1CC5A-1EB8-4C40-AC76-DD73C2E48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458200" cy="914400"/>
          </a:xfrm>
        </p:spPr>
        <p:txBody>
          <a:bodyPr/>
          <a:lstStyle/>
          <a:p>
            <a:pPr algn="l"/>
            <a:r>
              <a:rPr lang="en-US" altLang="en-US" b="1"/>
              <a:t>Dereferencing</a:t>
            </a:r>
          </a:p>
        </p:txBody>
      </p:sp>
      <p:sp>
        <p:nvSpPr>
          <p:cNvPr id="1516547" name="Rectangle 3">
            <a:extLst>
              <a:ext uri="{FF2B5EF4-FFF2-40B4-BE49-F238E27FC236}">
                <a16:creationId xmlns:a16="http://schemas.microsoft.com/office/drawing/2014/main" xmlns="" id="{666348BD-BB34-48C7-870F-92BFADA62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371601"/>
            <a:ext cx="8229600" cy="4754563"/>
          </a:xfrm>
          <a:solidFill>
            <a:srgbClr val="FFFFFF"/>
          </a:solidFill>
          <a:ln>
            <a:solidFill>
              <a:schemeClr val="tx2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>
                <a:latin typeface="Trebuchet MS" panose="020B0603020202020204" pitchFamily="34" charset="0"/>
              </a:rPr>
              <a:t>The unary operator  </a:t>
            </a:r>
            <a:r>
              <a:rPr lang="en-US" altLang="en-US" b="1">
                <a:solidFill>
                  <a:srgbClr val="990000"/>
                </a:solidFill>
                <a:latin typeface="Trebuchet MS" panose="020B0603020202020204" pitchFamily="34" charset="0"/>
              </a:rPr>
              <a:t>*</a:t>
            </a:r>
            <a:r>
              <a:rPr lang="en-US" altLang="en-US">
                <a:latin typeface="Trebuchet MS" panose="020B0603020202020204" pitchFamily="34" charset="0"/>
              </a:rPr>
              <a:t>  is the dereferencing operator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Applied on pointers</a:t>
            </a:r>
          </a:p>
          <a:p>
            <a:r>
              <a:rPr lang="en-US" altLang="en-US">
                <a:latin typeface="Trebuchet MS" panose="020B0603020202020204" pitchFamily="34" charset="0"/>
              </a:rPr>
              <a:t>Access the </a:t>
            </a:r>
            <a:r>
              <a:rPr lang="en-US" altLang="en-US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value of object</a:t>
            </a:r>
            <a:r>
              <a:rPr lang="en-US" altLang="en-US">
                <a:latin typeface="Trebuchet MS" panose="020B0603020202020204" pitchFamily="34" charset="0"/>
              </a:rPr>
              <a:t> the pointer points to</a:t>
            </a:r>
          </a:p>
          <a:p>
            <a:r>
              <a:rPr lang="en-US" altLang="en-US">
                <a:latin typeface="Trebuchet MS" panose="020B0603020202020204" pitchFamily="34" charset="0"/>
              </a:rPr>
              <a:t>The statement</a:t>
            </a:r>
          </a:p>
          <a:p>
            <a:pPr>
              <a:buFontTx/>
              <a:buNone/>
            </a:pPr>
            <a:r>
              <a:rPr lang="en-US" altLang="en-US">
                <a:latin typeface="Trebuchet MS" panose="020B0603020202020204" pitchFamily="34" charset="0"/>
              </a:rPr>
              <a:t>                    </a:t>
            </a:r>
            <a:r>
              <a:rPr lang="en-US" altLang="en-US" b="1">
                <a:latin typeface="Trebuchet MS" panose="020B0603020202020204" pitchFamily="34" charset="0"/>
              </a:rPr>
              <a:t>*P = 5;</a:t>
            </a:r>
          </a:p>
          <a:p>
            <a:pPr>
              <a:buFontTx/>
              <a:buNone/>
            </a:pPr>
            <a:r>
              <a:rPr lang="en-US" altLang="en-US">
                <a:latin typeface="Trebuchet MS" panose="020B0603020202020204" pitchFamily="34" charset="0"/>
              </a:rPr>
              <a:t>   puts in </a:t>
            </a:r>
            <a:r>
              <a:rPr lang="en-US" altLang="en-US" b="1">
                <a:latin typeface="Trebuchet MS" panose="020B0603020202020204" pitchFamily="34" charset="0"/>
              </a:rPr>
              <a:t>C</a:t>
            </a:r>
            <a:r>
              <a:rPr lang="en-US" altLang="en-US">
                <a:latin typeface="Trebuchet MS" panose="020B0603020202020204" pitchFamily="34" charset="0"/>
              </a:rPr>
              <a:t> (the variable pointed by </a:t>
            </a:r>
            <a:r>
              <a:rPr lang="en-US" altLang="en-US" b="1">
                <a:latin typeface="Trebuchet MS" panose="020B0603020202020204" pitchFamily="34" charset="0"/>
              </a:rPr>
              <a:t>P</a:t>
            </a:r>
            <a:r>
              <a:rPr lang="en-US" altLang="en-US">
                <a:latin typeface="Trebuchet MS" panose="020B0603020202020204" pitchFamily="34" charset="0"/>
              </a:rPr>
              <a:t>) the value 5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297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xmlns="" id="{E69940B7-F2EF-41DD-987A-BC41AFCC1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381001"/>
            <a:ext cx="7010400" cy="474663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 dirty="0"/>
              <a:t>Pointers &amp; Allocation </a:t>
            </a:r>
          </a:p>
        </p:txBody>
      </p:sp>
      <p:sp>
        <p:nvSpPr>
          <p:cNvPr id="1339395" name="Rectangle 3">
            <a:extLst>
              <a:ext uri="{FF2B5EF4-FFF2-40B4-BE49-F238E27FC236}">
                <a16:creationId xmlns:a16="http://schemas.microsoft.com/office/drawing/2014/main" xmlns="" id="{E61A32F3-AA82-48DE-9921-F2A839B81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28800" y="1143000"/>
            <a:ext cx="8534400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/>
              <a:t>Pointing to something that already exists:</a:t>
            </a:r>
          </a:p>
          <a:p>
            <a:pPr marL="508000" lvl="1" indent="-190500">
              <a:buNone/>
            </a:pPr>
            <a:r>
              <a:rPr lang="en-US" altLang="en-US" b="1">
                <a:solidFill>
                  <a:srgbClr val="008000"/>
                </a:solidFill>
                <a:latin typeface="Lucida Console" panose="020B0609040504020204" pitchFamily="49" charset="0"/>
              </a:rPr>
              <a:t>	int *ptr, var1, var2;			</a:t>
            </a:r>
          </a:p>
          <a:p>
            <a:pPr marL="508000" lvl="1" indent="-190500">
              <a:buNone/>
            </a:pPr>
            <a:r>
              <a:rPr lang="en-US" altLang="en-US" b="1">
                <a:solidFill>
                  <a:srgbClr val="008000"/>
                </a:solidFill>
                <a:latin typeface="Lucida Console" panose="020B0609040504020204" pitchFamily="49" charset="0"/>
              </a:rPr>
              <a:t> var1 = 5;		</a:t>
            </a:r>
          </a:p>
          <a:p>
            <a:pPr marL="508000" lvl="1" indent="-190500">
              <a:buNone/>
            </a:pPr>
            <a:r>
              <a:rPr lang="en-US" altLang="en-US" b="1">
                <a:solidFill>
                  <a:srgbClr val="008000"/>
                </a:solidFill>
                <a:latin typeface="Lucida Console" panose="020B0609040504020204" pitchFamily="49" charset="0"/>
              </a:rPr>
              <a:t>	ptr  = &amp;var1;					</a:t>
            </a:r>
          </a:p>
          <a:p>
            <a:pPr marL="508000" lvl="1" indent="-190500">
              <a:buNone/>
            </a:pPr>
            <a:r>
              <a:rPr lang="en-US" altLang="en-US" b="1">
                <a:solidFill>
                  <a:srgbClr val="008000"/>
                </a:solidFill>
                <a:latin typeface="Lucida Console" panose="020B0609040504020204" pitchFamily="49" charset="0"/>
              </a:rPr>
              <a:t> var2 = *ptr;</a:t>
            </a:r>
          </a:p>
          <a:p>
            <a:r>
              <a:rPr lang="en-US" altLang="en-US" b="1">
                <a:solidFill>
                  <a:srgbClr val="3333CC"/>
                </a:solidFill>
                <a:latin typeface="Courier New" panose="02070309020205020404" pitchFamily="49" charset="0"/>
              </a:rPr>
              <a:t>var1</a:t>
            </a:r>
            <a:r>
              <a:rPr lang="en-US" altLang="en-US"/>
              <a:t> and </a:t>
            </a:r>
            <a:r>
              <a:rPr lang="en-US" altLang="en-US" b="1">
                <a:solidFill>
                  <a:srgbClr val="3333CC"/>
                </a:solidFill>
                <a:latin typeface="Courier New" panose="02070309020205020404" pitchFamily="49" charset="0"/>
              </a:rPr>
              <a:t>var2</a:t>
            </a:r>
            <a:r>
              <a:rPr lang="en-US" altLang="en-US" b="1">
                <a:solidFill>
                  <a:srgbClr val="3333CC"/>
                </a:solidFill>
              </a:rPr>
              <a:t> </a:t>
            </a:r>
            <a:r>
              <a:rPr lang="en-US" altLang="en-US"/>
              <a:t>have room implicitly allocated for them.</a:t>
            </a:r>
            <a:endParaRPr lang="en-US" altLang="en-US">
              <a:latin typeface="Courier New" panose="02070309020205020404" pitchFamily="49" charset="0"/>
            </a:endParaRPr>
          </a:p>
        </p:txBody>
      </p:sp>
      <p:grpSp>
        <p:nvGrpSpPr>
          <p:cNvPr id="1339396" name="Group 4">
            <a:extLst>
              <a:ext uri="{FF2B5EF4-FFF2-40B4-BE49-F238E27FC236}">
                <a16:creationId xmlns:a16="http://schemas.microsoft.com/office/drawing/2014/main" xmlns="" id="{5CF664EE-A7F4-4340-BADD-C75A5DA24C3F}"/>
              </a:ext>
            </a:extLst>
          </p:cNvPr>
          <p:cNvGrpSpPr>
            <a:grpSpLocks/>
          </p:cNvGrpSpPr>
          <p:nvPr/>
        </p:nvGrpSpPr>
        <p:grpSpPr bwMode="auto">
          <a:xfrm>
            <a:off x="2316164" y="5653088"/>
            <a:ext cx="1874837" cy="747712"/>
            <a:chOff x="-173" y="1632"/>
            <a:chExt cx="1181" cy="471"/>
          </a:xfrm>
        </p:grpSpPr>
        <p:sp>
          <p:nvSpPr>
            <p:cNvPr id="1339397" name="Rectangle 5">
              <a:extLst>
                <a:ext uri="{FF2B5EF4-FFF2-40B4-BE49-F238E27FC236}">
                  <a16:creationId xmlns:a16="http://schemas.microsoft.com/office/drawing/2014/main" xmlns="" id="{5ED50DAF-BCF1-4A3E-855E-E26B96B45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32"/>
              <a:ext cx="624" cy="43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39398" name="Text Box 6">
              <a:extLst>
                <a:ext uri="{FF2B5EF4-FFF2-40B4-BE49-F238E27FC236}">
                  <a16:creationId xmlns:a16="http://schemas.microsoft.com/office/drawing/2014/main" xmlns="" id="{3B7FB0A7-17A0-4EB6-8216-3A07374AE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73" y="1776"/>
              <a:ext cx="5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en-US" altLang="en-US" sz="2800" b="1">
                  <a:latin typeface="Courier New" panose="02070309020205020404" pitchFamily="49" charset="0"/>
                </a:rPr>
                <a:t>ptr</a:t>
              </a:r>
              <a:endParaRPr lang="en-US" altLang="en-US" sz="2000">
                <a:solidFill>
                  <a:schemeClr val="accent1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1339399" name="Text Box 7">
              <a:extLst>
                <a:ext uri="{FF2B5EF4-FFF2-40B4-BE49-F238E27FC236}">
                  <a16:creationId xmlns:a16="http://schemas.microsoft.com/office/drawing/2014/main" xmlns="" id="{9058422D-E897-40F3-9E65-EB43ACE4F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18"/>
              <a:ext cx="1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endParaRPr lang="en-US" altLang="en-US" sz="2000">
                <a:solidFill>
                  <a:schemeClr val="accent1"/>
                </a:solidFill>
                <a:latin typeface="Helvetica" panose="020B0604020202020204" pitchFamily="34" charset="0"/>
              </a:endParaRPr>
            </a:p>
          </p:txBody>
        </p:sp>
      </p:grpSp>
      <p:sp>
        <p:nvSpPr>
          <p:cNvPr id="1339400" name="Rectangle 8">
            <a:extLst>
              <a:ext uri="{FF2B5EF4-FFF2-40B4-BE49-F238E27FC236}">
                <a16:creationId xmlns:a16="http://schemas.microsoft.com/office/drawing/2014/main" xmlns="" id="{BD1B1B70-EC3E-4EEC-9599-D27D57AF8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653088"/>
            <a:ext cx="990600" cy="685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9401" name="Text Box 9">
            <a:extLst>
              <a:ext uri="{FF2B5EF4-FFF2-40B4-BE49-F238E27FC236}">
                <a16:creationId xmlns:a16="http://schemas.microsoft.com/office/drawing/2014/main" xmlns="" id="{993CA004-29B8-4303-B3DF-55C716ED9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5881688"/>
            <a:ext cx="1035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800" b="1">
                <a:latin typeface="Courier New" panose="02070309020205020404" pitchFamily="49" charset="0"/>
              </a:rPr>
              <a:t>var1</a:t>
            </a:r>
            <a:endParaRPr lang="en-US" altLang="en-US" sz="2000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1339402" name="Text Box 10">
            <a:extLst>
              <a:ext uri="{FF2B5EF4-FFF2-40B4-BE49-F238E27FC236}">
                <a16:creationId xmlns:a16="http://schemas.microsoft.com/office/drawing/2014/main" xmlns="" id="{387369EE-15DC-48F5-B78D-B6CAB0B52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1" y="5729288"/>
            <a:ext cx="396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800" b="1">
                <a:latin typeface="Courier New" panose="02070309020205020404" pitchFamily="49" charset="0"/>
              </a:rPr>
              <a:t>?</a:t>
            </a:r>
            <a:endParaRPr lang="en-US" altLang="en-US" sz="2000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1339403" name="Rectangle 11">
            <a:extLst>
              <a:ext uri="{FF2B5EF4-FFF2-40B4-BE49-F238E27FC236}">
                <a16:creationId xmlns:a16="http://schemas.microsoft.com/office/drawing/2014/main" xmlns="" id="{C054A97F-4571-44B2-8E7D-07F1A2988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5653088"/>
            <a:ext cx="990600" cy="685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9404" name="Text Box 12">
            <a:extLst>
              <a:ext uri="{FF2B5EF4-FFF2-40B4-BE49-F238E27FC236}">
                <a16:creationId xmlns:a16="http://schemas.microsoft.com/office/drawing/2014/main" xmlns="" id="{C838F208-051D-4338-BF79-0EBC40EC2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3" y="5881688"/>
            <a:ext cx="1035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en-US" sz="2800" b="1">
                <a:latin typeface="Courier New" panose="02070309020205020404" pitchFamily="49" charset="0"/>
              </a:rPr>
              <a:t>var2</a:t>
            </a:r>
            <a:endParaRPr lang="en-US" altLang="en-US" sz="2000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1339405" name="Text Box 13">
            <a:extLst>
              <a:ext uri="{FF2B5EF4-FFF2-40B4-BE49-F238E27FC236}">
                <a16:creationId xmlns:a16="http://schemas.microsoft.com/office/drawing/2014/main" xmlns="" id="{6A6F73D4-146D-46FE-BD4A-2F9534ABE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1" y="5729288"/>
            <a:ext cx="396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800" b="1">
                <a:latin typeface="Courier New" panose="02070309020205020404" pitchFamily="49" charset="0"/>
              </a:rPr>
              <a:t>?</a:t>
            </a:r>
            <a:endParaRPr lang="en-US" altLang="en-US" sz="2000">
              <a:solidFill>
                <a:schemeClr val="accent1"/>
              </a:solidFill>
              <a:latin typeface="Helvetica" panose="020B0604020202020204" pitchFamily="34" charset="0"/>
            </a:endParaRPr>
          </a:p>
        </p:txBody>
      </p:sp>
      <p:sp>
        <p:nvSpPr>
          <p:cNvPr id="1339406" name="Rectangle 14">
            <a:extLst>
              <a:ext uri="{FF2B5EF4-FFF2-40B4-BE49-F238E27FC236}">
                <a16:creationId xmlns:a16="http://schemas.microsoft.com/office/drawing/2014/main" xmlns="" id="{D07BDE3E-A813-4A24-9542-2DB3E9A71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1" y="5729289"/>
            <a:ext cx="42862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339407" name="Rectangle 15">
            <a:extLst>
              <a:ext uri="{FF2B5EF4-FFF2-40B4-BE49-F238E27FC236}">
                <a16:creationId xmlns:a16="http://schemas.microsoft.com/office/drawing/2014/main" xmlns="" id="{4A7DCC86-6E87-4F56-A895-D1AD4F0A6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976" y="5729289"/>
            <a:ext cx="428625" cy="5794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 b="1">
                <a:solidFill>
                  <a:schemeClr val="accent2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339408" name="Rectangle 16">
            <a:extLst>
              <a:ext uri="{FF2B5EF4-FFF2-40B4-BE49-F238E27FC236}">
                <a16:creationId xmlns:a16="http://schemas.microsoft.com/office/drawing/2014/main" xmlns="" id="{CF1AD2B5-E4C1-4B87-A293-7002D3A04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1" y="5743576"/>
            <a:ext cx="396875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800" b="1">
                <a:latin typeface="Courier New" panose="02070309020205020404" pitchFamily="49" charset="0"/>
              </a:rPr>
              <a:t>?</a:t>
            </a:r>
          </a:p>
        </p:txBody>
      </p:sp>
      <p:grpSp>
        <p:nvGrpSpPr>
          <p:cNvPr id="1339409" name="Group 17">
            <a:extLst>
              <a:ext uri="{FF2B5EF4-FFF2-40B4-BE49-F238E27FC236}">
                <a16:creationId xmlns:a16="http://schemas.microsoft.com/office/drawing/2014/main" xmlns="" id="{B698C91B-72D6-4038-8A8C-AA924B330C35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5576888"/>
            <a:ext cx="2057400" cy="685800"/>
            <a:chOff x="1248" y="3072"/>
            <a:chExt cx="1296" cy="432"/>
          </a:xfrm>
        </p:grpSpPr>
        <p:sp>
          <p:nvSpPr>
            <p:cNvPr id="1339410" name="Rectangle 18">
              <a:extLst>
                <a:ext uri="{FF2B5EF4-FFF2-40B4-BE49-F238E27FC236}">
                  <a16:creationId xmlns:a16="http://schemas.microsoft.com/office/drawing/2014/main" xmlns="" id="{369D3EB7-B73C-4C3C-A2C0-D7F11E532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177"/>
              <a:ext cx="250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en-US" sz="2800" b="1">
                  <a:latin typeface="Courier New" panose="02070309020205020404" pitchFamily="49" charset="0"/>
                </a:rPr>
                <a:t> </a:t>
              </a:r>
            </a:p>
          </p:txBody>
        </p:sp>
        <p:sp>
          <p:nvSpPr>
            <p:cNvPr id="1339411" name="Freeform 19">
              <a:extLst>
                <a:ext uri="{FF2B5EF4-FFF2-40B4-BE49-F238E27FC236}">
                  <a16:creationId xmlns:a16="http://schemas.microsoft.com/office/drawing/2014/main" xmlns="" id="{5AD9D529-2750-43D3-9136-DA0BDE5E6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3072"/>
              <a:ext cx="1152" cy="288"/>
            </a:xfrm>
            <a:custGeom>
              <a:avLst/>
              <a:gdLst>
                <a:gd name="T0" fmla="*/ 0 w 720"/>
                <a:gd name="T1" fmla="*/ 344 h 392"/>
                <a:gd name="T2" fmla="*/ 384 w 720"/>
                <a:gd name="T3" fmla="*/ 8 h 392"/>
                <a:gd name="T4" fmla="*/ 720 w 720"/>
                <a:gd name="T5" fmla="*/ 39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392">
                  <a:moveTo>
                    <a:pt x="0" y="344"/>
                  </a:moveTo>
                  <a:cubicBezTo>
                    <a:pt x="132" y="172"/>
                    <a:pt x="264" y="0"/>
                    <a:pt x="384" y="8"/>
                  </a:cubicBezTo>
                  <a:cubicBezTo>
                    <a:pt x="504" y="16"/>
                    <a:pt x="612" y="204"/>
                    <a:pt x="720" y="392"/>
                  </a:cubicBezTo>
                </a:path>
              </a:pathLst>
            </a:custGeom>
            <a:noFill/>
            <a:ln w="571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1334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33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33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33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" dur="500" fill="hold"/>
                                        <p:tgtEl>
                                          <p:spTgt spid="133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33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33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33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33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33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9406" grpId="0" animBg="1" autoUpdateAnimBg="0"/>
      <p:bldP spid="1339407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CCB6634-CEEE-4A4D-9826-87E1F27A4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52" y="1333851"/>
            <a:ext cx="12003048" cy="37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4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2BE84-E4EA-4AF3-8B0D-BB1D3D9DD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Ampersand (&amp;) and Asterisk (*) Sign</a:t>
            </a:r>
            <a:br>
              <a:rPr lang="en-GB" dirty="0"/>
            </a:br>
            <a:r>
              <a:rPr lang="en-GB" dirty="0"/>
              <a:t>	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849E14AF-88DF-4B53-B1E9-A03C742CBF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69191"/>
            <a:ext cx="12071915" cy="343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4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107024" cy="68247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411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689F8E-4251-4BEA-A2F5-EE76906F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D7AB0D-E2C7-435A-B5C4-B454D099D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16447A6-BA8C-4F60-A8CA-6E93EDDA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xmlns="" id="{3F7CF763-F8ED-48BE-90BE-F4C287EEC2EB}"/>
                  </a:ext>
                </a:extLst>
              </p14:cNvPr>
              <p14:cNvContentPartPr/>
              <p14:nvPr/>
            </p14:nvContentPartPr>
            <p14:xfrm>
              <a:off x="1440618" y="286114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F7CF763-F8ED-48BE-90BE-F4C287EEC2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2978" y="26811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839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6E17654-C9B7-4111-B95B-861522BAB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2" y="194650"/>
            <a:ext cx="6327222" cy="59150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877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88B595F-F5DB-4A3B-960C-CBDC47F6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0919"/>
            <a:ext cx="571500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9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62542EEC-4F7C-4AE2-933E-EAC8EB3FA3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81933D1-5615-42C7-9C0B-4EB7105CCE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9C9EAEA-39D0-4B0E-A0EB-51E7B26740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F7072C49-EC7D-4FC8-A27A-B468B6B9A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4597"/>
          <a:stretch/>
        </p:blipFill>
        <p:spPr>
          <a:xfrm>
            <a:off x="733507" y="666728"/>
            <a:ext cx="5536001" cy="546579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032D8612-31EB-44CF-A1D0-14FD4C7054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46048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F19A4A0F-1B59-4DB0-9764-D10936E987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F399A70F-F8CD-4992-9EF5-6CF15472E73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48F4FEDC-6D80-458C-A665-075D9B9500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555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62542EEC-4F7C-4AE2-933E-EAC8EB3FA3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81933D1-5615-42C7-9C0B-4EB7105CCE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9C9EAEA-39D0-4B0E-A0EB-51E7B26740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E75F9A2C-CAE6-4C87-8CA5-9FB5F6B7D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88" b="2"/>
          <a:stretch/>
        </p:blipFill>
        <p:spPr>
          <a:xfrm>
            <a:off x="733507" y="666728"/>
            <a:ext cx="5536001" cy="546579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032D8612-31EB-44CF-A1D0-14FD4C7054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46048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F19A4A0F-1B59-4DB0-9764-D10936E987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xmlns="" id="{F399A70F-F8CD-4992-9EF5-6CF15472E73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xmlns="" id="{48F4FEDC-6D80-458C-A665-075D9B9500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046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323</Words>
  <Application>Microsoft Office PowerPoint</Application>
  <PresentationFormat>Widescreen</PresentationFormat>
  <Paragraphs>130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Helvetica</vt:lpstr>
      <vt:lpstr>Lucida Console</vt:lpstr>
      <vt:lpstr>Tahoma</vt:lpstr>
      <vt:lpstr>Trebuchet MS</vt:lpstr>
      <vt:lpstr>Office Theme</vt:lpstr>
      <vt:lpstr> Function Overloading </vt:lpstr>
      <vt:lpstr>Function Overloading</vt:lpstr>
      <vt:lpstr>PowerPoint Presentation</vt:lpstr>
      <vt:lpstr>Pointer Variable Declarations and Initialization</vt:lpstr>
      <vt:lpstr>Pointers</vt:lpstr>
      <vt:lpstr>Referencing</vt:lpstr>
      <vt:lpstr>Dereferencing</vt:lpstr>
      <vt:lpstr>Pointers &amp; Allocation </vt:lpstr>
      <vt:lpstr>PowerPoint Presentation</vt:lpstr>
      <vt:lpstr>The Ampersand (&amp;) and Asterisk (*) Sign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 PF</dc:title>
  <dc:creator>Aqib Adeel</dc:creator>
  <cp:lastModifiedBy>User</cp:lastModifiedBy>
  <cp:revision>9</cp:revision>
  <dcterms:created xsi:type="dcterms:W3CDTF">2020-06-09T01:38:37Z</dcterms:created>
  <dcterms:modified xsi:type="dcterms:W3CDTF">2024-08-22T04:54:53Z</dcterms:modified>
</cp:coreProperties>
</file>